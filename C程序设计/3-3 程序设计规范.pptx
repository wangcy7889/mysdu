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15"/>
  </p:notesMasterIdLst>
  <p:sldIdLst>
    <p:sldId id="654" r:id="rId6"/>
    <p:sldId id="656" r:id="rId7"/>
    <p:sldId id="658" r:id="rId8"/>
    <p:sldId id="657" r:id="rId9"/>
    <p:sldId id="649" r:id="rId10"/>
    <p:sldId id="653" r:id="rId11"/>
    <p:sldId id="650" r:id="rId12"/>
    <p:sldId id="652" r:id="rId13"/>
    <p:sldId id="637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CC"/>
    <a:srgbClr val="000000"/>
    <a:srgbClr val="030DCD"/>
    <a:srgbClr val="003300"/>
    <a:srgbClr val="99CC00"/>
    <a:srgbClr val="7FE41A"/>
    <a:srgbClr val="6AD565"/>
    <a:srgbClr val="9DEB4F"/>
    <a:srgbClr val="69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 autoAdjust="0"/>
  </p:normalViewPr>
  <p:slideViewPr>
    <p:cSldViewPr snapToGrid="0" snapToObjects="1">
      <p:cViewPr varScale="1">
        <p:scale>
          <a:sx n="105" d="100"/>
          <a:sy n="105" d="100"/>
        </p:scale>
        <p:origin x="1632" y="102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2022/12/20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9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277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2022/12/20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2022/12/20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2022/12/20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2022/12/20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2022/12/20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2022/12/20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49657" y="4674177"/>
            <a:ext cx="3909580" cy="466725"/>
          </a:xfrm>
        </p:spPr>
        <p:txBody>
          <a:bodyPr/>
          <a:lstStyle/>
          <a:p>
            <a:r>
              <a:rPr lang="zh-CN" altLang="en-US" sz="2400" dirty="0"/>
              <a:t>程序设计规范</a:t>
            </a: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088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程序设计规范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</a:rPr>
              <a:t>程序风格：</a:t>
            </a:r>
            <a:endParaRPr lang="en-US" altLang="zh-CN" sz="2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、严格采用阶梯层次组织程序代码： （</a:t>
            </a:r>
            <a:r>
              <a:rPr lang="zh-CN" altLang="en-US" b="1" dirty="0">
                <a:solidFill>
                  <a:srgbClr val="FF0000"/>
                </a:solidFill>
              </a:rPr>
              <a:t>缩进</a:t>
            </a:r>
            <a:r>
              <a:rPr lang="zh-CN" altLang="en-US" dirty="0">
                <a:solidFill>
                  <a:srgbClr val="FF0000"/>
                </a:solidFill>
              </a:rPr>
              <a:t>）  </a:t>
            </a: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各层次</a:t>
            </a:r>
            <a:r>
              <a:rPr lang="zh-CN" altLang="en-US" sz="1800" dirty="0">
                <a:solidFill>
                  <a:srgbClr val="0000CC"/>
                </a:solidFill>
              </a:rPr>
              <a:t>缩进</a:t>
            </a:r>
            <a:r>
              <a:rPr lang="zh-CN" altLang="en-US" sz="1800" dirty="0"/>
              <a:t>的分格</a:t>
            </a:r>
            <a:r>
              <a:rPr lang="zh-CN" altLang="en-US" sz="1800" dirty="0" smtClean="0"/>
              <a:t>采用</a:t>
            </a:r>
            <a:r>
              <a:rPr lang="en-US" altLang="zh-CN" sz="1800" dirty="0" smtClean="0"/>
              <a:t>IDE</a:t>
            </a:r>
            <a:r>
              <a:rPr lang="zh-CN" altLang="en-US" sz="1800" dirty="0" smtClean="0"/>
              <a:t>的缺省（默认）风格</a:t>
            </a:r>
            <a:endParaRPr lang="en-US" altLang="zh-CN" sz="1800" dirty="0" smtClean="0"/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每</a:t>
            </a:r>
            <a:r>
              <a:rPr lang="zh-CN" altLang="en-US" sz="1800" dirty="0"/>
              <a:t>层次</a:t>
            </a:r>
            <a:r>
              <a:rPr lang="zh-CN" altLang="en-US" sz="1800" dirty="0">
                <a:solidFill>
                  <a:srgbClr val="006600"/>
                </a:solidFill>
              </a:rPr>
              <a:t>缩进</a:t>
            </a:r>
            <a:r>
              <a:rPr lang="zh-CN" altLang="en-US" sz="1800" dirty="0"/>
              <a:t>为</a:t>
            </a:r>
            <a:r>
              <a:rPr lang="en-US" altLang="zh-CN" sz="1800" dirty="0"/>
              <a:t>4</a:t>
            </a:r>
            <a:r>
              <a:rPr lang="zh-CN" altLang="en-US" sz="1800" dirty="0"/>
              <a:t>格，括号位于下</a:t>
            </a:r>
            <a:r>
              <a:rPr lang="zh-CN" altLang="en-US" sz="1800" dirty="0" smtClean="0"/>
              <a:t>一行</a:t>
            </a:r>
            <a:endParaRPr lang="en-US" altLang="zh-CN" sz="1800" dirty="0" smtClean="0"/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06600"/>
                </a:solidFill>
              </a:rPr>
              <a:t>要求</a:t>
            </a:r>
            <a:r>
              <a:rPr lang="zh-CN" altLang="en-US" sz="1800" dirty="0">
                <a:solidFill>
                  <a:srgbClr val="006600"/>
                </a:solidFill>
              </a:rPr>
              <a:t>相匹配的大括号在同一</a:t>
            </a:r>
            <a:r>
              <a:rPr lang="zh-CN" altLang="en-US" sz="1800" dirty="0" smtClean="0">
                <a:solidFill>
                  <a:srgbClr val="006600"/>
                </a:solidFill>
              </a:rPr>
              <a:t>列</a:t>
            </a:r>
            <a:endParaRPr lang="en-US" altLang="zh-CN" sz="1800" dirty="0" smtClean="0">
              <a:solidFill>
                <a:srgbClr val="006600"/>
              </a:solidFill>
            </a:endParaRP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对后继</a:t>
            </a:r>
            <a:r>
              <a:rPr lang="zh-CN" altLang="en-US" sz="1800" dirty="0"/>
              <a:t>行则要求再缩进</a:t>
            </a:r>
            <a:r>
              <a:rPr lang="en-US" altLang="zh-CN" sz="1800" dirty="0"/>
              <a:t>4</a:t>
            </a:r>
            <a:r>
              <a:rPr lang="zh-CN" altLang="en-US" sz="1800" dirty="0" smtClean="0"/>
              <a:t>格</a:t>
            </a:r>
            <a:endParaRPr lang="en-US" altLang="zh-CN" sz="1800" dirty="0" smtClean="0"/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以此类推</a:t>
            </a:r>
            <a:r>
              <a:rPr lang="zh-CN" altLang="en-US" sz="1800" dirty="0"/>
              <a:t>；</a:t>
            </a:r>
            <a:r>
              <a:rPr lang="zh-CN" altLang="en-US" dirty="0"/>
              <a:t>  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dirty="0" smtClean="0"/>
              <a:t>Dev-</a:t>
            </a:r>
            <a:r>
              <a:rPr lang="en-US" altLang="zh-CN" dirty="0" err="1" smtClean="0"/>
              <a:t>Cpp</a:t>
            </a:r>
            <a:r>
              <a:rPr lang="zh-CN" altLang="en-US" dirty="0" smtClean="0"/>
              <a:t>中提供了格式化代码的工具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55" y="4144708"/>
            <a:ext cx="603885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采用阶梯</a:t>
            </a:r>
            <a:r>
              <a:rPr lang="zh-CN" altLang="en-US" dirty="0" smtClean="0">
                <a:solidFill>
                  <a:srgbClr val="FF0000"/>
                </a:solidFill>
              </a:rPr>
              <a:t>层次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zh-CN" altLang="en-US" dirty="0" smtClean="0">
                <a:solidFill>
                  <a:srgbClr val="0000CC"/>
                </a:solidFill>
              </a:rPr>
              <a:t>缩进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r>
              <a:rPr lang="zh-CN" altLang="en-US" dirty="0" smtClean="0">
                <a:solidFill>
                  <a:srgbClr val="FF0000"/>
                </a:solidFill>
              </a:rPr>
              <a:t>组织</a:t>
            </a:r>
            <a:r>
              <a:rPr lang="zh-CN" altLang="en-US" dirty="0">
                <a:solidFill>
                  <a:srgbClr val="FF0000"/>
                </a:solidFill>
              </a:rPr>
              <a:t>程序代码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06" y="996442"/>
            <a:ext cx="4048125" cy="5381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928" y="978409"/>
            <a:ext cx="394335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0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程序设计规范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rgbClr val="000000"/>
                </a:solidFill>
              </a:rPr>
              <a:t>程序风格：</a:t>
            </a:r>
            <a:endParaRPr lang="en-US" altLang="zh-CN" sz="2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、提示信息字符串，以及一些公用变量、函数等存放的问题   </a:t>
            </a:r>
          </a:p>
          <a:p>
            <a:pPr marL="1371600" lvl="2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在程序中需要给出的标准的提示信息，为了支持团队开发，</a:t>
            </a:r>
            <a:r>
              <a:rPr lang="zh-CN" altLang="en-US" sz="1800" dirty="0">
                <a:solidFill>
                  <a:srgbClr val="0000CC"/>
                </a:solidFill>
              </a:rPr>
              <a:t>应将提示信息应定义在</a:t>
            </a:r>
            <a:r>
              <a:rPr lang="zh-CN" altLang="en-US" sz="1800" b="1" dirty="0">
                <a:solidFill>
                  <a:srgbClr val="7030A0"/>
                </a:solidFill>
              </a:rPr>
              <a:t>公共头文件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中，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且提示信息应统一</a:t>
            </a:r>
            <a:r>
              <a:rPr lang="zh-CN" altLang="en-US" sz="1800" dirty="0" smtClean="0">
                <a:solidFill>
                  <a:srgbClr val="0000CC"/>
                </a:solidFill>
              </a:rPr>
              <a:t>；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1371600" lvl="2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其它的</a:t>
            </a:r>
            <a:r>
              <a:rPr lang="zh-CN" altLang="en-US" sz="1800" dirty="0">
                <a:solidFill>
                  <a:srgbClr val="0000CC"/>
                </a:solidFill>
              </a:rPr>
              <a:t>一些公用的信息、公共的变量、公共的函数</a:t>
            </a:r>
            <a:r>
              <a:rPr lang="zh-CN" altLang="en-US" sz="1800" dirty="0"/>
              <a:t>等团队都涉及到的公用信息与数据都应该定义在头文件中，以便各个程序员使用</a:t>
            </a:r>
            <a:r>
              <a:rPr lang="en-US" altLang="zh-CN" sz="1800" dirty="0">
                <a:solidFill>
                  <a:srgbClr val="0000CC"/>
                </a:solidFill>
              </a:rPr>
              <a:t>#include</a:t>
            </a:r>
            <a:r>
              <a:rPr lang="zh-CN" altLang="en-US" sz="1800" dirty="0"/>
              <a:t>将这些数据包含到自己的程序中使用；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以使整个软件的风格统一，提示信息与格式一致，并提高编程效率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zh-CN" altLang="en-US" dirty="0">
                <a:solidFill>
                  <a:srgbClr val="0000CC"/>
                </a:solidFill>
              </a:rPr>
              <a:t>对变量的</a:t>
            </a:r>
            <a:r>
              <a:rPr lang="zh-CN" altLang="en-US" dirty="0" smtClean="0">
                <a:solidFill>
                  <a:srgbClr val="0000CC"/>
                </a:solidFill>
              </a:rPr>
              <a:t>定义</a:t>
            </a:r>
            <a:endParaRPr lang="en-US" altLang="zh-CN" dirty="0" smtClean="0">
              <a:solidFill>
                <a:srgbClr val="0000CC"/>
              </a:solidFill>
            </a:endParaRPr>
          </a:p>
          <a:p>
            <a:pPr marL="1371600" lvl="2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尽量位于函数的开始位置，全局变量尽量定义在头文件中；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zh-CN" altLang="en-US" dirty="0"/>
              <a:t>定义变量的数量能少则少，避免有冗余的变量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3613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388936" y="2714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rgbClr val="1A93C8"/>
                </a:solidFill>
              </a:rPr>
              <a:t>程序设计规范</a:t>
            </a:r>
          </a:p>
        </p:txBody>
      </p:sp>
      <p:sp>
        <p:nvSpPr>
          <p:cNvPr id="5" name="矩形 4"/>
          <p:cNvSpPr/>
          <p:nvPr/>
        </p:nvSpPr>
        <p:spPr>
          <a:xfrm>
            <a:off x="537208" y="1205278"/>
            <a:ext cx="8067675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</a:rPr>
              <a:t>标识符命名规则：</a:t>
            </a:r>
            <a:endParaRPr lang="en-US" altLang="zh-CN" sz="2400" dirty="0">
              <a:solidFill>
                <a:srgbClr val="FF0000"/>
              </a:solidFill>
              <a:latin typeface="+mn-lt"/>
              <a:ea typeface="+mn-ea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+mn-lt"/>
                <a:ea typeface="+mn-ea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+mn-lt"/>
                <a:ea typeface="+mn-ea"/>
              </a:rPr>
              <a:t>、变量名的命名规则   </a:t>
            </a:r>
          </a:p>
          <a:p>
            <a:r>
              <a:rPr lang="zh-CN" altLang="en-US" sz="2000" dirty="0">
                <a:latin typeface="+mn-lt"/>
                <a:ea typeface="+mn-ea"/>
              </a:rPr>
              <a:t>  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变量的命名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+mn-ea"/>
              </a:rPr>
              <a:t>规则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+mn-ea"/>
              </a:rPr>
              <a:t>可以采用“</a:t>
            </a:r>
            <a:r>
              <a:rPr lang="zh-CN" altLang="en-US" b="1" dirty="0" smtClean="0">
                <a:solidFill>
                  <a:srgbClr val="006600"/>
                </a:solidFill>
                <a:latin typeface="+mn-lt"/>
                <a:ea typeface="+mn-ea"/>
              </a:rPr>
              <a:t>匈牙利法则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+mn-ea"/>
              </a:rPr>
              <a:t>”：</a:t>
            </a:r>
            <a:endParaRPr lang="en-US" altLang="zh-CN" dirty="0" smtClean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zh-CN" altLang="en-US" dirty="0" smtClean="0">
                <a:solidFill>
                  <a:srgbClr val="C00000"/>
                </a:solidFill>
                <a:latin typeface="+mn-lt"/>
                <a:ea typeface="+mn-ea"/>
              </a:rPr>
              <a:t>    开头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</a:rPr>
              <a:t>字母用变量的类型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，其余部分用</a:t>
            </a:r>
            <a:r>
              <a:rPr lang="zh-CN" altLang="en-US" dirty="0">
                <a:solidFill>
                  <a:srgbClr val="0000CC"/>
                </a:solidFill>
                <a:latin typeface="+mn-lt"/>
                <a:ea typeface="+mn-ea"/>
              </a:rPr>
              <a:t>变量的英文意思或其英文意思的缩写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尽量避免用中文的拼音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要求单词的第一个字母应大写。   </a:t>
            </a:r>
          </a:p>
          <a:p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   即： </a:t>
            </a:r>
            <a:r>
              <a:rPr lang="zh-CN" altLang="en-US" dirty="0">
                <a:solidFill>
                  <a:srgbClr val="0000CC"/>
                </a:solidFill>
                <a:latin typeface="+mn-lt"/>
                <a:ea typeface="+mn-ea"/>
              </a:rPr>
              <a:t>变量名</a:t>
            </a:r>
            <a:r>
              <a:rPr lang="en-US" altLang="zh-CN" dirty="0">
                <a:solidFill>
                  <a:srgbClr val="0000CC"/>
                </a:solidFill>
                <a:latin typeface="+mn-lt"/>
                <a:ea typeface="+mn-ea"/>
              </a:rPr>
              <a:t>=</a:t>
            </a:r>
            <a:r>
              <a:rPr lang="zh-CN" altLang="en-US" dirty="0">
                <a:solidFill>
                  <a:srgbClr val="0000CC"/>
                </a:solidFill>
                <a:latin typeface="+mn-lt"/>
                <a:ea typeface="+mn-ea"/>
              </a:rPr>
              <a:t>变量类型</a:t>
            </a:r>
            <a:r>
              <a:rPr lang="en-US" altLang="zh-CN" dirty="0">
                <a:solidFill>
                  <a:srgbClr val="0000CC"/>
                </a:solidFill>
                <a:latin typeface="+mn-lt"/>
                <a:ea typeface="+mn-ea"/>
              </a:rPr>
              <a:t>+</a:t>
            </a:r>
            <a:r>
              <a:rPr lang="zh-CN" altLang="en-US" dirty="0">
                <a:solidFill>
                  <a:srgbClr val="0000CC"/>
                </a:solidFill>
                <a:latin typeface="+mn-lt"/>
                <a:ea typeface="+mn-ea"/>
              </a:rPr>
              <a:t>变量的英文意思（或缩写）   </a:t>
            </a:r>
            <a:endParaRPr lang="en-US" altLang="zh-CN" dirty="0">
              <a:solidFill>
                <a:srgbClr val="0000CC"/>
              </a:solidFill>
              <a:latin typeface="+mn-lt"/>
              <a:ea typeface="+mn-ea"/>
            </a:endParaRPr>
          </a:p>
          <a:p>
            <a:endParaRPr lang="en-US" altLang="zh-CN" sz="2000" dirty="0" smtClean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zh-CN" altLang="en-US" sz="2000" dirty="0" smtClean="0">
                <a:solidFill>
                  <a:srgbClr val="000000"/>
                </a:solidFill>
                <a:latin typeface="+mn-lt"/>
                <a:ea typeface="+mn-ea"/>
              </a:rPr>
              <a:t>如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：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+mn-ea"/>
              </a:rPr>
              <a:t>int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</a:rPr>
              <a:t> 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+mn-ea"/>
              </a:rPr>
              <a:t>iAge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</a:rPr>
              <a:t>;</a:t>
            </a:r>
          </a:p>
          <a:p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</a:rPr>
              <a:t>        long 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+mn-ea"/>
              </a:rPr>
              <a:t>lStudentsNums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</a:rPr>
              <a:t>;</a:t>
            </a:r>
          </a:p>
          <a:p>
            <a:endParaRPr lang="zh-CN" altLang="en-US" sz="2000" dirty="0">
              <a:solidFill>
                <a:srgbClr val="0000CC"/>
              </a:solidFill>
              <a:latin typeface="+mn-lt"/>
              <a:ea typeface="+mn-ea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   对非通用的变量，在定义时加入注释说明，变量定义尽量可能放在函数的开始处。    </a:t>
            </a:r>
            <a:endParaRPr lang="en-US" altLang="zh-CN" sz="2000" dirty="0">
              <a:solidFill>
                <a:srgbClr val="000000"/>
              </a:solidFill>
              <a:latin typeface="+mn-lt"/>
              <a:ea typeface="+mn-ea"/>
            </a:endParaRPr>
          </a:p>
          <a:p>
            <a:endParaRPr lang="en-US" altLang="zh-CN" sz="2000" dirty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+mn-ea"/>
              </a:rPr>
              <a:t>        </a:t>
            </a:r>
            <a:endParaRPr lang="en-US" altLang="zh-CN" sz="2000" dirty="0">
              <a:solidFill>
                <a:srgbClr val="7030A0"/>
              </a:solidFill>
              <a:latin typeface="+mn-lt"/>
              <a:ea typeface="+mn-ea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    </a:t>
            </a:r>
            <a:endParaRPr lang="zh-CN" altLang="en-US" sz="20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351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388936" y="2714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rgbClr val="1A93C8"/>
                </a:solidFill>
              </a:rPr>
              <a:t>标识符命名规则</a:t>
            </a:r>
          </a:p>
        </p:txBody>
      </p:sp>
      <p:sp>
        <p:nvSpPr>
          <p:cNvPr id="5" name="矩形 4"/>
          <p:cNvSpPr/>
          <p:nvPr/>
        </p:nvSpPr>
        <p:spPr>
          <a:xfrm>
            <a:off x="628649" y="1073140"/>
            <a:ext cx="8067675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lt"/>
                <a:ea typeface="+mn-ea"/>
              </a:rPr>
              <a:t>2</a:t>
            </a:r>
            <a:r>
              <a:rPr lang="zh-CN" altLang="en-US" sz="2000" dirty="0">
                <a:latin typeface="+mn-lt"/>
                <a:ea typeface="+mn-ea"/>
              </a:rPr>
              <a:t>、</a:t>
            </a:r>
            <a:r>
              <a:rPr lang="zh-CN" altLang="en-US" sz="2000" dirty="0">
                <a:solidFill>
                  <a:srgbClr val="000099"/>
                </a:solidFill>
                <a:latin typeface="+mn-lt"/>
                <a:ea typeface="+mn-ea"/>
              </a:rPr>
              <a:t>对常量（包括对</a:t>
            </a:r>
            <a:r>
              <a:rPr lang="zh-CN" altLang="en-US" sz="2000" dirty="0" smtClean="0">
                <a:solidFill>
                  <a:srgbClr val="000099"/>
                </a:solidFill>
                <a:latin typeface="+mn-lt"/>
                <a:ea typeface="+mn-ea"/>
              </a:rPr>
              <a:t>错误信息的</a:t>
            </a:r>
            <a:r>
              <a:rPr lang="zh-CN" altLang="en-US" sz="2000" dirty="0">
                <a:solidFill>
                  <a:srgbClr val="000099"/>
                </a:solidFill>
                <a:latin typeface="+mn-lt"/>
                <a:ea typeface="+mn-ea"/>
              </a:rPr>
              <a:t>编码）</a:t>
            </a:r>
            <a:r>
              <a:rPr lang="zh-CN" altLang="en-US" sz="2000" dirty="0" smtClean="0">
                <a:solidFill>
                  <a:srgbClr val="000099"/>
                </a:solidFill>
                <a:latin typeface="+mn-lt"/>
                <a:ea typeface="+mn-ea"/>
              </a:rPr>
              <a:t>命名</a:t>
            </a:r>
            <a:endParaRPr lang="en-US" altLang="zh-CN" sz="2000" dirty="0" smtClean="0">
              <a:solidFill>
                <a:srgbClr val="000099"/>
              </a:solidFill>
              <a:latin typeface="+mn-lt"/>
              <a:ea typeface="+mn-ea"/>
            </a:endParaRPr>
          </a:p>
          <a:p>
            <a:r>
              <a:rPr lang="zh-CN" altLang="en-US" b="1" dirty="0" smtClean="0">
                <a:solidFill>
                  <a:srgbClr val="C00000"/>
                </a:solidFill>
                <a:latin typeface="+mn-lt"/>
                <a:ea typeface="+mn-ea"/>
              </a:rPr>
              <a:t>      常量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</a:rPr>
              <a:t>名用大写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，常量名用英文表达其意思。   </a:t>
            </a:r>
            <a:endParaRPr lang="en-US" altLang="zh-CN" dirty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+mn-ea"/>
              </a:rPr>
              <a:t>     </a:t>
            </a:r>
            <a:r>
              <a:rPr lang="zh-CN" altLang="en-US" dirty="0">
                <a:solidFill>
                  <a:srgbClr val="006600"/>
                </a:solidFill>
                <a:latin typeface="+mn-lt"/>
                <a:ea typeface="+mn-ea"/>
              </a:rPr>
              <a:t>如：</a:t>
            </a:r>
            <a:r>
              <a:rPr lang="en-US" altLang="zh-CN" dirty="0" err="1">
                <a:solidFill>
                  <a:srgbClr val="006600"/>
                </a:solidFill>
                <a:latin typeface="+mn-lt"/>
                <a:ea typeface="+mn-ea"/>
              </a:rPr>
              <a:t>const</a:t>
            </a:r>
            <a:r>
              <a:rPr lang="en-US" altLang="zh-CN" dirty="0">
                <a:solidFill>
                  <a:srgbClr val="006600"/>
                </a:solidFill>
                <a:latin typeface="+mn-lt"/>
                <a:ea typeface="+mn-ea"/>
              </a:rPr>
              <a:t> float 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PI</a:t>
            </a:r>
            <a:r>
              <a:rPr lang="en-US" altLang="zh-CN" dirty="0">
                <a:solidFill>
                  <a:srgbClr val="006600"/>
                </a:solidFill>
                <a:latin typeface="+mn-lt"/>
                <a:ea typeface="+mn-ea"/>
              </a:rPr>
              <a:t>=3.141592;</a:t>
            </a:r>
          </a:p>
          <a:p>
            <a:r>
              <a:rPr lang="en-US" altLang="zh-CN" dirty="0">
                <a:solidFill>
                  <a:srgbClr val="006600"/>
                </a:solidFill>
                <a:latin typeface="+mn-lt"/>
                <a:ea typeface="+mn-ea"/>
              </a:rPr>
              <a:t>     </a:t>
            </a:r>
            <a:r>
              <a:rPr lang="en-US" altLang="zh-CN" dirty="0" smtClean="0">
                <a:solidFill>
                  <a:srgbClr val="006600"/>
                </a:solidFill>
                <a:latin typeface="+mn-lt"/>
                <a:ea typeface="+mn-ea"/>
              </a:rPr>
              <a:t>        </a:t>
            </a:r>
            <a:r>
              <a:rPr lang="en-US" altLang="zh-CN" dirty="0" err="1">
                <a:solidFill>
                  <a:srgbClr val="006600"/>
                </a:solidFill>
                <a:latin typeface="+mn-lt"/>
                <a:ea typeface="+mn-ea"/>
              </a:rPr>
              <a:t>const</a:t>
            </a:r>
            <a:r>
              <a:rPr lang="en-US" altLang="zh-CN" dirty="0">
                <a:solidFill>
                  <a:srgbClr val="006600"/>
                </a:solidFill>
                <a:latin typeface="+mn-lt"/>
                <a:ea typeface="+mn-ea"/>
              </a:rPr>
              <a:t> </a:t>
            </a:r>
            <a:r>
              <a:rPr lang="en-US" altLang="zh-CN" dirty="0" err="1">
                <a:solidFill>
                  <a:srgbClr val="006600"/>
                </a:solidFill>
                <a:latin typeface="+mn-lt"/>
                <a:ea typeface="+mn-ea"/>
              </a:rPr>
              <a:t>int</a:t>
            </a:r>
            <a:r>
              <a:rPr lang="en-US" altLang="zh-CN" dirty="0">
                <a:solidFill>
                  <a:srgbClr val="006600"/>
                </a:solidFill>
                <a:latin typeface="+mn-lt"/>
                <a:ea typeface="+mn-ea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MAX_SIZE</a:t>
            </a:r>
            <a:r>
              <a:rPr lang="en-US" altLang="zh-CN" dirty="0">
                <a:solidFill>
                  <a:srgbClr val="006600"/>
                </a:solidFill>
                <a:latin typeface="+mn-lt"/>
                <a:ea typeface="+mn-ea"/>
              </a:rPr>
              <a:t>=1025;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      </a:t>
            </a:r>
          </a:p>
          <a:p>
            <a:endParaRPr lang="zh-CN" altLang="en-US" sz="2000" dirty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en-US" altLang="zh-CN" sz="2000" dirty="0">
                <a:latin typeface="+mn-lt"/>
                <a:ea typeface="+mn-ea"/>
              </a:rPr>
              <a:t>3</a:t>
            </a:r>
            <a:r>
              <a:rPr lang="zh-CN" altLang="en-US" sz="2000" dirty="0">
                <a:latin typeface="+mn-lt"/>
                <a:ea typeface="+mn-ea"/>
              </a:rPr>
              <a:t>、</a:t>
            </a:r>
            <a:r>
              <a:rPr lang="zh-CN" altLang="en-US" sz="2000" dirty="0">
                <a:solidFill>
                  <a:srgbClr val="000099"/>
                </a:solidFill>
                <a:latin typeface="+mn-lt"/>
                <a:ea typeface="+mn-ea"/>
              </a:rPr>
              <a:t>函数的命名应该尽量用英文表达出函数完成的</a:t>
            </a:r>
            <a:r>
              <a:rPr lang="zh-CN" altLang="en-US" sz="2000" dirty="0" smtClean="0">
                <a:solidFill>
                  <a:srgbClr val="000099"/>
                </a:solidFill>
                <a:latin typeface="+mn-lt"/>
                <a:ea typeface="+mn-ea"/>
              </a:rPr>
              <a:t>功能</a:t>
            </a:r>
            <a:endParaRPr lang="en-US" altLang="zh-CN" sz="2000" dirty="0" smtClean="0">
              <a:solidFill>
                <a:srgbClr val="000099"/>
              </a:solidFill>
              <a:latin typeface="+mn-lt"/>
              <a:ea typeface="+mn-ea"/>
            </a:endParaRPr>
          </a:p>
          <a:p>
            <a:r>
              <a:rPr lang="zh-CN" altLang="en-US" sz="2000" dirty="0" smtClean="0">
                <a:solidFill>
                  <a:srgbClr val="000000"/>
                </a:solidFill>
                <a:latin typeface="+mn-lt"/>
                <a:ea typeface="+mn-ea"/>
              </a:rPr>
              <a:t>      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+mn-ea"/>
              </a:rPr>
              <a:t>遵循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</a:rPr>
              <a:t>动宾结构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的命名法则，函数名中动词在前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并在命名前加入函数的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+mn-ea"/>
              </a:rPr>
              <a:t>前缀</a:t>
            </a:r>
            <a:endParaRPr lang="en-US" altLang="zh-CN" dirty="0" smtClean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zh-CN" altLang="en-US" dirty="0" smtClean="0">
                <a:solidFill>
                  <a:srgbClr val="000000"/>
                </a:solidFill>
                <a:latin typeface="+mn-lt"/>
                <a:ea typeface="+mn-ea"/>
              </a:rPr>
              <a:t>      函数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名的长度一般不少于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8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个字母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    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+mn-ea"/>
              </a:rPr>
              <a:t>  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+mn-ea"/>
              </a:rPr>
              <a:t>如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char* </a:t>
            </a:r>
            <a:r>
              <a:rPr lang="en-US" altLang="zh-CN" dirty="0" err="1">
                <a:solidFill>
                  <a:srgbClr val="C00000"/>
                </a:solidFill>
                <a:latin typeface="+mn-lt"/>
                <a:ea typeface="+mn-ea"/>
              </a:rPr>
              <a:t>getName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()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{ …..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+mn-ea"/>
              </a:rPr>
              <a:t>}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+mn-lt"/>
              </a:rPr>
              <a:t>             char</a:t>
            </a:r>
            <a:r>
              <a:rPr lang="en-US" altLang="zh-CN" dirty="0">
                <a:solidFill>
                  <a:srgbClr val="000000"/>
                </a:solidFill>
                <a:latin typeface="+mn-lt"/>
              </a:rPr>
              <a:t>* </a:t>
            </a:r>
            <a:r>
              <a:rPr lang="en-US" altLang="zh-CN" dirty="0" err="1">
                <a:solidFill>
                  <a:srgbClr val="C00000"/>
                </a:solidFill>
                <a:latin typeface="+mn-lt"/>
              </a:rPr>
              <a:t>se</a:t>
            </a:r>
            <a:r>
              <a:rPr lang="en-US" altLang="zh-CN" dirty="0" err="1" smtClean="0">
                <a:solidFill>
                  <a:srgbClr val="C00000"/>
                </a:solidFill>
                <a:latin typeface="+mn-lt"/>
              </a:rPr>
              <a:t>tName</a:t>
            </a:r>
            <a:r>
              <a:rPr lang="en-US" altLang="zh-CN" dirty="0">
                <a:solidFill>
                  <a:srgbClr val="C00000"/>
                </a:solidFill>
                <a:latin typeface="+mn-lt"/>
              </a:rPr>
              <a:t>() </a:t>
            </a:r>
            <a:r>
              <a:rPr lang="en-US" altLang="zh-CN" dirty="0">
                <a:solidFill>
                  <a:srgbClr val="000000"/>
                </a:solidFill>
                <a:latin typeface="+mn-lt"/>
              </a:rPr>
              <a:t>{ ….. }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+mn-ea"/>
              </a:rPr>
              <a:t> </a:t>
            </a:r>
          </a:p>
          <a:p>
            <a:endParaRPr lang="en-US" altLang="zh-CN" sz="2000" dirty="0">
              <a:solidFill>
                <a:srgbClr val="000000"/>
              </a:solidFill>
              <a:latin typeface="+mn-lt"/>
              <a:ea typeface="+mn-ea"/>
            </a:endParaRPr>
          </a:p>
          <a:p>
            <a:endParaRPr lang="en-US" altLang="zh-CN" sz="2000" dirty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en-US" altLang="zh-CN" sz="2000" dirty="0">
                <a:latin typeface="+mn-lt"/>
                <a:ea typeface="+mn-ea"/>
              </a:rPr>
              <a:t>4</a:t>
            </a:r>
            <a:r>
              <a:rPr lang="zh-CN" altLang="en-US" sz="2000" dirty="0">
                <a:latin typeface="+mn-lt"/>
                <a:ea typeface="+mn-ea"/>
              </a:rPr>
              <a:t>、</a:t>
            </a:r>
            <a:r>
              <a:rPr lang="zh-CN" altLang="en-US" sz="2000" dirty="0">
                <a:solidFill>
                  <a:srgbClr val="000099"/>
                </a:solidFill>
                <a:latin typeface="+mn-lt"/>
                <a:ea typeface="+mn-ea"/>
              </a:rPr>
              <a:t>文件名</a:t>
            </a:r>
            <a:r>
              <a:rPr lang="en-US" altLang="zh-CN" sz="2000" dirty="0">
                <a:solidFill>
                  <a:srgbClr val="000099"/>
                </a:solidFill>
                <a:latin typeface="+mn-lt"/>
                <a:ea typeface="+mn-ea"/>
              </a:rPr>
              <a:t>(</a:t>
            </a:r>
            <a:r>
              <a:rPr lang="zh-CN" altLang="en-US" sz="2000" dirty="0">
                <a:solidFill>
                  <a:srgbClr val="000099"/>
                </a:solidFill>
                <a:latin typeface="+mn-lt"/>
                <a:ea typeface="+mn-ea"/>
              </a:rPr>
              <a:t>包括动态库、组件、控件、工程文件等</a:t>
            </a:r>
            <a:r>
              <a:rPr lang="en-US" altLang="zh-CN" sz="2000" dirty="0">
                <a:solidFill>
                  <a:srgbClr val="000099"/>
                </a:solidFill>
                <a:latin typeface="+mn-lt"/>
                <a:ea typeface="+mn-ea"/>
              </a:rPr>
              <a:t>)</a:t>
            </a:r>
            <a:r>
              <a:rPr lang="zh-CN" altLang="en-US" sz="2000" dirty="0">
                <a:solidFill>
                  <a:srgbClr val="000099"/>
                </a:solidFill>
                <a:latin typeface="+mn-lt"/>
                <a:ea typeface="+mn-ea"/>
              </a:rPr>
              <a:t>的命名规范</a:t>
            </a:r>
            <a:r>
              <a:rPr lang="zh-CN" altLang="en-US" sz="2000" dirty="0">
                <a:latin typeface="+mn-lt"/>
                <a:ea typeface="+mn-ea"/>
              </a:rPr>
              <a:t>：   </a:t>
            </a:r>
          </a:p>
          <a:p>
            <a:r>
              <a:rPr lang="zh-CN" altLang="en-US" dirty="0">
                <a:latin typeface="+mn-lt"/>
                <a:ea typeface="+mn-ea"/>
              </a:rPr>
              <a:t>  </a:t>
            </a:r>
            <a:r>
              <a:rPr lang="zh-CN" altLang="en-US" dirty="0" smtClean="0">
                <a:latin typeface="+mn-lt"/>
                <a:ea typeface="+mn-ea"/>
              </a:rPr>
              <a:t>     </a:t>
            </a:r>
            <a:r>
              <a:rPr lang="zh-CN" altLang="en-US" dirty="0" smtClean="0">
                <a:solidFill>
                  <a:srgbClr val="7030A0"/>
                </a:solidFill>
                <a:latin typeface="+mn-lt"/>
                <a:ea typeface="+mn-ea"/>
              </a:rPr>
              <a:t>文件名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的命名要求表达出文件的内容，要求文件名的长度不得少于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个字母，</a:t>
            </a:r>
            <a:r>
              <a:rPr lang="zh-CN" altLang="en-US" b="1" dirty="0">
                <a:solidFill>
                  <a:srgbClr val="006600"/>
                </a:solidFill>
                <a:latin typeface="+mn-lt"/>
                <a:ea typeface="+mn-ea"/>
              </a:rPr>
              <a:t>严禁使用象</a:t>
            </a:r>
            <a:r>
              <a:rPr lang="en-US" altLang="zh-CN" b="1" dirty="0">
                <a:solidFill>
                  <a:srgbClr val="006600"/>
                </a:solidFill>
                <a:latin typeface="+mn-lt"/>
                <a:ea typeface="+mn-ea"/>
              </a:rPr>
              <a:t>file1,myfile</a:t>
            </a:r>
            <a:r>
              <a:rPr lang="zh-CN" altLang="en-US" b="1" dirty="0">
                <a:solidFill>
                  <a:srgbClr val="006600"/>
                </a:solidFill>
                <a:latin typeface="+mn-lt"/>
                <a:ea typeface="+mn-ea"/>
              </a:rPr>
              <a:t>之类的文件名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119262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2268538" y="928688"/>
            <a:ext cx="417671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0" hangingPunct="0"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800" b="1" dirty="0" err="1">
                <a:solidFill>
                  <a:srgbClr val="990000"/>
                </a:solidFill>
                <a:latin typeface="+mj-lt"/>
                <a:ea typeface="+mj-ea"/>
                <a:cs typeface="+mj-cs"/>
              </a:rPr>
              <a:t>注释及其重要性</a:t>
            </a:r>
            <a:endParaRPr lang="zh-CN" altLang="en-US" sz="2800" b="1" dirty="0">
              <a:solidFill>
                <a:srgbClr val="99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846" y="1627188"/>
            <a:ext cx="7678882" cy="4897437"/>
          </a:xfrm>
          <a:noFill/>
          <a:ln/>
          <a:extLst>
            <a:ext uri="{91240B29-F687-4F45-9708-019B960494DF}">
              <a14:hiddenLine xmlns:a14="http://schemas.microsoft.com/office/drawing/2010/main" w="12700" cap="sq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0" dirty="0">
                <a:solidFill>
                  <a:srgbClr val="0000CC"/>
                </a:solidFill>
                <a:latin typeface="+mn-ea"/>
              </a:rPr>
              <a:t>注释</a:t>
            </a:r>
            <a:r>
              <a:rPr lang="en-US" altLang="zh-CN" sz="2000" b="0" dirty="0">
                <a:solidFill>
                  <a:srgbClr val="0000CC"/>
                </a:solidFill>
                <a:latin typeface="+mn-ea"/>
              </a:rPr>
              <a:t>(comments)</a:t>
            </a:r>
            <a:r>
              <a:rPr lang="zh-CN" altLang="en-US" sz="2000" b="0" dirty="0">
                <a:solidFill>
                  <a:srgbClr val="000000"/>
                </a:solidFill>
                <a:latin typeface="+mn-ea"/>
              </a:rPr>
              <a:t>是非常重要的一种机制。没有注释的程序不能算作合格的程序。</a:t>
            </a:r>
          </a:p>
          <a:p>
            <a:pPr marL="342900" indent="-34290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0" dirty="0">
                <a:solidFill>
                  <a:srgbClr val="000000"/>
                </a:solidFill>
                <a:latin typeface="+mn-ea"/>
              </a:rPr>
              <a:t>要建立这样的观念：程序是给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别</a:t>
            </a:r>
            <a:r>
              <a:rPr lang="zh-CN" altLang="en-US" sz="2000" b="0" dirty="0">
                <a:solidFill>
                  <a:srgbClr val="000000"/>
                </a:solidFill>
                <a:latin typeface="+mn-ea"/>
              </a:rPr>
              <a:t>人编的，让别人看懂是第一位重要的事情。特别是将来你可能参加一个团队，几十人甚至几百人一起合作编程，相互协同，更需将注释写得清清楚楚、明明白白，因此，我们规定程序中须有如下内容</a:t>
            </a:r>
            <a:r>
              <a:rPr lang="en-US" altLang="zh-CN" sz="2000" b="0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361950" y="307832"/>
            <a:ext cx="8547100" cy="547687"/>
          </a:xfrm>
        </p:spPr>
        <p:txBody>
          <a:bodyPr/>
          <a:lstStyle/>
          <a:p>
            <a:r>
              <a:rPr lang="zh-CN" altLang="en-US" dirty="0"/>
              <a:t>程序设计规范</a:t>
            </a:r>
          </a:p>
        </p:txBody>
      </p:sp>
    </p:spTree>
    <p:extLst>
      <p:ext uri="{BB962C8B-B14F-4D97-AF65-F5344CB8AC3E}">
        <p14:creationId xmlns:p14="http://schemas.microsoft.com/office/powerpoint/2010/main" val="2537942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CC"/>
                </a:solidFill>
                <a:latin typeface="+mn-ea"/>
              </a:rPr>
              <a:t>程序注释</a:t>
            </a:r>
            <a:endParaRPr lang="en-US" altLang="zh-CN" sz="2000" dirty="0">
              <a:solidFill>
                <a:srgbClr val="0000CC"/>
              </a:solidFill>
              <a:latin typeface="+mn-ea"/>
            </a:endParaRP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程序名称</a:t>
            </a:r>
            <a:endParaRPr lang="en-US" altLang="zh-CN" sz="1800" dirty="0">
              <a:solidFill>
                <a:srgbClr val="000000"/>
              </a:solidFill>
              <a:latin typeface="+mn-ea"/>
            </a:endParaRP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程序要实现的功能，比如要完成什么数学运算</a:t>
            </a: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程序的思路和特点</a:t>
            </a: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编程的人与合作者</a:t>
            </a: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编程的时间，修改后的第几版本</a:t>
            </a: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其它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CC"/>
                </a:solidFill>
                <a:latin typeface="+mn-ea"/>
              </a:rPr>
              <a:t>程序中对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变量、模块、函数、</a:t>
            </a:r>
            <a:r>
              <a:rPr lang="en-US" altLang="zh-CN" sz="2000">
                <a:solidFill>
                  <a:srgbClr val="C00000"/>
                </a:solidFill>
                <a:latin typeface="+mn-ea"/>
              </a:rPr>
              <a:t>… </a:t>
            </a:r>
            <a:r>
              <a:rPr lang="zh-CN" altLang="en-US" sz="2000">
                <a:solidFill>
                  <a:srgbClr val="0000CC"/>
                </a:solidFill>
                <a:latin typeface="+mn-ea"/>
              </a:rPr>
              <a:t>等</a:t>
            </a:r>
            <a:r>
              <a:rPr lang="zh-CN" altLang="en-US" sz="2000" dirty="0">
                <a:solidFill>
                  <a:srgbClr val="0000CC"/>
                </a:solidFill>
                <a:latin typeface="+mn-ea"/>
              </a:rPr>
              <a:t>都要加相应的注释；</a:t>
            </a:r>
            <a:endParaRPr lang="en-US" altLang="zh-CN" sz="2000" dirty="0">
              <a:solidFill>
                <a:srgbClr val="0000CC"/>
              </a:solidFill>
              <a:latin typeface="+mn-ea"/>
            </a:endParaRPr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  <a:latin typeface="+mn-ea"/>
              </a:rPr>
              <a:t>如函数的功能，参数，返回值等都要做必要的说明；</a:t>
            </a:r>
            <a:endParaRPr lang="en-US" altLang="zh-CN" sz="1800" dirty="0">
              <a:solidFill>
                <a:srgbClr val="0066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对初学者，希望尽量多地对语句加以注释，注明相应语句的功能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6600"/>
                </a:solidFill>
                <a:latin typeface="+mn-ea"/>
              </a:rPr>
              <a:t>将来提交的实验报告要有程序注释，及程序中必要的注释</a:t>
            </a:r>
            <a:r>
              <a:rPr lang="en-US" altLang="zh-CN" sz="2000" b="1" dirty="0">
                <a:solidFill>
                  <a:srgbClr val="006600"/>
                </a:solidFill>
                <a:latin typeface="+mn-ea"/>
              </a:rPr>
              <a:t>,</a:t>
            </a:r>
            <a:r>
              <a:rPr lang="zh-CN" altLang="en-US" sz="2000" b="1" dirty="0">
                <a:solidFill>
                  <a:srgbClr val="006600"/>
                </a:solidFill>
                <a:latin typeface="+mn-ea"/>
              </a:rPr>
              <a:t>并遵循介绍的这些编程规范。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34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9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976429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</TotalTime>
  <Words>723</Words>
  <Application>Microsoft Office PowerPoint</Application>
  <PresentationFormat>全屏显示(4:3)</PresentationFormat>
  <Paragraphs>70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程序设计规范</vt:lpstr>
      <vt:lpstr>采用阶梯层次(缩进)组织程序代码</vt:lpstr>
      <vt:lpstr>程序设计规范</vt:lpstr>
      <vt:lpstr>PowerPoint 演示文稿</vt:lpstr>
      <vt:lpstr>PowerPoint 演示文稿</vt:lpstr>
      <vt:lpstr>程序设计规范</vt:lpstr>
      <vt:lpstr>注释内容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1050</cp:revision>
  <dcterms:created xsi:type="dcterms:W3CDTF">2013-01-25T01:44:00Z</dcterms:created>
  <dcterms:modified xsi:type="dcterms:W3CDTF">2022-12-20T03:01:53Z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