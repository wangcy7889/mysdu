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  <p:sldMasterId id="2147483684" r:id="rId4"/>
    <p:sldMasterId id="2147483696" r:id="rId5"/>
  </p:sldMasterIdLst>
  <p:notesMasterIdLst>
    <p:notesMasterId r:id="rId36"/>
  </p:notesMasterIdLst>
  <p:sldIdLst>
    <p:sldId id="256" r:id="rId6"/>
    <p:sldId id="438" r:id="rId7"/>
    <p:sldId id="555" r:id="rId8"/>
    <p:sldId id="556" r:id="rId9"/>
    <p:sldId id="557" r:id="rId10"/>
    <p:sldId id="558" r:id="rId11"/>
    <p:sldId id="559" r:id="rId12"/>
    <p:sldId id="560" r:id="rId13"/>
    <p:sldId id="561" r:id="rId14"/>
    <p:sldId id="562" r:id="rId15"/>
    <p:sldId id="563" r:id="rId16"/>
    <p:sldId id="564" r:id="rId17"/>
    <p:sldId id="565" r:id="rId18"/>
    <p:sldId id="566" r:id="rId19"/>
    <p:sldId id="567" r:id="rId20"/>
    <p:sldId id="536" r:id="rId21"/>
    <p:sldId id="553" r:id="rId22"/>
    <p:sldId id="537" r:id="rId23"/>
    <p:sldId id="547" r:id="rId24"/>
    <p:sldId id="538" r:id="rId25"/>
    <p:sldId id="533" r:id="rId26"/>
    <p:sldId id="540" r:id="rId27"/>
    <p:sldId id="542" r:id="rId28"/>
    <p:sldId id="541" r:id="rId29"/>
    <p:sldId id="548" r:id="rId30"/>
    <p:sldId id="549" r:id="rId31"/>
    <p:sldId id="554" r:id="rId32"/>
    <p:sldId id="539" r:id="rId33"/>
    <p:sldId id="544" r:id="rId34"/>
    <p:sldId id="439" r:id="rId35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>
          <p15:clr>
            <a:srgbClr val="A4A3A4"/>
          </p15:clr>
        </p15:guide>
        <p15:guide id="2" pos="285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0DCD"/>
    <a:srgbClr val="006600"/>
    <a:srgbClr val="000000"/>
    <a:srgbClr val="0000CC"/>
    <a:srgbClr val="003300"/>
    <a:srgbClr val="99CC00"/>
    <a:srgbClr val="7FE41A"/>
    <a:srgbClr val="6AD565"/>
    <a:srgbClr val="9DEB4F"/>
    <a:srgbClr val="69BD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60" autoAdjust="0"/>
  </p:normalViewPr>
  <p:slideViewPr>
    <p:cSldViewPr snapToGrid="0" snapToObjects="1">
      <p:cViewPr varScale="1">
        <p:scale>
          <a:sx n="108" d="100"/>
          <a:sy n="108" d="100"/>
        </p:scale>
        <p:origin x="1626" y="114"/>
      </p:cViewPr>
      <p:guideLst>
        <p:guide orient="horz" pos="2170"/>
        <p:guide pos="285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1999" cy="71999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theme" Target="theme/theme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0" name="Rectangle 4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77AA068-423C-4043-8EE2-1CC6D935DDF0}" type="slidenum">
              <a:rPr lang="zh-CN" alt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516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D3360855-BA1B-49D5-B0CD-B5E0CC13AAD6}" type="datetime1">
              <a:rPr lang="zh-CN" altLang="en-US" smtClean="0">
                <a:latin typeface="Arial" charset="0"/>
                <a:ea typeface="宋体" charset="-122"/>
              </a:rPr>
              <a:pPr/>
              <a:t>2021/12/20</a:t>
            </a:fld>
            <a:endParaRPr lang="en-US" altLang="zh-CN">
              <a:latin typeface="Arial" charset="0"/>
              <a:ea typeface="宋体" charset="-122"/>
            </a:endParaRPr>
          </a:p>
        </p:txBody>
      </p:sp>
      <p:sp>
        <p:nvSpPr>
          <p:cNvPr id="2253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DCAF334-A9C0-438B-84BC-4E279211E2CD}" type="slidenum">
              <a:rPr lang="en-US" altLang="zh-CN" smtClean="0">
                <a:latin typeface="Arial" charset="0"/>
                <a:ea typeface="宋体" charset="-122"/>
              </a:rPr>
              <a:pPr/>
              <a:t>30</a:t>
            </a:fld>
            <a:endParaRPr lang="en-US" altLang="zh-CN">
              <a:latin typeface="Arial" charset="0"/>
              <a:ea typeface="宋体" charset="-122"/>
            </a:endParaRPr>
          </a:p>
        </p:txBody>
      </p:sp>
      <p:sp>
        <p:nvSpPr>
          <p:cNvPr id="225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27125" y="701675"/>
            <a:ext cx="4587875" cy="3440113"/>
          </a:xfrm>
          <a:ln/>
        </p:spPr>
      </p:sp>
      <p:sp>
        <p:nvSpPr>
          <p:cNvPr id="225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52925"/>
            <a:ext cx="4995863" cy="4140200"/>
          </a:xfrm>
          <a:noFill/>
          <a:ln/>
        </p:spPr>
        <p:txBody>
          <a:bodyPr/>
          <a:lstStyle/>
          <a:p>
            <a:pPr eaLnBrk="1" hangingPunct="1"/>
            <a:endParaRPr lang="zh-CN" altLang="zh-CN"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7411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6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KSO_BT1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269875" y="2066925"/>
            <a:ext cx="5592763" cy="1384300"/>
          </a:xfrm>
        </p:spPr>
        <p:txBody>
          <a:bodyPr/>
          <a:lstStyle>
            <a:lvl1pPr algn="ctr">
              <a:defRPr sz="4200">
                <a:solidFill>
                  <a:srgbClr val="14729C"/>
                </a:solidFill>
              </a:defRPr>
            </a:lvl1pPr>
          </a:lstStyle>
          <a:p>
            <a:pPr lvl="0"/>
            <a:r>
              <a:rPr lang="zh-CN" noProof="0"/>
              <a:t>单击此处</a:t>
            </a:r>
            <a:br>
              <a:rPr lang="zh-CN" noProof="0"/>
            </a:br>
            <a:r>
              <a:rPr lang="zh-CN" noProof="0"/>
              <a:t>编辑母版标题样式</a:t>
            </a:r>
          </a:p>
        </p:txBody>
      </p:sp>
      <p:sp>
        <p:nvSpPr>
          <p:cNvPr id="2052" name="KSO_BC1"/>
          <p:cNvSpPr>
            <a:spLocks noGrp="1" noChangeArrowheads="1"/>
          </p:cNvSpPr>
          <p:nvPr>
            <p:ph type="subTitle" idx="1"/>
          </p:nvPr>
        </p:nvSpPr>
        <p:spPr>
          <a:xfrm>
            <a:off x="269875" y="3651250"/>
            <a:ext cx="5588000" cy="547688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>
                <a:solidFill>
                  <a:schemeClr val="folHlink"/>
                </a:solidFill>
              </a:defRPr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01BDE14-8C80-49E0-8281-DD5E56F6F558}" type="datetime1">
              <a:rPr lang="zh-CN" altLang="en-US"/>
              <a:t>2021/12/20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4443EEA-FBC3-4E9A-9C70-438B835BD66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2021/12/20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6F85F4-ED83-48A5-8EDD-7FC59D04590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2021/12/20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FBF970-60AF-4DAF-9E35-50708D19D96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79400" y="1054100"/>
            <a:ext cx="3811588" cy="54070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243388" y="1054100"/>
            <a:ext cx="3811587" cy="54070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2021/12/20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BDED28-B741-4EF3-8A85-476A8059E05F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2021/12/20</a:t>
            </a:fld>
            <a:endParaRPr lang="en-US"/>
          </a:p>
        </p:txBody>
      </p:sp>
      <p:sp>
        <p:nvSpPr>
          <p:cNvPr id="8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03127B-0938-4893-96C2-5BF3E99308B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2021/12/20</a:t>
            </a:fld>
            <a:endParaRPr lang="en-US"/>
          </a:p>
        </p:txBody>
      </p:sp>
      <p:sp>
        <p:nvSpPr>
          <p:cNvPr id="4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C73F5A-A092-4D93-92E7-775B571A6B0D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2021/12/20</a:t>
            </a:fld>
            <a:endParaRPr lang="en-US"/>
          </a:p>
        </p:txBody>
      </p:sp>
      <p:sp>
        <p:nvSpPr>
          <p:cNvPr id="3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A47056-C575-41A5-9FC0-1A2A3B26D7C5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2021/12/20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6A6E2-01AE-4F33-B1C1-84244AF65CD8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2021/12/20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40B0EB-A491-48EF-BEE0-B90804C1504C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2021/12/20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414B56-E0FF-497B-B381-78CDFF87AB4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111875" y="196850"/>
            <a:ext cx="1943100" cy="626427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79400" y="196850"/>
            <a:ext cx="5680075" cy="626427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2021/12/20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2B9AB2-7367-4ECF-93B6-6B5F052EDA1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5" descr="未标题-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KSO_BC1"/>
          <p:cNvSpPr>
            <a:spLocks noGrp="1" noChangeArrowheads="1"/>
          </p:cNvSpPr>
          <p:nvPr>
            <p:ph type="subTitle" idx="1"/>
          </p:nvPr>
        </p:nvSpPr>
        <p:spPr>
          <a:xfrm>
            <a:off x="2790825" y="2152650"/>
            <a:ext cx="5870575" cy="496888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2000">
                <a:solidFill>
                  <a:srgbClr val="6C6F72"/>
                </a:solidFill>
              </a:defRPr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4103" name="KSO_BT1"/>
          <p:cNvSpPr>
            <a:spLocks noGrp="1" noChangeArrowheads="1"/>
          </p:cNvSpPr>
          <p:nvPr>
            <p:ph type="ctrTitle"/>
          </p:nvPr>
        </p:nvSpPr>
        <p:spPr>
          <a:xfrm>
            <a:off x="2787650" y="1258888"/>
            <a:ext cx="5884863" cy="863600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5EB33F-0483-43C6-847F-6D3BDF8997C4}" type="datetime1">
              <a:rPr lang="zh-CN" altLang="en-US"/>
              <a:t>2021/12/20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A24BC01-715A-404A-AF8C-083EFE472DA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2021/12/20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92F74B-3F9D-4EC0-BB27-2C8E829D834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2021/12/20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6C4A8C-293A-4006-9D11-27F066922CD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47675" y="1133475"/>
            <a:ext cx="4030663" cy="51006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30738" y="1133475"/>
            <a:ext cx="4032250" cy="51006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2021/12/20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B30462-3FE9-4AC9-87A4-B13B8F51DDE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2021/12/20</a:t>
            </a:fld>
            <a:endParaRPr lang="en-US"/>
          </a:p>
        </p:txBody>
      </p:sp>
      <p:sp>
        <p:nvSpPr>
          <p:cNvPr id="8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D057C7-BE4D-4CC7-9A6F-784CBE1E4408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2021/12/20</a:t>
            </a:fld>
            <a:endParaRPr lang="en-US"/>
          </a:p>
        </p:txBody>
      </p:sp>
      <p:sp>
        <p:nvSpPr>
          <p:cNvPr id="4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3111F1-C7D5-4B5F-82C4-FED058A43FED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2021/12/20</a:t>
            </a:fld>
            <a:endParaRPr lang="en-US"/>
          </a:p>
        </p:txBody>
      </p:sp>
      <p:sp>
        <p:nvSpPr>
          <p:cNvPr id="3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8CF258-373D-47B5-9224-E86B2421108D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2021/12/20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98A255-05C8-4069-A9CB-54077EFAD05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2021/12/20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A91975-133D-44B7-B5F6-02DDCE1C6857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2021/12/20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20D0EE-11E1-4E01-A713-4C0B04358260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10350" y="214313"/>
            <a:ext cx="2052638" cy="60198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7675" y="214313"/>
            <a:ext cx="6010275" cy="60198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2021/12/20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E740C7-CC37-4ABD-A9FF-809B75CEBA0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3" r="1172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流程图: 数据 4"/>
          <p:cNvSpPr>
            <a:spLocks noChangeArrowheads="1"/>
          </p:cNvSpPr>
          <p:nvPr/>
        </p:nvSpPr>
        <p:spPr bwMode="auto">
          <a:xfrm>
            <a:off x="2857500" y="0"/>
            <a:ext cx="6286500" cy="6858000"/>
          </a:xfrm>
          <a:prstGeom prst="flowChartInputOutput">
            <a:avLst/>
          </a:prstGeom>
          <a:solidFill>
            <a:srgbClr val="FDD762">
              <a:alpha val="5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en-US" sz="1300">
              <a:solidFill>
                <a:srgbClr val="5F5F5F"/>
              </a:solidFill>
            </a:endParaRPr>
          </a:p>
        </p:txBody>
      </p:sp>
      <p:pic>
        <p:nvPicPr>
          <p:cNvPr id="6" name="图片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875" y="1300163"/>
            <a:ext cx="4070350" cy="226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9" name="Text Placeholder 2"/>
          <p:cNvSpPr>
            <a:spLocks noGrp="1" noChangeArrowheads="1"/>
          </p:cNvSpPr>
          <p:nvPr>
            <p:ph type="subTitle" idx="1"/>
          </p:nvPr>
        </p:nvSpPr>
        <p:spPr>
          <a:xfrm>
            <a:off x="3417888" y="5014913"/>
            <a:ext cx="4735512" cy="547687"/>
          </a:xfrm>
        </p:spPr>
        <p:txBody>
          <a:bodyPr/>
          <a:lstStyle>
            <a:lvl1pPr marL="0" indent="0" algn="ctr">
              <a:buFont typeface="Wingdings 2" panose="05020102010507070707" pitchFamily="18" charset="2"/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6153" name="Title Placeholder 1"/>
          <p:cNvSpPr>
            <a:spLocks noGrp="1" noChangeArrowheads="1"/>
          </p:cNvSpPr>
          <p:nvPr>
            <p:ph type="ctrTitle"/>
          </p:nvPr>
        </p:nvSpPr>
        <p:spPr>
          <a:xfrm>
            <a:off x="3408363" y="3463925"/>
            <a:ext cx="4737100" cy="1470025"/>
          </a:xfrm>
        </p:spPr>
        <p:txBody>
          <a:bodyPr/>
          <a:lstStyle>
            <a:lvl1pPr algn="ctr">
              <a:defRPr sz="3200"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0493455-07EA-47DB-90C0-E7E423CB59B6}" type="datetime1">
              <a:rPr lang="zh-CN" altLang="en-US"/>
              <a:t>2021/12/20</a:t>
            </a:fld>
            <a:endParaRPr lang="en-US"/>
          </a:p>
        </p:txBody>
      </p:sp>
      <p:sp>
        <p:nvSpPr>
          <p:cNvPr id="8" name="Footer Placeholder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338A0BD-2BD5-4CDD-949A-399040E1F361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2021/12/20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4C3199-1AFA-4954-9CC4-12638459641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2021/12/20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4791B2-E5C4-4716-B26B-E0118C8D48E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476375"/>
            <a:ext cx="3927475" cy="48799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6613" y="1476375"/>
            <a:ext cx="3929062" cy="48799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2021/12/20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8A6133-FFB4-4B05-84EA-663E62FDFBC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2021/12/20</a:t>
            </a:fld>
            <a:endParaRPr lang="en-US"/>
          </a:p>
        </p:txBody>
      </p:sp>
      <p:sp>
        <p:nvSpPr>
          <p:cNvPr id="8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227019-1451-45BD-B61C-7AF55C70AA45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2021/12/20</a:t>
            </a:fld>
            <a:endParaRPr lang="en-US"/>
          </a:p>
        </p:txBody>
      </p:sp>
      <p:sp>
        <p:nvSpPr>
          <p:cNvPr id="4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76A8A5-509F-4FF4-914B-DE7911A9FDC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2021/12/20</a:t>
            </a:fld>
            <a:endParaRPr lang="en-US"/>
          </a:p>
        </p:txBody>
      </p:sp>
      <p:sp>
        <p:nvSpPr>
          <p:cNvPr id="3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40D63B-70E4-448C-A960-B7BCA42D5432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2021/12/20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53BC4C-21CF-455E-B095-424B494E974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2021/12/20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D8D181-3281-4E13-887C-32993C8F81F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2021/12/20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F84EC5-1729-4024-A363-B97A4567CA7F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68300"/>
            <a:ext cx="2001837" cy="59880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68300"/>
            <a:ext cx="5854700" cy="59880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2021/12/20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A0E7CA-17FA-457E-94D8-9BF9C622018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矩形 12"/>
          <p:cNvGrpSpPr/>
          <p:nvPr userDrawn="1"/>
        </p:nvGrpSpPr>
        <p:grpSpPr bwMode="auto">
          <a:xfrm>
            <a:off x="0" y="0"/>
            <a:ext cx="9150350" cy="6888163"/>
            <a:chOff x="0" y="0"/>
            <a:chExt cx="5764" cy="4339"/>
          </a:xfrm>
        </p:grpSpPr>
        <p:pic>
          <p:nvPicPr>
            <p:cNvPr id="5" name="矩形 12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764" cy="4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0" y="0"/>
              <a:ext cx="5762" cy="4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 sz="1300">
                <a:solidFill>
                  <a:srgbClr val="FFFFFF"/>
                </a:solidFill>
              </a:endParaRPr>
            </a:p>
          </p:txBody>
        </p:sp>
      </p:grpSp>
      <p:grpSp>
        <p:nvGrpSpPr>
          <p:cNvPr id="7" name="组合 13"/>
          <p:cNvGrpSpPr/>
          <p:nvPr userDrawn="1"/>
        </p:nvGrpSpPr>
        <p:grpSpPr bwMode="auto">
          <a:xfrm>
            <a:off x="0" y="263525"/>
            <a:ext cx="9144000" cy="4676775"/>
            <a:chOff x="0" y="0"/>
            <a:chExt cx="12192000" cy="4677534"/>
          </a:xfrm>
        </p:grpSpPr>
        <p:grpSp>
          <p:nvGrpSpPr>
            <p:cNvPr id="8" name="Freeform 5"/>
            <p:cNvGrpSpPr/>
            <p:nvPr userDrawn="1"/>
          </p:nvGrpSpPr>
          <p:grpSpPr bwMode="auto">
            <a:xfrm>
              <a:off x="0" y="-1059"/>
              <a:ext cx="12200128" cy="2353056"/>
              <a:chOff x="0" y="0"/>
              <a:chExt cx="9150096" cy="2353056"/>
            </a:xfrm>
          </p:grpSpPr>
          <p:pic>
            <p:nvPicPr>
              <p:cNvPr id="17" name="Freeform 5"/>
              <p:cNvPicPr>
                <a:picLocks noEditPoints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9150096" cy="23530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" name="Text Box 8"/>
              <p:cNvSpPr txBox="1">
                <a:spLocks noChangeArrowheads="1"/>
              </p:cNvSpPr>
              <p:nvPr/>
            </p:nvSpPr>
            <p:spPr bwMode="auto">
              <a:xfrm>
                <a:off x="0" y="1059"/>
                <a:ext cx="9144000" cy="23530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1920" tIns="60960" rIns="121920" bIns="6096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9" name="矩形 15"/>
            <p:cNvSpPr>
              <a:spLocks noChangeArrowheads="1"/>
            </p:cNvSpPr>
            <p:nvPr/>
          </p:nvSpPr>
          <p:spPr bwMode="auto">
            <a:xfrm>
              <a:off x="0" y="2362583"/>
              <a:ext cx="12192000" cy="1714778"/>
            </a:xfrm>
            <a:prstGeom prst="rect">
              <a:avLst/>
            </a:prstGeom>
            <a:solidFill>
              <a:srgbClr val="28A9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20" tIns="60960" rIns="121920" bIns="6096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  <p:cxnSp>
          <p:nvCxnSpPr>
            <p:cNvPr id="10" name="直接连接符 16"/>
            <p:cNvCxnSpPr>
              <a:cxnSpLocks noChangeShapeType="1"/>
            </p:cNvCxnSpPr>
            <p:nvPr/>
          </p:nvCxnSpPr>
          <p:spPr bwMode="auto">
            <a:xfrm>
              <a:off x="0" y="4110425"/>
              <a:ext cx="12192000" cy="0"/>
            </a:xfrm>
            <a:prstGeom prst="line">
              <a:avLst/>
            </a:prstGeom>
            <a:noFill/>
            <a:ln w="19050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直接连接符 17"/>
            <p:cNvCxnSpPr>
              <a:cxnSpLocks noChangeShapeType="1"/>
            </p:cNvCxnSpPr>
            <p:nvPr/>
          </p:nvCxnSpPr>
          <p:spPr bwMode="auto">
            <a:xfrm>
              <a:off x="0" y="4532288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直接连接符 18"/>
            <p:cNvCxnSpPr>
              <a:cxnSpLocks noChangeShapeType="1"/>
            </p:cNvCxnSpPr>
            <p:nvPr/>
          </p:nvCxnSpPr>
          <p:spPr bwMode="auto">
            <a:xfrm>
              <a:off x="0" y="4598574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直接连接符 19"/>
            <p:cNvCxnSpPr>
              <a:cxnSpLocks noChangeShapeType="1"/>
            </p:cNvCxnSpPr>
            <p:nvPr/>
          </p:nvCxnSpPr>
          <p:spPr bwMode="auto">
            <a:xfrm>
              <a:off x="0" y="4664860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直接连接符 20"/>
            <p:cNvCxnSpPr>
              <a:cxnSpLocks noChangeShapeType="1"/>
            </p:cNvCxnSpPr>
            <p:nvPr/>
          </p:nvCxnSpPr>
          <p:spPr bwMode="auto">
            <a:xfrm>
              <a:off x="7872000" y="4532288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直接连接符 21"/>
            <p:cNvCxnSpPr>
              <a:cxnSpLocks noChangeShapeType="1"/>
            </p:cNvCxnSpPr>
            <p:nvPr/>
          </p:nvCxnSpPr>
          <p:spPr bwMode="auto">
            <a:xfrm>
              <a:off x="7872000" y="4598574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直接连接符 22"/>
            <p:cNvCxnSpPr>
              <a:cxnSpLocks noChangeShapeType="1"/>
            </p:cNvCxnSpPr>
            <p:nvPr/>
          </p:nvCxnSpPr>
          <p:spPr bwMode="auto">
            <a:xfrm>
              <a:off x="7872000" y="4664860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8209" name="Text Placeholder 2"/>
          <p:cNvSpPr>
            <a:spLocks noGrp="1" noChangeArrowheads="1"/>
          </p:cNvSpPr>
          <p:nvPr>
            <p:ph type="subTitle" idx="1"/>
          </p:nvPr>
        </p:nvSpPr>
        <p:spPr>
          <a:xfrm>
            <a:off x="3228975" y="4695825"/>
            <a:ext cx="2628900" cy="466725"/>
          </a:xfrm>
        </p:spPr>
        <p:txBody>
          <a:bodyPr/>
          <a:lstStyle>
            <a:lvl1pPr algn="ctr">
              <a:buFont typeface="Wingdings 2" panose="05020102010507070707" pitchFamily="18" charset="2"/>
              <a:buNone/>
              <a:defRPr sz="1600"/>
            </a:lvl1pPr>
          </a:lstStyle>
          <a:p>
            <a:pPr lvl="0"/>
            <a:r>
              <a:rPr lang="zh-CN" noProof="0">
                <a:sym typeface="Arial" panose="020B0604020202020204" pitchFamily="34" charset="0"/>
              </a:rPr>
              <a:t>单击此处编辑母版副标题样式</a:t>
            </a:r>
          </a:p>
        </p:txBody>
      </p:sp>
      <p:sp>
        <p:nvSpPr>
          <p:cNvPr id="8213" name="Title Placeholder 1"/>
          <p:cNvSpPr>
            <a:spLocks noGrp="1" noChangeArrowheads="1"/>
          </p:cNvSpPr>
          <p:nvPr>
            <p:ph type="ctrTitle"/>
          </p:nvPr>
        </p:nvSpPr>
        <p:spPr>
          <a:xfrm>
            <a:off x="714375" y="3140075"/>
            <a:ext cx="7772400" cy="717550"/>
          </a:xfrm>
        </p:spPr>
        <p:txBody>
          <a:bodyPr/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19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E9B9122-6204-415B-9B63-767BCB80D292}" type="datetime1">
              <a:rPr lang="zh-CN" altLang="en-US"/>
              <a:t>2021/12/20</a:t>
            </a:fld>
            <a:endParaRPr lang="en-US"/>
          </a:p>
        </p:txBody>
      </p:sp>
      <p:sp>
        <p:nvSpPr>
          <p:cNvPr id="20" name="Footer Placeholder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0250EEA-FF4E-41D5-AF69-6EEADFA6D3D0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2021/12/20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989441-A55F-43EA-A8B0-412ADF2DBC6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2021/12/20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64DB7A-EFF0-4FC6-B595-90C219780068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85775" y="1135063"/>
            <a:ext cx="3968750" cy="534511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06925" y="1135063"/>
            <a:ext cx="3968750" cy="534511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2021/12/20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9D5673-5430-4CAF-80D3-E7AE5060CFAF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2021/12/20</a:t>
            </a:fld>
            <a:endParaRPr lang="en-US"/>
          </a:p>
        </p:txBody>
      </p:sp>
      <p:sp>
        <p:nvSpPr>
          <p:cNvPr id="8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25A6FA-2176-4BCE-AD9F-89675A8CFB5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2021/12/20</a:t>
            </a:fld>
            <a:endParaRPr lang="en-US"/>
          </a:p>
        </p:txBody>
      </p:sp>
      <p:sp>
        <p:nvSpPr>
          <p:cNvPr id="4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1250DC-0878-4B08-A8DF-B0618002FCC3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2021/12/20</a:t>
            </a:fld>
            <a:endParaRPr lang="en-US"/>
          </a:p>
        </p:txBody>
      </p:sp>
      <p:sp>
        <p:nvSpPr>
          <p:cNvPr id="3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FB7DB4-EE38-47B9-960D-23808051C6B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2021/12/20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779915-1CD2-4D16-B500-B5490E936485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2021/12/20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29697E-D45A-4E7C-81FC-4060FFD7AB32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2021/12/20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C46216-539C-4C56-A730-F6A42213F0E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255588"/>
            <a:ext cx="2022475" cy="6224587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85775" y="255588"/>
            <a:ext cx="5915025" cy="622458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2021/12/20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C01A58-410C-44AE-B15D-E703576B05EB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eaLnBrk="1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 eaLnBrk="1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74489087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9400" y="1010465"/>
            <a:ext cx="8636000" cy="4972050"/>
          </a:xfrm>
        </p:spPr>
        <p:txBody>
          <a:bodyPr/>
          <a:lstStyle>
            <a:lvl1pPr eaLnBrk="1">
              <a:lnSpc>
                <a:spcPct val="130000"/>
              </a:lnSpc>
              <a:spcBef>
                <a:spcPts val="0"/>
              </a:spcBef>
              <a:buFont typeface="Wingdings" pitchFamily="2" charset="2"/>
              <a:buChar char="l"/>
              <a:defRPr/>
            </a:lvl1pPr>
            <a:lvl2pPr eaLnBrk="1">
              <a:lnSpc>
                <a:spcPct val="130000"/>
              </a:lnSpc>
              <a:spcBef>
                <a:spcPts val="0"/>
              </a:spcBef>
              <a:buFont typeface="Wingdings" pitchFamily="2" charset="2"/>
              <a:buChar char="Ø"/>
              <a:defRPr/>
            </a:lvl2pPr>
            <a:lvl3pPr eaLnBrk="1">
              <a:lnSpc>
                <a:spcPct val="130000"/>
              </a:lnSpc>
              <a:spcBef>
                <a:spcPts val="0"/>
              </a:spcBef>
              <a:defRPr/>
            </a:lvl3pPr>
            <a:lvl4pPr eaLnBrk="1">
              <a:lnSpc>
                <a:spcPct val="130000"/>
              </a:lnSpc>
              <a:spcBef>
                <a:spcPts val="0"/>
              </a:spcBef>
              <a:defRPr/>
            </a:lvl4pPr>
            <a:lvl5pPr eaLnBrk="1">
              <a:lnSpc>
                <a:spcPct val="13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Text Box 17"/>
          <p:cNvSpPr txBox="1">
            <a:spLocks noChangeArrowheads="1"/>
          </p:cNvSpPr>
          <p:nvPr userDrawn="1"/>
        </p:nvSpPr>
        <p:spPr bwMode="auto">
          <a:xfrm>
            <a:off x="50800" y="6481763"/>
            <a:ext cx="9067800" cy="3397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fld id="{380602F7-2D1E-4BA3-9157-D4E968859D90}" type="slidenum">
              <a:rPr lang="zh-CN" altLang="en-US" sz="1600" b="1" smtClean="0">
                <a:solidFill>
                  <a:srgbClr val="000000"/>
                </a:solidFill>
              </a:rPr>
              <a:pPr algn="r" eaLnBrk="1" hangingPunct="1">
                <a:spcBef>
                  <a:spcPct val="50000"/>
                </a:spcBef>
                <a:buFontTx/>
                <a:buNone/>
                <a:defRPr/>
              </a:pPr>
              <a:t>‹#›</a:t>
            </a:fld>
            <a:r>
              <a:rPr lang="zh-CN" altLang="en-US" sz="1600" b="1" dirty="0">
                <a:solidFill>
                  <a:srgbClr val="FFFFFF"/>
                </a:solidFill>
              </a:rPr>
              <a:t> </a:t>
            </a:r>
            <a:endParaRPr lang="zh-CN" altLang="zh-CN" sz="16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8186712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79400" y="1096963"/>
            <a:ext cx="4241800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3600" y="1096963"/>
            <a:ext cx="4241800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37356039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  <a:defRPr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  <a:defRPr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  <a:defRPr/>
            </a:pPr>
            <a:fld id="{0FF57203-C35C-4101-BB59-5D58D06E0BA5}" type="slidenum">
              <a:rPr lang="en-US" altLang="zh-CN">
                <a:solidFill>
                  <a:srgbClr val="000000"/>
                </a:solidFill>
                <a:latin typeface="Arial" charset="0"/>
                <a:ea typeface="宋体" charset="-122"/>
              </a:rPr>
              <a:pPr>
                <a:buFontTx/>
                <a:buNone/>
                <a:defRPr/>
              </a:pPr>
              <a:t>‹#›</a:t>
            </a:fld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4049000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2192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641475"/>
            <a:ext cx="3810000" cy="4454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41475"/>
            <a:ext cx="3810000" cy="4454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</a:pPr>
            <a:fld id="{9FC7E16D-5A04-4A97-B5EF-ADB58EFF5016}" type="slidenum">
              <a:rPr lang="zh-CN" altLang="en-US">
                <a:solidFill>
                  <a:srgbClr val="000000"/>
                </a:solidFill>
                <a:latin typeface="Arial" charset="0"/>
                <a:ea typeface="宋体" charset="-122"/>
              </a:rPr>
              <a:pPr>
                <a:buFontTx/>
                <a:buNone/>
              </a:pPr>
              <a:t>‹#›</a:t>
            </a:fld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6094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8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Layout" Target="../slideLayouts/slideLayout47.xml"/><Relationship Id="rId7" Type="http://schemas.openxmlformats.org/officeDocument/2006/relationships/image" Target="../media/image10.jpeg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9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8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0650" y="0"/>
            <a:ext cx="39433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KSO_BT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39725" y="196850"/>
            <a:ext cx="6400800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KSO_BC1"/>
          <p:cNvSpPr>
            <a:spLocks noGrp="1" noChangeArrowheads="1"/>
          </p:cNvSpPr>
          <p:nvPr>
            <p:ph type="body" idx="9"/>
          </p:nvPr>
        </p:nvSpPr>
        <p:spPr bwMode="auto">
          <a:xfrm>
            <a:off x="279400" y="1054100"/>
            <a:ext cx="7775575" cy="540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1029" name="KSO_FD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1200" smtClean="0">
                <a:solidFill>
                  <a:srgbClr val="919293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2021/12/20</a:t>
            </a:fld>
            <a:endParaRPr lang="en-US"/>
          </a:p>
        </p:txBody>
      </p:sp>
      <p:sp>
        <p:nvSpPr>
          <p:cNvPr id="1030" name="KSO_FT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1200" smtClean="0">
                <a:solidFill>
                  <a:srgbClr val="919293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1" name="KSO_FN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 smtClean="0">
                <a:solidFill>
                  <a:srgbClr val="919293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705EA6D-0A8A-47D3-AD10-1EDF3BDE7BA2}" type="slidenum">
              <a:rPr lang="zh-CN" alt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 kern="1200">
          <a:solidFill>
            <a:srgbClr val="1A93C8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9pPr>
    </p:titleStyle>
    <p:bodyStyle>
      <a:lvl1pPr marL="357505" indent="-357505" algn="just" rtl="0" fontAlgn="base">
        <a:spcBef>
          <a:spcPts val="1800"/>
        </a:spcBef>
        <a:spcAft>
          <a:spcPct val="0"/>
        </a:spcAft>
        <a:buClr>
          <a:srgbClr val="1A93C8"/>
        </a:buClr>
        <a:buSzPct val="60000"/>
        <a:buFont typeface="Wingdings" panose="05000000000000000000" pitchFamily="2" charset="2"/>
        <a:buChar char="m"/>
        <a:defRPr sz="2000" kern="1200">
          <a:solidFill>
            <a:srgbClr val="1A93C8"/>
          </a:solidFill>
          <a:latin typeface="+mn-lt"/>
          <a:ea typeface="+mn-ea"/>
          <a:cs typeface="+mn-cs"/>
        </a:defRPr>
      </a:lvl1pPr>
      <a:lvl2pPr marL="357505" indent="-357505" algn="l" rtl="0" fontAlgn="base">
        <a:lnSpc>
          <a:spcPct val="130000"/>
        </a:lnSpc>
        <a:spcBef>
          <a:spcPct val="0"/>
        </a:spcBef>
        <a:spcAft>
          <a:spcPts val="600"/>
        </a:spcAft>
        <a:buClr>
          <a:srgbClr val="A1BBEE"/>
        </a:buClr>
        <a:buFont typeface="幼圆" panose="02010509060101010101" pitchFamily="49" charset="-122"/>
        <a:buChar char=" "/>
        <a:defRPr sz="1600" kern="1200">
          <a:solidFill>
            <a:srgbClr val="7D7D7D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6"/>
          <p:cNvGrpSpPr>
            <a:grpSpLocks noChangeAspect="1"/>
          </p:cNvGrpSpPr>
          <p:nvPr/>
        </p:nvGrpSpPr>
        <p:grpSpPr bwMode="auto">
          <a:xfrm>
            <a:off x="-3175" y="12700"/>
            <a:ext cx="9144000" cy="6858000"/>
            <a:chOff x="0" y="0"/>
            <a:chExt cx="7850038" cy="5887529"/>
          </a:xfrm>
        </p:grpSpPr>
        <p:pic>
          <p:nvPicPr>
            <p:cNvPr id="2051" name="图片 5" descr="未标题-1.jpg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076" b="14151"/>
            <a:stretch>
              <a:fillRect/>
            </a:stretch>
          </p:blipFill>
          <p:spPr bwMode="auto">
            <a:xfrm>
              <a:off x="3925019" y="0"/>
              <a:ext cx="3925019" cy="58875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2" name="图片 5" descr="未标题-1.jpg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076" b="14310"/>
            <a:stretch>
              <a:fillRect/>
            </a:stretch>
          </p:blipFill>
          <p:spPr bwMode="auto">
            <a:xfrm flipH="1">
              <a:off x="0" y="0"/>
              <a:ext cx="3925019" cy="58766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077" name="KSO_FD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900" smtClean="0">
                <a:solidFill>
                  <a:srgbClr val="969696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2021/12/20</a:t>
            </a:fld>
            <a:endParaRPr lang="en-US"/>
          </a:p>
        </p:txBody>
      </p:sp>
      <p:sp>
        <p:nvSpPr>
          <p:cNvPr id="3078" name="KSO_FT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900" smtClean="0">
                <a:solidFill>
                  <a:srgbClr val="969696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KSO_FN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 smtClean="0">
                <a:solidFill>
                  <a:srgbClr val="969696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28345E7-2928-4024-B92D-DE6894893D24}" type="slidenum">
              <a:rPr lang="zh-CN" altLang="en-US"/>
              <a:t>‹#›</a:t>
            </a:fld>
            <a:endParaRPr lang="en-US"/>
          </a:p>
        </p:txBody>
      </p:sp>
      <p:sp>
        <p:nvSpPr>
          <p:cNvPr id="2056" name="KSO_BC1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47675" y="1133475"/>
            <a:ext cx="8215313" cy="510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2057" name="KSO_BT1"/>
          <p:cNvSpPr>
            <a:spLocks noGrp="1" noChangeArrowheads="1"/>
          </p:cNvSpPr>
          <p:nvPr>
            <p:ph type="title" idx="9"/>
          </p:nvPr>
        </p:nvSpPr>
        <p:spPr bwMode="auto">
          <a:xfrm>
            <a:off x="447675" y="214313"/>
            <a:ext cx="8215313" cy="795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9pPr>
    </p:titleStyle>
    <p:bodyStyle>
      <a:lvl1pPr marL="361950" indent="-361950" algn="just" defTabSz="685800" rtl="0" fontAlgn="base">
        <a:lnSpc>
          <a:spcPct val="110000"/>
        </a:lnSpc>
        <a:spcBef>
          <a:spcPts val="12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l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61950" indent="-361950" algn="l" defTabSz="685800" rtl="0" fontAlgn="base">
        <a:lnSpc>
          <a:spcPct val="120000"/>
        </a:lnSpc>
        <a:spcBef>
          <a:spcPct val="0"/>
        </a:spcBef>
        <a:spcAft>
          <a:spcPts val="1200"/>
        </a:spcAft>
        <a:buClr>
          <a:srgbClr val="E5A997"/>
        </a:buClr>
        <a:buFont typeface="幼圆" panose="02010509060101010101" pitchFamily="49" charset="-122"/>
        <a:buChar char=" 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9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9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566738" y="1476375"/>
            <a:ext cx="8008937" cy="487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5124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403975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2021/12/20</a:t>
            </a:fld>
            <a:endParaRPr lang="en-US"/>
          </a:p>
        </p:txBody>
      </p:sp>
      <p:sp>
        <p:nvSpPr>
          <p:cNvPr id="5125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403975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6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403975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F8672DB-A52B-402A-AC56-6EAF7309D802}" type="slidenum">
              <a:rPr lang="zh-CN" altLang="en-US"/>
              <a:t>‹#›</a:t>
            </a:fld>
            <a:endParaRPr lang="en-US"/>
          </a:p>
        </p:txBody>
      </p:sp>
      <p:sp>
        <p:nvSpPr>
          <p:cNvPr id="3079" name="Title Placeholder 1"/>
          <p:cNvSpPr>
            <a:spLocks noGrp="1" noChangeArrowheads="1"/>
          </p:cNvSpPr>
          <p:nvPr>
            <p:ph type="title" idx="9"/>
          </p:nvPr>
        </p:nvSpPr>
        <p:spPr bwMode="auto">
          <a:xfrm>
            <a:off x="566738" y="368300"/>
            <a:ext cx="8008937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9pPr>
    </p:titleStyle>
    <p:bodyStyle>
      <a:lvl1pPr marL="266700" indent="-266700" algn="l" defTabSz="685800" rtl="0" fontAlgn="base">
        <a:lnSpc>
          <a:spcPct val="90000"/>
        </a:lnSpc>
        <a:spcBef>
          <a:spcPts val="1350"/>
        </a:spcBef>
        <a:spcAft>
          <a:spcPct val="0"/>
        </a:spcAft>
        <a:buClr>
          <a:schemeClr val="accent2"/>
        </a:buClr>
        <a:buSzPct val="80000"/>
        <a:buFont typeface="Wingdings 2" panose="05020102010507070707" pitchFamily="18" charset="2"/>
        <a:buChar char="ö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266700" indent="-266700" algn="l" defTabSz="685800" rtl="0" fontAlgn="base">
        <a:lnSpc>
          <a:spcPct val="13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 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500" kern="1200">
          <a:solidFill>
            <a:srgbClr val="303030"/>
          </a:solidFill>
          <a:latin typeface="+mn-lt"/>
          <a:ea typeface="+mn-ea"/>
          <a:cs typeface="+mn-cs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300" kern="1200">
          <a:solidFill>
            <a:srgbClr val="303030"/>
          </a:solidFill>
          <a:latin typeface="+mn-lt"/>
          <a:ea typeface="+mn-ea"/>
          <a:cs typeface="+mn-cs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300" kern="1200">
          <a:solidFill>
            <a:srgbClr val="30303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矩形 11"/>
          <p:cNvGrpSpPr/>
          <p:nvPr/>
        </p:nvGrpSpPr>
        <p:grpSpPr bwMode="auto">
          <a:xfrm>
            <a:off x="0" y="0"/>
            <a:ext cx="9150350" cy="6888163"/>
            <a:chOff x="0" y="0"/>
            <a:chExt cx="5764" cy="4339"/>
          </a:xfrm>
        </p:grpSpPr>
        <p:pic>
          <p:nvPicPr>
            <p:cNvPr id="4099" name="矩形 11"/>
            <p:cNvPicPr>
              <a:picLocks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764" cy="4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72" name="Text Box 4"/>
            <p:cNvSpPr txBox="1">
              <a:spLocks noChangeArrowheads="1"/>
            </p:cNvSpPr>
            <p:nvPr/>
          </p:nvSpPr>
          <p:spPr bwMode="auto">
            <a:xfrm>
              <a:off x="0" y="0"/>
              <a:ext cx="5762" cy="4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 sz="1300">
                <a:solidFill>
                  <a:srgbClr val="FFFFFF"/>
                </a:solidFill>
              </a:endParaRPr>
            </a:p>
          </p:txBody>
        </p:sp>
      </p:grpSp>
      <p:sp>
        <p:nvSpPr>
          <p:cNvPr id="4101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85775" y="1135063"/>
            <a:ext cx="8089900" cy="5345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>
                <a:sym typeface="Arial" panose="020B0604020202020204" pitchFamily="34" charset="0"/>
              </a:rPr>
              <a:t>单击此处编辑母版文本样式</a:t>
            </a:r>
          </a:p>
          <a:p>
            <a:pPr lvl="1"/>
            <a:r>
              <a:rPr lang="zh-CN" altLang="en-US">
                <a:sym typeface="宋体" panose="02010600030101010101" pitchFamily="2" charset="-122"/>
              </a:rPr>
              <a:t>第二级</a:t>
            </a:r>
          </a:p>
          <a:p>
            <a:pPr lvl="2"/>
            <a:r>
              <a:rPr lang="zh-CN" altLang="en-US">
                <a:sym typeface="宋体" panose="02010600030101010101" pitchFamily="2" charset="-122"/>
              </a:rPr>
              <a:t>第三级</a:t>
            </a:r>
          </a:p>
          <a:p>
            <a:pPr lvl="3"/>
            <a:r>
              <a:rPr lang="zh-CN" altLang="en-US">
                <a:sym typeface="宋体" panose="02010600030101010101" pitchFamily="2" charset="-122"/>
              </a:rPr>
              <a:t>第四级</a:t>
            </a:r>
          </a:p>
        </p:txBody>
      </p:sp>
      <p:sp>
        <p:nvSpPr>
          <p:cNvPr id="7174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5087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2021/12/20</a:t>
            </a:fld>
            <a:endParaRPr lang="en-US"/>
          </a:p>
        </p:txBody>
      </p:sp>
      <p:sp>
        <p:nvSpPr>
          <p:cNvPr id="7175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508750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6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5087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44DC649-F695-46C3-B7FF-3FC4AA7FFBA1}" type="slidenum">
              <a:rPr lang="zh-CN" altLang="en-US"/>
              <a:t>‹#›</a:t>
            </a:fld>
            <a:endParaRPr lang="en-US"/>
          </a:p>
        </p:txBody>
      </p:sp>
      <p:sp>
        <p:nvSpPr>
          <p:cNvPr id="4105" name="Title Placeholder 1"/>
          <p:cNvSpPr>
            <a:spLocks noGrp="1" noChangeArrowheads="1"/>
          </p:cNvSpPr>
          <p:nvPr>
            <p:ph type="title" idx="9"/>
          </p:nvPr>
        </p:nvSpPr>
        <p:spPr bwMode="auto">
          <a:xfrm>
            <a:off x="485775" y="255588"/>
            <a:ext cx="80899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cxnSp>
        <p:nvCxnSpPr>
          <p:cNvPr id="4106" name="直接连接符 8"/>
          <p:cNvCxnSpPr>
            <a:cxnSpLocks noChangeShapeType="1"/>
          </p:cNvCxnSpPr>
          <p:nvPr/>
        </p:nvCxnSpPr>
        <p:spPr bwMode="auto">
          <a:xfrm flipH="1">
            <a:off x="57150" y="6480175"/>
            <a:ext cx="8980488" cy="0"/>
          </a:xfrm>
          <a:prstGeom prst="line">
            <a:avLst/>
          </a:prstGeom>
          <a:noFill/>
          <a:ln w="15875">
            <a:solidFill>
              <a:srgbClr val="28A9D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107" name="Freeform 5"/>
          <p:cNvGrpSpPr/>
          <p:nvPr/>
        </p:nvGrpSpPr>
        <p:grpSpPr bwMode="auto">
          <a:xfrm>
            <a:off x="5595938" y="5657850"/>
            <a:ext cx="3194050" cy="822325"/>
            <a:chOff x="0" y="0"/>
            <a:chExt cx="2012" cy="518"/>
          </a:xfrm>
        </p:grpSpPr>
        <p:pic>
          <p:nvPicPr>
            <p:cNvPr id="4108" name="Freeform 5"/>
            <p:cNvPicPr>
              <a:picLocks noEditPoints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2012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81" name="Text Box 13"/>
            <p:cNvSpPr txBox="1">
              <a:spLocks noChangeArrowheads="1"/>
            </p:cNvSpPr>
            <p:nvPr/>
          </p:nvSpPr>
          <p:spPr bwMode="auto">
            <a:xfrm>
              <a:off x="-1" y="1"/>
              <a:ext cx="2009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4110" name="任意多边形 10"/>
          <p:cNvSpPr>
            <a:spLocks noChangeArrowheads="1"/>
          </p:cNvSpPr>
          <p:nvPr/>
        </p:nvSpPr>
        <p:spPr bwMode="auto">
          <a:xfrm flipV="1">
            <a:off x="244475" y="423863"/>
            <a:ext cx="8977313" cy="431800"/>
          </a:xfrm>
          <a:custGeom>
            <a:avLst/>
            <a:gdLst>
              <a:gd name="T0" fmla="*/ 167822 w 11969073"/>
              <a:gd name="T1" fmla="*/ 524933 h 524933"/>
              <a:gd name="T2" fmla="*/ 168846 w 11969073"/>
              <a:gd name="T3" fmla="*/ 524933 h 524933"/>
              <a:gd name="T4" fmla="*/ 168846 w 11969073"/>
              <a:gd name="T5" fmla="*/ 14598 h 524933"/>
              <a:gd name="T6" fmla="*/ 1386790 w 11969073"/>
              <a:gd name="T7" fmla="*/ 14598 h 524933"/>
              <a:gd name="T8" fmla="*/ 11969073 w 11969073"/>
              <a:gd name="T9" fmla="*/ 0 h 524933"/>
              <a:gd name="T10" fmla="*/ 167822 w 11969073"/>
              <a:gd name="T11" fmla="*/ 0 h 524933"/>
              <a:gd name="T12" fmla="*/ 152999 w 11969073"/>
              <a:gd name="T13" fmla="*/ 0 h 524933"/>
              <a:gd name="T14" fmla="*/ 152999 w 11969073"/>
              <a:gd name="T15" fmla="*/ 507260 h 524933"/>
              <a:gd name="T16" fmla="*/ 107280 w 11969073"/>
              <a:gd name="T17" fmla="*/ 507260 h 524933"/>
              <a:gd name="T18" fmla="*/ 107280 w 11969073"/>
              <a:gd name="T19" fmla="*/ 0 h 524933"/>
              <a:gd name="T20" fmla="*/ 0 w 11969073"/>
              <a:gd name="T21" fmla="*/ 0 h 524933"/>
              <a:gd name="T22" fmla="*/ 0 w 11969073"/>
              <a:gd name="T23" fmla="*/ 524932 h 524933"/>
              <a:gd name="T24" fmla="*/ 33834 w 11969073"/>
              <a:gd name="T25" fmla="*/ 524932 h 524933"/>
              <a:gd name="T26" fmla="*/ 33834 w 11969073"/>
              <a:gd name="T27" fmla="*/ 23810 h 524933"/>
              <a:gd name="T28" fmla="*/ 79553 w 11969073"/>
              <a:gd name="T29" fmla="*/ 23810 h 524933"/>
              <a:gd name="T30" fmla="*/ 79553 w 11969073"/>
              <a:gd name="T31" fmla="*/ 524932 h 524933"/>
              <a:gd name="T32" fmla="*/ 167822 w 11969073"/>
              <a:gd name="T33" fmla="*/ 524932 h 524933"/>
              <a:gd name="T34" fmla="*/ 167822 w 11969073"/>
              <a:gd name="T35" fmla="*/ 524933 h 5249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1969073" h="524933">
                <a:moveTo>
                  <a:pt x="167822" y="524933"/>
                </a:moveTo>
                <a:lnTo>
                  <a:pt x="168846" y="524933"/>
                </a:lnTo>
                <a:lnTo>
                  <a:pt x="168846" y="14598"/>
                </a:lnTo>
                <a:lnTo>
                  <a:pt x="1386790" y="14598"/>
                </a:lnTo>
                <a:lnTo>
                  <a:pt x="11969073" y="0"/>
                </a:lnTo>
                <a:lnTo>
                  <a:pt x="167822" y="0"/>
                </a:lnTo>
                <a:lnTo>
                  <a:pt x="152999" y="0"/>
                </a:lnTo>
                <a:lnTo>
                  <a:pt x="152999" y="507260"/>
                </a:lnTo>
                <a:lnTo>
                  <a:pt x="107280" y="507260"/>
                </a:lnTo>
                <a:lnTo>
                  <a:pt x="107280" y="0"/>
                </a:lnTo>
                <a:lnTo>
                  <a:pt x="0" y="0"/>
                </a:lnTo>
                <a:lnTo>
                  <a:pt x="0" y="524932"/>
                </a:lnTo>
                <a:lnTo>
                  <a:pt x="33834" y="524932"/>
                </a:lnTo>
                <a:lnTo>
                  <a:pt x="33834" y="23810"/>
                </a:lnTo>
                <a:lnTo>
                  <a:pt x="79553" y="23810"/>
                </a:lnTo>
                <a:lnTo>
                  <a:pt x="79553" y="524932"/>
                </a:lnTo>
                <a:lnTo>
                  <a:pt x="167822" y="524932"/>
                </a:lnTo>
                <a:lnTo>
                  <a:pt x="167822" y="524933"/>
                </a:lnTo>
                <a:close/>
              </a:path>
            </a:pathLst>
          </a:custGeom>
          <a:solidFill>
            <a:srgbClr val="28A9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 kern="1200">
          <a:solidFill>
            <a:srgbClr val="1A93C8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9pPr>
    </p:titleStyle>
    <p:bodyStyle>
      <a:lvl1pPr algn="l" defTabSz="685800" rtl="0" fontAlgn="base">
        <a:lnSpc>
          <a:spcPct val="90000"/>
        </a:lnSpc>
        <a:spcBef>
          <a:spcPts val="1350"/>
        </a:spcBef>
        <a:spcAft>
          <a:spcPct val="0"/>
        </a:spcAft>
        <a:buClr>
          <a:schemeClr val="accent1"/>
        </a:buClr>
        <a:buSzPct val="60000"/>
        <a:buFont typeface="Wingdings 2" panose="05020102010507070707" pitchFamily="18" charset="2"/>
        <a:buChar char=""/>
        <a:defRPr sz="2400" kern="1200">
          <a:solidFill>
            <a:srgbClr val="1A93C8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28650" indent="-342900" algn="l" defTabSz="685800" rtl="0" fontAlgn="base">
        <a:lnSpc>
          <a:spcPct val="130000"/>
        </a:lnSpc>
        <a:spcBef>
          <a:spcPct val="0"/>
        </a:spcBef>
        <a:spcAft>
          <a:spcPct val="0"/>
        </a:spcAft>
        <a:buSzPct val="80000"/>
        <a:buFont typeface="Wingdings" panose="05000000000000000000" pitchFamily="2" charset="2"/>
        <a:buChar char="ü"/>
        <a:defRPr sz="2000" kern="1200">
          <a:solidFill>
            <a:srgbClr val="000000"/>
          </a:solidFill>
          <a:latin typeface="+mn-lt"/>
          <a:ea typeface="+mn-ea"/>
          <a:cs typeface="+mn-cs"/>
          <a:sym typeface="宋体" panose="02010600030101010101" pitchFamily="2" charset="-122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2000" kern="1200">
          <a:solidFill>
            <a:srgbClr val="000000"/>
          </a:solidFill>
          <a:latin typeface="+mn-lt"/>
          <a:ea typeface="+mn-ea"/>
          <a:cs typeface="+mn-cs"/>
          <a:sym typeface="宋体" panose="02010600030101010101" pitchFamily="2" charset="-122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600" kern="1200">
          <a:solidFill>
            <a:srgbClr val="000000"/>
          </a:solidFill>
          <a:latin typeface="+mn-lt"/>
          <a:ea typeface="+mn-ea"/>
          <a:cs typeface="+mn-cs"/>
          <a:sym typeface="宋体" panose="02010600030101010101" pitchFamily="2" charset="-122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300" kern="1200">
          <a:solidFill>
            <a:srgbClr val="7F7F7F"/>
          </a:solidFill>
          <a:latin typeface="+mn-lt"/>
          <a:ea typeface="幼圆" panose="02010509060101010101" pitchFamily="49" charset="-122"/>
          <a:cs typeface="+mn-cs"/>
          <a:sym typeface="宋体" panose="02010600030101010101" pitchFamily="2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7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22" descr="aaaa002"/>
          <p:cNvPicPr>
            <a:picLocks noChangeAspect="1" noChangeArrowheads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0" y="0"/>
            <a:ext cx="9144000" cy="1222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1950" y="119063"/>
            <a:ext cx="8547100" cy="54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279400" y="1096963"/>
            <a:ext cx="8636000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69256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</p:sldLayoutIdLst>
  <p:transition spd="med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Char char="Ø"/>
        <a:defRPr sz="2800" b="1">
          <a:solidFill>
            <a:schemeClr val="hlink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800000"/>
        </a:buClr>
        <a:buFont typeface="Wingdings" pitchFamily="2" charset="2"/>
        <a:buChar char="l"/>
        <a:defRPr sz="2400" b="1">
          <a:solidFill>
            <a:srgbClr val="000000"/>
          </a:solidFill>
          <a:latin typeface="+mn-lt"/>
          <a:ea typeface="楷体_GB2312" pitchFamily="49" charset="-122"/>
        </a:defRPr>
      </a:lvl2pPr>
      <a:lvl3pPr marL="1143000" indent="-228600" algn="l" rtl="0" eaLnBrk="0" fontAlgn="base" hangingPunct="0">
        <a:lnSpc>
          <a:spcPct val="145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þ"/>
        <a:defRPr sz="2400" b="1">
          <a:solidFill>
            <a:srgbClr val="A85400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45000"/>
        </a:lnSpc>
        <a:spcBef>
          <a:spcPct val="20000"/>
        </a:spcBef>
        <a:spcAft>
          <a:spcPct val="0"/>
        </a:spcAft>
        <a:buBlip>
          <a:blip r:embed="rId9"/>
        </a:buBlip>
        <a:defRPr sz="1600" b="1">
          <a:solidFill>
            <a:srgbClr val="800080"/>
          </a:solidFill>
          <a:latin typeface="+mn-lt"/>
          <a:ea typeface="楷体_GB2312" pitchFamily="49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5.xml"/><Relationship Id="rId1" Type="http://schemas.openxmlformats.org/officeDocument/2006/relationships/themeOverride" Target="../theme/themeOverride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14.jpeg"/><Relationship Id="rId7" Type="http://schemas.openxmlformats.org/officeDocument/2006/relationships/image" Target="../media/image1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Relationship Id="rId9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91887" y="2677886"/>
            <a:ext cx="8501742" cy="1001485"/>
          </a:xfrm>
        </p:spPr>
        <p:txBody>
          <a:bodyPr/>
          <a:lstStyle/>
          <a:p>
            <a:r>
              <a:rPr lang="zh-CN" altLang="en-US" sz="4000" dirty="0">
                <a:solidFill>
                  <a:srgbClr val="000000"/>
                </a:solidFill>
              </a:rPr>
              <a:t>计算导论与程序设计</a:t>
            </a:r>
          </a:p>
        </p:txBody>
      </p:sp>
      <p:sp>
        <p:nvSpPr>
          <p:cNvPr id="1024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228975" y="4498398"/>
            <a:ext cx="2625725" cy="790575"/>
          </a:xfrm>
        </p:spPr>
        <p:txBody>
          <a:bodyPr/>
          <a:lstStyle/>
          <a:p>
            <a:r>
              <a:rPr lang="zh-CN" altLang="en-US" sz="2400" dirty="0"/>
              <a:t>枚举类型</a:t>
            </a:r>
            <a:endParaRPr lang="en-US" altLang="zh-CN" sz="2400" dirty="0"/>
          </a:p>
          <a:p>
            <a:r>
              <a:rPr lang="zh-CN" altLang="en-US" sz="2400" dirty="0"/>
              <a:t>与自定义类型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pic>
        <p:nvPicPr>
          <p:cNvPr id="4" name="Picture 2" descr="http://www.sdu.edu.cn/2010/images/top222.jpg"/>
          <p:cNvPicPr>
            <a:picLocks noChangeAspect="1" noChangeArrowheads="1"/>
          </p:cNvPicPr>
          <p:nvPr/>
        </p:nvPicPr>
        <p:blipFill>
          <a:blip r:embed="rId2" cstate="print"/>
          <a:srcRect b="9109"/>
          <a:stretch>
            <a:fillRect/>
          </a:stretch>
        </p:blipFill>
        <p:spPr bwMode="auto">
          <a:xfrm>
            <a:off x="0" y="0"/>
            <a:ext cx="9144000" cy="254725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255588"/>
            <a:ext cx="8077200" cy="584200"/>
          </a:xfrm>
        </p:spPr>
        <p:txBody>
          <a:bodyPr/>
          <a:lstStyle/>
          <a:p>
            <a:r>
              <a:rPr lang="zh-CN" altLang="en-US" sz="3200" dirty="0"/>
              <a:t>枚举类型与自定义类型</a:t>
            </a:r>
            <a:endParaRPr lang="en-US" altLang="zh-CN" sz="3200" dirty="0"/>
          </a:p>
        </p:txBody>
      </p:sp>
      <p:sp>
        <p:nvSpPr>
          <p:cNvPr id="52226" name="Rectangle 3"/>
          <p:cNvSpPr>
            <a:spLocks noGrp="1" noChangeArrowheads="1"/>
          </p:cNvSpPr>
          <p:nvPr>
            <p:ph idx="1"/>
          </p:nvPr>
        </p:nvSpPr>
        <p:spPr>
          <a:xfrm>
            <a:off x="485775" y="1136649"/>
            <a:ext cx="8080375" cy="5002893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800" dirty="0"/>
              <a:t>枚举类型</a:t>
            </a:r>
            <a:endParaRPr lang="en-US" altLang="zh-CN" sz="2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800" dirty="0" smtClean="0"/>
              <a:t>自定义</a:t>
            </a:r>
            <a:r>
              <a:rPr lang="zh-CN" altLang="en-US" sz="2800" dirty="0"/>
              <a:t>类型</a:t>
            </a:r>
            <a:r>
              <a:rPr lang="en-US" altLang="zh-CN" sz="2800" dirty="0"/>
              <a:t>typedef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2006453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枚举类型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如果一个变量只有几种可能的值，可以定义为枚举类型；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所谓</a:t>
            </a:r>
            <a:r>
              <a:rPr lang="zh-CN" altLang="en-US" dirty="0">
                <a:latin typeface="Arial" panose="020B0604020202020204" pitchFamily="34" charset="0"/>
              </a:rPr>
              <a:t>“</a:t>
            </a:r>
            <a:r>
              <a:rPr lang="zh-CN" altLang="en-US" dirty="0"/>
              <a:t>枚举</a:t>
            </a:r>
            <a:r>
              <a:rPr lang="zh-CN" altLang="en-US" dirty="0">
                <a:latin typeface="Arial" panose="020B0604020202020204" pitchFamily="34" charset="0"/>
              </a:rPr>
              <a:t>”</a:t>
            </a:r>
            <a:r>
              <a:rPr lang="zh-CN" altLang="en-US" dirty="0"/>
              <a:t>是指将变量所有的取值值一一列举出来</a:t>
            </a:r>
            <a:r>
              <a:rPr lang="en-US" altLang="zh-CN" dirty="0"/>
              <a:t>;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7030A0"/>
                </a:solidFill>
              </a:rPr>
              <a:t>变量的值只限于列举出来的值的范围内</a:t>
            </a:r>
            <a:r>
              <a:rPr lang="en-US" altLang="zh-CN" dirty="0">
                <a:solidFill>
                  <a:srgbClr val="7030A0"/>
                </a:solidFill>
              </a:rPr>
              <a:t>;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30DCD"/>
                </a:solidFill>
              </a:rPr>
              <a:t>防止变量被错误赋值或取值，提高程序的健壮性，也使代码更加清晰；</a:t>
            </a:r>
            <a:endParaRPr lang="en-US" altLang="zh-CN" dirty="0">
              <a:solidFill>
                <a:srgbClr val="030DCD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 smtClean="0"/>
              <a:t>声明</a:t>
            </a:r>
            <a:r>
              <a:rPr lang="zh-CN" altLang="en-US" dirty="0"/>
              <a:t>枚举类型用</a:t>
            </a:r>
            <a:r>
              <a:rPr lang="en-US" altLang="zh-CN" dirty="0" err="1"/>
              <a:t>enum</a:t>
            </a:r>
            <a:r>
              <a:rPr lang="zh-CN" altLang="en-US" dirty="0"/>
              <a:t>开头；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23400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枚举类型定义与枚举型变量定义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dirty="0"/>
              <a:t>先定义枚举类型，再声明（定义）枚举型变量</a:t>
            </a:r>
            <a:endParaRPr lang="en-US" altLang="zh-CN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2200" dirty="0" err="1">
                <a:solidFill>
                  <a:srgbClr val="030DCD"/>
                </a:solidFill>
              </a:rPr>
              <a:t>enum</a:t>
            </a:r>
            <a:r>
              <a:rPr lang="en-US" altLang="zh-CN" sz="2200" dirty="0">
                <a:solidFill>
                  <a:srgbClr val="030DCD"/>
                </a:solidFill>
              </a:rPr>
              <a:t> weekday </a:t>
            </a:r>
            <a:r>
              <a:rPr lang="en-US" altLang="zh-CN" sz="2200" dirty="0"/>
              <a:t>{</a:t>
            </a:r>
            <a:r>
              <a:rPr lang="en-US" altLang="zh-CN" sz="2200" dirty="0">
                <a:solidFill>
                  <a:srgbClr val="7030A0"/>
                </a:solidFill>
              </a:rPr>
              <a:t>sun</a:t>
            </a:r>
            <a:r>
              <a:rPr lang="zh-CN" altLang="en-US" sz="2200" dirty="0">
                <a:solidFill>
                  <a:srgbClr val="7030A0"/>
                </a:solidFill>
              </a:rPr>
              <a:t>，</a:t>
            </a:r>
            <a:r>
              <a:rPr lang="en-US" altLang="zh-CN" sz="2200" dirty="0" err="1">
                <a:solidFill>
                  <a:srgbClr val="7030A0"/>
                </a:solidFill>
              </a:rPr>
              <a:t>mon</a:t>
            </a:r>
            <a:r>
              <a:rPr lang="zh-CN" altLang="en-US" sz="2200" dirty="0">
                <a:solidFill>
                  <a:srgbClr val="7030A0"/>
                </a:solidFill>
              </a:rPr>
              <a:t>，</a:t>
            </a:r>
            <a:r>
              <a:rPr lang="en-US" altLang="zh-CN" sz="2200" dirty="0" err="1">
                <a:solidFill>
                  <a:srgbClr val="7030A0"/>
                </a:solidFill>
              </a:rPr>
              <a:t>tue</a:t>
            </a:r>
            <a:r>
              <a:rPr lang="zh-CN" altLang="en-US" sz="2200" dirty="0">
                <a:solidFill>
                  <a:srgbClr val="7030A0"/>
                </a:solidFill>
              </a:rPr>
              <a:t>，</a:t>
            </a:r>
            <a:r>
              <a:rPr lang="en-US" altLang="zh-CN" sz="2200" dirty="0">
                <a:solidFill>
                  <a:srgbClr val="7030A0"/>
                </a:solidFill>
              </a:rPr>
              <a:t>wed</a:t>
            </a:r>
            <a:r>
              <a:rPr lang="zh-CN" altLang="en-US" sz="2200" dirty="0">
                <a:solidFill>
                  <a:srgbClr val="7030A0"/>
                </a:solidFill>
              </a:rPr>
              <a:t>，</a:t>
            </a:r>
            <a:r>
              <a:rPr lang="en-US" altLang="zh-CN" sz="2200" dirty="0" err="1">
                <a:solidFill>
                  <a:srgbClr val="7030A0"/>
                </a:solidFill>
              </a:rPr>
              <a:t>thu</a:t>
            </a:r>
            <a:r>
              <a:rPr lang="zh-CN" altLang="en-US" sz="2200" dirty="0">
                <a:solidFill>
                  <a:srgbClr val="7030A0"/>
                </a:solidFill>
              </a:rPr>
              <a:t>，</a:t>
            </a:r>
            <a:r>
              <a:rPr lang="en-US" altLang="zh-CN" sz="2200" dirty="0" err="1">
                <a:solidFill>
                  <a:srgbClr val="7030A0"/>
                </a:solidFill>
              </a:rPr>
              <a:t>fri</a:t>
            </a:r>
            <a:r>
              <a:rPr lang="zh-CN" altLang="en-US" sz="2200" dirty="0">
                <a:solidFill>
                  <a:srgbClr val="7030A0"/>
                </a:solidFill>
              </a:rPr>
              <a:t>，</a:t>
            </a:r>
            <a:r>
              <a:rPr lang="en-US" altLang="zh-CN" sz="2200" dirty="0">
                <a:solidFill>
                  <a:srgbClr val="7030A0"/>
                </a:solidFill>
              </a:rPr>
              <a:t>sat</a:t>
            </a:r>
            <a:r>
              <a:rPr lang="en-US" altLang="zh-CN" sz="2200" dirty="0"/>
              <a:t>};</a:t>
            </a:r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/>
              <a:t>声明了一个</a:t>
            </a:r>
            <a:r>
              <a:rPr lang="zh-CN" altLang="en-US" dirty="0">
                <a:solidFill>
                  <a:srgbClr val="FF0000"/>
                </a:solidFill>
              </a:rPr>
              <a:t>枚举类型：</a:t>
            </a:r>
            <a:r>
              <a:rPr lang="en-US" altLang="zh-CN" b="1" dirty="0" err="1">
                <a:solidFill>
                  <a:srgbClr val="006600"/>
                </a:solidFill>
              </a:rPr>
              <a:t>enum</a:t>
            </a:r>
            <a:r>
              <a:rPr lang="en-US" altLang="zh-CN" b="1" dirty="0">
                <a:solidFill>
                  <a:srgbClr val="006600"/>
                </a:solidFill>
              </a:rPr>
              <a:t> weekday</a:t>
            </a:r>
            <a:r>
              <a:rPr lang="zh-CN" altLang="en-US" dirty="0"/>
              <a:t>；</a:t>
            </a:r>
            <a:endParaRPr lang="en-US" altLang="zh-CN" dirty="0"/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/>
              <a:t>sun</a:t>
            </a:r>
            <a:r>
              <a:rPr lang="zh-CN" altLang="en-US" dirty="0"/>
              <a:t>，</a:t>
            </a:r>
            <a:r>
              <a:rPr lang="en-US" altLang="zh-CN" dirty="0" err="1"/>
              <a:t>mon</a:t>
            </a:r>
            <a:r>
              <a:rPr lang="zh-CN" altLang="en-US" dirty="0"/>
              <a:t>，</a:t>
            </a:r>
            <a:r>
              <a:rPr lang="en-US" altLang="zh-CN" dirty="0" err="1"/>
              <a:t>tue</a:t>
            </a:r>
            <a:r>
              <a:rPr lang="zh-CN" altLang="en-US" dirty="0"/>
              <a:t>，</a:t>
            </a:r>
            <a:r>
              <a:rPr lang="en-US" altLang="zh-CN" dirty="0"/>
              <a:t>wed</a:t>
            </a:r>
            <a:r>
              <a:rPr lang="zh-CN" altLang="en-US" dirty="0"/>
              <a:t>，</a:t>
            </a:r>
            <a:r>
              <a:rPr lang="en-US" altLang="zh-CN" dirty="0" err="1"/>
              <a:t>thu</a:t>
            </a:r>
            <a:r>
              <a:rPr lang="zh-CN" altLang="en-US" dirty="0"/>
              <a:t>，</a:t>
            </a:r>
            <a:r>
              <a:rPr lang="en-US" altLang="zh-CN" dirty="0" err="1"/>
              <a:t>fri</a:t>
            </a:r>
            <a:r>
              <a:rPr lang="zh-CN" altLang="en-US" dirty="0"/>
              <a:t>，</a:t>
            </a:r>
            <a:r>
              <a:rPr lang="en-US" altLang="zh-CN" dirty="0"/>
              <a:t>sat</a:t>
            </a:r>
            <a:r>
              <a:rPr lang="zh-CN" altLang="en-US" dirty="0"/>
              <a:t>称为</a:t>
            </a:r>
            <a:r>
              <a:rPr lang="zh-CN" altLang="en-US" b="1" dirty="0">
                <a:solidFill>
                  <a:srgbClr val="C00000"/>
                </a:solidFill>
              </a:rPr>
              <a:t>枚举元素；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2200" dirty="0"/>
              <a:t>用定义的枚举类型来定义（声明）枚举型变量</a:t>
            </a:r>
            <a:endParaRPr lang="en-US" altLang="zh-CN" sz="2200" dirty="0"/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 err="1">
                <a:solidFill>
                  <a:srgbClr val="030DCD"/>
                </a:solidFill>
              </a:rPr>
              <a:t>enum</a:t>
            </a:r>
            <a:r>
              <a:rPr lang="zh-CN" altLang="en-US" dirty="0">
                <a:solidFill>
                  <a:srgbClr val="030DCD"/>
                </a:solidFill>
              </a:rPr>
              <a:t> </a:t>
            </a:r>
            <a:r>
              <a:rPr lang="en-US" altLang="zh-CN" dirty="0">
                <a:solidFill>
                  <a:srgbClr val="030DCD"/>
                </a:solidFill>
              </a:rPr>
              <a:t>weekday</a:t>
            </a:r>
            <a:r>
              <a:rPr lang="zh-CN" altLang="en-US" dirty="0">
                <a:solidFill>
                  <a:srgbClr val="030DCD"/>
                </a:solidFill>
              </a:rPr>
              <a:t> </a:t>
            </a:r>
            <a:r>
              <a:rPr lang="en-US" altLang="zh-CN" b="1" dirty="0">
                <a:solidFill>
                  <a:srgbClr val="006600"/>
                </a:solidFill>
              </a:rPr>
              <a:t>workday</a:t>
            </a:r>
            <a:r>
              <a:rPr lang="en-US" altLang="zh-CN" b="1" dirty="0"/>
              <a:t>, </a:t>
            </a:r>
            <a:r>
              <a:rPr lang="en-US" altLang="zh-CN" b="1" dirty="0">
                <a:solidFill>
                  <a:srgbClr val="006600"/>
                </a:solidFill>
              </a:rPr>
              <a:t>week-end</a:t>
            </a:r>
            <a:r>
              <a:rPr lang="en-US" altLang="zh-CN" dirty="0"/>
              <a:t>;</a:t>
            </a:r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/>
              <a:t>定义两个类型为</a:t>
            </a:r>
            <a:r>
              <a:rPr lang="en-US" altLang="zh-CN" dirty="0">
                <a:solidFill>
                  <a:srgbClr val="FF0000"/>
                </a:solidFill>
              </a:rPr>
              <a:t>weekday</a:t>
            </a:r>
            <a:r>
              <a:rPr lang="zh-CN" altLang="en-US" dirty="0"/>
              <a:t>的变量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006600"/>
                </a:solidFill>
              </a:rPr>
              <a:t>workday</a:t>
            </a:r>
            <a:r>
              <a:rPr lang="zh-CN" altLang="en-US" dirty="0"/>
              <a:t>与</a:t>
            </a:r>
            <a:r>
              <a:rPr lang="en-US" altLang="zh-CN" dirty="0">
                <a:solidFill>
                  <a:srgbClr val="006600"/>
                </a:solidFill>
              </a:rPr>
              <a:t>week-end</a:t>
            </a:r>
            <a:endParaRPr lang="en-US" altLang="zh-CN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2200" dirty="0">
                <a:solidFill>
                  <a:srgbClr val="006600"/>
                </a:solidFill>
              </a:rPr>
              <a:t>workday</a:t>
            </a:r>
            <a:r>
              <a:rPr lang="zh-CN" altLang="en-US" sz="2200" dirty="0"/>
              <a:t>和</a:t>
            </a:r>
            <a:r>
              <a:rPr lang="en-US" altLang="zh-CN" sz="2200" dirty="0">
                <a:solidFill>
                  <a:srgbClr val="006600"/>
                </a:solidFill>
              </a:rPr>
              <a:t>week-end</a:t>
            </a:r>
            <a:r>
              <a:rPr lang="zh-CN" altLang="en-US" sz="2200" dirty="0"/>
              <a:t>被定义为枚举变量，它们的取值只能是枚举元素</a:t>
            </a:r>
            <a:r>
              <a:rPr lang="en-US" altLang="zh-CN" sz="2200" dirty="0"/>
              <a:t>sun</a:t>
            </a:r>
            <a:r>
              <a:rPr lang="zh-CN" altLang="en-US" sz="2200" dirty="0"/>
              <a:t>到</a:t>
            </a:r>
            <a:r>
              <a:rPr lang="en-US" altLang="zh-CN" sz="2200" dirty="0"/>
              <a:t>sat</a:t>
            </a:r>
            <a:r>
              <a:rPr lang="zh-CN" altLang="en-US" sz="2200" dirty="0"/>
              <a:t>之一</a:t>
            </a:r>
            <a:r>
              <a:rPr lang="en-US" altLang="zh-CN" sz="2200" dirty="0"/>
              <a:t>;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2200" dirty="0"/>
              <a:t>如：</a:t>
            </a:r>
            <a:r>
              <a:rPr lang="en-US" altLang="zh-CN" sz="2200" dirty="0">
                <a:solidFill>
                  <a:srgbClr val="7030A0"/>
                </a:solidFill>
              </a:rPr>
              <a:t>workday=</a:t>
            </a:r>
            <a:r>
              <a:rPr lang="en-US" altLang="zh-CN" sz="2200" dirty="0" err="1">
                <a:solidFill>
                  <a:srgbClr val="7030A0"/>
                </a:solidFill>
              </a:rPr>
              <a:t>mon</a:t>
            </a:r>
            <a:r>
              <a:rPr lang="zh-CN" altLang="en-US" sz="2200" dirty="0">
                <a:solidFill>
                  <a:srgbClr val="7030A0"/>
                </a:solidFill>
              </a:rPr>
              <a:t>；</a:t>
            </a:r>
            <a:r>
              <a:rPr lang="en-US" altLang="zh-CN" sz="2200" dirty="0">
                <a:solidFill>
                  <a:srgbClr val="7030A0"/>
                </a:solidFill>
              </a:rPr>
              <a:t>week-end=sun</a:t>
            </a:r>
            <a:r>
              <a:rPr lang="zh-CN" altLang="en-US" sz="2200" dirty="0"/>
              <a:t>；</a:t>
            </a:r>
            <a:endParaRPr lang="en-US" altLang="zh-CN" sz="2200" dirty="0"/>
          </a:p>
        </p:txBody>
      </p:sp>
    </p:spTree>
    <p:extLst>
      <p:ext uri="{BB962C8B-B14F-4D97-AF65-F5344CB8AC3E}">
        <p14:creationId xmlns:p14="http://schemas.microsoft.com/office/powerpoint/2010/main" val="60771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枚举类型定义与枚举型变量定义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也可以在定义枚举类型的同时声明（定义）枚举型变量</a:t>
            </a:r>
            <a:endParaRPr lang="en-US" altLang="zh-CN" dirty="0"/>
          </a:p>
          <a:p>
            <a:pPr marL="971550" lvl="1"/>
            <a:r>
              <a:rPr lang="en-US" altLang="zh-CN" sz="2200" dirty="0" err="1">
                <a:solidFill>
                  <a:srgbClr val="030DCD"/>
                </a:solidFill>
              </a:rPr>
              <a:t>enum</a:t>
            </a:r>
            <a:r>
              <a:rPr lang="en-US" altLang="zh-CN" sz="2200" dirty="0">
                <a:solidFill>
                  <a:srgbClr val="030DCD"/>
                </a:solidFill>
              </a:rPr>
              <a:t> weekday </a:t>
            </a:r>
            <a:r>
              <a:rPr lang="en-US" altLang="zh-CN" sz="2200" dirty="0"/>
              <a:t>{sun</a:t>
            </a:r>
            <a:r>
              <a:rPr lang="zh-CN" altLang="en-US" sz="2200" dirty="0"/>
              <a:t>，</a:t>
            </a:r>
            <a:r>
              <a:rPr lang="en-US" altLang="zh-CN" sz="2200" dirty="0" err="1"/>
              <a:t>mon</a:t>
            </a:r>
            <a:r>
              <a:rPr lang="zh-CN" altLang="en-US" sz="2200" dirty="0"/>
              <a:t>，</a:t>
            </a:r>
            <a:r>
              <a:rPr lang="en-US" altLang="zh-CN" sz="2200" dirty="0" err="1"/>
              <a:t>tue</a:t>
            </a:r>
            <a:r>
              <a:rPr lang="zh-CN" altLang="en-US" sz="2200" dirty="0"/>
              <a:t>，</a:t>
            </a:r>
            <a:r>
              <a:rPr lang="en-US" altLang="zh-CN" sz="2200" dirty="0"/>
              <a:t>wed</a:t>
            </a:r>
            <a:r>
              <a:rPr lang="zh-CN" altLang="en-US" sz="2200" dirty="0"/>
              <a:t>，</a:t>
            </a:r>
            <a:r>
              <a:rPr lang="en-US" altLang="zh-CN" sz="2200" dirty="0" err="1"/>
              <a:t>thu</a:t>
            </a:r>
            <a:r>
              <a:rPr lang="zh-CN" altLang="en-US" sz="2200" dirty="0"/>
              <a:t>，</a:t>
            </a:r>
            <a:r>
              <a:rPr lang="en-US" altLang="zh-CN" sz="2200" dirty="0" err="1"/>
              <a:t>fri</a:t>
            </a:r>
            <a:r>
              <a:rPr lang="zh-CN" altLang="en-US" sz="2200" dirty="0"/>
              <a:t>，</a:t>
            </a:r>
            <a:r>
              <a:rPr lang="en-US" altLang="zh-CN" sz="2200" dirty="0"/>
              <a:t>sat} </a:t>
            </a:r>
            <a:r>
              <a:rPr lang="en-US" altLang="zh-CN" sz="2200" dirty="0">
                <a:solidFill>
                  <a:srgbClr val="006600"/>
                </a:solidFill>
              </a:rPr>
              <a:t>workday</a:t>
            </a:r>
            <a:r>
              <a:rPr lang="en-US" altLang="zh-CN" sz="2200" dirty="0"/>
              <a:t>, </a:t>
            </a:r>
            <a:r>
              <a:rPr lang="en-US" altLang="zh-CN" sz="2200" dirty="0">
                <a:solidFill>
                  <a:srgbClr val="006600"/>
                </a:solidFill>
              </a:rPr>
              <a:t>week-end</a:t>
            </a:r>
            <a:r>
              <a:rPr lang="en-US" altLang="zh-CN" sz="2200" dirty="0"/>
              <a:t>;</a:t>
            </a:r>
          </a:p>
          <a:p>
            <a:pPr marL="971550" lvl="1"/>
            <a:endParaRPr lang="zh-CN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616928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枚举类型定义与枚举型变量定义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dirty="0"/>
              <a:t>在</a:t>
            </a:r>
            <a:r>
              <a:rPr lang="en-US" altLang="zh-CN" dirty="0"/>
              <a:t>C</a:t>
            </a:r>
            <a:r>
              <a:rPr lang="zh-CN" altLang="en-US" dirty="0"/>
              <a:t>编译器中，对</a:t>
            </a:r>
            <a:r>
              <a:rPr lang="zh-CN" altLang="en-US" dirty="0">
                <a:solidFill>
                  <a:srgbClr val="006600"/>
                </a:solidFill>
              </a:rPr>
              <a:t>枚举元素</a:t>
            </a:r>
            <a:r>
              <a:rPr lang="zh-CN" altLang="en-US" dirty="0"/>
              <a:t>按</a:t>
            </a:r>
            <a:r>
              <a:rPr lang="zh-CN" altLang="en-US" dirty="0">
                <a:solidFill>
                  <a:srgbClr val="7030A0"/>
                </a:solidFill>
              </a:rPr>
              <a:t>常量处理</a:t>
            </a:r>
            <a:r>
              <a:rPr lang="zh-CN" altLang="en-US" dirty="0"/>
              <a:t>，故称</a:t>
            </a:r>
            <a:r>
              <a:rPr lang="zh-CN" altLang="en-US" dirty="0">
                <a:solidFill>
                  <a:srgbClr val="030DCD"/>
                </a:solidFill>
              </a:rPr>
              <a:t>枚举常量</a:t>
            </a:r>
            <a:r>
              <a:rPr lang="zh-CN" altLang="en-US" dirty="0"/>
              <a:t>；</a:t>
            </a:r>
            <a:endParaRPr lang="en-US" altLang="zh-CN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dirty="0"/>
              <a:t>枚举类型定义</a:t>
            </a:r>
            <a:r>
              <a:rPr lang="en-US" altLang="zh-CN" dirty="0" err="1">
                <a:solidFill>
                  <a:srgbClr val="030DCD"/>
                </a:solidFill>
              </a:rPr>
              <a:t>enum</a:t>
            </a:r>
            <a:r>
              <a:rPr lang="en-US" altLang="zh-CN" dirty="0">
                <a:solidFill>
                  <a:srgbClr val="030DCD"/>
                </a:solidFill>
              </a:rPr>
              <a:t> weekday </a:t>
            </a:r>
            <a:r>
              <a:rPr lang="en-US" altLang="zh-CN" dirty="0"/>
              <a:t>{</a:t>
            </a:r>
            <a:r>
              <a:rPr lang="en-US" altLang="zh-CN" dirty="0">
                <a:solidFill>
                  <a:srgbClr val="006600"/>
                </a:solidFill>
              </a:rPr>
              <a:t>sun</a:t>
            </a:r>
            <a:r>
              <a:rPr lang="zh-CN" altLang="en-US" dirty="0">
                <a:solidFill>
                  <a:srgbClr val="006600"/>
                </a:solidFill>
              </a:rPr>
              <a:t>，</a:t>
            </a:r>
            <a:r>
              <a:rPr lang="en-US" altLang="zh-CN" dirty="0" err="1">
                <a:solidFill>
                  <a:srgbClr val="006600"/>
                </a:solidFill>
              </a:rPr>
              <a:t>mon</a:t>
            </a:r>
            <a:r>
              <a:rPr lang="zh-CN" altLang="en-US" dirty="0">
                <a:solidFill>
                  <a:srgbClr val="006600"/>
                </a:solidFill>
              </a:rPr>
              <a:t>，</a:t>
            </a:r>
            <a:r>
              <a:rPr lang="en-US" altLang="zh-CN" dirty="0" err="1">
                <a:solidFill>
                  <a:srgbClr val="006600"/>
                </a:solidFill>
              </a:rPr>
              <a:t>tue</a:t>
            </a:r>
            <a:r>
              <a:rPr lang="zh-CN" altLang="en-US" dirty="0">
                <a:solidFill>
                  <a:srgbClr val="006600"/>
                </a:solidFill>
              </a:rPr>
              <a:t>，</a:t>
            </a:r>
            <a:r>
              <a:rPr lang="en-US" altLang="zh-CN" dirty="0">
                <a:solidFill>
                  <a:srgbClr val="006600"/>
                </a:solidFill>
              </a:rPr>
              <a:t>wed</a:t>
            </a:r>
            <a:r>
              <a:rPr lang="zh-CN" altLang="en-US" dirty="0">
                <a:solidFill>
                  <a:srgbClr val="006600"/>
                </a:solidFill>
              </a:rPr>
              <a:t>，</a:t>
            </a:r>
            <a:r>
              <a:rPr lang="en-US" altLang="zh-CN" dirty="0" err="1">
                <a:solidFill>
                  <a:srgbClr val="006600"/>
                </a:solidFill>
              </a:rPr>
              <a:t>thu</a:t>
            </a:r>
            <a:r>
              <a:rPr lang="zh-CN" altLang="en-US" dirty="0">
                <a:solidFill>
                  <a:srgbClr val="006600"/>
                </a:solidFill>
              </a:rPr>
              <a:t>，</a:t>
            </a:r>
            <a:r>
              <a:rPr lang="en-US" altLang="zh-CN" dirty="0" err="1">
                <a:solidFill>
                  <a:srgbClr val="006600"/>
                </a:solidFill>
              </a:rPr>
              <a:t>fri</a:t>
            </a:r>
            <a:r>
              <a:rPr lang="zh-CN" altLang="en-US" dirty="0">
                <a:solidFill>
                  <a:srgbClr val="006600"/>
                </a:solidFill>
              </a:rPr>
              <a:t>，</a:t>
            </a:r>
            <a:r>
              <a:rPr lang="en-US" altLang="zh-CN" dirty="0">
                <a:solidFill>
                  <a:srgbClr val="006600"/>
                </a:solidFill>
              </a:rPr>
              <a:t>sat</a:t>
            </a:r>
            <a:r>
              <a:rPr lang="en-US" altLang="zh-CN" dirty="0"/>
              <a:t>}</a:t>
            </a:r>
            <a:r>
              <a:rPr lang="zh-CN" altLang="en-US" dirty="0"/>
              <a:t>中，</a:t>
            </a:r>
            <a:r>
              <a:rPr lang="en-US" altLang="zh-CN" dirty="0">
                <a:solidFill>
                  <a:srgbClr val="006600"/>
                </a:solidFill>
              </a:rPr>
              <a:t>sun</a:t>
            </a:r>
            <a:r>
              <a:rPr lang="zh-CN" altLang="en-US" dirty="0">
                <a:solidFill>
                  <a:srgbClr val="006600"/>
                </a:solidFill>
              </a:rPr>
              <a:t>、</a:t>
            </a:r>
            <a:r>
              <a:rPr lang="en-US" altLang="zh-CN" dirty="0" err="1">
                <a:solidFill>
                  <a:srgbClr val="006600"/>
                </a:solidFill>
              </a:rPr>
              <a:t>mon</a:t>
            </a:r>
            <a:r>
              <a:rPr lang="zh-CN" altLang="en-US" dirty="0">
                <a:solidFill>
                  <a:srgbClr val="006600"/>
                </a:solidFill>
              </a:rPr>
              <a:t>、</a:t>
            </a:r>
            <a:r>
              <a:rPr lang="en-US" altLang="zh-CN" dirty="0">
                <a:solidFill>
                  <a:srgbClr val="006600"/>
                </a:solidFill>
              </a:rPr>
              <a:t>…</a:t>
            </a:r>
            <a:r>
              <a:rPr lang="zh-CN" altLang="en-US" dirty="0">
                <a:solidFill>
                  <a:srgbClr val="006600"/>
                </a:solidFill>
              </a:rPr>
              <a:t>、</a:t>
            </a:r>
            <a:r>
              <a:rPr lang="en-US" altLang="zh-CN" dirty="0">
                <a:solidFill>
                  <a:srgbClr val="006600"/>
                </a:solidFill>
              </a:rPr>
              <a:t>sat</a:t>
            </a:r>
            <a:r>
              <a:rPr lang="zh-CN" altLang="en-US" dirty="0"/>
              <a:t>称为</a:t>
            </a:r>
            <a:r>
              <a:rPr lang="zh-CN" altLang="en-US" dirty="0">
                <a:solidFill>
                  <a:srgbClr val="C00000"/>
                </a:solidFill>
              </a:rPr>
              <a:t>枚举元素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C00000"/>
                </a:solidFill>
              </a:rPr>
              <a:t>枚举常量</a:t>
            </a:r>
            <a:r>
              <a:rPr lang="zh-CN" altLang="en-US" dirty="0"/>
              <a:t>；</a:t>
            </a:r>
            <a:endParaRPr lang="en-US" altLang="zh-CN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b="1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b="1" dirty="0" smtClean="0"/>
              <a:t>这些</a:t>
            </a:r>
            <a:r>
              <a:rPr lang="zh-CN" altLang="en-US" b="1" dirty="0">
                <a:solidFill>
                  <a:srgbClr val="C00000"/>
                </a:solidFill>
              </a:rPr>
              <a:t>枚举常量</a:t>
            </a:r>
            <a:r>
              <a:rPr lang="zh-CN" altLang="en-US" b="1" dirty="0">
                <a:solidFill>
                  <a:srgbClr val="7030A0"/>
                </a:solidFill>
              </a:rPr>
              <a:t>只是</a:t>
            </a:r>
            <a:r>
              <a:rPr lang="zh-CN" altLang="en-US" b="1" dirty="0"/>
              <a:t>用户定义的</a:t>
            </a:r>
            <a:r>
              <a:rPr lang="zh-CN" altLang="en-US" b="1" dirty="0">
                <a:solidFill>
                  <a:srgbClr val="7030A0"/>
                </a:solidFill>
              </a:rPr>
              <a:t>标识符</a:t>
            </a:r>
            <a:r>
              <a:rPr lang="zh-CN" altLang="en-US" b="1" dirty="0"/>
              <a:t>，并不自动地代表什么含义；</a:t>
            </a:r>
            <a:endParaRPr lang="en-US" altLang="zh-CN" b="1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/>
              <a:t>如，不能因为写成</a:t>
            </a:r>
            <a:r>
              <a:rPr lang="en-US" altLang="zh-CN" dirty="0">
                <a:solidFill>
                  <a:srgbClr val="006600"/>
                </a:solidFill>
              </a:rPr>
              <a:t>sun</a:t>
            </a:r>
            <a:r>
              <a:rPr lang="zh-CN" altLang="en-US" dirty="0"/>
              <a:t>，就自动代表“</a:t>
            </a:r>
            <a:r>
              <a:rPr lang="zh-CN" altLang="en-US" dirty="0">
                <a:solidFill>
                  <a:srgbClr val="006600"/>
                </a:solidFill>
              </a:rPr>
              <a:t>星期天</a:t>
            </a:r>
            <a:r>
              <a:rPr lang="zh-CN" altLang="en-US" dirty="0"/>
              <a:t>”</a:t>
            </a:r>
            <a:endParaRPr lang="en-US" altLang="zh-CN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/>
              <a:t>sun</a:t>
            </a:r>
            <a:r>
              <a:rPr lang="zh-CN" altLang="en-US" dirty="0"/>
              <a:t>可以用任何的</a:t>
            </a:r>
            <a:r>
              <a:rPr lang="zh-CN" altLang="en-US" dirty="0">
                <a:solidFill>
                  <a:srgbClr val="006600"/>
                </a:solidFill>
              </a:rPr>
              <a:t>合法标识符替代</a:t>
            </a:r>
            <a:r>
              <a:rPr lang="zh-CN" altLang="en-US" dirty="0"/>
              <a:t>，如可以用</a:t>
            </a:r>
            <a:r>
              <a:rPr lang="en-US" altLang="zh-CN" dirty="0"/>
              <a:t>Sunday</a:t>
            </a:r>
            <a:r>
              <a:rPr lang="zh-CN" altLang="en-US" dirty="0"/>
              <a:t>代替</a:t>
            </a:r>
            <a:r>
              <a:rPr lang="en-US" altLang="zh-CN" dirty="0"/>
              <a:t>sun</a:t>
            </a:r>
            <a:r>
              <a:rPr lang="zh-CN" altLang="en-US" dirty="0"/>
              <a:t>；</a:t>
            </a:r>
            <a:endParaRPr lang="en-US" altLang="zh-CN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/>
              <a:t>至于用什么标识符代表什么含义，完全由程序员决定，并在程序中作相应处理；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661286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枚举元素或枚举常量的值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440016" cy="534511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如果不特别注明，</a:t>
            </a:r>
            <a:r>
              <a:rPr lang="en-US" altLang="zh-CN" dirty="0"/>
              <a:t>C</a:t>
            </a:r>
            <a:r>
              <a:rPr lang="zh-CN" altLang="en-US" dirty="0"/>
              <a:t>语言编译按</a:t>
            </a:r>
            <a:r>
              <a:rPr lang="zh-CN" altLang="en-US" dirty="0">
                <a:solidFill>
                  <a:srgbClr val="030DCD"/>
                </a:solidFill>
              </a:rPr>
              <a:t>枚举元素（枚举常量）</a:t>
            </a:r>
            <a:r>
              <a:rPr lang="zh-CN" altLang="en-US" dirty="0"/>
              <a:t>定义时的顺序自动为其赋值</a:t>
            </a:r>
            <a:r>
              <a:rPr lang="zh-CN" altLang="en-US" dirty="0">
                <a:solidFill>
                  <a:srgbClr val="C00000"/>
                </a:solidFill>
              </a:rPr>
              <a:t>为 </a:t>
            </a:r>
            <a:r>
              <a:rPr lang="en-US" altLang="zh-CN" dirty="0">
                <a:solidFill>
                  <a:srgbClr val="C00000"/>
                </a:solidFill>
              </a:rPr>
              <a:t>0</a:t>
            </a:r>
            <a:r>
              <a:rPr lang="zh-CN" altLang="en-US" dirty="0">
                <a:solidFill>
                  <a:srgbClr val="C00000"/>
                </a:solidFill>
              </a:rPr>
              <a:t>，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  <a:r>
              <a:rPr lang="zh-CN" altLang="en-US" dirty="0">
                <a:solidFill>
                  <a:srgbClr val="C00000"/>
                </a:solidFill>
              </a:rPr>
              <a:t>，</a:t>
            </a:r>
            <a:r>
              <a:rPr lang="en-US" altLang="zh-CN" dirty="0">
                <a:solidFill>
                  <a:srgbClr val="C00000"/>
                </a:solidFill>
              </a:rPr>
              <a:t>2</a:t>
            </a:r>
            <a:r>
              <a:rPr lang="zh-CN" altLang="en-US" dirty="0">
                <a:solidFill>
                  <a:srgbClr val="C00000"/>
                </a:solidFill>
              </a:rPr>
              <a:t>，</a:t>
            </a:r>
            <a:r>
              <a:rPr lang="en-US" altLang="zh-CN" dirty="0">
                <a:solidFill>
                  <a:srgbClr val="C00000"/>
                </a:solidFill>
                <a:latin typeface="Arial" panose="020B0604020202020204" pitchFamily="34" charset="0"/>
              </a:rPr>
              <a:t>…</a:t>
            </a:r>
            <a:r>
              <a:rPr lang="zh-CN" altLang="en-US" dirty="0"/>
              <a:t>；</a:t>
            </a:r>
            <a:endParaRPr lang="en-US" altLang="zh-CN" dirty="0"/>
          </a:p>
          <a:p>
            <a:pPr marL="971550" lvl="1"/>
            <a:r>
              <a:rPr lang="zh-CN" altLang="en-US" dirty="0">
                <a:solidFill>
                  <a:srgbClr val="030DCD"/>
                </a:solidFill>
              </a:rPr>
              <a:t>定义枚举类型</a:t>
            </a:r>
            <a:r>
              <a:rPr lang="en-US" altLang="zh-CN" dirty="0" err="1">
                <a:solidFill>
                  <a:srgbClr val="030DCD"/>
                </a:solidFill>
              </a:rPr>
              <a:t>enum</a:t>
            </a:r>
            <a:r>
              <a:rPr lang="en-US" altLang="zh-CN" dirty="0">
                <a:solidFill>
                  <a:srgbClr val="030DCD"/>
                </a:solidFill>
              </a:rPr>
              <a:t> weekday </a:t>
            </a:r>
            <a:r>
              <a:rPr lang="en-US" altLang="zh-CN" dirty="0"/>
              <a:t>{</a:t>
            </a:r>
            <a:r>
              <a:rPr lang="en-US" altLang="zh-CN" dirty="0">
                <a:solidFill>
                  <a:srgbClr val="006600"/>
                </a:solidFill>
              </a:rPr>
              <a:t>sun</a:t>
            </a:r>
            <a:r>
              <a:rPr lang="zh-CN" altLang="en-US" dirty="0">
                <a:solidFill>
                  <a:srgbClr val="006600"/>
                </a:solidFill>
              </a:rPr>
              <a:t>，</a:t>
            </a:r>
            <a:r>
              <a:rPr lang="en-US" altLang="zh-CN" dirty="0" err="1">
                <a:solidFill>
                  <a:srgbClr val="006600"/>
                </a:solidFill>
              </a:rPr>
              <a:t>mon</a:t>
            </a:r>
            <a:r>
              <a:rPr lang="zh-CN" altLang="en-US" dirty="0">
                <a:solidFill>
                  <a:srgbClr val="006600"/>
                </a:solidFill>
              </a:rPr>
              <a:t>，</a:t>
            </a:r>
            <a:r>
              <a:rPr lang="en-US" altLang="zh-CN" dirty="0" err="1">
                <a:solidFill>
                  <a:srgbClr val="006600"/>
                </a:solidFill>
              </a:rPr>
              <a:t>tue</a:t>
            </a:r>
            <a:r>
              <a:rPr lang="zh-CN" altLang="en-US" dirty="0">
                <a:solidFill>
                  <a:srgbClr val="006600"/>
                </a:solidFill>
              </a:rPr>
              <a:t>，</a:t>
            </a:r>
            <a:r>
              <a:rPr lang="en-US" altLang="zh-CN" dirty="0">
                <a:solidFill>
                  <a:srgbClr val="006600"/>
                </a:solidFill>
              </a:rPr>
              <a:t>wed</a:t>
            </a:r>
            <a:r>
              <a:rPr lang="zh-CN" altLang="en-US" dirty="0">
                <a:solidFill>
                  <a:srgbClr val="006600"/>
                </a:solidFill>
              </a:rPr>
              <a:t>，</a:t>
            </a:r>
            <a:r>
              <a:rPr lang="en-US" altLang="zh-CN" dirty="0" err="1">
                <a:solidFill>
                  <a:srgbClr val="006600"/>
                </a:solidFill>
              </a:rPr>
              <a:t>thu</a:t>
            </a:r>
            <a:r>
              <a:rPr lang="zh-CN" altLang="en-US" dirty="0">
                <a:solidFill>
                  <a:srgbClr val="006600"/>
                </a:solidFill>
              </a:rPr>
              <a:t>，</a:t>
            </a:r>
            <a:r>
              <a:rPr lang="en-US" altLang="zh-CN" dirty="0" err="1">
                <a:solidFill>
                  <a:srgbClr val="006600"/>
                </a:solidFill>
              </a:rPr>
              <a:t>fri</a:t>
            </a:r>
            <a:r>
              <a:rPr lang="zh-CN" altLang="en-US" dirty="0">
                <a:solidFill>
                  <a:srgbClr val="006600"/>
                </a:solidFill>
              </a:rPr>
              <a:t>，</a:t>
            </a:r>
            <a:r>
              <a:rPr lang="en-US" altLang="zh-CN" dirty="0">
                <a:solidFill>
                  <a:srgbClr val="006600"/>
                </a:solidFill>
              </a:rPr>
              <a:t>sat</a:t>
            </a:r>
            <a:r>
              <a:rPr lang="en-US" altLang="zh-CN" dirty="0"/>
              <a:t>};</a:t>
            </a:r>
          </a:p>
          <a:p>
            <a:pPr marL="971550" lvl="1"/>
            <a:r>
              <a:rPr lang="zh-CN" altLang="en-US" dirty="0"/>
              <a:t>则，</a:t>
            </a:r>
            <a:r>
              <a:rPr lang="en-US" altLang="zh-CN" dirty="0">
                <a:solidFill>
                  <a:srgbClr val="006600"/>
                </a:solidFill>
              </a:rPr>
              <a:t>sun</a:t>
            </a:r>
            <a:r>
              <a:rPr lang="zh-CN" altLang="en-US" dirty="0">
                <a:solidFill>
                  <a:srgbClr val="006600"/>
                </a:solidFill>
              </a:rPr>
              <a:t>的值为</a:t>
            </a:r>
            <a:r>
              <a:rPr lang="en-US" altLang="zh-CN" dirty="0">
                <a:solidFill>
                  <a:srgbClr val="006600"/>
                </a:solidFill>
              </a:rPr>
              <a:t>0</a:t>
            </a:r>
            <a:r>
              <a:rPr lang="zh-CN" altLang="en-US" dirty="0">
                <a:solidFill>
                  <a:srgbClr val="006600"/>
                </a:solidFill>
              </a:rPr>
              <a:t>，</a:t>
            </a:r>
            <a:r>
              <a:rPr lang="en-US" altLang="zh-CN" dirty="0" err="1">
                <a:solidFill>
                  <a:srgbClr val="006600"/>
                </a:solidFill>
              </a:rPr>
              <a:t>mon</a:t>
            </a:r>
            <a:r>
              <a:rPr lang="zh-CN" altLang="en-US" dirty="0">
                <a:solidFill>
                  <a:srgbClr val="006600"/>
                </a:solidFill>
              </a:rPr>
              <a:t>的值为</a:t>
            </a:r>
            <a:r>
              <a:rPr lang="en-US" altLang="zh-CN" dirty="0">
                <a:solidFill>
                  <a:srgbClr val="006600"/>
                </a:solidFill>
              </a:rPr>
              <a:t>1</a:t>
            </a:r>
            <a:r>
              <a:rPr lang="en-US" altLang="zh-CN" dirty="0">
                <a:solidFill>
                  <a:srgbClr val="006600"/>
                </a:solidFill>
                <a:latin typeface="Arial" panose="020B0604020202020204" pitchFamily="34" charset="0"/>
              </a:rPr>
              <a:t>……</a:t>
            </a:r>
            <a:r>
              <a:rPr lang="en-US" altLang="zh-CN" dirty="0">
                <a:solidFill>
                  <a:srgbClr val="006600"/>
                </a:solidFill>
              </a:rPr>
              <a:t>sat</a:t>
            </a:r>
            <a:r>
              <a:rPr lang="zh-CN" altLang="en-US" dirty="0">
                <a:solidFill>
                  <a:srgbClr val="006600"/>
                </a:solidFill>
              </a:rPr>
              <a:t>为</a:t>
            </a:r>
            <a:r>
              <a:rPr lang="en-US" altLang="zh-CN" dirty="0">
                <a:solidFill>
                  <a:srgbClr val="006600"/>
                </a:solidFill>
              </a:rPr>
              <a:t>6</a:t>
            </a:r>
            <a:r>
              <a:rPr lang="zh-CN" altLang="en-US" dirty="0">
                <a:solidFill>
                  <a:srgbClr val="006600"/>
                </a:solidFill>
              </a:rPr>
              <a:t>；</a:t>
            </a:r>
            <a:endParaRPr lang="en-US" altLang="zh-CN" dirty="0">
              <a:solidFill>
                <a:srgbClr val="006600"/>
              </a:solidFill>
            </a:endParaRPr>
          </a:p>
          <a:p>
            <a:pPr marL="971550" lvl="1"/>
            <a:r>
              <a:rPr lang="zh-CN" altLang="en-US" dirty="0"/>
              <a:t>若枚举变量</a:t>
            </a:r>
            <a:r>
              <a:rPr lang="en-US" altLang="zh-CN" dirty="0"/>
              <a:t>workday=</a:t>
            </a:r>
            <a:r>
              <a:rPr lang="en-US" altLang="zh-CN" dirty="0" err="1"/>
              <a:t>mon</a:t>
            </a:r>
            <a:r>
              <a:rPr lang="zh-CN" altLang="en-US" dirty="0"/>
              <a:t>；则</a:t>
            </a:r>
            <a:r>
              <a:rPr lang="en-US" altLang="zh-CN" dirty="0"/>
              <a:t>workday</a:t>
            </a:r>
            <a:r>
              <a:rPr lang="zh-CN" altLang="en-US" dirty="0"/>
              <a:t>变量的值为</a:t>
            </a:r>
            <a:r>
              <a:rPr lang="en-US" altLang="zh-CN" dirty="0"/>
              <a:t>1</a:t>
            </a:r>
            <a:r>
              <a:rPr lang="zh-CN" altLang="en-US" dirty="0"/>
              <a:t>；</a:t>
            </a:r>
            <a:endParaRPr lang="en-US" altLang="zh-CN" dirty="0"/>
          </a:p>
          <a:p>
            <a:pPr marL="1200150" lvl="2"/>
            <a:r>
              <a:rPr lang="en-US" altLang="zh-CN" dirty="0" err="1"/>
              <a:t>printf</a:t>
            </a:r>
            <a:r>
              <a:rPr lang="en-US" altLang="zh-CN" dirty="0"/>
              <a:t>(”%</a:t>
            </a:r>
            <a:r>
              <a:rPr lang="en-US" altLang="zh-CN" dirty="0" smtClean="0"/>
              <a:t>d\n”, </a:t>
            </a:r>
            <a:r>
              <a:rPr lang="en-US" altLang="zh-CN" dirty="0"/>
              <a:t>workday ) </a:t>
            </a:r>
            <a:r>
              <a:rPr lang="zh-CN" altLang="en-US" dirty="0"/>
              <a:t>：输出</a:t>
            </a:r>
            <a:r>
              <a:rPr lang="en-US" altLang="zh-CN" dirty="0"/>
              <a:t>1</a:t>
            </a:r>
          </a:p>
          <a:p>
            <a:pPr marL="971550" lvl="1"/>
            <a:endParaRPr lang="en-US" altLang="zh-CN" b="1" dirty="0">
              <a:solidFill>
                <a:srgbClr val="006600"/>
              </a:solidFill>
            </a:endParaRPr>
          </a:p>
          <a:p>
            <a:pPr marL="971550" lvl="1"/>
            <a:r>
              <a:rPr lang="zh-CN" altLang="en-US" b="1" dirty="0">
                <a:solidFill>
                  <a:srgbClr val="006600"/>
                </a:solidFill>
              </a:rPr>
              <a:t>尽管可以把</a:t>
            </a:r>
            <a:r>
              <a:rPr lang="zh-CN" altLang="en-US" b="1" dirty="0">
                <a:solidFill>
                  <a:srgbClr val="0000CC"/>
                </a:solidFill>
              </a:rPr>
              <a:t>枚举元素</a:t>
            </a:r>
            <a:r>
              <a:rPr lang="zh-CN" altLang="en-US" dirty="0"/>
              <a:t>的值</a:t>
            </a:r>
            <a:r>
              <a:rPr lang="zh-CN" altLang="en-US" b="1" dirty="0">
                <a:solidFill>
                  <a:srgbClr val="0000CC"/>
                </a:solidFill>
              </a:rPr>
              <a:t>（序号</a:t>
            </a:r>
            <a:r>
              <a:rPr lang="zh-CN" altLang="en-US" b="1" dirty="0">
                <a:solidFill>
                  <a:srgbClr val="C00000"/>
                </a:solidFill>
              </a:rPr>
              <a:t>）</a:t>
            </a:r>
            <a:r>
              <a:rPr lang="zh-CN" altLang="en-US" b="1" dirty="0">
                <a:solidFill>
                  <a:srgbClr val="006600"/>
                </a:solidFill>
              </a:rPr>
              <a:t>当做整数来</a:t>
            </a:r>
            <a:r>
              <a:rPr lang="zh-CN" altLang="en-US" b="1" dirty="0" smtClean="0">
                <a:solidFill>
                  <a:srgbClr val="006600"/>
                </a:solidFill>
              </a:rPr>
              <a:t>看待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1200150" lvl="2"/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zh-CN" altLang="en-US" sz="1800" dirty="0">
                <a:solidFill>
                  <a:srgbClr val="030DCD"/>
                </a:solidFill>
              </a:rPr>
              <a:t>如 </a:t>
            </a:r>
            <a:r>
              <a:rPr lang="en-US" altLang="zh-CN" sz="1800" dirty="0" err="1">
                <a:solidFill>
                  <a:srgbClr val="030DCD"/>
                </a:solidFill>
              </a:rPr>
              <a:t>int</a:t>
            </a:r>
            <a:r>
              <a:rPr lang="en-US" altLang="zh-CN" sz="1800" dirty="0">
                <a:solidFill>
                  <a:srgbClr val="030DCD"/>
                </a:solidFill>
              </a:rPr>
              <a:t> a=3+mon;   //a</a:t>
            </a:r>
            <a:r>
              <a:rPr lang="zh-CN" altLang="en-US" sz="1800" dirty="0">
                <a:solidFill>
                  <a:srgbClr val="030DCD"/>
                </a:solidFill>
              </a:rPr>
              <a:t>的值为：</a:t>
            </a:r>
            <a:r>
              <a:rPr lang="en-US" altLang="zh-CN" sz="1800" dirty="0">
                <a:solidFill>
                  <a:srgbClr val="030DCD"/>
                </a:solidFill>
              </a:rPr>
              <a:t>3+1=4; </a:t>
            </a:r>
            <a:r>
              <a:rPr lang="zh-CN" altLang="en-US" sz="1800" dirty="0"/>
              <a:t>因为可将枚举常量</a:t>
            </a:r>
            <a:r>
              <a:rPr lang="en-US" altLang="zh-CN" sz="1800" dirty="0" err="1"/>
              <a:t>mon</a:t>
            </a:r>
            <a:r>
              <a:rPr lang="zh-CN" altLang="en-US" sz="1800" dirty="0"/>
              <a:t>的值视为</a:t>
            </a:r>
            <a:r>
              <a:rPr lang="en-US" altLang="zh-CN" sz="1800" dirty="0"/>
              <a:t>1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971550" lvl="1"/>
            <a:r>
              <a:rPr lang="zh-CN" altLang="en-US" dirty="0"/>
              <a:t>由于枚举元素</a:t>
            </a:r>
            <a:r>
              <a:rPr lang="zh-CN" altLang="en-US" b="1" dirty="0">
                <a:solidFill>
                  <a:srgbClr val="FF0000"/>
                </a:solidFill>
              </a:rPr>
              <a:t>不是变量，而是常量</a:t>
            </a:r>
            <a:r>
              <a:rPr lang="zh-CN" altLang="en-US" dirty="0"/>
              <a:t>，</a:t>
            </a:r>
            <a:r>
              <a:rPr lang="zh-CN" altLang="en-US" b="1" dirty="0">
                <a:solidFill>
                  <a:srgbClr val="006600"/>
                </a:solidFill>
              </a:rPr>
              <a:t>不能对它们赋值；</a:t>
            </a:r>
            <a:endParaRPr lang="en-US" altLang="zh-CN" b="1" dirty="0">
              <a:solidFill>
                <a:srgbClr val="006600"/>
              </a:solidFill>
            </a:endParaRPr>
          </a:p>
          <a:p>
            <a:pPr marL="1200150" lvl="2"/>
            <a:r>
              <a:rPr lang="zh-CN" altLang="en-US" sz="1800" b="1" dirty="0">
                <a:solidFill>
                  <a:srgbClr val="FF0000"/>
                </a:solidFill>
              </a:rPr>
              <a:t>如 </a:t>
            </a:r>
            <a:r>
              <a:rPr lang="en-US" altLang="zh-CN" sz="1800" b="1" dirty="0">
                <a:solidFill>
                  <a:srgbClr val="FF0000"/>
                </a:solidFill>
              </a:rPr>
              <a:t>sun=0</a:t>
            </a:r>
            <a:r>
              <a:rPr lang="zh-CN" altLang="en-US" sz="1800" b="1" dirty="0">
                <a:solidFill>
                  <a:srgbClr val="FF0000"/>
                </a:solidFill>
              </a:rPr>
              <a:t>；</a:t>
            </a:r>
            <a:r>
              <a:rPr lang="en-US" altLang="zh-CN" sz="1800" b="1" dirty="0" err="1">
                <a:solidFill>
                  <a:srgbClr val="FF0000"/>
                </a:solidFill>
              </a:rPr>
              <a:t>mon</a:t>
            </a:r>
            <a:r>
              <a:rPr lang="en-US" altLang="zh-CN" sz="1800" b="1" dirty="0">
                <a:solidFill>
                  <a:srgbClr val="FF0000"/>
                </a:solidFill>
              </a:rPr>
              <a:t>=1</a:t>
            </a:r>
            <a:r>
              <a:rPr lang="zh-CN" altLang="en-US" sz="1800" b="1" dirty="0">
                <a:solidFill>
                  <a:srgbClr val="FF0000"/>
                </a:solidFill>
              </a:rPr>
              <a:t>；是错误的；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pPr marL="971550" lvl="1"/>
            <a:r>
              <a:rPr lang="zh-CN" altLang="en-US" sz="1800" b="1" dirty="0"/>
              <a:t>即：枚举元素（枚举常量）的值可以引用，但不能赋值，</a:t>
            </a:r>
            <a:r>
              <a:rPr lang="zh-CN" altLang="en-US" sz="1800" b="1" dirty="0">
                <a:solidFill>
                  <a:srgbClr val="C00000"/>
                </a:solidFill>
              </a:rPr>
              <a:t>因其为常量；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pPr marL="971550" lvl="1"/>
            <a:endParaRPr lang="en-US" altLang="zh-C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2563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定义枚举类型时改变枚举元素的值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30DCD"/>
                </a:solidFill>
              </a:rPr>
              <a:t>可以在定义枚举类型时改变枚举元素的值</a:t>
            </a:r>
            <a:endParaRPr lang="en-US" altLang="zh-CN" b="1" dirty="0">
              <a:solidFill>
                <a:srgbClr val="030DCD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例</a:t>
            </a:r>
            <a:r>
              <a:rPr lang="en-US" altLang="zh-CN" dirty="0"/>
              <a:t>1 </a:t>
            </a:r>
            <a:r>
              <a:rPr lang="zh-CN" altLang="en-US" dirty="0"/>
              <a:t>指定枚举元素编号从</a:t>
            </a:r>
            <a:r>
              <a:rPr lang="en-US" altLang="zh-CN" dirty="0"/>
              <a:t>6</a:t>
            </a:r>
            <a:r>
              <a:rPr lang="zh-CN" altLang="en-US" dirty="0"/>
              <a:t>开始顺推</a:t>
            </a:r>
            <a:r>
              <a:rPr lang="zh-CN" altLang="en-US" dirty="0">
                <a:solidFill>
                  <a:srgbClr val="C00000"/>
                </a:solidFill>
              </a:rPr>
              <a:t>增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</a:p>
          <a:p>
            <a:pPr marL="971550" lvl="1"/>
            <a:r>
              <a:rPr lang="en-US" altLang="zh-CN" dirty="0" err="1"/>
              <a:t>enum</a:t>
            </a:r>
            <a:r>
              <a:rPr lang="en-US" altLang="zh-CN" dirty="0"/>
              <a:t> Color {</a:t>
            </a:r>
            <a:r>
              <a:rPr lang="en-US" altLang="zh-CN" dirty="0">
                <a:solidFill>
                  <a:srgbClr val="FF0000"/>
                </a:solidFill>
              </a:rPr>
              <a:t>red=6</a:t>
            </a:r>
            <a:r>
              <a:rPr lang="en-US" altLang="zh-CN" dirty="0"/>
              <a:t>, yellow, blue, green, black}</a:t>
            </a:r>
          </a:p>
          <a:p>
            <a:pPr marL="971550" lvl="1"/>
            <a:r>
              <a:rPr lang="zh-CN" altLang="en-US" dirty="0"/>
              <a:t>则</a:t>
            </a:r>
            <a:r>
              <a:rPr lang="en-US" altLang="zh-CN" dirty="0">
                <a:solidFill>
                  <a:srgbClr val="FF0000"/>
                </a:solidFill>
              </a:rPr>
              <a:t>red</a:t>
            </a:r>
            <a:r>
              <a:rPr lang="zh-CN" altLang="en-US" dirty="0">
                <a:solidFill>
                  <a:srgbClr val="FF0000"/>
                </a:solidFill>
              </a:rPr>
              <a:t>的值是</a:t>
            </a:r>
            <a:r>
              <a:rPr lang="en-US" altLang="zh-CN" dirty="0">
                <a:solidFill>
                  <a:srgbClr val="FF0000"/>
                </a:solidFill>
              </a:rPr>
              <a:t>6</a:t>
            </a:r>
            <a:r>
              <a:rPr lang="zh-CN" altLang="en-US" dirty="0"/>
              <a:t>，</a:t>
            </a:r>
            <a:r>
              <a:rPr lang="en-US" altLang="zh-CN" dirty="0"/>
              <a:t> </a:t>
            </a:r>
            <a:r>
              <a:rPr lang="en-US" altLang="zh-CN" b="1" dirty="0"/>
              <a:t>yellow</a:t>
            </a:r>
            <a:r>
              <a:rPr lang="zh-CN" altLang="en-US" b="1" dirty="0"/>
              <a:t>的值是</a:t>
            </a:r>
            <a:r>
              <a:rPr lang="en-US" altLang="zh-CN" b="1" dirty="0"/>
              <a:t>7</a:t>
            </a:r>
            <a:r>
              <a:rPr lang="zh-CN" altLang="en-US" b="1" dirty="0"/>
              <a:t>，以此类推</a:t>
            </a:r>
            <a:endParaRPr lang="en-US" altLang="zh-CN" b="1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例</a:t>
            </a:r>
            <a:r>
              <a:rPr lang="en-US" altLang="zh-CN" dirty="0"/>
              <a:t>2  </a:t>
            </a:r>
            <a:r>
              <a:rPr lang="zh-CN" altLang="en-US" dirty="0"/>
              <a:t>定义周日是</a:t>
            </a:r>
            <a:r>
              <a:rPr lang="en-US" altLang="zh-CN" dirty="0"/>
              <a:t>7</a:t>
            </a:r>
            <a:r>
              <a:rPr lang="zh-CN" altLang="en-US" dirty="0"/>
              <a:t>，其余枚举元素的值从</a:t>
            </a:r>
            <a:r>
              <a:rPr lang="en-US" altLang="zh-CN" dirty="0"/>
              <a:t>1</a:t>
            </a:r>
            <a:r>
              <a:rPr lang="zh-CN" altLang="en-US" dirty="0"/>
              <a:t>开始顺推</a:t>
            </a:r>
            <a:r>
              <a:rPr lang="zh-CN" altLang="en-US" dirty="0">
                <a:solidFill>
                  <a:srgbClr val="C00000"/>
                </a:solidFill>
              </a:rPr>
              <a:t>增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</a:p>
          <a:p>
            <a:pPr marL="971550" lvl="1"/>
            <a:r>
              <a:rPr lang="en-US" altLang="zh-CN" dirty="0" err="1"/>
              <a:t>enum</a:t>
            </a:r>
            <a:r>
              <a:rPr lang="en-US" altLang="zh-CN" dirty="0"/>
              <a:t> weekday{</a:t>
            </a:r>
            <a:r>
              <a:rPr lang="en-US" altLang="zh-CN" dirty="0">
                <a:solidFill>
                  <a:srgbClr val="C00000"/>
                </a:solidFill>
              </a:rPr>
              <a:t>sun=7</a:t>
            </a:r>
            <a:r>
              <a:rPr lang="zh-CN" altLang="en-US" dirty="0"/>
              <a:t>，</a:t>
            </a:r>
            <a:r>
              <a:rPr lang="en-US" altLang="zh-CN" dirty="0" err="1">
                <a:solidFill>
                  <a:srgbClr val="C00000"/>
                </a:solidFill>
              </a:rPr>
              <a:t>mon</a:t>
            </a:r>
            <a:r>
              <a:rPr lang="en-US" altLang="zh-CN" dirty="0">
                <a:solidFill>
                  <a:srgbClr val="C00000"/>
                </a:solidFill>
              </a:rPr>
              <a:t>=1</a:t>
            </a:r>
            <a:r>
              <a:rPr lang="zh-CN" altLang="en-US" dirty="0"/>
              <a:t>，</a:t>
            </a:r>
            <a:r>
              <a:rPr lang="en-US" altLang="zh-CN" dirty="0" err="1"/>
              <a:t>tue</a:t>
            </a:r>
            <a:r>
              <a:rPr lang="zh-CN" altLang="en-US" dirty="0"/>
              <a:t>，</a:t>
            </a:r>
            <a:r>
              <a:rPr lang="en-US" altLang="zh-CN" dirty="0"/>
              <a:t>wed</a:t>
            </a:r>
            <a:r>
              <a:rPr lang="zh-CN" altLang="en-US" dirty="0"/>
              <a:t>，</a:t>
            </a:r>
            <a:r>
              <a:rPr lang="en-US" altLang="zh-CN" dirty="0" err="1"/>
              <a:t>thu</a:t>
            </a:r>
            <a:r>
              <a:rPr lang="zh-CN" altLang="en-US" dirty="0"/>
              <a:t>，</a:t>
            </a:r>
            <a:r>
              <a:rPr lang="en-US" altLang="zh-CN" dirty="0" err="1"/>
              <a:t>fri</a:t>
            </a:r>
            <a:r>
              <a:rPr lang="zh-CN" altLang="en-US" dirty="0"/>
              <a:t>，</a:t>
            </a:r>
            <a:r>
              <a:rPr lang="en-US" altLang="zh-CN" dirty="0"/>
              <a:t>sat} </a:t>
            </a:r>
            <a:r>
              <a:rPr lang="en-US" altLang="zh-CN" dirty="0">
                <a:solidFill>
                  <a:srgbClr val="030DCD"/>
                </a:solidFill>
              </a:rPr>
              <a:t>workday</a:t>
            </a:r>
            <a:r>
              <a:rPr lang="zh-CN" altLang="en-US" dirty="0">
                <a:solidFill>
                  <a:srgbClr val="030DCD"/>
                </a:solidFill>
              </a:rPr>
              <a:t>，</a:t>
            </a:r>
            <a:r>
              <a:rPr lang="en-US" altLang="zh-CN" dirty="0">
                <a:solidFill>
                  <a:srgbClr val="030DCD"/>
                </a:solidFill>
              </a:rPr>
              <a:t>week-end</a:t>
            </a:r>
            <a:r>
              <a:rPr lang="zh-CN" altLang="en-US" dirty="0"/>
              <a:t>；</a:t>
            </a:r>
            <a:endParaRPr lang="en-US" altLang="zh-CN" dirty="0"/>
          </a:p>
          <a:p>
            <a:pPr marL="971550" lvl="1"/>
            <a:r>
              <a:rPr lang="zh-CN" altLang="en-US" dirty="0"/>
              <a:t>则 </a:t>
            </a:r>
            <a:r>
              <a:rPr lang="en-US" altLang="zh-CN" dirty="0"/>
              <a:t>sun</a:t>
            </a:r>
            <a:r>
              <a:rPr lang="zh-CN" altLang="en-US" dirty="0"/>
              <a:t>的值为</a:t>
            </a:r>
            <a:r>
              <a:rPr lang="en-US" altLang="zh-CN" dirty="0"/>
              <a:t>7</a:t>
            </a:r>
            <a:r>
              <a:rPr lang="zh-CN" altLang="en-US" dirty="0"/>
              <a:t>，</a:t>
            </a:r>
            <a:r>
              <a:rPr lang="en-US" altLang="zh-CN" dirty="0" err="1"/>
              <a:t>mon</a:t>
            </a:r>
            <a:r>
              <a:rPr lang="zh-CN" altLang="en-US" dirty="0"/>
              <a:t>的值为</a:t>
            </a:r>
            <a:r>
              <a:rPr lang="en-US" altLang="zh-CN" dirty="0"/>
              <a:t>1</a:t>
            </a:r>
            <a:r>
              <a:rPr lang="zh-CN" altLang="en-US" dirty="0"/>
              <a:t>，以后顺序加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 err="1"/>
              <a:t>tue</a:t>
            </a:r>
            <a:r>
              <a:rPr lang="zh-CN" altLang="en-US" dirty="0"/>
              <a:t>为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sat</a:t>
            </a:r>
            <a:r>
              <a:rPr lang="zh-CN" altLang="en-US" dirty="0"/>
              <a:t>为</a:t>
            </a:r>
            <a:r>
              <a:rPr lang="en-US" altLang="zh-CN" dirty="0"/>
              <a:t>6</a:t>
            </a:r>
            <a:r>
              <a:rPr lang="zh-CN" altLang="en-US" dirty="0"/>
              <a:t>；</a:t>
            </a:r>
            <a:endParaRPr lang="en-US" altLang="zh-CN" dirty="0"/>
          </a:p>
          <a:p>
            <a:pPr marL="971550" lvl="1"/>
            <a:r>
              <a:rPr lang="en-US" altLang="zh-CN" dirty="0" err="1"/>
              <a:t>enum</a:t>
            </a:r>
            <a:r>
              <a:rPr lang="en-US" altLang="zh-CN" dirty="0"/>
              <a:t> weekday </a:t>
            </a:r>
            <a:r>
              <a:rPr lang="en-US" altLang="zh-CN" dirty="0">
                <a:solidFill>
                  <a:srgbClr val="030DCD"/>
                </a:solidFill>
              </a:rPr>
              <a:t>week-end=sun</a:t>
            </a:r>
            <a:r>
              <a:rPr lang="zh-CN" altLang="en-US" dirty="0">
                <a:solidFill>
                  <a:srgbClr val="030DCD"/>
                </a:solidFill>
              </a:rPr>
              <a:t>；</a:t>
            </a:r>
            <a:r>
              <a:rPr lang="en-US" altLang="zh-CN" dirty="0">
                <a:solidFill>
                  <a:srgbClr val="030DCD"/>
                </a:solidFill>
              </a:rPr>
              <a:t>//</a:t>
            </a:r>
            <a:r>
              <a:rPr lang="en-US" altLang="zh-CN" dirty="0">
                <a:solidFill>
                  <a:srgbClr val="006600"/>
                </a:solidFill>
              </a:rPr>
              <a:t>week-end</a:t>
            </a:r>
            <a:r>
              <a:rPr lang="zh-CN" altLang="en-US" dirty="0">
                <a:solidFill>
                  <a:srgbClr val="006600"/>
                </a:solidFill>
              </a:rPr>
              <a:t>的值即为</a:t>
            </a:r>
            <a:r>
              <a:rPr lang="en-US" altLang="zh-CN" dirty="0">
                <a:solidFill>
                  <a:srgbClr val="006600"/>
                </a:solidFill>
              </a:rPr>
              <a:t>7</a:t>
            </a:r>
            <a:endParaRPr lang="zh-CN" altLang="en-US" dirty="0">
              <a:solidFill>
                <a:srgbClr val="0066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例</a:t>
            </a:r>
            <a:r>
              <a:rPr lang="en-US" altLang="zh-CN" dirty="0"/>
              <a:t>3 </a:t>
            </a:r>
            <a:r>
              <a:rPr lang="zh-CN" altLang="en-US" dirty="0"/>
              <a:t>指定枚举元素编号从负数开始顺推</a:t>
            </a:r>
            <a:r>
              <a:rPr lang="zh-CN" altLang="en-US" dirty="0">
                <a:solidFill>
                  <a:srgbClr val="C00000"/>
                </a:solidFill>
              </a:rPr>
              <a:t>增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</a:p>
          <a:p>
            <a:pPr marL="971550" lvl="1"/>
            <a:r>
              <a:rPr lang="en-US" altLang="zh-CN" dirty="0" err="1"/>
              <a:t>enum</a:t>
            </a:r>
            <a:r>
              <a:rPr lang="en-US" altLang="zh-CN" dirty="0"/>
              <a:t> Color {</a:t>
            </a:r>
            <a:r>
              <a:rPr lang="en-US" altLang="zh-CN" dirty="0">
                <a:solidFill>
                  <a:srgbClr val="FF0000"/>
                </a:solidFill>
              </a:rPr>
              <a:t>red=-5</a:t>
            </a:r>
            <a:r>
              <a:rPr lang="en-US" altLang="zh-CN" dirty="0"/>
              <a:t>, yellow, blue, green, black}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5046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枚举元素的运算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30DCD"/>
                </a:solidFill>
              </a:rPr>
              <a:t>枚举型变量</a:t>
            </a:r>
            <a:r>
              <a:rPr lang="zh-CN" altLang="en-US" dirty="0"/>
              <a:t>一旦赋值（</a:t>
            </a:r>
            <a:r>
              <a:rPr lang="zh-CN" altLang="en-US" dirty="0">
                <a:solidFill>
                  <a:srgbClr val="006600"/>
                </a:solidFill>
              </a:rPr>
              <a:t>被赋予一个枚举常量</a:t>
            </a:r>
            <a:r>
              <a:rPr lang="zh-CN" altLang="en-US" dirty="0"/>
              <a:t>），该</a:t>
            </a:r>
            <a:r>
              <a:rPr lang="zh-CN" altLang="en-US" dirty="0">
                <a:solidFill>
                  <a:srgbClr val="030DCD"/>
                </a:solidFill>
              </a:rPr>
              <a:t>枚举变量</a:t>
            </a:r>
            <a:r>
              <a:rPr lang="zh-CN" altLang="en-US" dirty="0"/>
              <a:t>可以当做一个</a:t>
            </a:r>
            <a:r>
              <a:rPr lang="zh-CN" altLang="en-US" dirty="0">
                <a:solidFill>
                  <a:srgbClr val="C00000"/>
                </a:solidFill>
              </a:rPr>
              <a:t>整数</a:t>
            </a:r>
            <a:r>
              <a:rPr lang="zh-CN" altLang="en-US" dirty="0"/>
              <a:t>使用，如</a:t>
            </a:r>
            <a:endParaRPr lang="en-US" altLang="zh-CN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2200" b="1" dirty="0">
                <a:solidFill>
                  <a:srgbClr val="006600"/>
                </a:solidFill>
              </a:rPr>
              <a:t>可以用来做判断比较</a:t>
            </a:r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/>
              <a:t>if(</a:t>
            </a:r>
            <a:r>
              <a:rPr lang="en-US" altLang="zh-CN" dirty="0">
                <a:solidFill>
                  <a:srgbClr val="7030A0"/>
                </a:solidFill>
              </a:rPr>
              <a:t>workday</a:t>
            </a:r>
            <a:r>
              <a:rPr lang="en-US" altLang="zh-CN" dirty="0"/>
              <a:t>= =</a:t>
            </a:r>
            <a:r>
              <a:rPr lang="en-US" altLang="zh-CN" dirty="0" err="1">
                <a:solidFill>
                  <a:srgbClr val="030DCD"/>
                </a:solidFill>
              </a:rPr>
              <a:t>mon</a:t>
            </a:r>
            <a:r>
              <a:rPr lang="en-US" altLang="zh-CN" dirty="0"/>
              <a:t>)…</a:t>
            </a:r>
            <a:r>
              <a:rPr lang="zh-CN" altLang="en-US" dirty="0"/>
              <a:t>，</a:t>
            </a:r>
            <a:r>
              <a:rPr lang="en-US" altLang="zh-CN" dirty="0"/>
              <a:t>if(</a:t>
            </a:r>
            <a:r>
              <a:rPr lang="en-US" altLang="zh-CN" dirty="0">
                <a:solidFill>
                  <a:srgbClr val="7030A0"/>
                </a:solidFill>
              </a:rPr>
              <a:t>workday</a:t>
            </a:r>
            <a:r>
              <a:rPr lang="zh-CN" altLang="en-US" dirty="0"/>
              <a:t>＞</a:t>
            </a:r>
            <a:r>
              <a:rPr lang="en-US" altLang="zh-CN" dirty="0">
                <a:solidFill>
                  <a:srgbClr val="030DCD"/>
                </a:solidFill>
              </a:rPr>
              <a:t>sun</a:t>
            </a:r>
            <a:r>
              <a:rPr lang="en-US" altLang="zh-CN" dirty="0"/>
              <a:t>)…</a:t>
            </a:r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C00000"/>
                </a:solidFill>
              </a:rPr>
              <a:t>枚举值的</a:t>
            </a:r>
            <a:r>
              <a:rPr lang="zh-CN" altLang="en-US" b="1" u="sng" dirty="0">
                <a:solidFill>
                  <a:srgbClr val="C00000"/>
                </a:solidFill>
              </a:rPr>
              <a:t>比较规则</a:t>
            </a:r>
            <a:r>
              <a:rPr lang="zh-CN" altLang="en-US" dirty="0">
                <a:solidFill>
                  <a:srgbClr val="C00000"/>
                </a:solidFill>
              </a:rPr>
              <a:t>是按其在定义时的</a:t>
            </a:r>
            <a:r>
              <a:rPr lang="zh-CN" altLang="en-US" dirty="0">
                <a:solidFill>
                  <a:srgbClr val="030DCD"/>
                </a:solidFill>
              </a:rPr>
              <a:t>顺序号比较</a:t>
            </a:r>
            <a:r>
              <a:rPr lang="zh-CN" altLang="en-US" dirty="0"/>
              <a:t>。</a:t>
            </a:r>
            <a:endParaRPr lang="en-US" altLang="zh-CN" dirty="0"/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zh-CN" altLang="en-US" b="1" dirty="0"/>
              <a:t>如果定义时未人为指定，则第一个枚举元素的值认作</a:t>
            </a:r>
            <a:r>
              <a:rPr lang="en-US" altLang="zh-CN" b="1" dirty="0"/>
              <a:t>0</a:t>
            </a:r>
            <a:r>
              <a:rPr lang="zh-CN" altLang="en-US" b="1" dirty="0"/>
              <a:t>。</a:t>
            </a:r>
            <a:endParaRPr lang="en-US" altLang="zh-CN" b="1" dirty="0"/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/>
              <a:t>故</a:t>
            </a:r>
            <a:r>
              <a:rPr lang="en-US" altLang="zh-CN" dirty="0" err="1"/>
              <a:t>mon</a:t>
            </a:r>
            <a:r>
              <a:rPr lang="zh-CN" altLang="en-US" dirty="0"/>
              <a:t>大于</a:t>
            </a:r>
            <a:r>
              <a:rPr lang="en-US" altLang="zh-CN" dirty="0"/>
              <a:t>sun</a:t>
            </a:r>
            <a:r>
              <a:rPr lang="zh-CN" altLang="en-US" dirty="0"/>
              <a:t>，</a:t>
            </a:r>
            <a:r>
              <a:rPr lang="en-US" altLang="zh-CN" dirty="0"/>
              <a:t>sat</a:t>
            </a:r>
            <a:r>
              <a:rPr lang="zh-CN" altLang="en-US" dirty="0"/>
              <a:t>＞</a:t>
            </a:r>
            <a:r>
              <a:rPr lang="en-US" altLang="zh-CN" dirty="0" err="1"/>
              <a:t>fri</a:t>
            </a:r>
            <a:r>
              <a:rPr lang="zh-CN" altLang="en-US" dirty="0"/>
              <a:t>。</a:t>
            </a:r>
            <a:endParaRPr lang="en-US" altLang="zh-CN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2200" b="1" dirty="0">
                <a:solidFill>
                  <a:srgbClr val="006600"/>
                </a:solidFill>
              </a:rPr>
              <a:t>可以参加算术运算</a:t>
            </a:r>
            <a:endParaRPr lang="en-US" altLang="zh-CN" sz="2200" b="1" dirty="0">
              <a:solidFill>
                <a:srgbClr val="006600"/>
              </a:solidFill>
            </a:endParaRPr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 err="1"/>
              <a:t>int</a:t>
            </a:r>
            <a:r>
              <a:rPr lang="en-US" altLang="zh-CN" dirty="0"/>
              <a:t> a=workday+20;      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b="1" dirty="0" err="1">
                <a:solidFill>
                  <a:srgbClr val="006600"/>
                </a:solidFill>
              </a:rPr>
              <a:t>int</a:t>
            </a:r>
            <a:r>
              <a:rPr lang="en-US" altLang="zh-CN" b="1" dirty="0">
                <a:solidFill>
                  <a:srgbClr val="006600"/>
                </a:solidFill>
              </a:rPr>
              <a:t> </a:t>
            </a:r>
            <a:r>
              <a:rPr lang="en-US" altLang="zh-CN" b="1" dirty="0">
                <a:solidFill>
                  <a:srgbClr val="C00000"/>
                </a:solidFill>
              </a:rPr>
              <a:t>a[workday] </a:t>
            </a:r>
            <a:r>
              <a:rPr lang="zh-CN" altLang="en-US" b="1" dirty="0">
                <a:solidFill>
                  <a:srgbClr val="006600"/>
                </a:solidFill>
              </a:rPr>
              <a:t>也是允许的</a:t>
            </a:r>
            <a:r>
              <a:rPr lang="zh-CN" altLang="en-US" b="1" dirty="0"/>
              <a:t>；</a:t>
            </a:r>
            <a:endParaRPr lang="en-US" altLang="zh-CN" b="1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b="1" dirty="0">
                <a:solidFill>
                  <a:srgbClr val="030DCD"/>
                </a:solidFill>
              </a:rPr>
              <a:t>但</a:t>
            </a:r>
            <a:r>
              <a:rPr lang="en-US" altLang="zh-CN" b="1" dirty="0">
                <a:solidFill>
                  <a:srgbClr val="030DCD"/>
                </a:solidFill>
              </a:rPr>
              <a:t>workday=workday+5</a:t>
            </a:r>
            <a:r>
              <a:rPr lang="zh-CN" altLang="en-US" b="1" dirty="0">
                <a:solidFill>
                  <a:srgbClr val="030DCD"/>
                </a:solidFill>
              </a:rPr>
              <a:t>，或</a:t>
            </a:r>
            <a:r>
              <a:rPr lang="en-US" altLang="zh-CN" b="1" dirty="0">
                <a:solidFill>
                  <a:srgbClr val="030DCD"/>
                </a:solidFill>
              </a:rPr>
              <a:t>workday=</a:t>
            </a:r>
            <a:r>
              <a:rPr lang="en-US" altLang="zh-CN" b="1" dirty="0" err="1">
                <a:solidFill>
                  <a:srgbClr val="030DCD"/>
                </a:solidFill>
              </a:rPr>
              <a:t>workday+mon</a:t>
            </a:r>
            <a:r>
              <a:rPr lang="zh-CN" altLang="en-US" b="1" dirty="0">
                <a:solidFill>
                  <a:srgbClr val="030DCD"/>
                </a:solidFill>
              </a:rPr>
              <a:t>都是不允许的；</a:t>
            </a:r>
          </a:p>
        </p:txBody>
      </p:sp>
    </p:spTree>
    <p:extLst>
      <p:ext uri="{BB962C8B-B14F-4D97-AF65-F5344CB8AC3E}">
        <p14:creationId xmlns:p14="http://schemas.microsoft.com/office/powerpoint/2010/main" val="1215893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整型变量与枚举变量之间的赋值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一个整数不能</a:t>
            </a:r>
            <a:r>
              <a:rPr lang="zh-CN" altLang="en-US" sz="2000" dirty="0">
                <a:solidFill>
                  <a:srgbClr val="030DCD"/>
                </a:solidFill>
              </a:rPr>
              <a:t>直接</a:t>
            </a:r>
            <a:r>
              <a:rPr lang="zh-CN" altLang="en-US" sz="2000" dirty="0"/>
              <a:t>赋给一个</a:t>
            </a:r>
            <a:r>
              <a:rPr lang="zh-CN" altLang="en-US" sz="2000" b="1" dirty="0">
                <a:solidFill>
                  <a:srgbClr val="FF0000"/>
                </a:solidFill>
              </a:rPr>
              <a:t>枚举变量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如：</a:t>
            </a:r>
            <a:endParaRPr lang="en-US" altLang="zh-CN" sz="2000" dirty="0"/>
          </a:p>
          <a:p>
            <a:pPr marL="971550" lvl="1"/>
            <a:r>
              <a:rPr lang="zh-CN" altLang="en-US" sz="1800" dirty="0"/>
              <a:t>定义</a:t>
            </a:r>
            <a:r>
              <a:rPr lang="zh-CN" altLang="en-US" sz="1800" dirty="0">
                <a:solidFill>
                  <a:srgbClr val="C00000"/>
                </a:solidFill>
              </a:rPr>
              <a:t>枚举类型</a:t>
            </a:r>
            <a:r>
              <a:rPr lang="en-US" altLang="zh-CN" sz="1800" dirty="0" err="1">
                <a:solidFill>
                  <a:srgbClr val="030DCD"/>
                </a:solidFill>
              </a:rPr>
              <a:t>enum</a:t>
            </a:r>
            <a:r>
              <a:rPr lang="en-US" altLang="zh-CN" sz="1800" dirty="0">
                <a:solidFill>
                  <a:srgbClr val="030DCD"/>
                </a:solidFill>
              </a:rPr>
              <a:t> weekday </a:t>
            </a:r>
            <a:r>
              <a:rPr lang="en-US" altLang="zh-CN" sz="1800" dirty="0"/>
              <a:t>{</a:t>
            </a:r>
            <a:r>
              <a:rPr lang="en-US" altLang="zh-CN" sz="1800" dirty="0">
                <a:solidFill>
                  <a:srgbClr val="006600"/>
                </a:solidFill>
              </a:rPr>
              <a:t>sun</a:t>
            </a:r>
            <a:r>
              <a:rPr lang="zh-CN" altLang="en-US" sz="1800" dirty="0">
                <a:solidFill>
                  <a:srgbClr val="006600"/>
                </a:solidFill>
              </a:rPr>
              <a:t>，</a:t>
            </a:r>
            <a:r>
              <a:rPr lang="en-US" altLang="zh-CN" sz="1800" dirty="0">
                <a:solidFill>
                  <a:srgbClr val="006600"/>
                </a:solidFill>
              </a:rPr>
              <a:t>mon</a:t>
            </a:r>
            <a:r>
              <a:rPr lang="zh-CN" altLang="en-US" sz="1800" dirty="0">
                <a:solidFill>
                  <a:srgbClr val="006600"/>
                </a:solidFill>
              </a:rPr>
              <a:t>，</a:t>
            </a:r>
            <a:r>
              <a:rPr lang="en-US" altLang="zh-CN" sz="1800" dirty="0" err="1">
                <a:solidFill>
                  <a:srgbClr val="006600"/>
                </a:solidFill>
              </a:rPr>
              <a:t>tue</a:t>
            </a:r>
            <a:r>
              <a:rPr lang="zh-CN" altLang="en-US" sz="1800" dirty="0">
                <a:solidFill>
                  <a:srgbClr val="006600"/>
                </a:solidFill>
              </a:rPr>
              <a:t>，</a:t>
            </a:r>
            <a:r>
              <a:rPr lang="en-US" altLang="zh-CN" sz="1800" dirty="0">
                <a:solidFill>
                  <a:srgbClr val="006600"/>
                </a:solidFill>
              </a:rPr>
              <a:t>wed</a:t>
            </a:r>
            <a:r>
              <a:rPr lang="zh-CN" altLang="en-US" sz="1800" dirty="0">
                <a:solidFill>
                  <a:srgbClr val="006600"/>
                </a:solidFill>
              </a:rPr>
              <a:t>，</a:t>
            </a:r>
            <a:r>
              <a:rPr lang="en-US" altLang="zh-CN" sz="1800" dirty="0" err="1">
                <a:solidFill>
                  <a:srgbClr val="006600"/>
                </a:solidFill>
              </a:rPr>
              <a:t>thu</a:t>
            </a:r>
            <a:r>
              <a:rPr lang="zh-CN" altLang="en-US" sz="1800" dirty="0">
                <a:solidFill>
                  <a:srgbClr val="006600"/>
                </a:solidFill>
              </a:rPr>
              <a:t>，</a:t>
            </a:r>
            <a:r>
              <a:rPr lang="en-US" altLang="zh-CN" sz="1800" dirty="0" err="1">
                <a:solidFill>
                  <a:srgbClr val="006600"/>
                </a:solidFill>
              </a:rPr>
              <a:t>fri</a:t>
            </a:r>
            <a:r>
              <a:rPr lang="zh-CN" altLang="en-US" sz="1800" dirty="0">
                <a:solidFill>
                  <a:srgbClr val="006600"/>
                </a:solidFill>
              </a:rPr>
              <a:t>，</a:t>
            </a:r>
            <a:r>
              <a:rPr lang="en-US" altLang="zh-CN" sz="1800" dirty="0">
                <a:solidFill>
                  <a:srgbClr val="006600"/>
                </a:solidFill>
              </a:rPr>
              <a:t>sat</a:t>
            </a:r>
            <a:r>
              <a:rPr lang="en-US" altLang="zh-CN" sz="1800" dirty="0"/>
              <a:t>};</a:t>
            </a:r>
          </a:p>
          <a:p>
            <a:pPr marL="971550" lvl="1"/>
            <a:r>
              <a:rPr lang="zh-CN" altLang="en-US" sz="1800" dirty="0"/>
              <a:t>定义</a:t>
            </a:r>
            <a:r>
              <a:rPr lang="zh-CN" altLang="en-US" sz="1800" dirty="0">
                <a:solidFill>
                  <a:srgbClr val="C00000"/>
                </a:solidFill>
              </a:rPr>
              <a:t>枚举类型变量 </a:t>
            </a:r>
            <a:r>
              <a:rPr lang="en-US" altLang="zh-CN" sz="1800" dirty="0" err="1">
                <a:solidFill>
                  <a:srgbClr val="030DCD"/>
                </a:solidFill>
              </a:rPr>
              <a:t>enum</a:t>
            </a:r>
            <a:r>
              <a:rPr lang="zh-CN" altLang="en-US" sz="1800" dirty="0">
                <a:solidFill>
                  <a:srgbClr val="030DCD"/>
                </a:solidFill>
              </a:rPr>
              <a:t> </a:t>
            </a:r>
            <a:r>
              <a:rPr lang="en-US" altLang="zh-CN" sz="1800" dirty="0">
                <a:solidFill>
                  <a:srgbClr val="030DCD"/>
                </a:solidFill>
              </a:rPr>
              <a:t>weekday</a:t>
            </a:r>
            <a:r>
              <a:rPr lang="zh-CN" altLang="en-US" sz="1800" dirty="0">
                <a:solidFill>
                  <a:srgbClr val="030DCD"/>
                </a:solidFill>
              </a:rPr>
              <a:t> </a:t>
            </a:r>
            <a:r>
              <a:rPr lang="en-US" altLang="zh-CN" sz="1800" dirty="0">
                <a:solidFill>
                  <a:srgbClr val="006600"/>
                </a:solidFill>
              </a:rPr>
              <a:t>workday</a:t>
            </a:r>
            <a:r>
              <a:rPr lang="en-US" altLang="zh-CN" sz="1800" dirty="0"/>
              <a:t>, </a:t>
            </a:r>
            <a:r>
              <a:rPr lang="en-US" altLang="zh-CN" sz="1800" dirty="0">
                <a:solidFill>
                  <a:srgbClr val="006600"/>
                </a:solidFill>
              </a:rPr>
              <a:t>week-end</a:t>
            </a:r>
            <a:r>
              <a:rPr lang="en-US" altLang="zh-CN" sz="1800" dirty="0"/>
              <a:t>;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</a:rPr>
              <a:t>尽管可以把</a:t>
            </a:r>
            <a:r>
              <a:rPr lang="zh-CN" altLang="en-US" sz="2000" b="1" dirty="0">
                <a:solidFill>
                  <a:srgbClr val="0000CC"/>
                </a:solidFill>
              </a:rPr>
              <a:t>枚举变量</a:t>
            </a:r>
            <a:r>
              <a:rPr lang="zh-CN" altLang="en-US" sz="2000" b="1" dirty="0">
                <a:solidFill>
                  <a:srgbClr val="C00000"/>
                </a:solidFill>
              </a:rPr>
              <a:t>的值（</a:t>
            </a:r>
            <a:r>
              <a:rPr lang="zh-CN" altLang="en-US" sz="2000" b="1" dirty="0">
                <a:solidFill>
                  <a:srgbClr val="006600"/>
                </a:solidFill>
              </a:rPr>
              <a:t>存储的枚举元素的序号</a:t>
            </a:r>
            <a:r>
              <a:rPr lang="zh-CN" altLang="en-US" sz="2000" b="1" dirty="0">
                <a:solidFill>
                  <a:srgbClr val="C00000"/>
                </a:solidFill>
              </a:rPr>
              <a:t>）当做整数来看待，但不能给</a:t>
            </a:r>
            <a:r>
              <a:rPr lang="zh-CN" altLang="en-US" sz="2000" b="1" dirty="0">
                <a:solidFill>
                  <a:srgbClr val="006600"/>
                </a:solidFill>
              </a:rPr>
              <a:t>枚举变量</a:t>
            </a:r>
            <a:r>
              <a:rPr lang="zh-CN" altLang="en-US" sz="2000" dirty="0"/>
              <a:t>直接</a:t>
            </a:r>
            <a:r>
              <a:rPr lang="zh-CN" altLang="en-US" sz="2000" b="1" dirty="0">
                <a:solidFill>
                  <a:srgbClr val="C00000"/>
                </a:solidFill>
              </a:rPr>
              <a:t>赋整数</a:t>
            </a:r>
            <a:endParaRPr lang="zh-CN" altLang="en-US" sz="2000" dirty="0"/>
          </a:p>
          <a:p>
            <a:pPr marL="971550" lvl="1"/>
            <a:r>
              <a:rPr lang="zh-CN" altLang="en-US" sz="1800" dirty="0">
                <a:solidFill>
                  <a:srgbClr val="030DCD"/>
                </a:solidFill>
              </a:rPr>
              <a:t>如 </a:t>
            </a:r>
            <a:r>
              <a:rPr lang="en-US" altLang="zh-CN" sz="1800" dirty="0">
                <a:solidFill>
                  <a:srgbClr val="030DCD"/>
                </a:solidFill>
              </a:rPr>
              <a:t>workday=2</a:t>
            </a:r>
            <a:r>
              <a:rPr lang="zh-CN" altLang="en-US" sz="1800" dirty="0">
                <a:solidFill>
                  <a:srgbClr val="030DCD"/>
                </a:solidFill>
              </a:rPr>
              <a:t>；是不允许的；</a:t>
            </a:r>
            <a:r>
              <a:rPr lang="en-US" altLang="zh-CN" sz="1800" dirty="0">
                <a:solidFill>
                  <a:srgbClr val="030DCD"/>
                </a:solidFill>
              </a:rPr>
              <a:t>// workday</a:t>
            </a:r>
            <a:r>
              <a:rPr lang="zh-CN" altLang="en-US" sz="1800" dirty="0">
                <a:solidFill>
                  <a:srgbClr val="030DCD"/>
                </a:solidFill>
              </a:rPr>
              <a:t>是一个枚举变量；</a:t>
            </a:r>
            <a:endParaRPr lang="en-US" altLang="zh-CN" sz="1800" dirty="0">
              <a:solidFill>
                <a:srgbClr val="030DCD"/>
              </a:solidFill>
            </a:endParaRPr>
          </a:p>
          <a:p>
            <a:pPr marL="1200150" lvl="2"/>
            <a:r>
              <a:rPr lang="zh-CN" altLang="en-US" sz="1600" b="1" dirty="0"/>
              <a:t>引入枚举类型的目的就是防止出现错误赋值；</a:t>
            </a:r>
            <a:endParaRPr lang="en-US" altLang="zh-CN" sz="1600" b="1" dirty="0"/>
          </a:p>
          <a:p>
            <a:pPr marL="1200150" lvl="2"/>
            <a:r>
              <a:rPr lang="zh-CN" altLang="en-US" sz="1600" b="1" dirty="0"/>
              <a:t>枚举变量的取值限定为枚举元素；</a:t>
            </a:r>
            <a:endParaRPr lang="en-US" altLang="zh-CN" sz="1600" b="1" dirty="0"/>
          </a:p>
          <a:p>
            <a:pPr marL="971550" lvl="1"/>
            <a:r>
              <a:rPr lang="en-US" altLang="zh-CN" sz="1800" dirty="0"/>
              <a:t>workday=wed</a:t>
            </a:r>
            <a:r>
              <a:rPr lang="zh-CN" altLang="en-US" sz="1800" dirty="0"/>
              <a:t>； </a:t>
            </a:r>
            <a:r>
              <a:rPr lang="en-US" altLang="zh-CN" sz="1800" dirty="0"/>
              <a:t>// workday</a:t>
            </a:r>
            <a:r>
              <a:rPr lang="zh-CN" altLang="en-US" sz="1800" dirty="0"/>
              <a:t>的值可以视为</a:t>
            </a:r>
            <a:r>
              <a:rPr lang="en-US" altLang="zh-CN" sz="1800" dirty="0"/>
              <a:t>3;</a:t>
            </a:r>
          </a:p>
          <a:p>
            <a:pPr marL="971550" lvl="1"/>
            <a:r>
              <a:rPr lang="en-US" altLang="zh-CN" sz="1800" dirty="0"/>
              <a:t>int k= workday+2;   //</a:t>
            </a:r>
            <a:r>
              <a:rPr lang="zh-CN" altLang="en-US" sz="1800" dirty="0">
                <a:solidFill>
                  <a:srgbClr val="030DCD"/>
                </a:solidFill>
              </a:rPr>
              <a:t>允许</a:t>
            </a:r>
            <a:r>
              <a:rPr lang="en-US" altLang="zh-CN" sz="1800" dirty="0">
                <a:solidFill>
                  <a:srgbClr val="030DCD"/>
                </a:solidFill>
              </a:rPr>
              <a:t>, </a:t>
            </a:r>
            <a:r>
              <a:rPr lang="zh-CN" altLang="en-US" sz="1800" dirty="0"/>
              <a:t>且</a:t>
            </a:r>
            <a:r>
              <a:rPr lang="en-US" altLang="zh-CN" sz="1800" dirty="0"/>
              <a:t>k</a:t>
            </a:r>
            <a:r>
              <a:rPr lang="zh-CN" altLang="en-US" sz="1800" dirty="0"/>
              <a:t>的值是</a:t>
            </a:r>
            <a:r>
              <a:rPr lang="en-US" altLang="zh-CN" sz="1800" dirty="0"/>
              <a:t>5</a:t>
            </a:r>
            <a:r>
              <a:rPr lang="zh-CN" altLang="en-US" sz="1800" dirty="0"/>
              <a:t>；</a:t>
            </a:r>
            <a:r>
              <a:rPr lang="en-US" altLang="zh-CN" sz="1800" dirty="0"/>
              <a:t> 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15307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整型变量与枚举变量之间的赋值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一个整数不能</a:t>
            </a:r>
            <a:r>
              <a:rPr lang="zh-CN" altLang="en-US" sz="2000" dirty="0">
                <a:solidFill>
                  <a:srgbClr val="030DCD"/>
                </a:solidFill>
              </a:rPr>
              <a:t>直接</a:t>
            </a:r>
            <a:r>
              <a:rPr lang="zh-CN" altLang="en-US" sz="2000" dirty="0"/>
              <a:t>赋给一个枚举变量。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可以</a:t>
            </a:r>
            <a:r>
              <a:rPr lang="zh-CN" altLang="en-US" sz="2000" b="1" dirty="0">
                <a:solidFill>
                  <a:srgbClr val="C00000"/>
                </a:solidFill>
              </a:rPr>
              <a:t>采用强制类型转换</a:t>
            </a:r>
            <a:r>
              <a:rPr lang="zh-CN" altLang="en-US" sz="2000" dirty="0"/>
              <a:t>进行赋值。如：</a:t>
            </a:r>
          </a:p>
          <a:p>
            <a:pPr marL="971550" lvl="1"/>
            <a:r>
              <a:rPr lang="en-US" altLang="zh-CN" sz="1800" dirty="0"/>
              <a:t>workday=(</a:t>
            </a:r>
            <a:r>
              <a:rPr lang="en-US" altLang="zh-CN" sz="1800" dirty="0" err="1"/>
              <a:t>enum</a:t>
            </a:r>
            <a:r>
              <a:rPr lang="zh-CN" altLang="en-US" sz="1800" dirty="0"/>
              <a:t>  </a:t>
            </a:r>
            <a:r>
              <a:rPr lang="en-US" altLang="zh-CN" sz="1800" dirty="0"/>
              <a:t>weekday)2</a:t>
            </a:r>
            <a:r>
              <a:rPr lang="zh-CN" altLang="en-US" sz="1800" dirty="0"/>
              <a:t>；        </a:t>
            </a:r>
            <a:r>
              <a:rPr lang="en-US" altLang="zh-CN" sz="1800" dirty="0"/>
              <a:t>//</a:t>
            </a:r>
            <a:r>
              <a:rPr lang="zh-CN" altLang="en-US" sz="1800" dirty="0"/>
              <a:t>允许</a:t>
            </a:r>
            <a:endParaRPr lang="en-US" altLang="zh-CN" sz="1800" dirty="0"/>
          </a:p>
          <a:p>
            <a:pPr marL="971550" lvl="1"/>
            <a:r>
              <a:rPr lang="en-US" altLang="zh-CN" sz="1800" dirty="0"/>
              <a:t>workday=(</a:t>
            </a:r>
            <a:r>
              <a:rPr lang="en-US" altLang="zh-CN" sz="1800" dirty="0" err="1"/>
              <a:t>enum</a:t>
            </a:r>
            <a:r>
              <a:rPr lang="en-US" altLang="zh-CN" sz="1800" dirty="0"/>
              <a:t>  weekday)(5-3)</a:t>
            </a:r>
            <a:r>
              <a:rPr lang="zh-CN" altLang="en-US" sz="1800" dirty="0"/>
              <a:t>；   </a:t>
            </a:r>
            <a:r>
              <a:rPr lang="en-US" altLang="zh-CN" sz="1800" dirty="0"/>
              <a:t>//</a:t>
            </a:r>
            <a:r>
              <a:rPr lang="zh-CN" altLang="en-US" sz="1800" dirty="0"/>
              <a:t>允许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相当于将顺序号为</a:t>
            </a:r>
            <a:r>
              <a:rPr lang="en-US" altLang="zh-CN" sz="1800" dirty="0"/>
              <a:t>2</a:t>
            </a:r>
            <a:r>
              <a:rPr lang="zh-CN" altLang="en-US" sz="1800" dirty="0"/>
              <a:t>的枚举元素赋给</a:t>
            </a:r>
            <a:r>
              <a:rPr lang="en-US" altLang="zh-CN" sz="1800" dirty="0"/>
              <a:t>workday</a:t>
            </a:r>
            <a:r>
              <a:rPr lang="zh-CN" altLang="en-US" sz="1800" dirty="0"/>
              <a:t>，即</a:t>
            </a:r>
            <a:r>
              <a:rPr lang="en-US" altLang="zh-CN" sz="1800" dirty="0"/>
              <a:t>workday=</a:t>
            </a:r>
            <a:r>
              <a:rPr lang="en-US" altLang="zh-CN" sz="1800" dirty="0" err="1"/>
              <a:t>tue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971550" lvl="1"/>
            <a:r>
              <a:rPr lang="zh-CN" altLang="en-US" sz="1800" b="1" dirty="0"/>
              <a:t>注：采用强制类型转换将一个整数赋予一个枚举变量时，</a:t>
            </a:r>
            <a:r>
              <a:rPr lang="en-US" altLang="zh-CN" sz="1800" b="1" dirty="0"/>
              <a:t> </a:t>
            </a:r>
            <a:r>
              <a:rPr lang="zh-CN" altLang="en-US" sz="1800" b="1" dirty="0"/>
              <a:t>应该注意枚举变量的取值范；</a:t>
            </a:r>
            <a:endParaRPr lang="en-US" altLang="zh-CN" sz="1800" b="1" dirty="0"/>
          </a:p>
          <a:p>
            <a:pPr marL="1200150" lvl="2"/>
            <a:r>
              <a:rPr lang="zh-CN" altLang="en-US" sz="1800" b="1" dirty="0">
                <a:solidFill>
                  <a:srgbClr val="030DCD"/>
                </a:solidFill>
              </a:rPr>
              <a:t>如 </a:t>
            </a:r>
            <a:r>
              <a:rPr lang="en-US" altLang="zh-CN" sz="1800" b="1" dirty="0">
                <a:solidFill>
                  <a:srgbClr val="030DCD"/>
                </a:solidFill>
              </a:rPr>
              <a:t>workday=(</a:t>
            </a:r>
            <a:r>
              <a:rPr lang="en-US" altLang="zh-CN" sz="1800" b="1" dirty="0" err="1">
                <a:solidFill>
                  <a:srgbClr val="030DCD"/>
                </a:solidFill>
              </a:rPr>
              <a:t>enum</a:t>
            </a:r>
            <a:r>
              <a:rPr lang="en-US" altLang="zh-CN" sz="1800" b="1" dirty="0">
                <a:solidFill>
                  <a:srgbClr val="030DCD"/>
                </a:solidFill>
              </a:rPr>
              <a:t>  weekday)100</a:t>
            </a:r>
            <a:r>
              <a:rPr lang="zh-CN" altLang="en-US" sz="1800" b="1" dirty="0">
                <a:solidFill>
                  <a:srgbClr val="030DCD"/>
                </a:solidFill>
              </a:rPr>
              <a:t>，有的编译器并不报错，但不合常理；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2090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枚举变量作为循环变量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有的编译器不支持枚举变量的自增操作；</a:t>
            </a:r>
            <a:endParaRPr lang="en-US" altLang="zh-CN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 err="1"/>
              <a:t>enum</a:t>
            </a:r>
            <a:r>
              <a:rPr lang="en-US" altLang="zh-CN" dirty="0"/>
              <a:t> </a:t>
            </a:r>
            <a:r>
              <a:rPr lang="en-US" altLang="zh-CN" dirty="0" err="1"/>
              <a:t>Clolor</a:t>
            </a:r>
            <a:r>
              <a:rPr lang="en-US" altLang="zh-CN" dirty="0"/>
              <a:t> {red, yellow, blue, green, black}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 err="1"/>
              <a:t>enum</a:t>
            </a:r>
            <a:r>
              <a:rPr lang="en-US" altLang="zh-CN" dirty="0"/>
              <a:t> Color ball;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endParaRPr lang="en-US" altLang="zh-CN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/>
              <a:t>ball++</a:t>
            </a:r>
            <a:r>
              <a:rPr lang="zh-CN" altLang="en-US" dirty="0"/>
              <a:t>；   </a:t>
            </a:r>
            <a:r>
              <a:rPr lang="en-US" altLang="zh-CN" dirty="0"/>
              <a:t>//</a:t>
            </a:r>
            <a:r>
              <a:rPr lang="zh-CN" altLang="en-US" dirty="0"/>
              <a:t>大部分的编译器版本不支持</a:t>
            </a:r>
            <a:endParaRPr lang="en-US" altLang="zh-CN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/>
              <a:t>ball = (</a:t>
            </a:r>
            <a:r>
              <a:rPr lang="en-US" altLang="zh-CN" b="1" dirty="0" err="1">
                <a:solidFill>
                  <a:srgbClr val="FF0000"/>
                </a:solidFill>
              </a:rPr>
              <a:t>enum</a:t>
            </a:r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</a:rPr>
              <a:t>Clolor</a:t>
            </a:r>
            <a:r>
              <a:rPr lang="en-US" altLang="zh-CN" dirty="0"/>
              <a:t>) (ball+1);    //</a:t>
            </a:r>
            <a:r>
              <a:rPr lang="zh-CN" altLang="en-US" dirty="0"/>
              <a:t>一般的编译器都支持</a:t>
            </a:r>
            <a:endParaRPr lang="en-US" altLang="zh-CN" dirty="0"/>
          </a:p>
          <a:p>
            <a:pPr lvl="2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dirty="0">
                <a:solidFill>
                  <a:srgbClr val="030DCD"/>
                </a:solidFill>
              </a:rPr>
              <a:t>for (ball=red; ball&lt;=black;  </a:t>
            </a:r>
            <a:r>
              <a:rPr lang="en-US" altLang="zh-CN" dirty="0">
                <a:solidFill>
                  <a:srgbClr val="006600"/>
                </a:solidFill>
              </a:rPr>
              <a:t>ball=</a:t>
            </a:r>
            <a:r>
              <a:rPr lang="en-US" altLang="zh-CN" dirty="0">
                <a:solidFill>
                  <a:srgbClr val="C00000"/>
                </a:solidFill>
              </a:rPr>
              <a:t>(</a:t>
            </a:r>
            <a:r>
              <a:rPr lang="en-US" altLang="zh-CN" dirty="0" err="1">
                <a:solidFill>
                  <a:srgbClr val="C00000"/>
                </a:solidFill>
              </a:rPr>
              <a:t>enum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err="1">
                <a:solidFill>
                  <a:srgbClr val="C00000"/>
                </a:solidFill>
              </a:rPr>
              <a:t>Clolor</a:t>
            </a:r>
            <a:r>
              <a:rPr lang="en-US" altLang="zh-CN" dirty="0">
                <a:solidFill>
                  <a:srgbClr val="C00000"/>
                </a:solidFill>
              </a:rPr>
              <a:t>) (ball+1)</a:t>
            </a:r>
            <a:r>
              <a:rPr lang="en-US" altLang="zh-CN" dirty="0">
                <a:solidFill>
                  <a:srgbClr val="030DCD"/>
                </a:solidFill>
              </a:rPr>
              <a:t>) </a:t>
            </a:r>
          </a:p>
          <a:p>
            <a:pPr lvl="2" indent="0">
              <a:buNone/>
            </a:pPr>
            <a:r>
              <a:rPr lang="en-US" altLang="zh-CN" dirty="0"/>
              <a:t>{</a:t>
            </a:r>
          </a:p>
          <a:p>
            <a:pPr lvl="2" indent="0">
              <a:buNone/>
            </a:pPr>
            <a:r>
              <a:rPr lang="en-US" altLang="zh-CN" dirty="0"/>
              <a:t>      //ball</a:t>
            </a:r>
            <a:r>
              <a:rPr lang="zh-CN" altLang="en-US" dirty="0"/>
              <a:t>可当做</a:t>
            </a:r>
            <a:r>
              <a:rPr lang="zh-CN" altLang="en-US" b="1" dirty="0">
                <a:solidFill>
                  <a:srgbClr val="C00000"/>
                </a:solidFill>
              </a:rPr>
              <a:t>整数常量</a:t>
            </a:r>
            <a:r>
              <a:rPr lang="zh-CN" altLang="en-US" dirty="0"/>
              <a:t>使用；</a:t>
            </a:r>
            <a:endParaRPr lang="en-US" altLang="zh-CN" dirty="0"/>
          </a:p>
          <a:p>
            <a:pPr lvl="2" indent="0">
              <a:buNone/>
            </a:pPr>
            <a:r>
              <a:rPr lang="en-US" altLang="zh-CN" dirty="0"/>
              <a:t>      //</a:t>
            </a:r>
            <a:r>
              <a:rPr lang="zh-CN" altLang="en-US" dirty="0"/>
              <a:t>可以访问，不允许赋予整数；</a:t>
            </a:r>
            <a:endParaRPr lang="en-US" altLang="zh-CN" dirty="0"/>
          </a:p>
          <a:p>
            <a:pPr lvl="2" indent="0">
              <a:buNone/>
            </a:pPr>
            <a:endParaRPr lang="en-US" altLang="zh-CN" dirty="0"/>
          </a:p>
          <a:p>
            <a:pPr lvl="2" indent="0">
              <a:buNone/>
            </a:pPr>
            <a:r>
              <a:rPr lang="en-US" altLang="zh-CN" dirty="0"/>
              <a:t>     //</a:t>
            </a:r>
            <a:r>
              <a:rPr lang="zh-CN" altLang="en-US" dirty="0"/>
              <a:t>通常在</a:t>
            </a:r>
            <a:r>
              <a:rPr lang="en-US" altLang="zh-CN"/>
              <a:t>switch(ball)</a:t>
            </a:r>
            <a:r>
              <a:rPr lang="zh-CN" altLang="en-US" dirty="0"/>
              <a:t>语句中使用；</a:t>
            </a:r>
            <a:endParaRPr lang="en-US" altLang="zh-CN" dirty="0"/>
          </a:p>
          <a:p>
            <a:pPr lvl="2" indent="0">
              <a:buNone/>
            </a:pPr>
            <a:r>
              <a:rPr lang="en-US" altLang="zh-CN" dirty="0"/>
              <a:t>}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61491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小结：关于枚举元素、枚举变量的引用与赋值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枚举元素是常量，称为枚举常量</a:t>
            </a:r>
            <a:endParaRPr lang="en-US" altLang="zh-CN" dirty="0"/>
          </a:p>
          <a:p>
            <a:pPr marL="971550" lvl="1"/>
            <a:r>
              <a:rPr lang="zh-CN" altLang="en-US" dirty="0"/>
              <a:t>可以引用；</a:t>
            </a:r>
            <a:endParaRPr lang="en-US" altLang="zh-CN" dirty="0"/>
          </a:p>
          <a:p>
            <a:pPr marL="1200150" lvl="2"/>
            <a:r>
              <a:rPr lang="zh-CN" altLang="en-US" sz="1800" dirty="0"/>
              <a:t>将枚举元素定义时所赋的值作为一个整数来使用；</a:t>
            </a:r>
            <a:endParaRPr lang="en-US" altLang="zh-CN" sz="1800" dirty="0"/>
          </a:p>
          <a:p>
            <a:pPr marL="1200150" lvl="2"/>
            <a:r>
              <a:rPr lang="zh-CN" altLang="en-US" sz="1800" dirty="0"/>
              <a:t>可以参与算术运算，比较大小，作为数组下标等；</a:t>
            </a:r>
            <a:endParaRPr lang="en-US" altLang="zh-CN" sz="1800" dirty="0"/>
          </a:p>
          <a:p>
            <a:pPr marL="971550" lvl="1"/>
            <a:r>
              <a:rPr lang="zh-CN" altLang="en-US" dirty="0"/>
              <a:t>不能赋值；（不能给常量赋值）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可以给枚举变量赋予枚举元素；</a:t>
            </a:r>
            <a:endParaRPr lang="en-US" altLang="zh-CN" dirty="0"/>
          </a:p>
          <a:p>
            <a:pPr marL="971550" lvl="1"/>
            <a:r>
              <a:rPr lang="zh-CN" altLang="en-US" dirty="0"/>
              <a:t>理论上，枚举变量的取值限定为枚举元素；（引入枚举类型的目的，防止错误赋值）</a:t>
            </a:r>
            <a:endParaRPr lang="en-US" altLang="zh-CN" dirty="0"/>
          </a:p>
          <a:p>
            <a:pPr marL="971550" lvl="1"/>
            <a:r>
              <a:rPr lang="zh-CN" altLang="en-US" dirty="0"/>
              <a:t>不能将一个整数直接给枚举变量（违背了引入枚举类型的初衷）</a:t>
            </a:r>
            <a:endParaRPr lang="en-US" altLang="zh-CN" dirty="0"/>
          </a:p>
          <a:p>
            <a:pPr marL="1200150" lvl="2"/>
            <a:r>
              <a:rPr lang="zh-CN" altLang="en-US" sz="1800" dirty="0"/>
              <a:t>也包括不能将一个算术表达式的值直接赋给一个枚举变量；</a:t>
            </a:r>
            <a:endParaRPr lang="en-US" altLang="zh-CN" sz="1800" dirty="0"/>
          </a:p>
          <a:p>
            <a:pPr marL="971550" lvl="1"/>
            <a:r>
              <a:rPr lang="zh-CN" altLang="en-US" dirty="0"/>
              <a:t>可以将一个整数进行强制类型转换为枚举常量，然后赋予枚举变量；（注意不要超出枚举常量的值的范围）</a:t>
            </a:r>
            <a:endParaRPr lang="en-US" altLang="zh-CN" dirty="0"/>
          </a:p>
          <a:p>
            <a:pPr marL="1200150" lvl="2"/>
            <a:r>
              <a:rPr lang="zh-CN" altLang="en-US" sz="1800" dirty="0"/>
              <a:t>强制类型转换一般用来将枚举变量作为循环变量时，对循环变量进行增量；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64148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枚举类型</a:t>
            </a:r>
            <a:r>
              <a:rPr lang="en-US" altLang="zh-CN" dirty="0"/>
              <a:t>--</a:t>
            </a:r>
            <a:r>
              <a:rPr lang="zh-CN" altLang="en-US" dirty="0"/>
              <a:t>例</a:t>
            </a:r>
            <a:r>
              <a:rPr lang="en-US" altLang="zh-CN" dirty="0"/>
              <a:t>—</a:t>
            </a:r>
            <a:r>
              <a:rPr lang="zh-CN" altLang="en-US" dirty="0"/>
              <a:t>取三个不同色的球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口袋中有红、黄、蓝、白、黑</a:t>
            </a:r>
            <a:r>
              <a:rPr lang="en-US" altLang="zh-CN" dirty="0"/>
              <a:t>5</a:t>
            </a:r>
            <a:r>
              <a:rPr lang="zh-CN" altLang="en-US" dirty="0"/>
              <a:t>种颜色的球若干个；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每次从口袋中先后取出</a:t>
            </a:r>
            <a:r>
              <a:rPr lang="en-US" altLang="zh-CN" dirty="0"/>
              <a:t>3</a:t>
            </a:r>
            <a:r>
              <a:rPr lang="zh-CN" altLang="en-US" dirty="0"/>
              <a:t>个球，问得到</a:t>
            </a:r>
            <a:r>
              <a:rPr lang="en-US" altLang="zh-CN" dirty="0"/>
              <a:t>3</a:t>
            </a:r>
            <a:r>
              <a:rPr lang="zh-CN" altLang="en-US" dirty="0"/>
              <a:t>种不同色的球的可能取法，输出每种排列的情况；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球只能是</a:t>
            </a:r>
            <a:r>
              <a:rPr lang="en-US" altLang="zh-CN" dirty="0"/>
              <a:t>5</a:t>
            </a:r>
            <a:r>
              <a:rPr lang="zh-CN" altLang="en-US" dirty="0"/>
              <a:t>种色之一，而且要判断各球是否同色，可以用枚举类型变量处理。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设取出的球为</a:t>
            </a:r>
            <a:r>
              <a:rPr lang="en-US" altLang="zh-CN" dirty="0" err="1"/>
              <a:t>i</a:t>
            </a:r>
            <a:r>
              <a:rPr lang="zh-CN" altLang="en-US" dirty="0"/>
              <a:t>、</a:t>
            </a:r>
            <a:r>
              <a:rPr lang="en-US" altLang="zh-CN" dirty="0"/>
              <a:t>j</a:t>
            </a:r>
            <a:r>
              <a:rPr lang="zh-CN" altLang="en-US" dirty="0"/>
              <a:t>、</a:t>
            </a:r>
            <a:r>
              <a:rPr lang="en-US" altLang="zh-CN" dirty="0"/>
              <a:t>k</a:t>
            </a:r>
            <a:r>
              <a:rPr lang="zh-CN" altLang="en-US" dirty="0"/>
              <a:t>；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根据题意，</a:t>
            </a:r>
            <a:r>
              <a:rPr lang="en-US" altLang="zh-CN" dirty="0" err="1"/>
              <a:t>i</a:t>
            </a:r>
            <a:r>
              <a:rPr lang="zh-CN" altLang="en-US" dirty="0"/>
              <a:t>、</a:t>
            </a:r>
            <a:r>
              <a:rPr lang="en-US" altLang="zh-CN" dirty="0"/>
              <a:t>j</a:t>
            </a:r>
            <a:r>
              <a:rPr lang="zh-CN" altLang="en-US" dirty="0"/>
              <a:t>、</a:t>
            </a:r>
            <a:r>
              <a:rPr lang="en-US" altLang="zh-CN" dirty="0"/>
              <a:t>k</a:t>
            </a:r>
            <a:r>
              <a:rPr lang="zh-CN" altLang="en-US" dirty="0"/>
              <a:t>分别是</a:t>
            </a:r>
            <a:r>
              <a:rPr lang="en-US" altLang="zh-CN" dirty="0"/>
              <a:t>5</a:t>
            </a:r>
            <a:r>
              <a:rPr lang="zh-CN" altLang="en-US" dirty="0"/>
              <a:t>种色球之一，并要求</a:t>
            </a:r>
            <a:r>
              <a:rPr lang="en-US" altLang="zh-CN" dirty="0" err="1"/>
              <a:t>i≠j≠k</a:t>
            </a:r>
            <a:r>
              <a:rPr lang="zh-CN" altLang="en-US" dirty="0"/>
              <a:t>。可以用穷举法，即穷举所有可能的取法，看哪一组符合条件；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25117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枚举类型</a:t>
            </a:r>
            <a:r>
              <a:rPr lang="en-US" altLang="zh-CN" dirty="0"/>
              <a:t>--</a:t>
            </a:r>
            <a:r>
              <a:rPr lang="zh-CN" altLang="en-US" dirty="0"/>
              <a:t>例</a:t>
            </a:r>
            <a:r>
              <a:rPr lang="en-US" altLang="zh-CN" dirty="0"/>
              <a:t>—</a:t>
            </a:r>
            <a:r>
              <a:rPr lang="zh-CN" altLang="en-US" dirty="0"/>
              <a:t>取三个不同色的球</a:t>
            </a:r>
            <a:r>
              <a:rPr lang="en-US" altLang="zh-CN" dirty="0"/>
              <a:t>-</a:t>
            </a:r>
            <a:r>
              <a:rPr lang="zh-CN" altLang="en-US" dirty="0"/>
              <a:t>参考代码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1" indent="0">
              <a:buNone/>
            </a:pPr>
            <a:r>
              <a:rPr lang="en-US" altLang="zh-CN" sz="1800" dirty="0" err="1">
                <a:solidFill>
                  <a:srgbClr val="030DCD"/>
                </a:solidFill>
              </a:rPr>
              <a:t>enum</a:t>
            </a:r>
            <a:r>
              <a:rPr lang="en-US" altLang="zh-CN" sz="1800" dirty="0">
                <a:solidFill>
                  <a:srgbClr val="030DCD"/>
                </a:solidFill>
              </a:rPr>
              <a:t> color {</a:t>
            </a:r>
            <a:r>
              <a:rPr lang="en-US" altLang="zh-CN" sz="1800" dirty="0" err="1">
                <a:solidFill>
                  <a:srgbClr val="030DCD"/>
                </a:solidFill>
              </a:rPr>
              <a:t>red,yellow,blue,white,black</a:t>
            </a:r>
            <a:r>
              <a:rPr lang="en-US" altLang="zh-CN" sz="1800" dirty="0">
                <a:solidFill>
                  <a:srgbClr val="030DCD"/>
                </a:solidFill>
              </a:rPr>
              <a:t>};</a:t>
            </a:r>
          </a:p>
          <a:p>
            <a:pPr marL="285750" lvl="1" indent="0">
              <a:buNone/>
            </a:pPr>
            <a:r>
              <a:rPr lang="en-US" altLang="zh-CN" sz="1800" dirty="0">
                <a:solidFill>
                  <a:srgbClr val="030DCD"/>
                </a:solidFill>
              </a:rPr>
              <a:t>color</a:t>
            </a:r>
            <a:r>
              <a:rPr lang="en-US" altLang="zh-CN" sz="1800" dirty="0"/>
              <a:t> </a:t>
            </a:r>
            <a:r>
              <a:rPr lang="en-US" altLang="zh-CN" sz="1800" dirty="0" err="1"/>
              <a:t>i,j,k</a:t>
            </a:r>
            <a:r>
              <a:rPr lang="en-US" altLang="zh-CN" sz="1800" dirty="0"/>
              <a:t>;</a:t>
            </a:r>
          </a:p>
          <a:p>
            <a:pPr marL="285750" lvl="1" indent="0">
              <a:buNone/>
            </a:pPr>
            <a:r>
              <a:rPr lang="en-US" altLang="zh-CN" sz="1800" dirty="0" err="1"/>
              <a:t>int</a:t>
            </a:r>
            <a:r>
              <a:rPr lang="en-US" altLang="zh-CN" sz="1800" dirty="0"/>
              <a:t> count=0;</a:t>
            </a:r>
          </a:p>
          <a:p>
            <a:pPr marL="285750" lvl="1" indent="0">
              <a:buNone/>
            </a:pPr>
            <a:r>
              <a:rPr lang="en-US" altLang="zh-CN" sz="1800" dirty="0" err="1"/>
              <a:t>const</a:t>
            </a:r>
            <a:r>
              <a:rPr lang="en-US" altLang="zh-CN" sz="1800" dirty="0"/>
              <a:t> char *ball[5]={“</a:t>
            </a:r>
            <a:r>
              <a:rPr lang="en-US" altLang="zh-CN" sz="1800" dirty="0" err="1"/>
              <a:t>red”,“yellow”,“blue”,“white”,“black</a:t>
            </a:r>
            <a:r>
              <a:rPr lang="en-US" altLang="zh-CN" sz="1800" dirty="0"/>
              <a:t>”};  //</a:t>
            </a:r>
            <a:r>
              <a:rPr lang="zh-CN" altLang="en-US" sz="1800" dirty="0"/>
              <a:t>指针数组</a:t>
            </a:r>
            <a:endParaRPr lang="en-US" altLang="zh-CN" sz="1800" dirty="0"/>
          </a:p>
          <a:p>
            <a:pPr marL="285750" lvl="1" indent="0">
              <a:buNone/>
            </a:pPr>
            <a:r>
              <a:rPr lang="en-US" altLang="zh-CN" sz="1800" dirty="0"/>
              <a:t>for (</a:t>
            </a:r>
            <a:r>
              <a:rPr lang="en-US" altLang="zh-CN" sz="1800" dirty="0" err="1"/>
              <a:t>i</a:t>
            </a:r>
            <a:r>
              <a:rPr lang="en-US" altLang="zh-CN" sz="1800" dirty="0"/>
              <a:t>=red;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&lt;=</a:t>
            </a:r>
            <a:r>
              <a:rPr lang="en-US" altLang="zh-CN" sz="1800" dirty="0" err="1"/>
              <a:t>black;</a:t>
            </a:r>
            <a:r>
              <a:rPr lang="en-US" altLang="zh-CN" sz="1800" dirty="0" err="1">
                <a:solidFill>
                  <a:srgbClr val="030DCD"/>
                </a:solidFill>
              </a:rPr>
              <a:t>i</a:t>
            </a:r>
            <a:r>
              <a:rPr lang="en-US" altLang="zh-CN" sz="1800" dirty="0">
                <a:solidFill>
                  <a:srgbClr val="030DCD"/>
                </a:solidFill>
              </a:rPr>
              <a:t>=(color)(i+1)</a:t>
            </a:r>
            <a:r>
              <a:rPr lang="en-US" altLang="zh-CN" sz="1800" dirty="0"/>
              <a:t>)</a:t>
            </a:r>
          </a:p>
          <a:p>
            <a:pPr marL="285750" lvl="1" indent="0">
              <a:buNone/>
            </a:pPr>
            <a:r>
              <a:rPr lang="en-US" altLang="zh-CN" sz="1800" dirty="0"/>
              <a:t>     for (j=red; j&lt;=</a:t>
            </a:r>
            <a:r>
              <a:rPr lang="en-US" altLang="zh-CN" sz="1800" dirty="0" err="1"/>
              <a:t>black;</a:t>
            </a:r>
            <a:r>
              <a:rPr lang="en-US" altLang="zh-CN" sz="1800" dirty="0" err="1">
                <a:solidFill>
                  <a:srgbClr val="030DCD"/>
                </a:solidFill>
              </a:rPr>
              <a:t>j</a:t>
            </a:r>
            <a:r>
              <a:rPr lang="en-US" altLang="zh-CN" sz="1800" dirty="0">
                <a:solidFill>
                  <a:srgbClr val="030DCD"/>
                </a:solidFill>
              </a:rPr>
              <a:t>=(color)(j+1)</a:t>
            </a:r>
            <a:r>
              <a:rPr lang="en-US" altLang="zh-CN" sz="1800" dirty="0"/>
              <a:t>)</a:t>
            </a:r>
          </a:p>
          <a:p>
            <a:pPr marL="285750" lvl="1" indent="0">
              <a:buNone/>
            </a:pPr>
            <a:r>
              <a:rPr lang="en-US" altLang="zh-CN" sz="1800" dirty="0"/>
              <a:t>	      for (k=red; k&lt;=</a:t>
            </a:r>
            <a:r>
              <a:rPr lang="en-US" altLang="zh-CN" sz="1800" dirty="0" err="1"/>
              <a:t>black;k</a:t>
            </a:r>
            <a:r>
              <a:rPr lang="en-US" altLang="zh-CN" sz="1800" dirty="0"/>
              <a:t>=</a:t>
            </a:r>
            <a:r>
              <a:rPr lang="en-US" altLang="zh-CN" sz="1800" dirty="0">
                <a:solidFill>
                  <a:srgbClr val="030DCD"/>
                </a:solidFill>
              </a:rPr>
              <a:t>(color)(k+1)</a:t>
            </a:r>
            <a:r>
              <a:rPr lang="en-US" altLang="zh-CN" sz="1800" dirty="0"/>
              <a:t>)</a:t>
            </a:r>
          </a:p>
          <a:p>
            <a:pPr marL="285750" lvl="1" indent="0">
              <a:buNone/>
            </a:pPr>
            <a:r>
              <a:rPr lang="en-US" altLang="zh-CN" sz="1800" dirty="0"/>
              <a:t>	      {</a:t>
            </a:r>
          </a:p>
          <a:p>
            <a:pPr marL="285750" lvl="1" indent="0">
              <a:buNone/>
            </a:pPr>
            <a:r>
              <a:rPr lang="en-US" altLang="zh-CN" sz="1800" dirty="0"/>
              <a:t>	      	if ((</a:t>
            </a:r>
            <a:r>
              <a:rPr lang="en-US" altLang="zh-CN" sz="1800" dirty="0" err="1"/>
              <a:t>i</a:t>
            </a:r>
            <a:r>
              <a:rPr lang="en-US" altLang="zh-CN" sz="1800" dirty="0"/>
              <a:t>!=j)&amp;&amp;(</a:t>
            </a:r>
            <a:r>
              <a:rPr lang="en-US" altLang="zh-CN" sz="1800" dirty="0" err="1"/>
              <a:t>i</a:t>
            </a:r>
            <a:r>
              <a:rPr lang="en-US" altLang="zh-CN" sz="1800" dirty="0"/>
              <a:t>!=k)&amp;&amp;(j!=k))</a:t>
            </a:r>
          </a:p>
          <a:p>
            <a:pPr marL="285750" lvl="1" indent="0">
              <a:buNone/>
            </a:pPr>
            <a:r>
              <a:rPr lang="en-US" altLang="zh-CN" sz="1800" dirty="0"/>
              <a:t>	      	{</a:t>
            </a:r>
          </a:p>
          <a:p>
            <a:pPr marL="285750" lvl="1" indent="0">
              <a:buNone/>
            </a:pPr>
            <a:r>
              <a:rPr lang="en-US" altLang="zh-CN" sz="1800" dirty="0"/>
              <a:t>		       count++;</a:t>
            </a:r>
          </a:p>
          <a:p>
            <a:pPr marL="285750" lvl="1" indent="0">
              <a:buNone/>
            </a:pPr>
            <a:r>
              <a:rPr lang="en-US" altLang="zh-CN" sz="1800" dirty="0"/>
              <a:t>		       </a:t>
            </a:r>
            <a:r>
              <a:rPr lang="en-US" altLang="zh-CN" sz="1800" dirty="0" err="1"/>
              <a:t>printf</a:t>
            </a:r>
            <a:r>
              <a:rPr lang="en-US" altLang="zh-CN" sz="1800" dirty="0"/>
              <a:t>("%d: %</a:t>
            </a:r>
            <a:r>
              <a:rPr lang="en-US" altLang="zh-CN" sz="1800" dirty="0" err="1"/>
              <a:t>s,%s</a:t>
            </a:r>
            <a:r>
              <a:rPr lang="en-US" altLang="zh-CN" sz="1800" dirty="0"/>
              <a:t>, %s\n",</a:t>
            </a:r>
            <a:r>
              <a:rPr lang="en-US" altLang="zh-CN" sz="1800" dirty="0" err="1"/>
              <a:t>count,ball</a:t>
            </a:r>
            <a:r>
              <a:rPr lang="en-US" altLang="zh-CN" sz="1800" dirty="0"/>
              <a:t>[</a:t>
            </a:r>
            <a:r>
              <a:rPr lang="en-US" altLang="zh-CN" sz="1800" dirty="0" err="1"/>
              <a:t>i</a:t>
            </a:r>
            <a:r>
              <a:rPr lang="en-US" altLang="zh-CN" sz="1800" dirty="0"/>
              <a:t>],ball[j],ball[k]);</a:t>
            </a:r>
          </a:p>
          <a:p>
            <a:pPr marL="285750" lvl="1" indent="0">
              <a:buNone/>
            </a:pPr>
            <a:r>
              <a:rPr lang="en-US" altLang="zh-CN" sz="1800" dirty="0"/>
              <a:t>		}	      	   </a:t>
            </a:r>
          </a:p>
          <a:p>
            <a:pPr marL="285750" lvl="1" indent="0">
              <a:buNone/>
            </a:pPr>
            <a:r>
              <a:rPr lang="en-US" altLang="zh-CN" sz="1800" dirty="0"/>
              <a:t>              }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5413310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 err="1"/>
              <a:t>typedef</a:t>
            </a:r>
            <a:r>
              <a:rPr lang="zh-CN" altLang="en-US" dirty="0"/>
              <a:t>自定义数据类型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/>
              <a:t>C</a:t>
            </a:r>
            <a:r>
              <a:rPr lang="zh-CN" altLang="en-US" sz="2000" dirty="0"/>
              <a:t>语言除了可以直接使用</a:t>
            </a:r>
            <a:r>
              <a:rPr lang="en-US" altLang="zh-CN" sz="2000" dirty="0"/>
              <a:t>C</a:t>
            </a:r>
            <a:r>
              <a:rPr lang="zh-CN" altLang="en-US" sz="2000" dirty="0"/>
              <a:t>提供的标准类型名</a:t>
            </a:r>
            <a:r>
              <a:rPr lang="en-US" altLang="zh-CN" sz="2000" dirty="0"/>
              <a:t>(</a:t>
            </a:r>
            <a:r>
              <a:rPr lang="zh-CN" altLang="en-US" sz="2000" dirty="0"/>
              <a:t>如</a:t>
            </a:r>
            <a:r>
              <a:rPr lang="en-US" altLang="zh-CN" sz="2000" dirty="0" err="1"/>
              <a:t>int</a:t>
            </a:r>
            <a:r>
              <a:rPr lang="zh-CN" altLang="en-US" sz="2000" dirty="0"/>
              <a:t>、</a:t>
            </a:r>
            <a:r>
              <a:rPr lang="en-US" altLang="zh-CN" sz="2000" dirty="0"/>
              <a:t>char</a:t>
            </a:r>
            <a:r>
              <a:rPr lang="zh-CN" altLang="en-US" sz="2000" dirty="0"/>
              <a:t>、</a:t>
            </a:r>
            <a:r>
              <a:rPr lang="en-US" altLang="zh-CN" sz="2000" dirty="0"/>
              <a:t>float</a:t>
            </a:r>
            <a:r>
              <a:rPr lang="zh-CN" altLang="en-US" sz="2000" dirty="0"/>
              <a:t>、</a:t>
            </a:r>
            <a:r>
              <a:rPr lang="en-US" altLang="zh-CN" sz="2000" dirty="0"/>
              <a:t>double</a:t>
            </a:r>
            <a:r>
              <a:rPr lang="zh-CN" altLang="en-US" sz="2000" dirty="0"/>
              <a:t>、</a:t>
            </a:r>
            <a:r>
              <a:rPr lang="en-US" altLang="zh-CN" sz="2000" dirty="0"/>
              <a:t>long</a:t>
            </a:r>
            <a:r>
              <a:rPr lang="zh-CN" altLang="en-US" sz="2000" dirty="0"/>
              <a:t>等</a:t>
            </a:r>
            <a:r>
              <a:rPr lang="en-US" altLang="zh-CN" sz="2000" dirty="0"/>
              <a:t>)</a:t>
            </a:r>
            <a:r>
              <a:rPr lang="zh-CN" altLang="en-US" sz="2000" dirty="0"/>
              <a:t>和自己声明的结构体、共用体、指针、枚举类型外；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还可以用</a:t>
            </a:r>
            <a:r>
              <a:rPr lang="en-US" altLang="zh-CN" sz="2000" dirty="0" err="1">
                <a:solidFill>
                  <a:srgbClr val="C00000"/>
                </a:solidFill>
              </a:rPr>
              <a:t>typedef</a:t>
            </a:r>
            <a:r>
              <a:rPr lang="zh-CN" altLang="en-US" sz="2000" dirty="0"/>
              <a:t>声明</a:t>
            </a:r>
            <a:r>
              <a:rPr lang="zh-CN" altLang="en-US" sz="2000" dirty="0">
                <a:solidFill>
                  <a:srgbClr val="C00000"/>
                </a:solidFill>
              </a:rPr>
              <a:t>新的类型名</a:t>
            </a:r>
            <a:r>
              <a:rPr lang="zh-CN" altLang="en-US" sz="2000" dirty="0"/>
              <a:t>来</a:t>
            </a:r>
            <a:r>
              <a:rPr lang="zh-CN" altLang="en-US" sz="2000" dirty="0">
                <a:solidFill>
                  <a:srgbClr val="C00000"/>
                </a:solidFill>
              </a:rPr>
              <a:t>代替已有的类型名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30DCD"/>
                </a:solidFill>
              </a:rPr>
              <a:t>可便于程序的通用性与移植性，简化程序的书写等；</a:t>
            </a:r>
            <a:endParaRPr lang="en-US" altLang="zh-CN" sz="2000" dirty="0">
              <a:solidFill>
                <a:srgbClr val="030DCD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30DCD"/>
                </a:solidFill>
              </a:rPr>
              <a:t>但有可能降低程序的可读性；</a:t>
            </a:r>
            <a:endParaRPr lang="en-US" altLang="zh-CN" sz="2000" dirty="0">
              <a:solidFill>
                <a:srgbClr val="030DCD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注：</a:t>
            </a:r>
            <a:endParaRPr lang="en-US" altLang="zh-CN" sz="2000" dirty="0"/>
          </a:p>
          <a:p>
            <a:pPr marL="971550" lvl="1"/>
            <a:r>
              <a:rPr lang="en-US" altLang="zh-CN" sz="1800" b="1" dirty="0">
                <a:solidFill>
                  <a:srgbClr val="C00000"/>
                </a:solidFill>
              </a:rPr>
              <a:t>typedef</a:t>
            </a:r>
            <a:r>
              <a:rPr lang="zh-CN" altLang="en-US" sz="1800" b="1" dirty="0">
                <a:solidFill>
                  <a:srgbClr val="C00000"/>
                </a:solidFill>
              </a:rPr>
              <a:t>不能产生新的数据类型；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pPr marL="971550" lvl="1"/>
            <a:r>
              <a:rPr lang="zh-CN" altLang="en-US" sz="1800" dirty="0"/>
              <a:t>只是将</a:t>
            </a:r>
            <a:r>
              <a:rPr lang="zh-CN" altLang="en-US" sz="1800" b="1" dirty="0">
                <a:solidFill>
                  <a:srgbClr val="006600"/>
                </a:solidFill>
              </a:rPr>
              <a:t>已有的数据类型</a:t>
            </a:r>
            <a:r>
              <a:rPr lang="zh-CN" altLang="en-US" sz="1800" dirty="0"/>
              <a:t>用不同的名字替代；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以</a:t>
            </a:r>
            <a:r>
              <a:rPr lang="zh-CN" altLang="en-US" sz="1800" dirty="0">
                <a:solidFill>
                  <a:srgbClr val="030DCD"/>
                </a:solidFill>
              </a:rPr>
              <a:t>便于程序的通用性与移植性，简化程序的书写等；</a:t>
            </a:r>
            <a:endParaRPr lang="en-US" altLang="zh-CN" sz="1800" dirty="0"/>
          </a:p>
          <a:p>
            <a:pPr marL="971550" lvl="1"/>
            <a:endParaRPr lang="en-US" altLang="zh-CN" sz="1600" dirty="0">
              <a:solidFill>
                <a:srgbClr val="030DCD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030DCD"/>
              </a:solidFill>
            </a:endParaRPr>
          </a:p>
          <a:p>
            <a:pPr marL="1200150" lvl="2"/>
            <a:endParaRPr lang="en-US" altLang="zh-CN" sz="1800" dirty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969791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 err="1"/>
              <a:t>typedef</a:t>
            </a:r>
            <a:r>
              <a:rPr lang="zh-CN" altLang="en-US" dirty="0"/>
              <a:t>自定义数据类型</a:t>
            </a:r>
            <a:r>
              <a:rPr lang="en-US" altLang="zh-CN" dirty="0"/>
              <a:t>—</a:t>
            </a:r>
            <a:r>
              <a:rPr lang="zh-CN" altLang="en-US" dirty="0"/>
              <a:t>便于程序的移植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便于程序的通用性与移植性</a:t>
            </a:r>
            <a:endParaRPr lang="en-US" altLang="zh-CN" sz="2000" dirty="0"/>
          </a:p>
          <a:p>
            <a:pPr marL="971550" lvl="1"/>
            <a:r>
              <a:rPr lang="zh-CN" altLang="en-US" sz="1800" dirty="0"/>
              <a:t>在</a:t>
            </a:r>
            <a:r>
              <a:rPr lang="en-US" altLang="zh-CN" sz="1800" dirty="0"/>
              <a:t>16</a:t>
            </a:r>
            <a:r>
              <a:rPr lang="zh-CN" altLang="en-US" sz="1800" dirty="0"/>
              <a:t>位环境下，系统为</a:t>
            </a:r>
            <a:r>
              <a:rPr lang="en-US" altLang="zh-CN" sz="1800" dirty="0"/>
              <a:t>int</a:t>
            </a:r>
            <a:r>
              <a:rPr lang="zh-CN" altLang="en-US" sz="1800" dirty="0"/>
              <a:t>分配</a:t>
            </a:r>
            <a:r>
              <a:rPr lang="en-US" altLang="zh-CN" sz="1800" dirty="0"/>
              <a:t>2</a:t>
            </a:r>
            <a:r>
              <a:rPr lang="zh-CN" altLang="en-US" sz="1800" dirty="0"/>
              <a:t>个字节，</a:t>
            </a:r>
            <a:r>
              <a:rPr lang="en-US" altLang="zh-CN" sz="1800" dirty="0"/>
              <a:t>short</a:t>
            </a:r>
            <a:r>
              <a:rPr lang="zh-CN" altLang="en-US" sz="1800" dirty="0"/>
              <a:t>也是</a:t>
            </a:r>
            <a:r>
              <a:rPr lang="en-US" altLang="zh-CN" sz="1800" dirty="0"/>
              <a:t>2</a:t>
            </a:r>
            <a:r>
              <a:rPr lang="zh-CN" altLang="en-US" sz="1800" dirty="0"/>
              <a:t>个字节；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在</a:t>
            </a:r>
            <a:r>
              <a:rPr lang="en-US" altLang="zh-CN" sz="1800" dirty="0"/>
              <a:t>32</a:t>
            </a:r>
            <a:r>
              <a:rPr lang="zh-CN" altLang="en-US" sz="1800" dirty="0"/>
              <a:t>位环境下，系统为</a:t>
            </a:r>
            <a:r>
              <a:rPr lang="en-US" altLang="zh-CN" sz="1800" dirty="0"/>
              <a:t>int</a:t>
            </a:r>
            <a:r>
              <a:rPr lang="zh-CN" altLang="en-US" sz="1800" dirty="0"/>
              <a:t>分配</a:t>
            </a:r>
            <a:r>
              <a:rPr lang="en-US" altLang="zh-CN" sz="1800" dirty="0"/>
              <a:t>4</a:t>
            </a:r>
            <a:r>
              <a:rPr lang="zh-CN" altLang="en-US" sz="1800" dirty="0"/>
              <a:t>个字节，</a:t>
            </a:r>
            <a:r>
              <a:rPr lang="en-US" altLang="zh-CN" sz="1800" dirty="0"/>
              <a:t>short</a:t>
            </a:r>
            <a:r>
              <a:rPr lang="zh-CN" altLang="en-US" sz="1800" dirty="0"/>
              <a:t>分配</a:t>
            </a:r>
            <a:r>
              <a:rPr lang="en-US" altLang="zh-CN" sz="1800" dirty="0"/>
              <a:t>2</a:t>
            </a:r>
            <a:r>
              <a:rPr lang="zh-CN" altLang="en-US" sz="1800" dirty="0"/>
              <a:t>个字节；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在</a:t>
            </a:r>
            <a:r>
              <a:rPr lang="en-US" altLang="zh-CN" sz="2000" dirty="0"/>
              <a:t>16</a:t>
            </a:r>
            <a:r>
              <a:rPr lang="zh-CN" altLang="en-US" sz="2000" dirty="0"/>
              <a:t>位环境中</a:t>
            </a:r>
            <a:endParaRPr lang="en-US" altLang="zh-CN" sz="2000" dirty="0"/>
          </a:p>
          <a:p>
            <a:pPr marL="971550" lvl="1"/>
            <a:r>
              <a:rPr lang="en-US" altLang="zh-CN" sz="1800" b="1" dirty="0">
                <a:solidFill>
                  <a:srgbClr val="006600"/>
                </a:solidFill>
              </a:rPr>
              <a:t>typedef  int  </a:t>
            </a:r>
            <a:r>
              <a:rPr lang="en-US" altLang="zh-CN" sz="1800" b="1" dirty="0">
                <a:solidFill>
                  <a:srgbClr val="C00000"/>
                </a:solidFill>
              </a:rPr>
              <a:t>_int </a:t>
            </a:r>
            <a:r>
              <a:rPr lang="en-US" altLang="zh-CN" sz="1800" b="1" dirty="0">
                <a:solidFill>
                  <a:srgbClr val="006600"/>
                </a:solidFill>
              </a:rPr>
              <a:t>;    </a:t>
            </a:r>
            <a:r>
              <a:rPr lang="en-US" altLang="zh-CN" sz="1800" dirty="0"/>
              <a:t>//</a:t>
            </a:r>
            <a:r>
              <a:rPr lang="zh-CN" altLang="en-US" sz="1800" dirty="0"/>
              <a:t>程序中可使用</a:t>
            </a:r>
            <a:r>
              <a:rPr lang="en-US" altLang="zh-CN" sz="1800" dirty="0">
                <a:solidFill>
                  <a:srgbClr val="030DCD"/>
                </a:solidFill>
              </a:rPr>
              <a:t>_int</a:t>
            </a:r>
            <a:r>
              <a:rPr lang="zh-CN" altLang="en-US" sz="1800" dirty="0"/>
              <a:t>定义整型变量；</a:t>
            </a:r>
            <a:endParaRPr lang="en-US" altLang="zh-CN" sz="1800" dirty="0"/>
          </a:p>
          <a:p>
            <a:pPr marL="971550" lvl="1"/>
            <a:r>
              <a:rPr lang="en-US" altLang="zh-CN" sz="1800" b="1" dirty="0">
                <a:solidFill>
                  <a:srgbClr val="C00000"/>
                </a:solidFill>
              </a:rPr>
              <a:t>_int </a:t>
            </a:r>
            <a:r>
              <a:rPr lang="en-US" altLang="zh-CN" sz="1800" b="1" dirty="0">
                <a:solidFill>
                  <a:srgbClr val="030DCD"/>
                </a:solidFill>
              </a:rPr>
              <a:t>a=4,b=5;   //</a:t>
            </a:r>
            <a:r>
              <a:rPr lang="zh-CN" altLang="en-US" sz="1800" b="1" dirty="0">
                <a:solidFill>
                  <a:srgbClr val="030DCD"/>
                </a:solidFill>
              </a:rPr>
              <a:t>相当于</a:t>
            </a:r>
            <a:r>
              <a:rPr lang="en-US" altLang="zh-CN" sz="1800" b="1" dirty="0">
                <a:solidFill>
                  <a:srgbClr val="030DCD"/>
                </a:solidFill>
              </a:rPr>
              <a:t>int a=4,b=5;   </a:t>
            </a:r>
            <a:r>
              <a:rPr lang="en-US" altLang="zh-CN" sz="1800" b="1" dirty="0">
                <a:solidFill>
                  <a:srgbClr val="006600"/>
                </a:solidFill>
              </a:rPr>
              <a:t>//</a:t>
            </a:r>
            <a:r>
              <a:rPr lang="en-US" altLang="zh-CN" sz="1800" b="1" dirty="0" err="1">
                <a:solidFill>
                  <a:srgbClr val="006600"/>
                </a:solidFill>
              </a:rPr>
              <a:t>a,b</a:t>
            </a:r>
            <a:r>
              <a:rPr lang="zh-CN" altLang="en-US" sz="1800" b="1" dirty="0">
                <a:solidFill>
                  <a:srgbClr val="006600"/>
                </a:solidFill>
              </a:rPr>
              <a:t>均分配</a:t>
            </a:r>
            <a:r>
              <a:rPr lang="en-US" altLang="zh-CN" sz="1800" b="1" dirty="0">
                <a:solidFill>
                  <a:srgbClr val="006600"/>
                </a:solidFill>
              </a:rPr>
              <a:t>2</a:t>
            </a:r>
            <a:r>
              <a:rPr lang="zh-CN" altLang="en-US" sz="1800" b="1" dirty="0">
                <a:solidFill>
                  <a:srgbClr val="006600"/>
                </a:solidFill>
              </a:rPr>
              <a:t>字节内存空间</a:t>
            </a:r>
            <a:endParaRPr lang="en-US" altLang="zh-CN" sz="1800" b="1" dirty="0">
              <a:solidFill>
                <a:srgbClr val="0066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30DCD"/>
                </a:solidFill>
              </a:rPr>
              <a:t>若将在</a:t>
            </a:r>
            <a:r>
              <a:rPr lang="en-US" altLang="zh-CN" sz="2000" dirty="0">
                <a:solidFill>
                  <a:srgbClr val="030DCD"/>
                </a:solidFill>
              </a:rPr>
              <a:t>16</a:t>
            </a:r>
            <a:r>
              <a:rPr lang="zh-CN" altLang="en-US" sz="2000" dirty="0">
                <a:solidFill>
                  <a:srgbClr val="030DCD"/>
                </a:solidFill>
              </a:rPr>
              <a:t>位环境下编写的程序移植到</a:t>
            </a:r>
            <a:r>
              <a:rPr lang="en-US" altLang="zh-CN" sz="2000" dirty="0">
                <a:solidFill>
                  <a:srgbClr val="030DCD"/>
                </a:solidFill>
              </a:rPr>
              <a:t>32</a:t>
            </a:r>
            <a:r>
              <a:rPr lang="zh-CN" altLang="en-US" sz="2000" dirty="0">
                <a:solidFill>
                  <a:srgbClr val="030DCD"/>
                </a:solidFill>
              </a:rPr>
              <a:t>环境下</a:t>
            </a:r>
            <a:endParaRPr lang="en-US" altLang="zh-CN" sz="2000" dirty="0">
              <a:solidFill>
                <a:srgbClr val="030DCD"/>
              </a:solidFill>
            </a:endParaRPr>
          </a:p>
          <a:p>
            <a:pPr marL="971550" lvl="1"/>
            <a:r>
              <a:rPr lang="zh-CN" altLang="en-US" sz="1800" dirty="0"/>
              <a:t>在</a:t>
            </a:r>
            <a:r>
              <a:rPr lang="en-US" altLang="zh-CN" sz="1800" dirty="0"/>
              <a:t>32</a:t>
            </a:r>
            <a:r>
              <a:rPr lang="zh-CN" altLang="en-US" sz="1800" dirty="0"/>
              <a:t>位环境中，将</a:t>
            </a:r>
            <a:r>
              <a:rPr lang="en-US" altLang="zh-CN" sz="1800" dirty="0"/>
              <a:t>16</a:t>
            </a:r>
            <a:r>
              <a:rPr lang="zh-CN" altLang="en-US" sz="1800" dirty="0"/>
              <a:t>位程序中的</a:t>
            </a:r>
            <a:r>
              <a:rPr lang="en-US" altLang="zh-CN" sz="1800" b="1" dirty="0">
                <a:solidFill>
                  <a:srgbClr val="006600"/>
                </a:solidFill>
              </a:rPr>
              <a:t> typedef  int  </a:t>
            </a:r>
            <a:r>
              <a:rPr lang="en-US" altLang="zh-CN" sz="1800" b="1" dirty="0">
                <a:solidFill>
                  <a:srgbClr val="C00000"/>
                </a:solidFill>
              </a:rPr>
              <a:t>_int  </a:t>
            </a:r>
            <a:r>
              <a:rPr lang="zh-CN" altLang="en-US" sz="1800" dirty="0"/>
              <a:t>修改为</a:t>
            </a:r>
            <a:endParaRPr lang="en-US" altLang="zh-CN" sz="1800" dirty="0"/>
          </a:p>
          <a:p>
            <a:pPr marL="971550" lvl="1"/>
            <a:r>
              <a:rPr lang="en-US" altLang="zh-CN" sz="1800" b="1" dirty="0">
                <a:solidFill>
                  <a:srgbClr val="006600"/>
                </a:solidFill>
              </a:rPr>
              <a:t>typedef</a:t>
            </a:r>
            <a:r>
              <a:rPr lang="en-US" altLang="zh-CN" sz="1800" b="1" dirty="0">
                <a:solidFill>
                  <a:srgbClr val="C00000"/>
                </a:solidFill>
              </a:rPr>
              <a:t>  short  </a:t>
            </a:r>
            <a:r>
              <a:rPr lang="en-US" altLang="zh-CN" sz="1800" b="1" dirty="0">
                <a:solidFill>
                  <a:srgbClr val="006600"/>
                </a:solidFill>
              </a:rPr>
              <a:t>_int </a:t>
            </a:r>
            <a:r>
              <a:rPr lang="en-US" altLang="zh-CN" sz="1800" b="1" dirty="0">
                <a:solidFill>
                  <a:srgbClr val="C00000"/>
                </a:solidFill>
              </a:rPr>
              <a:t>;  </a:t>
            </a:r>
          </a:p>
          <a:p>
            <a:pPr marL="971550" lvl="1"/>
            <a:r>
              <a:rPr lang="en-US" altLang="zh-CN" sz="1800" b="1" dirty="0">
                <a:solidFill>
                  <a:srgbClr val="C00000"/>
                </a:solidFill>
              </a:rPr>
              <a:t>_int </a:t>
            </a:r>
            <a:r>
              <a:rPr lang="en-US" altLang="zh-CN" sz="1800" dirty="0">
                <a:solidFill>
                  <a:srgbClr val="006600"/>
                </a:solidFill>
              </a:rPr>
              <a:t>a=4,b=5;   //</a:t>
            </a:r>
            <a:r>
              <a:rPr lang="zh-CN" altLang="en-US" sz="1800" b="1" dirty="0">
                <a:solidFill>
                  <a:srgbClr val="030DCD"/>
                </a:solidFill>
              </a:rPr>
              <a:t>还是声明为</a:t>
            </a:r>
            <a:r>
              <a:rPr lang="en-US" altLang="zh-CN" sz="1800" b="1" dirty="0">
                <a:solidFill>
                  <a:srgbClr val="030DCD"/>
                </a:solidFill>
              </a:rPr>
              <a:t>_int</a:t>
            </a:r>
            <a:r>
              <a:rPr lang="zh-CN" altLang="en-US" sz="1800" b="1" dirty="0">
                <a:solidFill>
                  <a:srgbClr val="030DCD"/>
                </a:solidFill>
              </a:rPr>
              <a:t>类型</a:t>
            </a:r>
            <a:r>
              <a:rPr lang="zh-CN" altLang="en-US" sz="1800" dirty="0">
                <a:solidFill>
                  <a:srgbClr val="006600"/>
                </a:solidFill>
              </a:rPr>
              <a:t>，但相当于</a:t>
            </a:r>
            <a:r>
              <a:rPr lang="en-US" altLang="zh-CN" sz="1800" dirty="0">
                <a:solidFill>
                  <a:srgbClr val="006600"/>
                </a:solidFill>
              </a:rPr>
              <a:t>short a=4,b=5;  </a:t>
            </a:r>
            <a:endParaRPr lang="en-US" altLang="zh-CN" sz="1800" b="1" dirty="0">
              <a:solidFill>
                <a:srgbClr val="7030A0"/>
              </a:solidFill>
            </a:endParaRPr>
          </a:p>
          <a:p>
            <a:pPr marL="971550" lvl="1"/>
            <a:r>
              <a:rPr lang="zh-CN" altLang="en-US" sz="1800" b="1" dirty="0">
                <a:solidFill>
                  <a:srgbClr val="7030A0"/>
                </a:solidFill>
              </a:rPr>
              <a:t>其它代码不需修改，</a:t>
            </a:r>
            <a:r>
              <a:rPr lang="zh-CN" altLang="en-US" sz="1800" b="1" dirty="0">
                <a:solidFill>
                  <a:srgbClr val="030DCD"/>
                </a:solidFill>
              </a:rPr>
              <a:t>系统仍然为</a:t>
            </a:r>
            <a:r>
              <a:rPr lang="en-US" altLang="zh-CN" sz="1800" b="1" dirty="0" err="1">
                <a:solidFill>
                  <a:srgbClr val="030DCD"/>
                </a:solidFill>
              </a:rPr>
              <a:t>a,b</a:t>
            </a:r>
            <a:r>
              <a:rPr lang="zh-CN" altLang="en-US" sz="1800" b="1" dirty="0">
                <a:solidFill>
                  <a:srgbClr val="030DCD"/>
                </a:solidFill>
              </a:rPr>
              <a:t>分配</a:t>
            </a:r>
            <a:r>
              <a:rPr lang="en-US" altLang="zh-CN" sz="1800" b="1" dirty="0">
                <a:solidFill>
                  <a:srgbClr val="030DCD"/>
                </a:solidFill>
              </a:rPr>
              <a:t>2</a:t>
            </a:r>
            <a:r>
              <a:rPr lang="zh-CN" altLang="en-US" sz="1800" b="1" dirty="0">
                <a:solidFill>
                  <a:srgbClr val="030DCD"/>
                </a:solidFill>
              </a:rPr>
              <a:t>字节的内存空间；</a:t>
            </a:r>
            <a:endParaRPr lang="en-US" altLang="zh-CN" sz="1800" b="1" dirty="0">
              <a:solidFill>
                <a:srgbClr val="030DCD"/>
              </a:solidFill>
            </a:endParaRPr>
          </a:p>
          <a:p>
            <a:pPr marL="971550" lvl="1"/>
            <a:endParaRPr lang="en-US" altLang="zh-CN" dirty="0"/>
          </a:p>
          <a:p>
            <a:pPr marL="1200150" lvl="2"/>
            <a:endParaRPr lang="en-US" altLang="zh-CN" sz="1800" dirty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12115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 err="1"/>
              <a:t>typedef</a:t>
            </a:r>
            <a:r>
              <a:rPr lang="zh-CN" altLang="en-US" dirty="0"/>
              <a:t>自定义数据类型</a:t>
            </a:r>
            <a:r>
              <a:rPr lang="en-US" altLang="zh-CN" dirty="0"/>
              <a:t>—</a:t>
            </a:r>
            <a:r>
              <a:rPr lang="zh-CN" altLang="en-US" dirty="0"/>
              <a:t>简化程序的书写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简化程序的书写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声明结构类型</a:t>
            </a:r>
          </a:p>
          <a:p>
            <a:pPr lvl="1" indent="0">
              <a:buNone/>
            </a:pPr>
            <a:r>
              <a:rPr lang="en-US" altLang="zh-CN" dirty="0" err="1">
                <a:solidFill>
                  <a:srgbClr val="006600"/>
                </a:solidFill>
              </a:rPr>
              <a:t>struct</a:t>
            </a:r>
            <a:r>
              <a:rPr lang="en-US" altLang="zh-CN" dirty="0">
                <a:solidFill>
                  <a:srgbClr val="006600"/>
                </a:solidFill>
              </a:rPr>
              <a:t>  Date </a:t>
            </a:r>
            <a:r>
              <a:rPr lang="en-US" altLang="zh-CN" dirty="0"/>
              <a:t>{</a:t>
            </a:r>
          </a:p>
          <a:p>
            <a:pPr lvl="1" indent="0">
              <a:buNone/>
            </a:pPr>
            <a:r>
              <a:rPr lang="en-US" altLang="zh-CN" dirty="0"/>
              <a:t>     </a:t>
            </a:r>
            <a:r>
              <a:rPr lang="en-US" altLang="zh-CN" dirty="0" err="1"/>
              <a:t>int</a:t>
            </a:r>
            <a:r>
              <a:rPr lang="en-US" altLang="zh-CN" dirty="0"/>
              <a:t> month</a:t>
            </a:r>
            <a:r>
              <a:rPr lang="zh-CN" altLang="en-US" dirty="0"/>
              <a:t>；</a:t>
            </a:r>
          </a:p>
          <a:p>
            <a:pPr lvl="1" indent="0">
              <a:buNone/>
            </a:pPr>
            <a:r>
              <a:rPr lang="zh-CN" altLang="en-US" dirty="0"/>
              <a:t>     </a:t>
            </a:r>
            <a:r>
              <a:rPr lang="en-US" altLang="zh-CN" dirty="0" err="1"/>
              <a:t>int</a:t>
            </a:r>
            <a:r>
              <a:rPr lang="en-US" altLang="zh-CN" dirty="0"/>
              <a:t> day</a:t>
            </a:r>
            <a:r>
              <a:rPr lang="zh-CN" altLang="en-US" dirty="0"/>
              <a:t>；</a:t>
            </a:r>
          </a:p>
          <a:p>
            <a:pPr lvl="1" indent="0">
              <a:buNone/>
            </a:pPr>
            <a:r>
              <a:rPr lang="zh-CN" altLang="en-US" dirty="0"/>
              <a:t>     </a:t>
            </a:r>
            <a:r>
              <a:rPr lang="en-US" altLang="zh-CN" dirty="0" err="1"/>
              <a:t>int</a:t>
            </a:r>
            <a:r>
              <a:rPr lang="en-US" altLang="zh-CN" dirty="0"/>
              <a:t> year</a:t>
            </a:r>
            <a:r>
              <a:rPr lang="zh-CN" altLang="en-US" dirty="0"/>
              <a:t>；</a:t>
            </a:r>
            <a:r>
              <a:rPr lang="en-US" altLang="zh-CN" dirty="0"/>
              <a:t>} ;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定义结构变量</a:t>
            </a:r>
            <a:endParaRPr lang="en-US" altLang="zh-CN" dirty="0"/>
          </a:p>
          <a:p>
            <a:pPr marL="971550" lvl="1"/>
            <a:r>
              <a:rPr lang="en-US" altLang="zh-CN" dirty="0" err="1"/>
              <a:t>struct</a:t>
            </a:r>
            <a:r>
              <a:rPr lang="en-US" altLang="zh-CN" dirty="0"/>
              <a:t> Date </a:t>
            </a:r>
            <a:r>
              <a:rPr lang="en-US" altLang="zh-CN" dirty="0" err="1"/>
              <a:t>date</a:t>
            </a:r>
            <a:r>
              <a:rPr lang="en-US" altLang="zh-CN" dirty="0"/>
              <a:t>;</a:t>
            </a:r>
          </a:p>
          <a:p>
            <a:pPr marL="971550" lvl="1"/>
            <a:r>
              <a:rPr lang="en-US" altLang="zh-CN" dirty="0" err="1"/>
              <a:t>struct</a:t>
            </a:r>
            <a:r>
              <a:rPr lang="en-US" altLang="zh-CN" dirty="0"/>
              <a:t> Date *link; 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05663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 err="1"/>
              <a:t>typedef</a:t>
            </a:r>
            <a:r>
              <a:rPr lang="zh-CN" altLang="en-US" dirty="0"/>
              <a:t>自定义数据类型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自定义数据类型</a:t>
            </a:r>
          </a:p>
          <a:p>
            <a:pPr lvl="1" indent="0">
              <a:buNone/>
            </a:pPr>
            <a:r>
              <a:rPr lang="en-US" altLang="zh-CN" dirty="0" err="1">
                <a:solidFill>
                  <a:srgbClr val="030DCD"/>
                </a:solidFill>
              </a:rPr>
              <a:t>typedef</a:t>
            </a:r>
            <a:r>
              <a:rPr lang="en-US" altLang="zh-CN" dirty="0">
                <a:solidFill>
                  <a:srgbClr val="030DCD"/>
                </a:solidFill>
              </a:rPr>
              <a:t> </a:t>
            </a:r>
            <a:r>
              <a:rPr lang="en-US" altLang="zh-CN" dirty="0" err="1">
                <a:solidFill>
                  <a:srgbClr val="030DCD"/>
                </a:solidFill>
              </a:rPr>
              <a:t>struct</a:t>
            </a:r>
            <a:r>
              <a:rPr lang="en-US" altLang="zh-CN" dirty="0">
                <a:solidFill>
                  <a:srgbClr val="030DCD"/>
                </a:solidFill>
              </a:rPr>
              <a:t>  </a:t>
            </a:r>
            <a:r>
              <a:rPr lang="en-US" altLang="zh-CN" dirty="0"/>
              <a:t>{</a:t>
            </a:r>
          </a:p>
          <a:p>
            <a:pPr lvl="1" indent="0">
              <a:buNone/>
            </a:pPr>
            <a:r>
              <a:rPr lang="en-US" altLang="zh-CN" dirty="0"/>
              <a:t>     </a:t>
            </a:r>
            <a:r>
              <a:rPr lang="en-US" altLang="zh-CN" dirty="0" err="1"/>
              <a:t>int</a:t>
            </a:r>
            <a:r>
              <a:rPr lang="en-US" altLang="zh-CN" dirty="0"/>
              <a:t> month</a:t>
            </a:r>
            <a:r>
              <a:rPr lang="zh-CN" altLang="en-US" dirty="0"/>
              <a:t>；</a:t>
            </a:r>
          </a:p>
          <a:p>
            <a:pPr lvl="1" indent="0">
              <a:buNone/>
            </a:pPr>
            <a:r>
              <a:rPr lang="zh-CN" altLang="en-US" dirty="0"/>
              <a:t>     </a:t>
            </a:r>
            <a:r>
              <a:rPr lang="en-US" altLang="zh-CN" dirty="0" err="1"/>
              <a:t>int</a:t>
            </a:r>
            <a:r>
              <a:rPr lang="en-US" altLang="zh-CN" dirty="0"/>
              <a:t> day</a:t>
            </a:r>
            <a:r>
              <a:rPr lang="zh-CN" altLang="en-US" dirty="0"/>
              <a:t>；</a:t>
            </a:r>
          </a:p>
          <a:p>
            <a:pPr lvl="1" indent="0">
              <a:buNone/>
            </a:pPr>
            <a:r>
              <a:rPr lang="zh-CN" altLang="en-US" dirty="0"/>
              <a:t>     </a:t>
            </a:r>
            <a:r>
              <a:rPr lang="en-US" altLang="zh-CN" dirty="0" err="1"/>
              <a:t>int</a:t>
            </a:r>
            <a:r>
              <a:rPr lang="en-US" altLang="zh-CN" dirty="0"/>
              <a:t> year</a:t>
            </a:r>
            <a:r>
              <a:rPr lang="zh-CN" altLang="en-US" dirty="0"/>
              <a:t>；</a:t>
            </a:r>
            <a:r>
              <a:rPr lang="en-US" altLang="zh-CN" dirty="0"/>
              <a:t>}  </a:t>
            </a:r>
            <a:r>
              <a:rPr lang="en-US" altLang="zh-CN" dirty="0">
                <a:solidFill>
                  <a:srgbClr val="030DCD"/>
                </a:solidFill>
              </a:rPr>
              <a:t>DATE</a:t>
            </a:r>
            <a:r>
              <a:rPr lang="zh-CN" altLang="en-US" dirty="0">
                <a:solidFill>
                  <a:srgbClr val="030DCD"/>
                </a:solidFill>
              </a:rPr>
              <a:t>，</a:t>
            </a:r>
            <a:r>
              <a:rPr lang="en-US" altLang="zh-CN" dirty="0">
                <a:solidFill>
                  <a:srgbClr val="030DCD"/>
                </a:solidFill>
              </a:rPr>
              <a:t>*LINK;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则，</a:t>
            </a:r>
            <a:r>
              <a:rPr lang="zh-CN" altLang="en-US" dirty="0">
                <a:solidFill>
                  <a:srgbClr val="006600"/>
                </a:solidFill>
              </a:rPr>
              <a:t>下述语句等价</a:t>
            </a:r>
            <a:endParaRPr lang="en-US" altLang="zh-CN" dirty="0">
              <a:solidFill>
                <a:srgbClr val="006600"/>
              </a:solidFill>
            </a:endParaRPr>
          </a:p>
          <a:p>
            <a:pPr marL="971550" lvl="1"/>
            <a:r>
              <a:rPr lang="en-US" altLang="zh-CN" dirty="0">
                <a:solidFill>
                  <a:srgbClr val="FF0000"/>
                </a:solidFill>
              </a:rPr>
              <a:t>DATE </a:t>
            </a:r>
            <a:r>
              <a:rPr lang="en-US" altLang="zh-CN" dirty="0" err="1">
                <a:solidFill>
                  <a:srgbClr val="FF0000"/>
                </a:solidFill>
              </a:rPr>
              <a:t>date</a:t>
            </a:r>
            <a:r>
              <a:rPr lang="en-US" altLang="zh-CN" dirty="0">
                <a:solidFill>
                  <a:srgbClr val="FF0000"/>
                </a:solidFill>
              </a:rPr>
              <a:t>;  //</a:t>
            </a:r>
            <a:r>
              <a:rPr lang="zh-CN" altLang="en-US" dirty="0"/>
              <a:t>与 </a:t>
            </a:r>
            <a:r>
              <a:rPr lang="en-US" altLang="zh-CN" dirty="0" err="1">
                <a:solidFill>
                  <a:srgbClr val="006600"/>
                </a:solidFill>
              </a:rPr>
              <a:t>struct</a:t>
            </a:r>
            <a:r>
              <a:rPr lang="en-US" altLang="zh-CN" dirty="0">
                <a:solidFill>
                  <a:srgbClr val="006600"/>
                </a:solidFill>
              </a:rPr>
              <a:t> Date </a:t>
            </a:r>
            <a:r>
              <a:rPr lang="en-US" altLang="zh-CN" dirty="0" err="1">
                <a:solidFill>
                  <a:srgbClr val="006600"/>
                </a:solidFill>
              </a:rPr>
              <a:t>date</a:t>
            </a:r>
            <a:r>
              <a:rPr lang="en-US" altLang="zh-CN" dirty="0">
                <a:solidFill>
                  <a:srgbClr val="006600"/>
                </a:solidFill>
              </a:rPr>
              <a:t>; </a:t>
            </a:r>
            <a:r>
              <a:rPr lang="zh-CN" altLang="en-US" dirty="0"/>
              <a:t>等价；</a:t>
            </a:r>
            <a:r>
              <a:rPr lang="en-US" altLang="zh-CN" dirty="0"/>
              <a:t> </a:t>
            </a:r>
          </a:p>
          <a:p>
            <a:pPr marL="971550" lvl="1"/>
            <a:r>
              <a:rPr lang="en-US" altLang="zh-CN" dirty="0">
                <a:solidFill>
                  <a:srgbClr val="FF0000"/>
                </a:solidFill>
              </a:rPr>
              <a:t>LINK </a:t>
            </a:r>
            <a:r>
              <a:rPr lang="en-US" altLang="zh-CN" dirty="0" err="1">
                <a:solidFill>
                  <a:srgbClr val="FF0000"/>
                </a:solidFill>
              </a:rPr>
              <a:t>link</a:t>
            </a:r>
            <a:r>
              <a:rPr lang="en-US" altLang="zh-CN" dirty="0">
                <a:solidFill>
                  <a:srgbClr val="FF0000"/>
                </a:solidFill>
              </a:rPr>
              <a:t>;   //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rgbClr val="006600"/>
                </a:solidFill>
              </a:rPr>
              <a:t> </a:t>
            </a:r>
            <a:r>
              <a:rPr lang="en-US" altLang="zh-CN" dirty="0" err="1">
                <a:solidFill>
                  <a:srgbClr val="006600"/>
                </a:solidFill>
              </a:rPr>
              <a:t>struct</a:t>
            </a:r>
            <a:r>
              <a:rPr lang="en-US" altLang="zh-CN" dirty="0">
                <a:solidFill>
                  <a:srgbClr val="006600"/>
                </a:solidFill>
              </a:rPr>
              <a:t> Date *link; </a:t>
            </a:r>
            <a:r>
              <a:rPr lang="zh-CN" altLang="en-US" dirty="0"/>
              <a:t>等价；</a:t>
            </a:r>
            <a:r>
              <a:rPr lang="en-US" altLang="zh-CN" dirty="0"/>
              <a:t> </a:t>
            </a:r>
          </a:p>
          <a:p>
            <a:pPr marL="971550" lvl="1"/>
            <a:endParaRPr lang="en-US" altLang="zh-CN" dirty="0">
              <a:solidFill>
                <a:srgbClr val="FF0000"/>
              </a:solidFill>
            </a:endParaRPr>
          </a:p>
          <a:p>
            <a:pPr marL="971550" lvl="1"/>
            <a:endParaRPr lang="en-US" altLang="zh-CN" dirty="0">
              <a:solidFill>
                <a:srgbClr val="006600"/>
              </a:solidFill>
            </a:endParaRPr>
          </a:p>
          <a:p>
            <a:pPr lvl="1" indent="0">
              <a:buNone/>
            </a:pPr>
            <a:endParaRPr lang="en-US" altLang="zh-CN" dirty="0">
              <a:solidFill>
                <a:srgbClr val="FF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19498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 err="1"/>
              <a:t>typedef</a:t>
            </a:r>
            <a:r>
              <a:rPr lang="zh-CN" altLang="en-US" dirty="0"/>
              <a:t>自定义数据类型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dirty="0" err="1"/>
              <a:t>typedef</a:t>
            </a:r>
            <a:r>
              <a:rPr lang="en-US" altLang="zh-CN" dirty="0"/>
              <a:t>   </a:t>
            </a:r>
            <a:r>
              <a:rPr lang="en-US" altLang="zh-CN" dirty="0" err="1"/>
              <a:t>int</a:t>
            </a:r>
            <a:r>
              <a:rPr lang="en-US" altLang="zh-CN" dirty="0"/>
              <a:t>  </a:t>
            </a:r>
            <a:r>
              <a:rPr lang="en-US" altLang="zh-CN" dirty="0">
                <a:solidFill>
                  <a:srgbClr val="030DCD"/>
                </a:solidFill>
              </a:rPr>
              <a:t>NUM</a:t>
            </a:r>
            <a:r>
              <a:rPr lang="en-US" altLang="zh-CN" dirty="0"/>
              <a:t>[100];</a:t>
            </a:r>
          </a:p>
          <a:p>
            <a:pPr marL="971550" lvl="1"/>
            <a:r>
              <a:rPr lang="en-US" altLang="zh-CN" dirty="0"/>
              <a:t>NUM a;   //</a:t>
            </a:r>
            <a:r>
              <a:rPr lang="zh-CN" altLang="en-US" dirty="0"/>
              <a:t>相当于</a:t>
            </a:r>
            <a:r>
              <a:rPr lang="en-US" altLang="zh-CN" dirty="0" err="1"/>
              <a:t>int</a:t>
            </a:r>
            <a:r>
              <a:rPr lang="en-US" altLang="zh-CN" dirty="0"/>
              <a:t> a[100];   //</a:t>
            </a:r>
            <a:r>
              <a:rPr lang="zh-CN" altLang="en-US" dirty="0"/>
              <a:t>不是</a:t>
            </a:r>
            <a:r>
              <a:rPr lang="en-US" altLang="zh-CN" dirty="0"/>
              <a:t>NUM[100] a;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dirty="0" err="1"/>
              <a:t>typedef</a:t>
            </a:r>
            <a:r>
              <a:rPr lang="en-US" altLang="zh-CN" dirty="0"/>
              <a:t> char *STRING</a:t>
            </a:r>
            <a:r>
              <a:rPr lang="zh-CN" altLang="en-US" dirty="0"/>
              <a:t>；</a:t>
            </a:r>
            <a:endParaRPr lang="en-US" altLang="zh-CN" dirty="0"/>
          </a:p>
          <a:p>
            <a:pPr marL="971550" lvl="1"/>
            <a:r>
              <a:rPr lang="en-US" altLang="zh-CN" dirty="0"/>
              <a:t>STRING  </a:t>
            </a:r>
            <a:r>
              <a:rPr lang="en-US" altLang="zh-CN" dirty="0" err="1"/>
              <a:t>str</a:t>
            </a:r>
            <a:r>
              <a:rPr lang="en-US" altLang="zh-CN" dirty="0"/>
              <a:t>;  //char *</a:t>
            </a:r>
            <a:r>
              <a:rPr lang="en-US" altLang="zh-CN" dirty="0" err="1"/>
              <a:t>str</a:t>
            </a:r>
            <a:r>
              <a:rPr lang="en-US" altLang="zh-CN" dirty="0"/>
              <a:t>;     //</a:t>
            </a:r>
            <a:r>
              <a:rPr lang="zh-CN" altLang="en-US" dirty="0"/>
              <a:t>不是</a:t>
            </a:r>
            <a:r>
              <a:rPr lang="en-US" altLang="zh-CN" dirty="0"/>
              <a:t>*STRING </a:t>
            </a:r>
            <a:r>
              <a:rPr lang="en-US" altLang="zh-CN" dirty="0" err="1"/>
              <a:t>str</a:t>
            </a:r>
            <a:r>
              <a:rPr lang="en-US" altLang="zh-CN" dirty="0"/>
              <a:t>;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声明</a:t>
            </a:r>
            <a:r>
              <a:rPr lang="en-US" altLang="zh-CN" dirty="0"/>
              <a:t>FP</a:t>
            </a:r>
            <a:r>
              <a:rPr lang="zh-CN" altLang="en-US" dirty="0"/>
              <a:t>为指向函数的指针类型，该函数返回整型值 ：</a:t>
            </a:r>
            <a:endParaRPr lang="en-US" altLang="zh-CN" dirty="0"/>
          </a:p>
          <a:p>
            <a:pPr marL="971550" lvl="1"/>
            <a:r>
              <a:rPr lang="en-US" altLang="zh-CN" dirty="0" err="1"/>
              <a:t>typedef</a:t>
            </a:r>
            <a:r>
              <a:rPr lang="en-US" altLang="zh-CN" dirty="0"/>
              <a:t>   </a:t>
            </a:r>
            <a:r>
              <a:rPr lang="en-US" altLang="zh-CN" dirty="0" err="1"/>
              <a:t>int</a:t>
            </a:r>
            <a:r>
              <a:rPr lang="en-US" altLang="zh-CN" dirty="0"/>
              <a:t>   (*FP)(</a:t>
            </a:r>
            <a:r>
              <a:rPr lang="en-US" altLang="zh-CN" dirty="0" err="1"/>
              <a:t>int</a:t>
            </a:r>
            <a:r>
              <a:rPr lang="en-US" altLang="zh-CN" dirty="0"/>
              <a:t>, </a:t>
            </a:r>
            <a:r>
              <a:rPr lang="en-US" altLang="zh-CN" dirty="0" err="1"/>
              <a:t>int</a:t>
            </a:r>
            <a:r>
              <a:rPr lang="en-US" altLang="zh-CN" dirty="0"/>
              <a:t> ) </a:t>
            </a:r>
            <a:r>
              <a:rPr lang="zh-CN" altLang="en-US" dirty="0"/>
              <a:t>；</a:t>
            </a:r>
            <a:endParaRPr lang="en-US" altLang="zh-CN" dirty="0"/>
          </a:p>
          <a:p>
            <a:pPr marL="971550" lvl="1"/>
            <a:r>
              <a:rPr lang="zh-CN" altLang="en-US" dirty="0"/>
              <a:t>如何使用自定义函数指针类型声明一个返回值为</a:t>
            </a:r>
            <a:r>
              <a:rPr lang="en-US" altLang="zh-CN" dirty="0" err="1"/>
              <a:t>int</a:t>
            </a:r>
            <a:r>
              <a:rPr lang="zh-CN" altLang="en-US" dirty="0"/>
              <a:t>的函数的指针？</a:t>
            </a:r>
            <a:endParaRPr lang="en-US" altLang="zh-CN" dirty="0"/>
          </a:p>
          <a:p>
            <a:pPr marL="971550" lvl="1"/>
            <a:endParaRPr lang="zh-CN" altLang="en-US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91896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用</a:t>
            </a:r>
            <a:r>
              <a:rPr lang="en-US" altLang="zh-CN" dirty="0" err="1">
                <a:solidFill>
                  <a:srgbClr val="FF0000"/>
                </a:solidFill>
              </a:rPr>
              <a:t>typedef</a:t>
            </a:r>
            <a:r>
              <a:rPr lang="zh-CN" altLang="en-US" dirty="0">
                <a:solidFill>
                  <a:srgbClr val="FF0000"/>
                </a:solidFill>
              </a:rPr>
              <a:t>定义类型的方法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先按定义变量的方法写出定义体</a:t>
            </a:r>
            <a:endParaRPr lang="en-US" altLang="zh-CN" dirty="0"/>
          </a:p>
          <a:p>
            <a:pPr marL="971550" lvl="1"/>
            <a:r>
              <a:rPr lang="zh-CN" altLang="en-US" dirty="0"/>
              <a:t>如：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030DCD"/>
                </a:solidFill>
              </a:rPr>
              <a:t>a;</a:t>
            </a:r>
            <a:endParaRPr lang="zh-CN" altLang="en-US" dirty="0">
              <a:solidFill>
                <a:srgbClr val="030DCD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将变量名换成新类型名</a:t>
            </a:r>
            <a:endParaRPr lang="en-US" altLang="zh-CN" dirty="0"/>
          </a:p>
          <a:p>
            <a:pPr marL="971550" lvl="1"/>
            <a:r>
              <a:rPr lang="zh-CN" altLang="en-US" dirty="0"/>
              <a:t>如：将</a:t>
            </a:r>
            <a:r>
              <a:rPr lang="en-US" altLang="zh-CN" dirty="0"/>
              <a:t>a </a:t>
            </a:r>
            <a:r>
              <a:rPr lang="zh-CN" altLang="en-US" dirty="0"/>
              <a:t>换成 要定义的类型，如</a:t>
            </a:r>
            <a:r>
              <a:rPr lang="en-US" altLang="zh-CN" dirty="0">
                <a:solidFill>
                  <a:srgbClr val="030DCD"/>
                </a:solidFill>
              </a:rPr>
              <a:t>_</a:t>
            </a:r>
            <a:r>
              <a:rPr lang="en-US" altLang="zh-CN" dirty="0" err="1">
                <a:solidFill>
                  <a:srgbClr val="030DCD"/>
                </a:solidFill>
              </a:rPr>
              <a:t>int</a:t>
            </a:r>
            <a:r>
              <a:rPr lang="zh-CN" altLang="en-US" dirty="0"/>
              <a:t>，即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030DCD"/>
                </a:solidFill>
              </a:rPr>
              <a:t> _</a:t>
            </a:r>
            <a:r>
              <a:rPr lang="en-US" altLang="zh-CN" dirty="0" err="1">
                <a:solidFill>
                  <a:srgbClr val="030DCD"/>
                </a:solidFill>
              </a:rPr>
              <a:t>int</a:t>
            </a:r>
            <a:r>
              <a:rPr lang="en-US" altLang="zh-CN" dirty="0"/>
              <a:t>;</a:t>
            </a:r>
            <a:endParaRPr lang="zh-CN" altLang="en-US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在最前面加</a:t>
            </a:r>
            <a:r>
              <a:rPr lang="en-US" altLang="zh-CN" dirty="0" err="1">
                <a:solidFill>
                  <a:srgbClr val="C00000"/>
                </a:solidFill>
              </a:rPr>
              <a:t>typedef</a:t>
            </a:r>
            <a:r>
              <a:rPr lang="en-US" altLang="zh-CN" dirty="0"/>
              <a:t> </a:t>
            </a:r>
            <a:endParaRPr lang="zh-CN" altLang="en-US" dirty="0"/>
          </a:p>
          <a:p>
            <a:pPr marL="971550" lvl="1"/>
            <a:r>
              <a:rPr lang="zh-CN" altLang="en-US" dirty="0"/>
              <a:t>  </a:t>
            </a:r>
            <a:r>
              <a:rPr lang="en-US" altLang="zh-CN" dirty="0" err="1"/>
              <a:t>typedef</a:t>
            </a:r>
            <a:r>
              <a:rPr lang="en-US" altLang="zh-CN" dirty="0"/>
              <a:t> </a:t>
            </a:r>
            <a:r>
              <a:rPr lang="en-US" altLang="zh-CN" dirty="0" err="1"/>
              <a:t>int</a:t>
            </a:r>
            <a:r>
              <a:rPr lang="en-US" altLang="zh-CN" dirty="0"/>
              <a:t>  </a:t>
            </a:r>
            <a:r>
              <a:rPr lang="en-US" altLang="zh-CN" dirty="0">
                <a:solidFill>
                  <a:srgbClr val="030DCD"/>
                </a:solidFill>
              </a:rPr>
              <a:t>_</a:t>
            </a:r>
            <a:r>
              <a:rPr lang="en-US" altLang="zh-CN" dirty="0" err="1">
                <a:solidFill>
                  <a:srgbClr val="030DCD"/>
                </a:solidFill>
              </a:rPr>
              <a:t>int</a:t>
            </a:r>
            <a:r>
              <a:rPr lang="en-US" altLang="zh-CN" dirty="0"/>
              <a:t>; </a:t>
            </a:r>
            <a:endParaRPr lang="zh-CN" altLang="en-US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然后可以用新类型名</a:t>
            </a:r>
            <a:r>
              <a:rPr lang="en-US" altLang="zh-CN" dirty="0">
                <a:solidFill>
                  <a:srgbClr val="030DCD"/>
                </a:solidFill>
              </a:rPr>
              <a:t>_</a:t>
            </a:r>
            <a:r>
              <a:rPr lang="en-US" altLang="zh-CN" dirty="0" err="1">
                <a:solidFill>
                  <a:srgbClr val="030DCD"/>
                </a:solidFill>
              </a:rPr>
              <a:t>int</a:t>
            </a:r>
            <a:r>
              <a:rPr lang="zh-CN" altLang="en-US" dirty="0"/>
              <a:t>作为数据类型去定义变量</a:t>
            </a:r>
            <a:r>
              <a:rPr lang="en-US" altLang="zh-CN" dirty="0"/>
              <a:t>;</a:t>
            </a:r>
          </a:p>
          <a:p>
            <a:pPr marL="971550" lvl="1"/>
            <a:r>
              <a:rPr lang="en-US" altLang="zh-CN" dirty="0">
                <a:solidFill>
                  <a:srgbClr val="030DCD"/>
                </a:solidFill>
              </a:rPr>
              <a:t>_</a:t>
            </a:r>
            <a:r>
              <a:rPr lang="en-US" altLang="zh-CN" dirty="0" err="1">
                <a:solidFill>
                  <a:srgbClr val="030DCD"/>
                </a:solidFill>
              </a:rPr>
              <a:t>int</a:t>
            </a:r>
            <a:r>
              <a:rPr lang="en-US" altLang="zh-CN" dirty="0"/>
              <a:t> a;   //</a:t>
            </a:r>
            <a:r>
              <a:rPr lang="zh-CN" altLang="en-US" dirty="0"/>
              <a:t>与</a:t>
            </a:r>
            <a:r>
              <a:rPr lang="en-US" altLang="zh-CN" dirty="0" err="1"/>
              <a:t>int</a:t>
            </a:r>
            <a:r>
              <a:rPr lang="en-US" altLang="zh-CN" dirty="0"/>
              <a:t> a</a:t>
            </a:r>
            <a:r>
              <a:rPr lang="zh-CN" altLang="en-US" dirty="0"/>
              <a:t>等价；</a:t>
            </a:r>
            <a:endParaRPr lang="en-US" altLang="zh-CN" dirty="0"/>
          </a:p>
          <a:p>
            <a:pPr marL="971550" lvl="1"/>
            <a:endParaRPr lang="zh-CN" altLang="en-US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75295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 err="1"/>
              <a:t>typedef</a:t>
            </a:r>
            <a:r>
              <a:rPr lang="zh-CN" altLang="en-US" dirty="0"/>
              <a:t>定义类型的方法例</a:t>
            </a:r>
            <a:r>
              <a:rPr lang="en-US" altLang="zh-CN" dirty="0"/>
              <a:t>—NUM[100]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先按定义数组变量形式书写：</a:t>
            </a:r>
            <a:r>
              <a:rPr lang="en-US" altLang="zh-CN" dirty="0" err="1">
                <a:solidFill>
                  <a:srgbClr val="006600"/>
                </a:solidFill>
              </a:rPr>
              <a:t>int</a:t>
            </a:r>
            <a:r>
              <a:rPr lang="en-US" altLang="zh-CN" dirty="0">
                <a:solidFill>
                  <a:srgbClr val="006600"/>
                </a:solidFill>
              </a:rPr>
              <a:t> n[100]</a:t>
            </a:r>
            <a:r>
              <a:rPr lang="zh-CN" altLang="en-US" dirty="0"/>
              <a:t>；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将变量名</a:t>
            </a:r>
            <a:r>
              <a:rPr lang="en-US" altLang="zh-CN" dirty="0">
                <a:solidFill>
                  <a:srgbClr val="030DCD"/>
                </a:solidFill>
              </a:rPr>
              <a:t>n</a:t>
            </a:r>
            <a:r>
              <a:rPr lang="zh-CN" altLang="en-US" dirty="0"/>
              <a:t>换成自己指定的类型名，如</a:t>
            </a:r>
            <a:r>
              <a:rPr lang="en-US" altLang="zh-CN" dirty="0">
                <a:solidFill>
                  <a:srgbClr val="030DCD"/>
                </a:solidFill>
              </a:rPr>
              <a:t>NUM</a:t>
            </a:r>
            <a:r>
              <a:rPr lang="zh-CN" altLang="en-US" dirty="0"/>
              <a:t>：</a:t>
            </a:r>
          </a:p>
          <a:p>
            <a:pPr marL="971550" lvl="1"/>
            <a:r>
              <a:rPr lang="zh-CN" altLang="en-US" dirty="0"/>
              <a:t>   </a:t>
            </a:r>
            <a:r>
              <a:rPr lang="en-US" altLang="zh-CN" dirty="0" err="1"/>
              <a:t>int</a:t>
            </a:r>
            <a:r>
              <a:rPr lang="zh-CN" altLang="en-US" dirty="0"/>
              <a:t>　</a:t>
            </a:r>
            <a:r>
              <a:rPr lang="en-US" altLang="zh-CN" dirty="0">
                <a:solidFill>
                  <a:srgbClr val="030DCD"/>
                </a:solidFill>
              </a:rPr>
              <a:t>NUM </a:t>
            </a:r>
            <a:r>
              <a:rPr lang="en-US" altLang="zh-CN" dirty="0"/>
              <a:t>[100]</a:t>
            </a:r>
            <a:r>
              <a:rPr lang="zh-CN" altLang="en-US" dirty="0"/>
              <a:t>；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在前面加上</a:t>
            </a:r>
            <a:r>
              <a:rPr lang="en-US" altLang="zh-CN" dirty="0" err="1">
                <a:solidFill>
                  <a:srgbClr val="C00000"/>
                </a:solidFill>
              </a:rPr>
              <a:t>typedef</a:t>
            </a:r>
            <a:r>
              <a:rPr lang="zh-CN" altLang="en-US" dirty="0"/>
              <a:t>，得到</a:t>
            </a:r>
          </a:p>
          <a:p>
            <a:pPr marL="971550" lvl="1"/>
            <a:r>
              <a:rPr lang="zh-CN" altLang="en-US" dirty="0"/>
              <a:t>  </a:t>
            </a:r>
            <a:r>
              <a:rPr lang="en-US" altLang="zh-CN" dirty="0" err="1">
                <a:solidFill>
                  <a:srgbClr val="C00000"/>
                </a:solidFill>
              </a:rPr>
              <a:t>typedef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err="1"/>
              <a:t>int</a:t>
            </a:r>
            <a:r>
              <a:rPr lang="en-US" altLang="zh-CN" dirty="0"/>
              <a:t>  </a:t>
            </a:r>
            <a:r>
              <a:rPr lang="en-US" altLang="zh-CN" b="1" dirty="0">
                <a:solidFill>
                  <a:srgbClr val="030DCD"/>
                </a:solidFill>
              </a:rPr>
              <a:t>NUM</a:t>
            </a:r>
            <a:r>
              <a:rPr lang="zh-CN" altLang="en-US" dirty="0"/>
              <a:t>［</a:t>
            </a:r>
            <a:r>
              <a:rPr lang="en-US" altLang="zh-CN" dirty="0"/>
              <a:t>100</a:t>
            </a:r>
            <a:r>
              <a:rPr lang="zh-CN" altLang="en-US" dirty="0"/>
              <a:t>］；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 利用</a:t>
            </a:r>
            <a:r>
              <a:rPr lang="en-US" altLang="zh-CN" dirty="0"/>
              <a:t>NUM</a:t>
            </a:r>
            <a:r>
              <a:rPr lang="zh-CN" altLang="en-US" dirty="0"/>
              <a:t>作为数据类型定义变量</a:t>
            </a:r>
            <a:endParaRPr lang="en-US" altLang="zh-CN" dirty="0"/>
          </a:p>
          <a:p>
            <a:pPr marL="971550" lvl="1"/>
            <a:r>
              <a:rPr lang="en-US" altLang="zh-CN" dirty="0">
                <a:solidFill>
                  <a:srgbClr val="030DCD"/>
                </a:solidFill>
              </a:rPr>
              <a:t>NUM</a:t>
            </a:r>
            <a:r>
              <a:rPr lang="zh-CN" altLang="en-US" dirty="0"/>
              <a:t>  </a:t>
            </a:r>
            <a:r>
              <a:rPr lang="en-US" altLang="zh-CN" dirty="0"/>
              <a:t>a</a:t>
            </a:r>
            <a:r>
              <a:rPr lang="zh-CN" altLang="en-US" dirty="0"/>
              <a:t>；</a:t>
            </a:r>
            <a:endParaRPr lang="en-US" altLang="zh-CN" dirty="0"/>
          </a:p>
          <a:p>
            <a:pPr marL="971550" lvl="1"/>
            <a:r>
              <a:rPr lang="en-US" altLang="zh-CN" dirty="0">
                <a:solidFill>
                  <a:srgbClr val="030DCD"/>
                </a:solidFill>
              </a:rPr>
              <a:t>NUM</a:t>
            </a:r>
            <a:r>
              <a:rPr lang="en-US" altLang="zh-CN" dirty="0"/>
              <a:t> a </a:t>
            </a:r>
            <a:r>
              <a:rPr lang="zh-CN" altLang="en-US" dirty="0"/>
              <a:t>与 </a:t>
            </a:r>
            <a:r>
              <a:rPr lang="en-US" altLang="zh-CN" dirty="0" err="1">
                <a:solidFill>
                  <a:srgbClr val="006600"/>
                </a:solidFill>
              </a:rPr>
              <a:t>int</a:t>
            </a:r>
            <a:r>
              <a:rPr lang="en-US" altLang="zh-CN" dirty="0">
                <a:solidFill>
                  <a:srgbClr val="006600"/>
                </a:solidFill>
              </a:rPr>
              <a:t> a[100]</a:t>
            </a:r>
            <a:r>
              <a:rPr lang="zh-CN" altLang="en-US" dirty="0"/>
              <a:t>等价；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801028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 err="1"/>
              <a:t>typedef</a:t>
            </a:r>
            <a:r>
              <a:rPr lang="zh-CN" altLang="en-US" dirty="0"/>
              <a:t>定义类型的方法例</a:t>
            </a:r>
            <a:r>
              <a:rPr lang="en-US" altLang="zh-CN" dirty="0"/>
              <a:t>—*STRING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先按定义字符串变量形式书写：</a:t>
            </a:r>
            <a:r>
              <a:rPr lang="en-US" altLang="zh-CN" dirty="0">
                <a:solidFill>
                  <a:srgbClr val="006600"/>
                </a:solidFill>
              </a:rPr>
              <a:t>char  *</a:t>
            </a:r>
            <a:r>
              <a:rPr lang="en-US" altLang="zh-CN" dirty="0" err="1">
                <a:solidFill>
                  <a:srgbClr val="006600"/>
                </a:solidFill>
              </a:rPr>
              <a:t>str</a:t>
            </a:r>
            <a:r>
              <a:rPr lang="zh-CN" altLang="en-US" dirty="0"/>
              <a:t>；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将变量名</a:t>
            </a:r>
            <a:r>
              <a:rPr lang="en-US" altLang="zh-CN" dirty="0" err="1">
                <a:solidFill>
                  <a:srgbClr val="030DCD"/>
                </a:solidFill>
              </a:rPr>
              <a:t>str</a:t>
            </a:r>
            <a:r>
              <a:rPr lang="zh-CN" altLang="en-US" dirty="0"/>
              <a:t>换成自己指定的类型名，如</a:t>
            </a:r>
            <a:r>
              <a:rPr lang="en-US" altLang="zh-CN" dirty="0">
                <a:solidFill>
                  <a:srgbClr val="030DCD"/>
                </a:solidFill>
              </a:rPr>
              <a:t>STRING</a:t>
            </a:r>
            <a:r>
              <a:rPr lang="zh-CN" altLang="en-US" dirty="0"/>
              <a:t>：</a:t>
            </a:r>
          </a:p>
          <a:p>
            <a:pPr marL="971550" lvl="1"/>
            <a:r>
              <a:rPr lang="zh-CN" altLang="en-US" dirty="0"/>
              <a:t> </a:t>
            </a:r>
            <a:r>
              <a:rPr lang="en-US" altLang="zh-CN" dirty="0">
                <a:solidFill>
                  <a:srgbClr val="006600"/>
                </a:solidFill>
              </a:rPr>
              <a:t>char  *</a:t>
            </a:r>
            <a:r>
              <a:rPr lang="en-US" altLang="zh-CN" dirty="0">
                <a:solidFill>
                  <a:srgbClr val="030DCD"/>
                </a:solidFill>
              </a:rPr>
              <a:t> STRING;</a:t>
            </a:r>
            <a:endParaRPr lang="zh-CN" altLang="en-US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在前面加上</a:t>
            </a:r>
            <a:r>
              <a:rPr lang="en-US" altLang="zh-CN" dirty="0" err="1">
                <a:solidFill>
                  <a:srgbClr val="C00000"/>
                </a:solidFill>
              </a:rPr>
              <a:t>typedef</a:t>
            </a:r>
            <a:r>
              <a:rPr lang="zh-CN" altLang="en-US" dirty="0"/>
              <a:t>，得到</a:t>
            </a:r>
          </a:p>
          <a:p>
            <a:pPr marL="971550" lvl="1"/>
            <a:r>
              <a:rPr lang="zh-CN" altLang="en-US" dirty="0"/>
              <a:t>  </a:t>
            </a:r>
            <a:r>
              <a:rPr lang="en-US" altLang="zh-CN" dirty="0" err="1">
                <a:solidFill>
                  <a:srgbClr val="C00000"/>
                </a:solidFill>
              </a:rPr>
              <a:t>typedef</a:t>
            </a:r>
            <a:r>
              <a:rPr lang="en-US" altLang="zh-CN" dirty="0">
                <a:solidFill>
                  <a:srgbClr val="C00000"/>
                </a:solidFill>
              </a:rPr>
              <a:t>  </a:t>
            </a:r>
            <a:r>
              <a:rPr lang="en-US" altLang="zh-CN" dirty="0">
                <a:solidFill>
                  <a:srgbClr val="006600"/>
                </a:solidFill>
              </a:rPr>
              <a:t>char  *</a:t>
            </a:r>
            <a:r>
              <a:rPr lang="en-US" altLang="zh-CN" dirty="0">
                <a:solidFill>
                  <a:srgbClr val="030DCD"/>
                </a:solidFill>
              </a:rPr>
              <a:t> STRING</a:t>
            </a:r>
            <a:r>
              <a:rPr lang="zh-CN" altLang="en-US" dirty="0"/>
              <a:t>；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 利用</a:t>
            </a:r>
            <a:r>
              <a:rPr lang="en-US" altLang="zh-CN" dirty="0">
                <a:solidFill>
                  <a:srgbClr val="030DCD"/>
                </a:solidFill>
              </a:rPr>
              <a:t>STRING</a:t>
            </a:r>
            <a:r>
              <a:rPr lang="zh-CN" altLang="en-US" dirty="0"/>
              <a:t>作为数据类型定义变量</a:t>
            </a:r>
            <a:endParaRPr lang="en-US" altLang="zh-CN" dirty="0"/>
          </a:p>
          <a:p>
            <a:pPr marL="971550" lvl="1"/>
            <a:r>
              <a:rPr lang="en-US" altLang="zh-CN" dirty="0">
                <a:solidFill>
                  <a:srgbClr val="030DCD"/>
                </a:solidFill>
              </a:rPr>
              <a:t>STRING </a:t>
            </a:r>
            <a:r>
              <a:rPr lang="en-US" altLang="zh-CN" dirty="0" err="1"/>
              <a:t>str</a:t>
            </a:r>
            <a:r>
              <a:rPr lang="zh-CN" altLang="en-US" dirty="0"/>
              <a:t>；</a:t>
            </a:r>
            <a:endParaRPr lang="en-US" altLang="zh-CN" dirty="0"/>
          </a:p>
          <a:p>
            <a:pPr marL="971550" lvl="1"/>
            <a:r>
              <a:rPr lang="en-US" altLang="zh-CN" dirty="0">
                <a:solidFill>
                  <a:srgbClr val="030DCD"/>
                </a:solidFill>
              </a:rPr>
              <a:t>STRING </a:t>
            </a:r>
            <a:r>
              <a:rPr lang="en-US" altLang="zh-CN" dirty="0" err="1">
                <a:solidFill>
                  <a:srgbClr val="030DCD"/>
                </a:solidFill>
              </a:rPr>
              <a:t>str</a:t>
            </a:r>
            <a:r>
              <a:rPr lang="zh-CN" altLang="en-US" dirty="0"/>
              <a:t>与</a:t>
            </a:r>
            <a:r>
              <a:rPr lang="en-US" altLang="zh-CN" dirty="0">
                <a:solidFill>
                  <a:srgbClr val="006600"/>
                </a:solidFill>
              </a:rPr>
              <a:t>char *</a:t>
            </a:r>
            <a:r>
              <a:rPr lang="en-US" altLang="zh-CN" dirty="0" err="1">
                <a:solidFill>
                  <a:srgbClr val="006600"/>
                </a:solidFill>
              </a:rPr>
              <a:t>str</a:t>
            </a:r>
            <a:r>
              <a:rPr lang="zh-CN" altLang="en-US" dirty="0"/>
              <a:t>等价；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573103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 err="1"/>
              <a:t>typedef</a:t>
            </a:r>
            <a:r>
              <a:rPr lang="zh-CN" altLang="en-US" dirty="0"/>
              <a:t>定义类型的方法例</a:t>
            </a:r>
            <a:r>
              <a:rPr lang="en-US" altLang="zh-CN" dirty="0"/>
              <a:t>—</a:t>
            </a:r>
            <a:r>
              <a:rPr lang="zh-CN" altLang="en-US" dirty="0"/>
              <a:t>函数指针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先</a:t>
            </a:r>
            <a:r>
              <a:rPr lang="zh-CN" altLang="en-US"/>
              <a:t>按定义函数</a:t>
            </a:r>
            <a:r>
              <a:rPr lang="zh-CN" altLang="en-US" dirty="0"/>
              <a:t>指针形式书写：</a:t>
            </a:r>
            <a:r>
              <a:rPr lang="en-US" altLang="zh-CN" dirty="0"/>
              <a:t> </a:t>
            </a:r>
            <a:r>
              <a:rPr lang="en-US" altLang="zh-CN" dirty="0" err="1">
                <a:solidFill>
                  <a:srgbClr val="006600"/>
                </a:solidFill>
              </a:rPr>
              <a:t>int</a:t>
            </a:r>
            <a:r>
              <a:rPr lang="en-US" altLang="zh-CN" dirty="0">
                <a:solidFill>
                  <a:srgbClr val="006600"/>
                </a:solidFill>
              </a:rPr>
              <a:t> (*f)(</a:t>
            </a:r>
            <a:r>
              <a:rPr lang="en-US" altLang="zh-CN" dirty="0" err="1">
                <a:solidFill>
                  <a:srgbClr val="006600"/>
                </a:solidFill>
              </a:rPr>
              <a:t>int</a:t>
            </a:r>
            <a:r>
              <a:rPr lang="en-US" altLang="zh-CN" dirty="0">
                <a:solidFill>
                  <a:srgbClr val="006600"/>
                </a:solidFill>
              </a:rPr>
              <a:t>, </a:t>
            </a:r>
            <a:r>
              <a:rPr lang="en-US" altLang="zh-CN" dirty="0" err="1">
                <a:solidFill>
                  <a:srgbClr val="006600"/>
                </a:solidFill>
              </a:rPr>
              <a:t>int</a:t>
            </a:r>
            <a:r>
              <a:rPr lang="en-US" altLang="zh-CN" dirty="0">
                <a:solidFill>
                  <a:srgbClr val="006600"/>
                </a:solidFill>
              </a:rPr>
              <a:t>) </a:t>
            </a:r>
            <a:r>
              <a:rPr lang="zh-CN" altLang="en-US" dirty="0"/>
              <a:t>；</a:t>
            </a:r>
            <a:endParaRPr lang="en-US" altLang="zh-CN" dirty="0"/>
          </a:p>
          <a:p>
            <a:pPr marL="971550" lvl="1"/>
            <a:r>
              <a:rPr lang="zh-CN" altLang="en-US" dirty="0"/>
              <a:t>指向一个返回值为</a:t>
            </a:r>
            <a:r>
              <a:rPr lang="en-US" altLang="zh-CN" dirty="0" err="1"/>
              <a:t>int</a:t>
            </a:r>
            <a:r>
              <a:rPr lang="zh-CN" altLang="en-US" dirty="0"/>
              <a:t>的函数的指针</a:t>
            </a:r>
            <a:r>
              <a:rPr lang="en-US" altLang="zh-CN" dirty="0">
                <a:solidFill>
                  <a:srgbClr val="006600"/>
                </a:solidFill>
              </a:rPr>
              <a:t>f</a:t>
            </a:r>
            <a:r>
              <a:rPr lang="zh-CN" altLang="en-US" dirty="0"/>
              <a:t>；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将变量名</a:t>
            </a:r>
            <a:r>
              <a:rPr lang="en-US" altLang="zh-CN" dirty="0">
                <a:solidFill>
                  <a:srgbClr val="030DCD"/>
                </a:solidFill>
              </a:rPr>
              <a:t>f</a:t>
            </a:r>
            <a:r>
              <a:rPr lang="zh-CN" altLang="en-US" dirty="0"/>
              <a:t>换成</a:t>
            </a:r>
            <a:r>
              <a:rPr lang="zh-CN" altLang="en-US" dirty="0">
                <a:solidFill>
                  <a:srgbClr val="030DCD"/>
                </a:solidFill>
              </a:rPr>
              <a:t>自己指定的类型名，如</a:t>
            </a:r>
            <a:r>
              <a:rPr lang="en-US" altLang="zh-CN" dirty="0">
                <a:solidFill>
                  <a:srgbClr val="006600"/>
                </a:solidFill>
              </a:rPr>
              <a:t>FP</a:t>
            </a:r>
            <a:r>
              <a:rPr lang="zh-CN" altLang="en-US" dirty="0"/>
              <a:t>：</a:t>
            </a:r>
          </a:p>
          <a:p>
            <a:pPr marL="971550" lvl="1"/>
            <a:r>
              <a:rPr lang="zh-CN" altLang="en-US" dirty="0"/>
              <a:t> </a:t>
            </a:r>
            <a:r>
              <a:rPr lang="en-US" altLang="zh-CN" dirty="0" err="1">
                <a:solidFill>
                  <a:srgbClr val="006600"/>
                </a:solidFill>
              </a:rPr>
              <a:t>int</a:t>
            </a:r>
            <a:r>
              <a:rPr lang="en-US" altLang="zh-CN" dirty="0">
                <a:solidFill>
                  <a:srgbClr val="006600"/>
                </a:solidFill>
              </a:rPr>
              <a:t> (*</a:t>
            </a:r>
            <a:r>
              <a:rPr lang="en-US" altLang="zh-CN" b="1" dirty="0">
                <a:solidFill>
                  <a:srgbClr val="FF0000"/>
                </a:solidFill>
              </a:rPr>
              <a:t>FP</a:t>
            </a:r>
            <a:r>
              <a:rPr lang="en-US" altLang="zh-CN" dirty="0">
                <a:solidFill>
                  <a:srgbClr val="006600"/>
                </a:solidFill>
              </a:rPr>
              <a:t>)(</a:t>
            </a:r>
            <a:r>
              <a:rPr lang="en-US" altLang="zh-CN" dirty="0" err="1">
                <a:solidFill>
                  <a:srgbClr val="006600"/>
                </a:solidFill>
              </a:rPr>
              <a:t>int</a:t>
            </a:r>
            <a:r>
              <a:rPr lang="en-US" altLang="zh-CN" dirty="0">
                <a:solidFill>
                  <a:srgbClr val="006600"/>
                </a:solidFill>
              </a:rPr>
              <a:t>, </a:t>
            </a:r>
            <a:r>
              <a:rPr lang="en-US" altLang="zh-CN" dirty="0" err="1">
                <a:solidFill>
                  <a:srgbClr val="006600"/>
                </a:solidFill>
              </a:rPr>
              <a:t>int</a:t>
            </a:r>
            <a:r>
              <a:rPr lang="en-US" altLang="zh-CN" dirty="0">
                <a:solidFill>
                  <a:srgbClr val="006600"/>
                </a:solidFill>
              </a:rPr>
              <a:t>);</a:t>
            </a:r>
            <a:endParaRPr lang="zh-CN" altLang="en-US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在前面加上</a:t>
            </a:r>
            <a:r>
              <a:rPr lang="en-US" altLang="zh-CN" dirty="0" err="1">
                <a:solidFill>
                  <a:srgbClr val="C00000"/>
                </a:solidFill>
              </a:rPr>
              <a:t>typedef</a:t>
            </a:r>
            <a:r>
              <a:rPr lang="zh-CN" altLang="en-US" dirty="0"/>
              <a:t>，得到</a:t>
            </a:r>
          </a:p>
          <a:p>
            <a:pPr marL="971550" lvl="1"/>
            <a:r>
              <a:rPr lang="zh-CN" altLang="en-US" dirty="0"/>
              <a:t>  </a:t>
            </a:r>
            <a:r>
              <a:rPr lang="en-US" altLang="zh-CN" dirty="0" err="1">
                <a:solidFill>
                  <a:srgbClr val="C00000"/>
                </a:solidFill>
              </a:rPr>
              <a:t>typedef</a:t>
            </a:r>
            <a:r>
              <a:rPr lang="en-US" altLang="zh-CN" dirty="0">
                <a:solidFill>
                  <a:srgbClr val="C00000"/>
                </a:solidFill>
              </a:rPr>
              <a:t>  </a:t>
            </a:r>
            <a:r>
              <a:rPr lang="en-US" altLang="zh-CN" dirty="0" err="1">
                <a:solidFill>
                  <a:srgbClr val="006600"/>
                </a:solidFill>
              </a:rPr>
              <a:t>int</a:t>
            </a:r>
            <a:r>
              <a:rPr lang="en-US" altLang="zh-CN" dirty="0">
                <a:solidFill>
                  <a:srgbClr val="006600"/>
                </a:solidFill>
              </a:rPr>
              <a:t> (*</a:t>
            </a:r>
            <a:r>
              <a:rPr lang="en-US" altLang="zh-CN" b="1" dirty="0">
                <a:solidFill>
                  <a:srgbClr val="FF0000"/>
                </a:solidFill>
              </a:rPr>
              <a:t>FP</a:t>
            </a:r>
            <a:r>
              <a:rPr lang="en-US" altLang="zh-CN" dirty="0">
                <a:solidFill>
                  <a:srgbClr val="006600"/>
                </a:solidFill>
              </a:rPr>
              <a:t>)(</a:t>
            </a:r>
            <a:r>
              <a:rPr lang="en-US" altLang="zh-CN" dirty="0" err="1">
                <a:solidFill>
                  <a:srgbClr val="006600"/>
                </a:solidFill>
              </a:rPr>
              <a:t>int</a:t>
            </a:r>
            <a:r>
              <a:rPr lang="en-US" altLang="zh-CN" dirty="0">
                <a:solidFill>
                  <a:srgbClr val="006600"/>
                </a:solidFill>
              </a:rPr>
              <a:t>, </a:t>
            </a:r>
            <a:r>
              <a:rPr lang="en-US" altLang="zh-CN" dirty="0" err="1">
                <a:solidFill>
                  <a:srgbClr val="006600"/>
                </a:solidFill>
              </a:rPr>
              <a:t>int</a:t>
            </a:r>
            <a:r>
              <a:rPr lang="en-US" altLang="zh-CN" dirty="0">
                <a:solidFill>
                  <a:srgbClr val="006600"/>
                </a:solidFill>
              </a:rPr>
              <a:t>) </a:t>
            </a:r>
            <a:r>
              <a:rPr lang="zh-CN" altLang="en-US" dirty="0"/>
              <a:t>；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 利用</a:t>
            </a:r>
            <a:r>
              <a:rPr lang="en-US" altLang="zh-CN" dirty="0">
                <a:solidFill>
                  <a:srgbClr val="030DCD"/>
                </a:solidFill>
              </a:rPr>
              <a:t>FP</a:t>
            </a:r>
            <a:r>
              <a:rPr lang="zh-CN" altLang="en-US" dirty="0"/>
              <a:t>作为数据类型定义变量</a:t>
            </a:r>
            <a:endParaRPr lang="en-US" altLang="zh-CN" dirty="0"/>
          </a:p>
          <a:p>
            <a:pPr marL="971550" lvl="1"/>
            <a:r>
              <a:rPr lang="en-US" altLang="zh-CN" dirty="0">
                <a:solidFill>
                  <a:srgbClr val="030DCD"/>
                </a:solidFill>
              </a:rPr>
              <a:t>FP  </a:t>
            </a:r>
            <a:r>
              <a:rPr lang="en-US" altLang="zh-CN" dirty="0" err="1"/>
              <a:t>fp</a:t>
            </a:r>
            <a:r>
              <a:rPr lang="zh-CN" altLang="en-US" dirty="0"/>
              <a:t>；</a:t>
            </a:r>
            <a:endParaRPr lang="en-US" altLang="zh-CN" dirty="0"/>
          </a:p>
          <a:p>
            <a:pPr marL="971550" lvl="1"/>
            <a:r>
              <a:rPr lang="en-US" altLang="zh-CN" dirty="0">
                <a:solidFill>
                  <a:srgbClr val="030DCD"/>
                </a:solidFill>
              </a:rPr>
              <a:t>FP </a:t>
            </a:r>
            <a:r>
              <a:rPr lang="zh-CN" altLang="en-US" dirty="0"/>
              <a:t>与 </a:t>
            </a:r>
            <a:r>
              <a:rPr lang="en-US" altLang="zh-CN" dirty="0" err="1">
                <a:solidFill>
                  <a:srgbClr val="006600"/>
                </a:solidFill>
              </a:rPr>
              <a:t>int</a:t>
            </a:r>
            <a:r>
              <a:rPr lang="en-US" altLang="zh-CN" dirty="0">
                <a:solidFill>
                  <a:srgbClr val="006600"/>
                </a:solidFill>
              </a:rPr>
              <a:t> (*</a:t>
            </a:r>
            <a:r>
              <a:rPr lang="en-US" altLang="zh-CN" dirty="0" err="1">
                <a:solidFill>
                  <a:srgbClr val="006600"/>
                </a:solidFill>
              </a:rPr>
              <a:t>fp</a:t>
            </a:r>
            <a:r>
              <a:rPr lang="en-US" altLang="zh-CN" dirty="0">
                <a:solidFill>
                  <a:srgbClr val="006600"/>
                </a:solidFill>
              </a:rPr>
              <a:t>)(</a:t>
            </a:r>
            <a:r>
              <a:rPr lang="en-US" altLang="zh-CN" dirty="0" err="1">
                <a:solidFill>
                  <a:srgbClr val="006600"/>
                </a:solidFill>
              </a:rPr>
              <a:t>int</a:t>
            </a:r>
            <a:r>
              <a:rPr lang="en-US" altLang="zh-CN" dirty="0">
                <a:solidFill>
                  <a:srgbClr val="006600"/>
                </a:solidFill>
              </a:rPr>
              <a:t>, </a:t>
            </a:r>
            <a:r>
              <a:rPr lang="en-US" altLang="zh-CN" dirty="0" err="1">
                <a:solidFill>
                  <a:srgbClr val="006600"/>
                </a:solidFill>
              </a:rPr>
              <a:t>int</a:t>
            </a:r>
            <a:r>
              <a:rPr lang="en-US" altLang="zh-CN" dirty="0">
                <a:solidFill>
                  <a:srgbClr val="006600"/>
                </a:solidFill>
              </a:rPr>
              <a:t>) </a:t>
            </a:r>
            <a:r>
              <a:rPr lang="zh-CN" altLang="en-US" dirty="0"/>
              <a:t>等价；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172290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 err="1"/>
              <a:t>typedef</a:t>
            </a:r>
            <a:r>
              <a:rPr lang="zh-CN" altLang="en-US" dirty="0"/>
              <a:t>定义类型的方法例</a:t>
            </a:r>
            <a:r>
              <a:rPr lang="en-US" altLang="zh-CN" dirty="0"/>
              <a:t>—</a:t>
            </a:r>
            <a:r>
              <a:rPr lang="zh-CN" altLang="en-US" dirty="0"/>
              <a:t>结构与结构指针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定义结构</a:t>
            </a:r>
          </a:p>
          <a:p>
            <a:pPr lvl="1" indent="0">
              <a:buNone/>
            </a:pPr>
            <a:r>
              <a:rPr lang="en-US" altLang="zh-CN" sz="1800" dirty="0" err="1">
                <a:solidFill>
                  <a:srgbClr val="030DCD"/>
                </a:solidFill>
              </a:rPr>
              <a:t>struct</a:t>
            </a:r>
            <a:r>
              <a:rPr lang="en-US" altLang="zh-CN" sz="1800" dirty="0">
                <a:solidFill>
                  <a:srgbClr val="030DCD"/>
                </a:solidFill>
              </a:rPr>
              <a:t>  </a:t>
            </a:r>
            <a:r>
              <a:rPr lang="en-US" altLang="zh-CN" sz="1800" dirty="0" err="1">
                <a:solidFill>
                  <a:srgbClr val="030DCD"/>
                </a:solidFill>
              </a:rPr>
              <a:t>StructDate</a:t>
            </a:r>
            <a:r>
              <a:rPr lang="en-US" altLang="zh-CN" sz="1800" dirty="0"/>
              <a:t>{</a:t>
            </a:r>
          </a:p>
          <a:p>
            <a:pPr lvl="1" indent="0">
              <a:buNone/>
            </a:pPr>
            <a:r>
              <a:rPr lang="en-US" altLang="zh-CN" sz="1800" dirty="0"/>
              <a:t>    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month</a:t>
            </a:r>
            <a:r>
              <a:rPr lang="zh-CN" altLang="en-US" sz="1800" dirty="0"/>
              <a:t>；</a:t>
            </a:r>
          </a:p>
          <a:p>
            <a:pPr lvl="1" indent="0">
              <a:buNone/>
            </a:pPr>
            <a:r>
              <a:rPr lang="zh-CN" altLang="en-US" sz="1800" dirty="0"/>
              <a:t>    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day</a:t>
            </a:r>
            <a:r>
              <a:rPr lang="zh-CN" altLang="en-US" sz="1800" dirty="0"/>
              <a:t>；</a:t>
            </a:r>
          </a:p>
          <a:p>
            <a:pPr lvl="1" indent="0">
              <a:buNone/>
            </a:pPr>
            <a:r>
              <a:rPr lang="zh-CN" altLang="en-US" sz="1800" dirty="0"/>
              <a:t>    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year</a:t>
            </a:r>
            <a:r>
              <a:rPr lang="zh-CN" altLang="en-US" sz="1800" dirty="0"/>
              <a:t>；</a:t>
            </a:r>
            <a:r>
              <a:rPr lang="en-US" altLang="zh-CN" sz="1800" dirty="0"/>
              <a:t>} ;</a:t>
            </a:r>
            <a:endParaRPr lang="en-US" altLang="zh-CN" sz="1800" dirty="0">
              <a:solidFill>
                <a:srgbClr val="030DCD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定义结构变量与结构指针</a:t>
            </a:r>
            <a:endParaRPr lang="en-US" altLang="zh-CN" sz="2000" dirty="0"/>
          </a:p>
          <a:p>
            <a:pPr marL="971550" lvl="1"/>
            <a:r>
              <a:rPr lang="en-US" altLang="zh-CN" sz="1800" dirty="0" err="1">
                <a:solidFill>
                  <a:srgbClr val="030DCD"/>
                </a:solidFill>
              </a:rPr>
              <a:t>struct</a:t>
            </a:r>
            <a:r>
              <a:rPr lang="en-US" altLang="zh-CN" sz="1800" dirty="0">
                <a:solidFill>
                  <a:srgbClr val="030DCD"/>
                </a:solidFill>
              </a:rPr>
              <a:t>  </a:t>
            </a:r>
            <a:r>
              <a:rPr lang="en-US" altLang="zh-CN" sz="1800" dirty="0" err="1">
                <a:solidFill>
                  <a:srgbClr val="030DCD"/>
                </a:solidFill>
              </a:rPr>
              <a:t>StructDate</a:t>
            </a:r>
            <a:r>
              <a:rPr lang="en-US" altLang="zh-CN" sz="1800" dirty="0">
                <a:solidFill>
                  <a:srgbClr val="030DCD"/>
                </a:solidFill>
              </a:rPr>
              <a:t>  date, *link;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将变量名替换成自己指定的类型名并在前面加上</a:t>
            </a:r>
            <a:r>
              <a:rPr lang="en-US" altLang="zh-CN" sz="2000" dirty="0" err="1"/>
              <a:t>typedef</a:t>
            </a:r>
            <a:r>
              <a:rPr lang="zh-CN" altLang="en-US" sz="2000" dirty="0"/>
              <a:t>，如</a:t>
            </a:r>
            <a:r>
              <a:rPr lang="en-US" altLang="zh-CN" sz="2000" dirty="0"/>
              <a:t>DATE</a:t>
            </a:r>
            <a:r>
              <a:rPr lang="zh-CN" altLang="en-US" sz="2000" dirty="0"/>
              <a:t>，</a:t>
            </a:r>
            <a:r>
              <a:rPr lang="en-US" altLang="zh-CN" sz="2000" dirty="0"/>
              <a:t>LINK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 marL="971550" lvl="1"/>
            <a:r>
              <a:rPr lang="en-US" altLang="zh-CN" sz="1800" dirty="0" err="1">
                <a:solidFill>
                  <a:srgbClr val="030DCD"/>
                </a:solidFill>
              </a:rPr>
              <a:t>struct</a:t>
            </a:r>
            <a:r>
              <a:rPr lang="en-US" altLang="zh-CN" sz="1800" dirty="0">
                <a:solidFill>
                  <a:srgbClr val="030DCD"/>
                </a:solidFill>
              </a:rPr>
              <a:t>  </a:t>
            </a:r>
            <a:r>
              <a:rPr lang="en-US" altLang="zh-CN" sz="1800" dirty="0" err="1">
                <a:solidFill>
                  <a:srgbClr val="030DCD"/>
                </a:solidFill>
              </a:rPr>
              <a:t>StructDate</a:t>
            </a:r>
            <a:r>
              <a:rPr lang="en-US" altLang="zh-CN" sz="1800" dirty="0">
                <a:solidFill>
                  <a:srgbClr val="030DCD"/>
                </a:solidFill>
              </a:rPr>
              <a:t>  </a:t>
            </a:r>
            <a:r>
              <a:rPr lang="en-US" altLang="zh-CN" sz="1800" b="1" dirty="0">
                <a:solidFill>
                  <a:srgbClr val="FF0000"/>
                </a:solidFill>
              </a:rPr>
              <a:t>DATE</a:t>
            </a:r>
            <a:r>
              <a:rPr lang="en-US" altLang="zh-CN" sz="1800" dirty="0">
                <a:solidFill>
                  <a:srgbClr val="030DCD"/>
                </a:solidFill>
              </a:rPr>
              <a:t>, *</a:t>
            </a:r>
            <a:r>
              <a:rPr lang="en-US" altLang="zh-CN" sz="1800" b="1" dirty="0">
                <a:solidFill>
                  <a:srgbClr val="FF0000"/>
                </a:solidFill>
              </a:rPr>
              <a:t>LINK</a:t>
            </a:r>
            <a:r>
              <a:rPr lang="en-US" altLang="zh-CN" sz="1800" dirty="0">
                <a:solidFill>
                  <a:srgbClr val="030DCD"/>
                </a:solidFill>
              </a:rPr>
              <a:t>;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则，</a:t>
            </a:r>
            <a:r>
              <a:rPr lang="zh-CN" altLang="en-US" sz="2000" dirty="0">
                <a:solidFill>
                  <a:srgbClr val="006600"/>
                </a:solidFill>
              </a:rPr>
              <a:t>下述语句等价</a:t>
            </a:r>
            <a:endParaRPr lang="en-US" altLang="zh-CN" sz="2000" dirty="0">
              <a:solidFill>
                <a:srgbClr val="006600"/>
              </a:solidFill>
            </a:endParaRPr>
          </a:p>
          <a:p>
            <a:pPr marL="971550" lvl="1"/>
            <a:r>
              <a:rPr lang="en-US" altLang="zh-CN" sz="1800" b="1" dirty="0">
                <a:solidFill>
                  <a:srgbClr val="FF0000"/>
                </a:solidFill>
              </a:rPr>
              <a:t>DATE</a:t>
            </a:r>
            <a:r>
              <a:rPr lang="en-US" altLang="zh-CN" sz="1800" dirty="0">
                <a:solidFill>
                  <a:srgbClr val="FF0000"/>
                </a:solidFill>
              </a:rPr>
              <a:t> </a:t>
            </a:r>
            <a:r>
              <a:rPr lang="en-US" altLang="zh-CN" sz="1800" dirty="0" err="1">
                <a:solidFill>
                  <a:srgbClr val="FF0000"/>
                </a:solidFill>
              </a:rPr>
              <a:t>date</a:t>
            </a:r>
            <a:r>
              <a:rPr lang="en-US" altLang="zh-CN" sz="1800" dirty="0">
                <a:solidFill>
                  <a:srgbClr val="FF0000"/>
                </a:solidFill>
              </a:rPr>
              <a:t>;  //</a:t>
            </a:r>
            <a:r>
              <a:rPr lang="zh-CN" altLang="en-US" sz="1800" dirty="0"/>
              <a:t>与 </a:t>
            </a:r>
            <a:r>
              <a:rPr lang="en-US" altLang="zh-CN" sz="1800" dirty="0" err="1">
                <a:solidFill>
                  <a:srgbClr val="006600"/>
                </a:solidFill>
              </a:rPr>
              <a:t>struct</a:t>
            </a:r>
            <a:r>
              <a:rPr lang="en-US" altLang="zh-CN" sz="1800" dirty="0">
                <a:solidFill>
                  <a:srgbClr val="006600"/>
                </a:solidFill>
              </a:rPr>
              <a:t> Date </a:t>
            </a:r>
            <a:r>
              <a:rPr lang="en-US" altLang="zh-CN" sz="1800" dirty="0" err="1">
                <a:solidFill>
                  <a:srgbClr val="006600"/>
                </a:solidFill>
              </a:rPr>
              <a:t>date</a:t>
            </a:r>
            <a:r>
              <a:rPr lang="en-US" altLang="zh-CN" sz="1800" dirty="0">
                <a:solidFill>
                  <a:srgbClr val="006600"/>
                </a:solidFill>
              </a:rPr>
              <a:t>; </a:t>
            </a:r>
            <a:r>
              <a:rPr lang="zh-CN" altLang="en-US" sz="1800" dirty="0"/>
              <a:t>等价；</a:t>
            </a:r>
            <a:r>
              <a:rPr lang="en-US" altLang="zh-CN" sz="1800" dirty="0"/>
              <a:t> </a:t>
            </a:r>
          </a:p>
          <a:p>
            <a:pPr marL="971550" lvl="1"/>
            <a:r>
              <a:rPr lang="en-US" altLang="zh-CN" sz="1800" b="1" dirty="0">
                <a:solidFill>
                  <a:srgbClr val="FF0000"/>
                </a:solidFill>
              </a:rPr>
              <a:t>LINK</a:t>
            </a:r>
            <a:r>
              <a:rPr lang="en-US" altLang="zh-CN" sz="1800" dirty="0">
                <a:solidFill>
                  <a:srgbClr val="FF0000"/>
                </a:solidFill>
              </a:rPr>
              <a:t> </a:t>
            </a:r>
            <a:r>
              <a:rPr lang="en-US" altLang="zh-CN" sz="1800" dirty="0" err="1">
                <a:solidFill>
                  <a:srgbClr val="FF0000"/>
                </a:solidFill>
              </a:rPr>
              <a:t>link</a:t>
            </a:r>
            <a:r>
              <a:rPr lang="en-US" altLang="zh-CN" sz="1800" dirty="0">
                <a:solidFill>
                  <a:srgbClr val="FF0000"/>
                </a:solidFill>
              </a:rPr>
              <a:t>;   //</a:t>
            </a:r>
            <a:r>
              <a:rPr lang="zh-CN" altLang="en-US" sz="1800" dirty="0"/>
              <a:t>与</a:t>
            </a:r>
            <a:r>
              <a:rPr lang="zh-CN" altLang="en-US" sz="1800" dirty="0">
                <a:solidFill>
                  <a:srgbClr val="006600"/>
                </a:solidFill>
              </a:rPr>
              <a:t> </a:t>
            </a:r>
            <a:r>
              <a:rPr lang="en-US" altLang="zh-CN" sz="1800" dirty="0" err="1">
                <a:solidFill>
                  <a:srgbClr val="006600"/>
                </a:solidFill>
              </a:rPr>
              <a:t>struct</a:t>
            </a:r>
            <a:r>
              <a:rPr lang="en-US" altLang="zh-CN" sz="1800" dirty="0">
                <a:solidFill>
                  <a:srgbClr val="006600"/>
                </a:solidFill>
              </a:rPr>
              <a:t> Date *link; </a:t>
            </a:r>
            <a:r>
              <a:rPr lang="zh-CN" altLang="en-US" sz="1800" dirty="0"/>
              <a:t>等价；</a:t>
            </a:r>
            <a:r>
              <a:rPr lang="en-US" altLang="zh-CN" sz="1800" dirty="0"/>
              <a:t> //</a:t>
            </a:r>
            <a:r>
              <a:rPr lang="zh-CN" altLang="en-US" sz="1800" dirty="0"/>
              <a:t>不建议，降低可读性</a:t>
            </a:r>
            <a:endParaRPr lang="en-US" altLang="zh-CN" sz="1800" dirty="0"/>
          </a:p>
          <a:p>
            <a:pPr marL="971550" lvl="1"/>
            <a:endParaRPr lang="en-US" altLang="zh-CN" dirty="0">
              <a:solidFill>
                <a:srgbClr val="FF0000"/>
              </a:solidFill>
            </a:endParaRPr>
          </a:p>
          <a:p>
            <a:pPr marL="971550" lvl="1"/>
            <a:endParaRPr lang="en-US" altLang="zh-CN" dirty="0">
              <a:solidFill>
                <a:srgbClr val="006600"/>
              </a:solidFill>
            </a:endParaRPr>
          </a:p>
          <a:p>
            <a:pPr lvl="1" indent="0">
              <a:buNone/>
            </a:pPr>
            <a:endParaRPr lang="en-US" altLang="zh-CN" dirty="0">
              <a:solidFill>
                <a:srgbClr val="FF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27977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 err="1"/>
              <a:t>typedef</a:t>
            </a:r>
            <a:r>
              <a:rPr lang="zh-CN" altLang="en-US" dirty="0"/>
              <a:t>定义类型的方法例</a:t>
            </a:r>
            <a:r>
              <a:rPr lang="en-US" altLang="zh-CN" dirty="0"/>
              <a:t>—</a:t>
            </a:r>
            <a:r>
              <a:rPr lang="zh-CN" altLang="en-US" dirty="0"/>
              <a:t>结构与结构指针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在定义结构体及结构变量的同时定义自定义类型</a:t>
            </a:r>
          </a:p>
          <a:p>
            <a:pPr lvl="1" indent="0">
              <a:buNone/>
            </a:pPr>
            <a:r>
              <a:rPr lang="en-US" altLang="zh-CN" dirty="0" err="1">
                <a:solidFill>
                  <a:srgbClr val="030DCD"/>
                </a:solidFill>
              </a:rPr>
              <a:t>typedef</a:t>
            </a:r>
            <a:r>
              <a:rPr lang="en-US" altLang="zh-CN" dirty="0">
                <a:solidFill>
                  <a:srgbClr val="030DCD"/>
                </a:solidFill>
              </a:rPr>
              <a:t> </a:t>
            </a:r>
            <a:r>
              <a:rPr lang="en-US" altLang="zh-CN" dirty="0" err="1">
                <a:solidFill>
                  <a:srgbClr val="030DCD"/>
                </a:solidFill>
              </a:rPr>
              <a:t>struct</a:t>
            </a:r>
            <a:r>
              <a:rPr lang="en-US" altLang="zh-CN" dirty="0">
                <a:solidFill>
                  <a:srgbClr val="030DCD"/>
                </a:solidFill>
              </a:rPr>
              <a:t>  </a:t>
            </a:r>
            <a:r>
              <a:rPr lang="en-US" altLang="zh-CN" dirty="0"/>
              <a:t>{</a:t>
            </a:r>
          </a:p>
          <a:p>
            <a:pPr lvl="1" indent="0">
              <a:buNone/>
            </a:pPr>
            <a:r>
              <a:rPr lang="en-US" altLang="zh-CN" dirty="0"/>
              <a:t>     </a:t>
            </a:r>
            <a:r>
              <a:rPr lang="en-US" altLang="zh-CN" dirty="0" err="1"/>
              <a:t>int</a:t>
            </a:r>
            <a:r>
              <a:rPr lang="en-US" altLang="zh-CN" dirty="0"/>
              <a:t> month</a:t>
            </a:r>
            <a:r>
              <a:rPr lang="zh-CN" altLang="en-US" dirty="0"/>
              <a:t>；</a:t>
            </a:r>
          </a:p>
          <a:p>
            <a:pPr lvl="1" indent="0">
              <a:buNone/>
            </a:pPr>
            <a:r>
              <a:rPr lang="zh-CN" altLang="en-US" dirty="0"/>
              <a:t>     </a:t>
            </a:r>
            <a:r>
              <a:rPr lang="en-US" altLang="zh-CN" dirty="0" err="1"/>
              <a:t>int</a:t>
            </a:r>
            <a:r>
              <a:rPr lang="en-US" altLang="zh-CN" dirty="0"/>
              <a:t> day</a:t>
            </a:r>
            <a:r>
              <a:rPr lang="zh-CN" altLang="en-US" dirty="0"/>
              <a:t>；</a:t>
            </a:r>
          </a:p>
          <a:p>
            <a:pPr lvl="1" indent="0">
              <a:buNone/>
            </a:pPr>
            <a:r>
              <a:rPr lang="zh-CN" altLang="en-US" dirty="0"/>
              <a:t>     </a:t>
            </a:r>
            <a:r>
              <a:rPr lang="en-US" altLang="zh-CN" dirty="0" err="1"/>
              <a:t>int</a:t>
            </a:r>
            <a:r>
              <a:rPr lang="en-US" altLang="zh-CN" dirty="0"/>
              <a:t> year</a:t>
            </a:r>
            <a:r>
              <a:rPr lang="zh-CN" altLang="en-US" dirty="0"/>
              <a:t>；</a:t>
            </a:r>
            <a:r>
              <a:rPr lang="en-US" altLang="zh-CN" dirty="0"/>
              <a:t>}  </a:t>
            </a:r>
            <a:r>
              <a:rPr lang="en-US" altLang="zh-CN" dirty="0">
                <a:solidFill>
                  <a:srgbClr val="030DCD"/>
                </a:solidFill>
              </a:rPr>
              <a:t>DATE</a:t>
            </a:r>
            <a:r>
              <a:rPr lang="zh-CN" altLang="en-US" dirty="0">
                <a:solidFill>
                  <a:srgbClr val="030DCD"/>
                </a:solidFill>
              </a:rPr>
              <a:t>，</a:t>
            </a:r>
            <a:r>
              <a:rPr lang="en-US" altLang="zh-CN" dirty="0">
                <a:solidFill>
                  <a:srgbClr val="030DCD"/>
                </a:solidFill>
              </a:rPr>
              <a:t>*LINK;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则，</a:t>
            </a:r>
            <a:r>
              <a:rPr lang="zh-CN" altLang="en-US" dirty="0">
                <a:solidFill>
                  <a:srgbClr val="006600"/>
                </a:solidFill>
              </a:rPr>
              <a:t>下述语句等价</a:t>
            </a:r>
            <a:endParaRPr lang="en-US" altLang="zh-CN" dirty="0">
              <a:solidFill>
                <a:srgbClr val="006600"/>
              </a:solidFill>
            </a:endParaRPr>
          </a:p>
          <a:p>
            <a:pPr marL="971550" lvl="1"/>
            <a:r>
              <a:rPr lang="en-US" altLang="zh-CN" dirty="0">
                <a:solidFill>
                  <a:srgbClr val="FF0000"/>
                </a:solidFill>
              </a:rPr>
              <a:t>DATE </a:t>
            </a:r>
            <a:r>
              <a:rPr lang="en-US" altLang="zh-CN" dirty="0" err="1">
                <a:solidFill>
                  <a:srgbClr val="FF0000"/>
                </a:solidFill>
              </a:rPr>
              <a:t>date</a:t>
            </a:r>
            <a:r>
              <a:rPr lang="en-US" altLang="zh-CN" dirty="0">
                <a:solidFill>
                  <a:srgbClr val="FF0000"/>
                </a:solidFill>
              </a:rPr>
              <a:t>;  //</a:t>
            </a:r>
            <a:r>
              <a:rPr lang="zh-CN" altLang="en-US" dirty="0"/>
              <a:t>与 </a:t>
            </a:r>
            <a:r>
              <a:rPr lang="en-US" altLang="zh-CN" dirty="0" err="1">
                <a:solidFill>
                  <a:srgbClr val="006600"/>
                </a:solidFill>
              </a:rPr>
              <a:t>struct</a:t>
            </a:r>
            <a:r>
              <a:rPr lang="en-US" altLang="zh-CN" dirty="0">
                <a:solidFill>
                  <a:srgbClr val="006600"/>
                </a:solidFill>
              </a:rPr>
              <a:t> Date </a:t>
            </a:r>
            <a:r>
              <a:rPr lang="en-US" altLang="zh-CN" dirty="0" err="1">
                <a:solidFill>
                  <a:srgbClr val="006600"/>
                </a:solidFill>
              </a:rPr>
              <a:t>date</a:t>
            </a:r>
            <a:r>
              <a:rPr lang="en-US" altLang="zh-CN" dirty="0">
                <a:solidFill>
                  <a:srgbClr val="006600"/>
                </a:solidFill>
              </a:rPr>
              <a:t>; </a:t>
            </a:r>
            <a:r>
              <a:rPr lang="zh-CN" altLang="en-US" dirty="0"/>
              <a:t>等价；</a:t>
            </a:r>
            <a:r>
              <a:rPr lang="en-US" altLang="zh-CN" dirty="0"/>
              <a:t> </a:t>
            </a:r>
          </a:p>
          <a:p>
            <a:pPr marL="971550" lvl="1"/>
            <a:r>
              <a:rPr lang="en-US" altLang="zh-CN" dirty="0">
                <a:solidFill>
                  <a:srgbClr val="FF0000"/>
                </a:solidFill>
              </a:rPr>
              <a:t>LINK </a:t>
            </a:r>
            <a:r>
              <a:rPr lang="en-US" altLang="zh-CN" dirty="0" err="1">
                <a:solidFill>
                  <a:srgbClr val="FF0000"/>
                </a:solidFill>
              </a:rPr>
              <a:t>link</a:t>
            </a:r>
            <a:r>
              <a:rPr lang="en-US" altLang="zh-CN" dirty="0">
                <a:solidFill>
                  <a:srgbClr val="FF0000"/>
                </a:solidFill>
              </a:rPr>
              <a:t>;   //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rgbClr val="006600"/>
                </a:solidFill>
              </a:rPr>
              <a:t> </a:t>
            </a:r>
            <a:r>
              <a:rPr lang="en-US" altLang="zh-CN" dirty="0" err="1">
                <a:solidFill>
                  <a:srgbClr val="006600"/>
                </a:solidFill>
              </a:rPr>
              <a:t>struct</a:t>
            </a:r>
            <a:r>
              <a:rPr lang="en-US" altLang="zh-CN" dirty="0">
                <a:solidFill>
                  <a:srgbClr val="006600"/>
                </a:solidFill>
              </a:rPr>
              <a:t> Date *link; </a:t>
            </a:r>
            <a:r>
              <a:rPr lang="zh-CN" altLang="en-US" dirty="0"/>
              <a:t>等价；</a:t>
            </a:r>
            <a:r>
              <a:rPr lang="en-US" altLang="zh-CN" dirty="0"/>
              <a:t> //</a:t>
            </a:r>
            <a:r>
              <a:rPr lang="zh-CN" altLang="en-US" dirty="0"/>
              <a:t>不建议，降低可读性</a:t>
            </a:r>
            <a:endParaRPr lang="en-US" altLang="zh-CN" dirty="0"/>
          </a:p>
          <a:p>
            <a:pPr marL="971550" lvl="1"/>
            <a:endParaRPr lang="en-US" altLang="zh-CN" dirty="0">
              <a:solidFill>
                <a:srgbClr val="FF0000"/>
              </a:solidFill>
            </a:endParaRPr>
          </a:p>
          <a:p>
            <a:pPr marL="971550" lvl="1"/>
            <a:endParaRPr lang="en-US" altLang="zh-CN" dirty="0">
              <a:solidFill>
                <a:srgbClr val="006600"/>
              </a:solidFill>
            </a:endParaRPr>
          </a:p>
          <a:p>
            <a:pPr lvl="1" indent="0">
              <a:buNone/>
            </a:pPr>
            <a:endParaRPr lang="en-US" altLang="zh-CN" dirty="0">
              <a:solidFill>
                <a:srgbClr val="FF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6000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 err="1"/>
              <a:t>typedef</a:t>
            </a:r>
            <a:r>
              <a:rPr lang="zh-CN" altLang="en-US" dirty="0"/>
              <a:t>定义类型的方法例</a:t>
            </a:r>
            <a:r>
              <a:rPr lang="en-US" altLang="zh-CN" dirty="0"/>
              <a:t>—FILE</a:t>
            </a:r>
            <a:r>
              <a:rPr lang="zh-CN" altLang="en-US" dirty="0"/>
              <a:t>结构体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定义文件结构体（参见</a:t>
            </a:r>
            <a:r>
              <a:rPr lang="en-US" altLang="zh-CN" dirty="0" err="1"/>
              <a:t>stdio.h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800" dirty="0" err="1"/>
              <a:t>struct</a:t>
            </a:r>
            <a:r>
              <a:rPr lang="en-US" altLang="zh-CN" sz="1800" dirty="0"/>
              <a:t> _</a:t>
            </a:r>
            <a:r>
              <a:rPr lang="en-US" altLang="zh-CN" sz="1800" dirty="0" err="1"/>
              <a:t>iobuf</a:t>
            </a:r>
            <a:r>
              <a:rPr lang="en-US" altLang="zh-CN" sz="1800" dirty="0"/>
              <a:t> {</a:t>
            </a: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800" dirty="0"/>
              <a:t>    char *_</a:t>
            </a:r>
            <a:r>
              <a:rPr lang="en-US" altLang="zh-CN" sz="1800" dirty="0" err="1"/>
              <a:t>ptr</a:t>
            </a:r>
            <a:r>
              <a:rPr lang="en-US" altLang="zh-CN" sz="1800" dirty="0"/>
              <a:t>;  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_</a:t>
            </a:r>
            <a:r>
              <a:rPr lang="en-US" altLang="zh-CN" sz="1800" dirty="0" err="1"/>
              <a:t>cnt</a:t>
            </a:r>
            <a:r>
              <a:rPr lang="en-US" altLang="zh-CN" sz="1800" dirty="0"/>
              <a:t>;    char *_base; </a:t>
            </a: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800" dirty="0"/>
              <a:t>   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_flag;     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_file;   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_</a:t>
            </a:r>
            <a:r>
              <a:rPr lang="en-US" altLang="zh-CN" sz="1800" dirty="0" err="1"/>
              <a:t>charbuf</a:t>
            </a:r>
            <a:r>
              <a:rPr lang="en-US" altLang="zh-CN" sz="1800" dirty="0"/>
              <a:t>; </a:t>
            </a: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800" dirty="0"/>
              <a:t>   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_</a:t>
            </a:r>
            <a:r>
              <a:rPr lang="en-US" altLang="zh-CN" sz="1800" dirty="0" err="1"/>
              <a:t>bufsiz</a:t>
            </a:r>
            <a:r>
              <a:rPr lang="en-US" altLang="zh-CN" sz="1800" dirty="0"/>
              <a:t>;  char *_</a:t>
            </a:r>
            <a:r>
              <a:rPr lang="en-US" altLang="zh-CN" sz="1800" dirty="0" err="1"/>
              <a:t>tmpfname</a:t>
            </a:r>
            <a:r>
              <a:rPr lang="en-US" altLang="zh-CN" sz="1800" dirty="0"/>
              <a:t>; </a:t>
            </a: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800" dirty="0"/>
              <a:t>  };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定义结构变量</a:t>
            </a:r>
            <a:endParaRPr lang="en-US" altLang="zh-CN" dirty="0"/>
          </a:p>
          <a:p>
            <a:pPr marL="971550" lvl="1"/>
            <a:r>
              <a:rPr lang="en-US" altLang="zh-CN" sz="1800" dirty="0" err="1"/>
              <a:t>struct</a:t>
            </a:r>
            <a:r>
              <a:rPr lang="en-US" altLang="zh-CN" sz="1800" dirty="0"/>
              <a:t> _</a:t>
            </a:r>
            <a:r>
              <a:rPr lang="en-US" altLang="zh-CN" sz="1800" dirty="0" err="1"/>
              <a:t>iobuf</a:t>
            </a:r>
            <a:r>
              <a:rPr lang="en-US" altLang="zh-CN" sz="1800" dirty="0"/>
              <a:t>  </a:t>
            </a:r>
            <a:r>
              <a:rPr lang="en-US" altLang="zh-CN" sz="1800" dirty="0" err="1"/>
              <a:t>fileBuf</a:t>
            </a:r>
            <a:r>
              <a:rPr lang="en-US" altLang="zh-CN" sz="1800" dirty="0">
                <a:solidFill>
                  <a:srgbClr val="030DCD"/>
                </a:solidFill>
              </a:rPr>
              <a:t>;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将变量名替换成自己指定的类型名</a:t>
            </a:r>
            <a:r>
              <a:rPr lang="en-US" altLang="zh-CN" sz="2000" dirty="0"/>
              <a:t>FILE</a:t>
            </a:r>
            <a:r>
              <a:rPr lang="zh-CN" altLang="en-US" sz="2000" dirty="0"/>
              <a:t>，并在前面加上</a:t>
            </a:r>
            <a:r>
              <a:rPr lang="en-US" altLang="zh-CN" sz="2000" dirty="0" err="1"/>
              <a:t>typedef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 marL="971550" lvl="1"/>
            <a:r>
              <a:rPr lang="en-US" altLang="zh-CN" sz="1800" b="1" dirty="0" err="1">
                <a:solidFill>
                  <a:srgbClr val="FF0000"/>
                </a:solidFill>
              </a:rPr>
              <a:t>typedef</a:t>
            </a:r>
            <a:r>
              <a:rPr lang="en-US" altLang="zh-CN" sz="1800" b="1" dirty="0">
                <a:solidFill>
                  <a:srgbClr val="FF0000"/>
                </a:solidFill>
              </a:rPr>
              <a:t>  </a:t>
            </a:r>
            <a:r>
              <a:rPr lang="en-US" altLang="zh-CN" sz="1800" b="1" dirty="0" err="1">
                <a:solidFill>
                  <a:srgbClr val="FF0000"/>
                </a:solidFill>
              </a:rPr>
              <a:t>struct</a:t>
            </a:r>
            <a:r>
              <a:rPr lang="en-US" altLang="zh-CN" sz="1800" b="1" dirty="0">
                <a:solidFill>
                  <a:srgbClr val="FF0000"/>
                </a:solidFill>
              </a:rPr>
              <a:t> _</a:t>
            </a:r>
            <a:r>
              <a:rPr lang="en-US" altLang="zh-CN" sz="1800" b="1" dirty="0" err="1">
                <a:solidFill>
                  <a:srgbClr val="FF0000"/>
                </a:solidFill>
              </a:rPr>
              <a:t>iobuf</a:t>
            </a:r>
            <a:r>
              <a:rPr lang="en-US" altLang="zh-CN" sz="1800" b="1" dirty="0">
                <a:solidFill>
                  <a:srgbClr val="FF0000"/>
                </a:solidFill>
              </a:rPr>
              <a:t>  FILE;</a:t>
            </a:r>
          </a:p>
          <a:p>
            <a:pPr marL="971550" lvl="1"/>
            <a:r>
              <a:rPr lang="zh-CN" altLang="en-US" dirty="0"/>
              <a:t>使用自定义类型定义变量：</a:t>
            </a:r>
            <a:r>
              <a:rPr lang="en-US" altLang="zh-CN" dirty="0">
                <a:solidFill>
                  <a:srgbClr val="030DCD"/>
                </a:solidFill>
              </a:rPr>
              <a:t>FILE *</a:t>
            </a:r>
            <a:r>
              <a:rPr lang="en-US" altLang="zh-CN" dirty="0" err="1">
                <a:solidFill>
                  <a:srgbClr val="030DCD"/>
                </a:solidFill>
              </a:rPr>
              <a:t>fp</a:t>
            </a:r>
            <a:r>
              <a:rPr lang="en-US" altLang="zh-CN" dirty="0">
                <a:solidFill>
                  <a:srgbClr val="030DCD"/>
                </a:solidFill>
              </a:rPr>
              <a:t>;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86288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</a:t>
            </a:r>
            <a:r>
              <a:rPr lang="en-US" altLang="zh-CN" dirty="0" err="1"/>
              <a:t>typedef</a:t>
            </a:r>
            <a:r>
              <a:rPr lang="zh-CN" altLang="en-US" dirty="0"/>
              <a:t>的几点说明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可以用</a:t>
            </a:r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typedef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可以</a:t>
            </a:r>
            <a:r>
              <a:rPr lang="zh-CN" altLang="en-US" sz="2000" dirty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声明各种类型名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，但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不能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用来</a:t>
            </a:r>
            <a:r>
              <a:rPr lang="zh-CN" altLang="en-US" sz="2000" dirty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定义变量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typedef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只是对已经存在的类型增加一个类型名，而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不能创造新的类型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当不同源文件中用到同一类型数据时，常用</a:t>
            </a:r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typedef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声明一些数据类型，一般把它们单独放在一个公共文件中，如头文件中，然后在需要用到它们的文件中用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命令把它们包含进来。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typedef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有利于程序的通用性与移植性，以及简化程序的书写，但可能影响程序的可读性；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19096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solidFill>
                  <a:srgbClr val="000099"/>
                </a:solidFill>
                <a:latin typeface="+mn-lt"/>
                <a:ea typeface="+mn-ea"/>
              </a:rPr>
              <a:t>typedef</a:t>
            </a:r>
            <a:r>
              <a:rPr lang="zh-CN" altLang="en-US" dirty="0">
                <a:solidFill>
                  <a:srgbClr val="000099"/>
                </a:solidFill>
                <a:latin typeface="+mn-lt"/>
                <a:ea typeface="+mn-ea"/>
              </a:rPr>
              <a:t>与</a:t>
            </a:r>
            <a:r>
              <a:rPr lang="en-US" altLang="zh-CN" dirty="0">
                <a:solidFill>
                  <a:srgbClr val="000099"/>
                </a:solidFill>
                <a:latin typeface="+mn-lt"/>
                <a:ea typeface="+mn-ea"/>
              </a:rPr>
              <a:t>#define</a:t>
            </a:r>
            <a:endParaRPr lang="zh-CN" altLang="en-US" dirty="0">
              <a:latin typeface="+mn-lt"/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 err="1">
                <a:solidFill>
                  <a:srgbClr val="000000"/>
                </a:solidFill>
              </a:rPr>
              <a:t>typedef</a:t>
            </a:r>
            <a:r>
              <a:rPr lang="zh-CN" altLang="en-US" sz="2000" dirty="0">
                <a:solidFill>
                  <a:srgbClr val="000000"/>
                </a:solidFill>
              </a:rPr>
              <a:t>与</a:t>
            </a:r>
            <a:r>
              <a:rPr lang="en-US" altLang="zh-CN" sz="2000" dirty="0">
                <a:solidFill>
                  <a:srgbClr val="000000"/>
                </a:solidFill>
              </a:rPr>
              <a:t>#define</a:t>
            </a:r>
            <a:r>
              <a:rPr lang="zh-CN" altLang="en-US" sz="2000" dirty="0">
                <a:solidFill>
                  <a:srgbClr val="000000"/>
                </a:solidFill>
              </a:rPr>
              <a:t>相似之处</a:t>
            </a:r>
          </a:p>
          <a:p>
            <a:pPr marL="971550" lvl="1">
              <a:lnSpc>
                <a:spcPct val="115000"/>
              </a:lnSpc>
            </a:pPr>
            <a:r>
              <a:rPr lang="en-US" altLang="zh-CN" sz="1800" dirty="0" err="1">
                <a:solidFill>
                  <a:srgbClr val="000000"/>
                </a:solidFill>
              </a:rPr>
              <a:t>typedef</a:t>
            </a:r>
            <a:r>
              <a:rPr lang="en-US" altLang="zh-CN" sz="1800" dirty="0">
                <a:solidFill>
                  <a:srgbClr val="000000"/>
                </a:solidFill>
              </a:rPr>
              <a:t>   </a:t>
            </a:r>
            <a:r>
              <a:rPr lang="en-US" altLang="zh-CN" sz="1800" dirty="0" err="1">
                <a:solidFill>
                  <a:srgbClr val="000000"/>
                </a:solidFill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</a:rPr>
              <a:t>  _</a:t>
            </a:r>
            <a:r>
              <a:rPr lang="en-US" altLang="zh-CN" sz="1800" dirty="0" err="1">
                <a:solidFill>
                  <a:srgbClr val="000000"/>
                </a:solidFill>
              </a:rPr>
              <a:t>int</a:t>
            </a:r>
            <a:r>
              <a:rPr lang="zh-CN" altLang="en-US" sz="1800" dirty="0">
                <a:solidFill>
                  <a:srgbClr val="000000"/>
                </a:solidFill>
              </a:rPr>
              <a:t>；与</a:t>
            </a:r>
            <a:endParaRPr lang="en-US" altLang="zh-CN" sz="1800" dirty="0">
              <a:solidFill>
                <a:srgbClr val="000000"/>
              </a:solidFill>
            </a:endParaRPr>
          </a:p>
          <a:p>
            <a:pPr marL="971550" lvl="1">
              <a:lnSpc>
                <a:spcPct val="115000"/>
              </a:lnSpc>
            </a:pPr>
            <a:r>
              <a:rPr lang="en-US" altLang="zh-CN" sz="1800" dirty="0">
                <a:solidFill>
                  <a:srgbClr val="000000"/>
                </a:solidFill>
              </a:rPr>
              <a:t>#define   _</a:t>
            </a:r>
            <a:r>
              <a:rPr lang="en-US" altLang="zh-CN" sz="1800" dirty="0" err="1">
                <a:solidFill>
                  <a:srgbClr val="000000"/>
                </a:solidFill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</a:rPr>
              <a:t>  </a:t>
            </a:r>
            <a:r>
              <a:rPr lang="en-US" altLang="zh-CN" sz="1800" dirty="0" err="1">
                <a:solidFill>
                  <a:srgbClr val="000000"/>
                </a:solidFill>
              </a:rPr>
              <a:t>int</a:t>
            </a:r>
            <a:r>
              <a:rPr lang="zh-CN" altLang="en-US" sz="1800" dirty="0"/>
              <a:t>   </a:t>
            </a:r>
            <a:r>
              <a:rPr lang="zh-CN" altLang="en-US" sz="1800" dirty="0">
                <a:solidFill>
                  <a:srgbClr val="000000"/>
                </a:solidFill>
              </a:rPr>
              <a:t>都是用</a:t>
            </a:r>
            <a:r>
              <a:rPr lang="en-US" altLang="zh-CN" sz="1800" dirty="0"/>
              <a:t>_</a:t>
            </a:r>
            <a:r>
              <a:rPr lang="en-US" altLang="zh-CN" sz="1800" dirty="0" err="1"/>
              <a:t>int</a:t>
            </a:r>
            <a:r>
              <a:rPr lang="zh-CN" altLang="en-US" sz="1800" dirty="0">
                <a:solidFill>
                  <a:srgbClr val="000000"/>
                </a:solidFill>
              </a:rPr>
              <a:t>代表</a:t>
            </a:r>
            <a:r>
              <a:rPr lang="en-US" altLang="zh-CN" sz="1800" dirty="0" err="1">
                <a:solidFill>
                  <a:srgbClr val="000000"/>
                </a:solidFill>
              </a:rPr>
              <a:t>int</a:t>
            </a:r>
            <a:r>
              <a:rPr lang="zh-CN" altLang="en-US" sz="1800" dirty="0">
                <a:solidFill>
                  <a:srgbClr val="000000"/>
                </a:solidFill>
              </a:rPr>
              <a:t>；</a:t>
            </a:r>
            <a:endParaRPr lang="en-US" altLang="zh-CN" sz="1800" dirty="0">
              <a:solidFill>
                <a:srgbClr val="000000"/>
              </a:solidFill>
            </a:endParaRPr>
          </a:p>
          <a:p>
            <a:pPr marL="342900" indent="-34290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</a:rPr>
              <a:t>两者的不同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971550" lvl="1">
              <a:lnSpc>
                <a:spcPct val="115000"/>
              </a:lnSpc>
            </a:pPr>
            <a:r>
              <a:rPr lang="en-US" altLang="zh-CN" sz="1800" dirty="0">
                <a:solidFill>
                  <a:srgbClr val="000000"/>
                </a:solidFill>
              </a:rPr>
              <a:t>#define</a:t>
            </a:r>
            <a:r>
              <a:rPr lang="zh-CN" altLang="en-US" sz="1800" dirty="0">
                <a:solidFill>
                  <a:srgbClr val="000000"/>
                </a:solidFill>
              </a:rPr>
              <a:t>是在</a:t>
            </a:r>
            <a:r>
              <a:rPr lang="zh-CN" altLang="en-US" sz="1800" dirty="0">
                <a:solidFill>
                  <a:srgbClr val="C00000"/>
                </a:solidFill>
              </a:rPr>
              <a:t>预编译时</a:t>
            </a:r>
            <a:r>
              <a:rPr lang="zh-CN" altLang="en-US" sz="1800" dirty="0">
                <a:solidFill>
                  <a:srgbClr val="000000"/>
                </a:solidFill>
              </a:rPr>
              <a:t>处理的，它只能作简单的字符串替换；</a:t>
            </a:r>
            <a:endParaRPr lang="en-US" altLang="zh-CN" sz="1800" dirty="0">
              <a:solidFill>
                <a:srgbClr val="000000"/>
              </a:solidFill>
            </a:endParaRPr>
          </a:p>
          <a:p>
            <a:pPr marL="971550" lvl="1">
              <a:lnSpc>
                <a:spcPct val="115000"/>
              </a:lnSpc>
            </a:pPr>
            <a:r>
              <a:rPr lang="zh-CN" altLang="en-US" sz="1800" dirty="0">
                <a:solidFill>
                  <a:srgbClr val="000000"/>
                </a:solidFill>
              </a:rPr>
              <a:t>而</a:t>
            </a:r>
            <a:r>
              <a:rPr lang="en-US" altLang="zh-CN" sz="1800" dirty="0" err="1">
                <a:solidFill>
                  <a:srgbClr val="000000"/>
                </a:solidFill>
              </a:rPr>
              <a:t>typedef</a:t>
            </a:r>
            <a:r>
              <a:rPr lang="zh-CN" altLang="en-US" sz="1800" dirty="0">
                <a:solidFill>
                  <a:srgbClr val="000000"/>
                </a:solidFill>
              </a:rPr>
              <a:t>是在</a:t>
            </a:r>
            <a:r>
              <a:rPr lang="zh-CN" altLang="en-US" sz="1800" dirty="0">
                <a:solidFill>
                  <a:srgbClr val="C00000"/>
                </a:solidFill>
              </a:rPr>
              <a:t>编译时</a:t>
            </a:r>
            <a:r>
              <a:rPr lang="zh-CN" altLang="en-US" sz="1800" dirty="0">
                <a:solidFill>
                  <a:srgbClr val="000000"/>
                </a:solidFill>
              </a:rPr>
              <a:t>处理的，它并不是作简单的字符串替换，而是采用如同定义变量的方法那样来声明一个类型；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因此对于一些简单的数据类型，</a:t>
            </a:r>
            <a:r>
              <a:rPr lang="en-US" altLang="zh-CN" sz="2000" dirty="0"/>
              <a:t>#define</a:t>
            </a:r>
            <a:r>
              <a:rPr lang="zh-CN" altLang="en-US" sz="2000" dirty="0"/>
              <a:t>可以代替</a:t>
            </a:r>
            <a:r>
              <a:rPr lang="en-US" altLang="zh-CN" sz="2000" dirty="0" err="1"/>
              <a:t>typedef</a:t>
            </a:r>
            <a:r>
              <a:rPr lang="zh-CN" altLang="en-US" sz="2000" dirty="0"/>
              <a:t>，但对于一些较为复杂的数据类型，</a:t>
            </a:r>
            <a:r>
              <a:rPr lang="en-US" altLang="zh-CN" sz="2000" dirty="0"/>
              <a:t>#define</a:t>
            </a:r>
            <a:r>
              <a:rPr lang="zh-CN" altLang="en-US" sz="2000" dirty="0"/>
              <a:t>无法胜任；</a:t>
            </a:r>
            <a:endParaRPr lang="en-US" altLang="zh-CN" sz="2000" dirty="0"/>
          </a:p>
          <a:p>
            <a:pPr marL="971550" lvl="1"/>
            <a:r>
              <a:rPr lang="en-US" altLang="zh-CN" sz="1800" dirty="0" err="1"/>
              <a:t>typedef</a:t>
            </a:r>
            <a:r>
              <a:rPr lang="en-US" altLang="zh-CN" sz="1800" dirty="0"/>
              <a:t>  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 _</a:t>
            </a:r>
            <a:r>
              <a:rPr lang="en-US" altLang="zh-CN" sz="1800" dirty="0" err="1"/>
              <a:t>int</a:t>
            </a:r>
            <a:r>
              <a:rPr lang="zh-CN" altLang="en-US" sz="1800" dirty="0"/>
              <a:t>； 可与用 </a:t>
            </a:r>
            <a:r>
              <a:rPr lang="en-US" altLang="zh-CN" sz="1800" dirty="0"/>
              <a:t>#define   _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 </a:t>
            </a:r>
            <a:r>
              <a:rPr lang="en-US" altLang="zh-CN" sz="1800" dirty="0" err="1"/>
              <a:t>int</a:t>
            </a:r>
            <a:r>
              <a:rPr lang="zh-CN" altLang="en-US" sz="1800" dirty="0"/>
              <a:t>替代；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 </a:t>
            </a:r>
            <a:r>
              <a:rPr lang="en-US" altLang="zh-CN" sz="1800" dirty="0" err="1">
                <a:solidFill>
                  <a:srgbClr val="C00000"/>
                </a:solidFill>
              </a:rPr>
              <a:t>typedef</a:t>
            </a:r>
            <a:r>
              <a:rPr lang="en-US" altLang="zh-CN" sz="1800" dirty="0">
                <a:solidFill>
                  <a:srgbClr val="C00000"/>
                </a:solidFill>
              </a:rPr>
              <a:t>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 </a:t>
            </a:r>
            <a:r>
              <a:rPr lang="en-US" altLang="zh-CN" sz="1800" dirty="0">
                <a:solidFill>
                  <a:srgbClr val="030DCD"/>
                </a:solidFill>
              </a:rPr>
              <a:t>NUM</a:t>
            </a:r>
            <a:r>
              <a:rPr lang="zh-CN" altLang="en-US" sz="1800" dirty="0"/>
              <a:t>［</a:t>
            </a:r>
            <a:r>
              <a:rPr lang="en-US" altLang="zh-CN" sz="1800" dirty="0"/>
              <a:t>100] </a:t>
            </a:r>
            <a:r>
              <a:rPr lang="zh-CN" altLang="en-US" sz="1800" dirty="0"/>
              <a:t>无法用</a:t>
            </a:r>
            <a:r>
              <a:rPr lang="en-US" altLang="zh-CN" sz="1800" dirty="0"/>
              <a:t>#define </a:t>
            </a:r>
            <a:r>
              <a:rPr lang="zh-CN" altLang="en-US" sz="1800" dirty="0"/>
              <a:t>替代；</a:t>
            </a:r>
          </a:p>
        </p:txBody>
      </p:sp>
    </p:spTree>
    <p:extLst>
      <p:ext uri="{BB962C8B-B14F-4D97-AF65-F5344CB8AC3E}">
        <p14:creationId xmlns:p14="http://schemas.microsoft.com/office/powerpoint/2010/main" val="24459420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/>
          <p:cNvSpPr>
            <a:spLocks noChangeArrowheads="1"/>
          </p:cNvSpPr>
          <p:nvPr/>
        </p:nvSpPr>
        <p:spPr bwMode="auto">
          <a:xfrm>
            <a:off x="6511925" y="56769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C0107C6E-6428-484D-8BFF-2A38D99BDED2}" type="slidenum">
              <a:rPr lang="en-US" altLang="zh-CN" sz="1400"/>
              <a:pPr algn="r"/>
              <a:t>30</a:t>
            </a:fld>
            <a:endParaRPr lang="en-US" altLang="zh-CN" sz="1400"/>
          </a:p>
        </p:txBody>
      </p:sp>
      <p:pic>
        <p:nvPicPr>
          <p:cNvPr id="19459" name="Picture 3" descr="sdu01_0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12125" y="3317875"/>
            <a:ext cx="990600" cy="963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0" name="Picture 4" descr="sdu03_01s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45325" y="4384675"/>
            <a:ext cx="990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1" name="Picture 5" descr="sdu04_05s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112125" y="4384675"/>
            <a:ext cx="990600" cy="91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2" name="Picture 6" descr="sdu06_03s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045325" y="5375275"/>
            <a:ext cx="990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3" name="Picture 7" descr="sdu01_16s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112125" y="5370513"/>
            <a:ext cx="990600" cy="919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4" name="Picture 8" descr="sdu05_04s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940425" y="5375275"/>
            <a:ext cx="10287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5" name="Rectangle 10"/>
          <p:cNvSpPr>
            <a:spLocks noGrp="1" noChangeArrowheads="1"/>
          </p:cNvSpPr>
          <p:nvPr>
            <p:ph type="title"/>
          </p:nvPr>
        </p:nvSpPr>
        <p:spPr>
          <a:xfrm>
            <a:off x="1052802" y="1579419"/>
            <a:ext cx="7327900" cy="830695"/>
          </a:xfrm>
        </p:spPr>
        <p:txBody>
          <a:bodyPr/>
          <a:lstStyle/>
          <a:p>
            <a:pPr eaLnBrk="1" hangingPunct="1"/>
            <a:r>
              <a:rPr lang="en-US" altLang="zh-CN" sz="4800" dirty="0"/>
              <a:t>Any  Question ?</a:t>
            </a:r>
            <a:endParaRPr lang="zh-CN" altLang="en-US" sz="48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623" y="3169163"/>
            <a:ext cx="5204012" cy="3291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88055478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53cd865050490">
  <a:themeElements>
    <a:clrScheme name="53cd865050490 1">
      <a:dk1>
        <a:srgbClr val="3D3F41"/>
      </a:dk1>
      <a:lt1>
        <a:srgbClr val="FFFFFF"/>
      </a:lt1>
      <a:dk2>
        <a:srgbClr val="3D3F41"/>
      </a:dk2>
      <a:lt2>
        <a:srgbClr val="EAF5FC"/>
      </a:lt2>
      <a:accent1>
        <a:srgbClr val="47B6E7"/>
      </a:accent1>
      <a:accent2>
        <a:srgbClr val="628EE3"/>
      </a:accent2>
      <a:accent3>
        <a:srgbClr val="FFFFFF"/>
      </a:accent3>
      <a:accent4>
        <a:srgbClr val="333436"/>
      </a:accent4>
      <a:accent5>
        <a:srgbClr val="B1D7F1"/>
      </a:accent5>
      <a:accent6>
        <a:srgbClr val="5880CE"/>
      </a:accent6>
      <a:hlink>
        <a:srgbClr val="00B0F0"/>
      </a:hlink>
      <a:folHlink>
        <a:srgbClr val="AFB2B4"/>
      </a:folHlink>
    </a:clrScheme>
    <a:fontScheme name="53cd865050490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53cd865050490 1">
        <a:dk1>
          <a:srgbClr val="3D3F41"/>
        </a:dk1>
        <a:lt1>
          <a:srgbClr val="FFFFFF"/>
        </a:lt1>
        <a:dk2>
          <a:srgbClr val="3D3F41"/>
        </a:dk2>
        <a:lt2>
          <a:srgbClr val="EAF5FC"/>
        </a:lt2>
        <a:accent1>
          <a:srgbClr val="47B6E7"/>
        </a:accent1>
        <a:accent2>
          <a:srgbClr val="628EE3"/>
        </a:accent2>
        <a:accent3>
          <a:srgbClr val="FFFFFF"/>
        </a:accent3>
        <a:accent4>
          <a:srgbClr val="333436"/>
        </a:accent4>
        <a:accent5>
          <a:srgbClr val="B1D7F1"/>
        </a:accent5>
        <a:accent6>
          <a:srgbClr val="5880CE"/>
        </a:accent6>
        <a:hlink>
          <a:srgbClr val="00B0F0"/>
        </a:hlink>
        <a:folHlink>
          <a:srgbClr val="AFB2B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000120150601A08PWBG">
  <a:themeElements>
    <a:clrScheme name="A000120150601A08PWBG 1">
      <a:dk1>
        <a:srgbClr val="4D4D4D"/>
      </a:dk1>
      <a:lt1>
        <a:srgbClr val="FFFFFF"/>
      </a:lt1>
      <a:dk2>
        <a:srgbClr val="4D4D4D"/>
      </a:dk2>
      <a:lt2>
        <a:srgbClr val="FFFFFF"/>
      </a:lt2>
      <a:accent1>
        <a:srgbClr val="B8650A"/>
      </a:accent1>
      <a:accent2>
        <a:srgbClr val="D37051"/>
      </a:accent2>
      <a:accent3>
        <a:srgbClr val="FFFFFF"/>
      </a:accent3>
      <a:accent4>
        <a:srgbClr val="404040"/>
      </a:accent4>
      <a:accent5>
        <a:srgbClr val="D8B8AA"/>
      </a:accent5>
      <a:accent6>
        <a:srgbClr val="BF6549"/>
      </a:accent6>
      <a:hlink>
        <a:srgbClr val="92D050"/>
      </a:hlink>
      <a:folHlink>
        <a:srgbClr val="AFB2B4"/>
      </a:folHlink>
    </a:clrScheme>
    <a:fontScheme name="A000120150601A08PWBG">
      <a:majorFont>
        <a:latin typeface="华文中宋"/>
        <a:ea typeface="华文中宋"/>
        <a:cs typeface=""/>
      </a:majorFont>
      <a:minorFont>
        <a:latin typeface="幼圆"/>
        <a:ea typeface="幼圆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A000120150601A08PWBG 1">
        <a:dk1>
          <a:srgbClr val="4D4D4D"/>
        </a:dk1>
        <a:lt1>
          <a:srgbClr val="FFFFFF"/>
        </a:lt1>
        <a:dk2>
          <a:srgbClr val="4D4D4D"/>
        </a:dk2>
        <a:lt2>
          <a:srgbClr val="FFFFFF"/>
        </a:lt2>
        <a:accent1>
          <a:srgbClr val="B8650A"/>
        </a:accent1>
        <a:accent2>
          <a:srgbClr val="D37051"/>
        </a:accent2>
        <a:accent3>
          <a:srgbClr val="FFFFFF"/>
        </a:accent3>
        <a:accent4>
          <a:srgbClr val="404040"/>
        </a:accent4>
        <a:accent5>
          <a:srgbClr val="D8B8AA"/>
        </a:accent5>
        <a:accent6>
          <a:srgbClr val="BF6549"/>
        </a:accent6>
        <a:hlink>
          <a:srgbClr val="92D050"/>
        </a:hlink>
        <a:folHlink>
          <a:srgbClr val="AFB2B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A000120150204A05PWBG">
  <a:themeElements>
    <a:clrScheme name="A000120150204A05PWBG 1">
      <a:dk1>
        <a:srgbClr val="5F5F5F"/>
      </a:dk1>
      <a:lt1>
        <a:srgbClr val="FFFFFF"/>
      </a:lt1>
      <a:dk2>
        <a:srgbClr val="5F5F5F"/>
      </a:dk2>
      <a:lt2>
        <a:srgbClr val="FFFFFF"/>
      </a:lt2>
      <a:accent1>
        <a:srgbClr val="FFB549"/>
      </a:accent1>
      <a:accent2>
        <a:srgbClr val="ED8E2F"/>
      </a:accent2>
      <a:accent3>
        <a:srgbClr val="B6B6B6"/>
      </a:accent3>
      <a:accent4>
        <a:srgbClr val="DADADA"/>
      </a:accent4>
      <a:accent5>
        <a:srgbClr val="FFD7B1"/>
      </a:accent5>
      <a:accent6>
        <a:srgbClr val="D7802A"/>
      </a:accent6>
      <a:hlink>
        <a:srgbClr val="00B0F0"/>
      </a:hlink>
      <a:folHlink>
        <a:srgbClr val="AFB2B4"/>
      </a:folHlink>
    </a:clrScheme>
    <a:fontScheme name="A000120150204A05PWBG">
      <a:majorFont>
        <a:latin typeface="Arial"/>
        <a:ea typeface="华文中宋"/>
        <a:cs typeface=""/>
      </a:majorFont>
      <a:minorFont>
        <a:latin typeface="Arial"/>
        <a:ea typeface="华文中宋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A000120150204A05PWBG 1">
        <a:dk1>
          <a:srgbClr val="5F5F5F"/>
        </a:dk1>
        <a:lt1>
          <a:srgbClr val="FFFFFF"/>
        </a:lt1>
        <a:dk2>
          <a:srgbClr val="5F5F5F"/>
        </a:dk2>
        <a:lt2>
          <a:srgbClr val="FFFFFF"/>
        </a:lt2>
        <a:accent1>
          <a:srgbClr val="FFB549"/>
        </a:accent1>
        <a:accent2>
          <a:srgbClr val="ED8E2F"/>
        </a:accent2>
        <a:accent3>
          <a:srgbClr val="B6B6B6"/>
        </a:accent3>
        <a:accent4>
          <a:srgbClr val="DADADA"/>
        </a:accent4>
        <a:accent5>
          <a:srgbClr val="FFD7B1"/>
        </a:accent5>
        <a:accent6>
          <a:srgbClr val="D7802A"/>
        </a:accent6>
        <a:hlink>
          <a:srgbClr val="00B0F0"/>
        </a:hlink>
        <a:folHlink>
          <a:srgbClr val="AFB2B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A000120150306A04PWBG">
  <a:themeElements>
    <a:clrScheme name="A000120150306A04PWBG 1">
      <a:dk1>
        <a:srgbClr val="5F5F5F"/>
      </a:dk1>
      <a:lt1>
        <a:srgbClr val="FFFFFF"/>
      </a:lt1>
      <a:dk2>
        <a:srgbClr val="5F5F5F"/>
      </a:dk2>
      <a:lt2>
        <a:srgbClr val="FFFFFF"/>
      </a:lt2>
      <a:accent1>
        <a:srgbClr val="47B6E7"/>
      </a:accent1>
      <a:accent2>
        <a:srgbClr val="628EE3"/>
      </a:accent2>
      <a:accent3>
        <a:srgbClr val="FFFFFF"/>
      </a:accent3>
      <a:accent4>
        <a:srgbClr val="505050"/>
      </a:accent4>
      <a:accent5>
        <a:srgbClr val="B1D7F1"/>
      </a:accent5>
      <a:accent6>
        <a:srgbClr val="5880CE"/>
      </a:accent6>
      <a:hlink>
        <a:srgbClr val="00B0F0"/>
      </a:hlink>
      <a:folHlink>
        <a:srgbClr val="AFB2B4"/>
      </a:folHlink>
    </a:clrScheme>
    <a:fontScheme name="A000120150306A04PWBG">
      <a:majorFont>
        <a:latin typeface="Times New Roman"/>
        <a:ea typeface="华文中宋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A000120150306A04PWBG 1">
        <a:dk1>
          <a:srgbClr val="5F5F5F"/>
        </a:dk1>
        <a:lt1>
          <a:srgbClr val="FFFFFF"/>
        </a:lt1>
        <a:dk2>
          <a:srgbClr val="5F5F5F"/>
        </a:dk2>
        <a:lt2>
          <a:srgbClr val="FFFFFF"/>
        </a:lt2>
        <a:accent1>
          <a:srgbClr val="47B6E7"/>
        </a:accent1>
        <a:accent2>
          <a:srgbClr val="628EE3"/>
        </a:accent2>
        <a:accent3>
          <a:srgbClr val="FFFFFF"/>
        </a:accent3>
        <a:accent4>
          <a:srgbClr val="505050"/>
        </a:accent4>
        <a:accent5>
          <a:srgbClr val="B1D7F1"/>
        </a:accent5>
        <a:accent6>
          <a:srgbClr val="5880CE"/>
        </a:accent6>
        <a:hlink>
          <a:srgbClr val="00B0F0"/>
        </a:hlink>
        <a:folHlink>
          <a:srgbClr val="AFB2B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默认设计模板">
  <a:themeElements>
    <a:clrScheme name="1_默认设计模板 9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99"/>
      </a:hlink>
      <a:folHlink>
        <a:srgbClr val="336699"/>
      </a:folHlink>
    </a:clrScheme>
    <a:fontScheme name="1_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gradFill flip="none" rotWithShape="1">
          <a:gsLst>
            <a:gs pos="0">
              <a:srgbClr val="00B0F0">
                <a:tint val="66000"/>
                <a:satMod val="160000"/>
              </a:srgbClr>
            </a:gs>
            <a:gs pos="50000">
              <a:srgbClr val="00B0F0">
                <a:tint val="44500"/>
                <a:satMod val="160000"/>
              </a:srgbClr>
            </a:gs>
            <a:gs pos="100000">
              <a:srgbClr val="00B0F0">
                <a:tint val="23500"/>
                <a:satMod val="160000"/>
              </a:srgbClr>
            </a:gs>
          </a:gsLst>
          <a:lin ang="13500000" scaled="1"/>
          <a:tileRect/>
        </a:gradFill>
      </a:spPr>
      <a:bodyPr wrap="square" rtlCol="0">
        <a:spAutoFit/>
      </a:bodyPr>
      <a:lstStyle>
        <a:defPPr>
          <a:defRPr dirty="0"/>
        </a:defPPr>
      </a:lstStyle>
    </a:tx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99"/>
        </a:hlink>
        <a:folHlink>
          <a:srgbClr val="3366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A000120150306A04PWBG 1">
    <a:dk1>
      <a:srgbClr val="5F5F5F"/>
    </a:dk1>
    <a:lt1>
      <a:srgbClr val="FFFFFF"/>
    </a:lt1>
    <a:dk2>
      <a:srgbClr val="5F5F5F"/>
    </a:dk2>
    <a:lt2>
      <a:srgbClr val="FFFFFF"/>
    </a:lt2>
    <a:accent1>
      <a:srgbClr val="47B6E7"/>
    </a:accent1>
    <a:accent2>
      <a:srgbClr val="628EE3"/>
    </a:accent2>
    <a:accent3>
      <a:srgbClr val="FFFFFF"/>
    </a:accent3>
    <a:accent4>
      <a:srgbClr val="505050"/>
    </a:accent4>
    <a:accent5>
      <a:srgbClr val="B1D7F1"/>
    </a:accent5>
    <a:accent6>
      <a:srgbClr val="5880CE"/>
    </a:accent6>
    <a:hlink>
      <a:srgbClr val="00B0F0"/>
    </a:hlink>
    <a:folHlink>
      <a:srgbClr val="AFB2B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6224</TotalTime>
  <Words>2988</Words>
  <Application>Microsoft Office PowerPoint</Application>
  <PresentationFormat>全屏显示(4:3)</PresentationFormat>
  <Paragraphs>294</Paragraphs>
  <Slides>30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30</vt:i4>
      </vt:variant>
    </vt:vector>
  </HeadingPairs>
  <TitlesOfParts>
    <vt:vector size="46" baseType="lpstr">
      <vt:lpstr>华文中宋</vt:lpstr>
      <vt:lpstr>楷体_GB2312</vt:lpstr>
      <vt:lpstr>宋体</vt:lpstr>
      <vt:lpstr>微软雅黑</vt:lpstr>
      <vt:lpstr>幼圆</vt:lpstr>
      <vt:lpstr>Arial</vt:lpstr>
      <vt:lpstr>Arial Black</vt:lpstr>
      <vt:lpstr>Calibri</vt:lpstr>
      <vt:lpstr>Times New Roman</vt:lpstr>
      <vt:lpstr>Wingdings</vt:lpstr>
      <vt:lpstr>Wingdings 2</vt:lpstr>
      <vt:lpstr>53cd865050490</vt:lpstr>
      <vt:lpstr>A000120150601A08PWBG</vt:lpstr>
      <vt:lpstr>A000120150204A05PWBG</vt:lpstr>
      <vt:lpstr>A000120150306A04PWBG</vt:lpstr>
      <vt:lpstr>1_默认设计模板</vt:lpstr>
      <vt:lpstr>计算导论与程序设计</vt:lpstr>
      <vt:lpstr>枚举类型与自定义类型</vt:lpstr>
      <vt:lpstr>枚举类型</vt:lpstr>
      <vt:lpstr>枚举类型定义与枚举型变量定义</vt:lpstr>
      <vt:lpstr>枚举类型定义与枚举型变量定义</vt:lpstr>
      <vt:lpstr>枚举类型定义与枚举型变量定义</vt:lpstr>
      <vt:lpstr>枚举元素或枚举常量的值</vt:lpstr>
      <vt:lpstr>定义枚举类型时改变枚举元素的值</vt:lpstr>
      <vt:lpstr>枚举元素的运算</vt:lpstr>
      <vt:lpstr>整型变量与枚举变量之间的赋值</vt:lpstr>
      <vt:lpstr>整型变量与枚举变量之间的赋值</vt:lpstr>
      <vt:lpstr>枚举变量作为循环变量</vt:lpstr>
      <vt:lpstr>小结：关于枚举元素、枚举变量的引用与赋值</vt:lpstr>
      <vt:lpstr>枚举类型--例—取三个不同色的球</vt:lpstr>
      <vt:lpstr>枚举类型--例—取三个不同色的球-参考代码</vt:lpstr>
      <vt:lpstr>用typedef自定义数据类型</vt:lpstr>
      <vt:lpstr>用typedef自定义数据类型—便于程序的移植</vt:lpstr>
      <vt:lpstr>用typedef自定义数据类型—简化程序的书写</vt:lpstr>
      <vt:lpstr>用typedef自定义数据类型</vt:lpstr>
      <vt:lpstr>用typedef自定义数据类型</vt:lpstr>
      <vt:lpstr>用typedef定义类型的方法</vt:lpstr>
      <vt:lpstr>用typedef定义类型的方法例—NUM[100]</vt:lpstr>
      <vt:lpstr>用typedef定义类型的方法例—*STRING</vt:lpstr>
      <vt:lpstr>用typedef定义类型的方法例—函数指针</vt:lpstr>
      <vt:lpstr>用typedef定义类型的方法例—结构与结构指针</vt:lpstr>
      <vt:lpstr>用typedef定义类型的方法例—结构与结构指针</vt:lpstr>
      <vt:lpstr>用typedef定义类型的方法例—FILE结构体</vt:lpstr>
      <vt:lpstr>关于typedef的几点说明</vt:lpstr>
      <vt:lpstr>typedef与#define</vt:lpstr>
      <vt:lpstr>Any  Question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han</cp:lastModifiedBy>
  <cp:revision>1398</cp:revision>
  <dcterms:created xsi:type="dcterms:W3CDTF">2013-01-25T01:44:00Z</dcterms:created>
  <dcterms:modified xsi:type="dcterms:W3CDTF">2021-12-20T14:36:48Z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2052-10.1.0.6065</vt:lpwstr>
  </property>
</Properties>
</file>