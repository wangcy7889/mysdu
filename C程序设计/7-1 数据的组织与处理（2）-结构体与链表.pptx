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148"/>
  </p:notesMasterIdLst>
  <p:sldIdLst>
    <p:sldId id="256" r:id="rId6"/>
    <p:sldId id="438" r:id="rId7"/>
    <p:sldId id="442" r:id="rId8"/>
    <p:sldId id="444" r:id="rId9"/>
    <p:sldId id="443" r:id="rId10"/>
    <p:sldId id="441" r:id="rId11"/>
    <p:sldId id="452" r:id="rId12"/>
    <p:sldId id="454" r:id="rId13"/>
    <p:sldId id="451" r:id="rId14"/>
    <p:sldId id="450" r:id="rId15"/>
    <p:sldId id="455" r:id="rId16"/>
    <p:sldId id="625" r:id="rId17"/>
    <p:sldId id="449" r:id="rId18"/>
    <p:sldId id="582" r:id="rId19"/>
    <p:sldId id="583" r:id="rId20"/>
    <p:sldId id="587" r:id="rId21"/>
    <p:sldId id="617" r:id="rId22"/>
    <p:sldId id="586" r:id="rId23"/>
    <p:sldId id="633" r:id="rId24"/>
    <p:sldId id="616" r:id="rId25"/>
    <p:sldId id="611" r:id="rId26"/>
    <p:sldId id="641" r:id="rId27"/>
    <p:sldId id="612" r:id="rId28"/>
    <p:sldId id="638" r:id="rId29"/>
    <p:sldId id="613" r:id="rId30"/>
    <p:sldId id="447" r:id="rId31"/>
    <p:sldId id="614" r:id="rId32"/>
    <p:sldId id="615" r:id="rId33"/>
    <p:sldId id="648" r:id="rId34"/>
    <p:sldId id="458" r:id="rId35"/>
    <p:sldId id="445" r:id="rId36"/>
    <p:sldId id="461" r:id="rId37"/>
    <p:sldId id="460" r:id="rId38"/>
    <p:sldId id="262" r:id="rId39"/>
    <p:sldId id="621" r:id="rId40"/>
    <p:sldId id="647" r:id="rId41"/>
    <p:sldId id="456" r:id="rId42"/>
    <p:sldId id="466" r:id="rId43"/>
    <p:sldId id="462" r:id="rId44"/>
    <p:sldId id="467" r:id="rId45"/>
    <p:sldId id="463" r:id="rId46"/>
    <p:sldId id="624" r:id="rId47"/>
    <p:sldId id="468" r:id="rId48"/>
    <p:sldId id="645" r:id="rId49"/>
    <p:sldId id="646" r:id="rId50"/>
    <p:sldId id="469" r:id="rId51"/>
    <p:sldId id="497" r:id="rId52"/>
    <p:sldId id="471" r:id="rId53"/>
    <p:sldId id="470" r:id="rId54"/>
    <p:sldId id="642" r:id="rId55"/>
    <p:sldId id="472" r:id="rId56"/>
    <p:sldId id="498" r:id="rId57"/>
    <p:sldId id="502" r:id="rId58"/>
    <p:sldId id="503" r:id="rId59"/>
    <p:sldId id="622" r:id="rId60"/>
    <p:sldId id="499" r:id="rId61"/>
    <p:sldId id="504" r:id="rId62"/>
    <p:sldId id="505" r:id="rId63"/>
    <p:sldId id="506" r:id="rId64"/>
    <p:sldId id="643" r:id="rId65"/>
    <p:sldId id="644" r:id="rId66"/>
    <p:sldId id="581" r:id="rId67"/>
    <p:sldId id="628" r:id="rId68"/>
    <p:sldId id="629" r:id="rId69"/>
    <p:sldId id="474" r:id="rId70"/>
    <p:sldId id="507" r:id="rId71"/>
    <p:sldId id="475" r:id="rId72"/>
    <p:sldId id="639" r:id="rId73"/>
    <p:sldId id="618" r:id="rId74"/>
    <p:sldId id="476" r:id="rId75"/>
    <p:sldId id="640" r:id="rId76"/>
    <p:sldId id="477" r:id="rId77"/>
    <p:sldId id="478" r:id="rId78"/>
    <p:sldId id="508" r:id="rId79"/>
    <p:sldId id="479" r:id="rId80"/>
    <p:sldId id="480" r:id="rId81"/>
    <p:sldId id="637" r:id="rId82"/>
    <p:sldId id="550" r:id="rId83"/>
    <p:sldId id="481" r:id="rId84"/>
    <p:sldId id="619" r:id="rId85"/>
    <p:sldId id="559" r:id="rId86"/>
    <p:sldId id="482" r:id="rId87"/>
    <p:sldId id="509" r:id="rId88"/>
    <p:sldId id="557" r:id="rId89"/>
    <p:sldId id="560" r:id="rId90"/>
    <p:sldId id="483" r:id="rId91"/>
    <p:sldId id="484" r:id="rId92"/>
    <p:sldId id="558" r:id="rId93"/>
    <p:sldId id="561" r:id="rId94"/>
    <p:sldId id="567" r:id="rId95"/>
    <p:sldId id="607" r:id="rId96"/>
    <p:sldId id="485" r:id="rId97"/>
    <p:sldId id="562" r:id="rId98"/>
    <p:sldId id="486" r:id="rId99"/>
    <p:sldId id="510" r:id="rId100"/>
    <p:sldId id="487" r:id="rId101"/>
    <p:sldId id="488" r:id="rId102"/>
    <p:sldId id="489" r:id="rId103"/>
    <p:sldId id="606" r:id="rId104"/>
    <p:sldId id="608" r:id="rId105"/>
    <p:sldId id="609" r:id="rId106"/>
    <p:sldId id="610" r:id="rId107"/>
    <p:sldId id="635" r:id="rId108"/>
    <p:sldId id="634" r:id="rId109"/>
    <p:sldId id="636" r:id="rId110"/>
    <p:sldId id="630" r:id="rId111"/>
    <p:sldId id="631" r:id="rId112"/>
    <p:sldId id="632" r:id="rId113"/>
    <p:sldId id="592" r:id="rId114"/>
    <p:sldId id="593" r:id="rId115"/>
    <p:sldId id="594" r:id="rId116"/>
    <p:sldId id="595" r:id="rId117"/>
    <p:sldId id="596" r:id="rId118"/>
    <p:sldId id="597" r:id="rId119"/>
    <p:sldId id="598" r:id="rId120"/>
    <p:sldId id="599" r:id="rId121"/>
    <p:sldId id="600" r:id="rId122"/>
    <p:sldId id="601" r:id="rId123"/>
    <p:sldId id="602" r:id="rId124"/>
    <p:sldId id="603" r:id="rId125"/>
    <p:sldId id="604" r:id="rId126"/>
    <p:sldId id="464" r:id="rId127"/>
    <p:sldId id="511" r:id="rId128"/>
    <p:sldId id="512" r:id="rId129"/>
    <p:sldId id="513" r:id="rId130"/>
    <p:sldId id="517" r:id="rId131"/>
    <p:sldId id="521" r:id="rId132"/>
    <p:sldId id="520" r:id="rId133"/>
    <p:sldId id="519" r:id="rId134"/>
    <p:sldId id="649" r:id="rId135"/>
    <p:sldId id="522" r:id="rId136"/>
    <p:sldId id="525" r:id="rId137"/>
    <p:sldId id="518" r:id="rId138"/>
    <p:sldId id="523" r:id="rId139"/>
    <p:sldId id="526" r:id="rId140"/>
    <p:sldId id="528" r:id="rId141"/>
    <p:sldId id="524" r:id="rId142"/>
    <p:sldId id="548" r:id="rId143"/>
    <p:sldId id="549" r:id="rId144"/>
    <p:sldId id="546" r:id="rId145"/>
    <p:sldId id="547" r:id="rId146"/>
    <p:sldId id="439" r:id="rId14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DCD"/>
    <a:srgbClr val="080808"/>
    <a:srgbClr val="006600"/>
    <a:srgbClr val="000000"/>
    <a:srgbClr val="660066"/>
    <a:srgbClr val="99CC00"/>
    <a:srgbClr val="0000CC"/>
    <a:srgbClr val="003300"/>
    <a:srgbClr val="7FE41A"/>
    <a:srgbClr val="6AD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32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slide" Target="slides/slide129.xml"/><Relationship Id="rId139" Type="http://schemas.openxmlformats.org/officeDocument/2006/relationships/slide" Target="slides/slide13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50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45" Type="http://schemas.openxmlformats.org/officeDocument/2006/relationships/slide" Target="slides/slide1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51" Type="http://schemas.openxmlformats.org/officeDocument/2006/relationships/theme" Target="theme/theme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52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2022/12/14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142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1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2022/12/14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2022/12/14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2022/12/14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2022/12/14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2022/12/14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2022/12/14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04891" y="4654263"/>
            <a:ext cx="3275734" cy="478848"/>
          </a:xfrm>
        </p:spPr>
        <p:txBody>
          <a:bodyPr/>
          <a:lstStyle/>
          <a:p>
            <a:r>
              <a:rPr lang="zh-CN" altLang="en-US" sz="2400" dirty="0"/>
              <a:t>数据的组织与处理（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en-US" altLang="zh-CN" sz="3200" dirty="0"/>
              <a:t>7 </a:t>
            </a:r>
            <a:r>
              <a:rPr lang="zh-CN" altLang="en-US" sz="3200" dirty="0"/>
              <a:t>数据的组织与处理（</a:t>
            </a:r>
            <a:r>
              <a:rPr lang="en-US" altLang="zh-CN" sz="3200" dirty="0"/>
              <a:t>2</a:t>
            </a:r>
            <a:r>
              <a:rPr lang="zh-CN" altLang="en-US" sz="3200" dirty="0"/>
              <a:t>）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1080B"/>
                </a:solidFill>
              </a:rPr>
              <a:t>7.1 </a:t>
            </a:r>
            <a:r>
              <a:rPr lang="zh-CN" altLang="en-US" dirty="0" smtClean="0">
                <a:solidFill>
                  <a:srgbClr val="01080B"/>
                </a:solidFill>
              </a:rPr>
              <a:t>结构体与结构体数组</a:t>
            </a:r>
            <a:endParaRPr lang="en-US" altLang="zh-CN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1080B"/>
                </a:solidFill>
              </a:rPr>
              <a:t>7.2 </a:t>
            </a:r>
            <a:r>
              <a:rPr lang="zh-CN" altLang="en-US" dirty="0">
                <a:solidFill>
                  <a:srgbClr val="01080B"/>
                </a:solidFill>
              </a:rPr>
              <a:t>指针</a:t>
            </a:r>
            <a:r>
              <a:rPr lang="zh-CN" altLang="en-US" dirty="0" smtClean="0">
                <a:solidFill>
                  <a:srgbClr val="01080B"/>
                </a:solidFill>
              </a:rPr>
              <a:t>和结构体</a:t>
            </a:r>
            <a:endParaRPr lang="en-US" altLang="zh-CN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1080B"/>
                </a:solidFill>
              </a:rPr>
              <a:t>7.3 </a:t>
            </a:r>
            <a:r>
              <a:rPr lang="zh-CN" altLang="en-US" dirty="0">
                <a:solidFill>
                  <a:srgbClr val="01080B"/>
                </a:solidFill>
              </a:rPr>
              <a:t>链表</a:t>
            </a:r>
            <a:endParaRPr lang="en-US" altLang="zh-CN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1080B"/>
                </a:solidFill>
              </a:rPr>
              <a:t>7.4 </a:t>
            </a:r>
            <a:r>
              <a:rPr lang="zh-CN" altLang="en-US" dirty="0">
                <a:solidFill>
                  <a:srgbClr val="01080B"/>
                </a:solidFill>
              </a:rPr>
              <a:t>共用体（联合）</a:t>
            </a:r>
            <a:endParaRPr lang="en-US" altLang="zh-CN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0645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 smtClean="0"/>
              <a:t>结构体与结构体数组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solidFill>
                  <a:srgbClr val="0000CC"/>
                </a:solidFill>
              </a:rPr>
              <a:t>数组</a:t>
            </a:r>
            <a:r>
              <a:rPr lang="zh-CN" altLang="en-US" sz="2000" dirty="0"/>
              <a:t>：利用数组批量处理同类型数据；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800" dirty="0"/>
              <a:t>其中的每一</a:t>
            </a:r>
            <a:r>
              <a:rPr lang="zh-CN" altLang="en-US" sz="1800" dirty="0" smtClean="0"/>
              <a:t>个数组元素</a:t>
            </a:r>
            <a:r>
              <a:rPr lang="zh-CN" altLang="en-US" sz="1800" dirty="0"/>
              <a:t>都必须是相同类型的数据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000" u="sng" dirty="0" smtClean="0">
                <a:solidFill>
                  <a:srgbClr val="0000CC"/>
                </a:solidFill>
              </a:rPr>
              <a:t>实际</a:t>
            </a:r>
            <a:r>
              <a:rPr lang="zh-CN" altLang="en-US" sz="2000" u="sng" dirty="0">
                <a:solidFill>
                  <a:srgbClr val="0000CC"/>
                </a:solidFill>
              </a:rPr>
              <a:t>应用</a:t>
            </a:r>
            <a:r>
              <a:rPr lang="zh-CN" altLang="en-US" sz="2000" u="sng" dirty="0"/>
              <a:t>：</a:t>
            </a:r>
            <a:r>
              <a:rPr lang="zh-CN" altLang="en-US" sz="2000" u="sng" dirty="0">
                <a:solidFill>
                  <a:srgbClr val="7030A0"/>
                </a:solidFill>
              </a:rPr>
              <a:t>常常需要将</a:t>
            </a:r>
            <a:r>
              <a:rPr lang="zh-CN" altLang="en-US" sz="2000" b="1" u="sng" dirty="0">
                <a:solidFill>
                  <a:srgbClr val="C00000"/>
                </a:solidFill>
              </a:rPr>
              <a:t>不同类型</a:t>
            </a:r>
            <a:r>
              <a:rPr lang="zh-CN" altLang="en-US" sz="2000" b="1" u="sng" dirty="0">
                <a:solidFill>
                  <a:srgbClr val="006600"/>
                </a:solidFill>
              </a:rPr>
              <a:t>的数据组织</a:t>
            </a:r>
            <a:r>
              <a:rPr lang="zh-CN" altLang="en-US" sz="2000" u="sng" dirty="0">
                <a:solidFill>
                  <a:srgbClr val="7030A0"/>
                </a:solidFill>
              </a:rPr>
              <a:t>到一起，使其处理起来更为直观、方便；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000" dirty="0"/>
              <a:t>例如：一个学生的信息，包括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800" b="1" dirty="0">
                <a:solidFill>
                  <a:srgbClr val="006600"/>
                </a:solidFill>
              </a:rPr>
              <a:t>姓名、性别、出生年月日、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身高、体重等信息；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800" dirty="0"/>
              <a:t>如果</a:t>
            </a:r>
            <a:r>
              <a:rPr lang="zh-CN" altLang="en-US" sz="1800" dirty="0" smtClean="0"/>
              <a:t>能将这些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不同类型</a:t>
            </a:r>
            <a:r>
              <a:rPr lang="zh-CN" altLang="en-US" sz="1800" dirty="0" smtClean="0"/>
              <a:t>的数据集中在</a:t>
            </a:r>
            <a:r>
              <a:rPr lang="zh-CN" altLang="en-US" sz="1800" dirty="0"/>
              <a:t>一起，</a:t>
            </a:r>
            <a:r>
              <a:rPr lang="zh-CN" altLang="en-US" sz="1800" dirty="0" smtClean="0"/>
              <a:t>对于处理、统计</a:t>
            </a:r>
            <a:r>
              <a:rPr lang="zh-CN" altLang="en-US" sz="1800" dirty="0"/>
              <a:t>个人信息会十分方便；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000" dirty="0"/>
              <a:t>为此，引入</a:t>
            </a:r>
            <a:r>
              <a:rPr lang="zh-CN" altLang="en-US" sz="2000" b="1" dirty="0">
                <a:solidFill>
                  <a:srgbClr val="0000CC"/>
                </a:solidFill>
              </a:rPr>
              <a:t>结构体</a:t>
            </a:r>
            <a:r>
              <a:rPr lang="zh-CN" altLang="en-US" sz="2000" dirty="0"/>
              <a:t>的概念；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结构体是一</a:t>
            </a:r>
            <a:r>
              <a:rPr lang="zh-CN" altLang="en-US" sz="2000" dirty="0" smtClean="0"/>
              <a:t>个</a:t>
            </a:r>
            <a:r>
              <a:rPr lang="zh-CN" altLang="en-US" sz="2000" dirty="0" smtClean="0">
                <a:solidFill>
                  <a:srgbClr val="7030A0"/>
                </a:solidFill>
              </a:rPr>
              <a:t>基于基本</a:t>
            </a:r>
            <a:r>
              <a:rPr lang="zh-CN" altLang="en-US" sz="2000" dirty="0">
                <a:solidFill>
                  <a:srgbClr val="7030A0"/>
                </a:solidFill>
              </a:rPr>
              <a:t>数据类型</a:t>
            </a:r>
            <a:r>
              <a:rPr lang="zh-CN" altLang="en-US" sz="2000" dirty="0"/>
              <a:t>定义的</a:t>
            </a:r>
            <a:r>
              <a:rPr lang="zh-CN" altLang="en-US" sz="2000" b="1" dirty="0">
                <a:solidFill>
                  <a:srgbClr val="C00000"/>
                </a:solidFill>
              </a:rPr>
              <a:t>构造类型</a:t>
            </a:r>
            <a:r>
              <a:rPr lang="zh-CN" altLang="en-US" sz="2000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51767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结构体可以用来表示</a:t>
            </a:r>
            <a:r>
              <a:rPr lang="zh-CN" altLang="en-US" sz="2000" dirty="0">
                <a:solidFill>
                  <a:srgbClr val="030DCD"/>
                </a:solidFill>
              </a:rPr>
              <a:t>一组</a:t>
            </a:r>
            <a:r>
              <a:rPr lang="zh-CN" altLang="en-US" sz="2000" b="1" dirty="0">
                <a:solidFill>
                  <a:srgbClr val="C00000"/>
                </a:solidFill>
              </a:rPr>
              <a:t>不同类型</a:t>
            </a:r>
            <a:r>
              <a:rPr lang="zh-CN" altLang="en-US" sz="2000" dirty="0">
                <a:solidFill>
                  <a:srgbClr val="030DCD"/>
                </a:solidFill>
              </a:rPr>
              <a:t>的数据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尽管这些数据的类型不同，但却有</a:t>
            </a:r>
            <a:r>
              <a:rPr lang="zh-CN" altLang="en-US" sz="2000" b="1" dirty="0">
                <a:solidFill>
                  <a:srgbClr val="7030A0"/>
                </a:solidFill>
              </a:rPr>
              <a:t>内在的联系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如学生的个人信息有如下5项组成：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姓名，汉语拼音</a:t>
            </a:r>
            <a:r>
              <a:rPr lang="zh-CN" altLang="en-US" sz="1800" dirty="0" smtClean="0"/>
              <a:t>，不超过20</a:t>
            </a:r>
            <a:r>
              <a:rPr lang="zh-CN" altLang="en-US" sz="1800" dirty="0"/>
              <a:t>个字符；</a:t>
            </a:r>
          </a:p>
          <a:p>
            <a:pPr marL="971550" lvl="1"/>
            <a:r>
              <a:rPr lang="zh-CN" altLang="en-US" sz="1800" dirty="0"/>
              <a:t>性别，</a:t>
            </a:r>
            <a:r>
              <a:rPr lang="en-US" altLang="zh-CN" sz="1800" dirty="0"/>
              <a:t>M / F</a:t>
            </a:r>
          </a:p>
          <a:p>
            <a:pPr marL="971550" lvl="1"/>
            <a:r>
              <a:rPr lang="zh-CN" altLang="en-US" sz="1800" dirty="0"/>
              <a:t>生日，19841107（年月日）</a:t>
            </a:r>
          </a:p>
          <a:p>
            <a:pPr marL="971550" lvl="1"/>
            <a:r>
              <a:rPr lang="zh-CN" altLang="en-US" sz="1800" dirty="0"/>
              <a:t>身高，1.74（</a:t>
            </a:r>
            <a:r>
              <a:rPr lang="en-US" altLang="zh-CN" sz="1800" dirty="0"/>
              <a:t>m）</a:t>
            </a:r>
          </a:p>
          <a:p>
            <a:pPr marL="971550" lvl="1"/>
            <a:r>
              <a:rPr lang="zh-CN" altLang="en-US" sz="1800" dirty="0"/>
              <a:t>体重，51.5（</a:t>
            </a:r>
            <a:r>
              <a:rPr lang="en-US" altLang="zh-CN" sz="1800" dirty="0"/>
              <a:t>kg）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85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</a:t>
            </a:r>
            <a:r>
              <a:rPr lang="zh-CN" altLang="en-US" dirty="0">
                <a:solidFill>
                  <a:srgbClr val="030DCD"/>
                </a:solidFill>
              </a:rPr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87169"/>
            <a:ext cx="8284152" cy="11073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利用关键字</a:t>
            </a:r>
            <a:r>
              <a:rPr lang="en-US" altLang="zh-CN" sz="1800" b="1" dirty="0" err="1">
                <a:solidFill>
                  <a:srgbClr val="C00000"/>
                </a:solidFill>
              </a:rPr>
              <a:t>struct</a:t>
            </a:r>
            <a:r>
              <a:rPr lang="en-US" altLang="zh-CN" sz="1800" dirty="0"/>
              <a:t> </a:t>
            </a:r>
            <a:r>
              <a:rPr lang="zh-CN" altLang="en-US" sz="1800" dirty="0"/>
              <a:t>声明一个</a:t>
            </a:r>
            <a:r>
              <a:rPr lang="zh-CN" altLang="en-US" sz="1800" b="1" dirty="0">
                <a:solidFill>
                  <a:srgbClr val="C00000"/>
                </a:solidFill>
              </a:rPr>
              <a:t>结构体类型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如声明一个名为</a:t>
            </a:r>
            <a:r>
              <a:rPr lang="en-US" altLang="zh-CN" sz="1800" dirty="0">
                <a:solidFill>
                  <a:srgbClr val="030DCD"/>
                </a:solidFill>
              </a:rPr>
              <a:t>student</a:t>
            </a:r>
            <a:r>
              <a:rPr lang="zh-CN" altLang="en-US" sz="1800" dirty="0">
                <a:solidFill>
                  <a:srgbClr val="030DCD"/>
                </a:solidFill>
              </a:rPr>
              <a:t>的结构体类型，</a:t>
            </a:r>
            <a:r>
              <a:rPr lang="zh-CN" altLang="en-US" sz="1800" dirty="0"/>
              <a:t>将5项信息包容在一起，构成学生的个人信息</a:t>
            </a:r>
            <a:r>
              <a:rPr lang="zh-CN" altLang="en-US" sz="1800" dirty="0" smtClean="0"/>
              <a:t>：</a:t>
            </a:r>
            <a:endParaRPr lang="en-US" altLang="zh-CN" sz="18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29834" y="2305741"/>
            <a:ext cx="6933334" cy="240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zh-CN" sz="1600" b="1" dirty="0" err="1">
                <a:solidFill>
                  <a:srgbClr val="FF0000"/>
                </a:solidFill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</a:rPr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student</a:t>
            </a:r>
            <a:r>
              <a:rPr lang="en-US" altLang="zh-CN" sz="1600" dirty="0">
                <a:solidFill>
                  <a:srgbClr val="000000"/>
                </a:solidFill>
              </a:rPr>
              <a:t>       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名为</a:t>
            </a:r>
            <a:r>
              <a:rPr lang="en-US" altLang="zh-CN" sz="1600" b="1" dirty="0">
                <a:solidFill>
                  <a:srgbClr val="7030A0"/>
                </a:solidFill>
              </a:rPr>
              <a:t>student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的结构体类型</a:t>
            </a:r>
            <a:endParaRPr lang="zh-CN" altLang="en-US" sz="1600" b="1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{                                </a:t>
            </a:r>
            <a:r>
              <a:rPr lang="en-US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030DCD"/>
                </a:solidFill>
              </a:rPr>
              <a:t>成员列表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姓名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性别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sz="1600" dirty="0">
                <a:solidFill>
                  <a:srgbClr val="000000"/>
                </a:solidFill>
              </a:rPr>
              <a:t>生日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身高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体重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}</a:t>
            </a:r>
            <a:r>
              <a:rPr lang="en-US" altLang="zh-CN" sz="1600" dirty="0">
                <a:solidFill>
                  <a:srgbClr val="C00000"/>
                </a:solidFill>
              </a:rPr>
              <a:t>;    </a:t>
            </a:r>
            <a:r>
              <a:rPr lang="en-US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030DCD"/>
                </a:solidFill>
              </a:rPr>
              <a:t>注意要</a:t>
            </a:r>
            <a:r>
              <a:rPr lang="zh-CN" altLang="en-US" sz="1600" dirty="0" smtClean="0">
                <a:solidFill>
                  <a:srgbClr val="030DCD"/>
                </a:solidFill>
              </a:rPr>
              <a:t>有分号</a:t>
            </a:r>
            <a:endParaRPr lang="en-US" altLang="zh-CN" sz="1600" dirty="0">
              <a:solidFill>
                <a:srgbClr val="030DCD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B1952C-D007-46B7-A831-A7E38156F819}"/>
              </a:ext>
            </a:extLst>
          </p:cNvPr>
          <p:cNvSpPr txBox="1">
            <a:spLocks/>
          </p:cNvSpPr>
          <p:nvPr/>
        </p:nvSpPr>
        <p:spPr bwMode="auto">
          <a:xfrm>
            <a:off x="485775" y="4924037"/>
            <a:ext cx="8089900" cy="82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注：这里</a:t>
            </a:r>
            <a:r>
              <a:rPr lang="zh-CN" altLang="en-US" sz="1800" dirty="0"/>
              <a:t>只是声明了一个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结构体类型</a:t>
            </a:r>
            <a:r>
              <a:rPr lang="en-US" altLang="zh-CN" sz="1800" dirty="0">
                <a:solidFill>
                  <a:srgbClr val="C00000"/>
                </a:solidFill>
              </a:rPr>
              <a:t>student</a:t>
            </a:r>
            <a:r>
              <a:rPr lang="zh-CN" altLang="en-US" sz="1800" dirty="0"/>
              <a:t>；（</a:t>
            </a:r>
            <a:r>
              <a:rPr lang="zh-CN" altLang="en-US" sz="1800" dirty="0" smtClean="0"/>
              <a:t>类似于</a:t>
            </a:r>
            <a:r>
              <a:rPr lang="zh-CN" altLang="en-US" sz="1800" dirty="0" smtClean="0">
                <a:solidFill>
                  <a:srgbClr val="7030A0"/>
                </a:solidFill>
              </a:rPr>
              <a:t>数据类型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dirty="0">
                <a:solidFill>
                  <a:srgbClr val="7030A0"/>
                </a:solidFill>
              </a:rPr>
              <a:t>, float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需要基于该类型定义相应的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结构体变量</a:t>
            </a:r>
            <a:r>
              <a:rPr lang="zh-CN" altLang="en-US" sz="1800" dirty="0"/>
              <a:t>；（</a:t>
            </a:r>
            <a:r>
              <a:rPr lang="zh-CN" altLang="en-US" sz="1800" dirty="0" smtClean="0"/>
              <a:t>类似于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变量声明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a, float f</a:t>
            </a:r>
            <a:r>
              <a:rPr lang="zh-CN" altLang="en-US" sz="1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2495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zh-CN" altLang="en-US" dirty="0">
                <a:solidFill>
                  <a:srgbClr val="7030A0"/>
                </a:solidFill>
              </a:rPr>
              <a:t>结构体</a:t>
            </a:r>
            <a:r>
              <a:rPr lang="zh-CN" altLang="en-US" dirty="0">
                <a:solidFill>
                  <a:srgbClr val="FF0000"/>
                </a:solidFill>
              </a:rPr>
              <a:t>类型</a:t>
            </a:r>
            <a:r>
              <a:rPr lang="zh-CN" altLang="en-US" dirty="0"/>
              <a:t>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7897" y="1135063"/>
            <a:ext cx="7887778" cy="5345112"/>
          </a:xfrm>
        </p:spPr>
        <p:txBody>
          <a:bodyPr/>
          <a:lstStyle/>
          <a:p>
            <a:pPr>
              <a:spcBef>
                <a:spcPct val="60000"/>
              </a:spcBef>
              <a:buNone/>
              <a:defRPr/>
            </a:pPr>
            <a:r>
              <a:rPr lang="en-US" altLang="zh-CN" sz="1800" dirty="0" err="1">
                <a:solidFill>
                  <a:srgbClr val="C00000"/>
                </a:solidFill>
              </a:rPr>
              <a:t>struct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000000"/>
                </a:solidFill>
              </a:rPr>
              <a:t>   </a:t>
            </a:r>
            <a:r>
              <a:rPr lang="zh-CN" altLang="en-US" sz="1800" b="1" dirty="0">
                <a:solidFill>
                  <a:srgbClr val="7030A0"/>
                </a:solidFill>
              </a:rPr>
              <a:t>结构体名</a:t>
            </a:r>
            <a:r>
              <a:rPr lang="zh-CN" altLang="en-US" sz="1800" b="1" dirty="0">
                <a:solidFill>
                  <a:srgbClr val="000000"/>
                </a:solidFill>
              </a:rPr>
              <a:t>    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结构体名按照</a:t>
            </a:r>
            <a:r>
              <a:rPr lang="en-US" altLang="zh-CN" sz="1800" dirty="0">
                <a:solidFill>
                  <a:srgbClr val="000000"/>
                </a:solidFill>
              </a:rPr>
              <a:t>C</a:t>
            </a:r>
            <a:r>
              <a:rPr lang="zh-CN" altLang="en-US" sz="1800" dirty="0">
                <a:solidFill>
                  <a:srgbClr val="000000"/>
                </a:solidFill>
              </a:rPr>
              <a:t>语言变量命名规则；</a:t>
            </a:r>
          </a:p>
          <a:p>
            <a:pP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zh-CN" altLang="en-US" sz="1600" dirty="0">
                <a:solidFill>
                  <a:srgbClr val="0000CC"/>
                </a:solidFill>
              </a:rPr>
              <a:t>类型名 </a:t>
            </a:r>
            <a:r>
              <a:rPr lang="en-US" altLang="zh-CN" sz="1600" dirty="0">
                <a:solidFill>
                  <a:srgbClr val="0000CC"/>
                </a:solidFill>
              </a:rPr>
              <a:t>1   </a:t>
            </a:r>
            <a:r>
              <a:rPr lang="zh-CN" altLang="en-US" sz="1600" dirty="0">
                <a:solidFill>
                  <a:srgbClr val="000000"/>
                </a:solidFill>
              </a:rPr>
              <a:t>成员名 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； 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类型名：</a:t>
            </a:r>
            <a:r>
              <a:rPr lang="zh-CN" altLang="en-US" sz="1600" dirty="0">
                <a:solidFill>
                  <a:srgbClr val="0000CC"/>
                </a:solidFill>
              </a:rPr>
              <a:t>基本数据类型，</a:t>
            </a:r>
            <a:r>
              <a:rPr lang="zh-CN" altLang="en-US" sz="1600" dirty="0">
                <a:solidFill>
                  <a:srgbClr val="C00000"/>
                </a:solidFill>
              </a:rPr>
              <a:t>或已定义的结构类型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     </a:t>
            </a:r>
            <a:r>
              <a:rPr lang="zh-CN" altLang="en-US" sz="1600" dirty="0">
                <a:solidFill>
                  <a:srgbClr val="0000CC"/>
                </a:solidFill>
              </a:rPr>
              <a:t>类型名 </a:t>
            </a:r>
            <a:r>
              <a:rPr lang="en-US" altLang="zh-CN" sz="1600" dirty="0">
                <a:solidFill>
                  <a:srgbClr val="0000CC"/>
                </a:solidFill>
              </a:rPr>
              <a:t>2   </a:t>
            </a:r>
            <a:r>
              <a:rPr lang="zh-CN" altLang="en-US" sz="1600" dirty="0">
                <a:solidFill>
                  <a:srgbClr val="000000"/>
                </a:solidFill>
              </a:rPr>
              <a:t>成员名 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； 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成员名：按照</a:t>
            </a:r>
            <a:r>
              <a:rPr lang="en-US" altLang="zh-CN" sz="1600" dirty="0">
                <a:solidFill>
                  <a:srgbClr val="000000"/>
                </a:solidFill>
              </a:rPr>
              <a:t>C</a:t>
            </a:r>
            <a:r>
              <a:rPr lang="zh-CN" altLang="en-US" sz="1600" dirty="0">
                <a:solidFill>
                  <a:srgbClr val="000000"/>
                </a:solidFill>
              </a:rPr>
              <a:t>语言变量命名规则；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       </a:t>
            </a:r>
            <a:r>
              <a:rPr lang="en-US" altLang="zh-CN" sz="1600" dirty="0">
                <a:solidFill>
                  <a:srgbClr val="000000"/>
                </a:solidFill>
              </a:rPr>
              <a:t>. . .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     </a:t>
            </a:r>
            <a:r>
              <a:rPr lang="zh-CN" altLang="en-US" sz="1600" dirty="0">
                <a:solidFill>
                  <a:srgbClr val="0000CC"/>
                </a:solidFill>
              </a:rPr>
              <a:t>类型名 </a:t>
            </a:r>
            <a:r>
              <a:rPr lang="en-US" altLang="zh-CN" sz="1600" dirty="0">
                <a:solidFill>
                  <a:srgbClr val="0000CC"/>
                </a:solidFill>
              </a:rPr>
              <a:t>n   </a:t>
            </a:r>
            <a:r>
              <a:rPr lang="zh-CN" altLang="en-US" sz="1600" dirty="0">
                <a:solidFill>
                  <a:srgbClr val="000000"/>
                </a:solidFill>
              </a:rPr>
              <a:t>成员名 </a:t>
            </a:r>
            <a:r>
              <a:rPr lang="en-US" altLang="zh-CN" sz="1600" dirty="0">
                <a:solidFill>
                  <a:srgbClr val="000000"/>
                </a:solidFill>
              </a:rPr>
              <a:t>n</a:t>
            </a:r>
            <a:r>
              <a:rPr lang="zh-CN" altLang="en-US" sz="1600" dirty="0">
                <a:solidFill>
                  <a:srgbClr val="000000"/>
                </a:solidFill>
              </a:rPr>
              <a:t>；</a:t>
            </a:r>
          </a:p>
          <a:p>
            <a:pP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} </a:t>
            </a:r>
            <a:r>
              <a:rPr lang="en-US" altLang="zh-CN" sz="1800" b="1" dirty="0">
                <a:solidFill>
                  <a:srgbClr val="C00000"/>
                </a:solidFill>
              </a:rPr>
              <a:t>;       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分号是必须的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zh-CN" sz="2000" b="1" dirty="0">
                <a:solidFill>
                  <a:srgbClr val="006600"/>
                </a:solidFill>
              </a:rPr>
              <a:t>struct </a:t>
            </a:r>
            <a:r>
              <a:rPr lang="zh-CN" altLang="en-US" sz="2000" b="1" dirty="0">
                <a:solidFill>
                  <a:srgbClr val="006600"/>
                </a:solidFill>
              </a:rPr>
              <a:t>是结构体类型的标志；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zh-CN" altLang="en-US" sz="2000" b="1" u="sng" dirty="0" smtClean="0">
                <a:solidFill>
                  <a:srgbClr val="0000CC"/>
                </a:solidFill>
              </a:rPr>
              <a:t>结构体可以嵌套</a:t>
            </a:r>
            <a:endParaRPr lang="en-US" altLang="zh-CN" sz="2000" b="1" u="sng" dirty="0" smtClean="0">
              <a:solidFill>
                <a:srgbClr val="0000CC"/>
              </a:solidFill>
            </a:endParaRPr>
          </a:p>
          <a:p>
            <a:pPr marL="971550" lvl="1">
              <a:defRPr/>
            </a:pPr>
            <a:r>
              <a:rPr lang="zh-CN" altLang="en-US" sz="1800" b="1" dirty="0" smtClean="0">
                <a:solidFill>
                  <a:srgbClr val="0000CC"/>
                </a:solidFill>
              </a:rPr>
              <a:t>结构体</a:t>
            </a:r>
            <a:r>
              <a:rPr lang="zh-CN" altLang="en-US" sz="1800" b="1" dirty="0">
                <a:solidFill>
                  <a:srgbClr val="0000CC"/>
                </a:solidFill>
              </a:rPr>
              <a:t>成员还</a:t>
            </a:r>
            <a:r>
              <a:rPr lang="zh-CN" altLang="en-US" sz="1800" b="1" dirty="0">
                <a:solidFill>
                  <a:srgbClr val="7030A0"/>
                </a:solidFill>
              </a:rPr>
              <a:t>可以是</a:t>
            </a:r>
            <a:r>
              <a:rPr lang="zh-CN" altLang="en-US" sz="1800" b="1" dirty="0">
                <a:solidFill>
                  <a:srgbClr val="C00000"/>
                </a:solidFill>
              </a:rPr>
              <a:t>已经定义过的结构体类型</a:t>
            </a:r>
            <a:r>
              <a:rPr lang="zh-CN" altLang="en-US" sz="1800" b="1" dirty="0">
                <a:solidFill>
                  <a:srgbClr val="0000CC"/>
                </a:solidFill>
              </a:rPr>
              <a:t>；</a:t>
            </a:r>
            <a:endParaRPr lang="en-US" altLang="zh-CN" sz="1800" b="1" dirty="0">
              <a:solidFill>
                <a:srgbClr val="0000CC"/>
              </a:solidFill>
            </a:endParaRPr>
          </a:p>
          <a:p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146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zh-CN" altLang="en-US" dirty="0" smtClean="0">
                <a:solidFill>
                  <a:srgbClr val="7030A0"/>
                </a:solidFill>
              </a:rPr>
              <a:t>结构体</a:t>
            </a:r>
            <a:r>
              <a:rPr lang="zh-CN" altLang="en-US" dirty="0" smtClean="0">
                <a:solidFill>
                  <a:srgbClr val="C00000"/>
                </a:solidFill>
              </a:rPr>
              <a:t>变量</a:t>
            </a:r>
            <a:r>
              <a:rPr lang="zh-CN" altLang="en-US" dirty="0"/>
              <a:t>的两种方法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1690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</a:t>
            </a:r>
            <a:r>
              <a:rPr lang="zh-CN" altLang="en-US" dirty="0"/>
              <a:t>、先定义</a:t>
            </a:r>
            <a:r>
              <a:rPr lang="zh-CN" altLang="en-US" dirty="0" smtClean="0"/>
              <a:t>结构体</a:t>
            </a:r>
            <a:r>
              <a:rPr lang="zh-CN" altLang="en-US" dirty="0" smtClean="0">
                <a:solidFill>
                  <a:srgbClr val="FF0000"/>
                </a:solidFill>
              </a:rPr>
              <a:t>类型</a:t>
            </a:r>
            <a:r>
              <a:rPr lang="zh-CN" altLang="en-US" dirty="0"/>
              <a:t>、再定义</a:t>
            </a:r>
            <a:r>
              <a:rPr lang="zh-CN" altLang="en-US" dirty="0" smtClean="0"/>
              <a:t>结构体</a:t>
            </a:r>
            <a:r>
              <a:rPr lang="zh-CN" altLang="en-US" dirty="0" smtClean="0">
                <a:solidFill>
                  <a:srgbClr val="030DCD"/>
                </a:solidFill>
              </a:rPr>
              <a:t>变量</a:t>
            </a:r>
            <a:endParaRPr lang="zh-CN" altLang="en-US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55940" y="1691264"/>
            <a:ext cx="7411315" cy="4031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CC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定义结构类型：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 smtClean="0">
                <a:solidFill>
                  <a:srgbClr val="006600"/>
                </a:solidFill>
              </a:rPr>
              <a:t>的结构体类型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姓名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性别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sz="1800" dirty="0">
                <a:solidFill>
                  <a:srgbClr val="000000"/>
                </a:solidFill>
              </a:rPr>
              <a:t>生日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身高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体重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};</a:t>
            </a:r>
          </a:p>
          <a:p>
            <a:pPr>
              <a:buNone/>
            </a:pPr>
            <a:r>
              <a:rPr lang="en-US" altLang="zh-CN" sz="1800" dirty="0" err="1">
                <a:solidFill>
                  <a:srgbClr val="0000CC"/>
                </a:solidFill>
              </a:rPr>
              <a:t>struct</a:t>
            </a:r>
            <a:r>
              <a:rPr lang="en-US" altLang="zh-CN" sz="1800" dirty="0">
                <a:solidFill>
                  <a:srgbClr val="0000CC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student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me</a:t>
            </a:r>
            <a:r>
              <a:rPr lang="en-US" altLang="zh-CN" sz="1800" dirty="0" smtClean="0">
                <a:solidFill>
                  <a:srgbClr val="000000"/>
                </a:solidFill>
              </a:rPr>
              <a:t>;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定义</a:t>
            </a:r>
            <a:r>
              <a:rPr lang="zh-CN" altLang="en-US" sz="1800" dirty="0" smtClean="0">
                <a:solidFill>
                  <a:srgbClr val="0000CC"/>
                </a:solidFill>
              </a:rPr>
              <a:t>结构体变量</a:t>
            </a:r>
            <a:r>
              <a:rPr lang="en-US" altLang="zh-CN" sz="1800" dirty="0" smtClean="0">
                <a:solidFill>
                  <a:srgbClr val="0000CC"/>
                </a:solidFill>
              </a:rPr>
              <a:t>me    </a:t>
            </a:r>
            <a:r>
              <a:rPr lang="en-US" altLang="zh-CN" sz="1800" dirty="0" smtClean="0">
                <a:solidFill>
                  <a:srgbClr val="C00000"/>
                </a:solidFill>
              </a:rPr>
              <a:t>//</a:t>
            </a:r>
            <a:r>
              <a:rPr lang="zh-CN" altLang="en-US" sz="1800" dirty="0" smtClean="0">
                <a:solidFill>
                  <a:srgbClr val="C00000"/>
                </a:solidFill>
              </a:rPr>
              <a:t>推荐该定义方式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800" dirty="0" smtClean="0">
                <a:solidFill>
                  <a:srgbClr val="C00000"/>
                </a:solidFill>
              </a:rPr>
              <a:t>student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me</a:t>
            </a:r>
            <a:r>
              <a:rPr lang="en-US" altLang="zh-CN" sz="1800" dirty="0" smtClean="0">
                <a:solidFill>
                  <a:srgbClr val="000000"/>
                </a:solidFill>
              </a:rPr>
              <a:t>; 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定义</a:t>
            </a:r>
            <a:r>
              <a:rPr lang="zh-CN" altLang="en-US" sz="1800" dirty="0" smtClean="0">
                <a:solidFill>
                  <a:srgbClr val="0000CC"/>
                </a:solidFill>
              </a:rPr>
              <a:t>结构体变量</a:t>
            </a:r>
            <a:r>
              <a:rPr lang="en-US" altLang="zh-CN" sz="1800" dirty="0" smtClean="0">
                <a:solidFill>
                  <a:srgbClr val="0000CC"/>
                </a:solidFill>
              </a:rPr>
              <a:t>me        </a:t>
            </a:r>
            <a:r>
              <a:rPr lang="en-US" altLang="zh-CN" sz="1800" dirty="0" smtClean="0">
                <a:solidFill>
                  <a:srgbClr val="7030A0"/>
                </a:solidFill>
              </a:rPr>
              <a:t>//</a:t>
            </a:r>
            <a:r>
              <a:rPr lang="zh-CN" altLang="en-US" sz="1800" dirty="0" smtClean="0">
                <a:solidFill>
                  <a:srgbClr val="7030A0"/>
                </a:solidFill>
              </a:rPr>
              <a:t>有的编译器也可，但不推荐使用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rgbClr val="000000"/>
                </a:solidFill>
              </a:rPr>
              <a:t> 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48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定义结构体</a:t>
            </a:r>
            <a:r>
              <a:rPr lang="zh-CN" altLang="en-US" dirty="0" smtClean="0">
                <a:solidFill>
                  <a:srgbClr val="030DCD"/>
                </a:solidFill>
              </a:rPr>
              <a:t>变量</a:t>
            </a:r>
            <a:r>
              <a:rPr lang="zh-CN" altLang="en-US" dirty="0"/>
              <a:t>的两种方法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704128"/>
          </a:xfrm>
        </p:spPr>
        <p:txBody>
          <a:bodyPr/>
          <a:lstStyle/>
          <a:p>
            <a:pPr algn="just">
              <a:buNone/>
            </a:pPr>
            <a:r>
              <a:rPr lang="en-US" altLang="zh-CN" dirty="0"/>
              <a:t>2</a:t>
            </a:r>
            <a:r>
              <a:rPr lang="zh-CN" altLang="en-US" dirty="0"/>
              <a:t>、在定义</a:t>
            </a:r>
            <a:r>
              <a:rPr lang="zh-CN" altLang="en-US" dirty="0" smtClean="0"/>
              <a:t>结构体类型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同时</a:t>
            </a:r>
            <a:r>
              <a:rPr lang="zh-CN" altLang="en-US" dirty="0"/>
              <a:t>，定义结构</a:t>
            </a:r>
            <a:r>
              <a:rPr lang="zh-CN" altLang="en-US" dirty="0">
                <a:solidFill>
                  <a:srgbClr val="030DCD"/>
                </a:solidFill>
              </a:rPr>
              <a:t>变量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55940" y="1839192"/>
            <a:ext cx="7556787" cy="3449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CC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定义</a:t>
            </a:r>
            <a:r>
              <a:rPr lang="zh-CN" altLang="en-US" sz="1800" dirty="0" smtClean="0">
                <a:solidFill>
                  <a:srgbClr val="0000CC"/>
                </a:solidFill>
              </a:rPr>
              <a:t>结构体类型</a:t>
            </a:r>
            <a:r>
              <a:rPr lang="zh-CN" altLang="en-US" sz="1800" dirty="0">
                <a:solidFill>
                  <a:srgbClr val="0000CC"/>
                </a:solidFill>
              </a:rPr>
              <a:t>：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 smtClean="0">
                <a:solidFill>
                  <a:srgbClr val="006600"/>
                </a:solidFill>
              </a:rPr>
              <a:t>的结构体类型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name[20];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姓名   </a:t>
            </a:r>
            <a:r>
              <a:rPr lang="en-US" altLang="zh-CN" sz="1800" dirty="0">
                <a:solidFill>
                  <a:srgbClr val="000000"/>
                </a:solidFill>
              </a:rPr>
              <a:t>//20 bytes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性别  </a:t>
            </a:r>
            <a:r>
              <a:rPr lang="en-US" altLang="zh-CN" sz="1800" dirty="0">
                <a:solidFill>
                  <a:srgbClr val="000000"/>
                </a:solidFill>
              </a:rPr>
              <a:t>//1byte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sz="1800" dirty="0">
                <a:solidFill>
                  <a:srgbClr val="000000"/>
                </a:solidFill>
              </a:rPr>
              <a:t>生日   </a:t>
            </a:r>
            <a:r>
              <a:rPr lang="en-US" altLang="zh-CN" sz="1800" dirty="0">
                <a:solidFill>
                  <a:srgbClr val="000000"/>
                </a:solidFill>
              </a:rPr>
              <a:t>//4 bytes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身高  </a:t>
            </a:r>
            <a:r>
              <a:rPr lang="en-US" altLang="zh-CN" sz="1800" dirty="0">
                <a:solidFill>
                  <a:srgbClr val="000000"/>
                </a:solidFill>
              </a:rPr>
              <a:t>//4 bytes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体重  </a:t>
            </a:r>
            <a:r>
              <a:rPr lang="en-US" altLang="zh-CN" sz="1800" dirty="0">
                <a:solidFill>
                  <a:srgbClr val="000000"/>
                </a:solidFill>
              </a:rPr>
              <a:t>//4 bytes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  </a:t>
            </a:r>
            <a:r>
              <a:rPr lang="en-US" altLang="zh-CN" sz="1800" dirty="0" smtClean="0">
                <a:solidFill>
                  <a:srgbClr val="C00000"/>
                </a:solidFill>
              </a:rPr>
              <a:t>me </a:t>
            </a:r>
            <a:r>
              <a:rPr lang="en-US" altLang="zh-CN" sz="1800" dirty="0">
                <a:solidFill>
                  <a:srgbClr val="C00000"/>
                </a:solidFill>
              </a:rPr>
              <a:t>;</a:t>
            </a:r>
            <a:r>
              <a:rPr lang="en-US" altLang="zh-CN" sz="1800" dirty="0">
                <a:solidFill>
                  <a:srgbClr val="000000"/>
                </a:solidFill>
              </a:rPr>
              <a:t> //</a:t>
            </a:r>
            <a:r>
              <a:rPr lang="zh-CN" altLang="en-US" sz="1800" dirty="0">
                <a:solidFill>
                  <a:srgbClr val="0000CC"/>
                </a:solidFill>
              </a:rPr>
              <a:t>定义</a:t>
            </a:r>
            <a:r>
              <a:rPr lang="zh-CN" altLang="en-US" sz="1800" dirty="0" smtClean="0">
                <a:solidFill>
                  <a:srgbClr val="0000CC"/>
                </a:solidFill>
              </a:rPr>
              <a:t>结构体变量</a:t>
            </a:r>
            <a:r>
              <a:rPr lang="en-US" altLang="zh-CN" sz="1800" dirty="0" smtClean="0">
                <a:solidFill>
                  <a:srgbClr val="0000CC"/>
                </a:solidFill>
              </a:rPr>
              <a:t>me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89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结构体类型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7030A0"/>
                </a:solidFill>
              </a:rPr>
              <a:t>结构体变量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052" y="1060249"/>
            <a:ext cx="8475345" cy="5345112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结构体类型</a:t>
            </a:r>
            <a:r>
              <a:rPr lang="zh-CN" altLang="en-US" sz="2000" dirty="0" smtClean="0"/>
              <a:t>与</a:t>
            </a:r>
            <a:r>
              <a:rPr lang="zh-CN" altLang="en-US" sz="2000" dirty="0" smtClean="0">
                <a:solidFill>
                  <a:srgbClr val="C00000"/>
                </a:solidFill>
              </a:rPr>
              <a:t>结构体变量</a:t>
            </a:r>
            <a:r>
              <a:rPr lang="zh-CN" altLang="en-US" sz="2000" dirty="0"/>
              <a:t>是两个不同的概念</a:t>
            </a:r>
            <a:endParaRPr lang="en-US" altLang="zh-CN" sz="2000" dirty="0"/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如同</a:t>
            </a:r>
            <a:r>
              <a:rPr lang="en-US" altLang="zh-CN" sz="1800" dirty="0"/>
              <a:t>int</a:t>
            </a:r>
            <a:r>
              <a:rPr lang="zh-CN" altLang="en-US" sz="1800" dirty="0"/>
              <a:t>类型与</a:t>
            </a:r>
            <a:r>
              <a:rPr lang="en-US" altLang="zh-CN" sz="1800" dirty="0"/>
              <a:t>int</a:t>
            </a:r>
            <a:r>
              <a:rPr lang="zh-CN" altLang="en-US" sz="1800" dirty="0"/>
              <a:t>型变量的区别一样</a:t>
            </a:r>
            <a:r>
              <a:rPr lang="en-US" altLang="zh-CN" sz="1800" dirty="0"/>
              <a:t>;</a:t>
            </a: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 smtClean="0"/>
              <a:t>定义结构体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类型</a:t>
            </a:r>
            <a:r>
              <a:rPr lang="zh-CN" altLang="en-US" sz="1800" b="1" dirty="0"/>
              <a:t>时不会分配内存空间</a:t>
            </a: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u="sng" dirty="0"/>
              <a:t>系统为定义</a:t>
            </a:r>
            <a:r>
              <a:rPr lang="zh-CN" altLang="en-US" sz="1800" b="1" u="sng" dirty="0" smtClean="0"/>
              <a:t>的结构体</a:t>
            </a:r>
            <a:r>
              <a:rPr lang="zh-CN" altLang="en-US" sz="1800" b="1" u="sng" dirty="0" smtClean="0">
                <a:solidFill>
                  <a:srgbClr val="0000CC"/>
                </a:solidFill>
              </a:rPr>
              <a:t>变量</a:t>
            </a:r>
            <a:r>
              <a:rPr lang="zh-CN" altLang="en-US" sz="1800" b="1" u="sng" dirty="0"/>
              <a:t>分配内存空间；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6600"/>
                </a:solidFill>
              </a:rPr>
              <a:t>结构体类型</a:t>
            </a:r>
            <a:r>
              <a:rPr lang="zh-CN" altLang="en-US" sz="2000" dirty="0"/>
              <a:t>中的成员名，可以与程序中的变量同名，它们代表不同的对象，互不干扰；</a:t>
            </a:r>
            <a:endParaRPr lang="en-US" altLang="zh-CN" sz="2000" dirty="0"/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</a:rPr>
              <a:t>思考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30DCD"/>
                </a:solidFill>
              </a:rPr>
              <a:t>上页中，语句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struct</a:t>
            </a:r>
            <a:r>
              <a:rPr lang="en-US" altLang="zh-CN" sz="1800" dirty="0" smtClean="0">
                <a:solidFill>
                  <a:srgbClr val="FF0000"/>
                </a:solidFill>
              </a:rPr>
              <a:t> </a:t>
            </a:r>
            <a:r>
              <a:rPr lang="en-US" altLang="zh-CN" sz="1800" dirty="0" smtClean="0">
                <a:solidFill>
                  <a:srgbClr val="030DCD"/>
                </a:solidFill>
              </a:rPr>
              <a:t>student me</a:t>
            </a:r>
            <a:r>
              <a:rPr lang="zh-CN" altLang="en-US" sz="1800" dirty="0" smtClean="0">
                <a:solidFill>
                  <a:srgbClr val="030DCD"/>
                </a:solidFill>
              </a:rPr>
              <a:t>，定义结构体变量</a:t>
            </a:r>
            <a:r>
              <a:rPr lang="en-US" altLang="zh-CN" sz="1800" dirty="0" smtClean="0">
                <a:solidFill>
                  <a:srgbClr val="030DCD"/>
                </a:solidFill>
              </a:rPr>
              <a:t>me</a:t>
            </a:r>
            <a:r>
              <a:rPr lang="zh-CN" altLang="en-US" sz="1800" dirty="0" smtClean="0">
                <a:solidFill>
                  <a:srgbClr val="030DCD"/>
                </a:solidFill>
              </a:rPr>
              <a:t>后</a:t>
            </a:r>
            <a:r>
              <a:rPr lang="zh-CN" altLang="en-US" sz="1800" dirty="0">
                <a:solidFill>
                  <a:srgbClr val="030DCD"/>
                </a:solidFill>
              </a:rPr>
              <a:t>，</a:t>
            </a:r>
            <a:r>
              <a:rPr lang="zh-CN" altLang="en-US" sz="1800" dirty="0">
                <a:solidFill>
                  <a:srgbClr val="7030A0"/>
                </a:solidFill>
              </a:rPr>
              <a:t>系统为</a:t>
            </a:r>
            <a:r>
              <a:rPr lang="en-US" altLang="zh-CN" sz="1800" dirty="0" smtClean="0">
                <a:solidFill>
                  <a:srgbClr val="7030A0"/>
                </a:solidFill>
              </a:rPr>
              <a:t>me</a:t>
            </a:r>
            <a:r>
              <a:rPr lang="zh-CN" altLang="en-US" sz="1800" dirty="0" smtClean="0">
                <a:solidFill>
                  <a:srgbClr val="7030A0"/>
                </a:solidFill>
              </a:rPr>
              <a:t>分配</a:t>
            </a:r>
            <a:r>
              <a:rPr lang="zh-CN" altLang="en-US" sz="1800" dirty="0">
                <a:solidFill>
                  <a:srgbClr val="7030A0"/>
                </a:solidFill>
              </a:rPr>
              <a:t>了多大的内存空间？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30DCD"/>
                </a:solidFill>
              </a:rPr>
              <a:t>student </a:t>
            </a:r>
            <a:r>
              <a:rPr lang="en-US" altLang="zh-CN" sz="1800" dirty="0" smtClean="0">
                <a:solidFill>
                  <a:srgbClr val="030DCD"/>
                </a:solidFill>
              </a:rPr>
              <a:t>me</a:t>
            </a:r>
            <a:r>
              <a:rPr lang="zh-CN" altLang="en-US" sz="1800" dirty="0" smtClean="0">
                <a:solidFill>
                  <a:srgbClr val="006600"/>
                </a:solidFill>
              </a:rPr>
              <a:t>各</a:t>
            </a:r>
            <a:r>
              <a:rPr lang="zh-CN" altLang="en-US" sz="1800" dirty="0">
                <a:solidFill>
                  <a:srgbClr val="006600"/>
                </a:solidFill>
              </a:rPr>
              <a:t>字节之和是</a:t>
            </a:r>
            <a:r>
              <a:rPr lang="en-US" altLang="zh-CN" sz="1800" dirty="0">
                <a:solidFill>
                  <a:srgbClr val="006600"/>
                </a:solidFill>
              </a:rPr>
              <a:t>33</a:t>
            </a:r>
            <a:r>
              <a:rPr lang="zh-CN" altLang="en-US" sz="1800" dirty="0">
                <a:solidFill>
                  <a:srgbClr val="006600"/>
                </a:solidFill>
              </a:rPr>
              <a:t>，但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sizeof</a:t>
            </a:r>
            <a:r>
              <a:rPr lang="en-US" altLang="zh-CN" sz="1800" dirty="0" smtClean="0">
                <a:solidFill>
                  <a:srgbClr val="006600"/>
                </a:solidFill>
              </a:rPr>
              <a:t>(me)=</a:t>
            </a:r>
            <a:r>
              <a:rPr lang="en-US" altLang="zh-CN" sz="1800" dirty="0">
                <a:solidFill>
                  <a:srgbClr val="006600"/>
                </a:solidFill>
              </a:rPr>
              <a:t>36</a:t>
            </a:r>
            <a:r>
              <a:rPr lang="zh-CN" altLang="en-US" sz="1800" dirty="0">
                <a:solidFill>
                  <a:srgbClr val="006600"/>
                </a:solidFill>
              </a:rPr>
              <a:t>，为什么？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C00000"/>
                </a:solidFill>
              </a:rPr>
              <a:t>这里有一个编译器</a:t>
            </a:r>
            <a:r>
              <a:rPr lang="zh-CN" altLang="en-US" sz="1800" dirty="0" smtClean="0">
                <a:solidFill>
                  <a:srgbClr val="C00000"/>
                </a:solidFill>
              </a:rPr>
              <a:t>对结构体成员</a:t>
            </a:r>
            <a:r>
              <a:rPr lang="zh-CN" altLang="en-US" sz="1800" dirty="0">
                <a:solidFill>
                  <a:srgbClr val="C00000"/>
                </a:solidFill>
              </a:rPr>
              <a:t>变量的</a:t>
            </a:r>
            <a:r>
              <a:rPr lang="zh-CN" altLang="en-US" sz="1800" b="1" dirty="0">
                <a:solidFill>
                  <a:srgbClr val="030DCD"/>
                </a:solidFill>
              </a:rPr>
              <a:t>字节对齐</a:t>
            </a:r>
            <a:r>
              <a:rPr lang="zh-CN" altLang="en-US" sz="1800" dirty="0">
                <a:solidFill>
                  <a:srgbClr val="C00000"/>
                </a:solidFill>
              </a:rPr>
              <a:t>的问题；（以后介绍）</a:t>
            </a:r>
          </a:p>
        </p:txBody>
      </p:sp>
    </p:spTree>
    <p:extLst>
      <p:ext uri="{BB962C8B-B14F-4D97-AF65-F5344CB8AC3E}">
        <p14:creationId xmlns:p14="http://schemas.microsoft.com/office/powerpoint/2010/main" val="394289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结构体变量的使用，</a:t>
            </a:r>
            <a:r>
              <a:rPr lang="zh-CN" altLang="en-US" dirty="0">
                <a:solidFill>
                  <a:srgbClr val="7030A0"/>
                </a:solidFill>
              </a:rPr>
              <a:t>结构体成员的引用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回顾对数组类型的操作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不能将</a:t>
            </a:r>
            <a:r>
              <a:rPr lang="zh-CN" altLang="en-US" sz="1800" dirty="0" smtClean="0"/>
              <a:t>数组名作为</a:t>
            </a:r>
            <a:r>
              <a:rPr lang="zh-CN" altLang="en-US" sz="1800" dirty="0"/>
              <a:t>一个</a:t>
            </a:r>
            <a:r>
              <a:rPr lang="zh-CN" altLang="en-US" sz="1800" b="1" dirty="0"/>
              <a:t>整体</a:t>
            </a:r>
            <a:r>
              <a:rPr lang="zh-CN" altLang="en-US" sz="1800" dirty="0"/>
              <a:t>进行输入输出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1200150" lvl="2"/>
            <a:r>
              <a:rPr lang="zh-CN" altLang="en-US" sz="1600" dirty="0" smtClean="0"/>
              <a:t>除了将字符数组视为字符串进行处理；</a:t>
            </a:r>
            <a:endParaRPr lang="en-US" altLang="zh-CN" sz="1600" dirty="0"/>
          </a:p>
          <a:p>
            <a:pPr marL="971550" lvl="1"/>
            <a:r>
              <a:rPr lang="zh-CN" altLang="en-US" sz="1800" b="1" dirty="0">
                <a:solidFill>
                  <a:srgbClr val="030DCD"/>
                </a:solidFill>
              </a:rPr>
              <a:t>只能</a:t>
            </a:r>
            <a:r>
              <a:rPr lang="zh-CN" altLang="en-US" sz="1800" b="1" i="1" u="sng" dirty="0">
                <a:solidFill>
                  <a:srgbClr val="030DCD"/>
                </a:solidFill>
              </a:rPr>
              <a:t>逐个访问</a:t>
            </a:r>
            <a:r>
              <a:rPr lang="zh-CN" altLang="en-US" sz="1800" b="1" dirty="0">
                <a:solidFill>
                  <a:srgbClr val="030DCD"/>
                </a:solidFill>
              </a:rPr>
              <a:t>数组元素；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对结构体类型</a:t>
            </a:r>
            <a:r>
              <a:rPr lang="zh-CN" altLang="en-US" sz="2000" dirty="0"/>
              <a:t>的操作</a:t>
            </a:r>
            <a:endParaRPr lang="en-US" altLang="zh-CN" sz="2000" dirty="0"/>
          </a:p>
          <a:p>
            <a:pPr marL="971550" lvl="1"/>
            <a:r>
              <a:rPr lang="zh-CN" altLang="en-US" sz="1800" b="1" dirty="0">
                <a:solidFill>
                  <a:srgbClr val="C00000"/>
                </a:solidFill>
              </a:rPr>
              <a:t>不能</a:t>
            </a:r>
            <a:r>
              <a:rPr lang="zh-CN" altLang="en-US" sz="1800" b="1" dirty="0">
                <a:solidFill>
                  <a:srgbClr val="030DCD"/>
                </a:solidFill>
              </a:rPr>
              <a:t>将一个结构体变量作为一个</a:t>
            </a:r>
            <a:r>
              <a:rPr lang="zh-CN" altLang="en-US" sz="1800" b="1" dirty="0">
                <a:solidFill>
                  <a:srgbClr val="C00000"/>
                </a:solidFill>
              </a:rPr>
              <a:t>整体</a:t>
            </a:r>
            <a:r>
              <a:rPr lang="zh-CN" altLang="en-US" sz="1800" b="1" dirty="0">
                <a:solidFill>
                  <a:srgbClr val="030DCD"/>
                </a:solidFill>
              </a:rPr>
              <a:t>进行输入和输出；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C00000"/>
                </a:solidFill>
              </a:rPr>
              <a:t>只能</a:t>
            </a:r>
            <a:r>
              <a:rPr lang="zh-CN" altLang="en-US" sz="1800" b="1" dirty="0">
                <a:solidFill>
                  <a:srgbClr val="030DCD"/>
                </a:solidFill>
              </a:rPr>
              <a:t>逐个访问</a:t>
            </a:r>
            <a:r>
              <a:rPr lang="zh-CN" altLang="en-US" sz="1800" b="1" dirty="0">
                <a:solidFill>
                  <a:srgbClr val="C00000"/>
                </a:solidFill>
              </a:rPr>
              <a:t>成员变量；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点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操作符“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.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”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7030A0"/>
                </a:solidFill>
              </a:rPr>
              <a:t>用于对结构体变量的成员的引用；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en-US" altLang="zh-CN" sz="1800" dirty="0"/>
              <a:t>char </a:t>
            </a:r>
            <a:r>
              <a:rPr lang="en-US" altLang="zh-CN" sz="1800" dirty="0" smtClean="0"/>
              <a:t>*</a:t>
            </a:r>
            <a:r>
              <a:rPr lang="en-US" altLang="zh-CN" sz="1800" dirty="0" err="1" smtClean="0"/>
              <a:t>meName</a:t>
            </a:r>
            <a:r>
              <a:rPr lang="en-US" altLang="zh-CN" sz="1800" dirty="0" smtClean="0"/>
              <a:t> = </a:t>
            </a:r>
            <a:r>
              <a:rPr lang="en-US" altLang="zh-CN" sz="1800" dirty="0" smtClean="0">
                <a:solidFill>
                  <a:srgbClr val="C00000"/>
                </a:solidFill>
              </a:rPr>
              <a:t>me.name</a:t>
            </a:r>
            <a:r>
              <a:rPr lang="en-US" altLang="zh-CN" sz="1800" dirty="0"/>
              <a:t>;</a:t>
            </a:r>
          </a:p>
          <a:p>
            <a:pPr marL="971550" lvl="1"/>
            <a:r>
              <a:rPr lang="en-US" altLang="zh-CN" sz="1800" dirty="0" smtClean="0"/>
              <a:t>me </a:t>
            </a:r>
            <a:r>
              <a:rPr lang="en-US" altLang="zh-CN" sz="1800" dirty="0"/>
              <a:t>. name: </a:t>
            </a:r>
            <a:r>
              <a:rPr lang="zh-CN" altLang="en-US" sz="1800" dirty="0"/>
              <a:t>读作 </a:t>
            </a:r>
            <a:r>
              <a:rPr lang="zh-CN" altLang="en-US" sz="1800" dirty="0" smtClean="0"/>
              <a:t>“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结构体 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me </a:t>
            </a:r>
            <a:r>
              <a:rPr lang="zh-CN" altLang="en-US" sz="1800" b="1" dirty="0">
                <a:solidFill>
                  <a:srgbClr val="7030A0"/>
                </a:solidFill>
              </a:rPr>
              <a:t>的 </a:t>
            </a:r>
            <a:r>
              <a:rPr lang="en-US" altLang="zh-CN" sz="1800" b="1" dirty="0">
                <a:solidFill>
                  <a:srgbClr val="7030A0"/>
                </a:solidFill>
              </a:rPr>
              <a:t>name </a:t>
            </a:r>
            <a:r>
              <a:rPr lang="zh-CN" altLang="en-US" sz="1800" b="1" dirty="0">
                <a:solidFill>
                  <a:srgbClr val="7030A0"/>
                </a:solidFill>
              </a:rPr>
              <a:t>成员</a:t>
            </a:r>
            <a:r>
              <a:rPr lang="zh-CN" altLang="en-US" sz="1800" dirty="0"/>
              <a:t>”</a:t>
            </a:r>
            <a:r>
              <a:rPr lang="en-US" altLang="zh-CN" sz="1800" dirty="0"/>
              <a:t>;</a:t>
            </a:r>
            <a:endParaRPr lang="zh-CN" altLang="en-US" sz="1800" dirty="0"/>
          </a:p>
          <a:p>
            <a:pPr marL="971550" lvl="1"/>
            <a:r>
              <a:rPr lang="zh-CN" altLang="en-US" sz="1800" dirty="0"/>
              <a:t>这里  </a:t>
            </a:r>
            <a:r>
              <a:rPr lang="zh-CN" altLang="en-US" sz="1800" dirty="0">
                <a:solidFill>
                  <a:srgbClr val="030DCD"/>
                </a:solidFill>
              </a:rPr>
              <a:t>“ </a:t>
            </a:r>
            <a:r>
              <a:rPr lang="en-US" altLang="zh-CN" sz="1800" dirty="0">
                <a:solidFill>
                  <a:srgbClr val="030DCD"/>
                </a:solidFill>
              </a:rPr>
              <a:t>. ” </a:t>
            </a:r>
            <a:r>
              <a:rPr lang="zh-CN" altLang="en-US" sz="1800" b="1" dirty="0">
                <a:solidFill>
                  <a:srgbClr val="7030A0"/>
                </a:solidFill>
              </a:rPr>
              <a:t>读作 “的”</a:t>
            </a:r>
            <a:r>
              <a:rPr lang="en-US" altLang="zh-CN" sz="1800" dirty="0"/>
              <a:t>; </a:t>
            </a:r>
          </a:p>
          <a:p>
            <a:pPr marL="971550" lvl="1"/>
            <a:r>
              <a:rPr lang="zh-CN" altLang="en-US" sz="1800" dirty="0">
                <a:solidFill>
                  <a:srgbClr val="030DCD"/>
                </a:solidFill>
              </a:rPr>
              <a:t>“ </a:t>
            </a:r>
            <a:r>
              <a:rPr lang="en-US" altLang="zh-CN" sz="1800" dirty="0">
                <a:solidFill>
                  <a:srgbClr val="030DCD"/>
                </a:solidFill>
              </a:rPr>
              <a:t>. </a:t>
            </a:r>
            <a:r>
              <a:rPr lang="en-US" altLang="zh-CN" sz="1800" dirty="0" smtClean="0">
                <a:solidFill>
                  <a:srgbClr val="030DCD"/>
                </a:solidFill>
              </a:rPr>
              <a:t>”</a:t>
            </a:r>
            <a:r>
              <a:rPr lang="zh-CN" altLang="en-US" sz="1800" dirty="0" smtClean="0"/>
              <a:t>的优先级</a:t>
            </a:r>
            <a:r>
              <a:rPr lang="zh-CN" altLang="en-US" sz="1800" dirty="0"/>
              <a:t>非常高；</a:t>
            </a: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53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96106" y="290254"/>
            <a:ext cx="535563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点操作（运算）符的优先级</a:t>
            </a:r>
            <a:r>
              <a:rPr lang="zh-CN" altLang="en-US" sz="3200" b="1" dirty="0">
                <a:solidFill>
                  <a:srgbClr val="4DFFD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496157" y="1463675"/>
            <a:ext cx="796822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</a:rPr>
              <a:t>初等运算符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rgbClr val="006600"/>
                </a:solidFill>
                <a:latin typeface="+mn-lt"/>
                <a:ea typeface="+mn-ea"/>
              </a:rPr>
              <a:t>   </a:t>
            </a:r>
            <a:r>
              <a:rPr lang="en-US" altLang="zh-CN" sz="2000" dirty="0">
                <a:solidFill>
                  <a:srgbClr val="006600"/>
                </a:solidFill>
                <a:latin typeface="+mn-lt"/>
                <a:ea typeface="+mn-ea"/>
              </a:rPr>
              <a:t>[  ]</a:t>
            </a:r>
            <a:r>
              <a:rPr lang="zh-CN" altLang="en-US" sz="2000" dirty="0">
                <a:solidFill>
                  <a:srgbClr val="006600"/>
                </a:solidFill>
                <a:latin typeface="+mn-lt"/>
                <a:ea typeface="+mn-ea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(  )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+mn-lt"/>
                <a:ea typeface="+mn-ea"/>
              </a:rPr>
              <a:t>•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、</a:t>
            </a:r>
            <a:r>
              <a:rPr lang="en-US" altLang="zh-CN" sz="2000" b="1" dirty="0">
                <a:latin typeface="+mn-lt"/>
                <a:ea typeface="+mn-ea"/>
                <a:sym typeface="Symbol" pitchFamily="18" charset="2"/>
              </a:rPr>
              <a:t>-&gt;</a:t>
            </a:r>
            <a:endParaRPr lang="en-US" altLang="zh-CN" sz="2000" dirty="0">
              <a:solidFill>
                <a:srgbClr val="000000"/>
              </a:solidFill>
              <a:latin typeface="+mn-lt"/>
              <a:ea typeface="+mn-ea"/>
              <a:sym typeface="Symbol" pitchFamily="18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单目运算符	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    ！、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 +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 –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*(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指针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&amp;(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地址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类型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算术运算符	   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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%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关系运算符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&lt;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&gt;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&lt;=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&gt;=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= =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! =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逻辑运算符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&amp;&amp;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¦¦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条件运算符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?  :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赋值运算符	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/=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%=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–=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逗号运算符	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V="1">
            <a:off x="2067355" y="1537816"/>
            <a:ext cx="0" cy="3377761"/>
          </a:xfrm>
          <a:prstGeom prst="line">
            <a:avLst/>
          </a:prstGeom>
          <a:noFill/>
          <a:ln w="57150">
            <a:solidFill>
              <a:srgbClr val="0303D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z="240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599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结构体中使用已定义的</a:t>
            </a:r>
            <a:r>
              <a:rPr lang="zh-CN" altLang="en-US" dirty="0" smtClean="0"/>
              <a:t>结构体</a:t>
            </a:r>
            <a:r>
              <a:rPr lang="en-US" altLang="zh-CN" dirty="0" smtClean="0"/>
              <a:t>--</a:t>
            </a:r>
            <a:r>
              <a:rPr lang="zh-CN" altLang="en-US" dirty="0" smtClean="0">
                <a:solidFill>
                  <a:srgbClr val="7030A0"/>
                </a:solidFill>
              </a:rPr>
              <a:t>结构体嵌套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79771" y="1087257"/>
            <a:ext cx="3928221" cy="455853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声明结构体类型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struct person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    </a:t>
            </a:r>
            <a:r>
              <a:rPr lang="en-US" altLang="zh-CN" sz="1600" dirty="0">
                <a:solidFill>
                  <a:srgbClr val="000000"/>
                </a:solidFill>
              </a:rPr>
              <a:t>char  name[20];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姓名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性别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sz="1600" dirty="0">
                <a:solidFill>
                  <a:srgbClr val="000000"/>
                </a:solidFill>
              </a:rPr>
              <a:t>生日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身高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体重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 smtClean="0">
                <a:solidFill>
                  <a:srgbClr val="0000CC"/>
                </a:solidFill>
              </a:rPr>
              <a:t>};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</a:rPr>
              <a:t>struct</a:t>
            </a:r>
            <a:r>
              <a:rPr lang="en-US" altLang="zh-CN" sz="1600" b="1" dirty="0">
                <a:solidFill>
                  <a:srgbClr val="000000"/>
                </a:solidFill>
              </a:rPr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student</a:t>
            </a:r>
            <a:r>
              <a:rPr lang="en-US" altLang="zh-CN" sz="1600" b="1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      struct person </a:t>
            </a:r>
            <a:r>
              <a:rPr lang="en-US" altLang="zh-CN" sz="1600" dirty="0">
                <a:solidFill>
                  <a:srgbClr val="C00000"/>
                </a:solidFill>
              </a:rPr>
              <a:t>info</a:t>
            </a:r>
            <a:r>
              <a:rPr lang="en-US" altLang="zh-CN" sz="1600" dirty="0">
                <a:solidFill>
                  <a:srgbClr val="000000"/>
                </a:solidFill>
              </a:rPr>
              <a:t>;  //</a:t>
            </a:r>
            <a:r>
              <a:rPr lang="zh-CN" altLang="en-US" sz="1600" dirty="0">
                <a:solidFill>
                  <a:srgbClr val="000000"/>
                </a:solidFill>
              </a:rPr>
              <a:t>已</a:t>
            </a:r>
            <a:r>
              <a:rPr lang="zh-CN" altLang="en-US" sz="1600" dirty="0" smtClean="0">
                <a:solidFill>
                  <a:srgbClr val="000000"/>
                </a:solidFill>
              </a:rPr>
              <a:t>定义过的结构体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  float </a:t>
            </a:r>
            <a:r>
              <a:rPr lang="en-US" altLang="zh-CN" sz="1600" dirty="0" err="1">
                <a:solidFill>
                  <a:srgbClr val="000000"/>
                </a:solidFill>
              </a:rPr>
              <a:t>C_language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  float math;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};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275240E-9512-4BB7-A2D7-064DB56C04F7}"/>
              </a:ext>
            </a:extLst>
          </p:cNvPr>
          <p:cNvSpPr txBox="1">
            <a:spLocks/>
          </p:cNvSpPr>
          <p:nvPr/>
        </p:nvSpPr>
        <p:spPr bwMode="auto">
          <a:xfrm>
            <a:off x="4754880" y="1087257"/>
            <a:ext cx="3956858" cy="455853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定义结构体变量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 smtClean="0">
                <a:solidFill>
                  <a:srgbClr val="0000CC"/>
                </a:solidFill>
              </a:rPr>
              <a:t>struct</a:t>
            </a:r>
            <a:r>
              <a:rPr lang="en-US" altLang="zh-CN" sz="1600" dirty="0" smtClean="0">
                <a:solidFill>
                  <a:srgbClr val="0000CC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student </a:t>
            </a:r>
            <a:r>
              <a:rPr lang="en-US" altLang="zh-CN" sz="1600" dirty="0" smtClean="0">
                <a:solidFill>
                  <a:srgbClr val="C00000"/>
                </a:solidFill>
              </a:rPr>
              <a:t>me</a:t>
            </a:r>
            <a:r>
              <a:rPr lang="en-US" altLang="zh-CN" sz="1600" dirty="0" smtClean="0">
                <a:solidFill>
                  <a:srgbClr val="000000"/>
                </a:solidFill>
              </a:rPr>
              <a:t>;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 smtClean="0">
                <a:solidFill>
                  <a:srgbClr val="0000CC"/>
                </a:solidFill>
              </a:rPr>
              <a:t>定义结构体变量</a:t>
            </a:r>
            <a:r>
              <a:rPr lang="en-US" altLang="zh-CN" sz="1600" dirty="0" smtClean="0">
                <a:solidFill>
                  <a:srgbClr val="0000CC"/>
                </a:solidFill>
              </a:rPr>
              <a:t>me</a:t>
            </a:r>
            <a:r>
              <a:rPr lang="zh-CN" altLang="en-US" sz="1600" dirty="0" smtClean="0">
                <a:solidFill>
                  <a:srgbClr val="0000CC"/>
                </a:solidFill>
              </a:rPr>
              <a:t>；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0CC"/>
                </a:solidFill>
              </a:rPr>
              <a:t>//</a:t>
            </a:r>
            <a:r>
              <a:rPr lang="zh-CN" altLang="en-US" sz="1600" dirty="0">
                <a:solidFill>
                  <a:srgbClr val="0000CC"/>
                </a:solidFill>
              </a:rPr>
              <a:t>结构体成员的引用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float </a:t>
            </a:r>
            <a:r>
              <a:rPr lang="en-US" altLang="zh-CN" sz="1600" dirty="0" err="1">
                <a:solidFill>
                  <a:srgbClr val="000000"/>
                </a:solidFill>
              </a:rPr>
              <a:t>C_language</a:t>
            </a:r>
            <a:r>
              <a:rPr lang="en-US" altLang="zh-CN" sz="1600" dirty="0">
                <a:solidFill>
                  <a:srgbClr val="000000"/>
                </a:solidFill>
              </a:rPr>
              <a:t> = </a:t>
            </a:r>
            <a:r>
              <a:rPr lang="en-US" altLang="zh-CN" sz="1600" dirty="0" smtClean="0">
                <a:solidFill>
                  <a:srgbClr val="7030A0"/>
                </a:solidFill>
              </a:rPr>
              <a:t>me. </a:t>
            </a:r>
            <a:r>
              <a:rPr lang="en-US" altLang="zh-CN" sz="1600" dirty="0" err="1">
                <a:solidFill>
                  <a:srgbClr val="7030A0"/>
                </a:solidFill>
              </a:rPr>
              <a:t>C_language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float math= 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me.math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char *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name=</a:t>
            </a:r>
            <a:r>
              <a:rPr lang="en-US" altLang="zh-CN" sz="1600" b="1" u="sng" dirty="0" smtClean="0">
                <a:solidFill>
                  <a:srgbClr val="C00000"/>
                </a:solidFill>
              </a:rPr>
              <a:t>me.info.name</a:t>
            </a:r>
            <a:r>
              <a:rPr lang="en-US" altLang="zh-CN" sz="1600" b="1" dirty="0">
                <a:solidFill>
                  <a:srgbClr val="C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…..</a:t>
            </a:r>
            <a:endParaRPr lang="en-US" altLang="zh-CN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>
                <a:solidFill>
                  <a:srgbClr val="7030A0"/>
                </a:solidFill>
              </a:rPr>
              <a:t>me.math</a:t>
            </a:r>
            <a:r>
              <a:rPr lang="zh-CN" altLang="en-US" sz="1600" dirty="0" smtClean="0">
                <a:solidFill>
                  <a:srgbClr val="000000"/>
                </a:solidFill>
              </a:rPr>
              <a:t>、</a:t>
            </a:r>
            <a:r>
              <a:rPr lang="en-US" altLang="zh-CN" sz="1600" dirty="0" smtClean="0">
                <a:solidFill>
                  <a:srgbClr val="006600"/>
                </a:solidFill>
              </a:rPr>
              <a:t>me.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C_language</a:t>
            </a:r>
            <a:r>
              <a:rPr lang="zh-CN" altLang="en-US" sz="1600" dirty="0">
                <a:solidFill>
                  <a:srgbClr val="000000"/>
                </a:solidFill>
              </a:rPr>
              <a:t>的使用同</a:t>
            </a:r>
            <a:r>
              <a:rPr lang="en-US" altLang="zh-CN" sz="1600" dirty="0">
                <a:solidFill>
                  <a:srgbClr val="000000"/>
                </a:solidFill>
              </a:rPr>
              <a:t>float</a:t>
            </a:r>
            <a:r>
              <a:rPr lang="zh-CN" altLang="en-US" sz="1600" dirty="0" smtClean="0">
                <a:solidFill>
                  <a:srgbClr val="000000"/>
                </a:solidFill>
              </a:rPr>
              <a:t>变量使用；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000000"/>
                </a:solidFill>
              </a:rPr>
              <a:t>如</a:t>
            </a:r>
            <a:r>
              <a:rPr lang="en-US" altLang="zh-CN" sz="1600" dirty="0" smtClean="0">
                <a:solidFill>
                  <a:srgbClr val="000000"/>
                </a:solidFill>
              </a:rPr>
              <a:t>float f; </a:t>
            </a:r>
            <a:r>
              <a:rPr lang="zh-CN" altLang="en-US" sz="1600" dirty="0" smtClean="0">
                <a:solidFill>
                  <a:srgbClr val="000000"/>
                </a:solidFill>
              </a:rPr>
              <a:t>则</a:t>
            </a:r>
            <a:r>
              <a:rPr lang="en-US" altLang="zh-CN" sz="1600" dirty="0" smtClean="0">
                <a:solidFill>
                  <a:srgbClr val="000000"/>
                </a:solidFill>
              </a:rPr>
              <a:t>f</a:t>
            </a:r>
            <a:r>
              <a:rPr lang="zh-CN" altLang="en-US" sz="1600" dirty="0" smtClean="0">
                <a:solidFill>
                  <a:srgbClr val="000000"/>
                </a:solidFill>
              </a:rPr>
              <a:t>能出现的地方，都可使用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me.math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 smtClean="0">
                <a:solidFill>
                  <a:srgbClr val="006600"/>
                </a:solidFill>
              </a:rPr>
              <a:t>me. </a:t>
            </a:r>
            <a:r>
              <a:rPr lang="en-US" altLang="zh-CN" sz="1600" dirty="0" err="1">
                <a:solidFill>
                  <a:srgbClr val="006600"/>
                </a:solidFill>
              </a:rPr>
              <a:t>C_language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285750" indent="-285750"/>
            <a:endParaRPr lang="en-US" altLang="zh-CN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01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</a:t>
            </a:r>
            <a:r>
              <a:rPr lang="zh-CN" altLang="en-US" dirty="0">
                <a:solidFill>
                  <a:srgbClr val="7030A0"/>
                </a:solidFill>
              </a:rPr>
              <a:t>地址</a:t>
            </a:r>
            <a:r>
              <a:rPr lang="zh-CN" altLang="en-US" dirty="0"/>
              <a:t>与成员变量</a:t>
            </a:r>
            <a:r>
              <a:rPr lang="zh-CN" altLang="en-US" dirty="0">
                <a:solidFill>
                  <a:srgbClr val="7030A0"/>
                </a:solidFill>
              </a:rPr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00000"/>
                </a:solidFill>
              </a:rPr>
              <a:t>struct  student {…} </a:t>
            </a:r>
            <a:r>
              <a:rPr lang="en-US" altLang="zh-CN" sz="1800" dirty="0" smtClean="0">
                <a:solidFill>
                  <a:srgbClr val="000000"/>
                </a:solidFill>
              </a:rPr>
              <a:t>me;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定义类型为</a:t>
            </a:r>
            <a:r>
              <a:rPr lang="en-US" altLang="zh-CN" sz="1800" dirty="0">
                <a:solidFill>
                  <a:srgbClr val="000000"/>
                </a:solidFill>
              </a:rPr>
              <a:t>student</a:t>
            </a:r>
            <a:r>
              <a:rPr lang="zh-CN" altLang="en-US" sz="1800" dirty="0">
                <a:solidFill>
                  <a:srgbClr val="000000"/>
                </a:solidFill>
              </a:rPr>
              <a:t>的结构体变量</a:t>
            </a:r>
            <a:r>
              <a:rPr lang="en-US" altLang="zh-CN" sz="1800" dirty="0" smtClean="0">
                <a:solidFill>
                  <a:srgbClr val="000000"/>
                </a:solidFill>
              </a:rPr>
              <a:t>me</a:t>
            </a:r>
            <a:r>
              <a:rPr lang="zh-CN" altLang="en-US" sz="1800" dirty="0" smtClean="0">
                <a:solidFill>
                  <a:srgbClr val="000000"/>
                </a:solidFill>
              </a:rPr>
              <a:t>；</a:t>
            </a:r>
            <a:endParaRPr lang="en-US" altLang="zh-CN" sz="1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/>
              <a:t>引用</a:t>
            </a:r>
            <a:r>
              <a:rPr lang="zh-CN" altLang="en-US" sz="1800" dirty="0">
                <a:solidFill>
                  <a:srgbClr val="C00000"/>
                </a:solidFill>
              </a:rPr>
              <a:t>结构体变量</a:t>
            </a:r>
            <a:r>
              <a:rPr lang="zh-CN" altLang="en-US" sz="1800" dirty="0">
                <a:solidFill>
                  <a:srgbClr val="030DCD"/>
                </a:solidFill>
              </a:rPr>
              <a:t>成员的值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085850" lvl="1" indent="-457200"/>
            <a:r>
              <a:rPr lang="en-US" altLang="zh-CN" sz="1800" dirty="0"/>
              <a:t>char *</a:t>
            </a:r>
            <a:r>
              <a:rPr lang="en-US" altLang="zh-CN" sz="1800" dirty="0" smtClean="0"/>
              <a:t>name=me.name;   //</a:t>
            </a:r>
            <a:r>
              <a:rPr lang="zh-CN" altLang="en-US" sz="1800" dirty="0" smtClean="0"/>
              <a:t>指针变量</a:t>
            </a:r>
            <a:r>
              <a:rPr lang="en-US" altLang="zh-CN" sz="1800" dirty="0" smtClean="0"/>
              <a:t>name</a:t>
            </a:r>
            <a:r>
              <a:rPr lang="zh-CN" altLang="en-US" sz="1800" dirty="0" smtClean="0"/>
              <a:t>指向</a:t>
            </a:r>
            <a:r>
              <a:rPr lang="en-US" altLang="zh-CN" sz="1800" dirty="0" smtClean="0"/>
              <a:t>me.name</a:t>
            </a:r>
            <a:endParaRPr lang="en-US" altLang="zh-CN" sz="1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b="1" dirty="0" smtClean="0"/>
              <a:t>引用</a:t>
            </a:r>
            <a:r>
              <a:rPr lang="zh-CN" altLang="en-US" sz="1800" b="1" dirty="0">
                <a:solidFill>
                  <a:srgbClr val="C00000"/>
                </a:solidFill>
              </a:rPr>
              <a:t>结构体变量</a:t>
            </a:r>
            <a:r>
              <a:rPr lang="zh-CN" altLang="en-US" sz="1800" b="1" dirty="0">
                <a:solidFill>
                  <a:srgbClr val="006600"/>
                </a:solidFill>
              </a:rPr>
              <a:t>成员的地址</a:t>
            </a:r>
            <a:r>
              <a:rPr lang="zh-CN" altLang="en-US" sz="1800" b="1" dirty="0"/>
              <a:t>；</a:t>
            </a:r>
            <a:endParaRPr lang="en-US" altLang="zh-CN" sz="1800" b="1" dirty="0"/>
          </a:p>
          <a:p>
            <a:pPr marL="1085850" lvl="1" indent="-457200"/>
            <a:r>
              <a:rPr lang="en-US" altLang="zh-CN" sz="1800" dirty="0"/>
              <a:t>char *</a:t>
            </a:r>
            <a:r>
              <a:rPr lang="en-US" altLang="zh-CN" sz="1800" dirty="0" err="1"/>
              <a:t>psex</a:t>
            </a:r>
            <a:r>
              <a:rPr lang="en-US" altLang="zh-CN" sz="1800" dirty="0" smtClean="0"/>
              <a:t>=&amp;</a:t>
            </a:r>
            <a:r>
              <a:rPr lang="en-US" altLang="zh-CN" sz="1800" dirty="0" err="1" smtClean="0"/>
              <a:t>me.sex</a:t>
            </a:r>
            <a:r>
              <a:rPr lang="en-US" altLang="zh-CN" sz="1800" dirty="0" smtClean="0"/>
              <a:t>;   //</a:t>
            </a:r>
            <a:r>
              <a:rPr lang="zh-CN" altLang="en-US" sz="1800" dirty="0" smtClean="0"/>
              <a:t>如同引用一个基本数据类型的变量地址</a:t>
            </a:r>
            <a:endParaRPr lang="en-US" altLang="zh-CN" sz="1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b="1" i="1" u="sng" dirty="0"/>
              <a:t>引用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结构体变量</a:t>
            </a:r>
            <a:r>
              <a:rPr lang="zh-CN" altLang="en-US" sz="1800" b="1" i="1" u="sng" dirty="0">
                <a:solidFill>
                  <a:srgbClr val="006600"/>
                </a:solidFill>
              </a:rPr>
              <a:t>的地址</a:t>
            </a:r>
            <a:r>
              <a:rPr lang="zh-CN" altLang="en-US" sz="1800" b="1" i="1" u="sng" dirty="0"/>
              <a:t>；</a:t>
            </a:r>
            <a:endParaRPr lang="en-US" altLang="zh-CN" sz="1800" b="1" i="1" u="sng" dirty="0"/>
          </a:p>
          <a:p>
            <a:pPr marL="1085850" lvl="1" indent="-457200"/>
            <a:r>
              <a:rPr lang="en-US" altLang="zh-CN" sz="1800" dirty="0"/>
              <a:t>student *</a:t>
            </a:r>
            <a:r>
              <a:rPr lang="en-US" altLang="zh-CN" sz="1800" dirty="0" err="1"/>
              <a:t>sp</a:t>
            </a:r>
            <a:r>
              <a:rPr lang="en-US" altLang="zh-CN" sz="1800" dirty="0" smtClean="0"/>
              <a:t>=&amp;me</a:t>
            </a:r>
            <a:r>
              <a:rPr lang="zh-CN" altLang="en-US" sz="1800" dirty="0" smtClean="0"/>
              <a:t>；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//</a:t>
            </a:r>
            <a:r>
              <a:rPr lang="zh-CN" altLang="en-US" sz="1800" dirty="0" smtClean="0"/>
              <a:t>指向结构体类型</a:t>
            </a:r>
            <a:r>
              <a:rPr lang="zh-CN" altLang="en-US" sz="1800" dirty="0"/>
              <a:t>为</a:t>
            </a:r>
            <a:r>
              <a:rPr lang="en-US" altLang="zh-CN" sz="1800" dirty="0"/>
              <a:t>student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结构体变量指针</a:t>
            </a:r>
            <a:endParaRPr lang="en-US" altLang="zh-CN" sz="1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b="1" u="sng" dirty="0">
                <a:solidFill>
                  <a:srgbClr val="030DCD"/>
                </a:solidFill>
              </a:rPr>
              <a:t>结构体</a:t>
            </a:r>
            <a:r>
              <a:rPr lang="zh-CN" altLang="en-US" sz="1800" b="1" u="sng" dirty="0">
                <a:solidFill>
                  <a:srgbClr val="C00000"/>
                </a:solidFill>
              </a:rPr>
              <a:t>变量的地址</a:t>
            </a:r>
            <a:r>
              <a:rPr lang="zh-CN" altLang="en-US" sz="1800" b="1" u="sng" dirty="0">
                <a:solidFill>
                  <a:srgbClr val="030DCD"/>
                </a:solidFill>
              </a:rPr>
              <a:t>可以用作函数参数，传递结构体变量的地址；</a:t>
            </a:r>
            <a:endParaRPr lang="en-US" altLang="zh-CN" sz="1800" b="1" u="sng" dirty="0">
              <a:solidFill>
                <a:srgbClr val="030DC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u="sng" dirty="0" smtClean="0">
                <a:solidFill>
                  <a:srgbClr val="7030A0"/>
                </a:solidFill>
              </a:rPr>
              <a:t>对于结构体指针</a:t>
            </a:r>
            <a:r>
              <a:rPr lang="en-US" altLang="zh-CN" sz="1800" u="sng" dirty="0" err="1">
                <a:solidFill>
                  <a:srgbClr val="7030A0"/>
                </a:solidFill>
              </a:rPr>
              <a:t>sp</a:t>
            </a:r>
            <a:r>
              <a:rPr lang="zh-CN" altLang="en-US" sz="1800" u="sng" dirty="0" smtClean="0">
                <a:solidFill>
                  <a:srgbClr val="7030A0"/>
                </a:solidFill>
              </a:rPr>
              <a:t>，通过</a:t>
            </a:r>
            <a:r>
              <a:rPr lang="en-US" altLang="zh-CN" sz="1800" u="sng" dirty="0">
                <a:solidFill>
                  <a:srgbClr val="C00000"/>
                </a:solidFill>
              </a:rPr>
              <a:t>-&gt;</a:t>
            </a:r>
            <a:r>
              <a:rPr lang="zh-CN" altLang="en-US" sz="1800" u="sng" dirty="0">
                <a:solidFill>
                  <a:srgbClr val="7030A0"/>
                </a:solidFill>
              </a:rPr>
              <a:t>运算符</a:t>
            </a:r>
            <a:r>
              <a:rPr lang="zh-CN" altLang="en-US" sz="1800" u="sng" dirty="0" smtClean="0">
                <a:solidFill>
                  <a:srgbClr val="7030A0"/>
                </a:solidFill>
              </a:rPr>
              <a:t>访问</a:t>
            </a:r>
            <a:r>
              <a:rPr lang="en-US" altLang="zh-CN" sz="1800" u="sng" dirty="0" err="1" smtClean="0">
                <a:solidFill>
                  <a:srgbClr val="7030A0"/>
                </a:solidFill>
              </a:rPr>
              <a:t>sp</a:t>
            </a:r>
            <a:r>
              <a:rPr lang="zh-CN" altLang="en-US" sz="1800" u="sng" dirty="0" smtClean="0">
                <a:solidFill>
                  <a:srgbClr val="7030A0"/>
                </a:solidFill>
              </a:rPr>
              <a:t>所指向的结构体成员</a:t>
            </a:r>
            <a:r>
              <a:rPr lang="zh-CN" altLang="en-US" sz="1800" u="sng" dirty="0">
                <a:solidFill>
                  <a:srgbClr val="7030A0"/>
                </a:solidFill>
              </a:rPr>
              <a:t>变量</a:t>
            </a:r>
            <a:endParaRPr lang="en-US" altLang="zh-CN" sz="1800" u="sng" dirty="0">
              <a:solidFill>
                <a:srgbClr val="7030A0"/>
              </a:solidFill>
            </a:endParaRPr>
          </a:p>
          <a:p>
            <a:pPr marL="914400" lvl="1" indent="-285750"/>
            <a:r>
              <a:rPr lang="zh-CN" altLang="en-US" sz="1800" dirty="0"/>
              <a:t>如 </a:t>
            </a:r>
            <a:r>
              <a:rPr lang="en-US" altLang="zh-CN" sz="1800" dirty="0"/>
              <a:t>char sex=</a:t>
            </a:r>
            <a:r>
              <a:rPr lang="en-US" altLang="zh-CN" sz="1800" dirty="0" err="1"/>
              <a:t>sp</a:t>
            </a:r>
            <a:r>
              <a:rPr lang="en-US" altLang="zh-CN" sz="1800" dirty="0"/>
              <a:t>-&gt;sex;  (</a:t>
            </a:r>
            <a:r>
              <a:rPr lang="zh-CN" altLang="en-US" sz="1800" b="1" dirty="0">
                <a:solidFill>
                  <a:srgbClr val="006600"/>
                </a:solidFill>
              </a:rPr>
              <a:t>比较：</a:t>
            </a:r>
            <a:r>
              <a:rPr lang="en-US" altLang="zh-CN" sz="1800" b="1" dirty="0">
                <a:solidFill>
                  <a:srgbClr val="006600"/>
                </a:solidFill>
              </a:rPr>
              <a:t> char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sex=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me.sex</a:t>
            </a:r>
            <a:r>
              <a:rPr lang="en-US" altLang="zh-CN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937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例：结构体变量</a:t>
            </a:r>
            <a:r>
              <a:rPr lang="zh-CN" altLang="en-US" dirty="0"/>
              <a:t>的定义与引用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//**********************************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//*    </a:t>
            </a:r>
            <a:r>
              <a:rPr lang="zh-CN" altLang="en-US" sz="1600" dirty="0">
                <a:solidFill>
                  <a:srgbClr val="000000"/>
                </a:solidFill>
              </a:rPr>
              <a:t>程  序  名：</a:t>
            </a:r>
            <a:r>
              <a:rPr lang="en-US" altLang="zh-CN" sz="1600" dirty="0">
                <a:solidFill>
                  <a:srgbClr val="000000"/>
                </a:solidFill>
              </a:rPr>
              <a:t>structure.CPP                 </a:t>
            </a:r>
            <a:r>
              <a:rPr lang="en-US" altLang="zh-CN" sz="1600" dirty="0" smtClean="0">
                <a:solidFill>
                  <a:srgbClr val="000000"/>
                </a:solidFill>
              </a:rPr>
              <a:t> </a:t>
            </a:r>
            <a:r>
              <a:rPr lang="en-US" altLang="zh-CN" sz="1600" dirty="0">
                <a:solidFill>
                  <a:srgbClr val="000000"/>
                </a:solidFill>
              </a:rPr>
              <a:t>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//*    </a:t>
            </a:r>
            <a:r>
              <a:rPr lang="zh-CN" altLang="en-US" sz="1600" dirty="0">
                <a:solidFill>
                  <a:srgbClr val="000000"/>
                </a:solidFill>
              </a:rPr>
              <a:t>作        者：</a:t>
            </a:r>
            <a:r>
              <a:rPr lang="en-US" altLang="zh-CN" sz="1600" dirty="0" err="1">
                <a:solidFill>
                  <a:srgbClr val="000000"/>
                </a:solidFill>
              </a:rPr>
              <a:t>wuwh</a:t>
            </a:r>
            <a:r>
              <a:rPr lang="en-US" altLang="zh-CN" sz="1600" dirty="0">
                <a:solidFill>
                  <a:srgbClr val="000000"/>
                </a:solidFill>
              </a:rPr>
              <a:t>                              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//*    </a:t>
            </a:r>
            <a:r>
              <a:rPr lang="zh-CN" altLang="en-US" sz="1600" dirty="0">
                <a:solidFill>
                  <a:srgbClr val="000000"/>
                </a:solidFill>
              </a:rPr>
              <a:t>编制时间：</a:t>
            </a:r>
            <a:r>
              <a:rPr lang="en-US" altLang="zh-CN" sz="1600" dirty="0">
                <a:solidFill>
                  <a:srgbClr val="000000"/>
                </a:solidFill>
              </a:rPr>
              <a:t>2018</a:t>
            </a:r>
            <a:r>
              <a:rPr lang="zh-CN" altLang="en-US" sz="1600" dirty="0">
                <a:solidFill>
                  <a:srgbClr val="000000"/>
                </a:solidFill>
              </a:rPr>
              <a:t>年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月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日            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//*    </a:t>
            </a:r>
            <a:r>
              <a:rPr lang="zh-CN" altLang="en-US" sz="1600" dirty="0">
                <a:solidFill>
                  <a:srgbClr val="000000"/>
                </a:solidFill>
              </a:rPr>
              <a:t>主要功能：学生个人信息                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600" dirty="0" smtClean="0">
                <a:solidFill>
                  <a:srgbClr val="000000"/>
                </a:solidFill>
              </a:rPr>
              <a:t>//**********************************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#include  &lt;</a:t>
            </a:r>
            <a:r>
              <a:rPr lang="en-US" altLang="zh-CN" sz="1600" dirty="0" err="1">
                <a:solidFill>
                  <a:srgbClr val="000000"/>
                </a:solidFill>
              </a:rPr>
              <a:t>stdio.h</a:t>
            </a:r>
            <a:r>
              <a:rPr lang="en-US" altLang="zh-CN" sz="1600" dirty="0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 err="1">
                <a:solidFill>
                  <a:srgbClr val="C00000"/>
                </a:solidFill>
              </a:rPr>
              <a:t>struct</a:t>
            </a:r>
            <a:r>
              <a:rPr lang="en-US" altLang="zh-CN" sz="1600" dirty="0">
                <a:solidFill>
                  <a:srgbClr val="C00000"/>
                </a:solidFill>
              </a:rPr>
              <a:t>  student                       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 smtClean="0">
                <a:solidFill>
                  <a:srgbClr val="000000"/>
                </a:solidFill>
              </a:rPr>
              <a:t>定义</a:t>
            </a:r>
            <a:r>
              <a:rPr lang="zh-CN" altLang="en-US" sz="1600" dirty="0" smtClean="0">
                <a:solidFill>
                  <a:srgbClr val="030DCD"/>
                </a:solidFill>
              </a:rPr>
              <a:t>结构体类型</a:t>
            </a:r>
            <a:r>
              <a:rPr lang="en-US" altLang="zh-CN" sz="1600" dirty="0">
                <a:solidFill>
                  <a:srgbClr val="000000"/>
                </a:solidFill>
              </a:rPr>
              <a:t>student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姓名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性别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sz="1600" dirty="0">
                <a:solidFill>
                  <a:srgbClr val="000000"/>
                </a:solidFill>
              </a:rPr>
              <a:t>生日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身高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600" dirty="0">
                <a:solidFill>
                  <a:srgbClr val="000000"/>
                </a:solidFill>
              </a:rPr>
              <a:t>体重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};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400" dirty="0" smtClean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 smtClean="0">
                <a:solidFill>
                  <a:srgbClr val="000000"/>
                </a:solidFill>
              </a:rPr>
              <a:t>注：</a:t>
            </a:r>
            <a:r>
              <a:rPr lang="en-US" altLang="zh-CN" sz="1400" dirty="0" smtClean="0">
                <a:solidFill>
                  <a:srgbClr val="000000"/>
                </a:solidFill>
              </a:rPr>
              <a:t>Dev-</a:t>
            </a:r>
            <a:r>
              <a:rPr lang="en-US" altLang="zh-CN" sz="1400" dirty="0" err="1" smtClean="0">
                <a:solidFill>
                  <a:srgbClr val="000000"/>
                </a:solidFill>
              </a:rPr>
              <a:t>Cpp</a:t>
            </a:r>
            <a:r>
              <a:rPr lang="zh-CN" altLang="en-US" sz="1400" dirty="0" smtClean="0">
                <a:solidFill>
                  <a:srgbClr val="000000"/>
                </a:solidFill>
              </a:rPr>
              <a:t>中，在</a:t>
            </a:r>
            <a:r>
              <a:rPr lang="zh-CN" altLang="en-US" sz="1400" dirty="0" smtClean="0">
                <a:solidFill>
                  <a:srgbClr val="030DCD"/>
                </a:solidFill>
              </a:rPr>
              <a:t>函数体外定义结构体类型</a:t>
            </a:r>
            <a:r>
              <a:rPr lang="zh-CN" altLang="en-US" sz="1400" dirty="0" smtClean="0">
                <a:solidFill>
                  <a:srgbClr val="000000"/>
                </a:solidFill>
              </a:rPr>
              <a:t>，定义结构体变量</a:t>
            </a:r>
            <a:r>
              <a:rPr lang="en-US" altLang="zh-CN" sz="1400" dirty="0" err="1">
                <a:solidFill>
                  <a:srgbClr val="C00000"/>
                </a:solidFill>
              </a:rPr>
              <a:t>stru</a:t>
            </a:r>
            <a:r>
              <a:rPr lang="en-US" altLang="zh-CN" sz="1400" dirty="0" err="1" smtClean="0">
                <a:solidFill>
                  <a:srgbClr val="C00000"/>
                </a:solidFill>
              </a:rPr>
              <a:t>ct</a:t>
            </a:r>
            <a:r>
              <a:rPr lang="en-US" altLang="zh-CN" sz="1400" dirty="0" smtClean="0">
                <a:solidFill>
                  <a:srgbClr val="C00000"/>
                </a:solidFill>
              </a:rPr>
              <a:t>  student me</a:t>
            </a:r>
            <a:r>
              <a:rPr lang="zh-CN" altLang="en-US" sz="1400" dirty="0" smtClean="0">
                <a:solidFill>
                  <a:srgbClr val="000000"/>
                </a:solidFill>
              </a:rPr>
              <a:t>，输入</a:t>
            </a:r>
            <a:r>
              <a:rPr lang="en-US" altLang="zh-CN" sz="1400" dirty="0">
                <a:solidFill>
                  <a:srgbClr val="C00000"/>
                </a:solidFill>
              </a:rPr>
              <a:t>me.</a:t>
            </a:r>
            <a:r>
              <a:rPr lang="zh-CN" altLang="en-US" sz="1400" dirty="0" smtClean="0">
                <a:solidFill>
                  <a:srgbClr val="000000"/>
                </a:solidFill>
              </a:rPr>
              <a:t>后，</a:t>
            </a:r>
            <a:r>
              <a:rPr lang="zh-CN" altLang="en-US" sz="1400" dirty="0" smtClean="0">
                <a:solidFill>
                  <a:srgbClr val="000000"/>
                </a:solidFill>
              </a:rPr>
              <a:t>编辑器会给出结构体成员提示。（在</a:t>
            </a:r>
            <a:r>
              <a:rPr lang="en-US" altLang="zh-CN" sz="1400" dirty="0" smtClean="0">
                <a:solidFill>
                  <a:srgbClr val="000000"/>
                </a:solidFill>
              </a:rPr>
              <a:t>main</a:t>
            </a:r>
            <a:r>
              <a:rPr lang="zh-CN" altLang="en-US" sz="1400" dirty="0" smtClean="0">
                <a:solidFill>
                  <a:srgbClr val="000000"/>
                </a:solidFill>
              </a:rPr>
              <a:t>函数中定义结构体类型不出现提示）</a:t>
            </a:r>
            <a:endParaRPr lang="zh-CN" alt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84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输入输出个人信息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6" y="1135063"/>
            <a:ext cx="3811904" cy="4963985"/>
          </a:xfrm>
          <a:ln>
            <a:solidFill>
              <a:srgbClr val="080808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int main()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{ 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struct</a:t>
            </a:r>
            <a:r>
              <a:rPr lang="en-US" altLang="zh-CN" sz="1600" dirty="0" smtClean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</a:rPr>
              <a:t>student me;  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定义类型</a:t>
            </a:r>
            <a:r>
              <a:rPr lang="zh-CN" altLang="en-US" sz="1600" dirty="0" smtClean="0">
                <a:solidFill>
                  <a:srgbClr val="000000"/>
                </a:solidFill>
              </a:rPr>
              <a:t>为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</a:rPr>
              <a:t>                // student</a:t>
            </a:r>
            <a:r>
              <a:rPr lang="zh-CN" altLang="en-US" sz="1600" dirty="0" smtClean="0">
                <a:solidFill>
                  <a:srgbClr val="000000"/>
                </a:solidFill>
              </a:rPr>
              <a:t>的结构体变量</a:t>
            </a:r>
            <a:r>
              <a:rPr lang="en-US" altLang="zh-CN" sz="1600" dirty="0" smtClean="0">
                <a:solidFill>
                  <a:srgbClr val="000000"/>
                </a:solidFill>
              </a:rPr>
              <a:t>me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smtClean="0">
                <a:solidFill>
                  <a:srgbClr val="000000"/>
                </a:solidFill>
              </a:rPr>
              <a:t>//student me;</a:t>
            </a:r>
            <a:r>
              <a:rPr lang="zh-CN" altLang="en-US" sz="1600" dirty="0" smtClean="0">
                <a:solidFill>
                  <a:srgbClr val="000000"/>
                </a:solidFill>
              </a:rPr>
              <a:t>    </a:t>
            </a:r>
            <a:r>
              <a:rPr lang="en-US" altLang="zh-CN" sz="1600" dirty="0" smtClean="0">
                <a:solidFill>
                  <a:srgbClr val="000000"/>
                </a:solidFill>
              </a:rPr>
              <a:t>//</a:t>
            </a:r>
            <a:r>
              <a:rPr lang="zh-CN" altLang="en-US" sz="1600" dirty="0" smtClean="0">
                <a:solidFill>
                  <a:srgbClr val="000000"/>
                </a:solidFill>
              </a:rPr>
              <a:t>不建议                            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b="1" dirty="0">
                <a:solidFill>
                  <a:srgbClr val="006600"/>
                </a:solidFill>
              </a:rPr>
              <a:t>   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输入</a:t>
            </a:r>
            <a:endParaRPr lang="en-US" altLang="zh-CN" sz="1600" b="1" dirty="0" smtClean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</a:t>
            </a:r>
            <a:r>
              <a:rPr lang="en-US" altLang="zh-CN" sz="1600" dirty="0" smtClean="0">
                <a:solidFill>
                  <a:srgbClr val="0000CC"/>
                </a:solidFill>
              </a:rPr>
              <a:t>    </a:t>
            </a:r>
            <a:r>
              <a:rPr lang="en-US" altLang="zh-CN" sz="1600" dirty="0" err="1">
                <a:solidFill>
                  <a:srgbClr val="0000CC"/>
                </a:solidFill>
              </a:rPr>
              <a:t>printf</a:t>
            </a:r>
            <a:r>
              <a:rPr lang="en-US" altLang="zh-CN" sz="1600" dirty="0">
                <a:solidFill>
                  <a:srgbClr val="0000CC"/>
                </a:solidFill>
              </a:rPr>
              <a:t>(“</a:t>
            </a:r>
            <a:r>
              <a:rPr lang="zh-CN" altLang="en-US" sz="1600" dirty="0">
                <a:solidFill>
                  <a:srgbClr val="0000CC"/>
                </a:solidFill>
              </a:rPr>
              <a:t>输入自己的数据</a:t>
            </a:r>
            <a:r>
              <a:rPr lang="en-US" altLang="zh-CN" sz="1600" dirty="0">
                <a:solidFill>
                  <a:srgbClr val="0000CC"/>
                </a:solidFill>
              </a:rPr>
              <a:t>:\n”);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    </a:t>
            </a:r>
            <a:r>
              <a:rPr lang="en-US" altLang="zh-CN" sz="1600" dirty="0" err="1">
                <a:solidFill>
                  <a:srgbClr val="0000CC"/>
                </a:solidFill>
              </a:rPr>
              <a:t>printf</a:t>
            </a:r>
            <a:r>
              <a:rPr lang="en-US" altLang="zh-CN" sz="1600" dirty="0">
                <a:solidFill>
                  <a:srgbClr val="0000CC"/>
                </a:solidFill>
              </a:rPr>
              <a:t>(“\t</a:t>
            </a:r>
            <a:r>
              <a:rPr lang="zh-CN" altLang="en-US" sz="1600" dirty="0">
                <a:solidFill>
                  <a:srgbClr val="0000CC"/>
                </a:solidFill>
              </a:rPr>
              <a:t>姓名</a:t>
            </a:r>
            <a:r>
              <a:rPr lang="en-US" altLang="zh-CN" sz="1600" dirty="0">
                <a:solidFill>
                  <a:srgbClr val="0000CC"/>
                </a:solidFill>
              </a:rPr>
              <a:t>(</a:t>
            </a:r>
            <a:r>
              <a:rPr lang="zh-CN" altLang="en-US" sz="1600" dirty="0">
                <a:solidFill>
                  <a:srgbClr val="0000CC"/>
                </a:solidFill>
              </a:rPr>
              <a:t>汉语拼音</a:t>
            </a:r>
            <a:r>
              <a:rPr lang="en-US" altLang="zh-CN" sz="1600" dirty="0">
                <a:solidFill>
                  <a:srgbClr val="0000CC"/>
                </a:solidFill>
              </a:rPr>
              <a:t>): 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</a:rPr>
              <a:t>(“%[^\n]”,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me.name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b="1" dirty="0" err="1">
                <a:solidFill>
                  <a:srgbClr val="7030A0"/>
                </a:solidFill>
              </a:rPr>
              <a:t>fflush</a:t>
            </a:r>
            <a:r>
              <a:rPr lang="en-US" altLang="zh-CN" sz="1600" b="1" dirty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>
                <a:solidFill>
                  <a:srgbClr val="7030A0"/>
                </a:solidFill>
              </a:rPr>
              <a:t>stdin</a:t>
            </a:r>
            <a:r>
              <a:rPr lang="en-US" altLang="zh-CN" sz="1600" b="1" dirty="0">
                <a:solidFill>
                  <a:srgbClr val="7030A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    </a:t>
            </a:r>
            <a:r>
              <a:rPr lang="en-US" altLang="zh-CN" sz="1600" dirty="0" err="1">
                <a:solidFill>
                  <a:srgbClr val="0000CC"/>
                </a:solidFill>
              </a:rPr>
              <a:t>printf</a:t>
            </a:r>
            <a:r>
              <a:rPr lang="en-US" altLang="zh-CN" sz="1600" dirty="0">
                <a:solidFill>
                  <a:srgbClr val="0000CC"/>
                </a:solidFill>
              </a:rPr>
              <a:t>(“\t</a:t>
            </a:r>
            <a:r>
              <a:rPr lang="zh-CN" altLang="en-US" sz="1600" dirty="0">
                <a:solidFill>
                  <a:srgbClr val="0000CC"/>
                </a:solidFill>
              </a:rPr>
              <a:t>性别</a:t>
            </a:r>
            <a:r>
              <a:rPr lang="en-US" altLang="zh-CN" sz="1600" dirty="0">
                <a:solidFill>
                  <a:srgbClr val="0000CC"/>
                </a:solidFill>
              </a:rPr>
              <a:t>(M/F): 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</a:rPr>
              <a:t>(“%c”, </a:t>
            </a:r>
            <a:r>
              <a:rPr lang="en-US" altLang="zh-CN" sz="1600" dirty="0" smtClean="0">
                <a:solidFill>
                  <a:srgbClr val="000000"/>
                </a:solidFill>
              </a:rPr>
              <a:t>&amp;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me.sex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CC"/>
                </a:solidFill>
              </a:rPr>
              <a:t>printf</a:t>
            </a:r>
            <a:r>
              <a:rPr lang="en-US" altLang="zh-CN" sz="1600" dirty="0">
                <a:solidFill>
                  <a:srgbClr val="0000CC"/>
                </a:solidFill>
              </a:rPr>
              <a:t>(“\t</a:t>
            </a:r>
            <a:r>
              <a:rPr lang="zh-CN" altLang="en-US" sz="1600" dirty="0">
                <a:solidFill>
                  <a:srgbClr val="0000CC"/>
                </a:solidFill>
              </a:rPr>
              <a:t>生日</a:t>
            </a:r>
            <a:r>
              <a:rPr lang="en-US" altLang="zh-CN" sz="1600" dirty="0">
                <a:solidFill>
                  <a:srgbClr val="0000CC"/>
                </a:solidFill>
              </a:rPr>
              <a:t>(</a:t>
            </a:r>
            <a:r>
              <a:rPr lang="zh-CN" altLang="en-US" sz="1600" dirty="0">
                <a:solidFill>
                  <a:srgbClr val="0000CC"/>
                </a:solidFill>
              </a:rPr>
              <a:t>年月日</a:t>
            </a:r>
            <a:r>
              <a:rPr lang="en-US" altLang="zh-CN" sz="1600" dirty="0">
                <a:solidFill>
                  <a:srgbClr val="0000CC"/>
                </a:solidFill>
              </a:rPr>
              <a:t>): 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</a:rPr>
              <a:t>(“%d”, </a:t>
            </a:r>
            <a:r>
              <a:rPr lang="en-US" altLang="zh-CN" sz="1600" dirty="0" smtClean="0">
                <a:solidFill>
                  <a:srgbClr val="000000"/>
                </a:solidFill>
              </a:rPr>
              <a:t>&amp;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me.birthday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CC"/>
                </a:solidFill>
              </a:rPr>
              <a:t>     </a:t>
            </a:r>
            <a:r>
              <a:rPr lang="en-US" altLang="zh-CN" sz="1600" dirty="0" err="1">
                <a:solidFill>
                  <a:srgbClr val="0000CC"/>
                </a:solidFill>
              </a:rPr>
              <a:t>printf</a:t>
            </a:r>
            <a:r>
              <a:rPr lang="en-US" altLang="zh-CN" sz="1600" dirty="0">
                <a:solidFill>
                  <a:srgbClr val="0000CC"/>
                </a:solidFill>
              </a:rPr>
              <a:t>(“\t</a:t>
            </a:r>
            <a:r>
              <a:rPr lang="zh-CN" altLang="en-US" sz="1600" dirty="0">
                <a:solidFill>
                  <a:srgbClr val="0000CC"/>
                </a:solidFill>
              </a:rPr>
              <a:t>身高</a:t>
            </a:r>
            <a:r>
              <a:rPr lang="en-US" altLang="zh-CN" sz="1600" dirty="0">
                <a:solidFill>
                  <a:srgbClr val="0000CC"/>
                </a:solidFill>
              </a:rPr>
              <a:t>(m): 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</a:rPr>
              <a:t>(“%f”, </a:t>
            </a:r>
            <a:r>
              <a:rPr lang="en-US" altLang="zh-CN" sz="1600" dirty="0" smtClean="0">
                <a:solidFill>
                  <a:srgbClr val="000000"/>
                </a:solidFill>
              </a:rPr>
              <a:t>&amp;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me.height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2196CF4-D70C-47FF-92D3-637C50E1EB3F}"/>
              </a:ext>
            </a:extLst>
          </p:cNvPr>
          <p:cNvSpPr txBox="1">
            <a:spLocks/>
          </p:cNvSpPr>
          <p:nvPr/>
        </p:nvSpPr>
        <p:spPr bwMode="auto">
          <a:xfrm>
            <a:off x="4372004" y="1146001"/>
            <a:ext cx="4203671" cy="4953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</a:t>
            </a:r>
            <a:r>
              <a:rPr lang="en-US" altLang="zh-CN" sz="1800" dirty="0">
                <a:solidFill>
                  <a:srgbClr val="0000CC"/>
                </a:solidFill>
              </a:rPr>
              <a:t> </a:t>
            </a:r>
            <a:r>
              <a:rPr lang="en-US" altLang="zh-CN" sz="1800" dirty="0" err="1">
                <a:solidFill>
                  <a:srgbClr val="0000CC"/>
                </a:solidFill>
              </a:rPr>
              <a:t>printf</a:t>
            </a:r>
            <a:r>
              <a:rPr lang="en-US" altLang="zh-CN" sz="1800" dirty="0">
                <a:solidFill>
                  <a:srgbClr val="0000CC"/>
                </a:solidFill>
              </a:rPr>
              <a:t>(“\</a:t>
            </a:r>
            <a:r>
              <a:rPr lang="zh-CN" altLang="en-US" sz="1800" dirty="0">
                <a:solidFill>
                  <a:srgbClr val="0000CC"/>
                </a:solidFill>
              </a:rPr>
              <a:t>体重高</a:t>
            </a:r>
            <a:r>
              <a:rPr lang="en-US" altLang="zh-CN" sz="1800" dirty="0">
                <a:solidFill>
                  <a:srgbClr val="0000CC"/>
                </a:solidFill>
              </a:rPr>
              <a:t>(kg): ”);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</a:rPr>
              <a:t>scanf</a:t>
            </a:r>
            <a:r>
              <a:rPr lang="en-US" altLang="zh-CN" sz="1800" dirty="0">
                <a:solidFill>
                  <a:srgbClr val="000000"/>
                </a:solidFill>
              </a:rPr>
              <a:t>(“%f”, </a:t>
            </a:r>
            <a:r>
              <a:rPr lang="en-US" altLang="zh-CN" sz="1800" dirty="0" smtClean="0">
                <a:solidFill>
                  <a:srgbClr val="000000"/>
                </a:solidFill>
              </a:rPr>
              <a:t>&amp;</a:t>
            </a:r>
            <a:r>
              <a:rPr lang="en-US" altLang="zh-CN" sz="1800" b="1" dirty="0" err="1" smtClean="0">
                <a:solidFill>
                  <a:srgbClr val="C00000"/>
                </a:solidFill>
              </a:rPr>
              <a:t>me.weight</a:t>
            </a:r>
            <a:r>
              <a:rPr lang="en-US" altLang="zh-CN" sz="18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800" b="1" dirty="0">
                <a:solidFill>
                  <a:srgbClr val="006600"/>
                </a:solidFill>
              </a:rPr>
              <a:t>   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1800" b="1" dirty="0">
                <a:solidFill>
                  <a:srgbClr val="006600"/>
                </a:solidFill>
              </a:rPr>
              <a:t>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  //</a:t>
            </a:r>
            <a:r>
              <a:rPr lang="zh-CN" altLang="en-US" sz="1800" b="1" dirty="0">
                <a:solidFill>
                  <a:srgbClr val="006600"/>
                </a:solidFill>
              </a:rPr>
              <a:t>输出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</a:t>
            </a:r>
            <a:r>
              <a:rPr lang="zh-CN" altLang="en-US" sz="1600" dirty="0">
                <a:solidFill>
                  <a:srgbClr val="000000"/>
                </a:solidFill>
              </a:rPr>
              <a:t>我的信息如下</a:t>
            </a:r>
            <a:r>
              <a:rPr lang="en-US" altLang="zh-CN" sz="1600" dirty="0">
                <a:solidFill>
                  <a:srgbClr val="000000"/>
                </a:solidFill>
              </a:rPr>
              <a:t>:\n”);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(“\t</a:t>
            </a:r>
            <a:r>
              <a:rPr lang="zh-CN" altLang="en-US" sz="1600" dirty="0">
                <a:solidFill>
                  <a:srgbClr val="000000"/>
                </a:solidFill>
              </a:rPr>
              <a:t>姓名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汉语拼音</a:t>
            </a:r>
            <a:r>
              <a:rPr lang="en-US" altLang="zh-CN" sz="1600" dirty="0">
                <a:solidFill>
                  <a:srgbClr val="000000"/>
                </a:solidFill>
              </a:rPr>
              <a:t>): </a:t>
            </a:r>
            <a:r>
              <a:rPr lang="en-US" altLang="zh-CN" sz="1600" dirty="0">
                <a:solidFill>
                  <a:srgbClr val="FF0000"/>
                </a:solidFill>
              </a:rPr>
              <a:t>%s</a:t>
            </a:r>
            <a:r>
              <a:rPr lang="en-US" altLang="zh-CN" sz="1600" dirty="0">
                <a:solidFill>
                  <a:srgbClr val="000000"/>
                </a:solidFill>
              </a:rPr>
              <a:t>\n”,</a:t>
            </a:r>
            <a:r>
              <a:rPr lang="en-US" altLang="zh-CN" sz="1600" b="1" dirty="0"/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me.name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(“\t</a:t>
            </a:r>
            <a:r>
              <a:rPr lang="zh-CN" altLang="en-US" sz="1600" dirty="0">
                <a:solidFill>
                  <a:srgbClr val="000000"/>
                </a:solidFill>
              </a:rPr>
              <a:t>性别</a:t>
            </a:r>
            <a:r>
              <a:rPr lang="en-US" altLang="zh-CN" sz="1600" dirty="0">
                <a:solidFill>
                  <a:srgbClr val="000000"/>
                </a:solidFill>
              </a:rPr>
              <a:t>(M/F): </a:t>
            </a:r>
            <a:r>
              <a:rPr lang="en-US" altLang="zh-CN" sz="1600" dirty="0">
                <a:solidFill>
                  <a:srgbClr val="FF0000"/>
                </a:solidFill>
              </a:rPr>
              <a:t>%c</a:t>
            </a:r>
            <a:r>
              <a:rPr lang="en-US" altLang="zh-CN" sz="1600" dirty="0">
                <a:solidFill>
                  <a:srgbClr val="000000"/>
                </a:solidFill>
              </a:rPr>
              <a:t>\n”,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me.sex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(“\t</a:t>
            </a:r>
            <a:r>
              <a:rPr lang="zh-CN" altLang="en-US" sz="1600" dirty="0">
                <a:solidFill>
                  <a:srgbClr val="000000"/>
                </a:solidFill>
              </a:rPr>
              <a:t>生日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年月日</a:t>
            </a:r>
            <a:r>
              <a:rPr lang="en-US" altLang="zh-CN" sz="1600" dirty="0">
                <a:solidFill>
                  <a:srgbClr val="000000"/>
                </a:solidFill>
              </a:rPr>
              <a:t>): </a:t>
            </a:r>
            <a:r>
              <a:rPr lang="en-US" altLang="zh-CN" sz="1600" dirty="0">
                <a:solidFill>
                  <a:srgbClr val="FF0000"/>
                </a:solidFill>
              </a:rPr>
              <a:t>%d</a:t>
            </a:r>
            <a:r>
              <a:rPr lang="en-US" altLang="zh-CN" sz="1600" dirty="0">
                <a:solidFill>
                  <a:srgbClr val="000000"/>
                </a:solidFill>
              </a:rPr>
              <a:t>\n”,</a:t>
            </a:r>
            <a:r>
              <a:rPr lang="en-US" altLang="zh-CN" sz="1600" b="1" dirty="0"/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me.birthday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(“\t</a:t>
            </a:r>
            <a:r>
              <a:rPr lang="zh-CN" altLang="en-US" sz="1600" dirty="0">
                <a:solidFill>
                  <a:srgbClr val="000000"/>
                </a:solidFill>
              </a:rPr>
              <a:t>身高</a:t>
            </a:r>
            <a:r>
              <a:rPr lang="en-US" altLang="zh-CN" sz="1600" dirty="0">
                <a:solidFill>
                  <a:srgbClr val="000000"/>
                </a:solidFill>
              </a:rPr>
              <a:t>(m): </a:t>
            </a:r>
            <a:r>
              <a:rPr lang="en-US" altLang="zh-CN" sz="1600" dirty="0">
                <a:solidFill>
                  <a:srgbClr val="FF0000"/>
                </a:solidFill>
              </a:rPr>
              <a:t>%f</a:t>
            </a:r>
            <a:r>
              <a:rPr lang="en-US" altLang="zh-CN" sz="1600" dirty="0">
                <a:solidFill>
                  <a:srgbClr val="000000"/>
                </a:solidFill>
              </a:rPr>
              <a:t>\n”,</a:t>
            </a:r>
            <a:r>
              <a:rPr lang="en-US" altLang="zh-CN" sz="1600" b="1" dirty="0"/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me.height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 err="1">
                <a:solidFill>
                  <a:srgbClr val="000000"/>
                </a:solidFill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</a:rPr>
              <a:t>(“\</a:t>
            </a:r>
            <a:r>
              <a:rPr lang="zh-CN" altLang="en-US" sz="1600" dirty="0">
                <a:solidFill>
                  <a:srgbClr val="000000"/>
                </a:solidFill>
              </a:rPr>
              <a:t>体重高</a:t>
            </a:r>
            <a:r>
              <a:rPr lang="en-US" altLang="zh-CN" sz="1600" dirty="0">
                <a:solidFill>
                  <a:srgbClr val="000000"/>
                </a:solidFill>
              </a:rPr>
              <a:t>(kg):</a:t>
            </a:r>
            <a:r>
              <a:rPr lang="en-US" altLang="zh-CN" sz="1600" dirty="0">
                <a:solidFill>
                  <a:srgbClr val="FF0000"/>
                </a:solidFill>
              </a:rPr>
              <a:t>%f</a:t>
            </a:r>
            <a:r>
              <a:rPr lang="en-US" altLang="zh-CN" sz="1600" dirty="0">
                <a:solidFill>
                  <a:srgbClr val="000000"/>
                </a:solidFill>
              </a:rPr>
              <a:t>\n ”,</a:t>
            </a:r>
            <a:r>
              <a:rPr lang="en-US" altLang="zh-CN" sz="1600" b="1" dirty="0"/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me.weight</a:t>
            </a:r>
            <a:r>
              <a:rPr lang="en-US" altLang="zh-CN" sz="1600" dirty="0">
                <a:solidFill>
                  <a:srgbClr val="0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 2" panose="05020102010507070707" pitchFamily="18" charset="2"/>
              <a:buNone/>
              <a:defRPr/>
            </a:pPr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23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 smtClean="0">
                <a:solidFill>
                  <a:srgbClr val="C00000"/>
                </a:solidFill>
              </a:rPr>
              <a:t>()—</a:t>
            </a:r>
            <a:r>
              <a:rPr lang="zh-CN" altLang="en-US" dirty="0" smtClean="0">
                <a:solidFill>
                  <a:srgbClr val="7030A0"/>
                </a:solidFill>
              </a:rPr>
              <a:t>返回一个成员在结构体中的</a:t>
            </a:r>
            <a:r>
              <a:rPr lang="zh-CN" altLang="en-US" dirty="0" smtClean="0">
                <a:solidFill>
                  <a:srgbClr val="C00000"/>
                </a:solidFill>
              </a:rPr>
              <a:t>偏移量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000" dirty="0" err="1"/>
              <a:t>offsetof</a:t>
            </a:r>
            <a:r>
              <a:rPr lang="en-US" altLang="zh-CN" sz="2000" dirty="0"/>
              <a:t>()</a:t>
            </a:r>
            <a:r>
              <a:rPr lang="zh-CN" altLang="en-US" sz="2000" dirty="0"/>
              <a:t>是一个带参数的宏，在</a:t>
            </a:r>
            <a:r>
              <a:rPr lang="zh-CN" altLang="en-US" sz="2000" dirty="0" smtClean="0"/>
              <a:t>头文件</a:t>
            </a:r>
            <a:r>
              <a:rPr lang="en-US" altLang="zh-CN" sz="2000" b="1" u="sng" dirty="0" err="1" smtClean="0">
                <a:solidFill>
                  <a:srgbClr val="030DCD"/>
                </a:solidFill>
              </a:rPr>
              <a:t>stddef.h</a:t>
            </a:r>
            <a:r>
              <a:rPr lang="zh-CN" altLang="en-US" sz="2000" dirty="0"/>
              <a:t>中定义；</a:t>
            </a:r>
            <a:endParaRPr lang="en-US" altLang="zh-CN" sz="20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000" dirty="0"/>
              <a:t>原型：</a:t>
            </a:r>
            <a:endParaRPr lang="en-US" altLang="zh-CN" sz="2000" dirty="0"/>
          </a:p>
          <a:p>
            <a:pPr marL="914400" lvl="1" indent="-285750">
              <a:spcBef>
                <a:spcPts val="0"/>
              </a:spcBef>
              <a:defRPr/>
            </a:pPr>
            <a:r>
              <a:rPr lang="en-US" altLang="zh-CN" sz="1800" dirty="0" err="1">
                <a:solidFill>
                  <a:srgbClr val="7030A0"/>
                </a:solidFill>
              </a:rPr>
              <a:t>size_t</a:t>
            </a:r>
            <a:r>
              <a:rPr lang="en-US" altLang="zh-CN" sz="1800" dirty="0">
                <a:solidFill>
                  <a:srgbClr val="7030A0"/>
                </a:solidFill>
              </a:rPr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offsetof</a:t>
            </a:r>
            <a:r>
              <a:rPr lang="en-US" altLang="zh-CN" sz="1800" dirty="0">
                <a:solidFill>
                  <a:srgbClr val="7030A0"/>
                </a:solidFill>
              </a:rPr>
              <a:t>( </a:t>
            </a:r>
            <a:r>
              <a:rPr lang="en-US" altLang="zh-CN" sz="1800" dirty="0" err="1">
                <a:solidFill>
                  <a:srgbClr val="7030A0"/>
                </a:solidFill>
              </a:rPr>
              <a:t>structName</a:t>
            </a:r>
            <a:r>
              <a:rPr lang="en-US" altLang="zh-CN" sz="1800" dirty="0">
                <a:solidFill>
                  <a:srgbClr val="7030A0"/>
                </a:solidFill>
              </a:rPr>
              <a:t>, </a:t>
            </a:r>
            <a:r>
              <a:rPr lang="en-US" altLang="zh-CN" sz="1800" dirty="0" err="1">
                <a:solidFill>
                  <a:srgbClr val="7030A0"/>
                </a:solidFill>
              </a:rPr>
              <a:t>memberName</a:t>
            </a:r>
            <a:r>
              <a:rPr lang="en-US" altLang="zh-CN" sz="1800" dirty="0">
                <a:solidFill>
                  <a:srgbClr val="7030A0"/>
                </a:solidFill>
              </a:rPr>
              <a:t> );</a:t>
            </a:r>
          </a:p>
          <a:p>
            <a:pPr marL="914400" lvl="1" indent="-285750">
              <a:spcBef>
                <a:spcPts val="0"/>
              </a:spcBef>
              <a:defRPr/>
            </a:pPr>
            <a:r>
              <a:rPr lang="en-US" altLang="zh-CN" sz="1800" dirty="0" err="1">
                <a:solidFill>
                  <a:srgbClr val="7030A0"/>
                </a:solidFill>
              </a:rPr>
              <a:t>size_t</a:t>
            </a:r>
            <a:r>
              <a:rPr lang="en-US" altLang="zh-CN" sz="1800" dirty="0">
                <a:solidFill>
                  <a:srgbClr val="7030A0"/>
                </a:solidFill>
              </a:rPr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offsetof</a:t>
            </a:r>
            <a:r>
              <a:rPr lang="en-US" altLang="zh-CN" sz="1800" dirty="0">
                <a:solidFill>
                  <a:srgbClr val="7030A0"/>
                </a:solidFill>
              </a:rPr>
              <a:t>(type, member-designator);</a:t>
            </a:r>
          </a:p>
          <a:p>
            <a:pPr marL="914400" lvl="1" indent="-285750">
              <a:spcBef>
                <a:spcPts val="600"/>
              </a:spcBef>
              <a:defRPr/>
            </a:pPr>
            <a:r>
              <a:rPr lang="zh-CN" altLang="en-US" sz="1800" dirty="0"/>
              <a:t>第一个参数是结构体</a:t>
            </a:r>
            <a:r>
              <a:rPr lang="zh-CN" altLang="en-US" sz="1800" b="1" dirty="0">
                <a:solidFill>
                  <a:srgbClr val="030DCD"/>
                </a:solidFill>
              </a:rPr>
              <a:t>类型</a:t>
            </a:r>
            <a:r>
              <a:rPr lang="zh-CN" altLang="en-US" sz="1800" dirty="0"/>
              <a:t>的名字</a:t>
            </a:r>
            <a:r>
              <a:rPr lang="en-US" altLang="zh-CN" sz="1800" dirty="0" smtClean="0"/>
              <a:t>;（</a:t>
            </a:r>
            <a:r>
              <a:rPr lang="zh-CN" altLang="en-US" sz="1800" dirty="0" smtClean="0"/>
              <a:t>不能是结构体变量</a:t>
            </a:r>
            <a:r>
              <a:rPr lang="en-US" altLang="zh-CN" sz="1800" dirty="0" smtClean="0"/>
              <a:t>）</a:t>
            </a:r>
            <a:endParaRPr lang="en-US" altLang="zh-CN" sz="1800" dirty="0"/>
          </a:p>
          <a:p>
            <a:pPr marL="914400" lvl="1" indent="-285750">
              <a:spcBef>
                <a:spcPts val="600"/>
              </a:spcBef>
              <a:defRPr/>
            </a:pPr>
            <a:r>
              <a:rPr lang="zh-CN" altLang="en-US" sz="1800" dirty="0"/>
              <a:t>第二个参数是结构体成员的名字</a:t>
            </a:r>
            <a:r>
              <a:rPr lang="en-US" altLang="zh-CN" sz="1800" dirty="0"/>
              <a:t>;</a:t>
            </a:r>
          </a:p>
          <a:p>
            <a:pPr marL="914400" lvl="1" indent="-285750">
              <a:spcBef>
                <a:spcPts val="600"/>
              </a:spcBef>
              <a:defRPr/>
            </a:pPr>
            <a:r>
              <a:rPr lang="zh-CN" altLang="en-US" sz="1800" dirty="0">
                <a:solidFill>
                  <a:srgbClr val="C00000"/>
                </a:solidFill>
              </a:rPr>
              <a:t>该宏返回</a:t>
            </a:r>
            <a:r>
              <a:rPr lang="zh-CN" altLang="en-US" sz="1800" dirty="0" smtClean="0">
                <a:solidFill>
                  <a:srgbClr val="C00000"/>
                </a:solidFill>
              </a:rPr>
              <a:t>结构体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类型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structName</a:t>
            </a:r>
            <a:r>
              <a:rPr lang="zh-CN" altLang="en-US" sz="1800" dirty="0">
                <a:solidFill>
                  <a:srgbClr val="C00000"/>
                </a:solidFill>
              </a:rPr>
              <a:t>中成员</a:t>
            </a:r>
            <a:r>
              <a:rPr lang="en-US" altLang="zh-CN" sz="1800" dirty="0" err="1">
                <a:solidFill>
                  <a:srgbClr val="C00000"/>
                </a:solidFill>
              </a:rPr>
              <a:t>memberName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zh-CN" altLang="en-US" sz="1800" b="1" dirty="0">
                <a:solidFill>
                  <a:srgbClr val="030DCD"/>
                </a:solidFill>
              </a:rPr>
              <a:t>偏移量</a:t>
            </a:r>
            <a:r>
              <a:rPr lang="zh-CN" altLang="en-US" sz="1800" dirty="0">
                <a:solidFill>
                  <a:srgbClr val="030DCD"/>
                </a:solidFill>
              </a:rPr>
              <a:t>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14400" lvl="1" indent="-285750">
              <a:spcBef>
                <a:spcPts val="600"/>
              </a:spcBef>
              <a:defRPr/>
            </a:pPr>
            <a:r>
              <a:rPr lang="zh-CN" altLang="en-US" sz="1800" dirty="0"/>
              <a:t>偏移量是</a:t>
            </a:r>
            <a:r>
              <a:rPr lang="en-US" altLang="zh-CN" sz="1800" dirty="0" err="1"/>
              <a:t>size_t</a:t>
            </a:r>
            <a:r>
              <a:rPr lang="zh-CN" altLang="en-US" sz="1800" dirty="0"/>
              <a:t>类型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2616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 smtClean="0">
                <a:solidFill>
                  <a:srgbClr val="C00000"/>
                </a:solidFill>
              </a:rPr>
              <a:t>()</a:t>
            </a:r>
            <a:r>
              <a:rPr lang="zh-CN" altLang="en-US" dirty="0" smtClean="0">
                <a:solidFill>
                  <a:srgbClr val="C00000"/>
                </a:solidFill>
              </a:rPr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30DCD"/>
                </a:solidFill>
              </a:rPr>
              <a:t>#include &lt;</a:t>
            </a:r>
            <a:r>
              <a:rPr lang="en-US" altLang="zh-CN" sz="1800" dirty="0" err="1">
                <a:solidFill>
                  <a:srgbClr val="030DCD"/>
                </a:solidFill>
              </a:rPr>
              <a:t>stddef.h</a:t>
            </a:r>
            <a:r>
              <a:rPr lang="en-US" altLang="zh-CN" sz="1800" dirty="0">
                <a:solidFill>
                  <a:srgbClr val="030DCD"/>
                </a:solidFill>
              </a:rPr>
              <a:t>&gt;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 smtClean="0">
                <a:solidFill>
                  <a:srgbClr val="006600"/>
                </a:solidFill>
              </a:rPr>
              <a:t>的结构体类型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name[20];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name)=0;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sex)=20</a:t>
            </a:r>
            <a:r>
              <a:rPr lang="en-US" altLang="zh-CN" sz="1800" dirty="0" smtClean="0">
                <a:solidFill>
                  <a:srgbClr val="000000"/>
                </a:solidFill>
              </a:rPr>
              <a:t>;    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birthday;            // </a:t>
            </a:r>
            <a:r>
              <a:rPr lang="en-US" altLang="zh-CN" sz="1800" dirty="0" err="1">
                <a:solidFill>
                  <a:srgbClr val="030DCD"/>
                </a:solidFill>
              </a:rPr>
              <a:t>offsetof</a:t>
            </a:r>
            <a:r>
              <a:rPr lang="en-US" altLang="zh-CN" sz="1800" dirty="0">
                <a:solidFill>
                  <a:srgbClr val="030DCD"/>
                </a:solidFill>
              </a:rPr>
              <a:t>(student, birthday)=24;  </a:t>
            </a:r>
            <a:r>
              <a:rPr lang="en-US" altLang="zh-CN" sz="1800" dirty="0" smtClean="0">
                <a:solidFill>
                  <a:srgbClr val="7030A0"/>
                </a:solidFill>
              </a:rPr>
              <a:t>(</a:t>
            </a:r>
            <a:r>
              <a:rPr lang="zh-CN" altLang="en-US" sz="1800" dirty="0" smtClean="0">
                <a:solidFill>
                  <a:srgbClr val="7030A0"/>
                </a:solidFill>
              </a:rPr>
              <a:t>为什么不是</a:t>
            </a:r>
            <a:r>
              <a:rPr lang="en-US" altLang="zh-CN" sz="1800" dirty="0" smtClean="0">
                <a:solidFill>
                  <a:srgbClr val="7030A0"/>
                </a:solidFill>
              </a:rPr>
              <a:t>21</a:t>
            </a:r>
            <a:r>
              <a:rPr lang="zh-CN" altLang="en-US" sz="1800" dirty="0" smtClean="0">
                <a:solidFill>
                  <a:srgbClr val="7030A0"/>
                </a:solidFill>
              </a:rPr>
              <a:t>？</a:t>
            </a:r>
            <a:r>
              <a:rPr lang="en-US" altLang="zh-CN" sz="1800" dirty="0" smtClean="0">
                <a:solidFill>
                  <a:srgbClr val="7030A0"/>
                </a:solidFill>
              </a:rPr>
              <a:t>)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    </a:t>
            </a:r>
            <a:r>
              <a:rPr lang="en-US" altLang="zh-CN" sz="1800" dirty="0">
                <a:solidFill>
                  <a:srgbClr val="000000"/>
                </a:solidFill>
              </a:rPr>
              <a:t>float height; 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height)=28</a:t>
            </a:r>
            <a:r>
              <a:rPr lang="en-US" altLang="zh-CN" sz="1800" dirty="0" smtClean="0">
                <a:solidFill>
                  <a:srgbClr val="000000"/>
                </a:solidFill>
              </a:rPr>
              <a:t>;  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weight)=32</a:t>
            </a:r>
            <a:r>
              <a:rPr lang="en-US" altLang="zh-CN" sz="1800" dirty="0" smtClean="0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};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58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自学：拓展提高</a:t>
            </a:r>
            <a:r>
              <a:rPr lang="en-US" altLang="zh-CN" dirty="0" smtClean="0">
                <a:solidFill>
                  <a:srgbClr val="C00000"/>
                </a:solidFill>
              </a:rPr>
              <a:t>--</a:t>
            </a:r>
            <a:r>
              <a:rPr lang="zh-CN" altLang="en-US" dirty="0" smtClean="0">
                <a:solidFill>
                  <a:srgbClr val="006600"/>
                </a:solidFill>
              </a:rPr>
              <a:t>结构体成员</a:t>
            </a:r>
            <a:r>
              <a:rPr lang="zh-CN" altLang="en-US" dirty="0">
                <a:solidFill>
                  <a:srgbClr val="006600"/>
                </a:solidFill>
              </a:rPr>
              <a:t>变量的</a:t>
            </a:r>
            <a:r>
              <a:rPr lang="zh-CN" altLang="en-US" dirty="0">
                <a:solidFill>
                  <a:srgbClr val="030DCD"/>
                </a:solidFill>
              </a:rPr>
              <a:t>字节对齐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为了</a:t>
            </a:r>
            <a:r>
              <a:rPr lang="zh-CN" altLang="en-US" sz="2000" dirty="0"/>
              <a:t>便于计算机硬件对结构体中成员的</a:t>
            </a:r>
            <a:r>
              <a:rPr lang="zh-CN" altLang="en-US" sz="2000" dirty="0">
                <a:solidFill>
                  <a:srgbClr val="7030A0"/>
                </a:solidFill>
              </a:rPr>
              <a:t>存储与访问</a:t>
            </a:r>
            <a:r>
              <a:rPr lang="zh-CN" altLang="en-US" sz="2000" dirty="0"/>
              <a:t>（存储器寻址），编译器对</a:t>
            </a:r>
            <a:r>
              <a:rPr lang="zh-CN" altLang="en-US" sz="2000" dirty="0">
                <a:solidFill>
                  <a:srgbClr val="7030A0"/>
                </a:solidFill>
              </a:rPr>
              <a:t>结构体本身</a:t>
            </a:r>
            <a:r>
              <a:rPr lang="zh-CN" altLang="en-US" sz="2000" dirty="0"/>
              <a:t>以及</a:t>
            </a:r>
            <a:r>
              <a:rPr lang="zh-CN" altLang="en-US" sz="2000" dirty="0">
                <a:solidFill>
                  <a:srgbClr val="7030A0"/>
                </a:solidFill>
              </a:rPr>
              <a:t>成员的存储空间</a:t>
            </a:r>
            <a:r>
              <a:rPr lang="zh-CN" altLang="en-US" sz="2000" dirty="0"/>
              <a:t>进行了一定的处理；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一般满足如下三个原则：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i="1" u="sng" dirty="0">
                <a:solidFill>
                  <a:srgbClr val="C00000"/>
                </a:solidFill>
              </a:rPr>
              <a:t>结构体变量</a:t>
            </a:r>
            <a:r>
              <a:rPr lang="zh-CN" altLang="en-US" sz="1800" b="1" dirty="0">
                <a:solidFill>
                  <a:srgbClr val="C00000"/>
                </a:solidFill>
              </a:rPr>
              <a:t>在内存中的首地址</a:t>
            </a:r>
            <a:r>
              <a:rPr lang="zh-CN" altLang="en-US" sz="1800" dirty="0"/>
              <a:t>能够被其</a:t>
            </a:r>
            <a:r>
              <a:rPr lang="zh-CN" altLang="en-US" sz="1800" b="1" dirty="0">
                <a:solidFill>
                  <a:srgbClr val="C00000"/>
                </a:solidFill>
              </a:rPr>
              <a:t>最宽</a:t>
            </a:r>
            <a:r>
              <a:rPr lang="zh-CN" altLang="en-US" sz="1800" b="1" dirty="0">
                <a:solidFill>
                  <a:srgbClr val="030DCD"/>
                </a:solidFill>
              </a:rPr>
              <a:t>基本类型成员的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大小</a:t>
            </a:r>
            <a:r>
              <a:rPr lang="zh-CN" altLang="en-US" sz="1800" dirty="0" smtClean="0"/>
              <a:t>整除</a:t>
            </a:r>
            <a:r>
              <a:rPr lang="zh-CN" altLang="en-US" sz="1800" dirty="0"/>
              <a:t>；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结构体</a:t>
            </a:r>
            <a:r>
              <a:rPr lang="zh-CN" altLang="en-US" sz="1800" b="1" i="1" u="sng" dirty="0">
                <a:solidFill>
                  <a:srgbClr val="030DCD"/>
                </a:solidFill>
              </a:rPr>
              <a:t>每个成员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相对于结构体</a:t>
            </a:r>
            <a:r>
              <a:rPr lang="zh-CN" altLang="en-US" sz="1800" b="1" dirty="0">
                <a:solidFill>
                  <a:srgbClr val="C00000"/>
                </a:solidFill>
              </a:rPr>
              <a:t>首地址</a:t>
            </a:r>
            <a:r>
              <a:rPr lang="zh-CN" altLang="en-US" sz="1800" dirty="0"/>
              <a:t>的</a:t>
            </a:r>
            <a:r>
              <a:rPr lang="zh-CN" altLang="en-US" sz="1800" b="1" dirty="0">
                <a:solidFill>
                  <a:srgbClr val="7030A0"/>
                </a:solidFill>
              </a:rPr>
              <a:t>偏移量</a:t>
            </a:r>
            <a:r>
              <a:rPr lang="en-US" altLang="zh-CN" sz="1800" b="1" dirty="0">
                <a:solidFill>
                  <a:srgbClr val="7030A0"/>
                </a:solidFill>
              </a:rPr>
              <a:t>(offset)</a:t>
            </a:r>
            <a:r>
              <a:rPr lang="zh-CN" altLang="en-US" sz="1800" b="1" dirty="0">
                <a:solidFill>
                  <a:srgbClr val="030DCD"/>
                </a:solidFill>
              </a:rPr>
              <a:t>都是</a:t>
            </a:r>
            <a:r>
              <a:rPr lang="zh-CN" altLang="en-US" sz="1800" b="1" dirty="0">
                <a:solidFill>
                  <a:srgbClr val="C00000"/>
                </a:solidFill>
              </a:rPr>
              <a:t>该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成员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所占字节数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的</a:t>
            </a:r>
            <a:r>
              <a:rPr lang="zh-CN" altLang="en-US" sz="1800" b="1" dirty="0">
                <a:solidFill>
                  <a:srgbClr val="030DCD"/>
                </a:solidFill>
              </a:rPr>
              <a:t>整数倍</a:t>
            </a:r>
            <a:r>
              <a:rPr lang="zh-CN" altLang="en-US" sz="1800" dirty="0"/>
              <a:t>；（</a:t>
            </a:r>
            <a:r>
              <a:rPr lang="zh-CN" altLang="en-US" sz="1800" dirty="0" smtClean="0"/>
              <a:t>成员大小）</a:t>
            </a:r>
            <a:endParaRPr lang="en-US" altLang="zh-CN" sz="1800" dirty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编译器会根据需要在成员</a:t>
            </a:r>
            <a:r>
              <a:rPr lang="zh-CN" altLang="en-US" sz="1600" dirty="0" smtClean="0">
                <a:solidFill>
                  <a:srgbClr val="006600"/>
                </a:solidFill>
              </a:rPr>
              <a:t>之间</a:t>
            </a:r>
            <a:r>
              <a:rPr lang="zh-CN" altLang="en-US" sz="1600" dirty="0" smtClean="0">
                <a:solidFill>
                  <a:srgbClr val="7030A0"/>
                </a:solidFill>
              </a:rPr>
              <a:t>填充相应数量的字节</a:t>
            </a:r>
            <a:r>
              <a:rPr lang="en-US" altLang="zh-CN" sz="1600" dirty="0">
                <a:solidFill>
                  <a:srgbClr val="006600"/>
                </a:solidFill>
              </a:rPr>
              <a:t>(internal </a:t>
            </a:r>
            <a:r>
              <a:rPr lang="en-US" altLang="zh-CN" sz="1600" dirty="0" smtClean="0">
                <a:solidFill>
                  <a:srgbClr val="006600"/>
                </a:solidFill>
              </a:rPr>
              <a:t>padding</a:t>
            </a:r>
            <a:r>
              <a:rPr lang="en-US" altLang="zh-CN" sz="1600" dirty="0">
                <a:solidFill>
                  <a:srgbClr val="006600"/>
                </a:solidFill>
              </a:rPr>
              <a:t>)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i="1" u="sng" dirty="0">
                <a:solidFill>
                  <a:srgbClr val="C00000"/>
                </a:solidFill>
              </a:rPr>
              <a:t>结构体的总大小</a:t>
            </a:r>
            <a:r>
              <a:rPr lang="zh-CN" altLang="en-US" sz="1800" dirty="0"/>
              <a:t>为结构体</a:t>
            </a:r>
            <a:r>
              <a:rPr lang="zh-CN" altLang="en-US" sz="1800" b="1" dirty="0">
                <a:solidFill>
                  <a:srgbClr val="C00000"/>
                </a:solidFill>
              </a:rPr>
              <a:t>最宽</a:t>
            </a:r>
            <a:r>
              <a:rPr lang="zh-CN" altLang="en-US" sz="1800" b="1" dirty="0">
                <a:solidFill>
                  <a:srgbClr val="030DCD"/>
                </a:solidFill>
              </a:rPr>
              <a:t>基本类型成员大小的整数倍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编译器会根据需要在</a:t>
            </a:r>
            <a:r>
              <a:rPr lang="zh-CN" altLang="en-US" sz="1600" dirty="0">
                <a:solidFill>
                  <a:srgbClr val="7030A0"/>
                </a:solidFill>
              </a:rPr>
              <a:t>最末一个成员之后</a:t>
            </a:r>
            <a:r>
              <a:rPr lang="zh-CN" altLang="en-US" sz="1600" dirty="0">
                <a:solidFill>
                  <a:srgbClr val="006600"/>
                </a:solidFill>
              </a:rPr>
              <a:t>加上填充字节</a:t>
            </a:r>
            <a:r>
              <a:rPr lang="en-US" altLang="zh-CN" sz="1600" dirty="0">
                <a:solidFill>
                  <a:srgbClr val="006600"/>
                </a:solidFill>
              </a:rPr>
              <a:t>(trailing padding);</a:t>
            </a:r>
            <a:endParaRPr lang="zh-CN" altLang="en-US" sz="1600" dirty="0">
              <a:solidFill>
                <a:srgbClr val="006600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7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>
                <a:solidFill>
                  <a:srgbClr val="C00000"/>
                </a:solidFill>
              </a:rPr>
              <a:t>()--</a:t>
            </a:r>
            <a:r>
              <a:rPr lang="zh-CN" altLang="en-US" dirty="0" smtClean="0">
                <a:solidFill>
                  <a:srgbClr val="006600"/>
                </a:solidFill>
              </a:rPr>
              <a:t>考察结构体成员</a:t>
            </a:r>
            <a:r>
              <a:rPr lang="zh-CN" altLang="en-US" dirty="0">
                <a:solidFill>
                  <a:srgbClr val="006600"/>
                </a:solidFill>
              </a:rPr>
              <a:t>变量的字节对齐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30DCD"/>
                </a:solidFill>
              </a:rPr>
              <a:t>#include &lt;</a:t>
            </a:r>
            <a:r>
              <a:rPr lang="en-US" altLang="zh-CN" sz="1800" dirty="0" err="1">
                <a:solidFill>
                  <a:srgbClr val="030DCD"/>
                </a:solidFill>
              </a:rPr>
              <a:t>stddef.h</a:t>
            </a:r>
            <a:r>
              <a:rPr lang="en-US" altLang="zh-CN" sz="1800" dirty="0">
                <a:solidFill>
                  <a:srgbClr val="030DCD"/>
                </a:solidFill>
              </a:rPr>
              <a:t>&gt;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 smtClean="0">
                <a:solidFill>
                  <a:srgbClr val="006600"/>
                </a:solidFill>
              </a:rPr>
              <a:t>的结构体类型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name[20];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name)=0;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sex)=20</a:t>
            </a:r>
            <a:r>
              <a:rPr lang="en-US" altLang="zh-CN" sz="1800" dirty="0" smtClean="0">
                <a:solidFill>
                  <a:srgbClr val="000000"/>
                </a:solidFill>
              </a:rPr>
              <a:t>;    </a:t>
            </a:r>
            <a:r>
              <a:rPr lang="en-US" altLang="zh-CN" sz="1800" dirty="0" smtClean="0">
                <a:solidFill>
                  <a:srgbClr val="7030A0"/>
                </a:solidFill>
              </a:rPr>
              <a:t>//1</a:t>
            </a:r>
            <a:r>
              <a:rPr lang="zh-CN" altLang="en-US" sz="1800" dirty="0" smtClean="0">
                <a:solidFill>
                  <a:srgbClr val="7030A0"/>
                </a:solidFill>
              </a:rPr>
              <a:t>的整数倍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birthday;            // </a:t>
            </a:r>
            <a:r>
              <a:rPr lang="en-US" altLang="zh-CN" sz="1800" dirty="0" err="1">
                <a:solidFill>
                  <a:srgbClr val="030DCD"/>
                </a:solidFill>
              </a:rPr>
              <a:t>offsetof</a:t>
            </a:r>
            <a:r>
              <a:rPr lang="en-US" altLang="zh-CN" sz="1800" dirty="0">
                <a:solidFill>
                  <a:srgbClr val="030DCD"/>
                </a:solidFill>
              </a:rPr>
              <a:t>(student, birthday)=24;  </a:t>
            </a:r>
            <a:r>
              <a:rPr lang="en-US" altLang="zh-CN" sz="1800" dirty="0" smtClean="0">
                <a:solidFill>
                  <a:srgbClr val="C00000"/>
                </a:solidFill>
              </a:rPr>
              <a:t>//4*6=24</a:t>
            </a:r>
            <a:r>
              <a:rPr lang="zh-CN" altLang="en-US" sz="1800" dirty="0">
                <a:solidFill>
                  <a:srgbClr val="C00000"/>
                </a:solidFill>
              </a:rPr>
              <a:t>，准则</a:t>
            </a:r>
            <a:r>
              <a:rPr lang="en-US" altLang="zh-CN" sz="1800" dirty="0" smtClean="0">
                <a:solidFill>
                  <a:srgbClr val="C00000"/>
                </a:solidFill>
              </a:rPr>
              <a:t>2</a:t>
            </a:r>
            <a:endParaRPr lang="zh-CN" altLang="en-US" sz="18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height; 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height)=28</a:t>
            </a:r>
            <a:r>
              <a:rPr lang="en-US" altLang="zh-CN" sz="1800" dirty="0" smtClean="0">
                <a:solidFill>
                  <a:srgbClr val="000000"/>
                </a:solidFill>
              </a:rPr>
              <a:t>;  </a:t>
            </a:r>
            <a:r>
              <a:rPr lang="en-US" altLang="zh-CN" sz="1800" dirty="0" smtClean="0">
                <a:solidFill>
                  <a:srgbClr val="7030A0"/>
                </a:solidFill>
              </a:rPr>
              <a:t>//4</a:t>
            </a:r>
            <a:r>
              <a:rPr lang="zh-CN" altLang="en-US" sz="1800" dirty="0" smtClean="0">
                <a:solidFill>
                  <a:srgbClr val="7030A0"/>
                </a:solidFill>
              </a:rPr>
              <a:t>的整数倍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weight)=32</a:t>
            </a:r>
            <a:r>
              <a:rPr lang="en-US" altLang="zh-CN" sz="1800" dirty="0" smtClean="0">
                <a:solidFill>
                  <a:srgbClr val="000000"/>
                </a:solidFill>
              </a:rPr>
              <a:t>;  </a:t>
            </a:r>
            <a:r>
              <a:rPr lang="en-US" altLang="zh-CN" sz="1800" dirty="0" smtClean="0">
                <a:solidFill>
                  <a:srgbClr val="7030A0"/>
                </a:solidFill>
              </a:rPr>
              <a:t>//4</a:t>
            </a:r>
            <a:r>
              <a:rPr lang="zh-CN" altLang="en-US" sz="1800" dirty="0" smtClean="0">
                <a:solidFill>
                  <a:srgbClr val="7030A0"/>
                </a:solidFill>
              </a:rPr>
              <a:t>的整数倍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rgbClr val="7030A0"/>
                </a:solidFill>
              </a:rPr>
              <a:t>根据原则</a:t>
            </a:r>
            <a:r>
              <a:rPr lang="en-US" altLang="zh-CN" sz="1800" dirty="0">
                <a:solidFill>
                  <a:srgbClr val="7030A0"/>
                </a:solidFill>
              </a:rPr>
              <a:t>2</a:t>
            </a:r>
            <a:r>
              <a:rPr lang="zh-CN" altLang="en-US" sz="1800" dirty="0">
                <a:solidFill>
                  <a:srgbClr val="000000"/>
                </a:solidFill>
              </a:rPr>
              <a:t>，字节对齐之后，该结构体的大小是：</a:t>
            </a:r>
            <a:r>
              <a:rPr lang="en-US" altLang="zh-CN" sz="1800" dirty="0">
                <a:solidFill>
                  <a:srgbClr val="000000"/>
                </a:solidFill>
              </a:rPr>
              <a:t>20+2+</a:t>
            </a:r>
            <a:r>
              <a:rPr lang="en-US" altLang="zh-CN" sz="1800" dirty="0">
                <a:solidFill>
                  <a:srgbClr val="C00000"/>
                </a:solidFill>
              </a:rPr>
              <a:t>2</a:t>
            </a:r>
            <a:r>
              <a:rPr lang="en-US" altLang="zh-CN" sz="1800" dirty="0">
                <a:solidFill>
                  <a:srgbClr val="000000"/>
                </a:solidFill>
              </a:rPr>
              <a:t>+4+4+4=36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rgbClr val="7030A0"/>
                </a:solidFill>
              </a:rPr>
              <a:t>根据原则</a:t>
            </a:r>
            <a:r>
              <a:rPr lang="en-US" altLang="zh-CN" sz="1800" dirty="0">
                <a:solidFill>
                  <a:srgbClr val="7030A0"/>
                </a:solidFill>
              </a:rPr>
              <a:t>3</a:t>
            </a:r>
            <a:r>
              <a:rPr lang="zh-CN" altLang="en-US" sz="1800" dirty="0">
                <a:solidFill>
                  <a:srgbClr val="000000"/>
                </a:solidFill>
              </a:rPr>
              <a:t>，该结构体中最大成员的宽度是</a:t>
            </a:r>
            <a:r>
              <a:rPr lang="en-US" altLang="zh-CN" sz="1800" dirty="0">
                <a:solidFill>
                  <a:srgbClr val="000000"/>
                </a:solidFill>
              </a:rPr>
              <a:t>4</a:t>
            </a:r>
            <a:r>
              <a:rPr lang="zh-CN" altLang="en-US" sz="1800" dirty="0">
                <a:solidFill>
                  <a:srgbClr val="000000"/>
                </a:solidFill>
              </a:rPr>
              <a:t>字节，</a:t>
            </a:r>
            <a:r>
              <a:rPr lang="en-US" altLang="zh-CN" sz="1800" dirty="0">
                <a:solidFill>
                  <a:srgbClr val="000000"/>
                </a:solidFill>
              </a:rPr>
              <a:t>36</a:t>
            </a:r>
            <a:r>
              <a:rPr lang="zh-CN" altLang="en-US" sz="1800" dirty="0">
                <a:solidFill>
                  <a:srgbClr val="000000"/>
                </a:solidFill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</a:rPr>
              <a:t>4</a:t>
            </a:r>
            <a:r>
              <a:rPr lang="zh-CN" altLang="en-US" sz="1800" dirty="0">
                <a:solidFill>
                  <a:srgbClr val="000000"/>
                </a:solidFill>
              </a:rPr>
              <a:t>的倍数，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  <a:r>
              <a:rPr lang="en-US" altLang="zh-CN" sz="1800" dirty="0">
                <a:solidFill>
                  <a:srgbClr val="006600"/>
                </a:solidFill>
              </a:rPr>
              <a:t>weight</a:t>
            </a:r>
            <a:r>
              <a:rPr lang="zh-CN" altLang="en-US" sz="1800" dirty="0">
                <a:solidFill>
                  <a:srgbClr val="006600"/>
                </a:solidFill>
              </a:rPr>
              <a:t>之后不需要在填充字节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rgbClr val="030DCD"/>
                </a:solidFill>
              </a:rPr>
              <a:t>因此 </a:t>
            </a:r>
            <a:r>
              <a:rPr lang="en-US" altLang="zh-CN" sz="1800" dirty="0" err="1">
                <a:solidFill>
                  <a:srgbClr val="030DCD"/>
                </a:solidFill>
              </a:rPr>
              <a:t>sizeof</a:t>
            </a:r>
            <a:r>
              <a:rPr lang="en-US" altLang="zh-CN" sz="1800" dirty="0">
                <a:solidFill>
                  <a:srgbClr val="030DCD"/>
                </a:solidFill>
              </a:rPr>
              <a:t>(student )=36;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solidFill>
                  <a:srgbClr val="000000"/>
                </a:solidFill>
              </a:rPr>
              <a:t>若仅按字节相加，是</a:t>
            </a:r>
            <a:r>
              <a:rPr lang="en-US" altLang="zh-CN" sz="1800" dirty="0">
                <a:solidFill>
                  <a:srgbClr val="000000"/>
                </a:solidFill>
              </a:rPr>
              <a:t>33</a:t>
            </a:r>
            <a:r>
              <a:rPr lang="zh-CN" altLang="en-US" sz="1800" dirty="0" smtClean="0">
                <a:solidFill>
                  <a:srgbClr val="000000"/>
                </a:solidFill>
              </a:rPr>
              <a:t>个字节，</a:t>
            </a:r>
            <a:r>
              <a:rPr lang="zh-CN" altLang="en-US" sz="1800" dirty="0">
                <a:solidFill>
                  <a:srgbClr val="000000"/>
                </a:solidFill>
              </a:rPr>
              <a:t>但按照字节对齐系统为其分配</a:t>
            </a:r>
            <a:r>
              <a:rPr lang="en-US" altLang="zh-CN" sz="1800" dirty="0">
                <a:solidFill>
                  <a:srgbClr val="000000"/>
                </a:solidFill>
              </a:rPr>
              <a:t>36</a:t>
            </a:r>
            <a:r>
              <a:rPr lang="zh-CN" altLang="en-US" sz="1800" dirty="0">
                <a:solidFill>
                  <a:srgbClr val="000000"/>
                </a:solidFill>
              </a:rPr>
              <a:t>个字节；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3535DFA9-7C0C-4738-AA5D-611232E084D1}"/>
              </a:ext>
            </a:extLst>
          </p:cNvPr>
          <p:cNvSpPr/>
          <p:nvPr/>
        </p:nvSpPr>
        <p:spPr bwMode="auto">
          <a:xfrm>
            <a:off x="6013755" y="1554870"/>
            <a:ext cx="2503731" cy="998289"/>
          </a:xfrm>
          <a:prstGeom prst="wedgeRoundRectCallout">
            <a:avLst>
              <a:gd name="adj1" fmla="val -21149"/>
              <a:gd name="adj2" fmla="val 74509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birthday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字节，其在该结构体中的偏移量应该是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的整数倍；故</a:t>
            </a:r>
            <a:r>
              <a:rPr lang="zh-CN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在成员</a:t>
            </a:r>
            <a:r>
              <a:rPr lang="en-US" altLang="zh-CN" sz="1400" dirty="0" smtClean="0">
                <a:solidFill>
                  <a:srgbClr val="000000"/>
                </a:solidFill>
                <a:latin typeface="+mn-lt"/>
                <a:ea typeface="+mn-ea"/>
              </a:rPr>
              <a:t>sex</a:t>
            </a:r>
            <a:r>
              <a:rPr lang="zh-CN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之后，</a:t>
            </a:r>
            <a:r>
              <a:rPr lang="en-US" altLang="zh-CN" sz="1400" dirty="0">
                <a:solidFill>
                  <a:srgbClr val="000000"/>
                </a:solidFill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birthday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之前填充</a:t>
            </a:r>
            <a:r>
              <a:rPr lang="zh-CN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了</a:t>
            </a:r>
            <a:r>
              <a:rPr lang="en-US" altLang="zh-CN" sz="1400" dirty="0">
                <a:solidFill>
                  <a:srgbClr val="000000"/>
                </a:solidFill>
                <a:latin typeface="+mn-lt"/>
                <a:ea typeface="+mn-ea"/>
              </a:rPr>
              <a:t>3</a:t>
            </a:r>
            <a:r>
              <a:rPr lang="zh-CN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个</a:t>
            </a:r>
            <a:r>
              <a:rPr lang="zh-CN" altLang="en-US" sz="1400" dirty="0">
                <a:solidFill>
                  <a:srgbClr val="000000"/>
                </a:solidFill>
                <a:latin typeface="+mn-lt"/>
                <a:ea typeface="+mn-ea"/>
              </a:rPr>
              <a:t>字节；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728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r>
              <a:rPr lang="en-US" altLang="zh-CN" dirty="0">
                <a:solidFill>
                  <a:srgbClr val="006600"/>
                </a:solidFill>
              </a:rPr>
              <a:t>—</a:t>
            </a:r>
            <a:r>
              <a:rPr lang="zh-CN" altLang="en-US" dirty="0" smtClean="0">
                <a:solidFill>
                  <a:srgbClr val="006600"/>
                </a:solidFill>
              </a:rPr>
              <a:t>考察结构体成员</a:t>
            </a:r>
            <a:r>
              <a:rPr lang="zh-CN" altLang="en-US" dirty="0">
                <a:solidFill>
                  <a:srgbClr val="006600"/>
                </a:solidFill>
              </a:rPr>
              <a:t>变量的字节对齐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student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ID;        //</a:t>
            </a:r>
            <a:r>
              <a:rPr lang="en-US" altLang="zh-CN" sz="1800" dirty="0" err="1">
                <a:solidFill>
                  <a:srgbClr val="030DCD"/>
                </a:solidFill>
              </a:rPr>
              <a:t>offsetof</a:t>
            </a:r>
            <a:r>
              <a:rPr lang="en-US" altLang="zh-CN" sz="1800" dirty="0">
                <a:solidFill>
                  <a:srgbClr val="030DCD"/>
                </a:solidFill>
              </a:rPr>
              <a:t>(student, ID)=0;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    unsigned 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A_language</a:t>
            </a:r>
            <a:r>
              <a:rPr lang="en-US" altLang="zh-CN" sz="1800" dirty="0">
                <a:solidFill>
                  <a:srgbClr val="7030A0"/>
                </a:solidFill>
              </a:rPr>
              <a:t>;                   </a:t>
            </a:r>
            <a:r>
              <a:rPr lang="en-US" altLang="zh-CN" sz="1800" b="1" dirty="0">
                <a:solidFill>
                  <a:srgbClr val="006600"/>
                </a:solidFill>
              </a:rPr>
              <a:t>// </a:t>
            </a:r>
            <a:r>
              <a:rPr lang="zh-CN" altLang="en-US" sz="1800" b="1" dirty="0">
                <a:solidFill>
                  <a:srgbClr val="006600"/>
                </a:solidFill>
              </a:rPr>
              <a:t>思考：</a:t>
            </a:r>
            <a:r>
              <a:rPr lang="en-US" altLang="zh-CN" sz="1800" b="1" dirty="0" err="1">
                <a:solidFill>
                  <a:srgbClr val="006600"/>
                </a:solidFill>
              </a:rPr>
              <a:t>offsetof</a:t>
            </a:r>
            <a:r>
              <a:rPr lang="en-US" altLang="zh-CN" sz="1800" b="1" dirty="0">
                <a:solidFill>
                  <a:srgbClr val="006600"/>
                </a:solidFill>
              </a:rPr>
              <a:t>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A_language</a:t>
            </a:r>
            <a:r>
              <a:rPr lang="en-US" altLang="zh-CN" sz="1800" b="1" dirty="0">
                <a:solidFill>
                  <a:srgbClr val="006600"/>
                </a:solidFill>
              </a:rPr>
              <a:t>)=?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name[10];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</a:t>
            </a:r>
            <a:r>
              <a:rPr lang="en-US" altLang="zh-CN" sz="1800" dirty="0" err="1"/>
              <a:t>B_language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long  </a:t>
            </a:r>
            <a:r>
              <a:rPr lang="en-US" altLang="zh-CN" sz="1800" dirty="0" err="1"/>
              <a:t>C_language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</a:t>
            </a:r>
            <a:r>
              <a:rPr lang="en-US" altLang="zh-CN" sz="1800" dirty="0" err="1"/>
              <a:t>D_language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  </a:t>
            </a:r>
            <a:r>
              <a:rPr lang="en-US" altLang="zh-CN" sz="1800" dirty="0" err="1"/>
              <a:t>E_language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struct  student *next;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};</a:t>
            </a:r>
          </a:p>
          <a:p>
            <a:pPr marL="285750" lvl="1" indent="0"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结构体的大小应该是成员最大宽度</a:t>
            </a:r>
            <a:r>
              <a:rPr lang="en-US" altLang="zh-CN" sz="1800" dirty="0"/>
              <a:t>8</a:t>
            </a:r>
            <a:r>
              <a:rPr lang="zh-CN" altLang="en-US" sz="1800" dirty="0"/>
              <a:t>的倍数，否则，应该在</a:t>
            </a:r>
            <a:r>
              <a:rPr lang="en-US" altLang="zh-CN" sz="1800" dirty="0"/>
              <a:t>next</a:t>
            </a:r>
            <a:r>
              <a:rPr lang="zh-CN" altLang="en-US" sz="1800" dirty="0"/>
              <a:t>后填充字节；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39FEBC-9CDA-4BA0-AD12-ADFAAD4D9127}"/>
              </a:ext>
            </a:extLst>
          </p:cNvPr>
          <p:cNvSpPr/>
          <p:nvPr/>
        </p:nvSpPr>
        <p:spPr>
          <a:xfrm>
            <a:off x="4300728" y="2558098"/>
            <a:ext cx="343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// </a:t>
            </a:r>
            <a:r>
              <a:rPr lang="en-US" altLang="zh-CN" dirty="0" err="1">
                <a:solidFill>
                  <a:srgbClr val="C00000"/>
                </a:solidFill>
                <a:latin typeface="+mn-lt"/>
                <a:ea typeface="+mn-ea"/>
              </a:rPr>
              <a:t>offsetof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(student, </a:t>
            </a:r>
            <a:r>
              <a:rPr lang="en-US" altLang="zh-CN" dirty="0" err="1" smtClean="0">
                <a:solidFill>
                  <a:srgbClr val="C00000"/>
                </a:solidFill>
                <a:latin typeface="+mn-lt"/>
                <a:ea typeface="+mn-ea"/>
              </a:rPr>
              <a:t>A_language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)=4;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468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r>
              <a:rPr lang="en-US" altLang="zh-CN" dirty="0">
                <a:solidFill>
                  <a:srgbClr val="006600"/>
                </a:solidFill>
              </a:rPr>
              <a:t>—</a:t>
            </a:r>
            <a:r>
              <a:rPr lang="zh-CN" altLang="en-US" dirty="0" smtClean="0">
                <a:solidFill>
                  <a:srgbClr val="006600"/>
                </a:solidFill>
              </a:rPr>
              <a:t>考察结构体成员</a:t>
            </a:r>
            <a:r>
              <a:rPr lang="zh-CN" altLang="en-US" dirty="0">
                <a:solidFill>
                  <a:srgbClr val="006600"/>
                </a:solidFill>
              </a:rPr>
              <a:t>变量的字节对齐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student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ID;        //</a:t>
            </a:r>
            <a:r>
              <a:rPr lang="en-US" altLang="zh-CN" sz="1800" dirty="0" err="1">
                <a:solidFill>
                  <a:srgbClr val="030DCD"/>
                </a:solidFill>
              </a:rPr>
              <a:t>offsetof</a:t>
            </a:r>
            <a:r>
              <a:rPr lang="en-US" altLang="zh-CN" sz="1800" dirty="0">
                <a:solidFill>
                  <a:srgbClr val="030DCD"/>
                </a:solidFill>
              </a:rPr>
              <a:t>(student, ID)=0;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unsigned long </a:t>
            </a:r>
            <a:r>
              <a:rPr lang="en-US" altLang="zh-CN" sz="1800" dirty="0" err="1">
                <a:solidFill>
                  <a:srgbClr val="C00000"/>
                </a:solidFill>
              </a:rPr>
              <a:t>long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A_language</a:t>
            </a:r>
            <a:r>
              <a:rPr lang="en-US" altLang="zh-CN" sz="1800" dirty="0"/>
              <a:t>;   //</a:t>
            </a:r>
            <a:r>
              <a:rPr lang="zh-CN" altLang="en-US" sz="1800" b="1" dirty="0">
                <a:solidFill>
                  <a:srgbClr val="006600"/>
                </a:solidFill>
              </a:rPr>
              <a:t>思考：</a:t>
            </a:r>
            <a:r>
              <a:rPr lang="en-US" altLang="zh-CN" sz="1800" b="1" dirty="0" err="1">
                <a:solidFill>
                  <a:srgbClr val="006600"/>
                </a:solidFill>
              </a:rPr>
              <a:t>offsetof</a:t>
            </a:r>
            <a:r>
              <a:rPr lang="en-US" altLang="zh-CN" sz="1800" b="1" dirty="0">
                <a:solidFill>
                  <a:srgbClr val="006600"/>
                </a:solidFill>
              </a:rPr>
              <a:t>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A_language</a:t>
            </a:r>
            <a:r>
              <a:rPr lang="en-US" altLang="zh-CN" sz="1800" b="1" dirty="0">
                <a:solidFill>
                  <a:srgbClr val="006600"/>
                </a:solidFill>
              </a:rPr>
              <a:t>)=?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name[10]; 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</a:t>
            </a:r>
            <a:r>
              <a:rPr lang="en-US" altLang="zh-CN" sz="1800" dirty="0" err="1"/>
              <a:t>B_language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long  </a:t>
            </a:r>
            <a:r>
              <a:rPr lang="en-US" altLang="zh-CN" sz="1800" dirty="0" err="1"/>
              <a:t>C_language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char </a:t>
            </a:r>
            <a:r>
              <a:rPr lang="en-US" altLang="zh-CN" sz="1800" dirty="0" err="1"/>
              <a:t>D_language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unsigned long </a:t>
            </a:r>
            <a:r>
              <a:rPr lang="en-US" altLang="zh-CN" sz="1800" dirty="0" err="1"/>
              <a:t>long</a:t>
            </a:r>
            <a:r>
              <a:rPr lang="en-US" altLang="zh-CN" sz="1800" dirty="0"/>
              <a:t>   </a:t>
            </a:r>
            <a:r>
              <a:rPr lang="en-US" altLang="zh-CN" sz="1800" dirty="0" err="1"/>
              <a:t>E_language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 </a:t>
            </a:r>
            <a:r>
              <a:rPr lang="en-US" altLang="zh-CN" sz="1800" dirty="0"/>
              <a:t>student *next;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};</a:t>
            </a:r>
          </a:p>
          <a:p>
            <a:pPr marL="285750" lvl="1" indent="0"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结构体的大小应该是成员最大宽度</a:t>
            </a:r>
            <a:r>
              <a:rPr lang="en-US" altLang="zh-CN" sz="1800" dirty="0"/>
              <a:t>8</a:t>
            </a:r>
            <a:r>
              <a:rPr lang="zh-CN" altLang="en-US" sz="1800" dirty="0"/>
              <a:t>的倍数，否则，应该在</a:t>
            </a:r>
            <a:r>
              <a:rPr lang="en-US" altLang="zh-CN" sz="1800" dirty="0"/>
              <a:t>next</a:t>
            </a:r>
            <a:r>
              <a:rPr lang="zh-CN" altLang="en-US" sz="1800" dirty="0"/>
              <a:t>后填充字节；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C2E7DB-786E-4E61-8B58-009CDA668303}"/>
              </a:ext>
            </a:extLst>
          </p:cNvPr>
          <p:cNvSpPr/>
          <p:nvPr/>
        </p:nvSpPr>
        <p:spPr>
          <a:xfrm>
            <a:off x="4246169" y="2545845"/>
            <a:ext cx="3445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+mn-lt"/>
                <a:ea typeface="+mn-ea"/>
              </a:rPr>
              <a:t>//</a:t>
            </a:r>
            <a:r>
              <a:rPr lang="en-US" altLang="zh-CN" b="1" dirty="0" err="1">
                <a:solidFill>
                  <a:srgbClr val="7030A0"/>
                </a:solidFill>
                <a:latin typeface="+mn-lt"/>
                <a:ea typeface="+mn-ea"/>
              </a:rPr>
              <a:t>offsetof</a:t>
            </a:r>
            <a:r>
              <a:rPr lang="en-US" altLang="zh-CN" b="1" dirty="0">
                <a:solidFill>
                  <a:srgbClr val="7030A0"/>
                </a:solidFill>
                <a:latin typeface="+mn-lt"/>
                <a:ea typeface="+mn-ea"/>
              </a:rPr>
              <a:t>(student, </a:t>
            </a:r>
            <a:r>
              <a:rPr lang="en-US" altLang="zh-CN" b="1" dirty="0" err="1" smtClean="0">
                <a:solidFill>
                  <a:srgbClr val="7030A0"/>
                </a:solidFill>
                <a:latin typeface="+mn-lt"/>
                <a:ea typeface="+mn-ea"/>
              </a:rPr>
              <a:t>A_language</a:t>
            </a:r>
            <a:r>
              <a:rPr lang="en-US" altLang="zh-CN" b="1" dirty="0">
                <a:solidFill>
                  <a:srgbClr val="7030A0"/>
                </a:solidFill>
                <a:latin typeface="+mn-lt"/>
                <a:ea typeface="+mn-ea"/>
              </a:rPr>
              <a:t>)=8</a:t>
            </a:r>
            <a:endParaRPr lang="zh-CN" altLang="en-US" b="1" dirty="0">
              <a:solidFill>
                <a:srgbClr val="7030A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1266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宏</a:t>
            </a:r>
            <a:r>
              <a:rPr lang="en-US" altLang="zh-CN" dirty="0" err="1">
                <a:solidFill>
                  <a:srgbClr val="C00000"/>
                </a:solidFill>
              </a:rPr>
              <a:t>offsetof</a:t>
            </a:r>
            <a:r>
              <a:rPr lang="en-US" altLang="zh-CN" dirty="0" smtClean="0">
                <a:solidFill>
                  <a:srgbClr val="C00000"/>
                </a:solidFill>
              </a:rPr>
              <a:t>()</a:t>
            </a:r>
            <a:r>
              <a:rPr lang="zh-CN" altLang="en-US" dirty="0" smtClean="0">
                <a:solidFill>
                  <a:srgbClr val="C00000"/>
                </a:solidFill>
              </a:rPr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30DCD"/>
                </a:solidFill>
              </a:rPr>
              <a:t>#include &lt;</a:t>
            </a:r>
            <a:r>
              <a:rPr lang="en-US" altLang="zh-CN" sz="1800" dirty="0" err="1">
                <a:solidFill>
                  <a:srgbClr val="030DCD"/>
                </a:solidFill>
              </a:rPr>
              <a:t>stddef.h</a:t>
            </a:r>
            <a:r>
              <a:rPr lang="en-US" altLang="zh-CN" sz="1800" dirty="0">
                <a:solidFill>
                  <a:srgbClr val="030DCD"/>
                </a:solidFill>
              </a:rPr>
              <a:t>&gt;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 smtClean="0">
                <a:solidFill>
                  <a:srgbClr val="006600"/>
                </a:solidFill>
              </a:rPr>
              <a:t>的结构体类型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</a:t>
            </a:r>
            <a:r>
              <a:rPr lang="en-US" altLang="zh-CN" sz="1800" dirty="0" smtClean="0">
                <a:solidFill>
                  <a:srgbClr val="000000"/>
                </a:solidFill>
              </a:rPr>
              <a:t>name[</a:t>
            </a:r>
            <a:r>
              <a:rPr lang="en-US" altLang="zh-CN" sz="1800" dirty="0" smtClean="0">
                <a:solidFill>
                  <a:srgbClr val="C00000"/>
                </a:solidFill>
              </a:rPr>
              <a:t>18</a:t>
            </a:r>
            <a:r>
              <a:rPr lang="en-US" altLang="zh-CN" sz="1800" dirty="0" smtClean="0">
                <a:solidFill>
                  <a:srgbClr val="000000"/>
                </a:solidFill>
              </a:rPr>
              <a:t>];                 </a:t>
            </a:r>
            <a:r>
              <a:rPr lang="en-US" altLang="zh-CN" sz="1800" dirty="0">
                <a:solidFill>
                  <a:srgbClr val="000000"/>
                </a:solidFill>
              </a:rPr>
              <a:t>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name)=0;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// </a:t>
            </a:r>
            <a:r>
              <a:rPr lang="en-US" altLang="zh-CN" sz="1800" dirty="0" err="1">
                <a:solidFill>
                  <a:srgbClr val="0070C0"/>
                </a:solidFill>
              </a:rPr>
              <a:t>offsetof</a:t>
            </a:r>
            <a:r>
              <a:rPr lang="en-US" altLang="zh-CN" sz="1800" dirty="0">
                <a:solidFill>
                  <a:srgbClr val="0070C0"/>
                </a:solidFill>
              </a:rPr>
              <a:t>(student, sex</a:t>
            </a:r>
            <a:r>
              <a:rPr lang="en-US" altLang="zh-CN" sz="1800" dirty="0" smtClean="0">
                <a:solidFill>
                  <a:srgbClr val="0070C0"/>
                </a:solidFill>
              </a:rPr>
              <a:t>)=</a:t>
            </a:r>
            <a:r>
              <a:rPr lang="en-US" altLang="zh-CN" sz="1800" dirty="0" smtClean="0">
                <a:solidFill>
                  <a:srgbClr val="C00000"/>
                </a:solidFill>
              </a:rPr>
              <a:t>18</a:t>
            </a:r>
            <a:r>
              <a:rPr lang="en-US" altLang="zh-CN" sz="1800" dirty="0" smtClean="0">
                <a:solidFill>
                  <a:srgbClr val="000000"/>
                </a:solidFill>
              </a:rPr>
              <a:t>;    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birthday;            // </a:t>
            </a:r>
            <a:r>
              <a:rPr lang="en-US" altLang="zh-CN" sz="1800" dirty="0" err="1">
                <a:solidFill>
                  <a:srgbClr val="030DCD"/>
                </a:solidFill>
              </a:rPr>
              <a:t>offsetof</a:t>
            </a:r>
            <a:r>
              <a:rPr lang="en-US" altLang="zh-CN" sz="1800" dirty="0">
                <a:solidFill>
                  <a:srgbClr val="030DCD"/>
                </a:solidFill>
              </a:rPr>
              <a:t>(student, birthday)=</a:t>
            </a:r>
            <a:r>
              <a:rPr lang="en-US" altLang="zh-CN" sz="1800" dirty="0" smtClean="0">
                <a:solidFill>
                  <a:srgbClr val="C00000"/>
                </a:solidFill>
              </a:rPr>
              <a:t>20</a:t>
            </a:r>
            <a:r>
              <a:rPr lang="en-US" altLang="zh-CN" sz="1800" dirty="0" smtClean="0">
                <a:solidFill>
                  <a:srgbClr val="030DCD"/>
                </a:solidFill>
              </a:rPr>
              <a:t>;  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    </a:t>
            </a:r>
            <a:r>
              <a:rPr lang="en-US" altLang="zh-CN" sz="1800" dirty="0">
                <a:solidFill>
                  <a:srgbClr val="000000"/>
                </a:solidFill>
              </a:rPr>
              <a:t>float height; 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height)=28</a:t>
            </a:r>
            <a:r>
              <a:rPr lang="en-US" altLang="zh-CN" sz="1800" dirty="0" smtClean="0">
                <a:solidFill>
                  <a:srgbClr val="000000"/>
                </a:solidFill>
              </a:rPr>
              <a:t>;  </a:t>
            </a:r>
            <a:endParaRPr lang="zh-CN" altLang="en-US" sz="1800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// </a:t>
            </a:r>
            <a:r>
              <a:rPr lang="en-US" altLang="zh-CN" sz="1800" dirty="0" err="1">
                <a:solidFill>
                  <a:srgbClr val="000000"/>
                </a:solidFill>
              </a:rPr>
              <a:t>offsetof</a:t>
            </a:r>
            <a:r>
              <a:rPr lang="en-US" altLang="zh-CN" sz="1800" dirty="0">
                <a:solidFill>
                  <a:srgbClr val="000000"/>
                </a:solidFill>
              </a:rPr>
              <a:t>(student, weight)=32</a:t>
            </a:r>
            <a:r>
              <a:rPr lang="en-US" altLang="zh-CN" sz="1800" dirty="0" smtClean="0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};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77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注：结构体成员</a:t>
            </a:r>
            <a:r>
              <a:rPr lang="zh-CN" altLang="en-US" dirty="0">
                <a:solidFill>
                  <a:srgbClr val="7030A0"/>
                </a:solidFill>
              </a:rPr>
              <a:t>定义顺序不同，分配字节也不同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0005" y="1147909"/>
            <a:ext cx="3805670" cy="3273172"/>
          </a:xfrm>
          <a:ln>
            <a:solidFill>
              <a:srgbClr val="080808"/>
            </a:solidFill>
          </a:ln>
        </p:spPr>
        <p:txBody>
          <a:bodyPr/>
          <a:lstStyle/>
          <a:p>
            <a:pPr>
              <a:buNone/>
            </a:pPr>
            <a:r>
              <a:rPr lang="en-US" altLang="zh-CN" sz="2000" dirty="0" err="1">
                <a:solidFill>
                  <a:srgbClr val="080808"/>
                </a:solidFill>
              </a:rPr>
              <a:t>struct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DirectoryEntry</a:t>
            </a:r>
            <a:r>
              <a:rPr lang="en-US" altLang="zh-CN" sz="2000" dirty="0">
                <a:solidFill>
                  <a:srgbClr val="080808"/>
                </a:solidFill>
              </a:rPr>
              <a:t> {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     </a:t>
            </a:r>
            <a:r>
              <a:rPr lang="en-US" altLang="zh-CN" sz="2000" dirty="0" err="1">
                <a:solidFill>
                  <a:srgbClr val="030DCD"/>
                </a:solidFill>
              </a:rPr>
              <a:t>int</a:t>
            </a:r>
            <a:r>
              <a:rPr lang="en-US" altLang="zh-CN" sz="2000" dirty="0">
                <a:solidFill>
                  <a:srgbClr val="030DCD"/>
                </a:solidFill>
              </a:rPr>
              <a:t> sector;        </a:t>
            </a:r>
            <a:r>
              <a:rPr lang="en-US" altLang="zh-CN" sz="2000" dirty="0">
                <a:solidFill>
                  <a:srgbClr val="080808"/>
                </a:solidFill>
              </a:rPr>
              <a:t>//offset: 0</a:t>
            </a:r>
          </a:p>
          <a:p>
            <a:pPr>
              <a:buNone/>
            </a:pPr>
            <a:r>
              <a:rPr lang="en-US" altLang="zh-CN" sz="2000" dirty="0">
                <a:solidFill>
                  <a:srgbClr val="C00000"/>
                </a:solidFill>
              </a:rPr>
              <a:t>          </a:t>
            </a:r>
            <a:r>
              <a:rPr lang="en-US" altLang="zh-CN" sz="2000" dirty="0" smtClean="0">
                <a:solidFill>
                  <a:srgbClr val="C00000"/>
                </a:solidFill>
              </a:rPr>
              <a:t>char </a:t>
            </a:r>
            <a:r>
              <a:rPr lang="en-US" altLang="zh-CN" sz="2000" dirty="0" err="1">
                <a:solidFill>
                  <a:srgbClr val="C00000"/>
                </a:solidFill>
              </a:rPr>
              <a:t>inUse</a:t>
            </a:r>
            <a:r>
              <a:rPr lang="en-US" altLang="zh-CN" sz="2000" dirty="0">
                <a:solidFill>
                  <a:srgbClr val="C00000"/>
                </a:solidFill>
              </a:rPr>
              <a:t>;</a:t>
            </a:r>
            <a:r>
              <a:rPr lang="en-US" altLang="zh-CN" sz="2000" dirty="0">
                <a:solidFill>
                  <a:srgbClr val="080808"/>
                </a:solidFill>
              </a:rPr>
              <a:t>	 //offset: 4 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	char name[11]; //offset: 5	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//</a:t>
            </a:r>
            <a:r>
              <a:rPr lang="en-US" altLang="zh-CN" sz="2000" dirty="0" err="1">
                <a:solidFill>
                  <a:srgbClr val="080808"/>
                </a:solidFill>
              </a:rPr>
              <a:t>sizeof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DirectoryEntry</a:t>
            </a:r>
            <a:r>
              <a:rPr lang="en-US" altLang="zh-CN" sz="2000" dirty="0">
                <a:solidFill>
                  <a:srgbClr val="080808"/>
                </a:solidFill>
              </a:rPr>
              <a:t>)=16;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//</a:t>
            </a:r>
            <a:r>
              <a:rPr lang="zh-CN" altLang="en-US" sz="2000" dirty="0">
                <a:solidFill>
                  <a:srgbClr val="030DCD"/>
                </a:solidFill>
              </a:rPr>
              <a:t>按字节相加也是</a:t>
            </a:r>
            <a:r>
              <a:rPr lang="en-US" altLang="zh-CN" sz="2000" dirty="0">
                <a:solidFill>
                  <a:srgbClr val="030DCD"/>
                </a:solidFill>
              </a:rPr>
              <a:t>16</a:t>
            </a:r>
            <a:endParaRPr lang="zh-CN" altLang="en-US" sz="2000" dirty="0">
              <a:solidFill>
                <a:srgbClr val="030DCD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147908"/>
            <a:ext cx="4044950" cy="327317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 err="1">
                <a:solidFill>
                  <a:srgbClr val="080808"/>
                </a:solidFill>
              </a:rPr>
              <a:t>struct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DirectoryEntry</a:t>
            </a:r>
            <a:r>
              <a:rPr lang="en-US" altLang="zh-CN" sz="2000" dirty="0">
                <a:solidFill>
                  <a:srgbClr val="080808"/>
                </a:solidFill>
              </a:rPr>
              <a:t> 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	</a:t>
            </a:r>
            <a:r>
              <a:rPr lang="en-US" altLang="zh-CN" sz="2000" dirty="0">
                <a:solidFill>
                  <a:srgbClr val="C00000"/>
                </a:solidFill>
              </a:rPr>
              <a:t>char </a:t>
            </a:r>
            <a:r>
              <a:rPr lang="en-US" altLang="zh-CN" sz="2000" dirty="0" err="1">
                <a:solidFill>
                  <a:srgbClr val="C00000"/>
                </a:solidFill>
              </a:rPr>
              <a:t>inUse</a:t>
            </a:r>
            <a:r>
              <a:rPr lang="en-US" altLang="zh-CN" sz="2000" dirty="0">
                <a:solidFill>
                  <a:srgbClr val="C00000"/>
                </a:solidFill>
              </a:rPr>
              <a:t>;</a:t>
            </a:r>
            <a:r>
              <a:rPr lang="en-US" altLang="zh-CN" sz="2000" dirty="0">
                <a:solidFill>
                  <a:srgbClr val="7030A0"/>
                </a:solidFill>
              </a:rPr>
              <a:t>	</a:t>
            </a:r>
            <a:r>
              <a:rPr lang="en-US" altLang="zh-CN" sz="2000" dirty="0">
                <a:solidFill>
                  <a:srgbClr val="080808"/>
                </a:solidFill>
              </a:rPr>
              <a:t>//</a:t>
            </a:r>
            <a:r>
              <a:rPr lang="en-US" altLang="zh-CN" sz="2000" dirty="0" err="1">
                <a:solidFill>
                  <a:srgbClr val="080808"/>
                </a:solidFill>
              </a:rPr>
              <a:t>offsetof</a:t>
            </a:r>
            <a:r>
              <a:rPr lang="en-US" altLang="zh-CN" sz="2000" dirty="0">
                <a:solidFill>
                  <a:srgbClr val="080808"/>
                </a:solidFill>
              </a:rPr>
              <a:t>()=0;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      </a:t>
            </a:r>
            <a:r>
              <a:rPr lang="en-US" altLang="zh-CN" sz="2000" dirty="0" err="1">
                <a:solidFill>
                  <a:srgbClr val="030DCD"/>
                </a:solidFill>
              </a:rPr>
              <a:t>int</a:t>
            </a:r>
            <a:r>
              <a:rPr lang="en-US" altLang="zh-CN" sz="2000" dirty="0">
                <a:solidFill>
                  <a:srgbClr val="030DCD"/>
                </a:solidFill>
              </a:rPr>
              <a:t> sector;</a:t>
            </a:r>
            <a:r>
              <a:rPr lang="en-US" altLang="zh-CN" sz="2000" dirty="0">
                <a:solidFill>
                  <a:srgbClr val="080808"/>
                </a:solidFill>
              </a:rPr>
              <a:t>	//</a:t>
            </a:r>
            <a:r>
              <a:rPr lang="en-US" altLang="zh-CN" sz="2000" dirty="0" err="1">
                <a:solidFill>
                  <a:srgbClr val="080808"/>
                </a:solidFill>
              </a:rPr>
              <a:t>offsetof</a:t>
            </a:r>
            <a:r>
              <a:rPr lang="en-US" altLang="zh-CN" sz="2000" dirty="0">
                <a:solidFill>
                  <a:srgbClr val="080808"/>
                </a:solidFill>
              </a:rPr>
              <a:t>()=4;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	char name[11]; //</a:t>
            </a:r>
            <a:r>
              <a:rPr lang="en-US" altLang="zh-CN" sz="2000" dirty="0" err="1">
                <a:solidFill>
                  <a:srgbClr val="080808"/>
                </a:solidFill>
              </a:rPr>
              <a:t>offsetof</a:t>
            </a:r>
            <a:r>
              <a:rPr lang="en-US" altLang="zh-CN" sz="2000" dirty="0">
                <a:solidFill>
                  <a:srgbClr val="080808"/>
                </a:solidFill>
              </a:rPr>
              <a:t>()=8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//</a:t>
            </a:r>
            <a:r>
              <a:rPr lang="en-US" altLang="zh-CN" sz="2000" dirty="0" err="1">
                <a:solidFill>
                  <a:srgbClr val="080808"/>
                </a:solidFill>
              </a:rPr>
              <a:t>sizeof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DirectoryEntry</a:t>
            </a:r>
            <a:r>
              <a:rPr lang="en-US" altLang="zh-CN" sz="2000" dirty="0">
                <a:solidFill>
                  <a:srgbClr val="080808"/>
                </a:solidFill>
              </a:rPr>
              <a:t>)=20;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//</a:t>
            </a:r>
            <a:r>
              <a:rPr lang="zh-CN" altLang="en-US" sz="2000" dirty="0">
                <a:solidFill>
                  <a:srgbClr val="030DCD"/>
                </a:solidFill>
              </a:rPr>
              <a:t>仅按字节相加是</a:t>
            </a:r>
            <a:r>
              <a:rPr lang="en-US" altLang="zh-CN" sz="2000" dirty="0">
                <a:solidFill>
                  <a:srgbClr val="030DCD"/>
                </a:solidFill>
              </a:rPr>
              <a:t>16</a:t>
            </a:r>
            <a:r>
              <a:rPr lang="zh-CN" altLang="en-US" sz="2000" dirty="0">
                <a:solidFill>
                  <a:srgbClr val="030DCD"/>
                </a:solidFill>
              </a:rPr>
              <a:t>；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2776" y="4749162"/>
            <a:ext cx="7980019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rgbClr val="FF0000"/>
                </a:solidFill>
                <a:latin typeface="+mn-lt"/>
                <a:ea typeface="+mn-ea"/>
                <a:sym typeface="宋体" panose="02010600030101010101" pitchFamily="2" charset="-122"/>
              </a:rPr>
              <a:t>思考：根据结构体的字节对齐，对编程有何启示？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69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77553"/>
            <a:ext cx="8089900" cy="694324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7030A0"/>
                </a:solidFill>
              </a:rPr>
              <a:t>启示：</a:t>
            </a:r>
            <a:r>
              <a:rPr lang="zh-CN" altLang="en-US" sz="3200" dirty="0">
                <a:solidFill>
                  <a:srgbClr val="006600"/>
                </a:solidFill>
              </a:rPr>
              <a:t>结构体字节对齐对内存空间</a:t>
            </a:r>
            <a:r>
              <a:rPr lang="zh-CN" altLang="en-US" sz="3200" dirty="0" smtClean="0">
                <a:solidFill>
                  <a:srgbClr val="006600"/>
                </a:solidFill>
              </a:rPr>
              <a:t>的影响</a:t>
            </a:r>
            <a:endParaRPr lang="zh-CN" altLang="en-US" sz="3200" dirty="0">
              <a:solidFill>
                <a:srgbClr val="0066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455937"/>
            <a:ext cx="8089900" cy="5024237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定义结构体时，</a:t>
            </a:r>
            <a:r>
              <a:rPr lang="zh-CN" altLang="en-US" b="1" dirty="0" smtClean="0">
                <a:solidFill>
                  <a:srgbClr val="7030A0"/>
                </a:solidFill>
              </a:rPr>
              <a:t>各成员在结构体中的顺序</a:t>
            </a:r>
            <a:r>
              <a:rPr lang="zh-CN" altLang="en-US" b="1" dirty="0" smtClean="0"/>
              <a:t>对结构体变量的空间有一定的影响</a:t>
            </a:r>
            <a:endParaRPr lang="en-US" altLang="zh-CN" b="1" dirty="0" smtClean="0"/>
          </a:p>
          <a:p>
            <a:pPr marL="971550" lvl="1">
              <a:lnSpc>
                <a:spcPct val="120000"/>
              </a:lnSpc>
            </a:pPr>
            <a:r>
              <a:rPr lang="zh-CN" altLang="en-US" dirty="0" smtClean="0"/>
              <a:t>当结构体变量比较多时，如</a:t>
            </a:r>
            <a:r>
              <a:rPr lang="zh-CN" altLang="en-US" dirty="0" smtClean="0">
                <a:solidFill>
                  <a:srgbClr val="030DCD"/>
                </a:solidFill>
              </a:rPr>
              <a:t>结构体数组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006600"/>
                </a:solidFill>
              </a:rPr>
              <a:t>结构体构成的链表</a:t>
            </a:r>
            <a:r>
              <a:rPr lang="zh-CN" altLang="en-US" dirty="0" smtClean="0"/>
              <a:t>等数据结构体所占用的空间有比较大的影响</a:t>
            </a:r>
            <a:endParaRPr lang="en-US" altLang="zh-CN" dirty="0" smtClean="0"/>
          </a:p>
          <a:p>
            <a:pPr marL="971550" lvl="1">
              <a:lnSpc>
                <a:spcPct val="120000"/>
              </a:lnSpc>
            </a:pPr>
            <a:r>
              <a:rPr lang="zh-CN" altLang="en-US" dirty="0" smtClean="0"/>
              <a:t>定义</a:t>
            </a:r>
            <a:r>
              <a:rPr lang="zh-CN" altLang="en-US" dirty="0"/>
              <a:t>结构体时，应考虑程序的</a:t>
            </a:r>
            <a:r>
              <a:rPr lang="zh-CN" altLang="en-US" dirty="0" smtClean="0"/>
              <a:t>优化</a:t>
            </a:r>
            <a:endParaRPr lang="en-US" altLang="zh-CN" dirty="0" smtClean="0"/>
          </a:p>
          <a:p>
            <a:pPr marL="13716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内存、堆的利用率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49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7.1.3 </a:t>
            </a:r>
            <a:r>
              <a:rPr lang="zh-CN" altLang="en-US" dirty="0"/>
              <a:t>结构体变量的初始化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00546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/>
              <a:t>类似于一维数组元素的初始化（定义时赋值）</a:t>
            </a:r>
            <a:endParaRPr lang="en-US" altLang="zh-CN" b="1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zh-CN" altLang="en-US" b="1" dirty="0" smtClean="0">
                <a:solidFill>
                  <a:srgbClr val="0000CC"/>
                </a:solidFill>
              </a:rPr>
              <a:t>结构体变量</a:t>
            </a:r>
            <a:r>
              <a:rPr lang="en-US" altLang="zh-CN" b="1" dirty="0">
                <a:solidFill>
                  <a:srgbClr val="0000CC"/>
                </a:solidFill>
              </a:rPr>
              <a:t>={</a:t>
            </a:r>
            <a:r>
              <a:rPr lang="zh-CN" altLang="en-US" b="1" dirty="0">
                <a:solidFill>
                  <a:srgbClr val="0000CC"/>
                </a:solidFill>
              </a:rPr>
              <a:t>初值表</a:t>
            </a:r>
            <a:r>
              <a:rPr lang="en-US" altLang="zh-CN" b="1" dirty="0">
                <a:solidFill>
                  <a:srgbClr val="0000CC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00899" y="2140527"/>
            <a:ext cx="8402279" cy="379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</a:rPr>
              <a:t>person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name[10];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unsigned  birthday;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</a:t>
            </a:r>
            <a:r>
              <a:rPr lang="en-US" altLang="zh-CN" sz="1800" dirty="0" err="1">
                <a:solidFill>
                  <a:srgbClr val="000000"/>
                </a:solidFill>
              </a:rPr>
              <a:t>placeofbirth</a:t>
            </a:r>
            <a:r>
              <a:rPr lang="en-US" altLang="zh-CN" sz="1800" dirty="0">
                <a:solidFill>
                  <a:srgbClr val="000000"/>
                </a:solidFill>
              </a:rPr>
              <a:t>[20];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 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</a:rPr>
              <a:t>   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struct</a:t>
            </a:r>
            <a:r>
              <a:rPr lang="en-US" altLang="zh-CN" sz="1800" dirty="0" smtClean="0">
                <a:solidFill>
                  <a:srgbClr val="000000"/>
                </a:solidFill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</a:rPr>
              <a:t>person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  <a:r>
              <a:rPr lang="en-US" altLang="zh-CN" sz="1800" dirty="0">
                <a:solidFill>
                  <a:srgbClr val="0000CC"/>
                </a:solidFill>
              </a:rPr>
              <a:t>per = { </a:t>
            </a:r>
            <a:r>
              <a:rPr lang="en-US" altLang="zh-CN" sz="1800" b="1" dirty="0">
                <a:solidFill>
                  <a:srgbClr val="0000CC"/>
                </a:solidFill>
              </a:rPr>
              <a:t>“Li </a:t>
            </a:r>
            <a:r>
              <a:rPr lang="en-US" altLang="zh-CN" sz="1800" b="1" dirty="0" err="1">
                <a:solidFill>
                  <a:srgbClr val="0000CC"/>
                </a:solidFill>
              </a:rPr>
              <a:t>ming</a:t>
            </a:r>
            <a:r>
              <a:rPr lang="en-US" altLang="zh-CN" sz="1800" b="1" dirty="0">
                <a:solidFill>
                  <a:srgbClr val="0000CC"/>
                </a:solidFill>
              </a:rPr>
              <a:t>”</a:t>
            </a:r>
            <a:r>
              <a:rPr lang="en-US" altLang="zh-CN" sz="1800" dirty="0">
                <a:solidFill>
                  <a:srgbClr val="0000CC"/>
                </a:solidFill>
              </a:rPr>
              <a:t>, </a:t>
            </a:r>
            <a:r>
              <a:rPr lang="en-US" altLang="zh-CN" sz="1800" dirty="0">
                <a:solidFill>
                  <a:srgbClr val="FF0000"/>
                </a:solidFill>
              </a:rPr>
              <a:t>19821209</a:t>
            </a:r>
            <a:r>
              <a:rPr lang="en-US" altLang="zh-CN" sz="1800" dirty="0">
                <a:solidFill>
                  <a:srgbClr val="0000CC"/>
                </a:solidFill>
              </a:rPr>
              <a:t>, </a:t>
            </a:r>
            <a:r>
              <a:rPr lang="en-US" altLang="zh-CN" sz="1800" b="1" dirty="0">
                <a:solidFill>
                  <a:srgbClr val="006600"/>
                </a:solidFill>
              </a:rPr>
              <a:t>“Beijing”</a:t>
            </a:r>
            <a:r>
              <a:rPr lang="en-US" altLang="zh-CN" sz="1800" dirty="0">
                <a:solidFill>
                  <a:srgbClr val="0000CC"/>
                </a:solidFill>
              </a:rPr>
              <a:t>};   //</a:t>
            </a:r>
            <a:r>
              <a:rPr lang="zh-CN" altLang="en-US" sz="1800" dirty="0">
                <a:solidFill>
                  <a:srgbClr val="FF0000"/>
                </a:solidFill>
              </a:rPr>
              <a:t>允许变量定义时</a:t>
            </a:r>
            <a:r>
              <a:rPr lang="zh-CN" altLang="en-US" sz="1800" dirty="0" smtClean="0">
                <a:solidFill>
                  <a:srgbClr val="FF0000"/>
                </a:solidFill>
              </a:rPr>
              <a:t>初始化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   </a:t>
            </a:r>
            <a:r>
              <a:rPr lang="en-US" altLang="zh-CN" sz="1800" dirty="0" smtClean="0">
                <a:solidFill>
                  <a:srgbClr val="FF0000"/>
                </a:solidFill>
              </a:rPr>
              <a:t>  </a:t>
            </a:r>
            <a:r>
              <a:rPr lang="en-US" altLang="zh-CN" sz="1800" b="1" dirty="0">
                <a:solidFill>
                  <a:srgbClr val="000000"/>
                </a:solidFill>
              </a:rPr>
              <a:t>per = { “Li </a:t>
            </a:r>
            <a:r>
              <a:rPr lang="en-US" altLang="zh-CN" sz="1800" b="1" dirty="0" err="1">
                <a:solidFill>
                  <a:srgbClr val="000000"/>
                </a:solidFill>
              </a:rPr>
              <a:t>ming</a:t>
            </a:r>
            <a:r>
              <a:rPr lang="en-US" altLang="zh-CN" sz="1800" b="1" dirty="0">
                <a:solidFill>
                  <a:srgbClr val="000000"/>
                </a:solidFill>
              </a:rPr>
              <a:t>”, 19821209, “Beijing”};   //</a:t>
            </a:r>
            <a:r>
              <a:rPr lang="zh-CN" altLang="en-US" sz="1800" b="1" dirty="0">
                <a:solidFill>
                  <a:srgbClr val="7030A0"/>
                </a:solidFill>
              </a:rPr>
              <a:t>不允许，只能</a:t>
            </a:r>
            <a:r>
              <a:rPr lang="zh-CN" altLang="en-US" sz="1800" b="1" i="1" u="sng" dirty="0">
                <a:solidFill>
                  <a:srgbClr val="7030A0"/>
                </a:solidFill>
              </a:rPr>
              <a:t>逐个成员</a:t>
            </a:r>
            <a:r>
              <a:rPr lang="zh-CN" altLang="en-US" sz="1800" b="1" dirty="0">
                <a:solidFill>
                  <a:srgbClr val="7030A0"/>
                </a:solidFill>
              </a:rPr>
              <a:t>赋值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思考：</a:t>
            </a:r>
            <a:endParaRPr lang="en-US" altLang="zh-CN" sz="2000" b="1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学过的一些数据类型中，还有哪些允许定义变量时整体赋值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变量定义后，不允许整体赋值？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694944" y="5870449"/>
            <a:ext cx="7690104" cy="402337"/>
          </a:xfrm>
          <a:prstGeom prst="wedgeRoundRectCallout">
            <a:avLst>
              <a:gd name="adj1" fmla="val -20568"/>
              <a:gd name="adj2" fmla="val 4659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例如：数组，将一个字符串常量赋给字符数组或字符指针，常量指针，指针常量</a:t>
            </a:r>
          </a:p>
        </p:txBody>
      </p:sp>
    </p:spTree>
    <p:extLst>
      <p:ext uri="{BB962C8B-B14F-4D97-AF65-F5344CB8AC3E}">
        <p14:creationId xmlns:p14="http://schemas.microsoft.com/office/powerpoint/2010/main" val="307984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66" y="1135064"/>
            <a:ext cx="8089900" cy="454746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或：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48145" y="1619052"/>
            <a:ext cx="7389176" cy="356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</a:rPr>
              <a:t>struct</a:t>
            </a:r>
            <a:r>
              <a:rPr lang="en-US" altLang="zh-CN" sz="2000" dirty="0">
                <a:solidFill>
                  <a:srgbClr val="000000"/>
                </a:solidFill>
              </a:rPr>
              <a:t>  person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char  name[10];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unsigned  birthday;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char  </a:t>
            </a:r>
            <a:r>
              <a:rPr lang="en-US" altLang="zh-CN" sz="2000" dirty="0" err="1">
                <a:solidFill>
                  <a:srgbClr val="000000"/>
                </a:solidFill>
              </a:rPr>
              <a:t>placeofbirth</a:t>
            </a:r>
            <a:r>
              <a:rPr lang="en-US" altLang="zh-CN" sz="2000" dirty="0">
                <a:solidFill>
                  <a:srgbClr val="000000"/>
                </a:solidFill>
              </a:rPr>
              <a:t>[20];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} </a:t>
            </a:r>
            <a:r>
              <a:rPr lang="en-US" altLang="zh-CN" sz="2000" dirty="0">
                <a:solidFill>
                  <a:srgbClr val="0000CC"/>
                </a:solidFill>
              </a:rPr>
              <a:t>per = { “Li </a:t>
            </a:r>
            <a:r>
              <a:rPr lang="en-US" altLang="zh-CN" sz="2000" dirty="0" err="1">
                <a:solidFill>
                  <a:srgbClr val="0000CC"/>
                </a:solidFill>
              </a:rPr>
              <a:t>ming</a:t>
            </a:r>
            <a:r>
              <a:rPr lang="en-US" altLang="zh-CN" sz="2000" dirty="0">
                <a:solidFill>
                  <a:srgbClr val="0000CC"/>
                </a:solidFill>
              </a:rPr>
              <a:t>”, </a:t>
            </a:r>
            <a:r>
              <a:rPr lang="en-US" altLang="zh-CN" sz="2000" dirty="0">
                <a:solidFill>
                  <a:srgbClr val="006600"/>
                </a:solidFill>
              </a:rPr>
              <a:t>19821209</a:t>
            </a:r>
            <a:r>
              <a:rPr lang="en-US" altLang="zh-CN" sz="2000" dirty="0">
                <a:solidFill>
                  <a:srgbClr val="0000CC"/>
                </a:solidFill>
              </a:rPr>
              <a:t>, “Beijing”};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17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结构体成员的赋值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66" y="1135064"/>
            <a:ext cx="8089900" cy="454746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定义结构体变量后，可以</a:t>
            </a:r>
            <a:r>
              <a:rPr lang="zh-CN" altLang="en-US" dirty="0">
                <a:solidFill>
                  <a:srgbClr val="030DCD"/>
                </a:solidFill>
              </a:rPr>
              <a:t>对结构体成员变量逐个赋值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675391"/>
            <a:ext cx="7827530" cy="41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person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name[10];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unsigned  birthday;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</a:t>
            </a:r>
            <a:r>
              <a:rPr lang="en-US" altLang="zh-CN" sz="1800" dirty="0" err="1">
                <a:solidFill>
                  <a:srgbClr val="000000"/>
                </a:solidFill>
              </a:rPr>
              <a:t>placeofbirth</a:t>
            </a:r>
            <a:r>
              <a:rPr lang="en-US" altLang="zh-CN" sz="1800" dirty="0">
                <a:solidFill>
                  <a:srgbClr val="000000"/>
                </a:solidFill>
              </a:rPr>
              <a:t>[20];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 </a:t>
            </a:r>
            <a:r>
              <a:rPr lang="en-US" altLang="zh-CN" sz="1800" dirty="0" smtClean="0">
                <a:solidFill>
                  <a:srgbClr val="000000"/>
                </a:solidFill>
              </a:rPr>
              <a:t>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endParaRPr lang="en-US" altLang="zh-CN" sz="1800" dirty="0" smtClean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  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struct</a:t>
            </a:r>
            <a:r>
              <a:rPr lang="en-US" altLang="zh-CN" sz="1800" dirty="0" smtClean="0">
                <a:solidFill>
                  <a:srgbClr val="000000"/>
                </a:solidFill>
              </a:rPr>
              <a:t>  person </a:t>
            </a:r>
            <a:r>
              <a:rPr lang="en-US" altLang="zh-CN" sz="1800" dirty="0" smtClean="0">
                <a:solidFill>
                  <a:srgbClr val="C00000"/>
                </a:solidFill>
              </a:rPr>
              <a:t>per </a:t>
            </a:r>
            <a:r>
              <a:rPr lang="en-US" altLang="zh-CN" sz="1800" dirty="0">
                <a:solidFill>
                  <a:srgbClr val="C00000"/>
                </a:solidFill>
              </a:rPr>
              <a:t>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 smtClean="0">
                <a:solidFill>
                  <a:srgbClr val="000000"/>
                </a:solidFill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</a:rPr>
              <a:t>per</a:t>
            </a:r>
            <a:r>
              <a:rPr lang="en-US" altLang="zh-CN" sz="1800" dirty="0">
                <a:solidFill>
                  <a:srgbClr val="7030A0"/>
                </a:solidFill>
              </a:rPr>
              <a:t>.name=  “Li </a:t>
            </a:r>
            <a:r>
              <a:rPr lang="en-US" altLang="zh-CN" sz="1800" dirty="0" err="1">
                <a:solidFill>
                  <a:srgbClr val="7030A0"/>
                </a:solidFill>
              </a:rPr>
              <a:t>ming</a:t>
            </a:r>
            <a:r>
              <a:rPr lang="en-US" altLang="zh-CN" sz="1800" dirty="0">
                <a:solidFill>
                  <a:srgbClr val="7030A0"/>
                </a:solidFill>
              </a:rPr>
              <a:t>”;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7030A0"/>
                </a:solidFill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</a:rPr>
              <a:t>per</a:t>
            </a:r>
            <a:r>
              <a:rPr lang="en-US" altLang="zh-CN" sz="1800" dirty="0">
                <a:solidFill>
                  <a:srgbClr val="7030A0"/>
                </a:solidFill>
              </a:rPr>
              <a:t>. birthday =  19821209;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7030A0"/>
                </a:solidFill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</a:rPr>
              <a:t>per</a:t>
            </a:r>
            <a:r>
              <a:rPr lang="en-US" altLang="zh-CN" sz="1800" dirty="0">
                <a:solidFill>
                  <a:srgbClr val="7030A0"/>
                </a:solidFill>
              </a:rPr>
              <a:t>. </a:t>
            </a:r>
            <a:r>
              <a:rPr lang="en-US" altLang="zh-CN" sz="1800" dirty="0" err="1">
                <a:solidFill>
                  <a:srgbClr val="7030A0"/>
                </a:solidFill>
              </a:rPr>
              <a:t>Placeofbirth</a:t>
            </a:r>
            <a:r>
              <a:rPr lang="en-US" altLang="zh-CN" sz="1800" dirty="0">
                <a:solidFill>
                  <a:srgbClr val="7030A0"/>
                </a:solidFill>
              </a:rPr>
              <a:t>= “Beijing”;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53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6600"/>
                </a:solidFill>
              </a:rPr>
              <a:t>结构体变量</a:t>
            </a:r>
            <a:r>
              <a:rPr lang="zh-CN" altLang="en-US" dirty="0" smtClean="0"/>
              <a:t>之间</a:t>
            </a:r>
            <a:r>
              <a:rPr lang="zh-CN" altLang="en-US" dirty="0" smtClean="0">
                <a:solidFill>
                  <a:srgbClr val="7030A0"/>
                </a:solidFill>
              </a:rPr>
              <a:t>整体</a:t>
            </a:r>
            <a:r>
              <a:rPr lang="zh-CN" altLang="en-US" dirty="0">
                <a:solidFill>
                  <a:srgbClr val="7030A0"/>
                </a:solidFill>
              </a:rPr>
              <a:t>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66" y="1135063"/>
            <a:ext cx="8089900" cy="109640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尽管</a:t>
            </a:r>
            <a:r>
              <a:rPr lang="zh-CN" altLang="en-US" sz="2000" dirty="0" smtClean="0"/>
              <a:t>结构体类型</a:t>
            </a:r>
            <a:r>
              <a:rPr lang="zh-CN" altLang="en-US" sz="2000" dirty="0"/>
              <a:t>可以包含多个成员，但</a:t>
            </a:r>
            <a:r>
              <a:rPr lang="zh-CN" altLang="en-US" sz="2000" dirty="0" smtClean="0">
                <a:solidFill>
                  <a:srgbClr val="C00000"/>
                </a:solidFill>
              </a:rPr>
              <a:t>结构体类型</a:t>
            </a:r>
            <a:r>
              <a:rPr lang="zh-CN" altLang="en-US" sz="2000" dirty="0">
                <a:solidFill>
                  <a:srgbClr val="C00000"/>
                </a:solidFill>
              </a:rPr>
              <a:t>的变量是一个变量</a:t>
            </a:r>
            <a:r>
              <a:rPr lang="zh-CN" altLang="en-US" sz="2000" dirty="0" smtClean="0"/>
              <a:t>，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结构体变量</a:t>
            </a:r>
            <a:r>
              <a:rPr lang="zh-CN" altLang="en-US" sz="2000" b="1" dirty="0">
                <a:solidFill>
                  <a:srgbClr val="7030A0"/>
                </a:solidFill>
              </a:rPr>
              <a:t>之间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可以整体赋值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两</a:t>
            </a:r>
            <a:r>
              <a:rPr lang="zh-CN" altLang="en-US" sz="2000" dirty="0" smtClean="0">
                <a:solidFill>
                  <a:srgbClr val="030DCD"/>
                </a:solidFill>
              </a:rPr>
              <a:t>个类型相同</a:t>
            </a:r>
            <a:r>
              <a:rPr lang="zh-CN" altLang="en-US" sz="2000" dirty="0">
                <a:solidFill>
                  <a:srgbClr val="030DCD"/>
                </a:solidFill>
              </a:rPr>
              <a:t>的结构体变量之间可以整体赋值；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2350577"/>
            <a:ext cx="8089900" cy="30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struct  person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name[10];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unsigned  birthday;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</a:t>
            </a:r>
            <a:r>
              <a:rPr lang="en-US" altLang="zh-CN" sz="1800" dirty="0" err="1">
                <a:solidFill>
                  <a:srgbClr val="000000"/>
                </a:solidFill>
              </a:rPr>
              <a:t>placeofbirth</a:t>
            </a:r>
            <a:r>
              <a:rPr lang="en-US" altLang="zh-CN" sz="1800" dirty="0">
                <a:solidFill>
                  <a:srgbClr val="000000"/>
                </a:solidFill>
              </a:rPr>
              <a:t>[20];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 </a:t>
            </a:r>
            <a:r>
              <a:rPr lang="en-US" altLang="zh-CN" sz="1800" dirty="0">
                <a:solidFill>
                  <a:srgbClr val="0000CC"/>
                </a:solidFill>
              </a:rPr>
              <a:t>per1,per2={ “Li </a:t>
            </a:r>
            <a:r>
              <a:rPr lang="en-US" altLang="zh-CN" sz="1800" dirty="0" err="1">
                <a:solidFill>
                  <a:srgbClr val="0000CC"/>
                </a:solidFill>
              </a:rPr>
              <a:t>ming</a:t>
            </a:r>
            <a:r>
              <a:rPr lang="en-US" altLang="zh-CN" sz="1800" dirty="0">
                <a:solidFill>
                  <a:srgbClr val="0000CC"/>
                </a:solidFill>
              </a:rPr>
              <a:t>”, 19821209, “Beijing”};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/>
              <a:t>    </a:t>
            </a:r>
            <a:endParaRPr lang="en-US" altLang="zh-CN" sz="1800" b="1" dirty="0" smtClean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 smtClean="0">
                <a:solidFill>
                  <a:srgbClr val="C00000"/>
                </a:solidFill>
              </a:rPr>
              <a:t>per1=per2</a:t>
            </a:r>
            <a:r>
              <a:rPr lang="en-US" altLang="zh-CN" sz="1800" b="1" dirty="0">
                <a:solidFill>
                  <a:srgbClr val="C00000"/>
                </a:solidFill>
              </a:rPr>
              <a:t>;  </a:t>
            </a: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 smtClean="0">
                <a:solidFill>
                  <a:srgbClr val="7030A0"/>
                </a:solidFill>
              </a:rPr>
              <a:t>将结构体变量</a:t>
            </a:r>
            <a:r>
              <a:rPr lang="en-US" altLang="zh-CN" sz="1800" dirty="0">
                <a:solidFill>
                  <a:srgbClr val="7030A0"/>
                </a:solidFill>
              </a:rPr>
              <a:t>per2</a:t>
            </a:r>
            <a:r>
              <a:rPr lang="zh-CN" altLang="en-US" sz="1800" dirty="0">
                <a:solidFill>
                  <a:srgbClr val="7030A0"/>
                </a:solidFill>
              </a:rPr>
              <a:t>中各成员的</a:t>
            </a:r>
            <a:r>
              <a:rPr lang="zh-CN" altLang="en-US" sz="1800" dirty="0" smtClean="0">
                <a:solidFill>
                  <a:srgbClr val="7030A0"/>
                </a:solidFill>
              </a:rPr>
              <a:t>值，赋</a:t>
            </a:r>
            <a:r>
              <a:rPr lang="zh-CN" altLang="en-US" sz="1800" dirty="0">
                <a:solidFill>
                  <a:srgbClr val="7030A0"/>
                </a:solidFill>
              </a:rPr>
              <a:t>给</a:t>
            </a:r>
            <a:r>
              <a:rPr lang="zh-CN" altLang="en-US" sz="1800" dirty="0" smtClean="0">
                <a:solidFill>
                  <a:srgbClr val="7030A0"/>
                </a:solidFill>
              </a:rPr>
              <a:t>构体变量</a:t>
            </a:r>
            <a:r>
              <a:rPr lang="en-US" altLang="zh-CN" sz="1800" dirty="0">
                <a:solidFill>
                  <a:srgbClr val="7030A0"/>
                </a:solidFill>
              </a:rPr>
              <a:t>per1</a:t>
            </a:r>
            <a:r>
              <a:rPr lang="zh-CN" altLang="en-US" sz="1800" dirty="0">
                <a:solidFill>
                  <a:srgbClr val="7030A0"/>
                </a:solidFill>
              </a:rPr>
              <a:t>中的相应成员；</a:t>
            </a:r>
          </a:p>
        </p:txBody>
      </p:sp>
    </p:spTree>
    <p:extLst>
      <p:ext uri="{BB962C8B-B14F-4D97-AF65-F5344CB8AC3E}">
        <p14:creationId xmlns:p14="http://schemas.microsoft.com/office/powerpoint/2010/main" val="189396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6600"/>
                </a:solidFill>
              </a:rPr>
              <a:t>结构体变量</a:t>
            </a:r>
            <a:r>
              <a:rPr lang="zh-CN" altLang="en-US" dirty="0" smtClean="0"/>
              <a:t>之间</a:t>
            </a:r>
            <a:r>
              <a:rPr lang="zh-CN" altLang="en-US" dirty="0" smtClean="0">
                <a:solidFill>
                  <a:srgbClr val="7030A0"/>
                </a:solidFill>
              </a:rPr>
              <a:t>整体</a:t>
            </a:r>
            <a:r>
              <a:rPr lang="zh-CN" altLang="en-US" dirty="0">
                <a:solidFill>
                  <a:srgbClr val="7030A0"/>
                </a:solidFill>
              </a:rPr>
              <a:t>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66" y="1135063"/>
            <a:ext cx="8089900" cy="45599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对换两个结构体变量之间的对换</a:t>
            </a:r>
            <a:endParaRPr lang="zh-CN" altLang="en-US" sz="2000" dirty="0">
              <a:solidFill>
                <a:srgbClr val="030DCD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664777"/>
            <a:ext cx="8089900" cy="4717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struct  person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name[10];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unsigned  birthday;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char  </a:t>
            </a:r>
            <a:r>
              <a:rPr lang="en-US" altLang="zh-CN" sz="1800" dirty="0" err="1">
                <a:solidFill>
                  <a:srgbClr val="000000"/>
                </a:solidFill>
              </a:rPr>
              <a:t>placeofbirth</a:t>
            </a:r>
            <a:r>
              <a:rPr lang="en-US" altLang="zh-CN" sz="1800" dirty="0">
                <a:solidFill>
                  <a:srgbClr val="000000"/>
                </a:solidFill>
              </a:rPr>
              <a:t>[20];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 </a:t>
            </a:r>
            <a:r>
              <a:rPr lang="en-US" altLang="zh-CN" sz="1800" dirty="0" smtClean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person per1={ “Li </a:t>
            </a:r>
            <a:r>
              <a:rPr lang="en-US" altLang="zh-CN" sz="1800" dirty="0" err="1">
                <a:solidFill>
                  <a:srgbClr val="000000"/>
                </a:solidFill>
              </a:rPr>
              <a:t>ming</a:t>
            </a:r>
            <a:r>
              <a:rPr lang="en-US" altLang="zh-CN" sz="1800" dirty="0">
                <a:solidFill>
                  <a:srgbClr val="000000"/>
                </a:solidFill>
              </a:rPr>
              <a:t>”, 20041206, “Jinan”};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person per2={ “Xiao </a:t>
            </a:r>
            <a:r>
              <a:rPr lang="en-US" altLang="zh-CN" sz="1800" dirty="0" err="1">
                <a:solidFill>
                  <a:srgbClr val="000000"/>
                </a:solidFill>
              </a:rPr>
              <a:t>hong</a:t>
            </a:r>
            <a:r>
              <a:rPr lang="en-US" altLang="zh-CN" sz="1800" dirty="0">
                <a:solidFill>
                  <a:srgbClr val="000000"/>
                </a:solidFill>
              </a:rPr>
              <a:t>”, 20041103, “Qingdao”};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 smtClean="0"/>
              <a:t>/*per1</a:t>
            </a:r>
            <a:r>
              <a:rPr lang="zh-CN" altLang="en-US" sz="1800" b="1" dirty="0" smtClean="0"/>
              <a:t>与</a:t>
            </a:r>
            <a:r>
              <a:rPr lang="en-US" altLang="zh-CN" sz="1800" b="1" dirty="0" smtClean="0"/>
              <a:t>per2</a:t>
            </a:r>
            <a:r>
              <a:rPr lang="zh-CN" altLang="en-US" sz="1800" b="1" dirty="0" smtClean="0"/>
              <a:t>对换</a:t>
            </a:r>
            <a:r>
              <a:rPr lang="en-US" altLang="zh-CN" sz="1800" b="1" dirty="0" smtClean="0"/>
              <a:t>*/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smtClean="0">
                <a:solidFill>
                  <a:srgbClr val="030DCD"/>
                </a:solidFill>
              </a:rPr>
              <a:t>person 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tmp</a:t>
            </a:r>
            <a:r>
              <a:rPr lang="zh-CN" altLang="en-US" sz="1800" dirty="0" smtClean="0">
                <a:solidFill>
                  <a:srgbClr val="030DCD"/>
                </a:solidFill>
              </a:rPr>
              <a:t>；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>
                <a:solidFill>
                  <a:srgbClr val="030DCD"/>
                </a:solidFill>
              </a:rPr>
              <a:t>tmp</a:t>
            </a:r>
            <a:r>
              <a:rPr lang="en-US" altLang="zh-CN" sz="1800" dirty="0" smtClean="0">
                <a:solidFill>
                  <a:srgbClr val="030DCD"/>
                </a:solidFill>
              </a:rPr>
              <a:t>=per1;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p</a:t>
            </a:r>
            <a:r>
              <a:rPr lang="en-US" altLang="zh-CN" sz="1800" dirty="0" smtClean="0">
                <a:solidFill>
                  <a:srgbClr val="030DCD"/>
                </a:solidFill>
              </a:rPr>
              <a:t>er1=per2;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p</a:t>
            </a:r>
            <a:r>
              <a:rPr lang="en-US" altLang="zh-CN" sz="1800" dirty="0" smtClean="0">
                <a:solidFill>
                  <a:srgbClr val="030DCD"/>
                </a:solidFill>
              </a:rPr>
              <a:t>er2=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tmp</a:t>
            </a:r>
            <a:r>
              <a:rPr lang="en-US" altLang="zh-CN" sz="1800" dirty="0" smtClean="0">
                <a:solidFill>
                  <a:srgbClr val="030DCD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75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7.1.4  </a:t>
            </a:r>
            <a:r>
              <a:rPr lang="zh-CN" altLang="en-US" dirty="0" smtClean="0"/>
              <a:t>结构体数组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C00000"/>
                </a:solidFill>
              </a:rPr>
              <a:t>结构体也</a:t>
            </a:r>
            <a:r>
              <a:rPr lang="zh-CN" altLang="en-US" dirty="0">
                <a:solidFill>
                  <a:srgbClr val="C00000"/>
                </a:solidFill>
              </a:rPr>
              <a:t>可以构成数组</a:t>
            </a:r>
            <a:r>
              <a:rPr lang="zh-CN" altLang="en-US" dirty="0"/>
              <a:t>，即</a:t>
            </a:r>
            <a:r>
              <a:rPr lang="zh-CN" altLang="en-US" dirty="0">
                <a:solidFill>
                  <a:srgbClr val="030DCD"/>
                </a:solidFill>
              </a:rPr>
              <a:t>每个数组元素是一</a:t>
            </a:r>
            <a:r>
              <a:rPr lang="zh-CN" altLang="en-US" dirty="0" smtClean="0">
                <a:solidFill>
                  <a:srgbClr val="030DCD"/>
                </a:solidFill>
              </a:rPr>
              <a:t>个结构体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同其它数组元素的要求一样，一个</a:t>
            </a:r>
            <a:r>
              <a:rPr lang="zh-CN" altLang="en-US" dirty="0" smtClean="0"/>
              <a:t>结构体数组</a:t>
            </a:r>
            <a:r>
              <a:rPr lang="zh-CN" altLang="en-US" dirty="0"/>
              <a:t>中的全部元素都应该是</a:t>
            </a:r>
            <a:r>
              <a:rPr lang="zh-CN" altLang="en-US" dirty="0">
                <a:solidFill>
                  <a:srgbClr val="7030A0"/>
                </a:solidFill>
              </a:rPr>
              <a:t>同</a:t>
            </a:r>
            <a:r>
              <a:rPr lang="zh-CN" altLang="en-US" dirty="0" smtClean="0">
                <a:solidFill>
                  <a:srgbClr val="7030A0"/>
                </a:solidFill>
              </a:rPr>
              <a:t>一结构体类型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下例：同宿舍4名同学的数据，构成一个有4个元素的</a:t>
            </a:r>
            <a:r>
              <a:rPr lang="zh-CN" altLang="en-US" dirty="0" smtClean="0"/>
              <a:t>结构体数组</a:t>
            </a:r>
            <a:r>
              <a:rPr lang="zh-CN" altLang="en-US" dirty="0"/>
              <a:t>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154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zh-CN" altLang="en-US" dirty="0" smtClean="0">
                <a:solidFill>
                  <a:srgbClr val="FF0000"/>
                </a:solidFill>
              </a:rPr>
              <a:t>结构体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struct</a:t>
            </a:r>
            <a:r>
              <a:rPr lang="en-US" altLang="zh-CN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名为</a:t>
            </a:r>
            <a:r>
              <a:rPr lang="en-US" altLang="zh-CN" dirty="0">
                <a:solidFill>
                  <a:srgbClr val="006600"/>
                </a:solidFill>
              </a:rPr>
              <a:t>student</a:t>
            </a:r>
            <a:r>
              <a:rPr lang="zh-CN" altLang="en-US" dirty="0" smtClean="0">
                <a:solidFill>
                  <a:srgbClr val="006600"/>
                </a:solidFill>
              </a:rPr>
              <a:t>的结构体类型</a:t>
            </a:r>
            <a:endParaRPr lang="zh-CN" altLang="en-US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成员列表</a:t>
            </a:r>
            <a:endParaRPr lang="en-US" altLang="zh-CN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dirty="0">
                <a:solidFill>
                  <a:srgbClr val="000000"/>
                </a:solidFill>
              </a:rPr>
              <a:t>姓名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dirty="0">
                <a:solidFill>
                  <a:srgbClr val="000000"/>
                </a:solidFill>
              </a:rPr>
              <a:t>性别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unsigned  birthday;            //</a:t>
            </a:r>
            <a:r>
              <a:rPr lang="zh-CN" altLang="en-US" dirty="0">
                <a:solidFill>
                  <a:srgbClr val="000000"/>
                </a:solidFill>
              </a:rPr>
              <a:t>生日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dirty="0">
                <a:solidFill>
                  <a:srgbClr val="000000"/>
                </a:solidFill>
              </a:rPr>
              <a:t>身高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dirty="0">
                <a:solidFill>
                  <a:srgbClr val="000000"/>
                </a:solidFill>
              </a:rPr>
              <a:t>体重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}</a:t>
            </a:r>
            <a:r>
              <a:rPr lang="en-US" altLang="zh-CN" dirty="0"/>
              <a:t>;</a:t>
            </a:r>
            <a:endParaRPr lang="en-US" altLang="zh-CN" dirty="0">
              <a:solidFill>
                <a:srgbClr val="0000CC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 </a:t>
            </a:r>
            <a:endParaRPr lang="en-US" altLang="zh-CN" sz="1800" dirty="0"/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 smtClean="0">
                <a:solidFill>
                  <a:srgbClr val="FF0000"/>
                </a:solidFill>
              </a:rPr>
              <a:t>声明结构体数组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0000CC"/>
                </a:solidFill>
              </a:rPr>
              <a:t>struct</a:t>
            </a:r>
            <a:r>
              <a:rPr lang="en-US" altLang="zh-CN" dirty="0" smtClean="0">
                <a:solidFill>
                  <a:srgbClr val="0000CC"/>
                </a:solidFill>
              </a:rPr>
              <a:t> student  </a:t>
            </a:r>
            <a:r>
              <a:rPr lang="en-US" altLang="zh-CN" dirty="0">
                <a:solidFill>
                  <a:srgbClr val="0000CC"/>
                </a:solidFill>
              </a:rPr>
              <a:t>Room [ 4 ] </a:t>
            </a:r>
            <a:r>
              <a:rPr lang="zh-CN" altLang="en-US" dirty="0">
                <a:solidFill>
                  <a:srgbClr val="0000CC"/>
                </a:solidFill>
              </a:rPr>
              <a:t>；</a:t>
            </a:r>
            <a:endParaRPr lang="en-US" altLang="zh-CN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3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2140528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C00000"/>
                </a:solidFill>
              </a:rPr>
              <a:t>与普通数组一样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7030A0"/>
                </a:solidFill>
              </a:rPr>
              <a:t>结构体数组</a:t>
            </a:r>
            <a:r>
              <a:rPr lang="zh-CN" altLang="en-US" dirty="0">
                <a:solidFill>
                  <a:srgbClr val="7030A0"/>
                </a:solidFill>
              </a:rPr>
              <a:t>也可在</a:t>
            </a:r>
            <a:r>
              <a:rPr lang="zh-CN" altLang="en-US" b="1" i="1" u="sng" dirty="0">
                <a:solidFill>
                  <a:srgbClr val="030DCD"/>
                </a:solidFill>
              </a:rPr>
              <a:t>定义时</a:t>
            </a:r>
            <a:r>
              <a:rPr lang="zh-CN" altLang="en-US" dirty="0">
                <a:solidFill>
                  <a:srgbClr val="7030A0"/>
                </a:solidFill>
              </a:rPr>
              <a:t>进行</a:t>
            </a:r>
            <a:r>
              <a:rPr lang="zh-CN" altLang="en-US" b="1" i="1" u="sng" dirty="0">
                <a:solidFill>
                  <a:srgbClr val="7030A0"/>
                </a:solidFill>
              </a:rPr>
              <a:t>初始化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dirty="0"/>
              <a:t>初始化的格式为：</a:t>
            </a:r>
          </a:p>
          <a:p>
            <a:pPr marL="971550" lvl="1"/>
            <a:r>
              <a:rPr lang="zh-CN" altLang="en-US" b="1" dirty="0" smtClean="0"/>
              <a:t>结构体数组</a:t>
            </a:r>
            <a:r>
              <a:rPr lang="en-US" altLang="zh-CN" b="1" dirty="0"/>
              <a:t>[n]</a:t>
            </a:r>
            <a:r>
              <a:rPr lang="zh-CN" altLang="en-US" b="1" dirty="0"/>
              <a:t>＝</a:t>
            </a:r>
            <a:r>
              <a:rPr lang="en-US" altLang="zh-CN" b="1" dirty="0"/>
              <a:t>{{</a:t>
            </a:r>
            <a:r>
              <a:rPr lang="zh-CN" altLang="en-US" b="1" dirty="0"/>
              <a:t>初值表</a:t>
            </a:r>
            <a:r>
              <a:rPr lang="en-US" altLang="zh-CN" b="1" dirty="0"/>
              <a:t>1}</a:t>
            </a:r>
            <a:r>
              <a:rPr lang="zh-CN" altLang="en-US" b="1" dirty="0"/>
              <a:t>，</a:t>
            </a:r>
            <a:r>
              <a:rPr lang="en-US" altLang="zh-CN" b="1" dirty="0"/>
              <a:t>{</a:t>
            </a:r>
            <a:r>
              <a:rPr lang="zh-CN" altLang="en-US" b="1" dirty="0"/>
              <a:t>初值表</a:t>
            </a:r>
            <a:r>
              <a:rPr lang="en-US" altLang="zh-CN" b="1" dirty="0"/>
              <a:t>2}</a:t>
            </a:r>
            <a:r>
              <a:rPr lang="zh-CN" altLang="en-US" b="1" dirty="0"/>
              <a:t>，</a:t>
            </a:r>
            <a:r>
              <a:rPr lang="en-US" altLang="zh-CN" b="1" dirty="0"/>
              <a:t>...</a:t>
            </a:r>
            <a:r>
              <a:rPr lang="zh-CN" altLang="en-US" b="1" dirty="0"/>
              <a:t>，</a:t>
            </a:r>
            <a:r>
              <a:rPr lang="en-US" altLang="zh-CN" b="1" dirty="0"/>
              <a:t>{</a:t>
            </a:r>
            <a:r>
              <a:rPr lang="zh-CN" altLang="en-US" b="1" dirty="0"/>
              <a:t>初值表</a:t>
            </a:r>
            <a:r>
              <a:rPr lang="en-US" altLang="zh-CN" b="1" dirty="0"/>
              <a:t>n}}</a:t>
            </a:r>
          </a:p>
          <a:p>
            <a:pPr marL="971550" lvl="1"/>
            <a:r>
              <a:rPr lang="zh-CN" altLang="en-US" b="1" dirty="0"/>
              <a:t>其中，</a:t>
            </a:r>
            <a:r>
              <a:rPr lang="en-US" altLang="zh-CN" b="1" dirty="0"/>
              <a:t>{</a:t>
            </a:r>
            <a:r>
              <a:rPr lang="zh-CN" altLang="en-US" b="1" dirty="0"/>
              <a:t>初值表</a:t>
            </a:r>
            <a:r>
              <a:rPr lang="en-US" altLang="zh-CN" b="1" dirty="0"/>
              <a:t>1}</a:t>
            </a:r>
            <a:r>
              <a:rPr lang="zh-CN" altLang="en-US" b="1" dirty="0"/>
              <a:t>对第下标为</a:t>
            </a:r>
            <a:r>
              <a:rPr lang="en-US" altLang="zh-CN" b="1" dirty="0"/>
              <a:t>0</a:t>
            </a:r>
            <a:r>
              <a:rPr lang="zh-CN" altLang="en-US" b="1" dirty="0"/>
              <a:t>数组元素的多个成员赋初值；</a:t>
            </a:r>
            <a:endParaRPr lang="en-US" altLang="zh-CN" b="1" dirty="0"/>
          </a:p>
          <a:p>
            <a:pPr marL="971550" lvl="1"/>
            <a:r>
              <a:rPr lang="zh-CN" altLang="en-US" b="1" dirty="0"/>
              <a:t>其余类推。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3275590"/>
            <a:ext cx="8089900" cy="267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student  Room [ 4 ] =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     {“Li </a:t>
            </a:r>
            <a:r>
              <a:rPr lang="en-US" altLang="zh-CN" dirty="0" err="1"/>
              <a:t>li</a:t>
            </a:r>
            <a:r>
              <a:rPr lang="en-US" altLang="zh-CN" dirty="0"/>
              <a:t>”, ‘M’, 19840318, 1.82, 65.0 },         //Room[0]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     {“Xiao M”, ‘M’, 19830918, 1.75, 58.0 },   //Room[1]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     {“He lei”, ‘M’, 19841209, 1.83, 67.1 },      //Room[2]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     {“Ge li”, ‘M’, 19840101, 1.78, 59.0 }         //Room[3]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/>
              <a:t>  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621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元素的访问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for (int i=0;i&lt;4;i++)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{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("Room[i].name=</a:t>
            </a:r>
            <a:r>
              <a:rPr lang="en-US" altLang="zh-CN" dirty="0">
                <a:solidFill>
                  <a:srgbClr val="0000CC"/>
                </a:solidFill>
              </a:rPr>
              <a:t>%s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rgbClr val="C00000"/>
                </a:solidFill>
              </a:rPr>
              <a:t>Room[i].name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("Room[i].sex=</a:t>
            </a:r>
            <a:r>
              <a:rPr lang="en-US" altLang="zh-CN" dirty="0">
                <a:solidFill>
                  <a:srgbClr val="0000CC"/>
                </a:solidFill>
              </a:rPr>
              <a:t>%c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rgbClr val="C00000"/>
                </a:solidFill>
              </a:rPr>
              <a:t>Room[i].sex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("Room[i].birthday=</a:t>
            </a:r>
            <a:r>
              <a:rPr lang="en-US" altLang="zh-CN" dirty="0">
                <a:solidFill>
                  <a:srgbClr val="0000CC"/>
                </a:solidFill>
              </a:rPr>
              <a:t>%u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rgbClr val="C00000"/>
                </a:solidFill>
              </a:rPr>
              <a:t>Room[i].birthday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("Room[i].height=</a:t>
            </a:r>
            <a:r>
              <a:rPr lang="en-US" altLang="zh-CN" dirty="0">
                <a:solidFill>
                  <a:srgbClr val="0000CC"/>
                </a:solidFill>
              </a:rPr>
              <a:t>%f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rgbClr val="C00000"/>
                </a:solidFill>
              </a:rPr>
              <a:t>Room[i].height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("Room[i].weight=</a:t>
            </a:r>
            <a:r>
              <a:rPr lang="en-US" altLang="zh-CN" dirty="0">
                <a:solidFill>
                  <a:srgbClr val="0000CC"/>
                </a:solidFill>
              </a:rPr>
              <a:t>%f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rgbClr val="C00000"/>
                </a:solidFill>
              </a:rPr>
              <a:t>Room[i].weight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/>
              <a:t>   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785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例</a:t>
            </a:r>
            <a:r>
              <a:rPr lang="en-US" altLang="zh-CN" dirty="0"/>
              <a:t>—0/1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定义物品</a:t>
            </a:r>
            <a:r>
              <a:rPr lang="zh-CN" altLang="en-US" sz="2000" dirty="0" smtClean="0"/>
              <a:t>的结构体</a:t>
            </a:r>
            <a:endParaRPr lang="en-US" altLang="zh-CN" sz="20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struct GOOD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int No;            // </a:t>
            </a:r>
            <a:r>
              <a:rPr lang="zh-CN" altLang="en-US" sz="1800" dirty="0"/>
              <a:t>物品编号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float weight;  // </a:t>
            </a:r>
            <a:r>
              <a:rPr lang="zh-CN" altLang="en-US" sz="1800" dirty="0"/>
              <a:t>重量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float value;    // </a:t>
            </a:r>
            <a:r>
              <a:rPr lang="zh-CN" altLang="en-US" sz="1800" dirty="0"/>
              <a:t>价值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float pw;        // </a:t>
            </a:r>
            <a:r>
              <a:rPr lang="zh-CN" altLang="en-US" sz="1800" dirty="0"/>
              <a:t>价值重量比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 smtClean="0"/>
              <a:t>};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</a:t>
            </a:r>
            <a:r>
              <a:rPr lang="en-US" altLang="zh-CN" sz="2000" dirty="0"/>
              <a:t>n</a:t>
            </a:r>
            <a:r>
              <a:rPr lang="zh-CN" altLang="en-US" sz="2000" dirty="0"/>
              <a:t>种物品</a:t>
            </a:r>
            <a:r>
              <a:rPr lang="zh-CN" altLang="en-US" sz="2000" dirty="0" smtClean="0"/>
              <a:t>的结构体数组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struct GOOD </a:t>
            </a:r>
            <a:r>
              <a:rPr lang="en-US" altLang="zh-CN" sz="1800" dirty="0">
                <a:solidFill>
                  <a:srgbClr val="006600"/>
                </a:solidFill>
              </a:rPr>
              <a:t>goods[n];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316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例</a:t>
            </a:r>
            <a:r>
              <a:rPr lang="en-US" altLang="zh-CN" dirty="0"/>
              <a:t>—0/1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函数原型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void greedy(struct GOOD goods[],int n);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函数实现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将</a:t>
            </a:r>
            <a:r>
              <a:rPr lang="en-US" altLang="zh-CN" sz="1800" dirty="0"/>
              <a:t>n</a:t>
            </a:r>
            <a:r>
              <a:rPr lang="zh-CN" altLang="en-US" sz="1800" dirty="0"/>
              <a:t>种物品</a:t>
            </a:r>
            <a:r>
              <a:rPr lang="zh-CN" altLang="en-US" sz="1800" dirty="0" smtClean="0"/>
              <a:t>的结构体数组</a:t>
            </a:r>
            <a:r>
              <a:rPr lang="en-US" altLang="zh-CN" sz="1800" dirty="0"/>
              <a:t>goods[]</a:t>
            </a:r>
            <a:r>
              <a:rPr lang="zh-CN" altLang="en-US" sz="1800" dirty="0"/>
              <a:t>按照</a:t>
            </a:r>
            <a:r>
              <a:rPr lang="zh-CN" altLang="en-US" sz="1800" dirty="0" smtClean="0"/>
              <a:t>物品结构体中</a:t>
            </a:r>
            <a:r>
              <a:rPr lang="zh-CN" altLang="en-US" sz="1800" dirty="0"/>
              <a:t>的</a:t>
            </a:r>
            <a:r>
              <a:rPr lang="en-US" altLang="zh-CN" sz="1800" dirty="0">
                <a:solidFill>
                  <a:srgbClr val="030DCD"/>
                </a:solidFill>
              </a:rPr>
              <a:t>pw</a:t>
            </a:r>
            <a:r>
              <a:rPr lang="zh-CN" altLang="en-US" sz="1800" dirty="0">
                <a:solidFill>
                  <a:srgbClr val="030DCD"/>
                </a:solidFill>
              </a:rPr>
              <a:t>进行降序排列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</a:t>
            </a:r>
            <a:r>
              <a:rPr lang="zh-CN" altLang="zh-CN" sz="1800" dirty="0"/>
              <a:t>数组</a:t>
            </a:r>
            <a:r>
              <a:rPr lang="en-US" altLang="zh-CN" sz="1800" dirty="0"/>
              <a:t>goods[]</a:t>
            </a:r>
            <a:r>
              <a:rPr lang="zh-CN" altLang="zh-CN" sz="1800" dirty="0"/>
              <a:t>的</a:t>
            </a:r>
            <a:r>
              <a:rPr lang="zh-CN" altLang="zh-CN" sz="1800" b="1" dirty="0">
                <a:solidFill>
                  <a:srgbClr val="C00000"/>
                </a:solidFill>
              </a:rPr>
              <a:t>第一个元素</a:t>
            </a:r>
            <a:r>
              <a:rPr lang="zh-CN" altLang="en-US" sz="1800" b="1" dirty="0">
                <a:solidFill>
                  <a:srgbClr val="C00000"/>
                </a:solidFill>
              </a:rPr>
              <a:t>开始，顺序</a:t>
            </a:r>
            <a:r>
              <a:rPr lang="zh-CN" altLang="en-US" sz="1800" dirty="0"/>
              <a:t>尝试将数组元素对应的物品</a:t>
            </a:r>
            <a:r>
              <a:rPr lang="zh-CN" altLang="zh-CN" sz="1800" dirty="0"/>
              <a:t>装入背包，并</a:t>
            </a:r>
            <a:r>
              <a:rPr lang="zh-CN" altLang="en-US" sz="1800" dirty="0"/>
              <a:t>依次</a:t>
            </a:r>
            <a:r>
              <a:rPr lang="zh-CN" altLang="zh-CN" sz="1800" dirty="0"/>
              <a:t>输出装入背包的物品的</a:t>
            </a:r>
            <a:r>
              <a:rPr lang="zh-CN" altLang="en-US" sz="1800" dirty="0"/>
              <a:t>相关</a:t>
            </a:r>
            <a:r>
              <a:rPr lang="zh-CN" altLang="zh-CN" sz="1800" dirty="0"/>
              <a:t>信息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当尝试到将某个元素对应的物品</a:t>
            </a:r>
            <a:r>
              <a:rPr lang="zh-CN" altLang="zh-CN" sz="1800" dirty="0"/>
              <a:t>装入背包</a:t>
            </a:r>
            <a:r>
              <a:rPr lang="zh-CN" altLang="en-US" sz="1800" dirty="0"/>
              <a:t>后，背包中</a:t>
            </a:r>
            <a:r>
              <a:rPr lang="zh-CN" altLang="zh-CN" sz="1800" dirty="0"/>
              <a:t>物品的</a:t>
            </a:r>
            <a:r>
              <a:rPr lang="zh-CN" altLang="en-US" sz="1800" dirty="0"/>
              <a:t>总</a:t>
            </a:r>
            <a:r>
              <a:rPr lang="zh-CN" altLang="zh-CN" sz="1800" dirty="0"/>
              <a:t>重量大于背包容量</a:t>
            </a:r>
            <a:r>
              <a:rPr lang="zh-CN" altLang="en-US" sz="1800" dirty="0"/>
              <a:t>，则装包方案即为该元素之前的数组元素对应的所有物品；</a:t>
            </a:r>
            <a:endParaRPr lang="en-US" altLang="zh-CN" sz="1800" dirty="0"/>
          </a:p>
          <a:p>
            <a:pPr marL="971550" lvl="1"/>
            <a:r>
              <a:rPr lang="zh-CN" altLang="zh-CN" sz="1800" dirty="0"/>
              <a:t>最后输出装入背包中物品的总重量与总价值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endParaRPr lang="zh-CN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5251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例</a:t>
            </a:r>
            <a:r>
              <a:rPr lang="en-US" altLang="zh-CN" dirty="0"/>
              <a:t>—0/1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2056257" cy="224821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结构体数组按照某一成员排序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此处按照</a:t>
            </a:r>
            <a:r>
              <a:rPr lang="en-US" altLang="zh-CN" sz="2000" dirty="0" smtClean="0"/>
              <a:t>pw</a:t>
            </a:r>
            <a:r>
              <a:rPr lang="zh-CN" altLang="en-US" sz="2000" dirty="0" smtClean="0"/>
              <a:t>排序（升序）</a:t>
            </a:r>
            <a:endParaRPr lang="en-US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717" y="1012698"/>
            <a:ext cx="54959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8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 smtClean="0"/>
              <a:t>结构体指针（</a:t>
            </a:r>
            <a:r>
              <a:rPr lang="zh-CN" altLang="en-US" dirty="0">
                <a:solidFill>
                  <a:srgbClr val="7030A0"/>
                </a:solidFill>
              </a:rPr>
              <a:t>指向</a:t>
            </a:r>
            <a:r>
              <a:rPr lang="zh-CN" altLang="en-US" dirty="0" smtClean="0">
                <a:solidFill>
                  <a:srgbClr val="7030A0"/>
                </a:solidFill>
              </a:rPr>
              <a:t>结构体变量的</a:t>
            </a:r>
            <a:r>
              <a:rPr lang="zh-CN" altLang="en-US" dirty="0">
                <a:solidFill>
                  <a:srgbClr val="7030A0"/>
                </a:solidFill>
              </a:rPr>
              <a:t>指针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00388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DCD"/>
                </a:solidFill>
              </a:rPr>
              <a:t>类比：整型指针变量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80808"/>
                </a:solidFill>
              </a:rPr>
              <a:t>int *</a:t>
            </a: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en-US" altLang="zh-CN" sz="1600" dirty="0">
                <a:solidFill>
                  <a:srgbClr val="080808"/>
                </a:solidFill>
              </a:rPr>
              <a:t>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a,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b[10]</a:t>
            </a:r>
            <a:r>
              <a:rPr lang="zh-CN" altLang="en-US" sz="1600" dirty="0">
                <a:solidFill>
                  <a:srgbClr val="080808"/>
                </a:solidFill>
              </a:rPr>
              <a:t>；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en-US" altLang="zh-CN" sz="1600" dirty="0">
                <a:solidFill>
                  <a:srgbClr val="080808"/>
                </a:solidFill>
              </a:rPr>
              <a:t>=&amp;a;  </a:t>
            </a: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en-US" altLang="zh-CN" sz="1600" dirty="0">
                <a:solidFill>
                  <a:srgbClr val="080808"/>
                </a:solidFill>
              </a:rPr>
              <a:t>=b;   </a:t>
            </a: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en-US" altLang="zh-CN" sz="1600" dirty="0">
                <a:solidFill>
                  <a:srgbClr val="080808"/>
                </a:solidFill>
              </a:rPr>
              <a:t>=&amp;b[5];   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zh-CN" altLang="en-US" sz="1600" dirty="0">
                <a:solidFill>
                  <a:srgbClr val="080808"/>
                </a:solidFill>
              </a:rPr>
              <a:t>是一个整型指针变量，可以指向一个整型变量；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>
                <a:solidFill>
                  <a:srgbClr val="080808"/>
                </a:solidFill>
              </a:rPr>
              <a:t>ip</a:t>
            </a:r>
            <a:r>
              <a:rPr lang="zh-CN" altLang="en-US" sz="1600" dirty="0">
                <a:solidFill>
                  <a:srgbClr val="080808"/>
                </a:solidFill>
              </a:rPr>
              <a:t>的内容是内存地址，是系统为一个整型变量所分配的内存单元的首地址；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C00000"/>
                </a:solidFill>
              </a:rPr>
              <a:t>结构体指针变量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可以定义一</a:t>
            </a:r>
            <a:r>
              <a:rPr lang="zh-CN" altLang="en-US" sz="1600" dirty="0" smtClean="0"/>
              <a:t>个结构体型</a:t>
            </a:r>
            <a:r>
              <a:rPr lang="zh-CN" altLang="en-US" sz="1600" dirty="0"/>
              <a:t>指针变量，</a:t>
            </a:r>
            <a:r>
              <a:rPr lang="zh-CN" altLang="en-US" sz="1600" dirty="0">
                <a:solidFill>
                  <a:srgbClr val="0000CC"/>
                </a:solidFill>
              </a:rPr>
              <a:t>指向</a:t>
            </a:r>
            <a:r>
              <a:rPr lang="zh-CN" altLang="en-US" sz="1600" dirty="0"/>
              <a:t>一个结构体变量；</a:t>
            </a:r>
            <a:endParaRPr lang="en-US" altLang="zh-CN" sz="1600" dirty="0"/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0000CC"/>
                </a:solidFill>
              </a:rPr>
              <a:t>结构体型</a:t>
            </a:r>
            <a:r>
              <a:rPr lang="zh-CN" altLang="en-US" sz="1600" dirty="0">
                <a:solidFill>
                  <a:srgbClr val="0000CC"/>
                </a:solidFill>
              </a:rPr>
              <a:t>指针变量的值是一个内存地址，是系统为</a:t>
            </a:r>
            <a:r>
              <a:rPr lang="zh-CN" altLang="en-US" sz="1600" dirty="0">
                <a:solidFill>
                  <a:srgbClr val="030DCD"/>
                </a:solidFill>
              </a:rPr>
              <a:t>该变量所分配的内存段的起始地址</a:t>
            </a:r>
            <a:r>
              <a:rPr lang="zh-CN" altLang="en-US" sz="1600" dirty="0"/>
              <a:t>；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结构体指针变量，可以</a:t>
            </a:r>
            <a:endParaRPr lang="en-US" altLang="zh-CN" sz="1600" dirty="0"/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/>
              <a:t>指向一个</a:t>
            </a:r>
            <a:r>
              <a:rPr lang="zh-CN" altLang="en-US" sz="1400" dirty="0" smtClean="0"/>
              <a:t>结构体；</a:t>
            </a:r>
            <a:r>
              <a:rPr lang="en-US" altLang="zh-CN" sz="1400" dirty="0" smtClean="0"/>
              <a:t>//</a:t>
            </a:r>
            <a:r>
              <a:rPr lang="en-US" altLang="zh-CN" sz="1400" dirty="0" err="1" smtClean="0">
                <a:solidFill>
                  <a:srgbClr val="0070C0"/>
                </a:solidFill>
              </a:rPr>
              <a:t>struct</a:t>
            </a:r>
            <a:r>
              <a:rPr lang="en-US" altLang="zh-CN" sz="1400" dirty="0" smtClean="0">
                <a:solidFill>
                  <a:srgbClr val="0070C0"/>
                </a:solidFill>
              </a:rPr>
              <a:t> student me</a:t>
            </a:r>
            <a:r>
              <a:rPr lang="en-US" altLang="zh-CN" sz="1400" dirty="0" smtClean="0">
                <a:solidFill>
                  <a:srgbClr val="7030A0"/>
                </a:solidFill>
              </a:rPr>
              <a:t>, </a:t>
            </a:r>
            <a:r>
              <a:rPr lang="en-US" altLang="zh-CN" sz="1400" dirty="0">
                <a:solidFill>
                  <a:srgbClr val="7030A0"/>
                </a:solidFill>
              </a:rPr>
              <a:t>*</a:t>
            </a:r>
            <a:r>
              <a:rPr lang="en-US" altLang="zh-CN" sz="1400" dirty="0" err="1">
                <a:solidFill>
                  <a:srgbClr val="7030A0"/>
                </a:solidFill>
              </a:rPr>
              <a:t>sp</a:t>
            </a:r>
            <a:r>
              <a:rPr lang="en-US" altLang="zh-CN" sz="1400" dirty="0">
                <a:solidFill>
                  <a:srgbClr val="7030A0"/>
                </a:solidFill>
              </a:rPr>
              <a:t>; </a:t>
            </a:r>
            <a:r>
              <a:rPr lang="en-US" altLang="zh-CN" sz="1400" dirty="0" err="1">
                <a:solidFill>
                  <a:srgbClr val="7030A0"/>
                </a:solidFill>
              </a:rPr>
              <a:t>sp</a:t>
            </a:r>
            <a:r>
              <a:rPr lang="en-US" altLang="zh-CN" sz="1400" dirty="0" smtClean="0">
                <a:solidFill>
                  <a:srgbClr val="7030A0"/>
                </a:solidFill>
              </a:rPr>
              <a:t>=&amp;me;</a:t>
            </a:r>
            <a:endParaRPr lang="en-US" altLang="zh-CN" sz="1400" dirty="0">
              <a:solidFill>
                <a:srgbClr val="7030A0"/>
              </a:solidFill>
            </a:endParaRPr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/>
              <a:t>指向一个</a:t>
            </a:r>
            <a:r>
              <a:rPr lang="zh-CN" altLang="en-US" sz="1400" dirty="0" smtClean="0">
                <a:solidFill>
                  <a:srgbClr val="006600"/>
                </a:solidFill>
              </a:rPr>
              <a:t>结构体数组</a:t>
            </a:r>
            <a:r>
              <a:rPr lang="zh-CN" altLang="en-US" sz="1400" dirty="0">
                <a:solidFill>
                  <a:srgbClr val="006600"/>
                </a:solidFill>
              </a:rPr>
              <a:t>的首元素</a:t>
            </a:r>
            <a:r>
              <a:rPr lang="zh-CN" altLang="en-US" sz="1400" dirty="0"/>
              <a:t>； </a:t>
            </a:r>
            <a:r>
              <a:rPr lang="en-US" altLang="zh-CN" sz="1400" dirty="0" smtClean="0"/>
              <a:t>//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student </a:t>
            </a:r>
            <a:r>
              <a:rPr lang="en-US" altLang="zh-CN" sz="1400" dirty="0"/>
              <a:t>people[10], *</a:t>
            </a:r>
            <a:r>
              <a:rPr lang="en-US" altLang="zh-CN" sz="1400" dirty="0" err="1"/>
              <a:t>sp</a:t>
            </a:r>
            <a:r>
              <a:rPr lang="en-US" altLang="zh-CN" sz="1400" dirty="0"/>
              <a:t>; </a:t>
            </a:r>
            <a:r>
              <a:rPr lang="en-US" altLang="zh-CN" sz="1400" dirty="0" err="1"/>
              <a:t>sp</a:t>
            </a:r>
            <a:r>
              <a:rPr lang="en-US" altLang="zh-CN" sz="1400" dirty="0"/>
              <a:t>=people;</a:t>
            </a:r>
          </a:p>
          <a:p>
            <a:pPr marL="1143000" lvl="2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/>
              <a:t>指向一个</a:t>
            </a:r>
            <a:r>
              <a:rPr lang="zh-CN" altLang="en-US" sz="1400" dirty="0" smtClean="0">
                <a:solidFill>
                  <a:srgbClr val="006600"/>
                </a:solidFill>
              </a:rPr>
              <a:t>结构体数组</a:t>
            </a:r>
            <a:r>
              <a:rPr lang="zh-CN" altLang="en-US" sz="1400" dirty="0">
                <a:solidFill>
                  <a:srgbClr val="006600"/>
                </a:solidFill>
              </a:rPr>
              <a:t>元素</a:t>
            </a:r>
            <a:r>
              <a:rPr lang="zh-CN" altLang="en-US" sz="1400" dirty="0"/>
              <a:t>； </a:t>
            </a:r>
            <a:r>
              <a:rPr lang="en-US" altLang="zh-CN" sz="1400" dirty="0" smtClean="0"/>
              <a:t>//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student </a:t>
            </a:r>
            <a:r>
              <a:rPr lang="en-US" altLang="zh-CN" sz="1400" dirty="0"/>
              <a:t>people[10], *</a:t>
            </a:r>
            <a:r>
              <a:rPr lang="en-US" altLang="zh-CN" sz="1400" dirty="0" err="1"/>
              <a:t>sp</a:t>
            </a:r>
            <a:r>
              <a:rPr lang="en-US" altLang="zh-CN" sz="1400" dirty="0"/>
              <a:t>; </a:t>
            </a:r>
            <a:r>
              <a:rPr lang="en-US" altLang="zh-CN" sz="1400" dirty="0" err="1"/>
              <a:t>sp</a:t>
            </a:r>
            <a:r>
              <a:rPr lang="en-US" altLang="zh-CN" sz="1400" dirty="0"/>
              <a:t>=&amp;people[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];</a:t>
            </a: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C00000"/>
                </a:solidFill>
              </a:rPr>
              <a:t>一言以蔽之，结构体指针与其它类型的指针使用方法相同；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2191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</a:t>
            </a:r>
            <a:r>
              <a:rPr lang="zh-CN" altLang="en-US" dirty="0" smtClean="0">
                <a:solidFill>
                  <a:srgbClr val="7030A0"/>
                </a:solidFill>
              </a:rPr>
              <a:t>结构体变量</a:t>
            </a:r>
            <a:r>
              <a:rPr lang="zh-CN" altLang="en-US" dirty="0">
                <a:solidFill>
                  <a:srgbClr val="7030A0"/>
                </a:solidFill>
              </a:rPr>
              <a:t>的</a:t>
            </a:r>
            <a:r>
              <a:rPr lang="zh-CN" altLang="en-US" dirty="0"/>
              <a:t>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定义结构体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struct</a:t>
            </a:r>
            <a:r>
              <a:rPr lang="en-US" altLang="zh-CN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名为</a:t>
            </a:r>
            <a:r>
              <a:rPr lang="en-US" altLang="zh-CN" dirty="0">
                <a:solidFill>
                  <a:srgbClr val="006600"/>
                </a:solidFill>
              </a:rPr>
              <a:t>student</a:t>
            </a:r>
            <a:r>
              <a:rPr lang="zh-CN" altLang="en-US" dirty="0" smtClean="0">
                <a:solidFill>
                  <a:srgbClr val="006600"/>
                </a:solidFill>
              </a:rPr>
              <a:t>的结构体类型</a:t>
            </a:r>
            <a:endParaRPr lang="zh-CN" altLang="en-US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成员列表</a:t>
            </a:r>
            <a:endParaRPr lang="en-US" altLang="zh-CN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dirty="0">
                <a:solidFill>
                  <a:srgbClr val="000000"/>
                </a:solidFill>
              </a:rPr>
              <a:t>姓名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dirty="0">
                <a:solidFill>
                  <a:srgbClr val="000000"/>
                </a:solidFill>
              </a:rPr>
              <a:t>性别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unsigned birthday;             //</a:t>
            </a:r>
            <a:r>
              <a:rPr lang="zh-CN" altLang="en-US" dirty="0">
                <a:solidFill>
                  <a:srgbClr val="000000"/>
                </a:solidFill>
              </a:rPr>
              <a:t>生日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dirty="0">
                <a:solidFill>
                  <a:srgbClr val="000000"/>
                </a:solidFill>
              </a:rPr>
              <a:t>身高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dirty="0">
                <a:solidFill>
                  <a:srgbClr val="000000"/>
                </a:solidFill>
              </a:rPr>
              <a:t>体重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}</a:t>
            </a:r>
            <a:r>
              <a:rPr lang="en-US" altLang="zh-CN" dirty="0"/>
              <a:t>;</a:t>
            </a:r>
            <a:endParaRPr lang="en-US" altLang="zh-CN" dirty="0">
              <a:solidFill>
                <a:srgbClr val="0000CC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 </a:t>
            </a:r>
            <a:endParaRPr lang="en-US" altLang="zh-CN" sz="1800" dirty="0"/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srgbClr val="7030A0"/>
                </a:solidFill>
              </a:rPr>
              <a:t>struct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</a:rPr>
              <a:t>student  me </a:t>
            </a:r>
            <a:r>
              <a:rPr lang="en-US" altLang="zh-CN" dirty="0">
                <a:solidFill>
                  <a:srgbClr val="0000CC"/>
                </a:solidFill>
              </a:rPr>
              <a:t>;          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 smtClean="0">
                <a:solidFill>
                  <a:srgbClr val="006600"/>
                </a:solidFill>
              </a:rPr>
              <a:t>声明结构体变量</a:t>
            </a:r>
            <a:r>
              <a:rPr lang="en-US" altLang="zh-CN" dirty="0" smtClean="0">
                <a:solidFill>
                  <a:srgbClr val="006600"/>
                </a:solidFill>
              </a:rPr>
              <a:t>me;</a:t>
            </a:r>
            <a:endParaRPr lang="en-US" altLang="zh-CN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srgbClr val="7030A0"/>
                </a:solidFill>
              </a:rPr>
              <a:t>struct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student </a:t>
            </a:r>
            <a:r>
              <a:rPr lang="en-US" altLang="zh-CN" dirty="0">
                <a:solidFill>
                  <a:srgbClr val="C00000"/>
                </a:solidFill>
              </a:rPr>
              <a:t>*</a:t>
            </a:r>
            <a:r>
              <a:rPr lang="en-US" altLang="zh-CN" dirty="0" err="1">
                <a:solidFill>
                  <a:srgbClr val="C000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 =NULL</a:t>
            </a:r>
            <a:r>
              <a:rPr lang="en-US" altLang="zh-CN" dirty="0">
                <a:solidFill>
                  <a:srgbClr val="0000CC"/>
                </a:solidFill>
              </a:rPr>
              <a:t>;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 smtClean="0">
                <a:solidFill>
                  <a:srgbClr val="006600"/>
                </a:solidFill>
              </a:rPr>
              <a:t>声明结构体指针 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en-US" altLang="zh-CN" dirty="0">
                <a:solidFill>
                  <a:srgbClr val="006600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srgbClr val="C00000"/>
                </a:solidFill>
              </a:rPr>
              <a:t>sp</a:t>
            </a:r>
            <a:r>
              <a:rPr lang="en-US" altLang="zh-CN" dirty="0" smtClean="0">
                <a:solidFill>
                  <a:srgbClr val="C00000"/>
                </a:solidFill>
              </a:rPr>
              <a:t>=&amp;me;      </a:t>
            </a:r>
            <a:r>
              <a:rPr lang="en-US" altLang="zh-CN" dirty="0" smtClean="0">
                <a:solidFill>
                  <a:srgbClr val="006600"/>
                </a:solidFill>
              </a:rPr>
              <a:t>//</a:t>
            </a:r>
            <a:r>
              <a:rPr lang="zh-CN" altLang="en-US" dirty="0" smtClean="0">
                <a:solidFill>
                  <a:srgbClr val="006600"/>
                </a:solidFill>
              </a:rPr>
              <a:t>结构体指针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zh-CN" altLang="en-US" dirty="0" smtClean="0">
                <a:solidFill>
                  <a:srgbClr val="006600"/>
                </a:solidFill>
              </a:rPr>
              <a:t>指向结构体变量</a:t>
            </a:r>
            <a:r>
              <a:rPr lang="en-US" altLang="zh-CN" dirty="0" smtClean="0">
                <a:solidFill>
                  <a:srgbClr val="006600"/>
                </a:solidFill>
              </a:rPr>
              <a:t>me</a:t>
            </a:r>
            <a:r>
              <a:rPr lang="zh-CN" altLang="en-US" dirty="0" smtClean="0">
                <a:solidFill>
                  <a:srgbClr val="006600"/>
                </a:solidFill>
              </a:rPr>
              <a:t>内存</a:t>
            </a:r>
            <a:r>
              <a:rPr lang="zh-CN" altLang="en-US" dirty="0">
                <a:solidFill>
                  <a:srgbClr val="006600"/>
                </a:solidFill>
              </a:rPr>
              <a:t>段的起始地址</a:t>
            </a:r>
            <a:r>
              <a:rPr lang="en-US" altLang="zh-CN" dirty="0">
                <a:solidFill>
                  <a:srgbClr val="006600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b="1" i="1" u="sng" dirty="0" smtClean="0">
                <a:solidFill>
                  <a:srgbClr val="030DCD"/>
                </a:solidFill>
              </a:rPr>
              <a:t>结构体指针</a:t>
            </a:r>
            <a:r>
              <a:rPr lang="zh-CN" altLang="en-US" b="1" i="1" u="sng" dirty="0">
                <a:solidFill>
                  <a:srgbClr val="030DCD"/>
                </a:solidFill>
              </a:rPr>
              <a:t>可以用来作为</a:t>
            </a:r>
            <a:r>
              <a:rPr lang="zh-CN" altLang="en-US" b="1" i="1" u="sng" dirty="0">
                <a:solidFill>
                  <a:srgbClr val="7030A0"/>
                </a:solidFill>
              </a:rPr>
              <a:t>函数的参数传递</a:t>
            </a:r>
            <a:r>
              <a:rPr lang="zh-CN" altLang="en-US" b="1" i="1" u="sng" dirty="0">
                <a:solidFill>
                  <a:srgbClr val="030DCD"/>
                </a:solidFill>
              </a:rPr>
              <a:t>，也用来</a:t>
            </a:r>
            <a:r>
              <a:rPr lang="zh-CN" altLang="en-US" b="1" i="1" u="sng" dirty="0">
                <a:solidFill>
                  <a:srgbClr val="7030A0"/>
                </a:solidFill>
              </a:rPr>
              <a:t>构成链表</a:t>
            </a:r>
            <a:r>
              <a:rPr lang="zh-CN" altLang="en-US" b="1" i="1" u="sng" dirty="0">
                <a:solidFill>
                  <a:srgbClr val="030DCD"/>
                </a:solidFill>
              </a:rPr>
              <a:t>；</a:t>
            </a:r>
            <a:endParaRPr lang="en-US" altLang="zh-CN" b="1" i="1" u="sng" dirty="0">
              <a:solidFill>
                <a:srgbClr val="030DCD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40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030DCD"/>
                </a:solidFill>
              </a:rPr>
              <a:t>结构体指针</a:t>
            </a:r>
            <a:r>
              <a:rPr lang="zh-CN" altLang="en-US" dirty="0" smtClean="0"/>
              <a:t>访问结构体成员</a:t>
            </a:r>
            <a:r>
              <a:rPr lang="zh-CN" altLang="en-US" dirty="0"/>
              <a:t>变量</a:t>
            </a:r>
            <a:r>
              <a:rPr lang="zh-CN" altLang="en-US" dirty="0">
                <a:solidFill>
                  <a:srgbClr val="0000CC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-&gt; </a:t>
            </a:r>
            <a:r>
              <a:rPr lang="zh-CN" altLang="en-US" dirty="0">
                <a:latin typeface="+mn-ea"/>
                <a:ea typeface="+mn-ea"/>
              </a:rPr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566785" cy="137731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FF0000"/>
                </a:solidFill>
              </a:rPr>
              <a:t>struct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0000CC"/>
                </a:solidFill>
              </a:rPr>
              <a:t>student </a:t>
            </a:r>
            <a:r>
              <a:rPr lang="en-US" altLang="zh-CN" sz="2000" dirty="0">
                <a:solidFill>
                  <a:srgbClr val="7030A0"/>
                </a:solidFill>
              </a:rPr>
              <a:t>*</a:t>
            </a:r>
            <a:r>
              <a:rPr lang="en-US" altLang="zh-CN" sz="2000" dirty="0" err="1">
                <a:solidFill>
                  <a:srgbClr val="7030A0"/>
                </a:solidFill>
              </a:rPr>
              <a:t>sp</a:t>
            </a:r>
            <a:r>
              <a:rPr lang="en-US" altLang="zh-CN" sz="2000" dirty="0" smtClean="0">
                <a:solidFill>
                  <a:srgbClr val="7030A0"/>
                </a:solidFill>
              </a:rPr>
              <a:t>=&amp;me</a:t>
            </a:r>
            <a:r>
              <a:rPr lang="en-US" altLang="zh-CN" sz="2000" dirty="0" smtClean="0">
                <a:solidFill>
                  <a:srgbClr val="0000CC"/>
                </a:solidFill>
              </a:rPr>
              <a:t>;  </a:t>
            </a:r>
            <a:r>
              <a:rPr lang="en-US" altLang="zh-CN" sz="2000" dirty="0" smtClean="0">
                <a:solidFill>
                  <a:srgbClr val="006600"/>
                </a:solidFill>
              </a:rPr>
              <a:t>//</a:t>
            </a:r>
            <a:r>
              <a:rPr lang="zh-CN" altLang="en-US" sz="2000" dirty="0" smtClean="0">
                <a:solidFill>
                  <a:srgbClr val="006600"/>
                </a:solidFill>
              </a:rPr>
              <a:t>结构体指针</a:t>
            </a:r>
            <a:r>
              <a:rPr lang="en-US" altLang="zh-CN" sz="2000" dirty="0" err="1">
                <a:solidFill>
                  <a:srgbClr val="006600"/>
                </a:solidFill>
              </a:rPr>
              <a:t>sp</a:t>
            </a:r>
            <a:r>
              <a:rPr lang="zh-CN" altLang="en-US" sz="2000" dirty="0" smtClean="0">
                <a:solidFill>
                  <a:srgbClr val="006600"/>
                </a:solidFill>
              </a:rPr>
              <a:t>指向结构体变量</a:t>
            </a:r>
            <a:r>
              <a:rPr lang="en-US" altLang="zh-CN" sz="2000" dirty="0" smtClean="0">
                <a:solidFill>
                  <a:srgbClr val="006600"/>
                </a:solidFill>
              </a:rPr>
              <a:t>me</a:t>
            </a:r>
            <a:r>
              <a:rPr lang="zh-CN" altLang="en-US" sz="2000" dirty="0" smtClean="0">
                <a:solidFill>
                  <a:srgbClr val="006600"/>
                </a:solidFill>
              </a:rPr>
              <a:t>内存</a:t>
            </a:r>
            <a:r>
              <a:rPr lang="zh-CN" altLang="en-US" sz="2000" dirty="0">
                <a:solidFill>
                  <a:srgbClr val="006600"/>
                </a:solidFill>
              </a:rPr>
              <a:t>的起始地址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00"/>
                </a:solidFill>
              </a:rPr>
              <a:t>通过结构体变量指针引用结构体成员</a:t>
            </a:r>
            <a:endParaRPr lang="en-US" altLang="zh-CN" sz="2000" dirty="0" smtClean="0">
              <a:solidFill>
                <a:srgbClr val="000000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00000"/>
                </a:solidFill>
              </a:rPr>
              <a:t>char </a:t>
            </a:r>
            <a:r>
              <a:rPr lang="en-US" altLang="zh-CN" sz="1800" dirty="0" err="1" smtClean="0">
                <a:solidFill>
                  <a:srgbClr val="000000"/>
                </a:solidFill>
              </a:rPr>
              <a:t>meName</a:t>
            </a:r>
            <a:r>
              <a:rPr lang="en-US" altLang="zh-CN" sz="1800" dirty="0" smtClean="0">
                <a:solidFill>
                  <a:srgbClr val="000000"/>
                </a:solidFill>
              </a:rPr>
              <a:t>[20</a:t>
            </a:r>
            <a:r>
              <a:rPr lang="en-US" altLang="zh-CN" sz="1800" dirty="0">
                <a:solidFill>
                  <a:srgbClr val="000000"/>
                </a:solidFill>
              </a:rPr>
              <a:t>]=</a:t>
            </a:r>
            <a:r>
              <a:rPr lang="en-US" altLang="zh-CN" sz="1800" dirty="0" err="1">
                <a:solidFill>
                  <a:srgbClr val="C00000"/>
                </a:solidFill>
              </a:rPr>
              <a:t>sp</a:t>
            </a:r>
            <a:r>
              <a:rPr lang="en-US" altLang="zh-CN" sz="1800" dirty="0">
                <a:solidFill>
                  <a:srgbClr val="0000CC"/>
                </a:solidFill>
              </a:rPr>
              <a:t>-&gt;</a:t>
            </a:r>
            <a:r>
              <a:rPr lang="en-US" altLang="zh-CN" sz="1800" dirty="0">
                <a:solidFill>
                  <a:srgbClr val="C00000"/>
                </a:solidFill>
              </a:rPr>
              <a:t>name</a:t>
            </a:r>
            <a:r>
              <a:rPr lang="en-US" altLang="zh-CN" sz="1800" dirty="0">
                <a:solidFill>
                  <a:srgbClr val="000000"/>
                </a:solidFill>
              </a:rPr>
              <a:t>;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4350" y="2663301"/>
            <a:ext cx="8089900" cy="377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for (int i=0;i&lt;4;i++)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{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("name=</a:t>
            </a:r>
            <a:r>
              <a:rPr lang="en-US" altLang="zh-CN" dirty="0">
                <a:solidFill>
                  <a:srgbClr val="0000CC"/>
                </a:solidFill>
              </a:rPr>
              <a:t>%s</a:t>
            </a:r>
            <a:r>
              <a:rPr lang="en-US" altLang="zh-CN" dirty="0"/>
              <a:t>\n", </a:t>
            </a:r>
            <a:r>
              <a:rPr lang="en-US" altLang="zh-CN" dirty="0" err="1">
                <a:solidFill>
                  <a:srgbClr val="C000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-&gt;name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("sex=</a:t>
            </a:r>
            <a:r>
              <a:rPr lang="en-US" altLang="zh-CN" dirty="0">
                <a:solidFill>
                  <a:srgbClr val="0000CC"/>
                </a:solidFill>
              </a:rPr>
              <a:t>%c</a:t>
            </a:r>
            <a:r>
              <a:rPr lang="en-US" altLang="zh-CN" dirty="0"/>
              <a:t>\n", 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-&gt;</a:t>
            </a:r>
            <a:r>
              <a:rPr lang="en-US" altLang="zh-CN" dirty="0">
                <a:solidFill>
                  <a:srgbClr val="006600"/>
                </a:solidFill>
              </a:rPr>
              <a:t>sex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("birthday=</a:t>
            </a:r>
            <a:r>
              <a:rPr lang="en-US" altLang="zh-CN" dirty="0">
                <a:solidFill>
                  <a:srgbClr val="0000CC"/>
                </a:solidFill>
              </a:rPr>
              <a:t>%u</a:t>
            </a:r>
            <a:r>
              <a:rPr lang="en-US" altLang="zh-CN" dirty="0"/>
              <a:t>\n", 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-&gt;</a:t>
            </a:r>
            <a:r>
              <a:rPr lang="en-US" altLang="zh-CN" dirty="0">
                <a:solidFill>
                  <a:srgbClr val="006600"/>
                </a:solidFill>
              </a:rPr>
              <a:t>birthday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("height=</a:t>
            </a:r>
            <a:r>
              <a:rPr lang="en-US" altLang="zh-CN" dirty="0">
                <a:solidFill>
                  <a:srgbClr val="0000CC"/>
                </a:solidFill>
              </a:rPr>
              <a:t>%f</a:t>
            </a:r>
            <a:r>
              <a:rPr lang="en-US" altLang="zh-CN" dirty="0"/>
              <a:t>\n", 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-&gt;</a:t>
            </a:r>
            <a:r>
              <a:rPr lang="en-US" altLang="zh-CN" dirty="0">
                <a:solidFill>
                  <a:srgbClr val="006600"/>
                </a:solidFill>
              </a:rPr>
              <a:t>height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("weight=</a:t>
            </a:r>
            <a:r>
              <a:rPr lang="en-US" altLang="zh-CN" dirty="0">
                <a:solidFill>
                  <a:srgbClr val="0000CC"/>
                </a:solidFill>
              </a:rPr>
              <a:t>%f</a:t>
            </a:r>
            <a:r>
              <a:rPr lang="en-US" altLang="zh-CN" dirty="0"/>
              <a:t>\n", </a:t>
            </a:r>
            <a:r>
              <a:rPr lang="en-US" altLang="zh-CN" dirty="0" err="1">
                <a:solidFill>
                  <a:srgbClr val="006600"/>
                </a:solidFill>
              </a:rPr>
              <a:t>sp</a:t>
            </a:r>
            <a:r>
              <a:rPr lang="en-US" altLang="zh-CN" dirty="0">
                <a:solidFill>
                  <a:srgbClr val="C00000"/>
                </a:solidFill>
              </a:rPr>
              <a:t>-&gt;</a:t>
            </a:r>
            <a:r>
              <a:rPr lang="en-US" altLang="zh-CN" dirty="0">
                <a:solidFill>
                  <a:srgbClr val="006600"/>
                </a:solidFill>
              </a:rPr>
              <a:t>weight</a:t>
            </a:r>
            <a:r>
              <a:rPr lang="en-US" altLang="zh-CN" dirty="0"/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037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96106" y="290254"/>
            <a:ext cx="614431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点、</a:t>
            </a:r>
            <a:r>
              <a:rPr lang="en-US" altLang="zh-CN" sz="3200" b="1" dirty="0" smtClean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-&gt;</a:t>
            </a:r>
            <a:r>
              <a:rPr lang="zh-CN" altLang="en-US" sz="3200" b="1" dirty="0" smtClean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操作</a:t>
            </a:r>
            <a:r>
              <a:rPr lang="zh-CN" altLang="en-US" sz="3200" b="1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（运算）符的优先级</a:t>
            </a:r>
            <a:r>
              <a:rPr lang="zh-CN" altLang="en-US" sz="3200" b="1" dirty="0">
                <a:solidFill>
                  <a:srgbClr val="4DFFD0"/>
                </a:solidFill>
                <a:latin typeface="Arial" charset="0"/>
                <a:ea typeface="黑体" pitchFamily="2" charset="-122"/>
              </a:rPr>
              <a:t>：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496157" y="1463675"/>
            <a:ext cx="796822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</a:rPr>
              <a:t>初等运算符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	</a:t>
            </a:r>
            <a:r>
              <a:rPr lang="zh-CN" altLang="en-US" sz="2000" dirty="0">
                <a:solidFill>
                  <a:srgbClr val="006600"/>
                </a:solidFill>
                <a:latin typeface="+mn-lt"/>
                <a:ea typeface="+mn-ea"/>
              </a:rPr>
              <a:t>   </a:t>
            </a:r>
            <a:r>
              <a:rPr lang="en-US" altLang="zh-CN" sz="2000" dirty="0">
                <a:solidFill>
                  <a:srgbClr val="006600"/>
                </a:solidFill>
                <a:latin typeface="+mn-lt"/>
                <a:ea typeface="+mn-ea"/>
              </a:rPr>
              <a:t>[  ]</a:t>
            </a:r>
            <a:r>
              <a:rPr lang="zh-CN" altLang="en-US" sz="2000" dirty="0">
                <a:solidFill>
                  <a:srgbClr val="006600"/>
                </a:solidFill>
                <a:latin typeface="+mn-lt"/>
                <a:ea typeface="+mn-ea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(  )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+mn-lt"/>
                <a:ea typeface="+mn-ea"/>
              </a:rPr>
              <a:t>•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+mn-ea"/>
                <a:sym typeface="Symbol" pitchFamily="18" charset="2"/>
              </a:rPr>
              <a:t>-&gt;</a:t>
            </a:r>
            <a:endParaRPr lang="en-US" altLang="zh-CN" sz="2000" dirty="0">
              <a:solidFill>
                <a:srgbClr val="C00000"/>
              </a:solidFill>
              <a:latin typeface="+mn-lt"/>
              <a:ea typeface="+mn-ea"/>
              <a:sym typeface="Symbol" pitchFamily="18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单目运算符	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    ！、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 +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 –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*(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指针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&amp;(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地址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类型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算术运算符	   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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/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%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关系运算符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&lt;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&gt;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&lt;=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&gt;=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= =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! =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逻辑运算符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&amp;&amp;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¦¦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条件运算符	 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?  :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赋值运算符	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itchFamily="18" charset="2"/>
              </a:rPr>
              <a:t>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/=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%=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+=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、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–=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</a:rPr>
              <a:t>逗号运算符	  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V="1">
            <a:off x="2067355" y="1537816"/>
            <a:ext cx="0" cy="3377761"/>
          </a:xfrm>
          <a:prstGeom prst="line">
            <a:avLst/>
          </a:prstGeom>
          <a:noFill/>
          <a:ln w="57150">
            <a:solidFill>
              <a:srgbClr val="0303D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z="240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069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三</a:t>
            </a:r>
            <a:r>
              <a:rPr lang="zh-CN" altLang="en-US" dirty="0">
                <a:solidFill>
                  <a:srgbClr val="7030A0"/>
                </a:solidFill>
              </a:rPr>
              <a:t>种</a:t>
            </a:r>
            <a:r>
              <a:rPr lang="zh-CN" altLang="en-US" dirty="0"/>
              <a:t>访问结构体成员变量的</a:t>
            </a:r>
            <a:r>
              <a:rPr lang="zh-CN" altLang="en-US" dirty="0">
                <a:solidFill>
                  <a:srgbClr val="7030A0"/>
                </a:solidFill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若按如下方式</a:t>
            </a:r>
            <a:r>
              <a:rPr lang="zh-CN" altLang="en-US" sz="2000" dirty="0" smtClean="0"/>
              <a:t>声明结构体变量与结构体指针</a:t>
            </a:r>
            <a:endParaRPr lang="en-US" altLang="zh-CN" sz="20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00CC"/>
                </a:solidFill>
              </a:rPr>
              <a:t> student  </a:t>
            </a:r>
            <a:r>
              <a:rPr lang="en-US" altLang="zh-CN" sz="1800" dirty="0" smtClean="0">
                <a:solidFill>
                  <a:srgbClr val="0000CC"/>
                </a:solidFill>
              </a:rPr>
              <a:t>me </a:t>
            </a:r>
            <a:r>
              <a:rPr lang="en-US" altLang="zh-CN" sz="1800" dirty="0">
                <a:solidFill>
                  <a:srgbClr val="0000CC"/>
                </a:solidFill>
              </a:rPr>
              <a:t>;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00CC"/>
                </a:solidFill>
              </a:rPr>
              <a:t> student *</a:t>
            </a:r>
            <a:r>
              <a:rPr lang="en-US" altLang="zh-CN" sz="1800" dirty="0" err="1">
                <a:solidFill>
                  <a:srgbClr val="0000CC"/>
                </a:solidFill>
              </a:rPr>
              <a:t>sp</a:t>
            </a:r>
            <a:r>
              <a:rPr lang="en-US" altLang="zh-CN" sz="1800" dirty="0" smtClean="0">
                <a:solidFill>
                  <a:srgbClr val="0000CC"/>
                </a:solidFill>
              </a:rPr>
              <a:t>=&amp;me; 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下述三种</a:t>
            </a:r>
            <a:r>
              <a:rPr lang="zh-CN" altLang="en-US" sz="2000" dirty="0" smtClean="0">
                <a:solidFill>
                  <a:srgbClr val="7030A0"/>
                </a:solidFill>
              </a:rPr>
              <a:t>访问结构体成员</a:t>
            </a:r>
            <a:r>
              <a:rPr lang="zh-CN" altLang="en-US" sz="2000" dirty="0">
                <a:solidFill>
                  <a:srgbClr val="7030A0"/>
                </a:solidFill>
              </a:rPr>
              <a:t>变量的方法是等价的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 smtClean="0"/>
              <a:t>me.</a:t>
            </a:r>
            <a:r>
              <a:rPr lang="zh-CN" altLang="en-US" sz="1800" dirty="0"/>
              <a:t>成员；</a:t>
            </a:r>
            <a:endParaRPr lang="en-US" altLang="zh-CN" sz="18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sp</a:t>
            </a:r>
            <a:r>
              <a:rPr lang="en-US" altLang="zh-CN" sz="1800" dirty="0">
                <a:solidFill>
                  <a:srgbClr val="030DCD"/>
                </a:solidFill>
              </a:rPr>
              <a:t>-&gt;</a:t>
            </a:r>
            <a:r>
              <a:rPr lang="zh-CN" altLang="en-US" sz="1800" dirty="0">
                <a:solidFill>
                  <a:srgbClr val="030DCD"/>
                </a:solidFill>
              </a:rPr>
              <a:t>成员；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(*</a:t>
            </a:r>
            <a:r>
              <a:rPr lang="en-US" altLang="zh-CN" sz="1800" dirty="0" err="1">
                <a:solidFill>
                  <a:srgbClr val="C00000"/>
                </a:solidFill>
              </a:rPr>
              <a:t>sp</a:t>
            </a:r>
            <a:r>
              <a:rPr lang="en-US" altLang="zh-CN" sz="1800" dirty="0">
                <a:solidFill>
                  <a:srgbClr val="C00000"/>
                </a:solidFill>
              </a:rPr>
              <a:t>).</a:t>
            </a:r>
            <a:r>
              <a:rPr lang="zh-CN" altLang="en-US" sz="1800" dirty="0">
                <a:solidFill>
                  <a:srgbClr val="C00000"/>
                </a:solidFill>
              </a:rPr>
              <a:t>成员</a:t>
            </a:r>
            <a:r>
              <a:rPr lang="en-US" altLang="zh-CN" sz="1800" dirty="0"/>
              <a:t>;   // </a:t>
            </a:r>
            <a:r>
              <a:rPr lang="zh-CN" altLang="en-US" sz="1800" dirty="0"/>
              <a:t>根据指针变量中</a:t>
            </a:r>
            <a:r>
              <a:rPr lang="en-US" altLang="zh-CN" sz="1800" dirty="0"/>
              <a:t>*</a:t>
            </a:r>
            <a:r>
              <a:rPr lang="zh-CN" altLang="en-US" sz="1800" dirty="0"/>
              <a:t>运算符的语义，</a:t>
            </a:r>
            <a:endParaRPr lang="en-US" altLang="zh-CN" sz="18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                     //  </a:t>
            </a:r>
            <a:r>
              <a:rPr lang="en-US" altLang="zh-CN" sz="1800" dirty="0" err="1"/>
              <a:t>sp</a:t>
            </a:r>
            <a:r>
              <a:rPr lang="zh-CN" altLang="en-US" sz="1800" dirty="0"/>
              <a:t>是一个指向</a:t>
            </a:r>
            <a:r>
              <a:rPr lang="zh-CN" altLang="en-US" sz="1800" dirty="0" smtClean="0"/>
              <a:t>结构体的</a:t>
            </a:r>
            <a:r>
              <a:rPr lang="zh-CN" altLang="en-US" sz="1800" dirty="0"/>
              <a:t>指针；</a:t>
            </a:r>
            <a:endParaRPr lang="en-US" altLang="zh-CN" sz="18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                     //</a:t>
            </a:r>
            <a:r>
              <a:rPr lang="zh-CN" altLang="en-US" sz="1800" dirty="0"/>
              <a:t> </a:t>
            </a:r>
            <a:r>
              <a:rPr lang="en-US" altLang="zh-CN" sz="1800" dirty="0"/>
              <a:t> (*</a:t>
            </a:r>
            <a:r>
              <a:rPr lang="en-US" altLang="zh-CN" sz="1800" dirty="0" err="1"/>
              <a:t>sp</a:t>
            </a:r>
            <a:r>
              <a:rPr lang="en-US" altLang="zh-CN" sz="1800" dirty="0"/>
              <a:t>)</a:t>
            </a:r>
            <a:r>
              <a:rPr lang="zh-CN" altLang="en-US" sz="1800" dirty="0"/>
              <a:t>是一个</a:t>
            </a:r>
            <a:r>
              <a:rPr lang="zh-CN" altLang="en-US" sz="1800" dirty="0" smtClean="0"/>
              <a:t>结构体，</a:t>
            </a:r>
            <a:r>
              <a:rPr lang="en-US" altLang="zh-CN" sz="1800" dirty="0"/>
              <a:t>(*</a:t>
            </a:r>
            <a:r>
              <a:rPr lang="en-US" altLang="zh-CN" sz="1800" dirty="0" err="1"/>
              <a:t>sp</a:t>
            </a:r>
            <a:r>
              <a:rPr lang="en-US" altLang="zh-CN" sz="1800" dirty="0"/>
              <a:t>)</a:t>
            </a:r>
            <a:r>
              <a:rPr lang="zh-CN" altLang="en-US" sz="1800" dirty="0"/>
              <a:t>与</a:t>
            </a:r>
            <a:r>
              <a:rPr lang="zh-CN" altLang="en-US" sz="1800" dirty="0" smtClean="0"/>
              <a:t>结构体</a:t>
            </a:r>
            <a:r>
              <a:rPr lang="en-US" altLang="zh-CN" sz="1800" dirty="0" smtClean="0"/>
              <a:t>me</a:t>
            </a:r>
            <a:r>
              <a:rPr lang="zh-CN" altLang="en-US" sz="1800" dirty="0" smtClean="0"/>
              <a:t>等价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lnSpc>
                <a:spcPct val="120000"/>
              </a:lnSpc>
              <a:buNone/>
            </a:pPr>
            <a:r>
              <a:rPr lang="en-US" altLang="zh-CN" sz="1800" dirty="0"/>
              <a:t>                     // </a:t>
            </a:r>
            <a:r>
              <a:rPr lang="zh-CN" altLang="en-US" sz="1800" dirty="0"/>
              <a:t>类似于</a:t>
            </a:r>
            <a:r>
              <a:rPr lang="en-US" altLang="zh-CN" sz="1800" dirty="0"/>
              <a:t>int a,*p=&amp;a;  </a:t>
            </a:r>
            <a:r>
              <a:rPr lang="zh-CN" altLang="en-US" sz="1800" dirty="0"/>
              <a:t>则</a:t>
            </a:r>
            <a:r>
              <a:rPr lang="en-US" altLang="zh-CN" sz="1800" dirty="0"/>
              <a:t>*p</a:t>
            </a:r>
            <a:r>
              <a:rPr lang="zh-CN" altLang="en-US" sz="1800" dirty="0"/>
              <a:t>与</a:t>
            </a:r>
            <a:r>
              <a:rPr lang="en-US" altLang="zh-CN" sz="1800" dirty="0"/>
              <a:t>a</a:t>
            </a:r>
            <a:r>
              <a:rPr lang="zh-CN" altLang="en-US" sz="1800" dirty="0"/>
              <a:t>等价；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</a:t>
            </a:r>
            <a:endParaRPr lang="en-US" altLang="zh-CN" sz="2000" dirty="0"/>
          </a:p>
          <a:p>
            <a:pPr marL="971550" lvl="1">
              <a:lnSpc>
                <a:spcPct val="120000"/>
              </a:lnSpc>
            </a:pPr>
            <a:r>
              <a:rPr lang="en-US" altLang="zh-CN" sz="1800" dirty="0">
                <a:solidFill>
                  <a:srgbClr val="C00000"/>
                </a:solidFill>
              </a:rPr>
              <a:t>(*</a:t>
            </a:r>
            <a:r>
              <a:rPr lang="en-US" altLang="zh-CN" sz="1800" dirty="0" err="1">
                <a:solidFill>
                  <a:srgbClr val="C00000"/>
                </a:solidFill>
              </a:rPr>
              <a:t>sp</a:t>
            </a:r>
            <a:r>
              <a:rPr lang="en-US" altLang="zh-CN" sz="1800" dirty="0">
                <a:solidFill>
                  <a:srgbClr val="C00000"/>
                </a:solidFill>
              </a:rPr>
              <a:t>). birthday </a:t>
            </a:r>
            <a:r>
              <a:rPr lang="zh-CN" altLang="en-US" sz="1800" dirty="0"/>
              <a:t>，不是</a:t>
            </a:r>
            <a:r>
              <a:rPr lang="en-US" altLang="zh-CN" sz="1800" dirty="0">
                <a:solidFill>
                  <a:srgbClr val="7030A0"/>
                </a:solidFill>
              </a:rPr>
              <a:t>*sp. birthday 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比较两者语义上的区别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en-US" altLang="zh-CN" sz="1800" dirty="0" err="1"/>
              <a:t>sp</a:t>
            </a:r>
            <a:r>
              <a:rPr lang="en-US" altLang="zh-CN" sz="1800" dirty="0"/>
              <a:t>-&gt; birthday </a:t>
            </a:r>
            <a:r>
              <a:rPr lang="zh-CN" altLang="en-US" sz="1800" dirty="0"/>
              <a:t>，不是</a:t>
            </a:r>
            <a:r>
              <a:rPr lang="en-US" altLang="zh-CN" sz="1800" dirty="0"/>
              <a:t>*</a:t>
            </a:r>
            <a:r>
              <a:rPr lang="en-US" altLang="zh-CN" sz="1800" dirty="0" err="1"/>
              <a:t>sp</a:t>
            </a:r>
            <a:r>
              <a:rPr lang="en-US" altLang="zh-CN" sz="1800" dirty="0"/>
              <a:t>-&gt; birthday </a:t>
            </a:r>
            <a:r>
              <a:rPr lang="zh-CN" altLang="en-US" sz="1800" dirty="0"/>
              <a:t>；</a:t>
            </a:r>
            <a:r>
              <a:rPr lang="en-US" altLang="zh-CN" sz="1800" dirty="0"/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比较两者语义上的区别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zh-CN" altLang="en-US" sz="1800" dirty="0">
                <a:solidFill>
                  <a:srgbClr val="C00000"/>
                </a:solidFill>
              </a:rPr>
              <a:t>根据各运算符的优先级，语义差别很大；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217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关于“ </a:t>
            </a:r>
            <a:r>
              <a:rPr lang="en-US" altLang="zh-CN" dirty="0">
                <a:solidFill>
                  <a:srgbClr val="FF0000"/>
                </a:solidFill>
              </a:rPr>
              <a:t>. </a:t>
            </a:r>
            <a:r>
              <a:rPr lang="en-US" altLang="zh-CN" dirty="0"/>
              <a:t>”</a:t>
            </a:r>
            <a:r>
              <a:rPr lang="zh-CN" altLang="en-US" dirty="0"/>
              <a:t>运算符与“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zh-CN" altLang="en-US" dirty="0"/>
              <a:t>”运算符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(*</a:t>
            </a:r>
            <a:r>
              <a:rPr lang="en-US" altLang="zh-CN" sz="2000" dirty="0" err="1"/>
              <a:t>sp</a:t>
            </a:r>
            <a:r>
              <a:rPr lang="en-US" altLang="zh-CN" sz="2000" dirty="0"/>
              <a:t>). birthday </a:t>
            </a:r>
            <a:r>
              <a:rPr lang="zh-CN" altLang="en-US" sz="2000" dirty="0"/>
              <a:t>与 </a:t>
            </a:r>
            <a:r>
              <a:rPr lang="en-US" altLang="zh-CN" sz="2000" dirty="0"/>
              <a:t>*sp. birthday</a:t>
            </a:r>
            <a:r>
              <a:rPr lang="zh-CN" altLang="en-US" sz="2000" dirty="0"/>
              <a:t>；</a:t>
            </a:r>
            <a:r>
              <a:rPr lang="zh-CN" altLang="en-US" sz="2000" dirty="0">
                <a:solidFill>
                  <a:srgbClr val="7030A0"/>
                </a:solidFill>
              </a:rPr>
              <a:t>语义上的区别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en-US" altLang="zh-CN" sz="1800" dirty="0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00CC"/>
                </a:solidFill>
              </a:rPr>
              <a:t> student  </a:t>
            </a:r>
            <a:r>
              <a:rPr lang="en-US" altLang="zh-CN" sz="1800" dirty="0" smtClean="0">
                <a:solidFill>
                  <a:srgbClr val="0000CC"/>
                </a:solidFill>
              </a:rPr>
              <a:t>me </a:t>
            </a:r>
            <a:r>
              <a:rPr lang="en-US" altLang="zh-CN" sz="1800" dirty="0">
                <a:solidFill>
                  <a:srgbClr val="0000CC"/>
                </a:solidFill>
              </a:rPr>
              <a:t>;</a:t>
            </a:r>
          </a:p>
          <a:p>
            <a:pPr marL="971550" lvl="1">
              <a:lnSpc>
                <a:spcPct val="120000"/>
              </a:lnSpc>
            </a:pPr>
            <a:r>
              <a:rPr lang="en-US" altLang="zh-CN" sz="1800" dirty="0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00CC"/>
                </a:solidFill>
              </a:rPr>
              <a:t> student *</a:t>
            </a:r>
            <a:r>
              <a:rPr lang="en-US" altLang="zh-CN" sz="1800" dirty="0" err="1">
                <a:solidFill>
                  <a:srgbClr val="0000CC"/>
                </a:solidFill>
              </a:rPr>
              <a:t>sp</a:t>
            </a:r>
            <a:r>
              <a:rPr lang="en-US" altLang="zh-CN" sz="1800" dirty="0" smtClean="0">
                <a:solidFill>
                  <a:srgbClr val="0000CC"/>
                </a:solidFill>
              </a:rPr>
              <a:t>=&amp;me; 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>
                <a:solidFill>
                  <a:srgbClr val="C00000"/>
                </a:solidFill>
              </a:rPr>
              <a:t>对于</a:t>
            </a:r>
            <a:r>
              <a:rPr lang="en-US" altLang="zh-CN" sz="1800" dirty="0">
                <a:solidFill>
                  <a:srgbClr val="C00000"/>
                </a:solidFill>
              </a:rPr>
              <a:t>(*</a:t>
            </a:r>
            <a:r>
              <a:rPr lang="en-US" altLang="zh-CN" sz="1800" dirty="0" err="1">
                <a:solidFill>
                  <a:srgbClr val="C00000"/>
                </a:solidFill>
              </a:rPr>
              <a:t>sp</a:t>
            </a:r>
            <a:r>
              <a:rPr lang="en-US" altLang="zh-CN" sz="1800" dirty="0">
                <a:solidFill>
                  <a:srgbClr val="C00000"/>
                </a:solidFill>
              </a:rPr>
              <a:t>). birthday </a:t>
            </a:r>
          </a:p>
          <a:p>
            <a:pPr marL="1200150" lvl="2">
              <a:lnSpc>
                <a:spcPct val="120000"/>
              </a:lnSpc>
            </a:pPr>
            <a:r>
              <a:rPr lang="zh-CN" altLang="en-US" sz="1600" dirty="0"/>
              <a:t>根据运算符的优先级，首先解析</a:t>
            </a:r>
            <a:r>
              <a:rPr lang="en-US" altLang="zh-CN" sz="1600" dirty="0"/>
              <a:t>()</a:t>
            </a:r>
            <a:r>
              <a:rPr lang="zh-CN" altLang="en-US" sz="1600" dirty="0"/>
              <a:t>，因此，</a:t>
            </a:r>
            <a:r>
              <a:rPr lang="en-US" altLang="zh-CN" sz="1600" dirty="0"/>
              <a:t>(*</a:t>
            </a:r>
            <a:r>
              <a:rPr lang="en-US" altLang="zh-CN" sz="1600" dirty="0" err="1"/>
              <a:t>sp</a:t>
            </a:r>
            <a:r>
              <a:rPr lang="en-US" altLang="zh-CN" sz="1600" dirty="0"/>
              <a:t>)</a:t>
            </a:r>
            <a:r>
              <a:rPr lang="zh-CN" altLang="en-US" sz="1600" dirty="0" smtClean="0"/>
              <a:t>与结构体变量</a:t>
            </a:r>
            <a:r>
              <a:rPr lang="en-US" altLang="zh-CN" sz="1600" dirty="0" smtClean="0"/>
              <a:t>me</a:t>
            </a:r>
            <a:r>
              <a:rPr lang="zh-CN" altLang="en-US" sz="1600" dirty="0" smtClean="0"/>
              <a:t>等价</a:t>
            </a:r>
            <a:r>
              <a:rPr lang="en-US" altLang="zh-CN" sz="1600" dirty="0"/>
              <a:t>;</a:t>
            </a:r>
          </a:p>
          <a:p>
            <a:pPr marL="1200150" lvl="2">
              <a:lnSpc>
                <a:spcPct val="120000"/>
              </a:lnSpc>
            </a:pPr>
            <a:r>
              <a:rPr lang="en-US" altLang="zh-CN" sz="1600" dirty="0">
                <a:solidFill>
                  <a:srgbClr val="030DCD"/>
                </a:solidFill>
              </a:rPr>
              <a:t> (*</a:t>
            </a:r>
            <a:r>
              <a:rPr lang="en-US" altLang="zh-CN" sz="1600" dirty="0" err="1">
                <a:solidFill>
                  <a:srgbClr val="030DCD"/>
                </a:solidFill>
              </a:rPr>
              <a:t>sp</a:t>
            </a:r>
            <a:r>
              <a:rPr lang="en-US" altLang="zh-CN" sz="1600" dirty="0">
                <a:solidFill>
                  <a:srgbClr val="030DCD"/>
                </a:solidFill>
              </a:rPr>
              <a:t>). birthday </a:t>
            </a:r>
            <a:r>
              <a:rPr lang="zh-CN" altLang="en-US" sz="1600" dirty="0"/>
              <a:t>相当于 </a:t>
            </a:r>
            <a:r>
              <a:rPr lang="en-US" altLang="zh-CN" sz="1600" dirty="0" smtClean="0">
                <a:solidFill>
                  <a:srgbClr val="030DCD"/>
                </a:solidFill>
              </a:rPr>
              <a:t>me. </a:t>
            </a:r>
            <a:r>
              <a:rPr lang="en-US" altLang="zh-CN" sz="1600" dirty="0">
                <a:solidFill>
                  <a:srgbClr val="030DCD"/>
                </a:solidFill>
              </a:rPr>
              <a:t>birthday</a:t>
            </a:r>
            <a:r>
              <a:rPr lang="en-US" altLang="zh-CN" sz="1600" dirty="0"/>
              <a:t>; </a:t>
            </a:r>
          </a:p>
          <a:p>
            <a:pPr marL="971550" lvl="1">
              <a:lnSpc>
                <a:spcPct val="120000"/>
              </a:lnSpc>
            </a:pPr>
            <a:r>
              <a:rPr lang="zh-CN" altLang="en-US" sz="1800" dirty="0">
                <a:solidFill>
                  <a:srgbClr val="C00000"/>
                </a:solidFill>
              </a:rPr>
              <a:t>对于</a:t>
            </a:r>
            <a:r>
              <a:rPr lang="en-US" altLang="zh-CN" sz="1800" dirty="0">
                <a:solidFill>
                  <a:srgbClr val="C00000"/>
                </a:solidFill>
              </a:rPr>
              <a:t>*sp. birthday</a:t>
            </a:r>
          </a:p>
          <a:p>
            <a:pPr marL="1200150" lvl="2">
              <a:lnSpc>
                <a:spcPct val="120000"/>
              </a:lnSpc>
            </a:pPr>
            <a:r>
              <a:rPr lang="zh-CN" altLang="en-US" sz="1600" dirty="0"/>
              <a:t>根据运算符的优先级，</a:t>
            </a:r>
            <a:r>
              <a:rPr lang="zh-CN" altLang="en-US" sz="1600" dirty="0">
                <a:solidFill>
                  <a:srgbClr val="7030A0"/>
                </a:solidFill>
              </a:rPr>
              <a:t>首先解析点运算符</a:t>
            </a:r>
            <a:r>
              <a:rPr lang="zh-CN" altLang="en-US" sz="1600" dirty="0"/>
              <a:t>，因此</a:t>
            </a:r>
            <a:r>
              <a:rPr lang="en-US" altLang="zh-CN" sz="1600" b="1" dirty="0">
                <a:solidFill>
                  <a:srgbClr val="C00000"/>
                </a:solidFill>
              </a:rPr>
              <a:t>*sp. birthday </a:t>
            </a:r>
            <a:r>
              <a:rPr lang="zh-CN" altLang="en-US" sz="1600" dirty="0"/>
              <a:t>相当于</a:t>
            </a:r>
            <a:r>
              <a:rPr lang="en-US" altLang="zh-CN" sz="1600" b="1" dirty="0">
                <a:solidFill>
                  <a:srgbClr val="C00000"/>
                </a:solidFill>
              </a:rPr>
              <a:t> *(</a:t>
            </a:r>
            <a:r>
              <a:rPr lang="en-US" altLang="zh-CN" sz="1600" b="1" dirty="0" err="1">
                <a:solidFill>
                  <a:srgbClr val="C00000"/>
                </a:solidFill>
              </a:rPr>
              <a:t>sp.birthday</a:t>
            </a:r>
            <a:r>
              <a:rPr lang="en-US" altLang="zh-CN" sz="1600" b="1" dirty="0">
                <a:solidFill>
                  <a:srgbClr val="C00000"/>
                </a:solidFill>
              </a:rPr>
              <a:t>);</a:t>
            </a:r>
          </a:p>
          <a:p>
            <a:pPr marL="1200150" lvl="2">
              <a:lnSpc>
                <a:spcPct val="120000"/>
              </a:lnSpc>
            </a:pPr>
            <a:r>
              <a:rPr lang="zh-CN" altLang="en-US" sz="1600" dirty="0"/>
              <a:t>而</a:t>
            </a:r>
            <a:r>
              <a:rPr lang="en-US" altLang="zh-CN" sz="1600" dirty="0" err="1"/>
              <a:t>sp</a:t>
            </a:r>
            <a:r>
              <a:rPr lang="zh-CN" altLang="en-US" sz="1600" dirty="0"/>
              <a:t>是一</a:t>
            </a:r>
            <a:r>
              <a:rPr lang="zh-CN" altLang="en-US" sz="1600" dirty="0" smtClean="0"/>
              <a:t>个结构体型</a:t>
            </a:r>
            <a:r>
              <a:rPr lang="zh-CN" altLang="en-US" sz="1600" dirty="0"/>
              <a:t>指针变量，</a:t>
            </a:r>
            <a:r>
              <a:rPr lang="zh-CN" altLang="en-US" sz="1600" dirty="0" smtClean="0"/>
              <a:t>不是结构体变量</a:t>
            </a:r>
            <a:r>
              <a:rPr lang="zh-CN" altLang="en-US" sz="1600" dirty="0"/>
              <a:t>，因此</a:t>
            </a:r>
            <a:r>
              <a:rPr lang="en-US" altLang="zh-CN" sz="1600" dirty="0" err="1"/>
              <a:t>sp.birthday</a:t>
            </a:r>
            <a:r>
              <a:rPr lang="zh-CN" altLang="en-US" sz="1600" dirty="0"/>
              <a:t>语法错误；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/>
              <a:t>sp</a:t>
            </a:r>
            <a:r>
              <a:rPr lang="en-US" altLang="zh-CN" sz="2000" dirty="0"/>
              <a:t>-&gt; birthday </a:t>
            </a:r>
            <a:r>
              <a:rPr lang="zh-CN" altLang="en-US" sz="2000" dirty="0"/>
              <a:t>与 </a:t>
            </a:r>
            <a:r>
              <a:rPr lang="en-US" altLang="zh-CN" sz="2000" dirty="0"/>
              <a:t>*</a:t>
            </a:r>
            <a:r>
              <a:rPr lang="en-US" altLang="zh-CN" sz="2000" dirty="0" err="1"/>
              <a:t>sp</a:t>
            </a:r>
            <a:r>
              <a:rPr lang="en-US" altLang="zh-CN" sz="2000" dirty="0"/>
              <a:t>-&gt; birthday</a:t>
            </a:r>
            <a:r>
              <a:rPr lang="zh-CN" altLang="en-US" sz="2000" dirty="0"/>
              <a:t>；语义上的区别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对于</a:t>
            </a:r>
            <a:r>
              <a:rPr lang="en-US" altLang="zh-CN" sz="1800" dirty="0"/>
              <a:t>*</a:t>
            </a:r>
            <a:r>
              <a:rPr lang="en-US" altLang="zh-CN" sz="1800" dirty="0" err="1"/>
              <a:t>sp</a:t>
            </a:r>
            <a:r>
              <a:rPr lang="en-US" altLang="zh-CN" sz="1800" dirty="0"/>
              <a:t>-&gt; birthday</a:t>
            </a:r>
          </a:p>
          <a:p>
            <a:pPr marL="1200150" lvl="2"/>
            <a:r>
              <a:rPr lang="zh-CN" altLang="en-US" sz="1600" dirty="0"/>
              <a:t>根据运算符的优先级，</a:t>
            </a:r>
            <a:r>
              <a:rPr lang="zh-CN" altLang="en-US" sz="1600" dirty="0">
                <a:solidFill>
                  <a:srgbClr val="7030A0"/>
                </a:solidFill>
              </a:rPr>
              <a:t>首先解析</a:t>
            </a:r>
            <a:r>
              <a:rPr lang="en-US" altLang="zh-CN" sz="1600" dirty="0">
                <a:solidFill>
                  <a:srgbClr val="7030A0"/>
                </a:solidFill>
              </a:rPr>
              <a:t>-&gt;</a:t>
            </a:r>
            <a:r>
              <a:rPr lang="zh-CN" altLang="en-US" sz="1600" dirty="0">
                <a:solidFill>
                  <a:srgbClr val="7030A0"/>
                </a:solidFill>
              </a:rPr>
              <a:t>运算符</a:t>
            </a:r>
            <a:r>
              <a:rPr lang="en-US" altLang="zh-CN" sz="1600" dirty="0">
                <a:solidFill>
                  <a:srgbClr val="7030A0"/>
                </a:solidFill>
              </a:rPr>
              <a:t>;</a:t>
            </a:r>
          </a:p>
          <a:p>
            <a:pPr marL="1200150" lvl="2"/>
            <a:r>
              <a:rPr lang="zh-CN" altLang="en-US" sz="1600" dirty="0"/>
              <a:t>因此</a:t>
            </a:r>
            <a:r>
              <a:rPr lang="en-US" altLang="zh-CN" sz="1600" dirty="0">
                <a:solidFill>
                  <a:srgbClr val="030DCD"/>
                </a:solidFill>
              </a:rPr>
              <a:t>*</a:t>
            </a:r>
            <a:r>
              <a:rPr lang="en-US" altLang="zh-CN" sz="1600" dirty="0" err="1">
                <a:solidFill>
                  <a:srgbClr val="030DCD"/>
                </a:solidFill>
              </a:rPr>
              <a:t>sp</a:t>
            </a:r>
            <a:r>
              <a:rPr lang="en-US" altLang="zh-CN" sz="1600" dirty="0">
                <a:solidFill>
                  <a:srgbClr val="030DCD"/>
                </a:solidFill>
              </a:rPr>
              <a:t>-&gt;birthday </a:t>
            </a:r>
            <a:r>
              <a:rPr lang="zh-CN" altLang="en-US" sz="1600" dirty="0"/>
              <a:t>相当于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030DCD"/>
                </a:solidFill>
              </a:rPr>
              <a:t>*(</a:t>
            </a:r>
            <a:r>
              <a:rPr lang="en-US" altLang="zh-CN" sz="1600" dirty="0" err="1">
                <a:solidFill>
                  <a:srgbClr val="030DCD"/>
                </a:solidFill>
              </a:rPr>
              <a:t>sp</a:t>
            </a:r>
            <a:r>
              <a:rPr lang="en-US" altLang="zh-CN" sz="1600" dirty="0">
                <a:solidFill>
                  <a:srgbClr val="030DCD"/>
                </a:solidFill>
              </a:rPr>
              <a:t>-&gt;birthday);</a:t>
            </a:r>
          </a:p>
          <a:p>
            <a:pPr marL="1200150" lvl="2"/>
            <a:r>
              <a:rPr lang="zh-CN" altLang="en-US" sz="1600" dirty="0"/>
              <a:t>但</a:t>
            </a:r>
            <a:r>
              <a:rPr lang="en-US" altLang="zh-CN" sz="1600" dirty="0" err="1"/>
              <a:t>sp</a:t>
            </a:r>
            <a:r>
              <a:rPr lang="en-US" altLang="zh-CN" sz="1600" dirty="0"/>
              <a:t>-&gt;birthday</a:t>
            </a:r>
            <a:r>
              <a:rPr lang="zh-CN" altLang="en-US" sz="1600" dirty="0"/>
              <a:t>是一个整型常量，如</a:t>
            </a:r>
            <a:r>
              <a:rPr lang="en-US" altLang="zh-CN" sz="1600" dirty="0"/>
              <a:t>19840318</a:t>
            </a:r>
            <a:r>
              <a:rPr lang="zh-CN" altLang="en-US" sz="1600" dirty="0"/>
              <a:t>，而</a:t>
            </a:r>
            <a:r>
              <a:rPr lang="en-US" altLang="zh-CN" sz="1600" dirty="0"/>
              <a:t>*(19840318)</a:t>
            </a:r>
            <a:r>
              <a:rPr lang="zh-CN" altLang="en-US" sz="1600" dirty="0"/>
              <a:t>语法错误；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1069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 smtClean="0">
                <a:solidFill>
                  <a:srgbClr val="7030A0"/>
                </a:solidFill>
              </a:rPr>
              <a:t>结构体指针</a:t>
            </a:r>
            <a:r>
              <a:rPr lang="zh-CN" altLang="en-US" dirty="0"/>
              <a:t>访问</a:t>
            </a:r>
            <a:r>
              <a:rPr lang="zh-CN" altLang="en-US" dirty="0" smtClean="0">
                <a:solidFill>
                  <a:srgbClr val="7030A0"/>
                </a:solidFill>
              </a:rPr>
              <a:t>结构体数组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</a:rPr>
              <a:t>定义</a:t>
            </a:r>
            <a:r>
              <a:rPr lang="zh-CN" altLang="en-US" sz="1800" dirty="0" smtClean="0">
                <a:solidFill>
                  <a:srgbClr val="FF0000"/>
                </a:solidFill>
              </a:rPr>
              <a:t>结构体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</a:rPr>
              <a:t>  student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名为</a:t>
            </a:r>
            <a:r>
              <a:rPr lang="en-US" altLang="zh-CN" sz="1800" dirty="0">
                <a:solidFill>
                  <a:srgbClr val="006600"/>
                </a:solidFill>
              </a:rPr>
              <a:t>student</a:t>
            </a:r>
            <a:r>
              <a:rPr lang="zh-CN" altLang="en-US" sz="1800" dirty="0">
                <a:solidFill>
                  <a:srgbClr val="006600"/>
                </a:solidFill>
              </a:rPr>
              <a:t>的</a:t>
            </a:r>
            <a:r>
              <a:rPr lang="zh-CN" altLang="en-US" sz="1800" dirty="0" smtClean="0">
                <a:solidFill>
                  <a:srgbClr val="006600"/>
                </a:solidFill>
              </a:rPr>
              <a:t>结构体类型</a:t>
            </a:r>
            <a:endParaRPr lang="zh-CN" altLang="en-US" sz="1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{                                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成员列表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 name[20];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姓名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char sex;     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性别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unsigned  birthday;           //</a:t>
            </a:r>
            <a:r>
              <a:rPr lang="zh-CN" altLang="en-US" sz="1800" dirty="0">
                <a:solidFill>
                  <a:srgbClr val="000000"/>
                </a:solidFill>
              </a:rPr>
              <a:t>生日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height; 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身高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    float weight;                       //</a:t>
            </a:r>
            <a:r>
              <a:rPr lang="zh-CN" altLang="en-US" sz="1800" dirty="0">
                <a:solidFill>
                  <a:srgbClr val="000000"/>
                </a:solidFill>
              </a:rPr>
              <a:t>体重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</a:rPr>
              <a:t> }</a:t>
            </a:r>
            <a:r>
              <a:rPr lang="en-US" altLang="zh-CN" sz="1800" dirty="0"/>
              <a:t>;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srgbClr val="006600"/>
                </a:solidFill>
              </a:rPr>
              <a:t>struct  </a:t>
            </a:r>
            <a:r>
              <a:rPr lang="en-US" altLang="zh-CN" dirty="0">
                <a:solidFill>
                  <a:srgbClr val="0000CC"/>
                </a:solidFill>
              </a:rPr>
              <a:t>student  Room [ 4 ] </a:t>
            </a:r>
            <a:r>
              <a:rPr lang="zh-CN" altLang="en-US" dirty="0">
                <a:solidFill>
                  <a:srgbClr val="0000CC"/>
                </a:solidFill>
              </a:rPr>
              <a:t>；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 smtClean="0">
                <a:solidFill>
                  <a:srgbClr val="FF0000"/>
                </a:solidFill>
              </a:rPr>
              <a:t>声明结构体数组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dirty="0">
                <a:solidFill>
                  <a:srgbClr val="006600"/>
                </a:solidFill>
              </a:rPr>
              <a:t>struct  </a:t>
            </a:r>
            <a:r>
              <a:rPr lang="en-US" altLang="zh-CN" dirty="0">
                <a:solidFill>
                  <a:srgbClr val="0000CC"/>
                </a:solidFill>
              </a:rPr>
              <a:t>student *</a:t>
            </a:r>
            <a:r>
              <a:rPr lang="en-US" altLang="zh-CN" dirty="0" err="1">
                <a:solidFill>
                  <a:srgbClr val="0000CC"/>
                </a:solidFill>
              </a:rPr>
              <a:t>sp</a:t>
            </a:r>
            <a:r>
              <a:rPr lang="en-US" altLang="zh-CN" dirty="0">
                <a:solidFill>
                  <a:srgbClr val="0000CC"/>
                </a:solidFill>
              </a:rPr>
              <a:t> =Room</a:t>
            </a:r>
            <a:r>
              <a:rPr lang="zh-CN" altLang="en-US" dirty="0">
                <a:solidFill>
                  <a:srgbClr val="0000CC"/>
                </a:solidFill>
              </a:rPr>
              <a:t>；</a:t>
            </a:r>
            <a:r>
              <a:rPr lang="en-US" altLang="zh-CN" dirty="0"/>
              <a:t>//</a:t>
            </a:r>
            <a:r>
              <a:rPr lang="zh-CN" altLang="en-US" dirty="0"/>
              <a:t>相当于</a:t>
            </a:r>
            <a:r>
              <a:rPr lang="en-US" altLang="zh-CN" b="1" dirty="0" err="1">
                <a:solidFill>
                  <a:srgbClr val="FF0000"/>
                </a:solidFill>
              </a:rPr>
              <a:t>sp</a:t>
            </a:r>
            <a:r>
              <a:rPr lang="en-US" altLang="zh-CN" b="1" dirty="0">
                <a:solidFill>
                  <a:srgbClr val="FF0000"/>
                </a:solidFill>
              </a:rPr>
              <a:t>=&amp;Room[0</a:t>
            </a:r>
            <a:r>
              <a:rPr lang="en-US" altLang="zh-CN" b="1" dirty="0" smtClean="0">
                <a:solidFill>
                  <a:srgbClr val="FF0000"/>
                </a:solidFill>
              </a:rPr>
              <a:t>];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endParaRPr lang="en-US" altLang="zh-CN" sz="2000" b="1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85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 smtClean="0">
                <a:solidFill>
                  <a:srgbClr val="7030A0"/>
                </a:solidFill>
              </a:rPr>
              <a:t>结构体指针</a:t>
            </a:r>
            <a:r>
              <a:rPr lang="zh-CN" altLang="en-US" dirty="0"/>
              <a:t>访问</a:t>
            </a:r>
            <a:r>
              <a:rPr lang="zh-CN" altLang="en-US" dirty="0" smtClean="0">
                <a:solidFill>
                  <a:srgbClr val="7030A0"/>
                </a:solidFill>
              </a:rPr>
              <a:t>结构体数组（续）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4058793" cy="5345112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solidFill>
                  <a:srgbClr val="030DCD"/>
                </a:solidFill>
              </a:rPr>
              <a:t>输入</a:t>
            </a:r>
            <a:endParaRPr lang="en-US" altLang="zh-CN" sz="20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2000" dirty="0" smtClean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080808"/>
                </a:solidFill>
              </a:rPr>
              <a:t>=Room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080808"/>
                </a:solidFill>
              </a:rPr>
              <a:t>for 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i</a:t>
            </a:r>
            <a:r>
              <a:rPr lang="en-US" altLang="zh-CN" sz="2000" dirty="0">
                <a:solidFill>
                  <a:srgbClr val="080808"/>
                </a:solidFill>
              </a:rPr>
              <a:t>=0;i&lt;=3;i++)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    </a:t>
            </a:r>
            <a:r>
              <a:rPr lang="en-US" altLang="zh-CN" sz="20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("%s", </a:t>
            </a:r>
            <a:r>
              <a:rPr lang="en-US" altLang="zh-CN" sz="2000" dirty="0" err="1">
                <a:solidFill>
                  <a:srgbClr val="7030A0"/>
                </a:solidFill>
              </a:rPr>
              <a:t>sp</a:t>
            </a:r>
            <a:r>
              <a:rPr lang="en-US" altLang="zh-CN" sz="2000" dirty="0">
                <a:solidFill>
                  <a:srgbClr val="7030A0"/>
                </a:solidFill>
              </a:rPr>
              <a:t>-&gt;</a:t>
            </a:r>
            <a:r>
              <a:rPr lang="en-US" altLang="zh-CN" sz="2000" dirty="0">
                <a:solidFill>
                  <a:srgbClr val="080808"/>
                </a:solidFill>
              </a:rPr>
              <a:t>name);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    </a:t>
            </a:r>
            <a:r>
              <a:rPr lang="en-US" altLang="zh-CN" sz="2000" dirty="0" smtClean="0">
                <a:solidFill>
                  <a:srgbClr val="080808"/>
                </a:solidFill>
              </a:rPr>
              <a:t>        </a:t>
            </a:r>
            <a:r>
              <a:rPr lang="en-US" altLang="zh-CN" sz="2000" dirty="0" err="1">
                <a:solidFill>
                  <a:srgbClr val="080808"/>
                </a:solidFill>
              </a:rPr>
              <a:t>fflush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stdin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("%c", &amp;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-&gt;sex);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fflush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stdin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("%u", &amp;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-&gt;birthday);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("%f", &amp;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-&gt;height);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("%f", &amp;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-&gt;weight);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	  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++;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   }</a:t>
            </a:r>
            <a:endParaRPr lang="en-US" altLang="zh-CN" sz="2000" dirty="0" smtClean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73728" y="1145414"/>
            <a:ext cx="3901948" cy="534511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solidFill>
                  <a:srgbClr val="030DCD"/>
                </a:solidFill>
              </a:rPr>
              <a:t>输入</a:t>
            </a:r>
            <a:endParaRPr lang="en-US" altLang="zh-CN" sz="2000" dirty="0" smtClean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en-US" altLang="zh-CN" sz="20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for (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2000" dirty="0" smtClean="0">
                <a:solidFill>
                  <a:srgbClr val="080808"/>
                </a:solidFill>
              </a:rPr>
              <a:t>=Room;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2000" dirty="0" smtClean="0">
                <a:solidFill>
                  <a:srgbClr val="080808"/>
                </a:solidFill>
              </a:rPr>
              <a:t>&lt;=Room+3;sp++)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("%s", </a:t>
            </a:r>
            <a:r>
              <a:rPr lang="en-US" altLang="zh-CN" sz="2000" dirty="0">
                <a:solidFill>
                  <a:srgbClr val="7030A0"/>
                </a:solidFill>
              </a:rPr>
              <a:t>(*</a:t>
            </a:r>
            <a:r>
              <a:rPr lang="en-US" altLang="zh-CN" sz="2000" dirty="0" err="1">
                <a:solidFill>
                  <a:srgbClr val="7030A0"/>
                </a:solidFill>
              </a:rPr>
              <a:t>sp</a:t>
            </a:r>
            <a:r>
              <a:rPr lang="en-US" altLang="zh-CN" sz="2000" dirty="0">
                <a:solidFill>
                  <a:srgbClr val="7030A0"/>
                </a:solidFill>
              </a:rPr>
              <a:t>).</a:t>
            </a:r>
            <a:r>
              <a:rPr lang="en-US" altLang="zh-CN" sz="2000" dirty="0">
                <a:solidFill>
                  <a:srgbClr val="080808"/>
                </a:solidFill>
              </a:rPr>
              <a:t>name);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80808"/>
                </a:solidFill>
              </a:rPr>
              <a:t>      </a:t>
            </a:r>
            <a:r>
              <a:rPr lang="en-US" altLang="zh-CN" sz="2000" dirty="0" smtClean="0">
                <a:solidFill>
                  <a:srgbClr val="080808"/>
                </a:solidFill>
              </a:rPr>
              <a:t>  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fflush</a:t>
            </a:r>
            <a:r>
              <a:rPr lang="en-US" altLang="zh-CN" sz="2000" dirty="0" smtClean="0">
                <a:solidFill>
                  <a:srgbClr val="080808"/>
                </a:solidFill>
              </a:rPr>
              <a:t>(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stdin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("%c", &amp;(*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).sex);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>
                <a:solidFill>
                  <a:srgbClr val="080808"/>
                </a:solidFill>
              </a:rPr>
              <a:t>fflush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stdin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("%u", &amp;(*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).birthday);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("%f", &amp;(*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).height);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2000" dirty="0" err="1">
                <a:solidFill>
                  <a:srgbClr val="080808"/>
                </a:solidFill>
              </a:rPr>
              <a:t>scanf</a:t>
            </a:r>
            <a:r>
              <a:rPr lang="en-US" altLang="zh-CN" sz="2000" dirty="0">
                <a:solidFill>
                  <a:srgbClr val="080808"/>
                </a:solidFill>
              </a:rPr>
              <a:t>("%f", &amp;(*</a:t>
            </a:r>
            <a:r>
              <a:rPr lang="en-US" altLang="zh-CN" sz="2000" dirty="0" err="1">
                <a:solidFill>
                  <a:srgbClr val="080808"/>
                </a:solidFill>
              </a:rPr>
              <a:t>sp</a:t>
            </a:r>
            <a:r>
              <a:rPr lang="en-US" altLang="zh-CN" sz="2000" dirty="0">
                <a:solidFill>
                  <a:srgbClr val="080808"/>
                </a:solidFill>
              </a:rPr>
              <a:t>).weight</a:t>
            </a:r>
            <a:r>
              <a:rPr lang="en-US" altLang="zh-CN" sz="2000" dirty="0" smtClean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solidFill>
                  <a:srgbClr val="080808"/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9032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 smtClean="0">
                <a:solidFill>
                  <a:srgbClr val="7030A0"/>
                </a:solidFill>
              </a:rPr>
              <a:t>结构体指针</a:t>
            </a:r>
            <a:r>
              <a:rPr lang="zh-CN" altLang="en-US" dirty="0"/>
              <a:t>访问</a:t>
            </a:r>
            <a:r>
              <a:rPr lang="zh-CN" altLang="en-US" dirty="0" smtClean="0">
                <a:solidFill>
                  <a:srgbClr val="7030A0"/>
                </a:solidFill>
              </a:rPr>
              <a:t>结构体数组（续）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049" y="1135063"/>
            <a:ext cx="3831335" cy="5345112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solidFill>
                  <a:srgbClr val="030DCD"/>
                </a:solidFill>
              </a:rPr>
              <a:t>输出</a:t>
            </a:r>
            <a:endParaRPr lang="en-US" altLang="zh-CN" sz="20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姓名</a:t>
            </a:r>
            <a:r>
              <a:rPr lang="en-US" altLang="zh-CN" sz="1600" dirty="0">
                <a:solidFill>
                  <a:srgbClr val="080808"/>
                </a:solidFill>
              </a:rPr>
              <a:t>\t\t</a:t>
            </a:r>
            <a:r>
              <a:rPr lang="zh-CN" altLang="en-US" sz="1600" dirty="0">
                <a:solidFill>
                  <a:srgbClr val="080808"/>
                </a:solidFill>
              </a:rPr>
              <a:t>性别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年龄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身高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体重</a:t>
            </a:r>
            <a:r>
              <a:rPr lang="en-US" altLang="zh-CN" sz="1600" dirty="0">
                <a:solidFill>
                  <a:srgbClr val="080808"/>
                </a:solidFill>
              </a:rPr>
              <a:t>\n");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=Room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for (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i</a:t>
            </a:r>
            <a:r>
              <a:rPr lang="en-US" altLang="zh-CN" sz="1800" dirty="0">
                <a:solidFill>
                  <a:srgbClr val="080808"/>
                </a:solidFill>
              </a:rPr>
              <a:t>=0;i&lt;=3;i++)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 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("%s\t\t ", </a:t>
            </a:r>
            <a:r>
              <a:rPr lang="en-US" altLang="zh-CN" sz="1800" dirty="0" err="1">
                <a:solidFill>
                  <a:srgbClr val="7030A0"/>
                </a:solidFill>
              </a:rPr>
              <a:t>sp</a:t>
            </a:r>
            <a:r>
              <a:rPr lang="en-US" altLang="zh-CN" sz="1800" dirty="0">
                <a:solidFill>
                  <a:srgbClr val="7030A0"/>
                </a:solidFill>
              </a:rPr>
              <a:t>-&gt;</a:t>
            </a:r>
            <a:r>
              <a:rPr lang="en-US" altLang="zh-CN" sz="1800" dirty="0">
                <a:solidFill>
                  <a:srgbClr val="080808"/>
                </a:solidFill>
              </a:rPr>
              <a:t>name);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("%c\t ", 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-&gt;sex);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("%u\t ", 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-&gt;birthday);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("%g\t ", 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-&gt;height);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("%g\n", 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-&gt;weight); 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++;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  <a:endParaRPr lang="en-US" altLang="zh-CN" sz="1800" dirty="0" smtClean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498848" y="1145414"/>
            <a:ext cx="3922776" cy="534511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1800" dirty="0" smtClean="0">
                <a:solidFill>
                  <a:srgbClr val="030DCD"/>
                </a:solidFill>
              </a:rPr>
              <a:t>输出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姓名</a:t>
            </a:r>
            <a:r>
              <a:rPr lang="en-US" altLang="zh-CN" sz="1600" dirty="0">
                <a:solidFill>
                  <a:srgbClr val="080808"/>
                </a:solidFill>
              </a:rPr>
              <a:t>\t\t</a:t>
            </a:r>
            <a:r>
              <a:rPr lang="zh-CN" altLang="en-US" sz="1600" dirty="0">
                <a:solidFill>
                  <a:srgbClr val="080808"/>
                </a:solidFill>
              </a:rPr>
              <a:t>性别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年龄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身高</a:t>
            </a:r>
            <a:r>
              <a:rPr lang="en-US" altLang="zh-CN" sz="1600" dirty="0">
                <a:solidFill>
                  <a:srgbClr val="080808"/>
                </a:solidFill>
              </a:rPr>
              <a:t>\t</a:t>
            </a:r>
            <a:r>
              <a:rPr lang="zh-CN" altLang="en-US" sz="1600" dirty="0">
                <a:solidFill>
                  <a:srgbClr val="080808"/>
                </a:solidFill>
              </a:rPr>
              <a:t>体重</a:t>
            </a:r>
            <a:r>
              <a:rPr lang="en-US" altLang="zh-CN" sz="1600" dirty="0">
                <a:solidFill>
                  <a:srgbClr val="080808"/>
                </a:solidFill>
              </a:rPr>
              <a:t>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for (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1800" dirty="0" smtClean="0">
                <a:solidFill>
                  <a:srgbClr val="080808"/>
                </a:solidFill>
              </a:rPr>
              <a:t>=Room;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sp</a:t>
            </a:r>
            <a:r>
              <a:rPr lang="en-US" altLang="zh-CN" sz="1800" dirty="0" smtClean="0">
                <a:solidFill>
                  <a:srgbClr val="080808"/>
                </a:solidFill>
              </a:rPr>
              <a:t>&lt;=Room+3;sp++)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        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("%s\t\t ", </a:t>
            </a:r>
            <a:r>
              <a:rPr lang="en-US" altLang="zh-CN" sz="1800" dirty="0">
                <a:solidFill>
                  <a:srgbClr val="7030A0"/>
                </a:solidFill>
              </a:rPr>
              <a:t>(*</a:t>
            </a:r>
            <a:r>
              <a:rPr lang="en-US" altLang="zh-CN" sz="1800" dirty="0" err="1">
                <a:solidFill>
                  <a:srgbClr val="7030A0"/>
                </a:solidFill>
              </a:rPr>
              <a:t>sp</a:t>
            </a:r>
            <a:r>
              <a:rPr lang="en-US" altLang="zh-CN" sz="1800" dirty="0">
                <a:solidFill>
                  <a:srgbClr val="7030A0"/>
                </a:solidFill>
              </a:rPr>
              <a:t>).</a:t>
            </a:r>
            <a:r>
              <a:rPr lang="en-US" altLang="zh-CN" sz="1800" dirty="0">
                <a:solidFill>
                  <a:srgbClr val="080808"/>
                </a:solidFill>
              </a:rPr>
              <a:t>name);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("%c\t ", (*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).sex);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("%u\t ", (*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).birthday);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("%g\t ", (*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).height);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("%g\n", (*</a:t>
            </a:r>
            <a:r>
              <a:rPr lang="en-US" altLang="zh-CN" sz="1800" dirty="0" err="1">
                <a:solidFill>
                  <a:srgbClr val="080808"/>
                </a:solidFill>
              </a:rPr>
              <a:t>sp</a:t>
            </a:r>
            <a:r>
              <a:rPr lang="en-US" altLang="zh-CN" sz="1800" dirty="0">
                <a:solidFill>
                  <a:srgbClr val="080808"/>
                </a:solidFill>
              </a:rPr>
              <a:t>).weight</a:t>
            </a:r>
            <a:r>
              <a:rPr lang="en-US" altLang="zh-CN" sz="1800" dirty="0" smtClean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 smtClean="0">
                <a:solidFill>
                  <a:srgbClr val="080808"/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47341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935" y="1316736"/>
            <a:ext cx="8481580" cy="503874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en-US" altLang="zh-CN" dirty="0">
                <a:latin typeface="宋体" panose="02010600030101010101" pitchFamily="2" charset="-122"/>
              </a:rPr>
              <a:t>Why </a:t>
            </a:r>
            <a:r>
              <a:rPr lang="zh-CN" altLang="en-US" dirty="0">
                <a:latin typeface="宋体" panose="02010600030101010101" pitchFamily="2" charset="-122"/>
              </a:rPr>
              <a:t>链表？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971550" lvl="1"/>
            <a:r>
              <a:rPr lang="zh-CN" altLang="en-US" dirty="0">
                <a:latin typeface="宋体" panose="02010600030101010101" pitchFamily="2" charset="-122"/>
              </a:rPr>
              <a:t>链表是动态地进行存储分配的一种常见的重要的</a:t>
            </a:r>
            <a:r>
              <a:rPr lang="zh-CN" altLang="en-US" dirty="0" smtClean="0">
                <a:latin typeface="宋体" panose="02010600030101010101" pitchFamily="2" charset="-122"/>
              </a:rPr>
              <a:t>数据结构体</a:t>
            </a:r>
            <a:r>
              <a:rPr lang="en-US" altLang="zh-CN" dirty="0" smtClean="0">
                <a:latin typeface="宋体" panose="02010600030101010101" pitchFamily="2" charset="-122"/>
              </a:rPr>
              <a:t>;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971550" lvl="1"/>
            <a:r>
              <a:rPr lang="zh-CN" altLang="en-US" dirty="0">
                <a:solidFill>
                  <a:srgbClr val="030DCD"/>
                </a:solidFill>
                <a:latin typeface="宋体" panose="02010600030101010101" pitchFamily="2" charset="-122"/>
              </a:rPr>
              <a:t>用数组存放数据时，必须事先定义固定的长度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即元素个数</a:t>
            </a:r>
            <a:r>
              <a:rPr lang="en-US" altLang="zh-CN" dirty="0">
                <a:latin typeface="宋体" panose="02010600030101010101" pitchFamily="2" charset="-122"/>
              </a:rPr>
              <a:t>);</a:t>
            </a:r>
          </a:p>
          <a:p>
            <a:pPr marL="971550" lvl="1"/>
            <a:r>
              <a:rPr lang="zh-CN" altLang="en-US" dirty="0">
                <a:latin typeface="宋体" panose="02010600030101010101" pitchFamily="2" charset="-122"/>
              </a:rPr>
              <a:t>如，有的班级有</a:t>
            </a:r>
            <a:r>
              <a:rPr lang="en-US" altLang="zh-CN" dirty="0">
                <a:latin typeface="宋体" panose="02010600030101010101" pitchFamily="2" charset="-122"/>
              </a:rPr>
              <a:t>100</a:t>
            </a:r>
            <a:r>
              <a:rPr lang="zh-CN" altLang="en-US" dirty="0">
                <a:latin typeface="宋体" panose="02010600030101010101" pitchFamily="2" charset="-122"/>
              </a:rPr>
              <a:t>人，而有的班只有</a:t>
            </a:r>
            <a:r>
              <a:rPr lang="en-US" altLang="zh-CN" dirty="0">
                <a:latin typeface="宋体" panose="02010600030101010101" pitchFamily="2" charset="-122"/>
              </a:rPr>
              <a:t>30</a:t>
            </a:r>
            <a:r>
              <a:rPr lang="zh-CN" altLang="en-US" dirty="0">
                <a:latin typeface="宋体" panose="02010600030101010101" pitchFamily="2" charset="-122"/>
              </a:rPr>
              <a:t>人，如果要用同一个数组先后存放不同班级的学生数据，则必须定义长度为</a:t>
            </a:r>
            <a:r>
              <a:rPr lang="en-US" altLang="zh-CN" dirty="0">
                <a:latin typeface="宋体" panose="02010600030101010101" pitchFamily="2" charset="-122"/>
              </a:rPr>
              <a:t>100</a:t>
            </a:r>
            <a:r>
              <a:rPr lang="zh-CN" altLang="en-US" dirty="0">
                <a:latin typeface="宋体" panose="02010600030101010101" pitchFamily="2" charset="-122"/>
              </a:rPr>
              <a:t>的数组</a:t>
            </a:r>
            <a:r>
              <a:rPr lang="en-US" altLang="zh-CN" dirty="0">
                <a:latin typeface="宋体" panose="02010600030101010101" pitchFamily="2" charset="-122"/>
              </a:rPr>
              <a:t>;</a:t>
            </a:r>
          </a:p>
          <a:p>
            <a:pPr marL="971550" lvl="1"/>
            <a:r>
              <a:rPr lang="zh-CN" altLang="en-US" dirty="0">
                <a:solidFill>
                  <a:srgbClr val="030DCD"/>
                </a:solidFill>
                <a:latin typeface="宋体" panose="02010600030101010101" pitchFamily="2" charset="-122"/>
              </a:rPr>
              <a:t>数组元素的插入、删除</a:t>
            </a:r>
            <a:r>
              <a:rPr lang="zh-CN" altLang="en-US" dirty="0">
                <a:latin typeface="宋体" panose="02010600030101010101" pitchFamily="2" charset="-122"/>
              </a:rPr>
              <a:t>操作也比较费时</a:t>
            </a:r>
            <a:r>
              <a:rPr lang="en-US" altLang="zh-CN" dirty="0">
                <a:latin typeface="宋体" panose="02010600030101010101" pitchFamily="2" charset="-122"/>
              </a:rPr>
              <a:t>;</a:t>
            </a:r>
          </a:p>
          <a:p>
            <a:pPr marL="971550" lvl="1"/>
            <a:r>
              <a:rPr lang="zh-CN" altLang="en-US" dirty="0">
                <a:latin typeface="宋体" panose="02010600030101010101" pitchFamily="2" charset="-122"/>
              </a:rPr>
              <a:t>如果</a:t>
            </a:r>
            <a:r>
              <a:rPr lang="zh-CN" altLang="en-US" dirty="0">
                <a:solidFill>
                  <a:srgbClr val="030DCD"/>
                </a:solidFill>
                <a:latin typeface="宋体" panose="02010600030101010101" pitchFamily="2" charset="-122"/>
              </a:rPr>
              <a:t>事先难以确定</a:t>
            </a:r>
            <a:r>
              <a:rPr lang="zh-CN" altLang="en-US" dirty="0">
                <a:latin typeface="宋体" panose="02010600030101010101" pitchFamily="2" charset="-122"/>
              </a:rPr>
              <a:t>一个班的最多人数，则必须把数组定得足够大，以便能存放任何班级的学生数据。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显然这将会浪费内存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;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endParaRPr lang="zh-CN" altLang="zh-CN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79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648" y="255588"/>
            <a:ext cx="8089900" cy="584200"/>
          </a:xfrm>
        </p:spPr>
        <p:txBody>
          <a:bodyPr/>
          <a:lstStyle/>
          <a:p>
            <a:r>
              <a:rPr lang="zh-CN" altLang="en-US" dirty="0"/>
              <a:t>链表的特点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3231" y="1243584"/>
            <a:ext cx="8058283" cy="5111900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7030A0"/>
                </a:solidFill>
                <a:latin typeface="宋体" panose="02010600030101010101" pitchFamily="2" charset="-122"/>
              </a:rPr>
              <a:t>链表不需要事先确定其长度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  <a:latin typeface="宋体" panose="02010600030101010101" pitchFamily="2" charset="-122"/>
              </a:rPr>
              <a:t>可根据需要随时开辟内存单元，分配地址空间</a:t>
            </a:r>
            <a:r>
              <a:rPr lang="en-US" altLang="zh-CN" dirty="0">
                <a:solidFill>
                  <a:srgbClr val="030DCD"/>
                </a:solidFill>
                <a:latin typeface="宋体" panose="02010600030101010101" pitchFamily="2" charset="-122"/>
              </a:rPr>
              <a:t>;</a:t>
            </a:r>
          </a:p>
          <a:p>
            <a:pPr marL="971550" lvl="1">
              <a:spcBef>
                <a:spcPts val="12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但受内存空间的制约；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971550" lvl="1"/>
            <a:r>
              <a:rPr lang="zh-CN" altLang="en-US" dirty="0">
                <a:latin typeface="宋体" panose="02010600030101010101" pitchFamily="2" charset="-122"/>
              </a:rPr>
              <a:t>根据链表结点约定的生成方式，一般受到</a:t>
            </a:r>
            <a:r>
              <a:rPr lang="zh-CN" altLang="en-US" b="1" dirty="0">
                <a:solidFill>
                  <a:srgbClr val="030DCD"/>
                </a:solidFill>
                <a:latin typeface="宋体" panose="02010600030101010101" pitchFamily="2" charset="-122"/>
              </a:rPr>
              <a:t>堆</a:t>
            </a:r>
            <a:r>
              <a:rPr lang="en-US" altLang="zh-CN" b="1" dirty="0">
                <a:solidFill>
                  <a:srgbClr val="030DCD"/>
                </a:solidFill>
                <a:latin typeface="宋体" panose="02010600030101010101" pitchFamily="2" charset="-122"/>
              </a:rPr>
              <a:t>(heap)</a:t>
            </a:r>
            <a:r>
              <a:rPr lang="zh-CN" altLang="en-US" b="1" dirty="0">
                <a:solidFill>
                  <a:srgbClr val="030DCD"/>
                </a:solidFill>
                <a:latin typeface="宋体" panose="02010600030101010101" pitchFamily="2" charset="-122"/>
              </a:rPr>
              <a:t>空间</a:t>
            </a:r>
            <a:r>
              <a:rPr lang="zh-CN" altLang="en-US" dirty="0">
                <a:latin typeface="宋体" panose="02010600030101010101" pitchFamily="2" charset="-122"/>
              </a:rPr>
              <a:t>的制约</a:t>
            </a:r>
            <a:r>
              <a:rPr lang="zh-CN" altLang="en-US" dirty="0" smtClean="0">
                <a:latin typeface="宋体" panose="02010600030101010101" pitchFamily="2" charset="-122"/>
              </a:rPr>
              <a:t>；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971550" lvl="1"/>
            <a:r>
              <a:rPr lang="zh-CN" altLang="en-US" dirty="0">
                <a:latin typeface="宋体" panose="02010600030101010101" pitchFamily="2" charset="-122"/>
              </a:rPr>
              <a:t>当链表</a:t>
            </a:r>
            <a:r>
              <a:rPr lang="zh-CN" altLang="en-US" dirty="0" smtClean="0">
                <a:latin typeface="宋体" panose="02010600030101010101" pitchFamily="2" charset="-122"/>
              </a:rPr>
              <a:t>结点使用完后，应立即释放器所占用的空间，归还给堆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latin typeface="宋体" panose="02010600030101010101" pitchFamily="2" charset="-122"/>
              </a:rPr>
              <a:t>链表中节点的</a:t>
            </a:r>
            <a:r>
              <a:rPr lang="zh-CN" altLang="en-US" dirty="0">
                <a:solidFill>
                  <a:srgbClr val="7030A0"/>
                </a:solidFill>
                <a:latin typeface="宋体" panose="02010600030101010101" pitchFamily="2" charset="-122"/>
              </a:rPr>
              <a:t>插入、</a:t>
            </a:r>
            <a:r>
              <a:rPr lang="zh-CN" altLang="en-US" dirty="0" smtClean="0">
                <a:solidFill>
                  <a:srgbClr val="7030A0"/>
                </a:solidFill>
                <a:latin typeface="宋体" panose="02010600030101010101" pitchFamily="2" charset="-122"/>
              </a:rPr>
              <a:t>删除</a:t>
            </a:r>
            <a:r>
              <a:rPr lang="zh-CN" altLang="en-US" dirty="0">
                <a:latin typeface="宋体" panose="02010600030101010101" pitchFamily="2" charset="-122"/>
              </a:rPr>
              <a:t>等操作也相对简单、方便、快捷</a:t>
            </a:r>
            <a:r>
              <a:rPr lang="en-US" altLang="zh-CN" dirty="0">
                <a:latin typeface="宋体" panose="02010600030101010101" pitchFamily="2" charset="-122"/>
              </a:rPr>
              <a:t>;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endParaRPr lang="zh-CN" altLang="zh-CN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02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7.3.1 </a:t>
            </a:r>
            <a:r>
              <a:rPr lang="zh-CN" altLang="en-US" dirty="0"/>
              <a:t>建立链表的过程</a:t>
            </a:r>
            <a:r>
              <a:rPr lang="en-US" altLang="zh-CN" dirty="0"/>
              <a:t>—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030DCD"/>
                </a:solidFill>
              </a:rPr>
              <a:t>单向链表</a:t>
            </a:r>
            <a:r>
              <a:rPr lang="zh-CN" altLang="en-US" dirty="0"/>
              <a:t>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创建一个由</a:t>
            </a:r>
            <a:r>
              <a:rPr lang="en-US" altLang="zh-CN" dirty="0"/>
              <a:t>3</a:t>
            </a:r>
            <a:r>
              <a:rPr lang="zh-CN" altLang="en-US" dirty="0"/>
              <a:t>个学生数据的结点组成的</a:t>
            </a:r>
            <a:r>
              <a:rPr lang="zh-CN" altLang="en-US" dirty="0" smtClean="0"/>
              <a:t>单向链表</a:t>
            </a:r>
            <a:r>
              <a:rPr lang="zh-CN" altLang="en-US" dirty="0"/>
              <a:t>，并输出各结点中的数据。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定义链表</a:t>
            </a:r>
            <a:r>
              <a:rPr lang="zh-CN" altLang="en-US" dirty="0" smtClean="0"/>
              <a:t>结点类型如下</a:t>
            </a:r>
            <a:r>
              <a:rPr lang="zh-CN" altLang="en-US" dirty="0"/>
              <a:t>：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</a:t>
            </a:r>
            <a:r>
              <a:rPr lang="en-US" altLang="zh-CN" sz="1800" dirty="0" err="1">
                <a:solidFill>
                  <a:srgbClr val="000118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{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long ID;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float score;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</a:t>
            </a: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FF0000"/>
                </a:solidFill>
              </a:rPr>
              <a:t> student *next;    </a:t>
            </a:r>
            <a:r>
              <a:rPr lang="en-US" altLang="zh-CN" sz="1800" b="1" dirty="0">
                <a:solidFill>
                  <a:srgbClr val="030DCD"/>
                </a:solidFill>
              </a:rPr>
              <a:t>//</a:t>
            </a:r>
            <a:r>
              <a:rPr lang="zh-CN" altLang="en-US" sz="1800" b="1" dirty="0">
                <a:solidFill>
                  <a:srgbClr val="030DCD"/>
                </a:solidFill>
              </a:rPr>
              <a:t>指向下一个结点的指针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};</a:t>
            </a:r>
          </a:p>
          <a:p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403530" y="2411660"/>
            <a:ext cx="1481900" cy="1873705"/>
            <a:chOff x="666030" y="1282978"/>
            <a:chExt cx="756370" cy="1130022"/>
          </a:xfrm>
        </p:grpSpPr>
        <p:sp>
          <p:nvSpPr>
            <p:cNvPr id="6" name="矩形 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文本框 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ea"/>
                  <a:ea typeface="+mn-ea"/>
                </a:rPr>
                <a:t>   结点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ID</a:t>
              </a:r>
              <a:endParaRPr lang="zh-CN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文本框 1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score</a:t>
              </a:r>
              <a:endParaRPr lang="zh-CN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  <a:sym typeface="Arial" panose="020B0604020202020204" pitchFamily="34" charset="0"/>
                </a:rPr>
                <a:t>next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4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建立单向链表的过程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2617804"/>
            <a:ext cx="8329751" cy="383626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/>
              <a:t>链表中</a:t>
            </a:r>
            <a:r>
              <a:rPr kumimoji="1" lang="zh-CN" altLang="en-US" sz="1800" dirty="0">
                <a:solidFill>
                  <a:srgbClr val="C00000"/>
                </a:solidFill>
              </a:rPr>
              <a:t>每一个元素称为“结点”</a:t>
            </a:r>
            <a:r>
              <a:rPr kumimoji="1" lang="zh-CN" altLang="en-US" sz="1800" dirty="0">
                <a:solidFill>
                  <a:schemeClr val="accent2"/>
                </a:solidFill>
              </a:rPr>
              <a:t>，</a:t>
            </a:r>
            <a:r>
              <a:rPr kumimoji="1" lang="zh-CN" altLang="en-US" sz="1800" dirty="0"/>
              <a:t>每个结点都应</a:t>
            </a:r>
            <a:r>
              <a:rPr kumimoji="1" lang="zh-CN" altLang="en-US" sz="1800" dirty="0">
                <a:solidFill>
                  <a:srgbClr val="C00000"/>
                </a:solidFill>
              </a:rPr>
              <a:t>包括两个部分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b="1" dirty="0">
                <a:solidFill>
                  <a:srgbClr val="030DCD"/>
                </a:solidFill>
              </a:rPr>
              <a:t>用户需要使用的具体数据</a:t>
            </a:r>
            <a:endParaRPr kumimoji="1" lang="en-US" altLang="zh-CN" sz="16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b="1" dirty="0">
                <a:solidFill>
                  <a:srgbClr val="030DCD"/>
                </a:solidFill>
              </a:rPr>
              <a:t>下一个结点的地址。</a:t>
            </a:r>
            <a:endParaRPr kumimoji="1" lang="en-US" altLang="zh-CN" sz="1600" b="1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/>
              <a:t>链表有一个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“头指针”变量</a:t>
            </a:r>
            <a:r>
              <a:rPr kumimoji="1" lang="zh-CN" altLang="en-US" sz="1800" dirty="0"/>
              <a:t>，一般以</a:t>
            </a:r>
            <a:r>
              <a:rPr kumimoji="1" lang="en-US" altLang="zh-CN" sz="1800" dirty="0"/>
              <a:t>head</a:t>
            </a:r>
            <a:r>
              <a:rPr kumimoji="1" lang="zh-CN" altLang="en-US" sz="1800" dirty="0"/>
              <a:t>表示，它存放链表第一个节点的地址，即</a:t>
            </a:r>
            <a:r>
              <a:rPr kumimoji="1" lang="en-US" altLang="zh-CN" sz="1800" dirty="0"/>
              <a:t>head</a:t>
            </a:r>
            <a:r>
              <a:rPr kumimoji="1" lang="zh-CN" altLang="en-US" sz="1800" dirty="0"/>
              <a:t>指向第一个结点</a:t>
            </a:r>
            <a:r>
              <a:rPr kumimoji="1" lang="zh-CN" altLang="en-US" sz="1800" dirty="0" smtClean="0"/>
              <a:t>；</a:t>
            </a:r>
            <a:endParaRPr kumimoji="1"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en-US" altLang="zh-CN" sz="1600" b="1" dirty="0">
                <a:solidFill>
                  <a:srgbClr val="C00000"/>
                </a:solidFill>
              </a:rPr>
              <a:t>head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可以是一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个结构体型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指针变量，也可以是一个“结点”；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080808"/>
                </a:solidFill>
              </a:rPr>
              <a:t>第一</a:t>
            </a:r>
            <a:r>
              <a:rPr kumimoji="1" lang="zh-CN" altLang="en-US" sz="1800" b="1" dirty="0">
                <a:solidFill>
                  <a:srgbClr val="080808"/>
                </a:solidFill>
              </a:rPr>
              <a:t>个结点又指向第二个结点，</a:t>
            </a:r>
            <a:r>
              <a:rPr kumimoji="1" lang="en-US" altLang="zh-CN" sz="1800" b="1" dirty="0">
                <a:solidFill>
                  <a:srgbClr val="080808"/>
                </a:solidFill>
              </a:rPr>
              <a:t>……</a:t>
            </a:r>
            <a:r>
              <a:rPr kumimoji="1" lang="zh-CN" altLang="en-US" sz="1800" b="1" dirty="0">
                <a:solidFill>
                  <a:srgbClr val="080808"/>
                </a:solidFill>
              </a:rPr>
              <a:t>，以此类推；</a:t>
            </a:r>
            <a:endParaRPr kumimoji="1" lang="en-US" altLang="zh-CN" sz="1800" b="1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/>
              <a:t>最后一个结点不再指向其它元素，它称为</a:t>
            </a:r>
            <a:r>
              <a:rPr kumimoji="1" lang="zh-CN" altLang="en-US" sz="1800" dirty="0">
                <a:solidFill>
                  <a:schemeClr val="accent2"/>
                </a:solidFill>
              </a:rPr>
              <a:t>“</a:t>
            </a:r>
            <a:r>
              <a:rPr kumimoji="1" lang="zh-CN" altLang="en-US" sz="1800" dirty="0">
                <a:solidFill>
                  <a:srgbClr val="C00000"/>
                </a:solidFill>
              </a:rPr>
              <a:t>表尾</a:t>
            </a:r>
            <a:r>
              <a:rPr kumimoji="1" lang="zh-CN" altLang="en-US" sz="1800" dirty="0">
                <a:solidFill>
                  <a:schemeClr val="accent2"/>
                </a:solidFill>
              </a:rPr>
              <a:t>”</a:t>
            </a:r>
            <a:r>
              <a:rPr kumimoji="1" lang="zh-CN" altLang="en-US" sz="1800" dirty="0"/>
              <a:t>，</a:t>
            </a:r>
            <a:r>
              <a:rPr kumimoji="1" lang="zh-CN" altLang="en-US" sz="1800" dirty="0">
                <a:solidFill>
                  <a:srgbClr val="7030A0"/>
                </a:solidFill>
              </a:rPr>
              <a:t>它的地址部分放一个</a:t>
            </a:r>
            <a:r>
              <a:rPr kumimoji="1" lang="zh-CN" altLang="en-US" sz="1800" dirty="0">
                <a:solidFill>
                  <a:schemeClr val="accent2"/>
                </a:solidFill>
              </a:rPr>
              <a:t>“</a:t>
            </a:r>
            <a:r>
              <a:rPr kumimoji="1" lang="en-US" altLang="zh-CN" sz="1800" dirty="0">
                <a:solidFill>
                  <a:srgbClr val="0000CC"/>
                </a:solidFill>
              </a:rPr>
              <a:t>NULL”(</a:t>
            </a:r>
            <a:r>
              <a:rPr kumimoji="1" lang="zh-CN" altLang="en-US" sz="1800" dirty="0">
                <a:solidFill>
                  <a:srgbClr val="0000CC"/>
                </a:solidFill>
              </a:rPr>
              <a:t>表示“空地址”</a:t>
            </a:r>
            <a:r>
              <a:rPr kumimoji="1" lang="en-US" altLang="zh-CN" sz="1800" dirty="0"/>
              <a:t>)</a:t>
            </a:r>
            <a:r>
              <a:rPr kumimoji="1" lang="zh-CN" altLang="en-US" sz="1800" dirty="0"/>
              <a:t>，</a:t>
            </a:r>
            <a:r>
              <a:rPr kumimoji="1" lang="zh-CN" altLang="en-US" sz="1800" dirty="0">
                <a:solidFill>
                  <a:srgbClr val="7030A0"/>
                </a:solidFill>
              </a:rPr>
              <a:t>链表到此结束；</a:t>
            </a:r>
            <a:endParaRPr kumimoji="1" lang="en-US" altLang="zh-CN" sz="18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06600"/>
                </a:solidFill>
              </a:rPr>
              <a:t>链表的各节点在内存中不一定是连续存放的；</a:t>
            </a:r>
            <a:endParaRPr kumimoji="1" lang="zh-CN" altLang="zh-CN" sz="18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20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007918" y="1129339"/>
            <a:ext cx="6650182" cy="1143575"/>
            <a:chOff x="673100" y="1282739"/>
            <a:chExt cx="5842000" cy="1183702"/>
          </a:xfrm>
        </p:grpSpPr>
        <p:grpSp>
          <p:nvGrpSpPr>
            <p:cNvPr id="6" name="组合 5"/>
            <p:cNvGrpSpPr/>
            <p:nvPr/>
          </p:nvGrpSpPr>
          <p:grpSpPr>
            <a:xfrm>
              <a:off x="673100" y="1497259"/>
              <a:ext cx="749300" cy="744120"/>
              <a:chOff x="673100" y="1497259"/>
              <a:chExt cx="749300" cy="744120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723900" y="1859088"/>
                <a:ext cx="673100" cy="382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1249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73100" y="1497259"/>
                <a:ext cx="749300" cy="414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00CC"/>
                    </a:solidFill>
                    <a:latin typeface="+mn-ea"/>
                    <a:ea typeface="+mn-ea"/>
                  </a:rPr>
                  <a:t>head</a:t>
                </a:r>
                <a:endParaRPr lang="zh-CN" altLang="en-US" sz="2000" b="1" dirty="0">
                  <a:solidFill>
                    <a:srgbClr val="0000CC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943100" y="1282739"/>
              <a:ext cx="749300" cy="1144014"/>
              <a:chOff x="673100" y="1282978"/>
              <a:chExt cx="749300" cy="1144014"/>
            </a:xfrm>
          </p:grpSpPr>
          <p:sp>
            <p:nvSpPr>
              <p:cNvPr id="33" name="矩形 32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" name="直接连接符 33"/>
              <p:cNvCxnSpPr>
                <a:stCxn id="33" idx="1"/>
                <a:endCxn id="33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文本框 34"/>
              <p:cNvSpPr txBox="1"/>
              <p:nvPr/>
            </p:nvSpPr>
            <p:spPr>
              <a:xfrm>
                <a:off x="749300" y="2044700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1356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673100" y="1282978"/>
                <a:ext cx="7493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1249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711200" y="1725929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  A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8" name="肘形连接符 7"/>
            <p:cNvCxnSpPr>
              <a:endCxn id="37" idx="1"/>
            </p:cNvCxnSpPr>
            <p:nvPr/>
          </p:nvCxnSpPr>
          <p:spPr bwMode="auto">
            <a:xfrm>
              <a:off x="1397000" y="1910596"/>
              <a:ext cx="584201" cy="624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9" name="组合 8"/>
            <p:cNvGrpSpPr/>
            <p:nvPr/>
          </p:nvGrpSpPr>
          <p:grpSpPr>
            <a:xfrm>
              <a:off x="2692400" y="1282978"/>
              <a:ext cx="1270000" cy="1144014"/>
              <a:chOff x="2692400" y="1282978"/>
              <a:chExt cx="1270000" cy="114401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3213100" y="1282978"/>
                <a:ext cx="749300" cy="1144014"/>
                <a:chOff x="673100" y="1282978"/>
                <a:chExt cx="749300" cy="1144014"/>
              </a:xfrm>
            </p:grpSpPr>
            <p:sp>
              <p:nvSpPr>
                <p:cNvPr id="28" name="矩形 27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9" name="直接连接符 28"/>
                <p:cNvCxnSpPr>
                  <a:stCxn id="28" idx="1"/>
                  <a:endCxn id="28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" name="文本框 29"/>
                <p:cNvSpPr txBox="1"/>
                <p:nvPr/>
              </p:nvSpPr>
              <p:spPr>
                <a:xfrm>
                  <a:off x="749300" y="2044700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7" name="肘形连接符 26"/>
              <p:cNvCxnSpPr>
                <a:endCxn id="32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3987800" y="1322427"/>
              <a:ext cx="1270000" cy="1144014"/>
              <a:chOff x="2692400" y="1282978"/>
              <a:chExt cx="1270000" cy="114401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3213100" y="1282978"/>
                <a:ext cx="749300" cy="1144014"/>
                <a:chOff x="673100" y="1282978"/>
                <a:chExt cx="749300" cy="1144014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2" name="直接连接符 21"/>
                <p:cNvCxnSpPr>
                  <a:stCxn id="21" idx="1"/>
                  <a:endCxn id="21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" name="文本框 22"/>
                <p:cNvSpPr txBox="1"/>
                <p:nvPr/>
              </p:nvSpPr>
              <p:spPr>
                <a:xfrm>
                  <a:off x="749300" y="2044700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0" name="肘形连接符 19"/>
              <p:cNvCxnSpPr>
                <a:endCxn id="25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1" name="组合 10"/>
            <p:cNvGrpSpPr/>
            <p:nvPr/>
          </p:nvGrpSpPr>
          <p:grpSpPr>
            <a:xfrm>
              <a:off x="5245100" y="1319846"/>
              <a:ext cx="1270000" cy="1144013"/>
              <a:chOff x="2692400" y="1282978"/>
              <a:chExt cx="1270000" cy="1144013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213100" y="1282978"/>
                <a:ext cx="749300" cy="1144013"/>
                <a:chOff x="673100" y="1282978"/>
                <a:chExt cx="749300" cy="1144013"/>
              </a:xfrm>
            </p:grpSpPr>
            <p:sp>
              <p:nvSpPr>
                <p:cNvPr id="14" name="矩形 13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5" name="直接连接符 14"/>
                <p:cNvCxnSpPr>
                  <a:stCxn id="14" idx="1"/>
                  <a:endCxn id="14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" name="文本框 15"/>
                <p:cNvSpPr txBox="1"/>
                <p:nvPr/>
              </p:nvSpPr>
              <p:spPr>
                <a:xfrm>
                  <a:off x="749300" y="2044700"/>
                  <a:ext cx="673100" cy="3822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CC"/>
                      </a:solidFill>
                      <a:latin typeface="+mn-ea"/>
                      <a:ea typeface="+mn-ea"/>
                    </a:rPr>
                    <a:t>NULL</a:t>
                  </a:r>
                  <a:endParaRPr lang="zh-CN" altLang="en-US" b="1" dirty="0">
                    <a:solidFill>
                      <a:srgbClr val="0000CC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3" name="肘形连接符 12"/>
              <p:cNvCxnSpPr>
                <a:endCxn id="18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95477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带有头结点</a:t>
            </a:r>
            <a:r>
              <a:rPr lang="zh-CN" altLang="en-US" dirty="0" smtClean="0"/>
              <a:t>的单向链表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644" y="3413428"/>
            <a:ext cx="8329751" cy="145118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006600"/>
                </a:solidFill>
              </a:rPr>
              <a:t>注：带头结点的链表</a:t>
            </a:r>
            <a:endParaRPr kumimoji="1" lang="en-US" altLang="zh-CN" sz="1800" b="1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b="1" dirty="0" smtClean="0">
                <a:solidFill>
                  <a:srgbClr val="030DCD"/>
                </a:solidFill>
              </a:rPr>
              <a:t>在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链表首</a:t>
            </a:r>
            <a:r>
              <a:rPr kumimoji="1" lang="zh-CN" altLang="en-US" sz="1600" b="1" dirty="0">
                <a:solidFill>
                  <a:srgbClr val="7030A0"/>
                </a:solidFill>
              </a:rPr>
              <a:t>插入、删除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时比较方便，也便于对空链表的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处理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（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空与非空处理统一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）</a:t>
            </a:r>
            <a:endParaRPr kumimoji="1" lang="en-US" altLang="zh-CN" sz="16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b="1" dirty="0" smtClean="0">
                <a:solidFill>
                  <a:srgbClr val="030DCD"/>
                </a:solidFill>
              </a:rPr>
              <a:t>头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结点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的数据域可以不保存任何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信息，</a:t>
            </a:r>
            <a:r>
              <a:rPr kumimoji="1" lang="zh-CN" altLang="en-US" sz="1600" b="1" u="sng" dirty="0">
                <a:solidFill>
                  <a:srgbClr val="7030A0"/>
                </a:solidFill>
              </a:rPr>
              <a:t>也可以</a:t>
            </a:r>
            <a:r>
              <a:rPr kumimoji="1" lang="zh-CN" altLang="en-US" sz="1600" b="1" u="sng" dirty="0" smtClean="0">
                <a:solidFill>
                  <a:srgbClr val="7030A0"/>
                </a:solidFill>
              </a:rPr>
              <a:t>记录链表长度等</a:t>
            </a:r>
            <a:r>
              <a:rPr kumimoji="1" lang="zh-CN" altLang="en-US" sz="1600" b="1" u="sng" dirty="0">
                <a:solidFill>
                  <a:srgbClr val="7030A0"/>
                </a:solidFill>
              </a:rPr>
              <a:t>相关信息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。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2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046574" y="1416318"/>
            <a:ext cx="6563441" cy="1143575"/>
            <a:chOff x="1051289" y="1152496"/>
            <a:chExt cx="6563441" cy="1143575"/>
          </a:xfrm>
        </p:grpSpPr>
        <p:grpSp>
          <p:nvGrpSpPr>
            <p:cNvPr id="7" name="组合 6"/>
            <p:cNvGrpSpPr/>
            <p:nvPr/>
          </p:nvGrpSpPr>
          <p:grpSpPr>
            <a:xfrm>
              <a:off x="2410240" y="1152496"/>
              <a:ext cx="852958" cy="1105232"/>
              <a:chOff x="673100" y="1282978"/>
              <a:chExt cx="749300" cy="1144014"/>
            </a:xfrm>
          </p:grpSpPr>
          <p:sp>
            <p:nvSpPr>
              <p:cNvPr id="33" name="矩形 32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" name="直接连接符 33"/>
              <p:cNvCxnSpPr>
                <a:stCxn id="33" idx="1"/>
                <a:endCxn id="33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文本框 34"/>
              <p:cNvSpPr txBox="1"/>
              <p:nvPr/>
            </p:nvSpPr>
            <p:spPr>
              <a:xfrm>
                <a:off x="749300" y="2044700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1356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673100" y="1282978"/>
                <a:ext cx="7493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1249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711200" y="1725929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  A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817507" y="1152727"/>
              <a:ext cx="2891383" cy="1105232"/>
              <a:chOff x="1422401" y="1282978"/>
              <a:chExt cx="2539999" cy="114401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3213100" y="1282978"/>
                <a:ext cx="749300" cy="1144014"/>
                <a:chOff x="673100" y="1282978"/>
                <a:chExt cx="749300" cy="1144014"/>
              </a:xfrm>
            </p:grpSpPr>
            <p:sp>
              <p:nvSpPr>
                <p:cNvPr id="28" name="矩形 27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9" name="直接连接符 28"/>
                <p:cNvCxnSpPr>
                  <a:stCxn id="28" idx="1"/>
                  <a:endCxn id="28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" name="文本框 29"/>
                <p:cNvSpPr txBox="1"/>
                <p:nvPr/>
              </p:nvSpPr>
              <p:spPr>
                <a:xfrm>
                  <a:off x="749300" y="2044700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7" name="肘形连接符 26"/>
              <p:cNvCxnSpPr>
                <a:endCxn id="32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cxnSp>
            <p:nvCxnSpPr>
              <p:cNvPr id="48" name="肘形连接符 47"/>
              <p:cNvCxnSpPr/>
              <p:nvPr/>
            </p:nvCxnSpPr>
            <p:spPr bwMode="auto">
              <a:xfrm flipV="1">
                <a:off x="1422401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4737803" y="1190839"/>
              <a:ext cx="1445692" cy="1105232"/>
              <a:chOff x="2692400" y="1282978"/>
              <a:chExt cx="1270000" cy="114401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3213100" y="1282978"/>
                <a:ext cx="749300" cy="1144014"/>
                <a:chOff x="673100" y="1282978"/>
                <a:chExt cx="749300" cy="1144014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2" name="直接连接符 21"/>
                <p:cNvCxnSpPr>
                  <a:stCxn id="21" idx="1"/>
                  <a:endCxn id="21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" name="文本框 22"/>
                <p:cNvSpPr txBox="1"/>
                <p:nvPr/>
              </p:nvSpPr>
              <p:spPr>
                <a:xfrm>
                  <a:off x="749300" y="2044700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0" name="肘形连接符 19"/>
              <p:cNvCxnSpPr>
                <a:endCxn id="25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1" name="组合 10"/>
            <p:cNvGrpSpPr/>
            <p:nvPr/>
          </p:nvGrpSpPr>
          <p:grpSpPr>
            <a:xfrm>
              <a:off x="6169038" y="1188345"/>
              <a:ext cx="1445692" cy="1105231"/>
              <a:chOff x="2692400" y="1282978"/>
              <a:chExt cx="1270000" cy="1144013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213100" y="1282978"/>
                <a:ext cx="749300" cy="1144013"/>
                <a:chOff x="673100" y="1282978"/>
                <a:chExt cx="749300" cy="1144013"/>
              </a:xfrm>
            </p:grpSpPr>
            <p:sp>
              <p:nvSpPr>
                <p:cNvPr id="14" name="矩形 13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5" name="直接连接符 14"/>
                <p:cNvCxnSpPr>
                  <a:stCxn id="14" idx="1"/>
                  <a:endCxn id="14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" name="文本框 15"/>
                <p:cNvSpPr txBox="1"/>
                <p:nvPr/>
              </p:nvSpPr>
              <p:spPr>
                <a:xfrm>
                  <a:off x="749300" y="2044700"/>
                  <a:ext cx="673100" cy="3822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CC"/>
                      </a:solidFill>
                      <a:latin typeface="+mn-ea"/>
                      <a:ea typeface="+mn-ea"/>
                    </a:rPr>
                    <a:t>NULL</a:t>
                  </a:r>
                  <a:endParaRPr lang="zh-CN" altLang="en-US" b="1" dirty="0">
                    <a:solidFill>
                      <a:srgbClr val="0000CC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673100" y="1282978"/>
                  <a:ext cx="7493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11200" y="1725929"/>
                  <a:ext cx="673100" cy="3822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3" name="肘形连接符 12"/>
              <p:cNvCxnSpPr>
                <a:endCxn id="18" idx="1"/>
              </p:cNvCxnSpPr>
              <p:nvPr/>
            </p:nvCxnSpPr>
            <p:spPr bwMode="auto">
              <a:xfrm flipV="1">
                <a:off x="2692400" y="1917075"/>
                <a:ext cx="558800" cy="312531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39" name="组合 38"/>
            <p:cNvGrpSpPr/>
            <p:nvPr/>
          </p:nvGrpSpPr>
          <p:grpSpPr>
            <a:xfrm>
              <a:off x="1051289" y="1177321"/>
              <a:ext cx="852958" cy="1105232"/>
              <a:chOff x="673100" y="1282978"/>
              <a:chExt cx="749300" cy="1144014"/>
            </a:xfrm>
          </p:grpSpPr>
          <p:sp>
            <p:nvSpPr>
              <p:cNvPr id="42" name="矩形 41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3" name="直接连接符 42"/>
              <p:cNvCxnSpPr>
                <a:stCxn id="42" idx="1"/>
                <a:endCxn id="42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" name="文本框 43"/>
              <p:cNvSpPr txBox="1"/>
              <p:nvPr/>
            </p:nvSpPr>
            <p:spPr>
              <a:xfrm>
                <a:off x="749300" y="2044700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1249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73100" y="1282978"/>
                <a:ext cx="7493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030DCD"/>
                    </a:solidFill>
                    <a:latin typeface="+mn-ea"/>
                    <a:ea typeface="+mn-ea"/>
                  </a:rPr>
                  <a:t>head</a:t>
                </a:r>
                <a:endParaRPr lang="zh-CN" altLang="en-US" b="1" dirty="0">
                  <a:solidFill>
                    <a:srgbClr val="030DCD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711200" y="1725929"/>
                <a:ext cx="673100" cy="38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  </a:t>
                </a:r>
                <a:endParaRPr lang="zh-CN" altLang="en-US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816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创建一个简单的单向链表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31154"/>
            <a:ext cx="8089900" cy="5345112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zh-CN" altLang="zh-CN" sz="1800" dirty="0">
                <a:solidFill>
                  <a:srgbClr val="000118"/>
                </a:solidFill>
              </a:rPr>
              <a:t> </a:t>
            </a:r>
            <a:r>
              <a:rPr lang="en-US" altLang="zh-CN" sz="1800" dirty="0" err="1">
                <a:solidFill>
                  <a:srgbClr val="000118"/>
                </a:solidFill>
              </a:rPr>
              <a:t>int</a:t>
            </a:r>
            <a:r>
              <a:rPr lang="en-US" altLang="zh-CN" sz="1800" dirty="0">
                <a:solidFill>
                  <a:srgbClr val="000118"/>
                </a:solidFill>
              </a:rPr>
              <a:t> main()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{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  <a:r>
              <a:rPr lang="en-US" altLang="zh-CN" sz="1800" dirty="0">
                <a:solidFill>
                  <a:srgbClr val="C00000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  </a:t>
            </a:r>
            <a:r>
              <a:rPr lang="en-US" altLang="zh-CN" sz="1800" b="1" dirty="0">
                <a:solidFill>
                  <a:srgbClr val="006600"/>
                </a:solidFill>
              </a:rPr>
              <a:t>a</a:t>
            </a:r>
            <a:r>
              <a:rPr lang="zh-CN" altLang="en-US" sz="1800" b="1" dirty="0">
                <a:solidFill>
                  <a:srgbClr val="006600"/>
                </a:solidFill>
              </a:rPr>
              <a:t>，</a:t>
            </a:r>
            <a:r>
              <a:rPr lang="en-US" altLang="zh-CN" sz="1800" b="1" dirty="0">
                <a:solidFill>
                  <a:srgbClr val="006600"/>
                </a:solidFill>
              </a:rPr>
              <a:t>b</a:t>
            </a:r>
            <a:r>
              <a:rPr lang="zh-CN" altLang="en-US" sz="1800" b="1" dirty="0">
                <a:solidFill>
                  <a:srgbClr val="006600"/>
                </a:solidFill>
              </a:rPr>
              <a:t>，</a:t>
            </a:r>
            <a:r>
              <a:rPr lang="en-US" altLang="zh-CN" sz="1800" b="1" dirty="0">
                <a:solidFill>
                  <a:srgbClr val="006600"/>
                </a:solidFill>
              </a:rPr>
              <a:t>c</a:t>
            </a:r>
            <a:r>
              <a:rPr lang="zh-CN" altLang="en-US" sz="1800" b="1" dirty="0">
                <a:solidFill>
                  <a:srgbClr val="006600"/>
                </a:solidFill>
              </a:rPr>
              <a:t>；  </a:t>
            </a:r>
            <a:r>
              <a:rPr lang="en-US" altLang="zh-CN" sz="1800" b="1" dirty="0">
                <a:solidFill>
                  <a:srgbClr val="7030A0"/>
                </a:solidFill>
              </a:rPr>
              <a:t>//</a:t>
            </a:r>
            <a:r>
              <a:rPr lang="zh-CN" altLang="en-US" sz="1800" b="1" dirty="0">
                <a:solidFill>
                  <a:srgbClr val="7030A0"/>
                </a:solidFill>
              </a:rPr>
              <a:t>定义</a:t>
            </a:r>
            <a:r>
              <a:rPr lang="en-US" altLang="zh-CN" sz="1800" b="1" dirty="0">
                <a:solidFill>
                  <a:srgbClr val="7030A0"/>
                </a:solidFill>
              </a:rPr>
              <a:t>3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个结构体类型</a:t>
            </a:r>
            <a:r>
              <a:rPr lang="zh-CN" altLang="en-US" sz="1800" b="1" dirty="0">
                <a:solidFill>
                  <a:srgbClr val="7030A0"/>
                </a:solidFill>
              </a:rPr>
              <a:t>变量，对应链表的三个结点；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1800" b="1" dirty="0">
                <a:solidFill>
                  <a:srgbClr val="006600"/>
                </a:solidFill>
              </a:rPr>
              <a:t>    </a:t>
            </a:r>
            <a:r>
              <a:rPr lang="en-US" altLang="zh-CN" sz="1800" dirty="0">
                <a:solidFill>
                  <a:srgbClr val="000118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  </a:t>
            </a:r>
            <a:r>
              <a:rPr lang="zh-CN" altLang="en-US" sz="1800" b="1" dirty="0">
                <a:solidFill>
                  <a:srgbClr val="006600"/>
                </a:solidFill>
              </a:rPr>
              <a:t>*</a:t>
            </a:r>
            <a:r>
              <a:rPr lang="en-US" altLang="zh-CN" sz="1800" b="1" dirty="0">
                <a:solidFill>
                  <a:srgbClr val="006600"/>
                </a:solidFill>
              </a:rPr>
              <a:t>head;       </a:t>
            </a:r>
            <a:r>
              <a:rPr lang="en-US" altLang="zh-CN" sz="1800" b="1" dirty="0">
                <a:solidFill>
                  <a:srgbClr val="C00000"/>
                </a:solidFill>
              </a:rPr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定义链表的头指针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；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链表头是一个结构体指针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)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  <a:r>
              <a:rPr lang="en-US" altLang="zh-CN" sz="1800" dirty="0">
                <a:solidFill>
                  <a:srgbClr val="1C02E0"/>
                </a:solidFill>
              </a:rPr>
              <a:t>// </a:t>
            </a:r>
            <a:r>
              <a:rPr lang="zh-CN" altLang="en-US" sz="1800" dirty="0">
                <a:solidFill>
                  <a:srgbClr val="1C02E0"/>
                </a:solidFill>
              </a:rPr>
              <a:t>对结点</a:t>
            </a:r>
            <a:r>
              <a:rPr lang="zh-CN" altLang="en-US" sz="1800" dirty="0" smtClean="0">
                <a:solidFill>
                  <a:srgbClr val="1C02E0"/>
                </a:solidFill>
              </a:rPr>
              <a:t>的</a:t>
            </a:r>
            <a:r>
              <a:rPr lang="en-US" altLang="zh-CN" sz="1800" dirty="0" smtClean="0">
                <a:solidFill>
                  <a:srgbClr val="1C02E0"/>
                </a:solidFill>
              </a:rPr>
              <a:t>ID</a:t>
            </a:r>
            <a:r>
              <a:rPr lang="zh-CN" altLang="en-US" sz="1800" dirty="0" smtClean="0">
                <a:solidFill>
                  <a:srgbClr val="1C02E0"/>
                </a:solidFill>
              </a:rPr>
              <a:t>和</a:t>
            </a:r>
            <a:r>
              <a:rPr lang="en-US" altLang="zh-CN" sz="1800" dirty="0">
                <a:solidFill>
                  <a:srgbClr val="1C02E0"/>
                </a:solidFill>
              </a:rPr>
              <a:t>score</a:t>
            </a:r>
            <a:r>
              <a:rPr lang="zh-CN" altLang="en-US" sz="1800" dirty="0">
                <a:solidFill>
                  <a:srgbClr val="1C02E0"/>
                </a:solidFill>
              </a:rPr>
              <a:t>成员赋值</a:t>
            </a:r>
            <a:endParaRPr lang="en-US" altLang="zh-CN" sz="1800" dirty="0">
              <a:solidFill>
                <a:srgbClr val="1C02E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a. ID=99101; </a:t>
            </a:r>
            <a:r>
              <a:rPr lang="en-US" altLang="zh-CN" sz="1800" dirty="0" err="1">
                <a:solidFill>
                  <a:srgbClr val="000118"/>
                </a:solidFill>
              </a:rPr>
              <a:t>a.score</a:t>
            </a:r>
            <a:r>
              <a:rPr lang="en-US" altLang="zh-CN" sz="1800" dirty="0">
                <a:solidFill>
                  <a:srgbClr val="000118"/>
                </a:solidFill>
              </a:rPr>
              <a:t>=89.5;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b. ID=99103; </a:t>
            </a:r>
            <a:r>
              <a:rPr lang="en-US" altLang="zh-CN" sz="1800" dirty="0" err="1">
                <a:solidFill>
                  <a:srgbClr val="000118"/>
                </a:solidFill>
              </a:rPr>
              <a:t>b.score</a:t>
            </a:r>
            <a:r>
              <a:rPr lang="en-US" altLang="zh-CN" sz="1800" dirty="0">
                <a:solidFill>
                  <a:srgbClr val="000118"/>
                </a:solidFill>
              </a:rPr>
              <a:t>=90;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c. ID=99107; </a:t>
            </a:r>
            <a:r>
              <a:rPr lang="en-US" altLang="zh-CN" sz="1800" dirty="0" err="1">
                <a:solidFill>
                  <a:srgbClr val="000118"/>
                </a:solidFill>
              </a:rPr>
              <a:t>c.score</a:t>
            </a:r>
            <a:r>
              <a:rPr lang="en-US" altLang="zh-CN" sz="1800" dirty="0">
                <a:solidFill>
                  <a:srgbClr val="000118"/>
                </a:solidFill>
              </a:rPr>
              <a:t>=85;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1C02E0"/>
                </a:solidFill>
              </a:rPr>
              <a:t>     //  </a:t>
            </a:r>
            <a:r>
              <a:rPr lang="zh-CN" altLang="en-US" sz="1800" dirty="0">
                <a:solidFill>
                  <a:srgbClr val="1C02E0"/>
                </a:solidFill>
              </a:rPr>
              <a:t>根据</a:t>
            </a:r>
            <a:r>
              <a:rPr lang="en-US" altLang="zh-CN" sz="1800" dirty="0">
                <a:solidFill>
                  <a:srgbClr val="1C02E0"/>
                </a:solidFill>
              </a:rPr>
              <a:t>head</a:t>
            </a:r>
            <a:r>
              <a:rPr lang="zh-CN" altLang="en-US" sz="1800" dirty="0">
                <a:solidFill>
                  <a:srgbClr val="1C02E0"/>
                </a:solidFill>
              </a:rPr>
              <a:t>可以访问到链表中的任何结点；</a:t>
            </a:r>
            <a:endParaRPr lang="en-US" altLang="zh-CN" sz="1800" dirty="0">
              <a:solidFill>
                <a:srgbClr val="1C02E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head=&amp;a;           </a:t>
            </a:r>
            <a:r>
              <a:rPr lang="en-US" altLang="zh-CN" sz="1800" dirty="0">
                <a:solidFill>
                  <a:srgbClr val="000118"/>
                </a:solidFill>
              </a:rPr>
              <a:t>// </a:t>
            </a:r>
            <a:r>
              <a:rPr lang="zh-CN" altLang="en-US" sz="1800" dirty="0">
                <a:solidFill>
                  <a:srgbClr val="000118"/>
                </a:solidFill>
              </a:rPr>
              <a:t>将结点</a:t>
            </a:r>
            <a:r>
              <a:rPr lang="en-US" altLang="zh-CN" sz="1800" dirty="0">
                <a:solidFill>
                  <a:srgbClr val="000118"/>
                </a:solidFill>
              </a:rPr>
              <a:t>a</a:t>
            </a:r>
            <a:r>
              <a:rPr lang="zh-CN" altLang="en-US" sz="1800" dirty="0">
                <a:solidFill>
                  <a:srgbClr val="000118"/>
                </a:solidFill>
              </a:rPr>
              <a:t>的起始地址赋给头指针</a:t>
            </a:r>
            <a:r>
              <a:rPr lang="en-US" altLang="zh-CN" sz="1800" dirty="0">
                <a:solidFill>
                  <a:srgbClr val="000118"/>
                </a:solidFill>
              </a:rPr>
              <a:t>head;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   </a:t>
            </a:r>
            <a:r>
              <a:rPr lang="en-US" altLang="zh-CN" sz="1800" dirty="0" err="1">
                <a:solidFill>
                  <a:srgbClr val="7030A0"/>
                </a:solidFill>
              </a:rPr>
              <a:t>a.next</a:t>
            </a:r>
            <a:r>
              <a:rPr lang="en-US" altLang="zh-CN" sz="1800" dirty="0">
                <a:solidFill>
                  <a:srgbClr val="000118"/>
                </a:solidFill>
              </a:rPr>
              <a:t>=&amp;b;         // </a:t>
            </a:r>
            <a:r>
              <a:rPr lang="zh-CN" altLang="en-US" sz="1800" dirty="0">
                <a:solidFill>
                  <a:srgbClr val="000118"/>
                </a:solidFill>
              </a:rPr>
              <a:t>将结点</a:t>
            </a:r>
            <a:r>
              <a:rPr lang="en-US" altLang="zh-CN" sz="1800" dirty="0">
                <a:solidFill>
                  <a:srgbClr val="000118"/>
                </a:solidFill>
              </a:rPr>
              <a:t>b</a:t>
            </a:r>
            <a:r>
              <a:rPr lang="zh-CN" altLang="en-US" sz="1800" dirty="0">
                <a:solidFill>
                  <a:srgbClr val="000118"/>
                </a:solidFill>
              </a:rPr>
              <a:t>的起始地址赋给</a:t>
            </a:r>
            <a:r>
              <a:rPr lang="en-US" altLang="zh-CN" sz="1800" dirty="0">
                <a:solidFill>
                  <a:srgbClr val="000118"/>
                </a:solidFill>
              </a:rPr>
              <a:t>a</a:t>
            </a:r>
            <a:r>
              <a:rPr lang="zh-CN" altLang="en-US" sz="1800" dirty="0">
                <a:solidFill>
                  <a:srgbClr val="000118"/>
                </a:solidFill>
              </a:rPr>
              <a:t>结点的</a:t>
            </a:r>
            <a:r>
              <a:rPr lang="en-US" altLang="zh-CN" sz="1800" dirty="0">
                <a:solidFill>
                  <a:srgbClr val="000118"/>
                </a:solidFill>
              </a:rPr>
              <a:t>next</a:t>
            </a:r>
            <a:r>
              <a:rPr lang="zh-CN" altLang="en-US" sz="1800" dirty="0">
                <a:solidFill>
                  <a:srgbClr val="000118"/>
                </a:solidFill>
              </a:rPr>
              <a:t>成员</a:t>
            </a:r>
            <a:r>
              <a:rPr lang="en-US" altLang="zh-CN" sz="1800" dirty="0">
                <a:solidFill>
                  <a:srgbClr val="000118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  <a:r>
              <a:rPr lang="en-US" altLang="zh-CN" sz="1800" dirty="0" err="1">
                <a:solidFill>
                  <a:srgbClr val="000118"/>
                </a:solidFill>
              </a:rPr>
              <a:t>b.next</a:t>
            </a:r>
            <a:r>
              <a:rPr lang="en-US" altLang="zh-CN" sz="1800" dirty="0">
                <a:solidFill>
                  <a:srgbClr val="000118"/>
                </a:solidFill>
              </a:rPr>
              <a:t>=&amp;c;         // </a:t>
            </a:r>
            <a:r>
              <a:rPr lang="zh-CN" altLang="en-US" sz="1800" dirty="0">
                <a:solidFill>
                  <a:srgbClr val="000118"/>
                </a:solidFill>
              </a:rPr>
              <a:t>将结点</a:t>
            </a:r>
            <a:r>
              <a:rPr lang="en-US" altLang="zh-CN" sz="1800" dirty="0">
                <a:solidFill>
                  <a:srgbClr val="000118"/>
                </a:solidFill>
              </a:rPr>
              <a:t>c</a:t>
            </a:r>
            <a:r>
              <a:rPr lang="zh-CN" altLang="en-US" sz="1800" dirty="0">
                <a:solidFill>
                  <a:srgbClr val="000118"/>
                </a:solidFill>
              </a:rPr>
              <a:t>的起始地址赋给</a:t>
            </a:r>
            <a:r>
              <a:rPr lang="en-US" altLang="zh-CN" sz="1800" dirty="0">
                <a:solidFill>
                  <a:srgbClr val="000118"/>
                </a:solidFill>
              </a:rPr>
              <a:t>b</a:t>
            </a:r>
            <a:r>
              <a:rPr lang="zh-CN" altLang="en-US" sz="1800" dirty="0">
                <a:solidFill>
                  <a:srgbClr val="000118"/>
                </a:solidFill>
              </a:rPr>
              <a:t>结点的</a:t>
            </a:r>
            <a:r>
              <a:rPr lang="en-US" altLang="zh-CN" sz="1800" dirty="0">
                <a:solidFill>
                  <a:srgbClr val="000118"/>
                </a:solidFill>
              </a:rPr>
              <a:t>next</a:t>
            </a:r>
            <a:r>
              <a:rPr lang="zh-CN" altLang="en-US" sz="1800" dirty="0">
                <a:solidFill>
                  <a:srgbClr val="000118"/>
                </a:solidFill>
              </a:rPr>
              <a:t>成员</a:t>
            </a:r>
            <a:r>
              <a:rPr lang="en-US" altLang="zh-CN" sz="1800" dirty="0">
                <a:solidFill>
                  <a:srgbClr val="000118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  <a:r>
              <a:rPr lang="en-US" altLang="zh-CN" sz="1800" dirty="0" err="1">
                <a:solidFill>
                  <a:srgbClr val="000118"/>
                </a:solidFill>
              </a:rPr>
              <a:t>c.next</a:t>
            </a:r>
            <a:r>
              <a:rPr lang="en-US" altLang="zh-CN" sz="1800" dirty="0">
                <a:solidFill>
                  <a:srgbClr val="000118"/>
                </a:solidFill>
              </a:rPr>
              <a:t>=NULL;   // c</a:t>
            </a:r>
            <a:r>
              <a:rPr lang="zh-CN" altLang="en-US" sz="1800" dirty="0">
                <a:solidFill>
                  <a:srgbClr val="000118"/>
                </a:solidFill>
              </a:rPr>
              <a:t>结点的</a:t>
            </a:r>
            <a:r>
              <a:rPr lang="en-US" altLang="zh-CN" sz="1800" dirty="0">
                <a:solidFill>
                  <a:srgbClr val="000118"/>
                </a:solidFill>
              </a:rPr>
              <a:t>next</a:t>
            </a:r>
            <a:r>
              <a:rPr lang="zh-CN" altLang="en-US" sz="1800" dirty="0">
                <a:solidFill>
                  <a:srgbClr val="000118"/>
                </a:solidFill>
              </a:rPr>
              <a:t>成员不存放其他结点地址</a:t>
            </a:r>
            <a:r>
              <a:rPr lang="en-US" altLang="zh-CN" sz="1800" dirty="0">
                <a:solidFill>
                  <a:srgbClr val="000118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000118"/>
                </a:solidFill>
              </a:rPr>
              <a:t>     </a:t>
            </a:r>
            <a:r>
              <a:rPr lang="en-US" altLang="zh-CN" sz="1800" b="1" dirty="0">
                <a:solidFill>
                  <a:srgbClr val="030DCD"/>
                </a:solidFill>
              </a:rPr>
              <a:t>//</a:t>
            </a:r>
            <a:r>
              <a:rPr lang="zh-CN" altLang="en-US" sz="1800" b="1" dirty="0">
                <a:solidFill>
                  <a:srgbClr val="030DCD"/>
                </a:solidFill>
              </a:rPr>
              <a:t>有时为了方便，还可以定义一个指向链表尾结点的指针；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  <a:r>
              <a:rPr lang="en-US" altLang="zh-CN" sz="1800" dirty="0">
                <a:solidFill>
                  <a:srgbClr val="C00000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  </a:t>
            </a:r>
            <a:r>
              <a:rPr lang="zh-CN" altLang="en-US" sz="1800" b="1" dirty="0">
                <a:solidFill>
                  <a:srgbClr val="006600"/>
                </a:solidFill>
              </a:rPr>
              <a:t>*</a:t>
            </a:r>
            <a:r>
              <a:rPr lang="en-US" altLang="zh-CN" sz="1800" b="1" dirty="0">
                <a:solidFill>
                  <a:srgbClr val="006600"/>
                </a:solidFill>
              </a:rPr>
              <a:t>tail=&amp;c; 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buNone/>
            </a:pPr>
            <a:endParaRPr lang="zh-CN" altLang="en-US" sz="1800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46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由三个结点组成单向链表的构造过程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60206" y="3562917"/>
            <a:ext cx="85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+mn-lt"/>
                <a:ea typeface="+mn-ea"/>
              </a:rPr>
              <a:t>head</a:t>
            </a:r>
            <a:endParaRPr lang="zh-CN" altLang="en-US" sz="20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7" name="肘形连接符 6"/>
          <p:cNvCxnSpPr/>
          <p:nvPr/>
        </p:nvCxnSpPr>
        <p:spPr bwMode="auto">
          <a:xfrm>
            <a:off x="1226124" y="3819736"/>
            <a:ext cx="394192" cy="1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3" name="组合 42"/>
          <p:cNvGrpSpPr/>
          <p:nvPr/>
        </p:nvGrpSpPr>
        <p:grpSpPr>
          <a:xfrm>
            <a:off x="1602930" y="2881146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9" name="内容占位符 2"/>
          <p:cNvSpPr>
            <a:spLocks noGrp="1"/>
          </p:cNvSpPr>
          <p:nvPr>
            <p:ph idx="1"/>
          </p:nvPr>
        </p:nvSpPr>
        <p:spPr>
          <a:xfrm>
            <a:off x="485775" y="1168813"/>
            <a:ext cx="8089900" cy="5358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</a:rPr>
              <a:t>head=&amp;a;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376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由三个结点构成的单向链表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68813"/>
            <a:ext cx="8089900" cy="10750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118"/>
                </a:solidFill>
              </a:rPr>
              <a:t>head=&amp;a;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C00000"/>
                </a:solidFill>
              </a:rPr>
              <a:t>a.next</a:t>
            </a:r>
            <a:r>
              <a:rPr lang="en-US" altLang="zh-CN" dirty="0">
                <a:solidFill>
                  <a:srgbClr val="C00000"/>
                </a:solidFill>
              </a:rPr>
              <a:t>=&amp;b;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grpSp>
        <p:nvGrpSpPr>
          <p:cNvPr id="84" name="组合 83"/>
          <p:cNvGrpSpPr/>
          <p:nvPr/>
        </p:nvGrpSpPr>
        <p:grpSpPr>
          <a:xfrm>
            <a:off x="560206" y="3683452"/>
            <a:ext cx="1060110" cy="400110"/>
            <a:chOff x="560206" y="3683452"/>
            <a:chExt cx="1060110" cy="400110"/>
          </a:xfrm>
        </p:grpSpPr>
        <p:sp>
          <p:nvSpPr>
            <p:cNvPr id="38" name="文本框 37"/>
            <p:cNvSpPr txBox="1"/>
            <p:nvPr/>
          </p:nvSpPr>
          <p:spPr>
            <a:xfrm>
              <a:off x="560206" y="3683452"/>
              <a:ext cx="85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CC"/>
                  </a:solidFill>
                  <a:latin typeface="+mn-lt"/>
                  <a:ea typeface="+mn-ea"/>
                </a:rPr>
                <a:t>head</a:t>
              </a:r>
              <a:endParaRPr lang="zh-CN" altLang="en-US" sz="2000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  <p:cxnSp>
          <p:nvCxnSpPr>
            <p:cNvPr id="7" name="肘形连接符 6"/>
            <p:cNvCxnSpPr/>
            <p:nvPr/>
          </p:nvCxnSpPr>
          <p:spPr bwMode="auto">
            <a:xfrm>
              <a:off x="1226124" y="3940271"/>
              <a:ext cx="394192" cy="176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43" name="组合 42"/>
          <p:cNvGrpSpPr/>
          <p:nvPr/>
        </p:nvGrpSpPr>
        <p:grpSpPr>
          <a:xfrm>
            <a:off x="1602930" y="3001681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92550" y="3036646"/>
            <a:ext cx="1481900" cy="1873705"/>
            <a:chOff x="666030" y="1282978"/>
            <a:chExt cx="756370" cy="1130022"/>
          </a:xfrm>
        </p:grpSpPr>
        <p:sp>
          <p:nvSpPr>
            <p:cNvPr id="17" name="矩形 16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文本框 18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4" name="肘形连接符 23"/>
          <p:cNvCxnSpPr/>
          <p:nvPr/>
        </p:nvCxnSpPr>
        <p:spPr bwMode="auto">
          <a:xfrm flipV="1">
            <a:off x="2827428" y="3637926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5" name="文本框 24"/>
          <p:cNvSpPr txBox="1"/>
          <p:nvPr/>
        </p:nvSpPr>
        <p:spPr>
          <a:xfrm>
            <a:off x="1676023" y="4441224"/>
            <a:ext cx="1318755" cy="3504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948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由三个结点构成的单向链表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68813"/>
            <a:ext cx="8089900" cy="13477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118"/>
                </a:solidFill>
              </a:rPr>
              <a:t>head=&amp;a;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0118"/>
                </a:solidFill>
              </a:rPr>
              <a:t>a.next</a:t>
            </a:r>
            <a:r>
              <a:rPr lang="en-US" altLang="zh-CN" dirty="0">
                <a:solidFill>
                  <a:srgbClr val="000118"/>
                </a:solidFill>
              </a:rPr>
              <a:t>=&amp;b;</a:t>
            </a:r>
            <a:endParaRPr lang="zh-CN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C00000"/>
                </a:solidFill>
              </a:rPr>
              <a:t>b.next</a:t>
            </a:r>
            <a:r>
              <a:rPr lang="en-US" altLang="zh-CN" dirty="0">
                <a:solidFill>
                  <a:srgbClr val="C00000"/>
                </a:solidFill>
              </a:rPr>
              <a:t>=&amp;c; </a:t>
            </a:r>
            <a:r>
              <a:rPr lang="en-US" altLang="zh-CN" dirty="0" err="1">
                <a:solidFill>
                  <a:srgbClr val="C00000"/>
                </a:solidFill>
              </a:rPr>
              <a:t>c.next</a:t>
            </a:r>
            <a:r>
              <a:rPr lang="en-US" altLang="zh-CN" dirty="0">
                <a:solidFill>
                  <a:srgbClr val="C00000"/>
                </a:solidFill>
              </a:rPr>
              <a:t>=NULL; 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grpSp>
        <p:nvGrpSpPr>
          <p:cNvPr id="84" name="组合 83"/>
          <p:cNvGrpSpPr/>
          <p:nvPr/>
        </p:nvGrpSpPr>
        <p:grpSpPr>
          <a:xfrm>
            <a:off x="560206" y="3683452"/>
            <a:ext cx="1060110" cy="400110"/>
            <a:chOff x="560206" y="3683452"/>
            <a:chExt cx="1060110" cy="400110"/>
          </a:xfrm>
        </p:grpSpPr>
        <p:sp>
          <p:nvSpPr>
            <p:cNvPr id="38" name="文本框 37"/>
            <p:cNvSpPr txBox="1"/>
            <p:nvPr/>
          </p:nvSpPr>
          <p:spPr>
            <a:xfrm>
              <a:off x="560206" y="3683452"/>
              <a:ext cx="85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CC"/>
                  </a:solidFill>
                  <a:latin typeface="+mn-lt"/>
                  <a:ea typeface="+mn-ea"/>
                </a:rPr>
                <a:t>head</a:t>
              </a:r>
              <a:endParaRPr lang="zh-CN" altLang="en-US" sz="2000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  <p:cxnSp>
          <p:nvCxnSpPr>
            <p:cNvPr id="7" name="肘形连接符 6"/>
            <p:cNvCxnSpPr/>
            <p:nvPr/>
          </p:nvCxnSpPr>
          <p:spPr bwMode="auto">
            <a:xfrm>
              <a:off x="1226124" y="3940271"/>
              <a:ext cx="394192" cy="176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43" name="组合 42"/>
          <p:cNvGrpSpPr/>
          <p:nvPr/>
        </p:nvGrpSpPr>
        <p:grpSpPr>
          <a:xfrm>
            <a:off x="1602930" y="3001681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92550" y="3036646"/>
            <a:ext cx="1481900" cy="1873705"/>
            <a:chOff x="666030" y="1282978"/>
            <a:chExt cx="756370" cy="1130022"/>
          </a:xfrm>
        </p:grpSpPr>
        <p:sp>
          <p:nvSpPr>
            <p:cNvPr id="17" name="矩形 16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文本框 18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704130" y="1851950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r>
                <a:rPr lang="en-US" altLang="zh-CN" b="1" dirty="0" smtClean="0">
                  <a:solidFill>
                    <a:srgbClr val="000000"/>
                  </a:solidFill>
                  <a:latin typeface="+mn-lt"/>
                  <a:ea typeface="+mn-ea"/>
                </a:rPr>
                <a:t> 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4" name="肘形连接符 23"/>
          <p:cNvCxnSpPr/>
          <p:nvPr/>
        </p:nvCxnSpPr>
        <p:spPr bwMode="auto">
          <a:xfrm flipV="1">
            <a:off x="2827428" y="3637926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5" name="组合 4"/>
          <p:cNvGrpSpPr/>
          <p:nvPr/>
        </p:nvGrpSpPr>
        <p:grpSpPr>
          <a:xfrm>
            <a:off x="6411641" y="2978009"/>
            <a:ext cx="1481900" cy="1873705"/>
            <a:chOff x="6411641" y="2978009"/>
            <a:chExt cx="1481900" cy="1873705"/>
          </a:xfrm>
        </p:grpSpPr>
        <p:sp>
          <p:nvSpPr>
            <p:cNvPr id="29" name="文本框 28"/>
            <p:cNvSpPr txBox="1"/>
            <p:nvPr/>
          </p:nvSpPr>
          <p:spPr>
            <a:xfrm>
              <a:off x="6425493" y="2978009"/>
              <a:ext cx="146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411641" y="3381257"/>
              <a:ext cx="1481900" cy="1470457"/>
              <a:chOff x="6411641" y="3381257"/>
              <a:chExt cx="1481900" cy="1470457"/>
            </a:xfrm>
          </p:grpSpPr>
          <p:sp>
            <p:nvSpPr>
              <p:cNvPr id="27" name="矩形 26"/>
              <p:cNvSpPr/>
              <p:nvPr/>
            </p:nvSpPr>
            <p:spPr bwMode="auto">
              <a:xfrm>
                <a:off x="6425493" y="3381257"/>
                <a:ext cx="1468048" cy="1470457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 bwMode="auto">
              <a:xfrm>
                <a:off x="6425493" y="3891190"/>
                <a:ext cx="146804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6498586" y="3436676"/>
                <a:ext cx="1318755" cy="3504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 99107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 bwMode="auto">
              <a:xfrm>
                <a:off x="6411641" y="4376288"/>
                <a:ext cx="146804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" name="文本框 31"/>
              <p:cNvSpPr txBox="1"/>
              <p:nvPr/>
            </p:nvSpPr>
            <p:spPr>
              <a:xfrm>
                <a:off x="6486288" y="3957187"/>
                <a:ext cx="1318755" cy="3504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 </a:t>
                </a:r>
                <a:r>
                  <a:rPr lang="en-US" altLang="zh-CN" b="1" dirty="0" smtClean="0">
                    <a:solidFill>
                      <a:srgbClr val="000000"/>
                    </a:solidFill>
                    <a:latin typeface="+mn-lt"/>
                    <a:ea typeface="+mn-ea"/>
                  </a:rPr>
                  <a:t>   85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6565274" y="4462458"/>
            <a:ext cx="1318755" cy="3504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+mn-ea"/>
              </a:rPr>
              <a:t>NULL</a:t>
            </a:r>
            <a:endParaRPr lang="zh-CN" altLang="en-US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34" name="肘形连接符 33"/>
          <p:cNvCxnSpPr/>
          <p:nvPr/>
        </p:nvCxnSpPr>
        <p:spPr bwMode="auto">
          <a:xfrm flipV="1">
            <a:off x="5246519" y="3691844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98251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由三个结点构成的单向链表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61875"/>
            <a:ext cx="8089900" cy="1501287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118"/>
                </a:solidFill>
              </a:rPr>
              <a:t>head=&amp;a;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000118"/>
                </a:solidFill>
              </a:rPr>
              <a:t>a.next</a:t>
            </a:r>
            <a:r>
              <a:rPr lang="en-US" altLang="zh-CN" sz="2000" dirty="0">
                <a:solidFill>
                  <a:srgbClr val="000118"/>
                </a:solidFill>
              </a:rPr>
              <a:t>=&amp;b;</a:t>
            </a:r>
            <a:endParaRPr lang="zh-CN" altLang="en-US" sz="2000" dirty="0">
              <a:solidFill>
                <a:srgbClr val="000118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000118"/>
                </a:solidFill>
              </a:rPr>
              <a:t>b.next</a:t>
            </a:r>
            <a:r>
              <a:rPr lang="en-US" altLang="zh-CN" sz="2000" dirty="0">
                <a:solidFill>
                  <a:srgbClr val="000118"/>
                </a:solidFill>
              </a:rPr>
              <a:t>=&amp;c; </a:t>
            </a:r>
            <a:r>
              <a:rPr lang="en-US" altLang="zh-CN" sz="2000" dirty="0" err="1">
                <a:solidFill>
                  <a:srgbClr val="000118"/>
                </a:solidFill>
              </a:rPr>
              <a:t>c.next</a:t>
            </a:r>
            <a:r>
              <a:rPr lang="en-US" altLang="zh-CN" sz="2000" dirty="0">
                <a:solidFill>
                  <a:srgbClr val="000118"/>
                </a:solidFill>
              </a:rPr>
              <a:t>=NULL ;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C00000"/>
                </a:solidFill>
              </a:rPr>
              <a:t>tail=&amp;c;   </a:t>
            </a:r>
            <a:r>
              <a:rPr lang="en-US" altLang="zh-CN" sz="2000" dirty="0">
                <a:solidFill>
                  <a:srgbClr val="006600"/>
                </a:solidFill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</a:rPr>
              <a:t>有时为了操作方便</a:t>
            </a:r>
          </a:p>
          <a:p>
            <a:endParaRPr lang="zh-CN" altLang="en-US" dirty="0"/>
          </a:p>
        </p:txBody>
      </p:sp>
      <p:grpSp>
        <p:nvGrpSpPr>
          <p:cNvPr id="84" name="组合 83"/>
          <p:cNvGrpSpPr/>
          <p:nvPr/>
        </p:nvGrpSpPr>
        <p:grpSpPr>
          <a:xfrm>
            <a:off x="560206" y="3683452"/>
            <a:ext cx="1060110" cy="400110"/>
            <a:chOff x="560206" y="3683452"/>
            <a:chExt cx="1060110" cy="400110"/>
          </a:xfrm>
        </p:grpSpPr>
        <p:sp>
          <p:nvSpPr>
            <p:cNvPr id="38" name="文本框 37"/>
            <p:cNvSpPr txBox="1"/>
            <p:nvPr/>
          </p:nvSpPr>
          <p:spPr>
            <a:xfrm>
              <a:off x="560206" y="3683452"/>
              <a:ext cx="852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CC"/>
                  </a:solidFill>
                  <a:latin typeface="+mn-lt"/>
                  <a:ea typeface="+mn-ea"/>
                </a:rPr>
                <a:t>head</a:t>
              </a:r>
              <a:endParaRPr lang="zh-CN" altLang="en-US" sz="2000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  <p:cxnSp>
          <p:nvCxnSpPr>
            <p:cNvPr id="7" name="肘形连接符 6"/>
            <p:cNvCxnSpPr/>
            <p:nvPr/>
          </p:nvCxnSpPr>
          <p:spPr bwMode="auto">
            <a:xfrm>
              <a:off x="1226124" y="3940271"/>
              <a:ext cx="394192" cy="176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43" name="组合 42"/>
          <p:cNvGrpSpPr/>
          <p:nvPr/>
        </p:nvGrpSpPr>
        <p:grpSpPr>
          <a:xfrm>
            <a:off x="1602930" y="3001681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92550" y="3036646"/>
            <a:ext cx="1481900" cy="1873705"/>
            <a:chOff x="666030" y="1282978"/>
            <a:chExt cx="756370" cy="1130022"/>
          </a:xfrm>
        </p:grpSpPr>
        <p:sp>
          <p:nvSpPr>
            <p:cNvPr id="17" name="矩形 16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文本框 18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726804" y="1871404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4" name="肘形连接符 23"/>
          <p:cNvCxnSpPr/>
          <p:nvPr/>
        </p:nvCxnSpPr>
        <p:spPr bwMode="auto">
          <a:xfrm flipV="1">
            <a:off x="2827428" y="3637926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5" name="组合 4"/>
          <p:cNvGrpSpPr/>
          <p:nvPr/>
        </p:nvGrpSpPr>
        <p:grpSpPr>
          <a:xfrm>
            <a:off x="6411641" y="2978009"/>
            <a:ext cx="1481900" cy="1873705"/>
            <a:chOff x="6411641" y="2978009"/>
            <a:chExt cx="1481900" cy="1873705"/>
          </a:xfrm>
        </p:grpSpPr>
        <p:sp>
          <p:nvSpPr>
            <p:cNvPr id="29" name="文本框 28"/>
            <p:cNvSpPr txBox="1"/>
            <p:nvPr/>
          </p:nvSpPr>
          <p:spPr>
            <a:xfrm>
              <a:off x="6425493" y="2978009"/>
              <a:ext cx="146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411641" y="3381257"/>
              <a:ext cx="1481900" cy="1470457"/>
              <a:chOff x="6411641" y="3381257"/>
              <a:chExt cx="1481900" cy="1470457"/>
            </a:xfrm>
          </p:grpSpPr>
          <p:sp>
            <p:nvSpPr>
              <p:cNvPr id="27" name="矩形 26"/>
              <p:cNvSpPr/>
              <p:nvPr/>
            </p:nvSpPr>
            <p:spPr bwMode="auto">
              <a:xfrm>
                <a:off x="6425493" y="3381257"/>
                <a:ext cx="1468048" cy="1470457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 bwMode="auto">
              <a:xfrm>
                <a:off x="6425493" y="3891190"/>
                <a:ext cx="146804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6498586" y="3436676"/>
                <a:ext cx="1318755" cy="3504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 99107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 bwMode="auto">
              <a:xfrm>
                <a:off x="6411641" y="4376288"/>
                <a:ext cx="146804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" name="文本框 31"/>
              <p:cNvSpPr txBox="1"/>
              <p:nvPr/>
            </p:nvSpPr>
            <p:spPr>
              <a:xfrm>
                <a:off x="6486288" y="3949827"/>
                <a:ext cx="1318755" cy="3504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 85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6565274" y="4462458"/>
            <a:ext cx="1318755" cy="3504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+mn-ea"/>
              </a:rPr>
              <a:t>NULL</a:t>
            </a:r>
            <a:endParaRPr lang="zh-CN" altLang="en-US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34" name="肘形连接符 33"/>
          <p:cNvCxnSpPr/>
          <p:nvPr/>
        </p:nvCxnSpPr>
        <p:spPr bwMode="auto">
          <a:xfrm flipV="1">
            <a:off x="5246519" y="3691844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F3181A9-3F05-4A7F-9217-76F0FC242A94}"/>
              </a:ext>
            </a:extLst>
          </p:cNvPr>
          <p:cNvSpPr txBox="1"/>
          <p:nvPr/>
        </p:nvSpPr>
        <p:spPr>
          <a:xfrm>
            <a:off x="5928682" y="2578334"/>
            <a:ext cx="822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  <a:latin typeface="+mn-lt"/>
                <a:ea typeface="+mn-ea"/>
              </a:rPr>
              <a:t>tail</a:t>
            </a:r>
            <a:endParaRPr lang="zh-CN" altLang="en-US" sz="2000" b="1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cxnSp>
        <p:nvCxnSpPr>
          <p:cNvPr id="39" name="肘形连接符 33">
            <a:extLst>
              <a:ext uri="{FF2B5EF4-FFF2-40B4-BE49-F238E27FC236}">
                <a16:creationId xmlns:a16="http://schemas.microsoft.com/office/drawing/2014/main" id="{6B133AB9-971F-4702-8EC9-5F4AB1A8128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150309" y="2954789"/>
            <a:ext cx="430569" cy="39936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57006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单向链表的遍历过程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636669"/>
            <a:ext cx="8089900" cy="5545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118"/>
                </a:solidFill>
              </a:rPr>
              <a:t> </a:t>
            </a:r>
            <a:r>
              <a:rPr lang="en-US" altLang="zh-CN" dirty="0" err="1">
                <a:solidFill>
                  <a:srgbClr val="000118"/>
                </a:solidFill>
              </a:rPr>
              <a:t>struct</a:t>
            </a:r>
            <a:r>
              <a:rPr lang="en-US" altLang="zh-CN" dirty="0">
                <a:solidFill>
                  <a:srgbClr val="000118"/>
                </a:solidFill>
              </a:rPr>
              <a:t> student  </a:t>
            </a:r>
            <a:r>
              <a:rPr lang="en-US" altLang="zh-CN" dirty="0" smtClean="0">
                <a:solidFill>
                  <a:srgbClr val="000118"/>
                </a:solidFill>
              </a:rPr>
              <a:t>*</a:t>
            </a:r>
            <a:r>
              <a:rPr lang="en-US" altLang="zh-CN" dirty="0" smtClean="0">
                <a:solidFill>
                  <a:srgbClr val="C00000"/>
                </a:solidFill>
              </a:rPr>
              <a:t>p=head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  <a:r>
              <a:rPr lang="en-US" altLang="zh-CN" dirty="0" smtClean="0">
                <a:solidFill>
                  <a:srgbClr val="030DCD"/>
                </a:solidFill>
              </a:rPr>
              <a:t>//</a:t>
            </a:r>
            <a:r>
              <a:rPr lang="zh-CN" altLang="en-US" dirty="0" smtClean="0">
                <a:solidFill>
                  <a:srgbClr val="030DCD"/>
                </a:solidFill>
              </a:rPr>
              <a:t>临时变量</a:t>
            </a:r>
            <a:r>
              <a:rPr lang="en-US" altLang="zh-CN" dirty="0" smtClean="0">
                <a:solidFill>
                  <a:srgbClr val="030DCD"/>
                </a:solidFill>
              </a:rPr>
              <a:t>p</a:t>
            </a:r>
            <a:r>
              <a:rPr lang="zh-CN" altLang="en-US" dirty="0">
                <a:solidFill>
                  <a:srgbClr val="030DCD"/>
                </a:solidFill>
              </a:rPr>
              <a:t>指向头结点</a:t>
            </a:r>
            <a:r>
              <a:rPr lang="en-US" altLang="zh-CN" dirty="0">
                <a:solidFill>
                  <a:srgbClr val="030DCD"/>
                </a:solidFill>
              </a:rPr>
              <a:t>a</a:t>
            </a:r>
            <a:endParaRPr lang="zh-CN" altLang="en-US" dirty="0">
              <a:solidFill>
                <a:srgbClr val="030DCD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6883" y="3056587"/>
            <a:ext cx="85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+mn-lt"/>
                <a:ea typeface="+mn-ea"/>
              </a:rPr>
              <a:t>head</a:t>
            </a:r>
            <a:endParaRPr lang="zh-CN" altLang="en-US" sz="20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7" name="肘形连接符 6"/>
          <p:cNvCxnSpPr/>
          <p:nvPr/>
        </p:nvCxnSpPr>
        <p:spPr bwMode="auto">
          <a:xfrm>
            <a:off x="1032801" y="3313406"/>
            <a:ext cx="394192" cy="1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3" name="组合 42"/>
          <p:cNvGrpSpPr/>
          <p:nvPr/>
        </p:nvGrpSpPr>
        <p:grpSpPr>
          <a:xfrm>
            <a:off x="1409607" y="2374816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13079" y="2405543"/>
            <a:ext cx="1481900" cy="1873705"/>
            <a:chOff x="666030" y="1282978"/>
            <a:chExt cx="756370" cy="1130022"/>
          </a:xfrm>
        </p:grpSpPr>
        <p:sp>
          <p:nvSpPr>
            <p:cNvPr id="56" name="矩形 5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143671" y="2342752"/>
            <a:ext cx="1481900" cy="1873705"/>
            <a:chOff x="666030" y="1282978"/>
            <a:chExt cx="756370" cy="1130022"/>
          </a:xfrm>
        </p:grpSpPr>
        <p:sp>
          <p:nvSpPr>
            <p:cNvPr id="64" name="矩形 6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" name="文本框 65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99107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文本框 68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r>
                <a:rPr lang="en-US" altLang="zh-CN" b="1" dirty="0">
                  <a:solidFill>
                    <a:srgbClr val="0000CC"/>
                  </a:solidFill>
                  <a:latin typeface="+mn-lt"/>
                  <a:ea typeface="+mn-ea"/>
                </a:rPr>
                <a:t>NULL</a:t>
              </a:r>
              <a:endParaRPr lang="zh-CN" altLang="en-US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71" name="肘形连接符 70"/>
          <p:cNvCxnSpPr/>
          <p:nvPr/>
        </p:nvCxnSpPr>
        <p:spPr bwMode="auto">
          <a:xfrm flipV="1">
            <a:off x="2647957" y="3006823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1" name="肘形连接符 80"/>
          <p:cNvCxnSpPr/>
          <p:nvPr/>
        </p:nvCxnSpPr>
        <p:spPr bwMode="auto">
          <a:xfrm flipV="1">
            <a:off x="4978549" y="3056587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8" name="组合 7"/>
          <p:cNvGrpSpPr/>
          <p:nvPr/>
        </p:nvGrpSpPr>
        <p:grpSpPr>
          <a:xfrm>
            <a:off x="356492" y="2535554"/>
            <a:ext cx="980376" cy="400110"/>
            <a:chOff x="366883" y="3681957"/>
            <a:chExt cx="980376" cy="400110"/>
          </a:xfrm>
        </p:grpSpPr>
        <p:sp>
          <p:nvSpPr>
            <p:cNvPr id="33" name="文本框 32"/>
            <p:cNvSpPr txBox="1"/>
            <p:nvPr/>
          </p:nvSpPr>
          <p:spPr>
            <a:xfrm>
              <a:off x="366883" y="3681957"/>
              <a:ext cx="980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C00000"/>
                  </a:solidFill>
                  <a:latin typeface="+mn-lt"/>
                  <a:ea typeface="+mn-ea"/>
                </a:rPr>
                <a:t>p</a:t>
              </a:r>
              <a:endParaRPr lang="zh-CN" altLang="en-US" sz="2000" b="1" dirty="0">
                <a:solidFill>
                  <a:srgbClr val="C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34" name="肘形连接符 33"/>
            <p:cNvCxnSpPr/>
            <p:nvPr/>
          </p:nvCxnSpPr>
          <p:spPr bwMode="auto">
            <a:xfrm>
              <a:off x="662975" y="3947822"/>
              <a:ext cx="669218" cy="723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502153" y="4547096"/>
            <a:ext cx="8089900" cy="43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</a:t>
            </a:r>
            <a:r>
              <a:rPr lang="en-US" altLang="zh-CN" sz="2000" dirty="0" err="1">
                <a:solidFill>
                  <a:srgbClr val="000118"/>
                </a:solidFill>
              </a:rPr>
              <a:t>printf</a:t>
            </a:r>
            <a:r>
              <a:rPr lang="en-US" altLang="zh-CN" sz="2000" dirty="0">
                <a:solidFill>
                  <a:srgbClr val="000118"/>
                </a:solidFill>
              </a:rPr>
              <a:t>("%</a:t>
            </a:r>
            <a:r>
              <a:rPr lang="en-US" altLang="zh-CN" sz="2000" dirty="0" err="1">
                <a:solidFill>
                  <a:srgbClr val="000118"/>
                </a:solidFill>
              </a:rPr>
              <a:t>ld</a:t>
            </a:r>
            <a:r>
              <a:rPr lang="en-US" altLang="zh-CN" sz="2000" dirty="0">
                <a:solidFill>
                  <a:srgbClr val="000118"/>
                </a:solidFill>
              </a:rPr>
              <a:t> %5.1f\n"</a:t>
            </a:r>
            <a:r>
              <a:rPr lang="zh-CN" altLang="en-US" sz="2000" dirty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</a:t>
            </a:r>
            <a:r>
              <a:rPr lang="en-US" altLang="zh-CN" sz="2000" dirty="0" smtClean="0">
                <a:solidFill>
                  <a:srgbClr val="000118"/>
                </a:solidFill>
              </a:rPr>
              <a:t>&gt;ID</a:t>
            </a:r>
            <a:r>
              <a:rPr lang="zh-CN" altLang="en-US" sz="2000" dirty="0" smtClean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p-&gt;score);   </a:t>
            </a:r>
            <a:endParaRPr lang="zh-CN" altLang="en-US" sz="2000" dirty="0"/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536675" y="5041381"/>
            <a:ext cx="8089900" cy="55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</a:t>
            </a:r>
            <a:r>
              <a:rPr lang="zh-CN" altLang="en-US" sz="2000" dirty="0">
                <a:solidFill>
                  <a:srgbClr val="000118"/>
                </a:solidFill>
              </a:rPr>
              <a:t>输出：</a:t>
            </a:r>
            <a:r>
              <a:rPr lang="en-US" altLang="zh-CN" sz="2000" dirty="0">
                <a:solidFill>
                  <a:srgbClr val="000118"/>
                </a:solidFill>
              </a:rPr>
              <a:t>99101   </a:t>
            </a:r>
            <a:r>
              <a:rPr lang="en-US" altLang="zh-CN" sz="2000" dirty="0" smtClean="0">
                <a:solidFill>
                  <a:srgbClr val="000118"/>
                </a:solidFill>
              </a:rPr>
              <a:t>89.5</a:t>
            </a:r>
            <a:endParaRPr lang="zh-CN" altLang="en-US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444699" y="1072860"/>
            <a:ext cx="6736759" cy="438326"/>
          </a:xfrm>
          <a:prstGeom prst="wedgeRoundRectCallout">
            <a:avLst>
              <a:gd name="adj1" fmla="val -20434"/>
              <a:gd name="adj2" fmla="val 4845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链表头指针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head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，是确定链表位置的唯一信息，绝对不能改变。</a:t>
            </a:r>
          </a:p>
        </p:txBody>
      </p:sp>
    </p:spTree>
    <p:extLst>
      <p:ext uri="{BB962C8B-B14F-4D97-AF65-F5344CB8AC3E}">
        <p14:creationId xmlns:p14="http://schemas.microsoft.com/office/powerpoint/2010/main" val="168720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40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00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/>
      <p:bldP spid="40" grpId="0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单向链表的遍历过程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883" y="1287727"/>
            <a:ext cx="8089900" cy="5545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C00000"/>
                </a:solidFill>
              </a:rPr>
              <a:t>p=p-&gt;next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  <a:r>
              <a:rPr lang="en-US" altLang="zh-CN" dirty="0">
                <a:solidFill>
                  <a:srgbClr val="030DCD"/>
                </a:solidFill>
              </a:rPr>
              <a:t> //p</a:t>
            </a:r>
            <a:r>
              <a:rPr lang="zh-CN" altLang="en-US" dirty="0">
                <a:solidFill>
                  <a:srgbClr val="030DCD"/>
                </a:solidFill>
              </a:rPr>
              <a:t>指向结点</a:t>
            </a:r>
            <a:r>
              <a:rPr lang="en-US" altLang="zh-CN" dirty="0">
                <a:solidFill>
                  <a:srgbClr val="030DCD"/>
                </a:solidFill>
              </a:rPr>
              <a:t>b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6883" y="2727403"/>
            <a:ext cx="85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+mn-lt"/>
                <a:ea typeface="+mn-ea"/>
              </a:rPr>
              <a:t>head</a:t>
            </a:r>
            <a:endParaRPr lang="zh-CN" altLang="en-US" sz="20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7" name="肘形连接符 6"/>
          <p:cNvCxnSpPr/>
          <p:nvPr/>
        </p:nvCxnSpPr>
        <p:spPr bwMode="auto">
          <a:xfrm>
            <a:off x="1032801" y="2984222"/>
            <a:ext cx="394192" cy="1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3" name="组合 42"/>
          <p:cNvGrpSpPr/>
          <p:nvPr/>
        </p:nvGrpSpPr>
        <p:grpSpPr>
          <a:xfrm>
            <a:off x="1409607" y="2045632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13079" y="2076359"/>
            <a:ext cx="1481900" cy="1873705"/>
            <a:chOff x="666030" y="1282978"/>
            <a:chExt cx="756370" cy="1130022"/>
          </a:xfrm>
        </p:grpSpPr>
        <p:sp>
          <p:nvSpPr>
            <p:cNvPr id="56" name="矩形 5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143671" y="2013568"/>
            <a:ext cx="1481900" cy="1873705"/>
            <a:chOff x="666030" y="1282978"/>
            <a:chExt cx="756370" cy="1130022"/>
          </a:xfrm>
        </p:grpSpPr>
        <p:sp>
          <p:nvSpPr>
            <p:cNvPr id="64" name="矩形 6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" name="文本框 65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99107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文本框 68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r>
                <a:rPr lang="en-US" altLang="zh-CN" b="1" dirty="0">
                  <a:solidFill>
                    <a:srgbClr val="0000CC"/>
                  </a:solidFill>
                  <a:latin typeface="+mn-lt"/>
                  <a:ea typeface="+mn-ea"/>
                </a:rPr>
                <a:t>NULL</a:t>
              </a:r>
              <a:endParaRPr lang="zh-CN" altLang="en-US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71" name="肘形连接符 70"/>
          <p:cNvCxnSpPr/>
          <p:nvPr/>
        </p:nvCxnSpPr>
        <p:spPr bwMode="auto">
          <a:xfrm flipV="1">
            <a:off x="2647957" y="2677639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1" name="肘形连接符 80"/>
          <p:cNvCxnSpPr/>
          <p:nvPr/>
        </p:nvCxnSpPr>
        <p:spPr bwMode="auto">
          <a:xfrm flipV="1">
            <a:off x="4978549" y="2727403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8" name="组合 7"/>
          <p:cNvGrpSpPr/>
          <p:nvPr/>
        </p:nvGrpSpPr>
        <p:grpSpPr>
          <a:xfrm>
            <a:off x="2740330" y="1884739"/>
            <a:ext cx="1064010" cy="698684"/>
            <a:chOff x="366883" y="3681957"/>
            <a:chExt cx="1064010" cy="698684"/>
          </a:xfrm>
        </p:grpSpPr>
        <p:sp>
          <p:nvSpPr>
            <p:cNvPr id="33" name="文本框 32"/>
            <p:cNvSpPr txBox="1"/>
            <p:nvPr/>
          </p:nvSpPr>
          <p:spPr>
            <a:xfrm>
              <a:off x="366883" y="3681957"/>
              <a:ext cx="980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  <a:latin typeface="+mn-lt"/>
                  <a:ea typeface="+mn-ea"/>
                </a:rPr>
                <a:t>p</a:t>
              </a:r>
              <a:endParaRPr lang="zh-CN" altLang="en-US" sz="2000" b="1" dirty="0">
                <a:solidFill>
                  <a:srgbClr val="C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34" name="肘形连接符 33"/>
            <p:cNvCxnSpPr/>
            <p:nvPr/>
          </p:nvCxnSpPr>
          <p:spPr bwMode="auto">
            <a:xfrm>
              <a:off x="626407" y="3947822"/>
              <a:ext cx="804486" cy="43281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502153" y="4217912"/>
            <a:ext cx="8089900" cy="3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</a:t>
            </a:r>
            <a:r>
              <a:rPr lang="en-US" altLang="zh-CN" sz="2000" dirty="0" err="1">
                <a:solidFill>
                  <a:srgbClr val="000118"/>
                </a:solidFill>
              </a:rPr>
              <a:t>printf</a:t>
            </a:r>
            <a:r>
              <a:rPr lang="en-US" altLang="zh-CN" sz="2000" dirty="0">
                <a:solidFill>
                  <a:srgbClr val="000118"/>
                </a:solidFill>
              </a:rPr>
              <a:t>("%</a:t>
            </a:r>
            <a:r>
              <a:rPr lang="en-US" altLang="zh-CN" sz="2000" dirty="0" err="1">
                <a:solidFill>
                  <a:srgbClr val="000118"/>
                </a:solidFill>
              </a:rPr>
              <a:t>ld</a:t>
            </a:r>
            <a:r>
              <a:rPr lang="en-US" altLang="zh-CN" sz="2000" dirty="0">
                <a:solidFill>
                  <a:srgbClr val="000118"/>
                </a:solidFill>
              </a:rPr>
              <a:t> %5.1f\n"</a:t>
            </a:r>
            <a:r>
              <a:rPr lang="zh-CN" altLang="en-US" sz="2000" dirty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</a:t>
            </a:r>
            <a:r>
              <a:rPr lang="en-US" altLang="zh-CN" sz="2000" dirty="0" smtClean="0">
                <a:solidFill>
                  <a:srgbClr val="000118"/>
                </a:solidFill>
              </a:rPr>
              <a:t>&gt;ID</a:t>
            </a:r>
            <a:r>
              <a:rPr lang="zh-CN" altLang="en-US" sz="2000" dirty="0" smtClean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p-&gt;score);   </a:t>
            </a:r>
            <a:endParaRPr lang="zh-CN" altLang="en-US" sz="2000" dirty="0"/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536675" y="4703010"/>
            <a:ext cx="8089900" cy="3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99103   90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5181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0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00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/>
      <p:bldP spid="4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单向链表的遍历过程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883" y="1287727"/>
            <a:ext cx="8089900" cy="5545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C00000"/>
                </a:solidFill>
              </a:rPr>
              <a:t>p=p-&gt;next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  <a:r>
              <a:rPr lang="en-US" altLang="zh-CN" dirty="0">
                <a:solidFill>
                  <a:srgbClr val="030DCD"/>
                </a:solidFill>
              </a:rPr>
              <a:t> //p</a:t>
            </a:r>
            <a:r>
              <a:rPr lang="zh-CN" altLang="en-US" dirty="0">
                <a:solidFill>
                  <a:srgbClr val="030DCD"/>
                </a:solidFill>
              </a:rPr>
              <a:t>指向结点</a:t>
            </a:r>
            <a:r>
              <a:rPr lang="en-US" altLang="zh-CN" dirty="0">
                <a:solidFill>
                  <a:srgbClr val="030DCD"/>
                </a:solidFill>
              </a:rPr>
              <a:t>c</a:t>
            </a:r>
          </a:p>
          <a:p>
            <a:pPr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6883" y="2727403"/>
            <a:ext cx="85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+mn-lt"/>
                <a:ea typeface="+mn-ea"/>
              </a:rPr>
              <a:t>head</a:t>
            </a:r>
            <a:endParaRPr lang="zh-CN" altLang="en-US" sz="20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7" name="肘形连接符 6"/>
          <p:cNvCxnSpPr/>
          <p:nvPr/>
        </p:nvCxnSpPr>
        <p:spPr bwMode="auto">
          <a:xfrm>
            <a:off x="1032801" y="2984222"/>
            <a:ext cx="394192" cy="1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3" name="组合 42"/>
          <p:cNvGrpSpPr/>
          <p:nvPr/>
        </p:nvGrpSpPr>
        <p:grpSpPr>
          <a:xfrm>
            <a:off x="1409607" y="2045632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13079" y="2076359"/>
            <a:ext cx="1481900" cy="1873705"/>
            <a:chOff x="666030" y="1282978"/>
            <a:chExt cx="756370" cy="1130022"/>
          </a:xfrm>
        </p:grpSpPr>
        <p:sp>
          <p:nvSpPr>
            <p:cNvPr id="56" name="矩形 5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143671" y="2013568"/>
            <a:ext cx="1481900" cy="1873705"/>
            <a:chOff x="666030" y="1282978"/>
            <a:chExt cx="756370" cy="1130022"/>
          </a:xfrm>
        </p:grpSpPr>
        <p:sp>
          <p:nvSpPr>
            <p:cNvPr id="64" name="矩形 6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" name="文本框 65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99107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文本框 68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r>
                <a:rPr lang="en-US" altLang="zh-CN" b="1" dirty="0">
                  <a:solidFill>
                    <a:srgbClr val="0000CC"/>
                  </a:solidFill>
                  <a:latin typeface="+mn-lt"/>
                  <a:ea typeface="+mn-ea"/>
                </a:rPr>
                <a:t>NULL</a:t>
              </a:r>
              <a:endParaRPr lang="zh-CN" altLang="en-US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71" name="肘形连接符 70"/>
          <p:cNvCxnSpPr/>
          <p:nvPr/>
        </p:nvCxnSpPr>
        <p:spPr bwMode="auto">
          <a:xfrm flipV="1">
            <a:off x="2647957" y="2677639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1" name="肘形连接符 80"/>
          <p:cNvCxnSpPr/>
          <p:nvPr/>
        </p:nvCxnSpPr>
        <p:spPr bwMode="auto">
          <a:xfrm flipV="1">
            <a:off x="4978549" y="2727403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8" name="组合 7"/>
          <p:cNvGrpSpPr/>
          <p:nvPr/>
        </p:nvGrpSpPr>
        <p:grpSpPr>
          <a:xfrm>
            <a:off x="5056967" y="1904743"/>
            <a:ext cx="1064010" cy="698684"/>
            <a:chOff x="366883" y="3681957"/>
            <a:chExt cx="1064010" cy="698684"/>
          </a:xfrm>
        </p:grpSpPr>
        <p:sp>
          <p:nvSpPr>
            <p:cNvPr id="33" name="文本框 32"/>
            <p:cNvSpPr txBox="1"/>
            <p:nvPr/>
          </p:nvSpPr>
          <p:spPr>
            <a:xfrm>
              <a:off x="366883" y="3681957"/>
              <a:ext cx="980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  <a:latin typeface="+mn-lt"/>
                  <a:ea typeface="+mn-ea"/>
                </a:rPr>
                <a:t>p</a:t>
              </a:r>
              <a:endParaRPr lang="zh-CN" altLang="en-US" sz="2000" b="1" dirty="0">
                <a:solidFill>
                  <a:srgbClr val="C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34" name="肘形连接符 33"/>
            <p:cNvCxnSpPr/>
            <p:nvPr/>
          </p:nvCxnSpPr>
          <p:spPr bwMode="auto">
            <a:xfrm>
              <a:off x="626407" y="3947822"/>
              <a:ext cx="804486" cy="43281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502153" y="4217912"/>
            <a:ext cx="8089900" cy="46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</a:t>
            </a:r>
            <a:r>
              <a:rPr lang="en-US" altLang="zh-CN" sz="2000" dirty="0" err="1">
                <a:solidFill>
                  <a:srgbClr val="000118"/>
                </a:solidFill>
              </a:rPr>
              <a:t>printf</a:t>
            </a:r>
            <a:r>
              <a:rPr lang="en-US" altLang="zh-CN" sz="2000" dirty="0">
                <a:solidFill>
                  <a:srgbClr val="000118"/>
                </a:solidFill>
              </a:rPr>
              <a:t>("%</a:t>
            </a:r>
            <a:r>
              <a:rPr lang="en-US" altLang="zh-CN" sz="2000" dirty="0" err="1">
                <a:solidFill>
                  <a:srgbClr val="000118"/>
                </a:solidFill>
              </a:rPr>
              <a:t>ld</a:t>
            </a:r>
            <a:r>
              <a:rPr lang="en-US" altLang="zh-CN" sz="2000" dirty="0">
                <a:solidFill>
                  <a:srgbClr val="000118"/>
                </a:solidFill>
              </a:rPr>
              <a:t> %5.1f\n"</a:t>
            </a:r>
            <a:r>
              <a:rPr lang="zh-CN" altLang="en-US" sz="2000" dirty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</a:t>
            </a:r>
            <a:r>
              <a:rPr lang="en-US" altLang="zh-CN" sz="2000" dirty="0" smtClean="0">
                <a:solidFill>
                  <a:srgbClr val="000118"/>
                </a:solidFill>
              </a:rPr>
              <a:t>&gt;ID</a:t>
            </a:r>
            <a:r>
              <a:rPr lang="zh-CN" altLang="en-US" sz="2000" dirty="0" smtClean="0">
                <a:solidFill>
                  <a:srgbClr val="000118"/>
                </a:solidFill>
              </a:rPr>
              <a:t>，</a:t>
            </a:r>
            <a:r>
              <a:rPr lang="en-US" altLang="zh-CN" sz="2000" dirty="0">
                <a:solidFill>
                  <a:srgbClr val="000118"/>
                </a:solidFill>
              </a:rPr>
              <a:t>p-&gt;score);   </a:t>
            </a:r>
            <a:endParaRPr lang="zh-CN" altLang="en-US" sz="2000" dirty="0"/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536675" y="4819808"/>
            <a:ext cx="8089900" cy="44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118"/>
                </a:solidFill>
              </a:rPr>
              <a:t>  99107   85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8084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25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625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75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/>
      <p:bldP spid="4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单向链表遍历过程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883" y="1287727"/>
            <a:ext cx="8089900" cy="5545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C00000"/>
                </a:solidFill>
              </a:rPr>
              <a:t>p=p-&gt;next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  <a:r>
              <a:rPr lang="en-US" altLang="zh-CN" dirty="0">
                <a:solidFill>
                  <a:srgbClr val="030DCD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//p==NULL</a:t>
            </a:r>
            <a:r>
              <a:rPr lang="zh-CN" altLang="en-US" dirty="0">
                <a:solidFill>
                  <a:srgbClr val="7030A0"/>
                </a:solidFill>
              </a:rPr>
              <a:t>，遍历过程结束；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66883" y="2727403"/>
            <a:ext cx="85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+mn-lt"/>
                <a:ea typeface="+mn-ea"/>
              </a:rPr>
              <a:t>head</a:t>
            </a:r>
            <a:endParaRPr lang="zh-CN" altLang="en-US" sz="20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cxnSp>
        <p:nvCxnSpPr>
          <p:cNvPr id="7" name="肘形连接符 6"/>
          <p:cNvCxnSpPr/>
          <p:nvPr/>
        </p:nvCxnSpPr>
        <p:spPr bwMode="auto">
          <a:xfrm>
            <a:off x="1032801" y="2984222"/>
            <a:ext cx="394192" cy="1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43" name="组合 42"/>
          <p:cNvGrpSpPr/>
          <p:nvPr/>
        </p:nvGrpSpPr>
        <p:grpSpPr>
          <a:xfrm>
            <a:off x="1409607" y="2045632"/>
            <a:ext cx="1481900" cy="1873705"/>
            <a:chOff x="666030" y="1282978"/>
            <a:chExt cx="756370" cy="1130022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99101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文本框 49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89.5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13079" y="2076359"/>
            <a:ext cx="1481900" cy="1873705"/>
            <a:chOff x="666030" y="1282978"/>
            <a:chExt cx="756370" cy="1130022"/>
          </a:xfrm>
        </p:grpSpPr>
        <p:sp>
          <p:nvSpPr>
            <p:cNvPr id="56" name="矩形 5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b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99103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90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143671" y="2013568"/>
            <a:ext cx="1481900" cy="1873705"/>
            <a:chOff x="666030" y="1282978"/>
            <a:chExt cx="756370" cy="1130022"/>
          </a:xfrm>
        </p:grpSpPr>
        <p:sp>
          <p:nvSpPr>
            <p:cNvPr id="64" name="矩形 63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" name="文本框 65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   结点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c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99107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文本框 68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85</a:t>
              </a:r>
              <a:endParaRPr lang="zh-CN" altLang="en-US" b="1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  </a:t>
              </a:r>
              <a:r>
                <a:rPr lang="en-US" altLang="zh-CN" b="1" dirty="0">
                  <a:solidFill>
                    <a:srgbClr val="0000CC"/>
                  </a:solidFill>
                  <a:latin typeface="+mn-lt"/>
                  <a:ea typeface="+mn-ea"/>
                </a:rPr>
                <a:t>NULL</a:t>
              </a:r>
              <a:endParaRPr lang="zh-CN" altLang="en-US" b="1" dirty="0">
                <a:solidFill>
                  <a:srgbClr val="0000CC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71" name="肘形连接符 70"/>
          <p:cNvCxnSpPr/>
          <p:nvPr/>
        </p:nvCxnSpPr>
        <p:spPr bwMode="auto">
          <a:xfrm flipV="1">
            <a:off x="2647957" y="2677639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1" name="肘形连接符 80"/>
          <p:cNvCxnSpPr/>
          <p:nvPr/>
        </p:nvCxnSpPr>
        <p:spPr bwMode="auto">
          <a:xfrm flipV="1">
            <a:off x="4978549" y="2727403"/>
            <a:ext cx="1165122" cy="103471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76669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链表的</a:t>
            </a:r>
            <a:r>
              <a:rPr lang="zh-CN" altLang="en-US" dirty="0" smtClean="0"/>
              <a:t>遍历</a:t>
            </a:r>
            <a:r>
              <a:rPr lang="en-US" altLang="zh-CN" dirty="0" smtClean="0"/>
              <a:t>—do while</a:t>
            </a:r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void  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SearchLink</a:t>
            </a:r>
            <a:r>
              <a:rPr lang="en-US" altLang="zh-CN" sz="1800" dirty="0" smtClean="0">
                <a:solidFill>
                  <a:srgbClr val="030DCD"/>
                </a:solidFill>
              </a:rPr>
              <a:t>(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struct</a:t>
            </a:r>
            <a:r>
              <a:rPr lang="en-US" altLang="zh-CN" sz="1800" dirty="0" smtClean="0">
                <a:solidFill>
                  <a:srgbClr val="030DCD"/>
                </a:solidFill>
              </a:rPr>
              <a:t> student </a:t>
            </a:r>
            <a:r>
              <a:rPr lang="en-US" altLang="zh-CN" sz="1800" dirty="0">
                <a:solidFill>
                  <a:srgbClr val="030DCD"/>
                </a:solidFill>
              </a:rPr>
              <a:t>*</a:t>
            </a:r>
            <a:r>
              <a:rPr lang="en-US" altLang="zh-CN" sz="1800" dirty="0">
                <a:solidFill>
                  <a:srgbClr val="7030A0"/>
                </a:solidFill>
              </a:rPr>
              <a:t>head</a:t>
            </a:r>
            <a:r>
              <a:rPr lang="en-US" altLang="zh-CN" sz="1800" dirty="0">
                <a:solidFill>
                  <a:srgbClr val="030DCD"/>
                </a:solidFill>
              </a:rPr>
              <a:t>)  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遍历以</a:t>
            </a:r>
            <a:r>
              <a:rPr lang="en-US" altLang="zh-CN" sz="1800" dirty="0">
                <a:solidFill>
                  <a:srgbClr val="000118"/>
                </a:solidFill>
              </a:rPr>
              <a:t>head</a:t>
            </a:r>
            <a:r>
              <a:rPr lang="zh-CN" altLang="en-US" sz="1800" dirty="0">
                <a:solidFill>
                  <a:srgbClr val="000118"/>
                </a:solidFill>
              </a:rPr>
              <a:t>为头指针的链表</a:t>
            </a: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if (head==NULL)   //</a:t>
            </a:r>
            <a:r>
              <a:rPr lang="zh-CN" altLang="en-US" sz="1800" dirty="0">
                <a:solidFill>
                  <a:srgbClr val="000118"/>
                </a:solidFill>
              </a:rPr>
              <a:t>链表为空表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 </a:t>
            </a:r>
            <a:r>
              <a:rPr lang="en-US" altLang="zh-CN" sz="1800" dirty="0" err="1">
                <a:solidFill>
                  <a:srgbClr val="000118"/>
                </a:solidFill>
              </a:rPr>
              <a:t>printf</a:t>
            </a:r>
            <a:r>
              <a:rPr lang="en-US" altLang="zh-CN" sz="1800" dirty="0">
                <a:solidFill>
                  <a:srgbClr val="000118"/>
                </a:solidFill>
              </a:rPr>
              <a:t>(“Empty Link\n”);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 return;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</a:t>
            </a:r>
            <a:r>
              <a:rPr lang="en-US" altLang="zh-CN" sz="1800" dirty="0" err="1">
                <a:solidFill>
                  <a:srgbClr val="000118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  *</a:t>
            </a:r>
            <a:r>
              <a:rPr lang="en-US" altLang="zh-CN" sz="1800" dirty="0" smtClean="0">
                <a:solidFill>
                  <a:srgbClr val="7030A0"/>
                </a:solidFill>
              </a:rPr>
              <a:t>p=head</a:t>
            </a:r>
            <a:r>
              <a:rPr lang="en-US" altLang="zh-CN" sz="1800" dirty="0">
                <a:solidFill>
                  <a:srgbClr val="C00000"/>
                </a:solidFill>
              </a:rPr>
              <a:t>;</a:t>
            </a:r>
            <a:r>
              <a:rPr lang="en-US" altLang="zh-CN" sz="1800" dirty="0">
                <a:solidFill>
                  <a:srgbClr val="7030A0"/>
                </a:solidFill>
              </a:rPr>
              <a:t>   </a:t>
            </a:r>
            <a:r>
              <a:rPr lang="en-US" altLang="zh-CN" sz="1800" dirty="0">
                <a:solidFill>
                  <a:srgbClr val="000118"/>
                </a:solidFill>
              </a:rPr>
              <a:t>// p</a:t>
            </a:r>
            <a:r>
              <a:rPr lang="zh-CN" altLang="en-US" sz="1800" dirty="0">
                <a:solidFill>
                  <a:srgbClr val="000118"/>
                </a:solidFill>
              </a:rPr>
              <a:t>指针指向链表的头结点，从头开始遍历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0118"/>
                </a:solidFill>
              </a:rPr>
              <a:t>       do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1C02E0"/>
                </a:solidFill>
              </a:rPr>
              <a:t>               //</a:t>
            </a:r>
            <a:r>
              <a:rPr lang="zh-CN" altLang="en-US" sz="1800" dirty="0">
                <a:solidFill>
                  <a:srgbClr val="1C02E0"/>
                </a:solidFill>
              </a:rPr>
              <a:t>输出</a:t>
            </a:r>
            <a:r>
              <a:rPr lang="en-US" altLang="zh-CN" sz="1800" dirty="0">
                <a:solidFill>
                  <a:srgbClr val="1C02E0"/>
                </a:solidFill>
              </a:rPr>
              <a:t>p</a:t>
            </a:r>
            <a:r>
              <a:rPr lang="zh-CN" altLang="en-US" sz="1800" dirty="0">
                <a:solidFill>
                  <a:srgbClr val="1C02E0"/>
                </a:solidFill>
              </a:rPr>
              <a:t>指向的结点的数据</a:t>
            </a:r>
            <a:endParaRPr lang="en-US" altLang="zh-CN" sz="1800" dirty="0">
              <a:solidFill>
                <a:srgbClr val="1C02E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   </a:t>
            </a:r>
            <a:r>
              <a:rPr lang="en-US" altLang="zh-CN" sz="1800" dirty="0" err="1">
                <a:solidFill>
                  <a:srgbClr val="000118"/>
                </a:solidFill>
              </a:rPr>
              <a:t>printf</a:t>
            </a:r>
            <a:r>
              <a:rPr lang="en-US" altLang="zh-CN" sz="1800" dirty="0">
                <a:solidFill>
                  <a:srgbClr val="000118"/>
                </a:solidFill>
              </a:rPr>
              <a:t>("%</a:t>
            </a:r>
            <a:r>
              <a:rPr lang="en-US" altLang="zh-CN" sz="1800" dirty="0" err="1">
                <a:solidFill>
                  <a:srgbClr val="000118"/>
                </a:solidFill>
              </a:rPr>
              <a:t>ld</a:t>
            </a:r>
            <a:r>
              <a:rPr lang="en-US" altLang="zh-CN" sz="1800" dirty="0">
                <a:solidFill>
                  <a:srgbClr val="000118"/>
                </a:solidFill>
              </a:rPr>
              <a:t> %5.1f\n"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p-&gt;ID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p-&gt;score);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           p=p-&gt;next;   </a:t>
            </a:r>
            <a:r>
              <a:rPr lang="en-US" altLang="zh-CN" sz="1800" dirty="0">
                <a:solidFill>
                  <a:srgbClr val="006600"/>
                </a:solidFill>
              </a:rPr>
              <a:t>          </a:t>
            </a:r>
            <a:r>
              <a:rPr lang="en-US" altLang="zh-CN" sz="1800" dirty="0">
                <a:solidFill>
                  <a:srgbClr val="000118"/>
                </a:solidFill>
              </a:rPr>
              <a:t>//p</a:t>
            </a:r>
            <a:r>
              <a:rPr lang="zh-CN" altLang="en-US" sz="1800" dirty="0">
                <a:solidFill>
                  <a:srgbClr val="000118"/>
                </a:solidFill>
              </a:rPr>
              <a:t>指向下一结点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</a:t>
            </a:r>
            <a:r>
              <a:rPr lang="en-US" altLang="zh-CN" sz="1800" b="1" dirty="0">
                <a:solidFill>
                  <a:srgbClr val="000118"/>
                </a:solidFill>
              </a:rPr>
              <a:t>} while(</a:t>
            </a:r>
            <a:r>
              <a:rPr lang="en-US" altLang="zh-CN" sz="1800" b="1" dirty="0">
                <a:solidFill>
                  <a:srgbClr val="C00000"/>
                </a:solidFill>
              </a:rPr>
              <a:t>p!=NULL</a:t>
            </a:r>
            <a:r>
              <a:rPr lang="en-US" altLang="zh-CN" sz="1800" b="1" dirty="0">
                <a:solidFill>
                  <a:srgbClr val="000118"/>
                </a:solidFill>
              </a:rPr>
              <a:t>);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输出完</a:t>
            </a:r>
            <a:r>
              <a:rPr lang="en-US" altLang="zh-CN" sz="1800" dirty="0">
                <a:solidFill>
                  <a:srgbClr val="000118"/>
                </a:solidFill>
              </a:rPr>
              <a:t>c</a:t>
            </a:r>
            <a:r>
              <a:rPr lang="zh-CN" altLang="en-US" sz="1800" dirty="0">
                <a:solidFill>
                  <a:srgbClr val="000118"/>
                </a:solidFill>
              </a:rPr>
              <a:t>结点后</a:t>
            </a:r>
            <a:r>
              <a:rPr lang="en-US" altLang="zh-CN" sz="1800" dirty="0">
                <a:solidFill>
                  <a:srgbClr val="000118"/>
                </a:solidFill>
              </a:rPr>
              <a:t>p</a:t>
            </a:r>
            <a:r>
              <a:rPr lang="zh-CN" altLang="en-US" sz="1800" dirty="0">
                <a:solidFill>
                  <a:srgbClr val="000118"/>
                </a:solidFill>
              </a:rPr>
              <a:t>的值为</a:t>
            </a:r>
            <a:r>
              <a:rPr lang="en-US" altLang="zh-CN" sz="1800" dirty="0">
                <a:solidFill>
                  <a:srgbClr val="000118"/>
                </a:solidFill>
              </a:rPr>
              <a:t>NULL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}</a:t>
            </a:r>
            <a:endParaRPr lang="zh-CN" altLang="en-US" sz="1800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90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链表的</a:t>
            </a:r>
            <a:r>
              <a:rPr lang="zh-CN" altLang="en-US" dirty="0" smtClean="0"/>
              <a:t>遍历</a:t>
            </a:r>
            <a:r>
              <a:rPr lang="en-US" altLang="zh-CN" dirty="0" smtClean="0"/>
              <a:t>—while</a:t>
            </a:r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void  </a:t>
            </a:r>
            <a:r>
              <a:rPr lang="en-US" altLang="zh-CN" sz="1800" dirty="0" err="1">
                <a:solidFill>
                  <a:srgbClr val="030DCD"/>
                </a:solidFill>
              </a:rPr>
              <a:t>SearchLink</a:t>
            </a:r>
            <a:r>
              <a:rPr lang="en-US" altLang="zh-CN" sz="1800" dirty="0">
                <a:solidFill>
                  <a:srgbClr val="030DCD"/>
                </a:solidFill>
              </a:rPr>
              <a:t>(student *</a:t>
            </a:r>
            <a:r>
              <a:rPr lang="en-US" altLang="zh-CN" sz="1800" dirty="0">
                <a:solidFill>
                  <a:srgbClr val="7030A0"/>
                </a:solidFill>
              </a:rPr>
              <a:t>head</a:t>
            </a:r>
            <a:r>
              <a:rPr lang="en-US" altLang="zh-CN" sz="1800" dirty="0">
                <a:solidFill>
                  <a:srgbClr val="030DCD"/>
                </a:solidFill>
              </a:rPr>
              <a:t>)  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遍历以</a:t>
            </a:r>
            <a:r>
              <a:rPr lang="en-US" altLang="zh-CN" sz="1800" dirty="0">
                <a:solidFill>
                  <a:srgbClr val="000118"/>
                </a:solidFill>
              </a:rPr>
              <a:t>head</a:t>
            </a:r>
            <a:r>
              <a:rPr lang="zh-CN" altLang="en-US" sz="1800" dirty="0">
                <a:solidFill>
                  <a:srgbClr val="000118"/>
                </a:solidFill>
              </a:rPr>
              <a:t>为头指针的链表</a:t>
            </a: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if (head==NULL)   //</a:t>
            </a:r>
            <a:r>
              <a:rPr lang="zh-CN" altLang="en-US" sz="1800" dirty="0">
                <a:solidFill>
                  <a:srgbClr val="000118"/>
                </a:solidFill>
              </a:rPr>
              <a:t>空表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</a:t>
            </a:r>
            <a:r>
              <a:rPr lang="en-US" altLang="zh-CN" sz="1800" dirty="0" err="1">
                <a:solidFill>
                  <a:srgbClr val="000118"/>
                </a:solidFill>
              </a:rPr>
              <a:t>printf</a:t>
            </a:r>
            <a:r>
              <a:rPr lang="en-US" altLang="zh-CN" sz="1800" dirty="0">
                <a:solidFill>
                  <a:srgbClr val="000118"/>
                </a:solidFill>
              </a:rPr>
              <a:t>(“Empty Link\n”);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</a:t>
            </a:r>
            <a:r>
              <a:rPr lang="en-US" altLang="zh-CN" sz="1800" dirty="0" err="1">
                <a:solidFill>
                  <a:srgbClr val="000118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  *</a:t>
            </a:r>
            <a:r>
              <a:rPr lang="en-US" altLang="zh-CN" sz="1800" dirty="0" smtClean="0">
                <a:solidFill>
                  <a:srgbClr val="7030A0"/>
                </a:solidFill>
              </a:rPr>
              <a:t>p=head</a:t>
            </a:r>
            <a:r>
              <a:rPr lang="en-US" altLang="zh-CN" sz="1800" dirty="0">
                <a:solidFill>
                  <a:srgbClr val="7030A0"/>
                </a:solidFill>
              </a:rPr>
              <a:t>;   </a:t>
            </a:r>
            <a:r>
              <a:rPr lang="en-US" altLang="zh-CN" sz="1800" dirty="0">
                <a:solidFill>
                  <a:srgbClr val="000118"/>
                </a:solidFill>
              </a:rPr>
              <a:t>//p</a:t>
            </a:r>
            <a:r>
              <a:rPr lang="zh-CN" altLang="en-US" sz="1800" dirty="0">
                <a:solidFill>
                  <a:srgbClr val="000118"/>
                </a:solidFill>
              </a:rPr>
              <a:t>指针指向头结点</a:t>
            </a:r>
            <a:r>
              <a:rPr lang="en-US" altLang="zh-CN" sz="1800" dirty="0">
                <a:solidFill>
                  <a:srgbClr val="000118"/>
                </a:solidFill>
              </a:rPr>
              <a:t>head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while(</a:t>
            </a:r>
            <a:r>
              <a:rPr lang="en-US" altLang="zh-CN" sz="1800" dirty="0">
                <a:solidFill>
                  <a:srgbClr val="C00000"/>
                </a:solidFill>
              </a:rPr>
              <a:t>p!=NULL</a:t>
            </a:r>
            <a:r>
              <a:rPr lang="en-US" altLang="zh-CN" sz="1800" dirty="0">
                <a:solidFill>
                  <a:srgbClr val="000118"/>
                </a:solidFill>
              </a:rPr>
              <a:t>);  // </a:t>
            </a:r>
            <a:r>
              <a:rPr lang="zh-CN" altLang="en-US" sz="1800" dirty="0">
                <a:solidFill>
                  <a:srgbClr val="000118"/>
                </a:solidFill>
              </a:rPr>
              <a:t>若</a:t>
            </a:r>
            <a:r>
              <a:rPr lang="en-US" altLang="zh-CN" sz="1800" dirty="0">
                <a:solidFill>
                  <a:srgbClr val="000118"/>
                </a:solidFill>
              </a:rPr>
              <a:t>p==NULL</a:t>
            </a:r>
            <a:r>
              <a:rPr lang="zh-CN" altLang="en-US" sz="1800" dirty="0">
                <a:solidFill>
                  <a:srgbClr val="000118"/>
                </a:solidFill>
              </a:rPr>
              <a:t>，说明链表的尾结点已输出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1C02E0"/>
                </a:solidFill>
              </a:rPr>
              <a:t>               // </a:t>
            </a:r>
            <a:r>
              <a:rPr lang="zh-CN" altLang="en-US" sz="1800" dirty="0">
                <a:solidFill>
                  <a:srgbClr val="1C02E0"/>
                </a:solidFill>
              </a:rPr>
              <a:t>输出</a:t>
            </a:r>
            <a:r>
              <a:rPr lang="en-US" altLang="zh-CN" sz="1800" dirty="0">
                <a:solidFill>
                  <a:srgbClr val="1C02E0"/>
                </a:solidFill>
              </a:rPr>
              <a:t>p</a:t>
            </a:r>
            <a:r>
              <a:rPr lang="zh-CN" altLang="en-US" sz="1800" dirty="0">
                <a:solidFill>
                  <a:srgbClr val="1C02E0"/>
                </a:solidFill>
              </a:rPr>
              <a:t>指向的结点的数据</a:t>
            </a:r>
            <a:endParaRPr lang="en-US" altLang="zh-CN" sz="1800" dirty="0">
              <a:solidFill>
                <a:srgbClr val="1C02E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   </a:t>
            </a:r>
            <a:r>
              <a:rPr lang="en-US" altLang="zh-CN" sz="1800" dirty="0" err="1">
                <a:solidFill>
                  <a:srgbClr val="000118"/>
                </a:solidFill>
              </a:rPr>
              <a:t>printf</a:t>
            </a:r>
            <a:r>
              <a:rPr lang="en-US" altLang="zh-CN" sz="1800" dirty="0">
                <a:solidFill>
                  <a:srgbClr val="000118"/>
                </a:solidFill>
              </a:rPr>
              <a:t>("%</a:t>
            </a:r>
            <a:r>
              <a:rPr lang="en-US" altLang="zh-CN" sz="1800" dirty="0" err="1">
                <a:solidFill>
                  <a:srgbClr val="000118"/>
                </a:solidFill>
              </a:rPr>
              <a:t>ld</a:t>
            </a:r>
            <a:r>
              <a:rPr lang="en-US" altLang="zh-CN" sz="1800" dirty="0">
                <a:solidFill>
                  <a:srgbClr val="000118"/>
                </a:solidFill>
              </a:rPr>
              <a:t> %5.1f\n"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p-&gt;ID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p-&gt;score);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           p=p-&gt;next;          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  </a:t>
            </a:r>
            <a:r>
              <a:rPr lang="en-US" altLang="zh-CN" sz="1800" dirty="0">
                <a:solidFill>
                  <a:srgbClr val="000118"/>
                </a:solidFill>
              </a:rPr>
              <a:t>p</a:t>
            </a:r>
            <a:r>
              <a:rPr lang="zh-CN" altLang="en-US" sz="1800" dirty="0">
                <a:solidFill>
                  <a:srgbClr val="000118"/>
                </a:solidFill>
              </a:rPr>
              <a:t>指向下一结点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}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}</a:t>
            </a:r>
            <a:endParaRPr lang="zh-CN" altLang="en-US" sz="1800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09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C00000"/>
                </a:solidFill>
              </a:rPr>
              <a:t>递归实现</a:t>
            </a:r>
            <a:r>
              <a:rPr lang="zh-CN" altLang="en-US" dirty="0"/>
              <a:t>链表的遍历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void  </a:t>
            </a:r>
            <a:r>
              <a:rPr lang="en-US" altLang="zh-CN" sz="1800" dirty="0" err="1">
                <a:solidFill>
                  <a:srgbClr val="030DCD"/>
                </a:solidFill>
              </a:rPr>
              <a:t>SearchLink</a:t>
            </a:r>
            <a:r>
              <a:rPr lang="en-US" altLang="zh-CN" sz="1800" dirty="0">
                <a:solidFill>
                  <a:srgbClr val="030DCD"/>
                </a:solidFill>
              </a:rPr>
              <a:t>(student *</a:t>
            </a:r>
            <a:r>
              <a:rPr lang="en-US" altLang="zh-CN" sz="1800" dirty="0">
                <a:solidFill>
                  <a:srgbClr val="7030A0"/>
                </a:solidFill>
              </a:rPr>
              <a:t>head</a:t>
            </a:r>
            <a:r>
              <a:rPr lang="en-US" altLang="zh-CN" sz="1800" dirty="0">
                <a:solidFill>
                  <a:srgbClr val="030DCD"/>
                </a:solidFill>
              </a:rPr>
              <a:t>)  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遍历以</a:t>
            </a:r>
            <a:r>
              <a:rPr lang="en-US" altLang="zh-CN" sz="1800" dirty="0">
                <a:solidFill>
                  <a:srgbClr val="000118"/>
                </a:solidFill>
              </a:rPr>
              <a:t>head</a:t>
            </a:r>
            <a:r>
              <a:rPr lang="zh-CN" altLang="en-US" sz="1800" dirty="0">
                <a:solidFill>
                  <a:srgbClr val="000118"/>
                </a:solidFill>
              </a:rPr>
              <a:t>为头指针的链表</a:t>
            </a:r>
            <a:r>
              <a:rPr lang="en-US" altLang="zh-CN" sz="1800" dirty="0">
                <a:solidFill>
                  <a:srgbClr val="000118"/>
                </a:solidFill>
              </a:rPr>
              <a:t>   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static struct student  </a:t>
            </a:r>
            <a:r>
              <a:rPr lang="en-US" altLang="zh-CN" sz="1800" dirty="0" smtClean="0">
                <a:solidFill>
                  <a:srgbClr val="000118"/>
                </a:solidFill>
              </a:rPr>
              <a:t>*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p=head</a:t>
            </a:r>
            <a:r>
              <a:rPr lang="en-US" altLang="zh-CN" sz="1800" b="1" dirty="0">
                <a:solidFill>
                  <a:srgbClr val="C00000"/>
                </a:solidFill>
              </a:rPr>
              <a:t>;</a:t>
            </a:r>
            <a:r>
              <a:rPr lang="en-US" altLang="zh-CN" sz="1800" b="1" dirty="0">
                <a:solidFill>
                  <a:srgbClr val="7030A0"/>
                </a:solidFill>
              </a:rPr>
              <a:t>   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                       </a:t>
            </a:r>
            <a:r>
              <a:rPr lang="en-US" altLang="zh-CN" sz="1800" dirty="0">
                <a:solidFill>
                  <a:srgbClr val="000118"/>
                </a:solidFill>
              </a:rPr>
              <a:t>//</a:t>
            </a:r>
            <a:r>
              <a:rPr lang="zh-CN" altLang="en-US" sz="1800" dirty="0">
                <a:solidFill>
                  <a:srgbClr val="000118"/>
                </a:solidFill>
              </a:rPr>
              <a:t>第一次调用该函数，</a:t>
            </a:r>
            <a:r>
              <a:rPr lang="en-US" altLang="zh-CN" sz="1800" dirty="0">
                <a:solidFill>
                  <a:srgbClr val="000118"/>
                </a:solidFill>
              </a:rPr>
              <a:t>p</a:t>
            </a:r>
            <a:r>
              <a:rPr lang="zh-CN" altLang="en-US" sz="1800" dirty="0">
                <a:solidFill>
                  <a:srgbClr val="000118"/>
                </a:solidFill>
              </a:rPr>
              <a:t>指针头结点</a:t>
            </a:r>
            <a:r>
              <a:rPr lang="en-US" altLang="zh-CN" sz="1800" dirty="0">
                <a:solidFill>
                  <a:srgbClr val="000118"/>
                </a:solidFill>
              </a:rPr>
              <a:t>head</a:t>
            </a:r>
            <a:r>
              <a:rPr lang="zh-CN" altLang="en-US" sz="1800" dirty="0">
                <a:solidFill>
                  <a:srgbClr val="000118"/>
                </a:solidFill>
              </a:rPr>
              <a:t>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                  //</a:t>
            </a:r>
            <a:r>
              <a:rPr lang="zh-CN" altLang="en-US" sz="1800" dirty="0">
                <a:solidFill>
                  <a:srgbClr val="000118"/>
                </a:solidFill>
              </a:rPr>
              <a:t>以后每次递归调用，</a:t>
            </a:r>
            <a:r>
              <a:rPr lang="en-US" altLang="zh-CN" sz="1800" dirty="0">
                <a:solidFill>
                  <a:srgbClr val="000118"/>
                </a:solidFill>
              </a:rPr>
              <a:t>p</a:t>
            </a:r>
            <a:r>
              <a:rPr lang="zh-CN" altLang="en-US" sz="1800" dirty="0">
                <a:solidFill>
                  <a:srgbClr val="000118"/>
                </a:solidFill>
              </a:rPr>
              <a:t>依次指向链表的下一个结点；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    </a:t>
            </a:r>
            <a:r>
              <a:rPr lang="en-US" altLang="zh-CN" sz="1800" b="1" dirty="0">
                <a:solidFill>
                  <a:srgbClr val="7030A0"/>
                </a:solidFill>
              </a:rPr>
              <a:t>if (p==NULL)   //</a:t>
            </a:r>
            <a:r>
              <a:rPr lang="zh-CN" altLang="en-US" sz="1800" b="1" dirty="0">
                <a:solidFill>
                  <a:srgbClr val="7030A0"/>
                </a:solidFill>
              </a:rPr>
              <a:t>边界条件；</a:t>
            </a:r>
            <a:r>
              <a:rPr lang="en-US" altLang="zh-CN" sz="1800" b="1" dirty="0">
                <a:solidFill>
                  <a:srgbClr val="7030A0"/>
                </a:solidFill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            return;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</a:t>
            </a:r>
            <a:r>
              <a:rPr lang="en-US" altLang="zh-CN" sz="1800" dirty="0" err="1">
                <a:solidFill>
                  <a:srgbClr val="000118"/>
                </a:solidFill>
              </a:rPr>
              <a:t>printf</a:t>
            </a:r>
            <a:r>
              <a:rPr lang="en-US" altLang="zh-CN" sz="1800" dirty="0">
                <a:solidFill>
                  <a:srgbClr val="000118"/>
                </a:solidFill>
              </a:rPr>
              <a:t>("%</a:t>
            </a:r>
            <a:r>
              <a:rPr lang="en-US" altLang="zh-CN" sz="1800" dirty="0" err="1">
                <a:solidFill>
                  <a:srgbClr val="000118"/>
                </a:solidFill>
              </a:rPr>
              <a:t>ld</a:t>
            </a:r>
            <a:r>
              <a:rPr lang="en-US" altLang="zh-CN" sz="1800" dirty="0">
                <a:solidFill>
                  <a:srgbClr val="000118"/>
                </a:solidFill>
              </a:rPr>
              <a:t> %5.1f\n"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p-&gt;ID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en-US" altLang="zh-CN" sz="1800" dirty="0">
                <a:solidFill>
                  <a:srgbClr val="000118"/>
                </a:solidFill>
              </a:rPr>
              <a:t>p-&gt;score);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</a:t>
            </a:r>
            <a:r>
              <a:rPr lang="en-US" altLang="zh-CN" sz="1800" b="1" dirty="0" err="1">
                <a:solidFill>
                  <a:srgbClr val="030DCD"/>
                </a:solidFill>
              </a:rPr>
              <a:t>SearchLink</a:t>
            </a:r>
            <a:r>
              <a:rPr lang="en-US" altLang="zh-CN" sz="1800" dirty="0">
                <a:solidFill>
                  <a:srgbClr val="030DCD"/>
                </a:solidFill>
              </a:rPr>
              <a:t>(</a:t>
            </a:r>
            <a:r>
              <a:rPr lang="en-US" altLang="zh-CN" sz="1800" dirty="0">
                <a:solidFill>
                  <a:srgbClr val="000118"/>
                </a:solidFill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</a:rPr>
              <a:t>p-&gt;next</a:t>
            </a:r>
            <a:r>
              <a:rPr lang="en-US" altLang="zh-CN" sz="1800" dirty="0">
                <a:solidFill>
                  <a:srgbClr val="000118"/>
                </a:solidFill>
              </a:rPr>
              <a:t>);  //p</a:t>
            </a:r>
            <a:r>
              <a:rPr lang="zh-CN" altLang="en-US" sz="1800" dirty="0">
                <a:solidFill>
                  <a:srgbClr val="000118"/>
                </a:solidFill>
              </a:rPr>
              <a:t>指向下一结点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//</a:t>
            </a:r>
            <a:r>
              <a:rPr lang="zh-CN" altLang="en-US" sz="1800" dirty="0">
                <a:solidFill>
                  <a:srgbClr val="000118"/>
                </a:solidFill>
              </a:rPr>
              <a:t>注：</a:t>
            </a:r>
            <a:r>
              <a:rPr lang="zh-CN" altLang="en-US" sz="1800" dirty="0">
                <a:solidFill>
                  <a:srgbClr val="030DCD"/>
                </a:solidFill>
              </a:rPr>
              <a:t>递归函数</a:t>
            </a:r>
            <a:r>
              <a:rPr lang="en-US" altLang="zh-CN" sz="1800" dirty="0" err="1">
                <a:solidFill>
                  <a:srgbClr val="030DCD"/>
                </a:solidFill>
              </a:rPr>
              <a:t>SearchLink</a:t>
            </a:r>
            <a:r>
              <a:rPr lang="zh-CN" altLang="en-US" sz="1800" dirty="0">
                <a:solidFill>
                  <a:srgbClr val="030DCD"/>
                </a:solidFill>
              </a:rPr>
              <a:t>无返回值，</a:t>
            </a:r>
            <a:r>
              <a:rPr lang="zh-CN" altLang="en-US" sz="1800" b="1" dirty="0">
                <a:solidFill>
                  <a:srgbClr val="C00000"/>
                </a:solidFill>
              </a:rPr>
              <a:t>不能用 </a:t>
            </a:r>
            <a:r>
              <a:rPr lang="en-US" altLang="zh-CN" sz="1800" b="1" dirty="0">
                <a:solidFill>
                  <a:srgbClr val="030DCD"/>
                </a:solidFill>
              </a:rPr>
              <a:t>return</a:t>
            </a:r>
            <a:r>
              <a:rPr lang="en-US" altLang="zh-CN" sz="1800" b="1" dirty="0">
                <a:solidFill>
                  <a:srgbClr val="C00000"/>
                </a:solidFill>
              </a:rPr>
              <a:t> </a:t>
            </a:r>
            <a:r>
              <a:rPr lang="en-US" altLang="zh-CN" sz="1800" b="1" dirty="0" err="1">
                <a:solidFill>
                  <a:srgbClr val="C00000"/>
                </a:solidFill>
              </a:rPr>
              <a:t>SearchLink</a:t>
            </a:r>
            <a:r>
              <a:rPr lang="en-US" altLang="zh-CN" sz="1800" b="1" dirty="0">
                <a:solidFill>
                  <a:srgbClr val="C00000"/>
                </a:solidFill>
              </a:rPr>
              <a:t>( p-&gt;next);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}</a:t>
            </a:r>
            <a:endParaRPr lang="zh-CN" altLang="en-US" sz="1800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9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030DCD"/>
                </a:solidFill>
              </a:rPr>
              <a:t>单向链表</a:t>
            </a:r>
            <a:r>
              <a:rPr lang="zh-CN" altLang="en-US" dirty="0"/>
              <a:t>中查找某个结点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定义链表结点如下：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</a:t>
            </a:r>
            <a:r>
              <a:rPr lang="en-US" altLang="zh-CN" sz="1800" dirty="0" err="1">
                <a:solidFill>
                  <a:srgbClr val="000118"/>
                </a:solidFill>
              </a:rPr>
              <a:t>struct</a:t>
            </a:r>
            <a:r>
              <a:rPr lang="en-US" altLang="zh-CN" sz="1800" dirty="0">
                <a:solidFill>
                  <a:srgbClr val="000118"/>
                </a:solidFill>
              </a:rPr>
              <a:t> student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{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long ID;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float score;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 </a:t>
            </a:r>
            <a:r>
              <a:rPr lang="en-US" altLang="zh-CN" sz="1800" dirty="0" err="1">
                <a:solidFill>
                  <a:srgbClr val="FF0000"/>
                </a:solidFill>
              </a:rPr>
              <a:t>struct</a:t>
            </a:r>
            <a:r>
              <a:rPr lang="en-US" altLang="zh-CN" sz="1800" dirty="0">
                <a:solidFill>
                  <a:srgbClr val="FF0000"/>
                </a:solidFill>
              </a:rPr>
              <a:t> student *next;    </a:t>
            </a:r>
            <a:r>
              <a:rPr lang="en-US" altLang="zh-CN" sz="1800" b="1" dirty="0">
                <a:solidFill>
                  <a:srgbClr val="030DCD"/>
                </a:solidFill>
              </a:rPr>
              <a:t>//</a:t>
            </a:r>
            <a:r>
              <a:rPr lang="zh-CN" altLang="en-US" sz="1800" b="1" dirty="0">
                <a:solidFill>
                  <a:srgbClr val="030DCD"/>
                </a:solidFill>
              </a:rPr>
              <a:t>指向下一个结点的指针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118"/>
                </a:solidFill>
              </a:rPr>
              <a:t>      };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根据学号查找某个同学的成绩；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478177" y="1181028"/>
            <a:ext cx="1481900" cy="1873705"/>
            <a:chOff x="666030" y="1282978"/>
            <a:chExt cx="756370" cy="1130022"/>
          </a:xfrm>
        </p:grpSpPr>
        <p:sp>
          <p:nvSpPr>
            <p:cNvPr id="6" name="矩形 5"/>
            <p:cNvSpPr/>
            <p:nvPr/>
          </p:nvSpPr>
          <p:spPr bwMode="auto">
            <a:xfrm>
              <a:off x="673100" y="1526175"/>
              <a:ext cx="749300" cy="88682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>
              <a:off x="673100" y="183371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文本框 7"/>
            <p:cNvSpPr txBox="1"/>
            <p:nvPr/>
          </p:nvSpPr>
          <p:spPr>
            <a:xfrm>
              <a:off x="673100" y="1282978"/>
              <a:ext cx="749300" cy="22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ea"/>
                  <a:ea typeface="+mn-ea"/>
                </a:rPr>
                <a:t>   结点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10407" y="1559598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ID</a:t>
              </a:r>
              <a:endParaRPr lang="zh-CN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>
              <a:off x="666030" y="212627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文本框 10"/>
            <p:cNvSpPr txBox="1"/>
            <p:nvPr/>
          </p:nvSpPr>
          <p:spPr>
            <a:xfrm>
              <a:off x="704130" y="1829783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score</a:t>
              </a:r>
              <a:endParaRPr lang="zh-CN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10407" y="2163965"/>
              <a:ext cx="673100" cy="211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+mn-ea"/>
                  <a:ea typeface="+mn-ea"/>
                </a:rPr>
                <a:t>  next</a:t>
              </a:r>
              <a:endParaRPr lang="zh-CN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04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030DCD"/>
                </a:solidFill>
              </a:rPr>
              <a:t>单向链表</a:t>
            </a:r>
            <a:r>
              <a:rPr lang="zh-CN" altLang="en-US" dirty="0"/>
              <a:t>中查找某个结点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2181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//</a:t>
            </a:r>
            <a:r>
              <a:rPr lang="zh-CN" altLang="en-US" sz="1600" dirty="0">
                <a:solidFill>
                  <a:srgbClr val="000118"/>
                </a:solidFill>
              </a:rPr>
              <a:t>在以</a:t>
            </a:r>
            <a:r>
              <a:rPr lang="en-US" altLang="zh-CN" sz="1600" dirty="0">
                <a:solidFill>
                  <a:srgbClr val="000118"/>
                </a:solidFill>
              </a:rPr>
              <a:t>head</a:t>
            </a:r>
            <a:r>
              <a:rPr lang="zh-CN" altLang="en-US" sz="1600" dirty="0">
                <a:solidFill>
                  <a:srgbClr val="000118"/>
                </a:solidFill>
              </a:rPr>
              <a:t>为头指针的链表中查找学号为</a:t>
            </a:r>
            <a:r>
              <a:rPr lang="en-US" altLang="zh-CN" sz="1600" dirty="0">
                <a:solidFill>
                  <a:srgbClr val="000118"/>
                </a:solidFill>
              </a:rPr>
              <a:t>ID</a:t>
            </a:r>
            <a:r>
              <a:rPr lang="zh-CN" altLang="en-US" sz="1600" dirty="0">
                <a:solidFill>
                  <a:srgbClr val="000118"/>
                </a:solidFill>
              </a:rPr>
              <a:t>同学的成绩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//</a:t>
            </a:r>
            <a:r>
              <a:rPr lang="zh-CN" altLang="en-US" sz="1600" dirty="0">
                <a:solidFill>
                  <a:srgbClr val="000118"/>
                </a:solidFill>
              </a:rPr>
              <a:t>如果找不到，返回</a:t>
            </a:r>
            <a:r>
              <a:rPr lang="en-US" altLang="zh-CN" sz="1600" dirty="0">
                <a:solidFill>
                  <a:srgbClr val="000118"/>
                </a:solidFill>
              </a:rPr>
              <a:t>-1</a:t>
            </a:r>
            <a:r>
              <a:rPr lang="zh-CN" altLang="en-US" sz="1600" dirty="0">
                <a:solidFill>
                  <a:srgbClr val="000118"/>
                </a:solidFill>
              </a:rPr>
              <a:t>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30DCD"/>
                </a:solidFill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</a:rPr>
              <a:t>  </a:t>
            </a:r>
            <a:r>
              <a:rPr lang="en-US" altLang="zh-CN" sz="1600" dirty="0" err="1">
                <a:solidFill>
                  <a:srgbClr val="030DCD"/>
                </a:solidFill>
              </a:rPr>
              <a:t>SearchLink</a:t>
            </a:r>
            <a:r>
              <a:rPr lang="en-US" altLang="zh-CN" sz="1600" dirty="0">
                <a:solidFill>
                  <a:srgbClr val="030DCD"/>
                </a:solidFill>
              </a:rPr>
              <a:t>(student *</a:t>
            </a:r>
            <a:r>
              <a:rPr lang="en-US" altLang="zh-CN" sz="1600" dirty="0">
                <a:solidFill>
                  <a:srgbClr val="7030A0"/>
                </a:solidFill>
              </a:rPr>
              <a:t>head</a:t>
            </a:r>
            <a:r>
              <a:rPr lang="en-US" altLang="zh-CN" sz="1600" dirty="0">
                <a:solidFill>
                  <a:srgbClr val="030DCD"/>
                </a:solidFill>
              </a:rPr>
              <a:t>, long </a:t>
            </a:r>
            <a:r>
              <a:rPr lang="en-US" altLang="zh-CN" sz="1600" dirty="0">
                <a:solidFill>
                  <a:srgbClr val="006600"/>
                </a:solidFill>
              </a:rPr>
              <a:t>ID</a:t>
            </a:r>
            <a:r>
              <a:rPr lang="en-US" altLang="zh-CN" sz="1600" dirty="0">
                <a:solidFill>
                  <a:srgbClr val="030DCD"/>
                </a:solidFill>
              </a:rPr>
              <a:t>)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if (head==NULL)   //</a:t>
            </a:r>
            <a:r>
              <a:rPr lang="zh-CN" altLang="en-US" sz="1600" dirty="0">
                <a:solidFill>
                  <a:srgbClr val="000118"/>
                </a:solidFill>
              </a:rPr>
              <a:t>链表为空表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     return -1;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struct student  *</a:t>
            </a:r>
            <a:r>
              <a:rPr lang="en-US" altLang="zh-CN" sz="1600" dirty="0" smtClean="0">
                <a:solidFill>
                  <a:srgbClr val="7030A0"/>
                </a:solidFill>
              </a:rPr>
              <a:t>p=head</a:t>
            </a:r>
            <a:r>
              <a:rPr lang="en-US" altLang="zh-CN" sz="1600" dirty="0">
                <a:solidFill>
                  <a:srgbClr val="000118"/>
                </a:solidFill>
              </a:rPr>
              <a:t>;   // p</a:t>
            </a:r>
            <a:r>
              <a:rPr lang="zh-CN" altLang="en-US" sz="1600" dirty="0">
                <a:solidFill>
                  <a:srgbClr val="000118"/>
                </a:solidFill>
              </a:rPr>
              <a:t>指针指向链表的头结点，从头开始遍历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while(</a:t>
            </a:r>
            <a:r>
              <a:rPr lang="en-US" altLang="zh-CN" sz="1600" dirty="0">
                <a:solidFill>
                  <a:srgbClr val="C00000"/>
                </a:solidFill>
              </a:rPr>
              <a:t>p!=NULL </a:t>
            </a:r>
            <a:r>
              <a:rPr lang="en-US" altLang="zh-CN" sz="1600" dirty="0">
                <a:solidFill>
                  <a:srgbClr val="7030A0"/>
                </a:solidFill>
              </a:rPr>
              <a:t>&amp;&amp; </a:t>
            </a:r>
            <a:r>
              <a:rPr lang="en-US" altLang="zh-CN" sz="1600" dirty="0">
                <a:solidFill>
                  <a:srgbClr val="030DCD"/>
                </a:solidFill>
              </a:rPr>
              <a:t>p-&gt;ID!=ID</a:t>
            </a:r>
            <a:r>
              <a:rPr lang="en-US" altLang="zh-CN" sz="1600" dirty="0">
                <a:solidFill>
                  <a:srgbClr val="000118"/>
                </a:solidFill>
              </a:rPr>
              <a:t>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p=p-&gt;next;  </a:t>
            </a:r>
            <a:r>
              <a:rPr lang="en-US" altLang="zh-CN" sz="1600" dirty="0">
                <a:solidFill>
                  <a:srgbClr val="000118"/>
                </a:solidFill>
              </a:rPr>
              <a:t>//p</a:t>
            </a:r>
            <a:r>
              <a:rPr lang="zh-CN" altLang="en-US" sz="1600" dirty="0">
                <a:solidFill>
                  <a:srgbClr val="000118"/>
                </a:solidFill>
              </a:rPr>
              <a:t>指向下一结点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if (p==NULL)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     return -1;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return p-&gt; score;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}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solidFill>
                  <a:srgbClr val="000118"/>
                </a:solidFill>
              </a:rPr>
              <a:t>思考</a:t>
            </a:r>
            <a:r>
              <a:rPr lang="zh-CN" altLang="en-US" sz="1600" b="1" dirty="0">
                <a:solidFill>
                  <a:srgbClr val="000118"/>
                </a:solidFill>
              </a:rPr>
              <a:t>：如果将循环条件修改为  </a:t>
            </a:r>
            <a:r>
              <a:rPr lang="en-US" altLang="zh-CN" sz="1600" b="1" dirty="0">
                <a:solidFill>
                  <a:srgbClr val="000118"/>
                </a:solidFill>
              </a:rPr>
              <a:t>while(</a:t>
            </a:r>
            <a:r>
              <a:rPr lang="en-US" altLang="zh-CN" sz="1600" b="1" dirty="0">
                <a:solidFill>
                  <a:srgbClr val="030DCD"/>
                </a:solidFill>
              </a:rPr>
              <a:t>p-&gt;ID!=ID  </a:t>
            </a:r>
            <a:r>
              <a:rPr lang="en-US" altLang="zh-CN" sz="1600" b="1" dirty="0">
                <a:solidFill>
                  <a:srgbClr val="7030A0"/>
                </a:solidFill>
              </a:rPr>
              <a:t>&amp;&amp;</a:t>
            </a:r>
            <a:r>
              <a:rPr lang="en-US" altLang="zh-CN" sz="1600" b="1" dirty="0">
                <a:solidFill>
                  <a:srgbClr val="C00000"/>
                </a:solidFill>
              </a:rPr>
              <a:t> p!=NULL</a:t>
            </a:r>
            <a:r>
              <a:rPr lang="en-US" altLang="zh-CN" sz="1600" b="1" dirty="0">
                <a:solidFill>
                  <a:srgbClr val="000118"/>
                </a:solidFill>
              </a:rPr>
              <a:t>)</a:t>
            </a:r>
            <a:r>
              <a:rPr lang="zh-CN" altLang="en-US" sz="1600" b="1" dirty="0">
                <a:solidFill>
                  <a:srgbClr val="000118"/>
                </a:solidFill>
              </a:rPr>
              <a:t>，效果是否相同</a:t>
            </a:r>
            <a:r>
              <a:rPr lang="zh-CN" altLang="en-US" sz="1600" b="1" dirty="0" smtClean="0">
                <a:solidFill>
                  <a:srgbClr val="000118"/>
                </a:solidFill>
              </a:rPr>
              <a:t>？</a:t>
            </a:r>
            <a:endParaRPr lang="zh-CN" altLang="en-US" sz="1600" b="1" dirty="0">
              <a:solidFill>
                <a:srgbClr val="000118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30715" y="3152671"/>
            <a:ext cx="4744960" cy="338554"/>
          </a:xfrm>
          <a:prstGeom prst="rect">
            <a:avLst/>
          </a:prstGeom>
          <a:ln>
            <a:solidFill>
              <a:srgbClr val="080808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1600" b="1" dirty="0" smtClean="0">
                <a:solidFill>
                  <a:srgbClr val="C00000"/>
                </a:solidFill>
                <a:latin typeface="+mn-lt"/>
                <a:ea typeface="+mn-ea"/>
                <a:sym typeface="Arial" panose="020B0604020202020204" pitchFamily="34" charset="0"/>
              </a:rPr>
              <a:t>特别注意</a:t>
            </a:r>
            <a:r>
              <a:rPr lang="zh-CN" altLang="en-US" sz="1600" b="1" dirty="0">
                <a:solidFill>
                  <a:srgbClr val="C00000"/>
                </a:solidFill>
                <a:latin typeface="+mn-lt"/>
                <a:ea typeface="+mn-ea"/>
                <a:sym typeface="Arial" panose="020B0604020202020204" pitchFamily="34" charset="0"/>
              </a:rPr>
              <a:t>逻辑表达式的</a:t>
            </a:r>
            <a:r>
              <a:rPr lang="zh-CN" altLang="en-US" sz="1600" b="1" i="1" u="sng" dirty="0">
                <a:solidFill>
                  <a:srgbClr val="C00000"/>
                </a:solidFill>
                <a:latin typeface="+mn-lt"/>
                <a:ea typeface="+mn-ea"/>
                <a:sym typeface="Arial" panose="020B0604020202020204" pitchFamily="34" charset="0"/>
              </a:rPr>
              <a:t>短路</a:t>
            </a:r>
            <a:r>
              <a:rPr lang="zh-CN" altLang="en-US" sz="1600" b="1" dirty="0">
                <a:solidFill>
                  <a:srgbClr val="C00000"/>
                </a:solidFill>
                <a:latin typeface="+mn-lt"/>
                <a:ea typeface="+mn-ea"/>
                <a:sym typeface="Arial" panose="020B0604020202020204" pitchFamily="34" charset="0"/>
              </a:rPr>
              <a:t>对链表结束条件的影响</a:t>
            </a:r>
            <a:endParaRPr lang="en-US" altLang="zh-CN" sz="1600" b="1" dirty="0">
              <a:solidFill>
                <a:srgbClr val="C00000"/>
              </a:solidFill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2ADAD292-F194-4204-9940-B01ADFFDB7D6}"/>
              </a:ext>
            </a:extLst>
          </p:cNvPr>
          <p:cNvSpPr/>
          <p:nvPr/>
        </p:nvSpPr>
        <p:spPr bwMode="auto">
          <a:xfrm>
            <a:off x="3830715" y="1997192"/>
            <a:ext cx="4951207" cy="2649512"/>
          </a:xfrm>
          <a:prstGeom prst="wedgeRoundRectCallout">
            <a:avLst>
              <a:gd name="adj1" fmla="val -20654"/>
              <a:gd name="adj2" fmla="val 50094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当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查找到尾结点时，若条件</a:t>
            </a:r>
            <a:r>
              <a:rPr lang="en-US" altLang="zh-CN" sz="1600" dirty="0">
                <a:solidFill>
                  <a:srgbClr val="030DCD"/>
                </a:solidFill>
                <a:latin typeface="+mn-lt"/>
                <a:ea typeface="+mn-ea"/>
              </a:rPr>
              <a:t>p-&gt;ID!=ID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仍为真，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则说明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链表中不存在要查找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ID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对应的同学；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此时</a:t>
            </a:r>
            <a:r>
              <a:rPr lang="en-US" altLang="zh-CN" sz="1600" dirty="0">
                <a:solidFill>
                  <a:srgbClr val="7030A0"/>
                </a:solidFill>
                <a:latin typeface="+mn-lt"/>
                <a:ea typeface="+mn-ea"/>
              </a:rPr>
              <a:t>p!=NULL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u="sng" dirty="0" smtClean="0">
                <a:solidFill>
                  <a:srgbClr val="000000"/>
                </a:solidFill>
                <a:latin typeface="+mn-lt"/>
                <a:ea typeface="+mn-ea"/>
              </a:rPr>
              <a:t>然后执行</a:t>
            </a:r>
            <a:r>
              <a:rPr lang="zh-CN" altLang="en-US" sz="1600" b="1" u="sng" dirty="0">
                <a:solidFill>
                  <a:srgbClr val="000000"/>
                </a:solidFill>
                <a:latin typeface="+mn-lt"/>
                <a:ea typeface="+mn-ea"/>
              </a:rPr>
              <a:t>循环体</a:t>
            </a:r>
            <a:r>
              <a:rPr lang="en-US" altLang="zh-CN" sz="1600" b="1" u="sng" dirty="0">
                <a:solidFill>
                  <a:srgbClr val="000118"/>
                </a:solidFill>
                <a:latin typeface="+mn-lt"/>
                <a:ea typeface="+mn-ea"/>
              </a:rPr>
              <a:t>p=p-&gt;next </a:t>
            </a:r>
            <a:r>
              <a:rPr lang="zh-CN" altLang="en-US" sz="1600" b="1" u="sng" dirty="0">
                <a:solidFill>
                  <a:srgbClr val="000118"/>
                </a:solidFill>
                <a:latin typeface="+mn-lt"/>
                <a:ea typeface="+mn-ea"/>
              </a:rPr>
              <a:t>并进入下一轮循环</a:t>
            </a:r>
            <a:r>
              <a:rPr lang="zh-CN" altLang="en-US" sz="1600" b="1" u="sng" dirty="0">
                <a:solidFill>
                  <a:srgbClr val="000000"/>
                </a:solidFill>
                <a:latin typeface="+mn-lt"/>
                <a:ea typeface="+mn-ea"/>
              </a:rPr>
              <a:t>，此时</a:t>
            </a:r>
            <a:r>
              <a:rPr lang="en-US" altLang="zh-CN" sz="1600" b="1" u="sng" dirty="0">
                <a:solidFill>
                  <a:srgbClr val="C00000"/>
                </a:solidFill>
                <a:latin typeface="+mn-lt"/>
                <a:ea typeface="+mn-ea"/>
              </a:rPr>
              <a:t>p==NULL</a:t>
            </a:r>
            <a:r>
              <a:rPr lang="zh-CN" altLang="en-US" sz="1600" b="1" u="sng" dirty="0">
                <a:solidFill>
                  <a:srgbClr val="000000"/>
                </a:solidFill>
                <a:latin typeface="+mn-lt"/>
                <a:ea typeface="+mn-ea"/>
              </a:rPr>
              <a:t>；</a:t>
            </a:r>
            <a:endParaRPr lang="en-US" altLang="zh-CN" sz="1600" b="1" u="sng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+mn-lt"/>
                <a:ea typeface="+mn-ea"/>
              </a:rPr>
              <a:t>当判断循环条件</a:t>
            </a:r>
            <a:r>
              <a:rPr lang="en-US" altLang="zh-CN" sz="1600" dirty="0">
                <a:solidFill>
                  <a:srgbClr val="C00000"/>
                </a:solidFill>
                <a:latin typeface="+mn-lt"/>
                <a:ea typeface="+mn-ea"/>
              </a:rPr>
              <a:t>(p!=NULL </a:t>
            </a:r>
            <a:r>
              <a:rPr lang="en-US" altLang="zh-CN" sz="1600" dirty="0">
                <a:solidFill>
                  <a:srgbClr val="7030A0"/>
                </a:solidFill>
                <a:latin typeface="+mn-lt"/>
                <a:ea typeface="+mn-ea"/>
              </a:rPr>
              <a:t>&amp;&amp; </a:t>
            </a:r>
            <a:r>
              <a:rPr lang="en-US" altLang="zh-CN" sz="1600" dirty="0">
                <a:solidFill>
                  <a:srgbClr val="030DCD"/>
                </a:solidFill>
                <a:latin typeface="+mn-lt"/>
                <a:ea typeface="+mn-ea"/>
              </a:rPr>
              <a:t>p-&gt;ID!=ID)</a:t>
            </a:r>
            <a:r>
              <a:rPr lang="zh-CN" altLang="en-US" sz="1600" dirty="0">
                <a:solidFill>
                  <a:srgbClr val="030DCD"/>
                </a:solidFill>
                <a:latin typeface="+mn-lt"/>
                <a:ea typeface="+mn-ea"/>
              </a:rPr>
              <a:t>时，会终止循环；</a:t>
            </a:r>
            <a:endParaRPr lang="en-US" altLang="zh-CN" sz="1600" dirty="0">
              <a:solidFill>
                <a:srgbClr val="030DCD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+mn-lt"/>
                <a:ea typeface="+mn-ea"/>
              </a:rPr>
              <a:t>但若判断循环条件</a:t>
            </a:r>
            <a:r>
              <a:rPr lang="en-US" altLang="zh-CN" sz="1600" dirty="0">
                <a:solidFill>
                  <a:srgbClr val="C00000"/>
                </a:solidFill>
                <a:latin typeface="+mn-lt"/>
                <a:ea typeface="+mn-ea"/>
              </a:rPr>
              <a:t>(</a:t>
            </a:r>
            <a:r>
              <a:rPr lang="en-US" altLang="zh-CN" sz="1600" dirty="0">
                <a:solidFill>
                  <a:srgbClr val="030DCD"/>
                </a:solidFill>
                <a:latin typeface="+mn-lt"/>
                <a:ea typeface="+mn-ea"/>
              </a:rPr>
              <a:t>p-&gt;ID!=ID  </a:t>
            </a:r>
            <a:r>
              <a:rPr lang="en-US" altLang="zh-CN" sz="1600" dirty="0">
                <a:solidFill>
                  <a:srgbClr val="7030A0"/>
                </a:solidFill>
                <a:latin typeface="+mn-lt"/>
                <a:ea typeface="+mn-ea"/>
              </a:rPr>
              <a:t>&amp;&amp;</a:t>
            </a:r>
            <a:r>
              <a:rPr lang="en-US" altLang="zh-CN" sz="1600" dirty="0">
                <a:solidFill>
                  <a:srgbClr val="C00000"/>
                </a:solidFill>
                <a:latin typeface="+mn-lt"/>
                <a:ea typeface="+mn-ea"/>
              </a:rPr>
              <a:t> p!=NULL</a:t>
            </a:r>
            <a:r>
              <a:rPr lang="en-US" altLang="zh-CN" sz="1600" dirty="0">
                <a:solidFill>
                  <a:srgbClr val="030DCD"/>
                </a:solidFill>
                <a:latin typeface="+mn-lt"/>
                <a:ea typeface="+mn-ea"/>
              </a:rPr>
              <a:t>)</a:t>
            </a:r>
            <a:r>
              <a:rPr lang="zh-CN" altLang="en-US" sz="1600" dirty="0">
                <a:solidFill>
                  <a:srgbClr val="030DCD"/>
                </a:solidFill>
                <a:latin typeface="+mn-lt"/>
                <a:ea typeface="+mn-ea"/>
              </a:rPr>
              <a:t>时，会出错；（</a:t>
            </a:r>
            <a:r>
              <a:rPr lang="zh-CN" altLang="en-US" sz="1600" b="1" dirty="0">
                <a:solidFill>
                  <a:srgbClr val="7030A0"/>
                </a:solidFill>
                <a:latin typeface="+mn-lt"/>
                <a:ea typeface="+mn-ea"/>
              </a:rPr>
              <a:t>此时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+mn-ea"/>
              </a:rPr>
              <a:t>p</a:t>
            </a:r>
            <a:r>
              <a:rPr lang="zh-CN" altLang="en-US" sz="1600" b="1" dirty="0">
                <a:solidFill>
                  <a:srgbClr val="7030A0"/>
                </a:solidFill>
                <a:latin typeface="+mn-lt"/>
                <a:ea typeface="+mn-ea"/>
              </a:rPr>
              <a:t>为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+mn-ea"/>
              </a:rPr>
              <a:t>NULL</a:t>
            </a:r>
            <a:r>
              <a:rPr lang="zh-CN" altLang="en-US" sz="1600" b="1" dirty="0">
                <a:solidFill>
                  <a:srgbClr val="7030A0"/>
                </a:solidFill>
                <a:latin typeface="+mn-lt"/>
                <a:ea typeface="+mn-ea"/>
              </a:rPr>
              <a:t>，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+mn-ea"/>
              </a:rPr>
              <a:t>p-&gt;ID</a:t>
            </a:r>
            <a:r>
              <a:rPr lang="zh-CN" altLang="en-US" sz="1600" b="1" dirty="0">
                <a:solidFill>
                  <a:srgbClr val="7030A0"/>
                </a:solidFill>
                <a:latin typeface="+mn-lt"/>
                <a:ea typeface="+mn-ea"/>
              </a:rPr>
              <a:t>无意义</a:t>
            </a:r>
            <a:r>
              <a:rPr lang="zh-CN" altLang="en-US" sz="1600" dirty="0">
                <a:solidFill>
                  <a:srgbClr val="030DCD"/>
                </a:solidFill>
                <a:latin typeface="+mn-lt"/>
                <a:ea typeface="+mn-ea"/>
              </a:rPr>
              <a:t>）</a:t>
            </a:r>
            <a:endParaRPr lang="en-US" altLang="zh-CN" sz="1600" dirty="0">
              <a:solidFill>
                <a:srgbClr val="030DCD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820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动态分配结点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7030A0"/>
                </a:solidFill>
              </a:rPr>
              <a:t>动态链表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宋体" panose="02010600030101010101" pitchFamily="2" charset="-122"/>
              </a:rPr>
              <a:t>上例中，利用语句</a:t>
            </a:r>
            <a:r>
              <a:rPr lang="en-US" altLang="zh-CN" sz="2000" dirty="0" err="1">
                <a:solidFill>
                  <a:srgbClr val="000118"/>
                </a:solidFill>
              </a:rPr>
              <a:t>struct</a:t>
            </a:r>
            <a:r>
              <a:rPr lang="en-US" altLang="zh-CN" sz="2000" dirty="0">
                <a:solidFill>
                  <a:srgbClr val="000118"/>
                </a:solidFill>
              </a:rPr>
              <a:t> student </a:t>
            </a:r>
            <a:r>
              <a:rPr lang="en-US" altLang="zh-CN" sz="2000" b="1" dirty="0">
                <a:solidFill>
                  <a:srgbClr val="006600"/>
                </a:solidFill>
              </a:rPr>
              <a:t>a</a:t>
            </a:r>
            <a:r>
              <a:rPr lang="zh-CN" altLang="en-US" sz="2000" b="1" dirty="0">
                <a:solidFill>
                  <a:srgbClr val="006600"/>
                </a:solidFill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</a:rPr>
              <a:t>b</a:t>
            </a:r>
            <a:r>
              <a:rPr lang="zh-CN" altLang="en-US" sz="2000" b="1" dirty="0">
                <a:solidFill>
                  <a:srgbClr val="006600"/>
                </a:solidFill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</a:rPr>
              <a:t>声明了</a:t>
            </a:r>
            <a:r>
              <a:rPr lang="en-US" altLang="zh-CN" sz="2000" dirty="0">
                <a:latin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</a:rPr>
              <a:t>个结点，然后将这</a:t>
            </a:r>
            <a:r>
              <a:rPr lang="en-US" altLang="zh-CN" sz="2000" dirty="0">
                <a:latin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</a:rPr>
              <a:t>个结点链接起来，构成一个链表；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宋体" panose="02010600030101010101" pitchFamily="2" charset="-122"/>
              </a:rPr>
              <a:t>更多的情况是，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创建链表时，结点的个数无法确定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  <a:latin typeface="宋体" panose="02010600030101010101" pitchFamily="2" charset="-122"/>
              </a:rPr>
              <a:t>需要根据实际情况对链表结点进行添加、插入、删除等操作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宋体" panose="02010600030101010101" pitchFamily="2" charset="-122"/>
              </a:rPr>
              <a:t>因此，也需要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动态地申请、释放结点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460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动态申请结点</a:t>
            </a:r>
            <a:r>
              <a:rPr lang="en-US" altLang="zh-CN" dirty="0"/>
              <a:t>--</a:t>
            </a:r>
            <a:r>
              <a:rPr lang="en-US" altLang="zh-CN" dirty="0">
                <a:solidFill>
                  <a:srgbClr val="FF0000"/>
                </a:solidFill>
              </a:rPr>
              <a:t> malloc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动态地开辟和释放存储单元的有关函数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</a:rPr>
              <a:t>malloc</a:t>
            </a:r>
            <a:r>
              <a:rPr lang="zh-CN" altLang="en-US" sz="2000" dirty="0"/>
              <a:t>函数     </a:t>
            </a:r>
            <a:r>
              <a:rPr lang="en-US" altLang="zh-CN" sz="2000" dirty="0">
                <a:solidFill>
                  <a:srgbClr val="000118"/>
                </a:solidFill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</a:rPr>
              <a:t>头文件</a:t>
            </a:r>
            <a:r>
              <a:rPr lang="en-US" altLang="zh-CN" sz="2000" dirty="0" err="1">
                <a:solidFill>
                  <a:srgbClr val="006600"/>
                </a:solidFill>
              </a:rPr>
              <a:t>stdlib.h</a:t>
            </a:r>
            <a:r>
              <a:rPr lang="zh-CN" altLang="en-US" sz="2000" dirty="0">
                <a:solidFill>
                  <a:srgbClr val="080808"/>
                </a:solidFill>
              </a:rPr>
              <a:t>或</a:t>
            </a:r>
            <a:r>
              <a:rPr lang="en-US" altLang="zh-CN" sz="2000" dirty="0" err="1">
                <a:solidFill>
                  <a:srgbClr val="006600"/>
                </a:solidFill>
              </a:rPr>
              <a:t>malloc.h</a:t>
            </a:r>
            <a:endParaRPr lang="zh-CN" altLang="en-US" sz="2000" dirty="0"/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函数原型：</a:t>
            </a:r>
            <a:r>
              <a:rPr lang="en-US" altLang="zh-CN" sz="1800" b="1" dirty="0">
                <a:solidFill>
                  <a:srgbClr val="7030A0"/>
                </a:solidFill>
              </a:rPr>
              <a:t>void</a:t>
            </a:r>
            <a:r>
              <a:rPr lang="en-US" altLang="zh-CN" sz="1800" b="1" dirty="0">
                <a:solidFill>
                  <a:srgbClr val="030DCD"/>
                </a:solidFill>
              </a:rPr>
              <a:t> *malloc(unsigned int </a:t>
            </a:r>
            <a:r>
              <a:rPr lang="en-US" altLang="zh-CN" sz="1800" b="1" dirty="0">
                <a:solidFill>
                  <a:srgbClr val="C00000"/>
                </a:solidFill>
              </a:rPr>
              <a:t>size</a:t>
            </a:r>
            <a:r>
              <a:rPr lang="en-US" altLang="zh-CN" sz="1800" b="1" dirty="0">
                <a:solidFill>
                  <a:srgbClr val="030DCD"/>
                </a:solidFill>
              </a:rPr>
              <a:t>); </a:t>
            </a: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在内存的</a:t>
            </a:r>
            <a:r>
              <a:rPr lang="zh-CN" altLang="en-US" sz="1800" b="1" dirty="0">
                <a:solidFill>
                  <a:srgbClr val="006600"/>
                </a:solidFill>
              </a:rPr>
              <a:t>动态存储区</a:t>
            </a:r>
            <a:r>
              <a:rPr lang="en-US" altLang="zh-CN" sz="1800" b="1" dirty="0">
                <a:solidFill>
                  <a:srgbClr val="006600"/>
                </a:solidFill>
              </a:rPr>
              <a:t>(heap)</a:t>
            </a:r>
            <a:r>
              <a:rPr lang="zh-CN" altLang="en-US" sz="1800" dirty="0">
                <a:solidFill>
                  <a:srgbClr val="000118"/>
                </a:solidFill>
              </a:rPr>
              <a:t>中分配</a:t>
            </a:r>
            <a:r>
              <a:rPr lang="zh-CN" altLang="en-US" sz="1800" dirty="0">
                <a:solidFill>
                  <a:srgbClr val="7030A0"/>
                </a:solidFill>
              </a:rPr>
              <a:t>一个</a:t>
            </a:r>
            <a:r>
              <a:rPr lang="zh-CN" altLang="en-US" sz="1800" b="1" dirty="0">
                <a:solidFill>
                  <a:srgbClr val="000118"/>
                </a:solidFill>
              </a:rPr>
              <a:t>长度为</a:t>
            </a:r>
            <a:r>
              <a:rPr lang="en-US" altLang="zh-CN" sz="1800" b="1" dirty="0">
                <a:solidFill>
                  <a:srgbClr val="030DCD"/>
                </a:solidFill>
              </a:rPr>
              <a:t>size</a:t>
            </a:r>
            <a:r>
              <a:rPr lang="zh-CN" altLang="en-US" sz="1800" b="1" dirty="0">
                <a:solidFill>
                  <a:srgbClr val="000118"/>
                </a:solidFill>
              </a:rPr>
              <a:t>的连续空间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zh-CN" altLang="en-US" sz="1800" b="1" dirty="0">
                <a:solidFill>
                  <a:srgbClr val="C00000"/>
                </a:solidFill>
              </a:rPr>
              <a:t>不对其进行初始化操作</a:t>
            </a:r>
            <a:r>
              <a:rPr lang="zh-CN" altLang="en-US" sz="1800" dirty="0">
                <a:solidFill>
                  <a:srgbClr val="000118"/>
                </a:solidFill>
              </a:rPr>
              <a:t>，</a:t>
            </a:r>
            <a:r>
              <a:rPr lang="zh-CN" altLang="en-US" sz="1800" b="1" dirty="0">
                <a:solidFill>
                  <a:srgbClr val="0070C0"/>
                </a:solidFill>
              </a:rPr>
              <a:t>因此该空间中内存单元的值不确定。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此函数的值（即“返回值”）是一个</a:t>
            </a:r>
            <a:r>
              <a:rPr lang="zh-CN" altLang="en-US" sz="1800" dirty="0">
                <a:solidFill>
                  <a:srgbClr val="030DCD"/>
                </a:solidFill>
              </a:rPr>
              <a:t>指向分配域起始地址的指针</a:t>
            </a:r>
            <a:r>
              <a:rPr lang="zh-CN" altLang="en-US" sz="1800" dirty="0">
                <a:solidFill>
                  <a:srgbClr val="000118"/>
                </a:solidFill>
              </a:rPr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类型为</a:t>
            </a:r>
            <a:r>
              <a:rPr lang="en-US" altLang="zh-CN" sz="1800" b="1" dirty="0">
                <a:solidFill>
                  <a:srgbClr val="FF0000"/>
                </a:solidFill>
              </a:rPr>
              <a:t>void</a:t>
            </a:r>
            <a:r>
              <a:rPr lang="zh-CN" altLang="en-US" sz="1800" b="1" dirty="0">
                <a:solidFill>
                  <a:srgbClr val="FF0000"/>
                </a:solidFill>
              </a:rPr>
              <a:t>型指针</a:t>
            </a:r>
            <a:r>
              <a:rPr lang="zh-CN" altLang="en-US" sz="1800" dirty="0">
                <a:solidFill>
                  <a:srgbClr val="000118"/>
                </a:solidFill>
              </a:rPr>
              <a:t>）。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如果此函数未能成功地执行（例如内存空间不足），则返回空指针</a:t>
            </a:r>
            <a:r>
              <a:rPr lang="en-US" altLang="zh-CN" sz="1800" dirty="0">
                <a:solidFill>
                  <a:srgbClr val="000118"/>
                </a:solidFill>
              </a:rPr>
              <a:t>(NULL)</a:t>
            </a:r>
            <a:r>
              <a:rPr lang="zh-CN" altLang="en-US" sz="1800" dirty="0">
                <a:solidFill>
                  <a:srgbClr val="000118"/>
                </a:solidFill>
              </a:rPr>
              <a:t>。 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思考</a:t>
            </a:r>
            <a:r>
              <a:rPr lang="zh-CN" altLang="en-US" sz="2000" dirty="0" smtClean="0">
                <a:solidFill>
                  <a:srgbClr val="030DCD"/>
                </a:solidFill>
              </a:rPr>
              <a:t>：</a:t>
            </a:r>
            <a:endParaRPr lang="en-US" altLang="zh-CN" sz="2000" dirty="0" smtClean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 smtClean="0"/>
              <a:t>为什么</a:t>
            </a:r>
            <a:r>
              <a:rPr lang="zh-CN" altLang="en-US" sz="1800" dirty="0"/>
              <a:t>返回值为</a:t>
            </a:r>
            <a:r>
              <a:rPr lang="en-US" altLang="zh-CN" sz="1800" dirty="0"/>
              <a:t>void</a:t>
            </a:r>
            <a:r>
              <a:rPr lang="zh-CN" altLang="en-US" sz="1800" dirty="0"/>
              <a:t>型指针</a:t>
            </a:r>
            <a:r>
              <a:rPr lang="zh-CN" altLang="en-US" sz="1800" dirty="0" smtClean="0"/>
              <a:t>？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如何</a:t>
            </a:r>
            <a:r>
              <a:rPr lang="zh-CN" altLang="en-US" sz="1800" dirty="0"/>
              <a:t>将</a:t>
            </a:r>
            <a:r>
              <a:rPr lang="en-US" altLang="zh-CN" sz="1800" dirty="0"/>
              <a:t>void</a:t>
            </a:r>
            <a:r>
              <a:rPr lang="zh-CN" altLang="en-US" sz="1800" dirty="0"/>
              <a:t>型转换为一个我们所需要的具体</a:t>
            </a:r>
            <a:r>
              <a:rPr lang="zh-CN" altLang="en-US" sz="1800" dirty="0" smtClean="0"/>
              <a:t>的结构体类型</a:t>
            </a:r>
            <a:r>
              <a:rPr lang="zh-CN" altLang="en-US" sz="1800" dirty="0"/>
              <a:t>指针？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1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动态申请结点</a:t>
            </a:r>
            <a:r>
              <a:rPr lang="en-US" altLang="zh-CN" dirty="0"/>
              <a:t>--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calloc</a:t>
            </a:r>
            <a:r>
              <a:rPr lang="zh-CN" altLang="en-US" dirty="0"/>
              <a:t>函数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FF0000"/>
                </a:solidFill>
              </a:rPr>
              <a:t>calloc</a:t>
            </a:r>
            <a:r>
              <a:rPr lang="zh-CN" altLang="en-US" sz="2000" dirty="0"/>
              <a:t>函数   </a:t>
            </a:r>
            <a:r>
              <a:rPr lang="en-US" altLang="zh-CN" sz="2000" dirty="0">
                <a:solidFill>
                  <a:srgbClr val="000118"/>
                </a:solidFill>
              </a:rPr>
              <a:t> //</a:t>
            </a:r>
            <a:r>
              <a:rPr lang="zh-CN" altLang="en-US" sz="2000" dirty="0">
                <a:solidFill>
                  <a:srgbClr val="006600"/>
                </a:solidFill>
              </a:rPr>
              <a:t>头文件</a:t>
            </a:r>
            <a:r>
              <a:rPr lang="en-US" altLang="zh-CN" sz="2000" dirty="0" err="1">
                <a:solidFill>
                  <a:srgbClr val="006600"/>
                </a:solidFill>
              </a:rPr>
              <a:t>stdlib.h</a:t>
            </a:r>
            <a:r>
              <a:rPr lang="zh-CN" altLang="en-US" sz="2000" dirty="0">
                <a:solidFill>
                  <a:srgbClr val="080808"/>
                </a:solidFill>
              </a:rPr>
              <a:t>或</a:t>
            </a:r>
            <a:r>
              <a:rPr lang="en-US" altLang="zh-CN" sz="2000" dirty="0" err="1">
                <a:solidFill>
                  <a:srgbClr val="006600"/>
                </a:solidFill>
              </a:rPr>
              <a:t>malloc.h</a:t>
            </a:r>
            <a:endParaRPr lang="zh-CN" altLang="en-US" sz="2000" dirty="0"/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函数原型：</a:t>
            </a:r>
            <a:r>
              <a:rPr lang="en-US" altLang="zh-CN" sz="1800" dirty="0">
                <a:solidFill>
                  <a:srgbClr val="030DCD"/>
                </a:solidFill>
              </a:rPr>
              <a:t>void *</a:t>
            </a:r>
            <a:r>
              <a:rPr lang="en-US" altLang="zh-CN" sz="1800" dirty="0" err="1">
                <a:solidFill>
                  <a:srgbClr val="030DCD"/>
                </a:solidFill>
              </a:rPr>
              <a:t>calloc</a:t>
            </a:r>
            <a:r>
              <a:rPr lang="zh-CN" altLang="en-US" sz="1800" dirty="0">
                <a:solidFill>
                  <a:srgbClr val="030DCD"/>
                </a:solidFill>
              </a:rPr>
              <a:t>（</a:t>
            </a:r>
            <a:r>
              <a:rPr lang="en-US" altLang="zh-CN" sz="1800" dirty="0">
                <a:solidFill>
                  <a:srgbClr val="030DCD"/>
                </a:solidFill>
              </a:rPr>
              <a:t>unsigned </a:t>
            </a:r>
            <a:r>
              <a:rPr lang="en-US" altLang="zh-CN" sz="1800" dirty="0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030DCD"/>
                </a:solidFill>
              </a:rPr>
              <a:t>，</a:t>
            </a:r>
            <a:r>
              <a:rPr lang="en-US" altLang="zh-CN" sz="1800" dirty="0">
                <a:solidFill>
                  <a:srgbClr val="030DCD"/>
                </a:solidFill>
              </a:rPr>
              <a:t>unsigned </a:t>
            </a:r>
            <a:r>
              <a:rPr lang="en-US" altLang="zh-CN" sz="1800" dirty="0">
                <a:solidFill>
                  <a:srgbClr val="C00000"/>
                </a:solidFill>
              </a:rPr>
              <a:t>size</a:t>
            </a:r>
            <a:r>
              <a:rPr lang="zh-CN" altLang="en-US" sz="1800" dirty="0">
                <a:solidFill>
                  <a:srgbClr val="000118"/>
                </a:solidFill>
              </a:rPr>
              <a:t>）</a:t>
            </a:r>
            <a:r>
              <a:rPr lang="en-US" altLang="zh-CN" sz="1800" dirty="0">
                <a:solidFill>
                  <a:srgbClr val="000118"/>
                </a:solidFill>
              </a:rPr>
              <a:t>;  </a:t>
            </a:r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其作用是在内存的</a:t>
            </a:r>
            <a:r>
              <a:rPr lang="zh-CN" altLang="en-US" sz="1800" dirty="0">
                <a:solidFill>
                  <a:srgbClr val="030DCD"/>
                </a:solidFill>
              </a:rPr>
              <a:t>动态存储区</a:t>
            </a:r>
            <a:r>
              <a:rPr lang="zh-CN" altLang="en-US" sz="1800" dirty="0">
                <a:solidFill>
                  <a:srgbClr val="000118"/>
                </a:solidFill>
              </a:rPr>
              <a:t>中</a:t>
            </a:r>
            <a:r>
              <a:rPr lang="zh-CN" altLang="en-US" sz="1800" b="1" dirty="0">
                <a:solidFill>
                  <a:srgbClr val="006600"/>
                </a:solidFill>
              </a:rPr>
              <a:t>分配</a:t>
            </a:r>
            <a:r>
              <a:rPr lang="en-US" altLang="zh-CN" sz="1800" b="1" dirty="0">
                <a:solidFill>
                  <a:srgbClr val="C00000"/>
                </a:solidFill>
              </a:rPr>
              <a:t>n</a:t>
            </a:r>
            <a:r>
              <a:rPr lang="zh-CN" altLang="en-US" sz="1800" b="1" dirty="0">
                <a:solidFill>
                  <a:srgbClr val="C00000"/>
                </a:solidFill>
              </a:rPr>
              <a:t>个长度为</a:t>
            </a:r>
            <a:r>
              <a:rPr lang="en-US" altLang="zh-CN" sz="1800" b="1" dirty="0">
                <a:solidFill>
                  <a:srgbClr val="C00000"/>
                </a:solidFill>
              </a:rPr>
              <a:t>size</a:t>
            </a:r>
            <a:r>
              <a:rPr lang="zh-CN" altLang="en-US" sz="1800" b="1" dirty="0">
                <a:solidFill>
                  <a:srgbClr val="006600"/>
                </a:solidFill>
              </a:rPr>
              <a:t>的连续空间；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</a:rPr>
              <a:t>并自动初始化为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；</a:t>
            </a:r>
            <a:r>
              <a:rPr lang="zh-CN" altLang="en-US" sz="1800" b="1" i="1" dirty="0">
                <a:solidFill>
                  <a:srgbClr val="660066"/>
                </a:solidFill>
              </a:rPr>
              <a:t>（此为与</a:t>
            </a:r>
            <a:r>
              <a:rPr lang="en-US" altLang="zh-CN" sz="1800" b="1" i="1" dirty="0">
                <a:solidFill>
                  <a:srgbClr val="660066"/>
                </a:solidFill>
              </a:rPr>
              <a:t>malloc </a:t>
            </a:r>
            <a:r>
              <a:rPr lang="zh-CN" altLang="en-US" sz="1800" b="1" i="1" dirty="0">
                <a:solidFill>
                  <a:srgbClr val="660066"/>
                </a:solidFill>
              </a:rPr>
              <a:t>函数的主要区别）</a:t>
            </a:r>
            <a:endParaRPr lang="en-US" altLang="zh-CN" sz="1800" b="1" i="1" dirty="0">
              <a:solidFill>
                <a:srgbClr val="660066"/>
              </a:solidFill>
            </a:endParaRPr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函数返回一个指向分配域起始地址的指针；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如果分配不成功，返回</a:t>
            </a:r>
            <a:r>
              <a:rPr lang="en-US" altLang="zh-CN" sz="1800" dirty="0">
                <a:solidFill>
                  <a:srgbClr val="000118"/>
                </a:solidFill>
              </a:rPr>
              <a:t>NULL</a:t>
            </a:r>
            <a:r>
              <a:rPr lang="zh-CN" altLang="en-US" sz="1800" dirty="0">
                <a:solidFill>
                  <a:srgbClr val="000118"/>
                </a:solidFill>
              </a:rPr>
              <a:t>。</a:t>
            </a:r>
          </a:p>
          <a:p>
            <a:pPr lvl="1"/>
            <a:endParaRPr lang="en-US" altLang="zh-CN" sz="1800" dirty="0">
              <a:solidFill>
                <a:srgbClr val="000118"/>
              </a:solidFill>
            </a:endParaRPr>
          </a:p>
          <a:p>
            <a:pPr lvl="1"/>
            <a:r>
              <a:rPr lang="zh-CN" altLang="en-US" sz="1800" dirty="0">
                <a:solidFill>
                  <a:srgbClr val="1C02E0"/>
                </a:solidFill>
              </a:rPr>
              <a:t>有时用</a:t>
            </a:r>
            <a:r>
              <a:rPr lang="en-US" altLang="zh-CN" sz="1800" dirty="0" err="1">
                <a:solidFill>
                  <a:srgbClr val="1C02E0"/>
                </a:solidFill>
              </a:rPr>
              <a:t>calloc</a:t>
            </a:r>
            <a:r>
              <a:rPr lang="zh-CN" altLang="en-US" sz="1800" dirty="0">
                <a:solidFill>
                  <a:srgbClr val="1C02E0"/>
                </a:solidFill>
              </a:rPr>
              <a:t>函数为数组开辟动态存储空间，</a:t>
            </a:r>
            <a:r>
              <a:rPr lang="en-US" altLang="zh-CN" sz="1800" dirty="0">
                <a:solidFill>
                  <a:srgbClr val="1C02E0"/>
                </a:solidFill>
              </a:rPr>
              <a:t>n</a:t>
            </a:r>
            <a:r>
              <a:rPr lang="zh-CN" altLang="en-US" sz="1800" dirty="0">
                <a:solidFill>
                  <a:srgbClr val="1C02E0"/>
                </a:solidFill>
              </a:rPr>
              <a:t>为数组元素个数，每个元素长度为</a:t>
            </a:r>
            <a:r>
              <a:rPr lang="en-US" altLang="zh-CN" sz="1800" dirty="0">
                <a:solidFill>
                  <a:srgbClr val="1C02E0"/>
                </a:solidFill>
              </a:rPr>
              <a:t>size</a:t>
            </a:r>
            <a:r>
              <a:rPr lang="zh-CN" altLang="en-US" sz="1800" dirty="0">
                <a:solidFill>
                  <a:srgbClr val="1C02E0"/>
                </a:solidFill>
              </a:rPr>
              <a:t>字节</a:t>
            </a:r>
            <a:r>
              <a:rPr lang="zh-CN" altLang="en-US" sz="1800" dirty="0">
                <a:solidFill>
                  <a:srgbClr val="000118"/>
                </a:solidFill>
              </a:rPr>
              <a:t>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685800" lvl="2" indent="0">
              <a:buNone/>
            </a:pPr>
            <a:r>
              <a:rPr lang="en-US" altLang="zh-CN" sz="1800" dirty="0" err="1">
                <a:solidFill>
                  <a:srgbClr val="000118"/>
                </a:solidFill>
              </a:rPr>
              <a:t>int</a:t>
            </a:r>
            <a:r>
              <a:rPr lang="en-US" altLang="zh-CN" sz="1800" dirty="0">
                <a:solidFill>
                  <a:srgbClr val="000118"/>
                </a:solidFill>
              </a:rPr>
              <a:t>  n</a:t>
            </a:r>
            <a:r>
              <a:rPr lang="en-US" altLang="zh-CN" sz="1800" dirty="0" smtClean="0">
                <a:solidFill>
                  <a:srgbClr val="000118"/>
                </a:solidFill>
              </a:rPr>
              <a:t>;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685800" lvl="2" indent="0">
              <a:buNone/>
            </a:pPr>
            <a:r>
              <a:rPr lang="en-US" altLang="zh-CN" sz="1800" dirty="0" err="1">
                <a:solidFill>
                  <a:srgbClr val="000118"/>
                </a:solidFill>
              </a:rPr>
              <a:t>scanf</a:t>
            </a:r>
            <a:r>
              <a:rPr lang="en-US" altLang="zh-CN" sz="1800" dirty="0">
                <a:solidFill>
                  <a:srgbClr val="000118"/>
                </a:solidFill>
              </a:rPr>
              <a:t>(“%</a:t>
            </a:r>
            <a:r>
              <a:rPr lang="en-US" altLang="zh-CN" sz="1800" dirty="0" err="1">
                <a:solidFill>
                  <a:srgbClr val="000118"/>
                </a:solidFill>
              </a:rPr>
              <a:t>d”,&amp;n</a:t>
            </a:r>
            <a:r>
              <a:rPr lang="en-US" altLang="zh-CN" sz="1800" dirty="0">
                <a:solidFill>
                  <a:srgbClr val="000118"/>
                </a:solidFill>
              </a:rPr>
              <a:t>);</a:t>
            </a:r>
          </a:p>
          <a:p>
            <a:pPr marL="685800" lvl="2" indent="0">
              <a:buNone/>
            </a:pPr>
            <a:r>
              <a:rPr lang="en-US" altLang="zh-CN" sz="1800" b="1" dirty="0" err="1">
                <a:sym typeface="Arial" panose="020B0604020202020204" pitchFamily="34" charset="0"/>
              </a:rPr>
              <a:t>int</a:t>
            </a:r>
            <a:r>
              <a:rPr lang="en-US" altLang="zh-CN" sz="1800" b="1" dirty="0">
                <a:sym typeface="Arial" panose="020B0604020202020204" pitchFamily="34" charset="0"/>
              </a:rPr>
              <a:t> </a:t>
            </a:r>
            <a:r>
              <a:rPr lang="en-US" altLang="zh-CN" sz="1800" b="1" dirty="0" smtClean="0">
                <a:sym typeface="Arial" panose="020B0604020202020204" pitchFamily="34" charset="0"/>
              </a:rPr>
              <a:t>*q=(</a:t>
            </a:r>
            <a:r>
              <a:rPr lang="en-US" altLang="zh-CN" sz="1800" b="1" dirty="0">
                <a:solidFill>
                  <a:srgbClr val="030DCD"/>
                </a:solidFill>
                <a:sym typeface="Arial" panose="020B0604020202020204" pitchFamily="34" charset="0"/>
              </a:rPr>
              <a:t>int *</a:t>
            </a:r>
            <a:r>
              <a:rPr lang="en-US" altLang="zh-CN" sz="1800" b="1" dirty="0">
                <a:sym typeface="Arial" panose="020B0604020202020204" pitchFamily="34" charset="0"/>
              </a:rPr>
              <a:t>)</a:t>
            </a:r>
            <a:r>
              <a:rPr lang="en-US" altLang="zh-CN" sz="1800" b="1" dirty="0" err="1">
                <a:sym typeface="Arial" panose="020B0604020202020204" pitchFamily="34" charset="0"/>
              </a:rPr>
              <a:t>calloc</a:t>
            </a:r>
            <a:r>
              <a:rPr lang="en-US" altLang="zh-CN" sz="1800" b="1" dirty="0">
                <a:sym typeface="Arial" panose="020B0604020202020204" pitchFamily="34" charset="0"/>
              </a:rPr>
              <a:t>(</a:t>
            </a:r>
            <a:r>
              <a:rPr lang="en-US" altLang="zh-CN" sz="1800" b="1" dirty="0" err="1">
                <a:solidFill>
                  <a:srgbClr val="FF0000"/>
                </a:solidFill>
                <a:sym typeface="Arial" panose="020B0604020202020204" pitchFamily="34" charset="0"/>
              </a:rPr>
              <a:t>n</a:t>
            </a:r>
            <a:r>
              <a:rPr lang="en-US" altLang="zh-CN" sz="1800" b="1" dirty="0" err="1">
                <a:sym typeface="Arial" panose="020B0604020202020204" pitchFamily="34" charset="0"/>
              </a:rPr>
              <a:t>,</a:t>
            </a:r>
            <a:r>
              <a:rPr lang="en-US" altLang="zh-CN" sz="1800" b="1" dirty="0" err="1">
                <a:solidFill>
                  <a:srgbClr val="7030A0"/>
                </a:solidFill>
                <a:sym typeface="Arial" panose="020B0604020202020204" pitchFamily="34" charset="0"/>
              </a:rPr>
              <a:t>sizeof</a:t>
            </a:r>
            <a:r>
              <a:rPr lang="en-US" altLang="zh-CN" sz="1800" b="1" dirty="0">
                <a:solidFill>
                  <a:srgbClr val="7030A0"/>
                </a:solidFill>
                <a:sym typeface="Arial" panose="020B0604020202020204" pitchFamily="34" charset="0"/>
              </a:rPr>
              <a:t>(int)</a:t>
            </a:r>
            <a:r>
              <a:rPr lang="en-US" altLang="zh-CN" sz="1800" b="1" dirty="0">
                <a:sym typeface="Arial" panose="020B0604020202020204" pitchFamily="34" charset="0"/>
              </a:rPr>
              <a:t>);  </a:t>
            </a:r>
            <a:r>
              <a:rPr lang="en-US" altLang="zh-CN" sz="1400" b="1" dirty="0" smtClean="0">
                <a:sym typeface="Arial" panose="020B0604020202020204" pitchFamily="34" charset="0"/>
              </a:rPr>
              <a:t>//</a:t>
            </a:r>
            <a:r>
              <a:rPr lang="zh-CN" altLang="en-US" sz="1400" b="1" dirty="0">
                <a:sym typeface="Arial" panose="020B0604020202020204" pitchFamily="34" charset="0"/>
              </a:rPr>
              <a:t>这里是在动态存储区</a:t>
            </a:r>
            <a:r>
              <a:rPr lang="en-US" altLang="zh-CN" sz="1400" b="1" dirty="0">
                <a:sym typeface="Arial" panose="020B0604020202020204" pitchFamily="34" charset="0"/>
              </a:rPr>
              <a:t>heap</a:t>
            </a:r>
            <a:r>
              <a:rPr lang="zh-CN" altLang="en-US" sz="1400" b="1" dirty="0">
                <a:sym typeface="Arial" panose="020B0604020202020204" pitchFamily="34" charset="0"/>
              </a:rPr>
              <a:t>中为数组分配空间</a:t>
            </a:r>
            <a:r>
              <a:rPr lang="zh-CN" altLang="en-US" sz="1400" dirty="0">
                <a:sym typeface="Arial" panose="020B0604020202020204" pitchFamily="34" charset="0"/>
              </a:rPr>
              <a:t>；</a:t>
            </a:r>
            <a:endParaRPr lang="en-US" altLang="zh-CN" sz="1800" dirty="0">
              <a:sym typeface="Arial" panose="020B0604020202020204" pitchFamily="34" charset="0"/>
            </a:endParaRPr>
          </a:p>
          <a:p>
            <a:pPr marL="685800" lvl="2" indent="0">
              <a:buNone/>
            </a:pP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*p=q;</a:t>
            </a:r>
          </a:p>
          <a:p>
            <a:pPr marL="685800" lvl="2" indent="0">
              <a:buNone/>
            </a:pPr>
            <a:r>
              <a:rPr lang="en-US" altLang="zh-CN" sz="1800" dirty="0" smtClean="0">
                <a:sym typeface="Arial" panose="020B0604020202020204" pitchFamily="34" charset="0"/>
              </a:rPr>
              <a:t>for 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</a:t>
            </a:r>
            <a:r>
              <a:rPr lang="en-US" altLang="zh-CN" sz="1800" dirty="0" smtClean="0">
                <a:sym typeface="Arial" panose="020B0604020202020204" pitchFamily="34" charset="0"/>
              </a:rPr>
              <a:t>=0;i&lt;=9;i++)</a:t>
            </a:r>
          </a:p>
          <a:p>
            <a:pPr marL="685800" lvl="2" indent="0">
              <a:buNone/>
            </a:pPr>
            <a:r>
              <a:rPr lang="en-US" altLang="zh-CN" sz="1800" dirty="0" smtClean="0">
                <a:sym typeface="Arial" panose="020B0604020202020204" pitchFamily="34" charset="0"/>
              </a:rPr>
              <a:t>{*p++=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</a:t>
            </a:r>
            <a:r>
              <a:rPr lang="en-US" altLang="zh-CN" sz="1800" dirty="0" smtClean="0">
                <a:sym typeface="Arial" panose="020B0604020202020204" pitchFamily="34" charset="0"/>
              </a:rPr>
              <a:t>*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</a:t>
            </a:r>
            <a:r>
              <a:rPr lang="en-US" altLang="zh-CN" sz="1800" dirty="0" smtClean="0">
                <a:sym typeface="Arial" panose="020B0604020202020204" pitchFamily="34" charset="0"/>
              </a:rPr>
              <a:t>;  //</a:t>
            </a:r>
            <a:r>
              <a:rPr lang="zh-CN" altLang="en-US" sz="1800" dirty="0" smtClean="0">
                <a:sym typeface="Arial" panose="020B0604020202020204" pitchFamily="34" charset="0"/>
              </a:rPr>
              <a:t>或</a:t>
            </a:r>
            <a:r>
              <a:rPr lang="en-US" altLang="zh-CN" sz="1800" dirty="0" smtClean="0">
                <a:sym typeface="Arial" panose="020B0604020202020204" pitchFamily="34" charset="0"/>
              </a:rPr>
              <a:t>q[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</a:t>
            </a:r>
            <a:r>
              <a:rPr lang="en-US" altLang="zh-CN" sz="1800" dirty="0" smtClean="0">
                <a:sym typeface="Arial" panose="020B0604020202020204" pitchFamily="34" charset="0"/>
              </a:rPr>
              <a:t>]=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</a:t>
            </a:r>
            <a:r>
              <a:rPr lang="zh-CN" altLang="en-US" sz="1800" dirty="0" smtClean="0">
                <a:sym typeface="Arial" panose="020B0604020202020204" pitchFamily="34" charset="0"/>
              </a:rPr>
              <a:t>*</a:t>
            </a:r>
            <a:r>
              <a:rPr lang="en-US" altLang="zh-CN" sz="1800" dirty="0" err="1">
                <a:sym typeface="Arial" panose="020B0604020202020204" pitchFamily="34" charset="0"/>
              </a:rPr>
              <a:t>i</a:t>
            </a:r>
            <a:r>
              <a:rPr lang="en-US" altLang="zh-CN" sz="1800" dirty="0" smtClean="0">
                <a:sym typeface="Arial" panose="020B0604020202020204" pitchFamily="34" charset="0"/>
              </a:rPr>
              <a:t>;}</a:t>
            </a:r>
            <a:endParaRPr lang="en-US" altLang="zh-CN" sz="1800" dirty="0">
              <a:sym typeface="Arial" panose="020B0604020202020204" pitchFamily="34" charset="0"/>
            </a:endParaRPr>
          </a:p>
          <a:p>
            <a:pPr marL="685800" lvl="2" indent="0">
              <a:buNone/>
            </a:pPr>
            <a:r>
              <a:rPr lang="en-US" altLang="zh-CN" dirty="0">
                <a:sym typeface="Arial" panose="020B0604020202020204" pitchFamily="34" charset="0"/>
              </a:rPr>
              <a:t> </a:t>
            </a:r>
          </a:p>
          <a:p>
            <a:pPr lvl="2"/>
            <a:endParaRPr lang="en-US" altLang="zh-CN" sz="1800" dirty="0">
              <a:solidFill>
                <a:srgbClr val="000118"/>
              </a:solidFill>
              <a:ea typeface="楷体_GB2312" pitchFamily="49" charset="-122"/>
            </a:endParaRPr>
          </a:p>
          <a:p>
            <a:pPr lvl="1"/>
            <a:endParaRPr lang="zh-CN" altLang="en-US" dirty="0">
              <a:solidFill>
                <a:srgbClr val="000118"/>
              </a:solidFill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90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>
                <a:solidFill>
                  <a:srgbClr val="FF0000"/>
                </a:solidFill>
              </a:rPr>
              <a:t>malloc</a:t>
            </a:r>
            <a:r>
              <a:rPr lang="zh-CN" altLang="en-US" dirty="0"/>
              <a:t>与</a:t>
            </a:r>
            <a:r>
              <a:rPr lang="en-US" altLang="zh-CN" dirty="0" err="1">
                <a:solidFill>
                  <a:srgbClr val="FF0000"/>
                </a:solidFill>
              </a:rPr>
              <a:t>calloc</a:t>
            </a:r>
            <a:r>
              <a:rPr lang="zh-CN" altLang="en-US" dirty="0"/>
              <a:t>函数的返回值进行</a:t>
            </a:r>
            <a:r>
              <a:rPr lang="zh-CN" altLang="en-US" dirty="0">
                <a:solidFill>
                  <a:srgbClr val="030DCD"/>
                </a:solidFill>
              </a:rPr>
              <a:t>强制类型转换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A93C8"/>
                </a:solidFill>
                <a:sym typeface="Arial" panose="020B0604020202020204" pitchFamily="34" charset="0"/>
              </a:rPr>
              <a:t>ANSI </a:t>
            </a: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Ｃ提供的</a:t>
            </a:r>
            <a:r>
              <a:rPr lang="en-US" altLang="zh-CN" sz="2400" dirty="0">
                <a:solidFill>
                  <a:srgbClr val="1A93C8"/>
                </a:solidFill>
                <a:sym typeface="Arial" panose="020B0604020202020204" pitchFamily="34" charset="0"/>
              </a:rPr>
              <a:t>malloc</a:t>
            </a: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和</a:t>
            </a:r>
            <a:r>
              <a:rPr lang="en-US" altLang="zh-CN" sz="2400" dirty="0" err="1">
                <a:solidFill>
                  <a:srgbClr val="1A93C8"/>
                </a:solidFill>
                <a:sym typeface="Arial" panose="020B0604020202020204" pitchFamily="34" charset="0"/>
              </a:rPr>
              <a:t>calloc</a:t>
            </a: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函数规定返回值为</a:t>
            </a:r>
            <a:r>
              <a:rPr lang="en-US" altLang="zh-CN" sz="2400" dirty="0">
                <a:solidFill>
                  <a:srgbClr val="1A93C8"/>
                </a:solidFill>
                <a:sym typeface="Arial" panose="020B0604020202020204" pitchFamily="34" charset="0"/>
              </a:rPr>
              <a:t>void</a:t>
            </a: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类型；</a:t>
            </a:r>
            <a:endParaRPr lang="en-US" altLang="zh-CN" sz="2400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使用时需要根据具体的指针类型进行强制转换。</a:t>
            </a:r>
            <a:endParaRPr lang="en-US" altLang="zh-CN" sz="2400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A93C8"/>
                </a:solidFill>
                <a:sym typeface="Arial" panose="020B0604020202020204" pitchFamily="34" charset="0"/>
              </a:rPr>
              <a:t>如</a:t>
            </a:r>
            <a:endParaRPr lang="en-US" altLang="zh-CN" sz="2400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742950" lvl="2" indent="-3429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ü"/>
            </a:pPr>
            <a:r>
              <a:rPr lang="en-US" altLang="zh-CN" dirty="0" err="1">
                <a:sym typeface="Arial" panose="020B0604020202020204" pitchFamily="34" charset="0"/>
              </a:rPr>
              <a:t>int</a:t>
            </a:r>
            <a:r>
              <a:rPr lang="en-US" altLang="zh-CN" dirty="0">
                <a:sym typeface="Arial" panose="020B0604020202020204" pitchFamily="34" charset="0"/>
              </a:rPr>
              <a:t> *p=(</a:t>
            </a:r>
            <a:r>
              <a:rPr lang="en-US" altLang="zh-CN" dirty="0" err="1">
                <a:solidFill>
                  <a:srgbClr val="C00000"/>
                </a:solidFill>
                <a:sym typeface="Arial" panose="020B0604020202020204" pitchFamily="34" charset="0"/>
              </a:rPr>
              <a:t>int</a:t>
            </a: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 *</a:t>
            </a:r>
            <a:r>
              <a:rPr lang="en-US" altLang="zh-CN" dirty="0">
                <a:sym typeface="Arial" panose="020B0604020202020204" pitchFamily="34" charset="0"/>
              </a:rPr>
              <a:t>)</a:t>
            </a:r>
            <a:r>
              <a:rPr lang="en-US" altLang="zh-CN" dirty="0" err="1">
                <a:sym typeface="Arial" panose="020B0604020202020204" pitchFamily="34" charset="0"/>
              </a:rPr>
              <a:t>calloc</a:t>
            </a:r>
            <a:r>
              <a:rPr lang="en-US" altLang="zh-CN" dirty="0">
                <a:sym typeface="Arial" panose="020B0604020202020204" pitchFamily="34" charset="0"/>
              </a:rPr>
              <a:t>(10,sizeof(</a:t>
            </a:r>
            <a:r>
              <a:rPr lang="en-US" altLang="zh-CN" dirty="0" err="1">
                <a:sym typeface="Arial" panose="020B0604020202020204" pitchFamily="34" charset="0"/>
              </a:rPr>
              <a:t>int</a:t>
            </a:r>
            <a:r>
              <a:rPr lang="en-US" altLang="zh-CN" dirty="0">
                <a:sym typeface="Arial" panose="020B0604020202020204" pitchFamily="34" charset="0"/>
              </a:rPr>
              <a:t>)); </a:t>
            </a:r>
          </a:p>
          <a:p>
            <a:pPr marL="742950" lvl="2" indent="-3429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ü"/>
            </a:pPr>
            <a:r>
              <a:rPr lang="en-US" altLang="zh-CN" dirty="0" err="1" smtClean="0">
                <a:sym typeface="Arial" panose="020B0604020202020204" pitchFamily="34" charset="0"/>
              </a:rPr>
              <a:t>struct</a:t>
            </a:r>
            <a:r>
              <a:rPr lang="en-US" altLang="zh-CN" dirty="0" smtClean="0">
                <a:sym typeface="Arial" panose="020B0604020202020204" pitchFamily="34" charset="0"/>
              </a:rPr>
              <a:t> </a:t>
            </a:r>
            <a:r>
              <a:rPr lang="en-US" altLang="zh-CN" dirty="0">
                <a:sym typeface="Arial" panose="020B0604020202020204" pitchFamily="34" charset="0"/>
              </a:rPr>
              <a:t>student</a:t>
            </a:r>
            <a:r>
              <a:rPr lang="en-US" altLang="zh-CN" dirty="0">
                <a:solidFill>
                  <a:srgbClr val="030DCD"/>
                </a:solidFill>
                <a:sym typeface="Arial" panose="020B0604020202020204" pitchFamily="34" charset="0"/>
              </a:rPr>
              <a:t> </a:t>
            </a:r>
            <a:r>
              <a:rPr lang="en-US" altLang="zh-CN" dirty="0">
                <a:sym typeface="Arial" panose="020B0604020202020204" pitchFamily="34" charset="0"/>
              </a:rPr>
              <a:t>*</a:t>
            </a:r>
            <a:r>
              <a:rPr lang="en-US" altLang="zh-CN" dirty="0" err="1">
                <a:sym typeface="Arial" panose="020B0604020202020204" pitchFamily="34" charset="0"/>
              </a:rPr>
              <a:t>sp</a:t>
            </a:r>
            <a:r>
              <a:rPr lang="en-US" altLang="zh-CN" dirty="0">
                <a:sym typeface="Arial" panose="020B0604020202020204" pitchFamily="34" charset="0"/>
              </a:rPr>
              <a:t>=(</a:t>
            </a: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struct student *</a:t>
            </a:r>
            <a:r>
              <a:rPr lang="en-US" altLang="zh-CN" dirty="0">
                <a:solidFill>
                  <a:srgbClr val="030DCD"/>
                </a:solidFill>
                <a:sym typeface="Arial" panose="020B0604020202020204" pitchFamily="34" charset="0"/>
              </a:rPr>
              <a:t>)</a:t>
            </a:r>
            <a:r>
              <a:rPr lang="en-US" altLang="zh-CN" dirty="0">
                <a:sym typeface="Arial" panose="020B0604020202020204" pitchFamily="34" charset="0"/>
              </a:rPr>
              <a:t>malloc(</a:t>
            </a:r>
            <a:r>
              <a:rPr lang="en-US" altLang="zh-CN" dirty="0" err="1">
                <a:sym typeface="Arial" panose="020B0604020202020204" pitchFamily="34" charset="0"/>
              </a:rPr>
              <a:t>sizeof</a:t>
            </a:r>
            <a:r>
              <a:rPr lang="en-US" altLang="zh-CN" dirty="0">
                <a:sym typeface="Arial" panose="020B0604020202020204" pitchFamily="34" charset="0"/>
              </a:rPr>
              <a:t>(struct student));</a:t>
            </a:r>
          </a:p>
          <a:p>
            <a:pPr marL="685800" lvl="2" indent="0">
              <a:buNone/>
            </a:pPr>
            <a:endParaRPr lang="en-US" altLang="zh-CN" sz="1800" dirty="0">
              <a:sym typeface="Arial" panose="020B0604020202020204" pitchFamily="34" charset="0"/>
            </a:endParaRPr>
          </a:p>
          <a:p>
            <a:pPr marL="685800" lvl="2" indent="0">
              <a:buNone/>
            </a:pPr>
            <a:r>
              <a:rPr lang="en-US" altLang="zh-CN" dirty="0">
                <a:sym typeface="Arial" panose="020B0604020202020204" pitchFamily="34" charset="0"/>
              </a:rPr>
              <a:t> </a:t>
            </a:r>
          </a:p>
          <a:p>
            <a:pPr lvl="2"/>
            <a:endParaRPr lang="en-US" altLang="zh-CN" sz="1800" dirty="0">
              <a:solidFill>
                <a:srgbClr val="000118"/>
              </a:solidFill>
              <a:ea typeface="楷体_GB2312" pitchFamily="49" charset="-122"/>
            </a:endParaRPr>
          </a:p>
          <a:p>
            <a:pPr lvl="1"/>
            <a:endParaRPr lang="zh-CN" altLang="en-US" dirty="0">
              <a:solidFill>
                <a:srgbClr val="000118"/>
              </a:solidFill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62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调整已分配的内存大小</a:t>
            </a:r>
            <a:r>
              <a:rPr lang="en-US" altLang="zh-CN" dirty="0"/>
              <a:t>--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realloc</a:t>
            </a:r>
            <a:r>
              <a:rPr lang="zh-CN" altLang="en-US" dirty="0"/>
              <a:t>函数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FF0000"/>
                </a:solidFill>
              </a:rPr>
              <a:t>realloc</a:t>
            </a:r>
            <a:r>
              <a:rPr lang="zh-CN" altLang="en-US" sz="2000" dirty="0"/>
              <a:t>函数   </a:t>
            </a:r>
            <a:r>
              <a:rPr lang="en-US" altLang="zh-CN" sz="2000" dirty="0">
                <a:solidFill>
                  <a:srgbClr val="000118"/>
                </a:solidFill>
              </a:rPr>
              <a:t> //</a:t>
            </a:r>
            <a:r>
              <a:rPr lang="zh-CN" altLang="en-US" sz="2000" dirty="0">
                <a:solidFill>
                  <a:srgbClr val="006600"/>
                </a:solidFill>
              </a:rPr>
              <a:t>头文件</a:t>
            </a:r>
            <a:r>
              <a:rPr lang="en-US" altLang="zh-CN" sz="2000" dirty="0" err="1">
                <a:solidFill>
                  <a:srgbClr val="006600"/>
                </a:solidFill>
              </a:rPr>
              <a:t>stdlib.h</a:t>
            </a:r>
            <a:r>
              <a:rPr lang="zh-CN" altLang="en-US" sz="2000" dirty="0">
                <a:solidFill>
                  <a:srgbClr val="080808"/>
                </a:solidFill>
              </a:rPr>
              <a:t>或</a:t>
            </a:r>
            <a:r>
              <a:rPr lang="en-US" altLang="zh-CN" sz="2000" dirty="0" err="1">
                <a:solidFill>
                  <a:srgbClr val="006600"/>
                </a:solidFill>
              </a:rPr>
              <a:t>malloc.h</a:t>
            </a:r>
            <a:endParaRPr lang="zh-CN" altLang="en-US" sz="2000" dirty="0"/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函数原型：</a:t>
            </a:r>
            <a:r>
              <a:rPr lang="en-US" altLang="zh-CN" sz="1800" dirty="0">
                <a:solidFill>
                  <a:srgbClr val="030DCD"/>
                </a:solidFill>
              </a:rPr>
              <a:t>void *</a:t>
            </a:r>
            <a:r>
              <a:rPr lang="en-US" altLang="zh-CN" sz="1800" dirty="0" err="1">
                <a:solidFill>
                  <a:srgbClr val="030DCD"/>
                </a:solidFill>
              </a:rPr>
              <a:t>realloc</a:t>
            </a:r>
            <a:r>
              <a:rPr lang="en-US" altLang="zh-CN" sz="1800" dirty="0">
                <a:solidFill>
                  <a:srgbClr val="030DCD"/>
                </a:solidFill>
              </a:rPr>
              <a:t>(void *</a:t>
            </a:r>
            <a:r>
              <a:rPr lang="en-US" altLang="zh-CN" sz="1800" dirty="0" err="1">
                <a:solidFill>
                  <a:srgbClr val="030DCD"/>
                </a:solidFill>
              </a:rPr>
              <a:t>mem_address</a:t>
            </a:r>
            <a:r>
              <a:rPr lang="en-US" altLang="zh-CN" sz="1800" dirty="0">
                <a:solidFill>
                  <a:srgbClr val="030DCD"/>
                </a:solidFill>
              </a:rPr>
              <a:t>, unsigned int </a:t>
            </a:r>
            <a:r>
              <a:rPr lang="en-US" altLang="zh-CN" sz="1800" dirty="0" err="1">
                <a:solidFill>
                  <a:srgbClr val="030DCD"/>
                </a:solidFill>
              </a:rPr>
              <a:t>newsize</a:t>
            </a:r>
            <a:r>
              <a:rPr lang="en-US" altLang="zh-CN" sz="1800" dirty="0">
                <a:solidFill>
                  <a:srgbClr val="030DCD"/>
                </a:solidFill>
              </a:rPr>
              <a:t>);</a:t>
            </a:r>
          </a:p>
          <a:p>
            <a:pPr lvl="1"/>
            <a:r>
              <a:rPr lang="zh-CN" altLang="en-US" sz="1800" dirty="0"/>
              <a:t>功能：</a:t>
            </a:r>
            <a:r>
              <a:rPr lang="zh-CN" altLang="en-US" sz="1800" b="1" dirty="0"/>
              <a:t>将已分配的</a:t>
            </a:r>
            <a:r>
              <a:rPr lang="en-US" altLang="zh-CN" sz="1800" b="1" dirty="0" err="1">
                <a:solidFill>
                  <a:srgbClr val="030DCD"/>
                </a:solidFill>
              </a:rPr>
              <a:t>mem_address</a:t>
            </a:r>
            <a:r>
              <a:rPr lang="zh-CN" altLang="en-US" sz="1800" b="1" dirty="0"/>
              <a:t>所指向的内存空间调整为</a:t>
            </a:r>
            <a:r>
              <a:rPr lang="en-US" altLang="zh-CN" sz="1800" b="1" dirty="0" err="1">
                <a:solidFill>
                  <a:srgbClr val="030DCD"/>
                </a:solidFill>
              </a:rPr>
              <a:t>newsize</a:t>
            </a:r>
            <a:r>
              <a:rPr lang="en-US" altLang="zh-CN" sz="1800" b="1" dirty="0">
                <a:solidFill>
                  <a:srgbClr val="030DCD"/>
                </a:solidFill>
              </a:rPr>
              <a:t> </a:t>
            </a:r>
            <a:r>
              <a:rPr lang="zh-CN" altLang="en-US" sz="1800" b="1" dirty="0">
                <a:solidFill>
                  <a:srgbClr val="030DCD"/>
                </a:solidFill>
              </a:rPr>
              <a:t>字节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lvl="1"/>
            <a:r>
              <a:rPr lang="zh-CN" altLang="en-US" sz="1800" dirty="0"/>
              <a:t>返回值：</a:t>
            </a:r>
            <a:r>
              <a:rPr lang="zh-CN" altLang="en-US" sz="1800" b="1" dirty="0">
                <a:solidFill>
                  <a:srgbClr val="7030A0"/>
                </a:solidFill>
              </a:rPr>
              <a:t>返回调整后的内存空间的起始地址</a:t>
            </a:r>
            <a:r>
              <a:rPr lang="zh-CN" altLang="en-US" sz="1800" b="1" dirty="0">
                <a:solidFill>
                  <a:srgbClr val="030DCD"/>
                </a:solidFill>
              </a:rPr>
              <a:t>，类型为</a:t>
            </a:r>
            <a:r>
              <a:rPr lang="en-US" altLang="zh-CN" sz="1800" b="1" dirty="0">
                <a:solidFill>
                  <a:srgbClr val="030DCD"/>
                </a:solidFill>
              </a:rPr>
              <a:t>void *</a:t>
            </a:r>
            <a:r>
              <a:rPr lang="zh-CN" altLang="en-US" sz="1800" b="1" dirty="0"/>
              <a:t>；</a:t>
            </a:r>
            <a:endParaRPr lang="en-US" altLang="zh-CN" sz="1800" b="1" dirty="0"/>
          </a:p>
          <a:p>
            <a:pPr lvl="1"/>
            <a:r>
              <a:rPr lang="zh-CN" altLang="en-US" sz="1800" dirty="0">
                <a:solidFill>
                  <a:srgbClr val="C00000"/>
                </a:solidFill>
              </a:rPr>
              <a:t>新调整的大小</a:t>
            </a:r>
            <a:r>
              <a:rPr lang="en-US" altLang="zh-CN" sz="1800" dirty="0" err="1">
                <a:solidFill>
                  <a:srgbClr val="C00000"/>
                </a:solidFill>
              </a:rPr>
              <a:t>newsize</a:t>
            </a:r>
            <a:r>
              <a:rPr lang="zh-CN" altLang="en-US" sz="1800" dirty="0">
                <a:solidFill>
                  <a:srgbClr val="C00000"/>
                </a:solidFill>
              </a:rPr>
              <a:t>可以比原来已分配的空间大，也可以比原来的小；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2"/>
            <a:r>
              <a:rPr lang="zh-CN" altLang="en-US" sz="1600" dirty="0"/>
              <a:t>如果新调整的大小比原来的大，则扩展部分不会被初始化；</a:t>
            </a:r>
            <a:endParaRPr lang="en-US" altLang="zh-CN" sz="1600" dirty="0"/>
          </a:p>
          <a:p>
            <a:pPr lvl="2"/>
            <a:r>
              <a:rPr lang="zh-CN" altLang="en-US" sz="1600" dirty="0"/>
              <a:t>如果新调整的大小比原来的小，可能会导致数据丢失；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lvl="1"/>
            <a:r>
              <a:rPr lang="zh-CN" altLang="en-US" sz="1800" dirty="0">
                <a:solidFill>
                  <a:srgbClr val="000118"/>
                </a:solidFill>
              </a:rPr>
              <a:t>调整过程：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lvl="2"/>
            <a:r>
              <a:rPr lang="zh-CN" altLang="en-US" sz="1600" dirty="0">
                <a:solidFill>
                  <a:srgbClr val="000118"/>
                </a:solidFill>
              </a:rPr>
              <a:t>如果</a:t>
            </a:r>
            <a:r>
              <a:rPr lang="en-US" altLang="zh-CN" sz="1600" dirty="0" err="1">
                <a:solidFill>
                  <a:srgbClr val="030DCD"/>
                </a:solidFill>
              </a:rPr>
              <a:t>newsize</a:t>
            </a:r>
            <a:r>
              <a:rPr lang="zh-CN" altLang="en-US" sz="1600" dirty="0">
                <a:solidFill>
                  <a:srgbClr val="030DCD"/>
                </a:solidFill>
              </a:rPr>
              <a:t>小于原来已分配的内存空间，</a:t>
            </a:r>
            <a:r>
              <a:rPr lang="zh-CN" altLang="en-US" sz="1600" dirty="0">
                <a:solidFill>
                  <a:srgbClr val="000118"/>
                </a:solidFill>
              </a:rPr>
              <a:t>将原来的内存空间缩小到</a:t>
            </a:r>
            <a:r>
              <a:rPr lang="en-US" altLang="zh-CN" sz="1600" dirty="0" err="1">
                <a:solidFill>
                  <a:srgbClr val="030DCD"/>
                </a:solidFill>
              </a:rPr>
              <a:t>newsize</a:t>
            </a:r>
            <a:r>
              <a:rPr lang="zh-CN" altLang="en-US" sz="1600" dirty="0">
                <a:solidFill>
                  <a:srgbClr val="030DCD"/>
                </a:solidFill>
              </a:rPr>
              <a:t>字节，并返回指向原空间的指针</a:t>
            </a:r>
            <a:r>
              <a:rPr lang="en-US" altLang="zh-CN" sz="1600" dirty="0" err="1">
                <a:solidFill>
                  <a:srgbClr val="030DCD"/>
                </a:solidFill>
              </a:rPr>
              <a:t>mem_address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2"/>
            <a:r>
              <a:rPr lang="zh-CN" altLang="en-US" sz="1600" dirty="0">
                <a:solidFill>
                  <a:srgbClr val="000118"/>
                </a:solidFill>
              </a:rPr>
              <a:t>如果</a:t>
            </a:r>
            <a:r>
              <a:rPr lang="en-US" altLang="zh-CN" sz="1600" dirty="0" err="1">
                <a:solidFill>
                  <a:srgbClr val="030DCD"/>
                </a:solidFill>
              </a:rPr>
              <a:t>newsize</a:t>
            </a:r>
            <a:r>
              <a:rPr lang="zh-CN" altLang="en-US" sz="1600" dirty="0">
                <a:solidFill>
                  <a:srgbClr val="030DCD"/>
                </a:solidFill>
              </a:rPr>
              <a:t>大于原来已分配的内存空间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1400" dirty="0"/>
              <a:t>先判断原来已分配的内存空间是否有连续的</a:t>
            </a:r>
            <a:r>
              <a:rPr lang="en-US" altLang="zh-CN" sz="1400" dirty="0" err="1">
                <a:solidFill>
                  <a:srgbClr val="030DCD"/>
                </a:solidFill>
              </a:rPr>
              <a:t>newsize</a:t>
            </a:r>
            <a:r>
              <a:rPr lang="zh-CN" altLang="en-US" sz="1400" dirty="0"/>
              <a:t>字节；</a:t>
            </a:r>
            <a:endParaRPr lang="en-US" altLang="zh-CN" sz="14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1400" dirty="0"/>
              <a:t>如果有，将原来已分配的空间扩展到</a:t>
            </a:r>
            <a:r>
              <a:rPr lang="en-US" altLang="zh-CN" sz="1400" dirty="0" err="1">
                <a:solidFill>
                  <a:srgbClr val="030DCD"/>
                </a:solidFill>
              </a:rPr>
              <a:t>newsize</a:t>
            </a:r>
            <a:r>
              <a:rPr lang="en-US" altLang="zh-CN" sz="1400" dirty="0">
                <a:solidFill>
                  <a:srgbClr val="030DCD"/>
                </a:solidFill>
              </a:rPr>
              <a:t> </a:t>
            </a:r>
            <a:r>
              <a:rPr lang="zh-CN" altLang="en-US" sz="1400" dirty="0">
                <a:solidFill>
                  <a:srgbClr val="030DCD"/>
                </a:solidFill>
              </a:rPr>
              <a:t>字节</a:t>
            </a:r>
            <a:r>
              <a:rPr lang="zh-CN" altLang="en-US" sz="1400" dirty="0"/>
              <a:t>，并将原空间地址</a:t>
            </a:r>
            <a:r>
              <a:rPr lang="en-US" altLang="zh-CN" sz="1400" dirty="0" err="1"/>
              <a:t>mem_address</a:t>
            </a:r>
            <a:r>
              <a:rPr lang="zh-CN" altLang="en-US" sz="1400" dirty="0"/>
              <a:t>返回；</a:t>
            </a:r>
            <a:endParaRPr lang="en-US" altLang="zh-CN" sz="14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1400" dirty="0"/>
              <a:t>如果原空间不足，则新分配一个</a:t>
            </a:r>
            <a:r>
              <a:rPr lang="en-US" altLang="zh-CN" sz="1400" dirty="0" err="1"/>
              <a:t>newsize</a:t>
            </a:r>
            <a:r>
              <a:rPr lang="zh-CN" altLang="en-US" sz="1400" dirty="0"/>
              <a:t>个字节的空间，并将原空间的数据复制到新分配的内存区域；</a:t>
            </a:r>
            <a:endParaRPr lang="en-US" altLang="zh-CN" sz="14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1400" dirty="0"/>
              <a:t>释放原来</a:t>
            </a:r>
            <a:r>
              <a:rPr lang="en-US" altLang="zh-CN" sz="1400" dirty="0" err="1"/>
              <a:t>mem_address</a:t>
            </a:r>
            <a:r>
              <a:rPr lang="zh-CN" altLang="en-US" sz="1400" dirty="0"/>
              <a:t>所指内存区域；</a:t>
            </a:r>
            <a:endParaRPr lang="en-US" altLang="zh-CN" sz="14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zh-CN" altLang="en-US" sz="1400" dirty="0"/>
              <a:t>返回新分配的内存区域的首地址；</a:t>
            </a:r>
            <a:endParaRPr lang="en-US" altLang="zh-CN" sz="1400" dirty="0">
              <a:solidFill>
                <a:srgbClr val="000118"/>
              </a:solidFill>
            </a:endParaRPr>
          </a:p>
          <a:p>
            <a:pPr lvl="1"/>
            <a:endParaRPr lang="en-US" altLang="zh-CN" sz="1600" dirty="0">
              <a:solidFill>
                <a:srgbClr val="000118"/>
              </a:solidFill>
            </a:endParaRPr>
          </a:p>
          <a:p>
            <a:pPr lvl="1"/>
            <a:endParaRPr lang="en-US" altLang="zh-CN" sz="1800" dirty="0">
              <a:solidFill>
                <a:srgbClr val="000118"/>
              </a:solidFill>
            </a:endParaRPr>
          </a:p>
          <a:p>
            <a:pPr lvl="1"/>
            <a:endParaRPr lang="en-US" altLang="zh-CN" sz="1800" dirty="0">
              <a:solidFill>
                <a:srgbClr val="000118"/>
              </a:solidFill>
            </a:endParaRPr>
          </a:p>
          <a:p>
            <a:pPr lvl="1"/>
            <a:endParaRPr lang="en-US" altLang="zh-CN" sz="1800" dirty="0">
              <a:solidFill>
                <a:srgbClr val="000118"/>
              </a:solidFill>
            </a:endParaRPr>
          </a:p>
          <a:p>
            <a:pPr marL="685800" lvl="2" indent="0">
              <a:buNone/>
            </a:pPr>
            <a:r>
              <a:rPr lang="en-US" altLang="zh-CN" dirty="0">
                <a:sym typeface="Arial" panose="020B0604020202020204" pitchFamily="34" charset="0"/>
              </a:rPr>
              <a:t> </a:t>
            </a:r>
          </a:p>
          <a:p>
            <a:pPr lvl="2"/>
            <a:endParaRPr lang="en-US" altLang="zh-CN" sz="1800" dirty="0">
              <a:solidFill>
                <a:srgbClr val="000118"/>
              </a:solidFill>
              <a:ea typeface="楷体_GB2312" pitchFamily="49" charset="-122"/>
            </a:endParaRPr>
          </a:p>
          <a:p>
            <a:pPr lvl="1"/>
            <a:endParaRPr lang="zh-CN" altLang="en-US" dirty="0">
              <a:solidFill>
                <a:srgbClr val="000118"/>
              </a:solidFill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16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释放动态分配的结点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00000"/>
                </a:solidFill>
              </a:rPr>
              <a:t>free</a:t>
            </a:r>
            <a:r>
              <a:rPr lang="zh-CN" altLang="en-US" sz="2000" dirty="0">
                <a:solidFill>
                  <a:srgbClr val="C00000"/>
                </a:solidFill>
              </a:rPr>
              <a:t>函数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00118"/>
                </a:solidFill>
              </a:rPr>
              <a:t>函数原型：</a:t>
            </a:r>
            <a:r>
              <a:rPr lang="en-US" altLang="zh-CN" sz="1800" dirty="0">
                <a:solidFill>
                  <a:srgbClr val="030DCD"/>
                </a:solidFill>
              </a:rPr>
              <a:t>void free(void *p)</a:t>
            </a:r>
            <a:r>
              <a:rPr lang="en-US" altLang="zh-CN" sz="1800" dirty="0">
                <a:solidFill>
                  <a:srgbClr val="000118"/>
                </a:solidFill>
              </a:rPr>
              <a:t>;   //</a:t>
            </a:r>
            <a:r>
              <a:rPr lang="zh-CN" altLang="en-US" sz="1800" dirty="0">
                <a:solidFill>
                  <a:srgbClr val="006600"/>
                </a:solidFill>
              </a:rPr>
              <a:t>头文件</a:t>
            </a:r>
            <a:r>
              <a:rPr lang="en-US" altLang="zh-CN" sz="1800" dirty="0" err="1">
                <a:solidFill>
                  <a:srgbClr val="006600"/>
                </a:solidFill>
              </a:rPr>
              <a:t>stdlib.h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00118"/>
                </a:solidFill>
              </a:rPr>
              <a:t>其作用是释放由ｐ指向的内存区，归还到</a:t>
            </a:r>
            <a:r>
              <a:rPr lang="en-US" altLang="zh-CN" sz="1800" dirty="0">
                <a:solidFill>
                  <a:srgbClr val="000118"/>
                </a:solidFill>
              </a:rPr>
              <a:t>heap</a:t>
            </a:r>
            <a:r>
              <a:rPr lang="zh-CN" altLang="en-US" sz="1800" dirty="0">
                <a:solidFill>
                  <a:srgbClr val="000118"/>
                </a:solidFill>
              </a:rPr>
              <a:t>中；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0118"/>
                </a:solidFill>
              </a:rPr>
              <a:t>释放的这部分内存区可以被重新分配；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7030A0"/>
                </a:solidFill>
              </a:rPr>
              <a:t>ｐ是调用</a:t>
            </a:r>
            <a:r>
              <a:rPr lang="en-US" altLang="zh-CN" sz="1800" dirty="0" err="1">
                <a:solidFill>
                  <a:srgbClr val="7030A0"/>
                </a:solidFill>
              </a:rPr>
              <a:t>calloc</a:t>
            </a:r>
            <a:r>
              <a:rPr lang="zh-CN" altLang="en-US" sz="1800" dirty="0">
                <a:solidFill>
                  <a:srgbClr val="7030A0"/>
                </a:solidFill>
              </a:rPr>
              <a:t>或</a:t>
            </a:r>
            <a:r>
              <a:rPr lang="en-US" altLang="zh-CN" sz="1800" dirty="0" err="1">
                <a:solidFill>
                  <a:srgbClr val="7030A0"/>
                </a:solidFill>
              </a:rPr>
              <a:t>malloc</a:t>
            </a:r>
            <a:r>
              <a:rPr lang="zh-CN" altLang="en-US" sz="1800" dirty="0">
                <a:solidFill>
                  <a:srgbClr val="7030A0"/>
                </a:solidFill>
              </a:rPr>
              <a:t>函数时返回的值</a:t>
            </a:r>
            <a:r>
              <a:rPr lang="en-US" altLang="zh-CN" sz="1800" dirty="0">
                <a:solidFill>
                  <a:srgbClr val="7030A0"/>
                </a:solidFill>
              </a:rPr>
              <a:t>,</a:t>
            </a:r>
            <a:r>
              <a:rPr lang="zh-CN" altLang="en-US" sz="1800" dirty="0">
                <a:solidFill>
                  <a:srgbClr val="7030A0"/>
                </a:solidFill>
              </a:rPr>
              <a:t>即指向一个结点的指针；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0118"/>
                </a:solidFill>
              </a:rPr>
              <a:t>free</a:t>
            </a:r>
            <a:r>
              <a:rPr lang="zh-CN" altLang="en-US" sz="1800" dirty="0">
                <a:solidFill>
                  <a:srgbClr val="000118"/>
                </a:solidFill>
              </a:rPr>
              <a:t>函数无返回值；</a:t>
            </a:r>
            <a:endParaRPr lang="zh-CN" altLang="en-US" sz="1800" dirty="0">
              <a:solidFill>
                <a:srgbClr val="8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</a:rPr>
              <a:t>特别要注意的是，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030DCD"/>
                </a:solidFill>
              </a:rPr>
              <a:t>使用</a:t>
            </a:r>
            <a:r>
              <a:rPr lang="en-US" altLang="zh-CN" sz="1800" b="1" dirty="0" err="1">
                <a:solidFill>
                  <a:srgbClr val="030DCD"/>
                </a:solidFill>
              </a:rPr>
              <a:t>calloc</a:t>
            </a:r>
            <a:r>
              <a:rPr lang="en-US" altLang="zh-CN" sz="1800" b="1" dirty="0">
                <a:solidFill>
                  <a:srgbClr val="030DCD"/>
                </a:solidFill>
              </a:rPr>
              <a:t>()</a:t>
            </a:r>
            <a:r>
              <a:rPr lang="zh-CN" altLang="en-US" sz="1800" b="1" dirty="0">
                <a:solidFill>
                  <a:srgbClr val="030DCD"/>
                </a:solidFill>
              </a:rPr>
              <a:t>或</a:t>
            </a:r>
            <a:r>
              <a:rPr lang="en-US" altLang="zh-CN" sz="1800" b="1" dirty="0" err="1">
                <a:solidFill>
                  <a:srgbClr val="030DCD"/>
                </a:solidFill>
              </a:rPr>
              <a:t>malloc</a:t>
            </a:r>
            <a:r>
              <a:rPr lang="en-US" altLang="zh-CN" sz="1800" b="1" dirty="0">
                <a:solidFill>
                  <a:srgbClr val="030DCD"/>
                </a:solidFill>
              </a:rPr>
              <a:t>()</a:t>
            </a:r>
            <a:r>
              <a:rPr lang="zh-CN" altLang="en-US" sz="1800" b="1" dirty="0">
                <a:solidFill>
                  <a:srgbClr val="030DCD"/>
                </a:solidFill>
              </a:rPr>
              <a:t>申请的内存空间，系统不会自动释放；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030DCD"/>
                </a:solidFill>
              </a:rPr>
              <a:t>在使用完毕后一定要利用</a:t>
            </a:r>
            <a:r>
              <a:rPr lang="en-US" altLang="zh-CN" sz="1800" b="1" dirty="0">
                <a:solidFill>
                  <a:srgbClr val="030DCD"/>
                </a:solidFill>
              </a:rPr>
              <a:t>free()</a:t>
            </a:r>
            <a:r>
              <a:rPr lang="zh-CN" altLang="en-US" sz="1800" b="1" dirty="0">
                <a:solidFill>
                  <a:srgbClr val="030DCD"/>
                </a:solidFill>
              </a:rPr>
              <a:t>释放，以防内存泄漏（</a:t>
            </a:r>
            <a:r>
              <a:rPr lang="en-US" altLang="zh-CN" sz="1800" b="1" dirty="0">
                <a:solidFill>
                  <a:srgbClr val="030DCD"/>
                </a:solidFill>
              </a:rPr>
              <a:t>memory leak</a:t>
            </a:r>
            <a:r>
              <a:rPr lang="zh-CN" altLang="en-US" sz="1800" b="1" dirty="0">
                <a:solidFill>
                  <a:srgbClr val="030DCD"/>
                </a:solidFill>
              </a:rPr>
              <a:t>）</a:t>
            </a:r>
            <a:r>
              <a:rPr lang="en-US" altLang="zh-CN" sz="1800" b="1" dirty="0">
                <a:solidFill>
                  <a:srgbClr val="030DCD"/>
                </a:solidFill>
              </a:rPr>
              <a:t>;</a:t>
            </a:r>
            <a:endParaRPr lang="zh-CN" altLang="en-US" sz="1800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00"/>
                </a:solidFill>
              </a:rPr>
              <a:t>内存泄漏（</a:t>
            </a:r>
            <a:r>
              <a:rPr lang="en-US" altLang="zh-CN" sz="2000" b="1" dirty="0">
                <a:solidFill>
                  <a:srgbClr val="006600"/>
                </a:solidFill>
              </a:rPr>
              <a:t>Memory Leak</a:t>
            </a:r>
            <a:r>
              <a:rPr lang="zh-CN" altLang="en-US" sz="2000" b="1" dirty="0">
                <a:solidFill>
                  <a:srgbClr val="006600"/>
                </a:solidFill>
              </a:rPr>
              <a:t>）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系统为程序动态分配的内存未释放，或无法释放；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造成内存的浪费，降低系统的效率；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118"/>
                </a:solidFill>
              </a:rPr>
              <a:t>甚至会导致系统崩溃等严重后果</a:t>
            </a:r>
            <a:r>
              <a:rPr lang="zh-CN" altLang="en-US" sz="1800" dirty="0" smtClean="0">
                <a:solidFill>
                  <a:srgbClr val="000118"/>
                </a:solidFill>
              </a:rPr>
              <a:t>；（如堆栈溢出）</a:t>
            </a:r>
            <a:endParaRPr lang="en-US" altLang="zh-CN" sz="1800" dirty="0">
              <a:solidFill>
                <a:srgbClr val="00011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1800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49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思考：下述定义数组的两种方法有何异同？</a:t>
            </a:r>
            <a:endParaRPr lang="zh-CN" altLang="en-US" dirty="0">
              <a:solidFill>
                <a:srgbClr val="030DCD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rgbClr val="1A93C8"/>
                </a:solidFill>
                <a:sym typeface="Arial" panose="020B0604020202020204" pitchFamily="34" charset="0"/>
              </a:rPr>
              <a:t>考察下述程序片段</a:t>
            </a:r>
            <a:endParaRPr lang="en-US" altLang="zh-CN" sz="2400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 smtClean="0">
                <a:solidFill>
                  <a:srgbClr val="1A93C8"/>
                </a:solidFill>
                <a:sym typeface="Arial" panose="020B0604020202020204" pitchFamily="34" charset="0"/>
              </a:rPr>
              <a:t>   </a:t>
            </a:r>
            <a:r>
              <a:rPr lang="en-US" altLang="zh-CN" dirty="0">
                <a:sym typeface="Arial" panose="020B0604020202020204" pitchFamily="34" charset="0"/>
              </a:rPr>
              <a:t>#include &lt;</a:t>
            </a:r>
            <a:r>
              <a:rPr lang="en-US" altLang="zh-CN" dirty="0" err="1">
                <a:solidFill>
                  <a:srgbClr val="006600"/>
                </a:solidFill>
              </a:rPr>
              <a:t>malloc.h</a:t>
            </a:r>
            <a:r>
              <a:rPr lang="en-US" altLang="zh-CN" dirty="0">
                <a:sym typeface="Arial" panose="020B0604020202020204" pitchFamily="34" charset="0"/>
              </a:rPr>
              <a:t>&gt; //</a:t>
            </a:r>
            <a:r>
              <a:rPr lang="zh-CN" altLang="en-US" dirty="0">
                <a:sym typeface="Arial" panose="020B0604020202020204" pitchFamily="34" charset="0"/>
              </a:rPr>
              <a:t>或</a:t>
            </a:r>
            <a:r>
              <a:rPr lang="en-US" altLang="zh-CN" dirty="0">
                <a:sym typeface="Arial" panose="020B0604020202020204" pitchFamily="34" charset="0"/>
              </a:rPr>
              <a:t>  #include &lt;</a:t>
            </a:r>
            <a:r>
              <a:rPr lang="en-US" altLang="zh-CN" dirty="0" err="1">
                <a:solidFill>
                  <a:srgbClr val="006600"/>
                </a:solidFill>
                <a:sym typeface="Arial" panose="020B0604020202020204" pitchFamily="34" charset="0"/>
              </a:rPr>
              <a:t>stdlib</a:t>
            </a:r>
            <a:r>
              <a:rPr lang="en-US" altLang="zh-CN" dirty="0" err="1">
                <a:solidFill>
                  <a:srgbClr val="006600"/>
                </a:solidFill>
              </a:rPr>
              <a:t>.h</a:t>
            </a:r>
            <a:r>
              <a:rPr lang="en-US" altLang="zh-CN" dirty="0">
                <a:sym typeface="Arial" panose="020B0604020202020204" pitchFamily="34" charset="0"/>
              </a:rPr>
              <a:t>&gt; 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>
                <a:sym typeface="Arial" panose="020B0604020202020204" pitchFamily="34" charset="0"/>
              </a:rPr>
              <a:t>    </a:t>
            </a:r>
            <a:r>
              <a:rPr lang="en-US" altLang="zh-CN" dirty="0" err="1">
                <a:sym typeface="Arial" panose="020B0604020202020204" pitchFamily="34" charset="0"/>
              </a:rPr>
              <a:t>int</a:t>
            </a:r>
            <a:r>
              <a:rPr lang="en-US" altLang="zh-CN" dirty="0">
                <a:sym typeface="Arial" panose="020B0604020202020204" pitchFamily="34" charset="0"/>
              </a:rPr>
              <a:t> main()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>
                <a:sym typeface="Arial" panose="020B0604020202020204" pitchFamily="34" charset="0"/>
              </a:rPr>
              <a:t>    {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>
                <a:sym typeface="Arial" panose="020B0604020202020204" pitchFamily="34" charset="0"/>
              </a:rPr>
              <a:t>          </a:t>
            </a:r>
            <a:r>
              <a:rPr lang="en-US" altLang="zh-CN" dirty="0" err="1">
                <a:sym typeface="Arial" panose="020B0604020202020204" pitchFamily="34" charset="0"/>
              </a:rPr>
              <a:t>int</a:t>
            </a:r>
            <a:r>
              <a:rPr lang="en-US" altLang="zh-CN" dirty="0">
                <a:sym typeface="Arial" panose="020B0604020202020204" pitchFamily="34" charset="0"/>
              </a:rPr>
              <a:t> a[</a:t>
            </a:r>
            <a:r>
              <a:rPr lang="en-US" altLang="zh-CN" dirty="0">
                <a:solidFill>
                  <a:srgbClr val="030DCD"/>
                </a:solidFill>
                <a:sym typeface="Arial" panose="020B0604020202020204" pitchFamily="34" charset="0"/>
              </a:rPr>
              <a:t>10</a:t>
            </a:r>
            <a:r>
              <a:rPr lang="en-US" altLang="zh-CN" dirty="0">
                <a:sym typeface="Arial" panose="020B0604020202020204" pitchFamily="34" charset="0"/>
              </a:rPr>
              <a:t>];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>
                <a:sym typeface="Arial" panose="020B0604020202020204" pitchFamily="34" charset="0"/>
              </a:rPr>
              <a:t>          </a:t>
            </a:r>
            <a:r>
              <a:rPr lang="en-US" altLang="zh-CN" dirty="0" err="1">
                <a:sym typeface="Arial" panose="020B0604020202020204" pitchFamily="34" charset="0"/>
              </a:rPr>
              <a:t>int</a:t>
            </a:r>
            <a:r>
              <a:rPr lang="en-US" altLang="zh-CN" dirty="0">
                <a:sym typeface="Arial" panose="020B0604020202020204" pitchFamily="34" charset="0"/>
              </a:rPr>
              <a:t> *</a:t>
            </a:r>
            <a:r>
              <a:rPr lang="en-US" altLang="zh-CN" dirty="0" smtClean="0">
                <a:sym typeface="Arial" panose="020B0604020202020204" pitchFamily="34" charset="0"/>
              </a:rPr>
              <a:t>p </a:t>
            </a:r>
            <a:r>
              <a:rPr lang="en-US" altLang="zh-CN" dirty="0">
                <a:sym typeface="Arial" panose="020B0604020202020204" pitchFamily="34" charset="0"/>
              </a:rPr>
              <a:t>=(</a:t>
            </a:r>
            <a:r>
              <a:rPr lang="en-US" altLang="zh-CN" dirty="0" err="1">
                <a:solidFill>
                  <a:srgbClr val="030DCD"/>
                </a:solidFill>
                <a:sym typeface="Arial" panose="020B0604020202020204" pitchFamily="34" charset="0"/>
              </a:rPr>
              <a:t>int</a:t>
            </a:r>
            <a:r>
              <a:rPr lang="en-US" altLang="zh-CN" dirty="0">
                <a:solidFill>
                  <a:srgbClr val="030DCD"/>
                </a:solidFill>
                <a:sym typeface="Arial" panose="020B0604020202020204" pitchFamily="34" charset="0"/>
              </a:rPr>
              <a:t> *</a:t>
            </a:r>
            <a:r>
              <a:rPr lang="en-US" altLang="zh-CN" dirty="0">
                <a:sym typeface="Arial" panose="020B0604020202020204" pitchFamily="34" charset="0"/>
              </a:rPr>
              <a:t>)</a:t>
            </a:r>
            <a:r>
              <a:rPr lang="en-US" altLang="zh-CN" dirty="0" err="1" smtClean="0">
                <a:sym typeface="Arial" panose="020B0604020202020204" pitchFamily="34" charset="0"/>
              </a:rPr>
              <a:t>calloc</a:t>
            </a:r>
            <a:r>
              <a:rPr lang="en-US" altLang="zh-CN" dirty="0" smtClean="0">
                <a:sym typeface="Arial" panose="020B0604020202020204" pitchFamily="34" charset="0"/>
              </a:rPr>
              <a:t>(</a:t>
            </a:r>
            <a:r>
              <a:rPr lang="en-US" altLang="zh-CN" dirty="0" smtClean="0">
                <a:solidFill>
                  <a:srgbClr val="030DCD"/>
                </a:solidFill>
                <a:sym typeface="Arial" panose="020B0604020202020204" pitchFamily="34" charset="0"/>
              </a:rPr>
              <a:t>10</a:t>
            </a:r>
            <a:r>
              <a:rPr lang="en-US" altLang="zh-CN" dirty="0" smtClean="0">
                <a:sym typeface="Arial" panose="020B0604020202020204" pitchFamily="34" charset="0"/>
              </a:rPr>
              <a:t>,</a:t>
            </a:r>
            <a:r>
              <a:rPr lang="en-US" altLang="zh-CN" dirty="0" smtClean="0">
                <a:solidFill>
                  <a:srgbClr val="7030A0"/>
                </a:solidFill>
                <a:sym typeface="Arial" panose="020B0604020202020204" pitchFamily="34" charset="0"/>
              </a:rPr>
              <a:t>sizeof(</a:t>
            </a:r>
            <a:r>
              <a:rPr lang="en-US" altLang="zh-CN" dirty="0" err="1" smtClean="0">
                <a:solidFill>
                  <a:srgbClr val="7030A0"/>
                </a:solidFill>
                <a:sym typeface="Arial" panose="020B0604020202020204" pitchFamily="34" charset="0"/>
              </a:rPr>
              <a:t>int</a:t>
            </a:r>
            <a:r>
              <a:rPr lang="en-US" altLang="zh-CN" dirty="0">
                <a:solidFill>
                  <a:srgbClr val="7030A0"/>
                </a:solidFill>
                <a:sym typeface="Arial" panose="020B0604020202020204" pitchFamily="34" charset="0"/>
              </a:rPr>
              <a:t>)</a:t>
            </a:r>
            <a:r>
              <a:rPr lang="en-US" altLang="zh-CN" dirty="0">
                <a:sym typeface="Arial" panose="020B0604020202020204" pitchFamily="34" charset="0"/>
              </a:rPr>
              <a:t>); </a:t>
            </a:r>
            <a:endParaRPr lang="en-US" altLang="zh-CN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None/>
            </a:pPr>
            <a:r>
              <a:rPr lang="en-US" altLang="zh-CN" dirty="0" smtClean="0">
                <a:solidFill>
                  <a:srgbClr val="1A93C8"/>
                </a:solidFill>
                <a:sym typeface="Arial" panose="020B0604020202020204" pitchFamily="34" charset="0"/>
              </a:rPr>
              <a:t>    </a:t>
            </a:r>
            <a:r>
              <a:rPr lang="en-US" altLang="zh-CN" dirty="0">
                <a:sym typeface="Arial" panose="020B0604020202020204" pitchFamily="34" charset="0"/>
              </a:rPr>
              <a:t>}</a:t>
            </a: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rgbClr val="1A93C8"/>
                </a:solidFill>
                <a:sym typeface="Arial" panose="020B0604020202020204" pitchFamily="34" charset="0"/>
              </a:rPr>
              <a:t>提示</a:t>
            </a:r>
            <a:endParaRPr lang="en-US" altLang="zh-CN" sz="2400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742950" lvl="2" indent="-3429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solidFill>
                  <a:srgbClr val="030DCD"/>
                </a:solidFill>
                <a:sym typeface="Arial" panose="020B0604020202020204" pitchFamily="34" charset="0"/>
              </a:rPr>
              <a:t>相同点</a:t>
            </a:r>
            <a:r>
              <a:rPr lang="zh-CN" altLang="en-US" dirty="0" smtClean="0">
                <a:solidFill>
                  <a:srgbClr val="1A93C8"/>
                </a:solidFill>
                <a:sym typeface="Arial" panose="020B0604020202020204" pitchFamily="34" charset="0"/>
              </a:rPr>
              <a:t>：访问数组元素的方式相同</a:t>
            </a:r>
            <a:r>
              <a:rPr lang="en-US" altLang="zh-CN" dirty="0" smtClean="0">
                <a:solidFill>
                  <a:srgbClr val="1A93C8"/>
                </a:solidFill>
                <a:sym typeface="Arial" panose="020B0604020202020204" pitchFamily="34" charset="0"/>
              </a:rPr>
              <a:t>—</a:t>
            </a:r>
            <a:r>
              <a:rPr lang="zh-CN" altLang="en-US" dirty="0" smtClean="0">
                <a:solidFill>
                  <a:srgbClr val="1A93C8"/>
                </a:solidFill>
                <a:sym typeface="Arial" panose="020B0604020202020204" pitchFamily="34" charset="0"/>
              </a:rPr>
              <a:t>通过指针或下标</a:t>
            </a:r>
            <a:endParaRPr lang="en-US" altLang="zh-CN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742950" lvl="2" indent="-3429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solidFill>
                  <a:srgbClr val="7030A0"/>
                </a:solidFill>
                <a:sym typeface="Arial" panose="020B0604020202020204" pitchFamily="34" charset="0"/>
              </a:rPr>
              <a:t>不同点</a:t>
            </a:r>
            <a:r>
              <a:rPr lang="zh-CN" altLang="en-US" dirty="0" smtClean="0">
                <a:solidFill>
                  <a:srgbClr val="1A93C8"/>
                </a:solidFill>
                <a:sym typeface="Arial" panose="020B0604020202020204" pitchFamily="34" charset="0"/>
              </a:rPr>
              <a:t>：</a:t>
            </a:r>
            <a:r>
              <a:rPr lang="zh-CN" altLang="en-US" dirty="0" smtClean="0">
                <a:solidFill>
                  <a:srgbClr val="006600"/>
                </a:solidFill>
                <a:sym typeface="Arial" panose="020B0604020202020204" pitchFamily="34" charset="0"/>
              </a:rPr>
              <a:t>存储位置不同</a:t>
            </a:r>
            <a:r>
              <a:rPr lang="zh-CN" altLang="en-US" dirty="0" smtClean="0">
                <a:solidFill>
                  <a:srgbClr val="1A93C8"/>
                </a:solidFill>
                <a:sym typeface="Arial" panose="020B0604020202020204" pitchFamily="34" charset="0"/>
              </a:rPr>
              <a:t>、是否需要主动释放等</a:t>
            </a:r>
            <a:endParaRPr lang="en-US" altLang="zh-CN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2400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342900" lvl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2400" dirty="0" smtClean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685800" lvl="2" indent="0">
              <a:buNone/>
            </a:pPr>
            <a:endParaRPr lang="en-US" altLang="zh-CN" sz="1800" dirty="0">
              <a:sym typeface="Arial" panose="020B0604020202020204" pitchFamily="34" charset="0"/>
            </a:endParaRPr>
          </a:p>
          <a:p>
            <a:pPr marL="685800" lvl="2" indent="0">
              <a:buNone/>
            </a:pPr>
            <a:r>
              <a:rPr lang="en-US" altLang="zh-CN" dirty="0">
                <a:sym typeface="Arial" panose="020B0604020202020204" pitchFamily="34" charset="0"/>
              </a:rPr>
              <a:t> </a:t>
            </a:r>
          </a:p>
          <a:p>
            <a:pPr lvl="2"/>
            <a:endParaRPr lang="en-US" altLang="zh-CN" sz="1800" dirty="0">
              <a:solidFill>
                <a:srgbClr val="000118"/>
              </a:solidFill>
              <a:ea typeface="楷体_GB2312" pitchFamily="49" charset="-122"/>
            </a:endParaRPr>
          </a:p>
          <a:p>
            <a:pPr lvl="1"/>
            <a:endParaRPr lang="zh-CN" altLang="en-US" dirty="0">
              <a:solidFill>
                <a:srgbClr val="000118"/>
              </a:solidFill>
              <a:ea typeface="楷体_GB2312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3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创建一个动态单向链表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5775" y="1135063"/>
            <a:ext cx="7550878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创建一个动态单向链表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定义链表的结点类型，</a:t>
            </a:r>
            <a:r>
              <a:rPr lang="zh-CN" altLang="en-US" sz="1800" dirty="0"/>
              <a:t>通常是</a:t>
            </a:r>
            <a:r>
              <a:rPr lang="en-US" altLang="zh-CN" sz="1800" dirty="0" err="1"/>
              <a:t>struct</a:t>
            </a:r>
            <a:r>
              <a:rPr lang="zh-CN" altLang="en-US" sz="1800" dirty="0"/>
              <a:t>类型；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定义头指针</a:t>
            </a:r>
            <a:r>
              <a:rPr lang="en-US" altLang="zh-CN" sz="1800" dirty="0">
                <a:solidFill>
                  <a:srgbClr val="0303DF"/>
                </a:solidFill>
              </a:rPr>
              <a:t>head</a:t>
            </a:r>
            <a:r>
              <a:rPr lang="zh-CN" altLang="en-US" sz="1800" dirty="0"/>
              <a:t>，初始化</a:t>
            </a:r>
            <a:r>
              <a:rPr lang="en-US" altLang="zh-CN" sz="1800" dirty="0">
                <a:solidFill>
                  <a:srgbClr val="030DCD"/>
                </a:solidFill>
              </a:rPr>
              <a:t>head=NULL</a:t>
            </a:r>
            <a:r>
              <a:rPr lang="en-US" altLang="zh-CN" sz="1800" dirty="0"/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创建第一个结点</a:t>
            </a:r>
            <a:r>
              <a:rPr lang="en-US" altLang="zh-CN" sz="1800" dirty="0"/>
              <a:t>node</a:t>
            </a:r>
            <a:r>
              <a:rPr lang="en-US" altLang="zh-CN" sz="1800" baseline="-25000" dirty="0"/>
              <a:t>1</a:t>
            </a:r>
            <a:r>
              <a:rPr lang="zh-CN" altLang="en-US" sz="1800" dirty="0" smtClean="0"/>
              <a:t>，</a:t>
            </a:r>
            <a:r>
              <a:rPr lang="zh-CN" altLang="en-US" sz="1800" dirty="0" smtClean="0">
                <a:solidFill>
                  <a:srgbClr val="7030A0"/>
                </a:solidFill>
              </a:rPr>
              <a:t>使</a:t>
            </a:r>
            <a:r>
              <a:rPr lang="en-US" altLang="zh-CN" sz="1800" dirty="0" smtClean="0">
                <a:solidFill>
                  <a:srgbClr val="7030A0"/>
                </a:solidFill>
              </a:rPr>
              <a:t>head</a:t>
            </a:r>
            <a:r>
              <a:rPr lang="zh-CN" altLang="en-US" sz="1800" dirty="0" smtClean="0">
                <a:solidFill>
                  <a:srgbClr val="7030A0"/>
                </a:solidFill>
              </a:rPr>
              <a:t>指向第一个结点，即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head=node</a:t>
            </a:r>
            <a:r>
              <a:rPr lang="en-US" altLang="zh-CN" sz="1800" b="1" baseline="-25000" dirty="0" smtClean="0">
                <a:solidFill>
                  <a:srgbClr val="C00000"/>
                </a:solidFill>
              </a:rPr>
              <a:t>1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006600"/>
                </a:solidFill>
              </a:rPr>
              <a:t>并为该结点的各成员赋值，特别地，</a:t>
            </a:r>
            <a:r>
              <a:rPr lang="en-US" altLang="zh-CN" sz="1800" dirty="0">
                <a:solidFill>
                  <a:srgbClr val="0303DF"/>
                </a:solidFill>
              </a:rPr>
              <a:t>node</a:t>
            </a:r>
            <a:r>
              <a:rPr lang="en-US" altLang="zh-CN" sz="1800" baseline="-25000" dirty="0">
                <a:solidFill>
                  <a:srgbClr val="0303DF"/>
                </a:solidFill>
              </a:rPr>
              <a:t>1</a:t>
            </a:r>
            <a:r>
              <a:rPr lang="en-US" altLang="zh-CN" sz="1800" dirty="0">
                <a:solidFill>
                  <a:srgbClr val="0303DF"/>
                </a:solidFill>
              </a:rPr>
              <a:t>-&gt;next=NULL (</a:t>
            </a:r>
            <a:r>
              <a:rPr lang="zh-CN" altLang="en-US" sz="1800" dirty="0">
                <a:solidFill>
                  <a:srgbClr val="0303DF"/>
                </a:solidFill>
              </a:rPr>
              <a:t>下同</a:t>
            </a:r>
            <a:r>
              <a:rPr lang="en-US" altLang="zh-CN" sz="1800" dirty="0">
                <a:solidFill>
                  <a:srgbClr val="0303DF"/>
                </a:solidFill>
              </a:rPr>
              <a:t>);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创建第二个结点</a:t>
            </a:r>
            <a:r>
              <a:rPr lang="en-US" altLang="zh-CN" sz="1800" dirty="0"/>
              <a:t>node</a:t>
            </a:r>
            <a:r>
              <a:rPr lang="en-US" altLang="zh-CN" sz="1800" baseline="-25000" dirty="0"/>
              <a:t>2</a:t>
            </a:r>
            <a:r>
              <a:rPr lang="zh-CN" altLang="en-US" sz="1800" dirty="0"/>
              <a:t>，为各成员赋值且</a:t>
            </a:r>
            <a:r>
              <a:rPr lang="en-US" altLang="zh-CN" sz="1800" dirty="0">
                <a:solidFill>
                  <a:srgbClr val="0303DF"/>
                </a:solidFill>
              </a:rPr>
              <a:t> node</a:t>
            </a:r>
            <a:r>
              <a:rPr lang="en-US" altLang="zh-CN" sz="1800" baseline="-25000" dirty="0">
                <a:solidFill>
                  <a:srgbClr val="0303DF"/>
                </a:solidFill>
              </a:rPr>
              <a:t>2</a:t>
            </a:r>
            <a:r>
              <a:rPr lang="en-US" altLang="zh-CN" sz="1800" dirty="0">
                <a:solidFill>
                  <a:srgbClr val="0303DF"/>
                </a:solidFill>
              </a:rPr>
              <a:t>-&gt;next=NULL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7030A0"/>
                </a:solidFill>
              </a:rPr>
              <a:t>并</a:t>
            </a:r>
            <a:r>
              <a:rPr lang="zh-CN" altLang="en-US" sz="1800" dirty="0" smtClean="0">
                <a:solidFill>
                  <a:srgbClr val="7030A0"/>
                </a:solidFill>
              </a:rPr>
              <a:t>使第一个结点指向第二个结点，即</a:t>
            </a:r>
            <a:r>
              <a:rPr lang="en-US" altLang="zh-CN" sz="1800" dirty="0" smtClean="0">
                <a:solidFill>
                  <a:srgbClr val="C00000"/>
                </a:solidFill>
              </a:rPr>
              <a:t>node</a:t>
            </a:r>
            <a:r>
              <a:rPr lang="en-US" altLang="zh-CN" sz="1800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CN" sz="1800" dirty="0" smtClean="0">
                <a:solidFill>
                  <a:srgbClr val="C00000"/>
                </a:solidFill>
              </a:rPr>
              <a:t>-</a:t>
            </a:r>
            <a:r>
              <a:rPr lang="en-US" altLang="zh-CN" sz="1800" dirty="0">
                <a:solidFill>
                  <a:srgbClr val="C00000"/>
                </a:solidFill>
              </a:rPr>
              <a:t>&gt;next=node</a:t>
            </a:r>
            <a:r>
              <a:rPr lang="en-US" altLang="zh-CN" sz="1800" baseline="-25000" dirty="0">
                <a:solidFill>
                  <a:srgbClr val="C00000"/>
                </a:solidFill>
              </a:rPr>
              <a:t>2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…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创建第</a:t>
            </a:r>
            <a:r>
              <a:rPr lang="en-US" altLang="zh-CN" sz="1800" dirty="0"/>
              <a:t>i</a:t>
            </a:r>
            <a:r>
              <a:rPr lang="zh-CN" altLang="en-US" sz="1800" dirty="0"/>
              <a:t>个结点</a:t>
            </a:r>
            <a:r>
              <a:rPr lang="en-US" altLang="zh-CN" sz="1800" dirty="0" err="1"/>
              <a:t>node</a:t>
            </a:r>
            <a:r>
              <a:rPr lang="en-US" altLang="zh-CN" sz="1800" baseline="-25000" dirty="0" err="1"/>
              <a:t>i</a:t>
            </a:r>
            <a:r>
              <a:rPr lang="zh-CN" altLang="en-US" sz="1800" dirty="0"/>
              <a:t>，为各成员赋值且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node</a:t>
            </a:r>
            <a:r>
              <a:rPr lang="en-US" altLang="zh-CN" sz="1800" baseline="-25000" dirty="0" err="1">
                <a:solidFill>
                  <a:srgbClr val="0303DF"/>
                </a:solidFill>
              </a:rPr>
              <a:t>i</a:t>
            </a:r>
            <a:r>
              <a:rPr lang="en-US" altLang="zh-CN" sz="1800" dirty="0">
                <a:solidFill>
                  <a:srgbClr val="0303DF"/>
                </a:solidFill>
              </a:rPr>
              <a:t>-&gt;next=NULL </a:t>
            </a:r>
            <a:r>
              <a:rPr lang="zh-CN" altLang="en-US" sz="1800" dirty="0"/>
              <a:t>，并使</a:t>
            </a:r>
            <a:r>
              <a:rPr lang="en-US" altLang="zh-CN" sz="1800" dirty="0">
                <a:solidFill>
                  <a:srgbClr val="C00000"/>
                </a:solidFill>
              </a:rPr>
              <a:t>node</a:t>
            </a:r>
            <a:r>
              <a:rPr lang="en-US" altLang="zh-CN" sz="1800" baseline="-25000" dirty="0">
                <a:solidFill>
                  <a:srgbClr val="C00000"/>
                </a:solidFill>
              </a:rPr>
              <a:t>i-1</a:t>
            </a:r>
            <a:r>
              <a:rPr lang="en-US" altLang="zh-CN" sz="1800" dirty="0">
                <a:solidFill>
                  <a:srgbClr val="C00000"/>
                </a:solidFill>
              </a:rPr>
              <a:t>-&gt;next=</a:t>
            </a:r>
            <a:r>
              <a:rPr lang="en-US" altLang="zh-CN" sz="1800" dirty="0" err="1">
                <a:solidFill>
                  <a:srgbClr val="C00000"/>
                </a:solidFill>
              </a:rPr>
              <a:t>node</a:t>
            </a:r>
            <a:r>
              <a:rPr lang="en-US" altLang="zh-CN" sz="1800" baseline="-25000" dirty="0" err="1">
                <a:solidFill>
                  <a:srgbClr val="C00000"/>
                </a:solidFill>
              </a:rPr>
              <a:t>i</a:t>
            </a:r>
            <a:r>
              <a:rPr lang="en-US" altLang="zh-CN" sz="1800" baseline="-25000" dirty="0">
                <a:solidFill>
                  <a:srgbClr val="C00000"/>
                </a:solidFill>
              </a:rPr>
              <a:t> 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 …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创建尾结点</a:t>
            </a:r>
            <a:r>
              <a:rPr lang="en-US" altLang="zh-CN" sz="1800" dirty="0" err="1"/>
              <a:t>node</a:t>
            </a:r>
            <a:r>
              <a:rPr lang="en-US" altLang="zh-CN" sz="1800" baseline="-25000" dirty="0" err="1"/>
              <a:t>n</a:t>
            </a:r>
            <a:r>
              <a:rPr lang="zh-CN" altLang="en-US" sz="1800" dirty="0"/>
              <a:t>，为各成员赋值且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node</a:t>
            </a:r>
            <a:r>
              <a:rPr lang="en-US" altLang="zh-CN" sz="1800" baseline="-25000" dirty="0" err="1">
                <a:solidFill>
                  <a:srgbClr val="0303DF"/>
                </a:solidFill>
              </a:rPr>
              <a:t>n</a:t>
            </a:r>
            <a:r>
              <a:rPr lang="en-US" altLang="zh-CN" sz="1800" dirty="0">
                <a:solidFill>
                  <a:srgbClr val="0303DF"/>
                </a:solidFill>
              </a:rPr>
              <a:t>-&gt;next=NULL </a:t>
            </a:r>
            <a:r>
              <a:rPr lang="zh-CN" altLang="en-US" sz="1800" dirty="0"/>
              <a:t>，并使</a:t>
            </a:r>
            <a:r>
              <a:rPr lang="en-US" altLang="zh-CN" sz="1800" dirty="0">
                <a:solidFill>
                  <a:srgbClr val="C00000"/>
                </a:solidFill>
              </a:rPr>
              <a:t>node</a:t>
            </a:r>
            <a:r>
              <a:rPr lang="en-US" altLang="zh-CN" sz="1800" baseline="-25000" dirty="0">
                <a:solidFill>
                  <a:srgbClr val="C00000"/>
                </a:solidFill>
              </a:rPr>
              <a:t>n-1</a:t>
            </a:r>
            <a:r>
              <a:rPr lang="en-US" altLang="zh-CN" sz="1800" dirty="0">
                <a:solidFill>
                  <a:srgbClr val="C00000"/>
                </a:solidFill>
              </a:rPr>
              <a:t>-&gt;next=</a:t>
            </a:r>
            <a:r>
              <a:rPr lang="en-US" altLang="zh-CN" sz="1800" dirty="0" err="1">
                <a:solidFill>
                  <a:srgbClr val="C00000"/>
                </a:solidFill>
              </a:rPr>
              <a:t>node</a:t>
            </a:r>
            <a:r>
              <a:rPr lang="en-US" altLang="zh-CN" sz="1800" baseline="-25000" dirty="0" err="1">
                <a:solidFill>
                  <a:srgbClr val="C00000"/>
                </a:solidFill>
              </a:rPr>
              <a:t>n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35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创建一个动态的单向链表</a:t>
            </a:r>
            <a:r>
              <a:rPr lang="en-US" altLang="zh-CN" dirty="0"/>
              <a:t>—</a:t>
            </a:r>
            <a:r>
              <a:rPr lang="zh-CN" altLang="en-US" dirty="0"/>
              <a:t>例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5775" y="1020763"/>
            <a:ext cx="8089900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建立一个长度为</a:t>
            </a:r>
            <a:r>
              <a:rPr lang="en-US" altLang="zh-CN" dirty="0"/>
              <a:t>n</a:t>
            </a:r>
            <a:r>
              <a:rPr lang="zh-CN" altLang="en-US" dirty="0"/>
              <a:t>的单链表；</a:t>
            </a:r>
            <a:endParaRPr lang="en-US" altLang="zh-CN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3DF"/>
                </a:solidFill>
              </a:rPr>
              <a:t>定义</a:t>
            </a:r>
            <a:r>
              <a:rPr lang="zh-CN" altLang="en-US" dirty="0" smtClean="0">
                <a:solidFill>
                  <a:srgbClr val="0303DF"/>
                </a:solidFill>
              </a:rPr>
              <a:t>结点结构体，</a:t>
            </a:r>
            <a:r>
              <a:rPr lang="zh-CN" altLang="en-US" dirty="0">
                <a:solidFill>
                  <a:srgbClr val="0303DF"/>
                </a:solidFill>
              </a:rPr>
              <a:t>如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student {</a:t>
            </a:r>
          </a:p>
          <a:p>
            <a:pPr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ID;</a:t>
            </a:r>
          </a:p>
          <a:p>
            <a:pPr lvl="1" indent="0">
              <a:buNone/>
            </a:pPr>
            <a:r>
              <a:rPr lang="en-US" altLang="zh-CN" dirty="0"/>
              <a:t>    char name[8];</a:t>
            </a:r>
          </a:p>
          <a:p>
            <a:pPr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usigned</a:t>
            </a:r>
            <a:r>
              <a:rPr lang="en-US" altLang="zh-CN" dirty="0"/>
              <a:t> </a:t>
            </a:r>
            <a:r>
              <a:rPr lang="en-US" altLang="zh-CN" dirty="0" err="1"/>
              <a:t>C_language</a:t>
            </a:r>
            <a:r>
              <a:rPr lang="en-US" altLang="zh-CN" dirty="0"/>
              <a:t>;</a:t>
            </a:r>
          </a:p>
          <a:p>
            <a:pPr lvl="1" indent="0">
              <a:buNone/>
            </a:pPr>
            <a:r>
              <a:rPr lang="en-US" altLang="zh-CN" dirty="0"/>
              <a:t>   </a:t>
            </a:r>
            <a:r>
              <a:rPr lang="en-US" altLang="zh-CN" b="1" dirty="0" err="1">
                <a:solidFill>
                  <a:srgbClr val="C00000"/>
                </a:solidFill>
              </a:rPr>
              <a:t>struct</a:t>
            </a:r>
            <a:r>
              <a:rPr lang="en-US" altLang="zh-CN" b="1" dirty="0">
                <a:solidFill>
                  <a:srgbClr val="C00000"/>
                </a:solidFill>
              </a:rPr>
              <a:t>  student *next;</a:t>
            </a:r>
          </a:p>
          <a:p>
            <a:pPr lvl="1" indent="0">
              <a:buNone/>
            </a:pPr>
            <a:r>
              <a:rPr lang="en-US" altLang="zh-CN" dirty="0"/>
              <a:t>} </a:t>
            </a:r>
          </a:p>
          <a:p>
            <a:pPr lvl="1" indent="0">
              <a:buNone/>
            </a:pPr>
            <a:endParaRPr lang="en-US" altLang="zh-CN" sz="1800" dirty="0"/>
          </a:p>
          <a:p>
            <a:pPr lvl="1" indent="0">
              <a:buNone/>
            </a:pP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38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创建一个动态的单向链表</a:t>
            </a:r>
            <a:r>
              <a:rPr lang="en-US" altLang="zh-CN" dirty="0"/>
              <a:t>—</a:t>
            </a:r>
            <a:r>
              <a:rPr lang="zh-CN" altLang="en-US" dirty="0"/>
              <a:t>例</a:t>
            </a:r>
            <a:r>
              <a:rPr lang="en-US" altLang="zh-CN" dirty="0"/>
              <a:t>: </a:t>
            </a:r>
            <a:r>
              <a:rPr lang="en-US" altLang="zh-CN" dirty="0" err="1">
                <a:solidFill>
                  <a:srgbClr val="030DCD"/>
                </a:solidFill>
              </a:rPr>
              <a:t>CreateLink</a:t>
            </a:r>
            <a:r>
              <a:rPr lang="en-US" altLang="zh-CN" dirty="0">
                <a:solidFill>
                  <a:srgbClr val="030DCD"/>
                </a:solidFill>
              </a:rPr>
              <a:t>(int n) 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5775" y="1020763"/>
            <a:ext cx="8089900" cy="534511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struct student*  </a:t>
            </a:r>
            <a:r>
              <a:rPr lang="en-US" altLang="zh-CN" sz="1800" dirty="0" err="1">
                <a:solidFill>
                  <a:srgbClr val="080808"/>
                </a:solidFill>
              </a:rPr>
              <a:t>CreateLink</a:t>
            </a:r>
            <a:r>
              <a:rPr lang="en-US" altLang="zh-CN" sz="1800" dirty="0">
                <a:solidFill>
                  <a:srgbClr val="080808"/>
                </a:solidFill>
              </a:rPr>
              <a:t>(int n)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动态建立</a:t>
            </a:r>
            <a:r>
              <a:rPr lang="en-US" altLang="zh-CN" sz="1800" dirty="0">
                <a:solidFill>
                  <a:srgbClr val="080808"/>
                </a:solidFill>
              </a:rPr>
              <a:t>n</a:t>
            </a:r>
            <a:r>
              <a:rPr lang="zh-CN" altLang="en-US" sz="1800" dirty="0">
                <a:solidFill>
                  <a:srgbClr val="080808"/>
                </a:solidFill>
              </a:rPr>
              <a:t>个结点的链表，返回链表头指针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303DF"/>
                </a:solidFill>
              </a:rPr>
              <a:t>       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声明头指针</a:t>
            </a:r>
            <a:r>
              <a:rPr lang="en-US" altLang="zh-CN" sz="1600" dirty="0">
                <a:solidFill>
                  <a:srgbClr val="0303DF"/>
                </a:solidFill>
              </a:rPr>
              <a:t>head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sym typeface="宋体" panose="02010600030101010101" pitchFamily="2" charset="-122"/>
              </a:rPr>
              <a:t>          struct student *</a:t>
            </a:r>
            <a:r>
              <a:rPr lang="en-US" altLang="zh-CN" sz="1600" dirty="0">
                <a:solidFill>
                  <a:srgbClr val="006600"/>
                </a:solidFill>
              </a:rPr>
              <a:t>head=NULL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指针应该初始化，</a:t>
            </a:r>
            <a:r>
              <a:rPr lang="zh-CN" altLang="en-US" sz="1600" dirty="0" smtClean="0">
                <a:solidFill>
                  <a:srgbClr val="C00000"/>
                </a:solidFill>
              </a:rPr>
              <a:t>防止成为“野指针”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303DF"/>
                </a:solidFill>
              </a:rPr>
              <a:t>       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创建第一个结点，并使</a:t>
            </a:r>
            <a:r>
              <a:rPr lang="en-US" altLang="zh-CN" sz="1600" dirty="0">
                <a:solidFill>
                  <a:srgbClr val="0303DF"/>
                </a:solidFill>
              </a:rPr>
              <a:t>head</a:t>
            </a:r>
            <a:r>
              <a:rPr lang="zh-CN" altLang="en-US" sz="1600" dirty="0">
                <a:solidFill>
                  <a:srgbClr val="0303DF"/>
                </a:solidFill>
              </a:rPr>
              <a:t>指向该结点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660066"/>
                </a:solidFill>
              </a:rPr>
              <a:t>struct student  *</a:t>
            </a:r>
            <a:r>
              <a:rPr lang="en-US" altLang="zh-CN" sz="1600" b="1" dirty="0" err="1">
                <a:solidFill>
                  <a:srgbClr val="660066"/>
                </a:solidFill>
              </a:rPr>
              <a:t>NewNode</a:t>
            </a:r>
            <a:r>
              <a:rPr lang="en-US" altLang="zh-CN" sz="1600" b="1" dirty="0">
                <a:solidFill>
                  <a:srgbClr val="660066"/>
                </a:solidFill>
              </a:rPr>
              <a:t>=NULL;  </a:t>
            </a:r>
            <a:r>
              <a:rPr lang="en-US" altLang="zh-CN" sz="1600" b="1" dirty="0">
                <a:solidFill>
                  <a:srgbClr val="0070C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新建结点的指针变量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7030A0"/>
                </a:solidFill>
              </a:rPr>
              <a:t>NewNode</a:t>
            </a:r>
            <a:r>
              <a:rPr lang="en-US" altLang="zh-CN" sz="1600" dirty="0"/>
              <a:t> = (</a:t>
            </a:r>
            <a:r>
              <a:rPr lang="en-US" altLang="zh-CN" sz="1600" dirty="0">
                <a:solidFill>
                  <a:srgbClr val="FF0000"/>
                </a:solidFill>
              </a:rPr>
              <a:t>struct student *)</a:t>
            </a:r>
            <a:r>
              <a:rPr lang="en-US" altLang="zh-CN" sz="1600" dirty="0">
                <a:solidFill>
                  <a:srgbClr val="0303DF"/>
                </a:solidFill>
              </a:rPr>
              <a:t>malloc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sizeof</a:t>
            </a:r>
            <a:r>
              <a:rPr lang="en-US" altLang="zh-CN" sz="1600" dirty="0"/>
              <a:t>(struct student));</a:t>
            </a: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/>
              <a:t>if (</a:t>
            </a:r>
            <a:r>
              <a:rPr lang="en-US" altLang="zh-CN" sz="1600" b="1" dirty="0" err="1"/>
              <a:t>NewNode</a:t>
            </a:r>
            <a:r>
              <a:rPr lang="en-US" altLang="zh-CN" sz="1600" b="1" dirty="0"/>
              <a:t> ==NULL) </a:t>
            </a: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/>
              <a:t>        return NULL;  //</a:t>
            </a:r>
            <a:r>
              <a:rPr lang="zh-CN" altLang="en-US" sz="1600" b="1" dirty="0"/>
              <a:t>无足够的堆</a:t>
            </a:r>
            <a:r>
              <a:rPr lang="zh-CN" altLang="en-US" sz="1600" b="1" dirty="0" smtClean="0"/>
              <a:t>空间，空表</a:t>
            </a:r>
            <a:endParaRPr lang="en-US" altLang="zh-CN" sz="1600" b="1" dirty="0"/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7030A0"/>
                </a:solidFill>
              </a:rPr>
              <a:t>NewNode</a:t>
            </a:r>
            <a:r>
              <a:rPr lang="en-US" altLang="zh-CN" sz="1600" dirty="0">
                <a:solidFill>
                  <a:srgbClr val="7030A0"/>
                </a:solidFill>
              </a:rPr>
              <a:t> -&gt;ID=</a:t>
            </a:r>
            <a:r>
              <a:rPr lang="en-US" altLang="zh-CN" sz="1600" dirty="0" err="1">
                <a:solidFill>
                  <a:srgbClr val="7030A0"/>
                </a:solidFill>
              </a:rPr>
              <a:t>i</a:t>
            </a:r>
            <a:r>
              <a:rPr lang="en-US" altLang="zh-CN" sz="1600" dirty="0">
                <a:solidFill>
                  <a:srgbClr val="7030A0"/>
                </a:solidFill>
              </a:rPr>
              <a:t>; </a:t>
            </a:r>
            <a:r>
              <a:rPr lang="en-US" altLang="zh-CN" sz="1600" dirty="0" err="1">
                <a:solidFill>
                  <a:srgbClr val="7030A0"/>
                </a:solidFill>
              </a:rPr>
              <a:t>NewNode</a:t>
            </a:r>
            <a:r>
              <a:rPr lang="en-US" altLang="zh-CN" sz="1600" dirty="0">
                <a:solidFill>
                  <a:srgbClr val="7030A0"/>
                </a:solidFill>
              </a:rPr>
              <a:t> -&gt;name=“…”; </a:t>
            </a:r>
            <a:r>
              <a:rPr lang="en-US" altLang="zh-CN" sz="1600" dirty="0" err="1">
                <a:solidFill>
                  <a:srgbClr val="7030A0"/>
                </a:solidFill>
              </a:rPr>
              <a:t>NewNode</a:t>
            </a:r>
            <a:r>
              <a:rPr lang="en-US" altLang="zh-CN" sz="1600" dirty="0">
                <a:solidFill>
                  <a:srgbClr val="7030A0"/>
                </a:solidFill>
              </a:rPr>
              <a:t> -&gt;score=rand()%101;</a:t>
            </a: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006600"/>
                </a:solidFill>
              </a:rPr>
              <a:t>NewNode</a:t>
            </a:r>
            <a:r>
              <a:rPr lang="en-US" altLang="zh-CN" sz="1600" b="1" dirty="0">
                <a:solidFill>
                  <a:srgbClr val="006600"/>
                </a:solidFill>
              </a:rPr>
              <a:t> -&gt;next=NULL;   //</a:t>
            </a:r>
            <a:r>
              <a:rPr lang="zh-CN" altLang="en-US" sz="1600" b="1" dirty="0">
                <a:solidFill>
                  <a:srgbClr val="006600"/>
                </a:solidFill>
              </a:rPr>
              <a:t>指针应该初始化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head = </a:t>
            </a:r>
            <a:r>
              <a:rPr lang="en-US" altLang="zh-CN" sz="1600" b="1" dirty="0" err="1">
                <a:solidFill>
                  <a:srgbClr val="C00000"/>
                </a:solidFill>
              </a:rPr>
              <a:t>NewNode</a:t>
            </a:r>
            <a:r>
              <a:rPr lang="en-US" altLang="zh-CN" sz="1600" b="1" dirty="0">
                <a:solidFill>
                  <a:srgbClr val="C00000"/>
                </a:solidFill>
              </a:rPr>
              <a:t>;    </a:t>
            </a:r>
            <a:r>
              <a:rPr lang="en-US" altLang="zh-CN" sz="1600" b="1" dirty="0">
                <a:solidFill>
                  <a:srgbClr val="0070C0"/>
                </a:solidFill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</a:rPr>
              <a:t>头指针指向头结点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660066"/>
                </a:solidFill>
              </a:rPr>
              <a:t>          </a:t>
            </a:r>
            <a:r>
              <a:rPr lang="en-US" altLang="zh-CN" sz="1600" b="1" dirty="0">
                <a:solidFill>
                  <a:srgbClr val="660066"/>
                </a:solidFill>
              </a:rPr>
              <a:t>// </a:t>
            </a:r>
            <a:r>
              <a:rPr lang="zh-CN" altLang="en-US" sz="1600" b="1" dirty="0">
                <a:solidFill>
                  <a:srgbClr val="660066"/>
                </a:solidFill>
              </a:rPr>
              <a:t>然后依次创建其它结点，并建立结点之间的地址关联；</a:t>
            </a:r>
            <a:endParaRPr lang="en-US" altLang="zh-CN" sz="1600" b="1" dirty="0">
              <a:solidFill>
                <a:srgbClr val="660066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接下页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62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创建一个动态的单向链表</a:t>
            </a:r>
            <a:r>
              <a:rPr lang="en-US" altLang="zh-CN" dirty="0"/>
              <a:t>—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55553" cy="5345112"/>
          </a:xfrm>
        </p:spPr>
        <p:txBody>
          <a:bodyPr/>
          <a:lstStyle/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续上页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	struct student *</a:t>
            </a:r>
            <a:r>
              <a:rPr lang="en-US" altLang="zh-CN" sz="1800" dirty="0" err="1">
                <a:solidFill>
                  <a:srgbClr val="006600"/>
                </a:solidFill>
              </a:rPr>
              <a:t>preNode</a:t>
            </a:r>
            <a:r>
              <a:rPr lang="en-US" altLang="zh-CN" sz="1800" dirty="0">
                <a:solidFill>
                  <a:srgbClr val="006600"/>
                </a:solidFill>
              </a:rPr>
              <a:t>;</a:t>
            </a: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	</a:t>
            </a:r>
            <a:r>
              <a:rPr lang="en-US" altLang="zh-CN" sz="1800" dirty="0" err="1">
                <a:solidFill>
                  <a:srgbClr val="030DCD"/>
                </a:solidFill>
              </a:rPr>
              <a:t>preNode</a:t>
            </a:r>
            <a:r>
              <a:rPr lang="en-US" altLang="zh-CN" sz="1800" dirty="0">
                <a:solidFill>
                  <a:srgbClr val="030DCD"/>
                </a:solidFill>
              </a:rPr>
              <a:t>=head;     //</a:t>
            </a:r>
            <a:r>
              <a:rPr lang="en-US" altLang="zh-CN" sz="1800" dirty="0" err="1">
                <a:solidFill>
                  <a:srgbClr val="030DCD"/>
                </a:solidFill>
              </a:rPr>
              <a:t>preNode</a:t>
            </a:r>
            <a:r>
              <a:rPr lang="zh-CN" altLang="en-US" sz="1800" dirty="0">
                <a:solidFill>
                  <a:srgbClr val="030DCD"/>
                </a:solidFill>
              </a:rPr>
              <a:t>指向指向第一个结点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	for (int i=1;i&lt;</a:t>
            </a:r>
            <a:r>
              <a:rPr lang="en-US" altLang="zh-CN" sz="1800" dirty="0" err="1"/>
              <a:t>n;i</a:t>
            </a:r>
            <a:r>
              <a:rPr lang="en-US" altLang="zh-CN" sz="1800" dirty="0"/>
              <a:t>++)  //</a:t>
            </a:r>
            <a:r>
              <a:rPr lang="zh-CN" altLang="en-US" sz="1800" dirty="0"/>
              <a:t>依次建立随后的</a:t>
            </a:r>
            <a:r>
              <a:rPr lang="en-US" altLang="zh-CN" sz="1800" dirty="0"/>
              <a:t>n-1</a:t>
            </a:r>
            <a:r>
              <a:rPr lang="zh-CN" altLang="en-US" sz="1800" dirty="0"/>
              <a:t>个结点</a:t>
            </a:r>
            <a:endParaRPr lang="en-US" altLang="zh-CN" sz="1800" dirty="0"/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	{</a:t>
            </a: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=(</a:t>
            </a:r>
            <a:r>
              <a:rPr lang="en-US" altLang="zh-CN" sz="1800" dirty="0">
                <a:solidFill>
                  <a:srgbClr val="FF0000"/>
                </a:solidFill>
              </a:rPr>
              <a:t>struct student *)</a:t>
            </a:r>
            <a:r>
              <a:rPr lang="en-US" altLang="zh-CN" sz="1800" dirty="0">
                <a:solidFill>
                  <a:srgbClr val="0303DF"/>
                </a:solidFill>
              </a:rPr>
              <a:t>malloc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(struct student));</a:t>
            </a: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        </a:t>
            </a:r>
            <a:r>
              <a:rPr lang="en-US" altLang="zh-CN" sz="1800" b="1" dirty="0"/>
              <a:t>if (</a:t>
            </a:r>
            <a:r>
              <a:rPr lang="en-US" altLang="zh-CN" sz="1800" b="1" dirty="0" err="1"/>
              <a:t>NewNode</a:t>
            </a:r>
            <a:r>
              <a:rPr lang="en-US" altLang="zh-CN" sz="1800" b="1" dirty="0"/>
              <a:t> ==NULL)   </a:t>
            </a:r>
            <a:r>
              <a:rPr lang="en-US" altLang="zh-CN" sz="1800" b="1" dirty="0">
                <a:solidFill>
                  <a:srgbClr val="0070C0"/>
                </a:solidFill>
              </a:rPr>
              <a:t>//</a:t>
            </a:r>
            <a:r>
              <a:rPr lang="zh-CN" altLang="en-US" sz="1800" b="1" dirty="0">
                <a:solidFill>
                  <a:srgbClr val="0070C0"/>
                </a:solidFill>
              </a:rPr>
              <a:t>讨论</a:t>
            </a:r>
            <a:r>
              <a:rPr lang="zh-CN" altLang="en-US" sz="1800" dirty="0">
                <a:solidFill>
                  <a:srgbClr val="0070C0"/>
                </a:solidFill>
              </a:rPr>
              <a:t>：返回一个不完整的链表，还是删除</a:t>
            </a:r>
            <a:endParaRPr lang="en-US" altLang="zh-CN" sz="1800" b="1" dirty="0"/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b="1" dirty="0"/>
              <a:t>                return head;            </a:t>
            </a:r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所有已创建的结点，然后返回一个空表？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</a:t>
            </a:r>
            <a:r>
              <a:rPr lang="en-US" altLang="zh-CN" sz="1800" dirty="0">
                <a:solidFill>
                  <a:srgbClr val="7030A0"/>
                </a:solidFill>
              </a:rPr>
              <a:t>&gt;ID=</a:t>
            </a:r>
            <a:r>
              <a:rPr lang="en-US" altLang="zh-CN" sz="1800" dirty="0" err="1">
                <a:solidFill>
                  <a:srgbClr val="7030A0"/>
                </a:solidFill>
              </a:rPr>
              <a:t>i</a:t>
            </a:r>
            <a:r>
              <a:rPr lang="en-US" altLang="zh-CN" sz="1800" dirty="0">
                <a:solidFill>
                  <a:srgbClr val="7030A0"/>
                </a:solidFill>
              </a:rPr>
              <a:t>;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</a:t>
            </a:r>
            <a:r>
              <a:rPr lang="en-US" altLang="zh-CN" sz="1800" dirty="0">
                <a:solidFill>
                  <a:srgbClr val="7030A0"/>
                </a:solidFill>
              </a:rPr>
              <a:t>&gt;name=“…”;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</a:t>
            </a:r>
            <a:r>
              <a:rPr lang="en-US" altLang="zh-CN" sz="1800" dirty="0">
                <a:solidFill>
                  <a:srgbClr val="7030A0"/>
                </a:solidFill>
              </a:rPr>
              <a:t>&gt;score=rand()%101;</a:t>
            </a: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	</a:t>
            </a:r>
            <a:r>
              <a:rPr lang="en-US" altLang="zh-CN" sz="1800" b="1" dirty="0">
                <a:solidFill>
                  <a:srgbClr val="0303DF"/>
                </a:solidFill>
              </a:rPr>
              <a:t>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</a:t>
            </a:r>
            <a:r>
              <a:rPr lang="en-US" altLang="zh-CN" sz="1800" b="1" dirty="0">
                <a:solidFill>
                  <a:srgbClr val="0303DF"/>
                </a:solidFill>
              </a:rPr>
              <a:t>&gt;next=NULL;    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en-US" altLang="zh-CN" sz="1800" dirty="0" err="1">
                <a:solidFill>
                  <a:srgbClr val="FF0000"/>
                </a:solidFill>
              </a:rPr>
              <a:t>preNode</a:t>
            </a:r>
            <a:r>
              <a:rPr lang="en-US" altLang="zh-CN" sz="1800" dirty="0">
                <a:solidFill>
                  <a:srgbClr val="FF0000"/>
                </a:solidFill>
              </a:rPr>
              <a:t> -&gt;next= </a:t>
            </a:r>
            <a:r>
              <a:rPr lang="en-US" altLang="zh-CN" sz="1800" dirty="0" err="1">
                <a:solidFill>
                  <a:srgbClr val="FF0000"/>
                </a:solidFill>
              </a:rPr>
              <a:t>NewNode</a:t>
            </a:r>
            <a:r>
              <a:rPr lang="en-US" altLang="zh-CN" sz="1800" dirty="0">
                <a:solidFill>
                  <a:srgbClr val="FF0000"/>
                </a:solidFill>
              </a:rPr>
              <a:t>;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前一个结点的后向指针指向新建的结点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	</a:t>
            </a:r>
            <a:r>
              <a:rPr lang="en-US" altLang="zh-CN" sz="1800" b="1" dirty="0">
                <a:solidFill>
                  <a:srgbClr val="030DCD"/>
                </a:solidFill>
              </a:rPr>
              <a:t>      </a:t>
            </a:r>
            <a:r>
              <a:rPr lang="en-US" altLang="zh-CN" sz="1800" b="1" dirty="0" err="1">
                <a:solidFill>
                  <a:srgbClr val="030DCD"/>
                </a:solidFill>
              </a:rPr>
              <a:t>preNode</a:t>
            </a:r>
            <a:r>
              <a:rPr lang="en-US" altLang="zh-CN" sz="1800" b="1" dirty="0">
                <a:solidFill>
                  <a:srgbClr val="030DCD"/>
                </a:solidFill>
              </a:rPr>
              <a:t>= </a:t>
            </a:r>
            <a:r>
              <a:rPr lang="en-US" altLang="zh-CN" sz="1800" b="1" dirty="0" err="1">
                <a:solidFill>
                  <a:srgbClr val="030DCD"/>
                </a:solidFill>
              </a:rPr>
              <a:t>NewNode</a:t>
            </a:r>
            <a:r>
              <a:rPr lang="en-US" altLang="zh-CN" sz="1800" b="1" dirty="0">
                <a:solidFill>
                  <a:srgbClr val="030DCD"/>
                </a:solidFill>
              </a:rPr>
              <a:t> ;       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en-US" altLang="zh-CN" sz="1800" dirty="0" err="1">
                <a:solidFill>
                  <a:srgbClr val="006600"/>
                </a:solidFill>
              </a:rPr>
              <a:t>preNode</a:t>
            </a:r>
            <a:r>
              <a:rPr lang="zh-CN" altLang="en-US" sz="1800" dirty="0">
                <a:solidFill>
                  <a:srgbClr val="006600"/>
                </a:solidFill>
              </a:rPr>
              <a:t>指向</a:t>
            </a:r>
            <a:r>
              <a:rPr lang="zh-CN" altLang="en-US" sz="1800" dirty="0">
                <a:solidFill>
                  <a:srgbClr val="030DCD"/>
                </a:solidFill>
              </a:rPr>
              <a:t>目前</a:t>
            </a:r>
            <a:r>
              <a:rPr lang="zh-CN" altLang="en-US" sz="1800" dirty="0">
                <a:solidFill>
                  <a:srgbClr val="006600"/>
                </a:solidFill>
              </a:rPr>
              <a:t>链表的最后一个结点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dirty="0"/>
              <a:t>  }</a:t>
            </a:r>
          </a:p>
          <a:p>
            <a:pPr marL="540000" lvl="1" indent="0">
              <a:lnSpc>
                <a:spcPct val="110000"/>
              </a:lnSpc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return head;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}  // struct student*  </a:t>
            </a:r>
            <a:r>
              <a:rPr lang="en-US" altLang="zh-CN" sz="2000" dirty="0" err="1">
                <a:solidFill>
                  <a:srgbClr val="080808"/>
                </a:solidFill>
              </a:rPr>
              <a:t>CreateLink</a:t>
            </a:r>
            <a:r>
              <a:rPr lang="en-US" altLang="zh-CN" sz="2000" dirty="0">
                <a:solidFill>
                  <a:srgbClr val="080808"/>
                </a:solidFill>
              </a:rPr>
              <a:t>(int n)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36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遍历单向链表，</a:t>
            </a:r>
            <a:r>
              <a:rPr lang="zh-CN" altLang="en-US" dirty="0">
                <a:solidFill>
                  <a:srgbClr val="030DCD"/>
                </a:solidFill>
              </a:rPr>
              <a:t>返回链表的长度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输出结点内容，返回链表长度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80808"/>
                </a:solidFill>
              </a:rPr>
              <a:t>int  count(struct student *head)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*p;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FF0000"/>
                </a:solidFill>
              </a:rPr>
              <a:t>p=head;  </a:t>
            </a:r>
            <a:r>
              <a:rPr lang="en-US" altLang="zh-CN" sz="1800" dirty="0">
                <a:solidFill>
                  <a:srgbClr val="030DCD"/>
                </a:solidFill>
              </a:rPr>
              <a:t>//p</a:t>
            </a:r>
            <a:r>
              <a:rPr lang="zh-CN" altLang="en-US" sz="1800" dirty="0">
                <a:solidFill>
                  <a:srgbClr val="030DCD"/>
                </a:solidFill>
              </a:rPr>
              <a:t>指向链表的首结点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int </a:t>
            </a:r>
            <a:r>
              <a:rPr lang="en-US" altLang="zh-CN" sz="1800" dirty="0" err="1">
                <a:solidFill>
                  <a:srgbClr val="7030A0"/>
                </a:solidFill>
              </a:rPr>
              <a:t>num</a:t>
            </a:r>
            <a:r>
              <a:rPr lang="en-US" altLang="zh-CN" sz="1800" dirty="0">
                <a:solidFill>
                  <a:srgbClr val="7030A0"/>
                </a:solidFill>
              </a:rPr>
              <a:t>=0;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while (</a:t>
            </a:r>
            <a:r>
              <a:rPr lang="en-US" altLang="zh-CN" sz="1800" dirty="0">
                <a:solidFill>
                  <a:srgbClr val="C00000"/>
                </a:solidFill>
              </a:rPr>
              <a:t>p!=NULL</a:t>
            </a:r>
            <a:r>
              <a:rPr lang="en-US" altLang="zh-CN" sz="1800" dirty="0">
                <a:solidFill>
                  <a:srgbClr val="080808"/>
                </a:solidFill>
              </a:rPr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   </a:t>
            </a:r>
            <a:r>
              <a:rPr lang="en-US" altLang="zh-CN" sz="1800" dirty="0" err="1">
                <a:solidFill>
                  <a:srgbClr val="7030A0"/>
                </a:solidFill>
              </a:rPr>
              <a:t>num</a:t>
            </a:r>
            <a:r>
              <a:rPr lang="en-US" altLang="zh-CN" sz="1800" dirty="0">
                <a:solidFill>
                  <a:srgbClr val="7030A0"/>
                </a:solidFill>
              </a:rPr>
              <a:t>++;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(“%d, %s, %u\</a:t>
            </a:r>
            <a:r>
              <a:rPr lang="en-US" altLang="zh-CN" sz="1800" dirty="0" err="1">
                <a:solidFill>
                  <a:srgbClr val="080808"/>
                </a:solidFill>
              </a:rPr>
              <a:t>n”,p</a:t>
            </a:r>
            <a:r>
              <a:rPr lang="en-US" altLang="zh-CN" sz="1800" dirty="0">
                <a:solidFill>
                  <a:srgbClr val="080808"/>
                </a:solidFill>
              </a:rPr>
              <a:t>-&gt;</a:t>
            </a:r>
            <a:r>
              <a:rPr lang="en-US" altLang="zh-CN" sz="1800" dirty="0" err="1">
                <a:solidFill>
                  <a:srgbClr val="080808"/>
                </a:solidFill>
              </a:rPr>
              <a:t>ID,p</a:t>
            </a:r>
            <a:r>
              <a:rPr lang="en-US" altLang="zh-CN" sz="1800" dirty="0">
                <a:solidFill>
                  <a:srgbClr val="080808"/>
                </a:solidFill>
              </a:rPr>
              <a:t>-&gt;</a:t>
            </a:r>
            <a:r>
              <a:rPr lang="en-US" altLang="zh-CN" sz="1800" dirty="0" err="1">
                <a:solidFill>
                  <a:srgbClr val="080808"/>
                </a:solidFill>
              </a:rPr>
              <a:t>name,p</a:t>
            </a:r>
            <a:r>
              <a:rPr lang="en-US" altLang="zh-CN" sz="1800" dirty="0">
                <a:solidFill>
                  <a:srgbClr val="080808"/>
                </a:solidFill>
              </a:rPr>
              <a:t>-&gt;score);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006600"/>
                </a:solidFill>
              </a:rPr>
              <a:t>   p=p-&gt;next;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return </a:t>
            </a:r>
            <a:r>
              <a:rPr lang="en-US" altLang="zh-CN" sz="1800" dirty="0" err="1">
                <a:solidFill>
                  <a:srgbClr val="080808"/>
                </a:solidFill>
              </a:rPr>
              <a:t>num</a:t>
            </a:r>
            <a:r>
              <a:rPr lang="en-US" altLang="zh-CN" sz="1800" dirty="0">
                <a:solidFill>
                  <a:srgbClr val="080808"/>
                </a:solidFill>
              </a:rPr>
              <a:t>;   //</a:t>
            </a:r>
            <a:r>
              <a:rPr lang="zh-CN" altLang="en-US" sz="1800" dirty="0">
                <a:solidFill>
                  <a:srgbClr val="080808"/>
                </a:solidFill>
              </a:rPr>
              <a:t>返回链表的长度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5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思考与课后练习</a:t>
            </a:r>
            <a:r>
              <a:rPr lang="zh-CN" altLang="en-US" dirty="0" smtClean="0"/>
              <a:t>：如何将单链表中的数据逆序输出？</a:t>
            </a:r>
            <a:endParaRPr lang="zh-CN" altLang="en-US" dirty="0">
              <a:solidFill>
                <a:srgbClr val="030DCD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自己查阅资料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给出设计思想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程序实现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提示：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可以采用栈的思想，使用数组实现栈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或采用其它的方法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30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7.3.2 </a:t>
            </a:r>
            <a:r>
              <a:rPr lang="zh-CN" altLang="en-US" dirty="0"/>
              <a:t>链表结点的插入与删除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</a:rPr>
              <a:t>链表结点的</a:t>
            </a:r>
            <a:r>
              <a:rPr lang="zh-CN" altLang="en-US" dirty="0">
                <a:solidFill>
                  <a:srgbClr val="C00000"/>
                </a:solidFill>
              </a:rPr>
              <a:t>插入</a:t>
            </a:r>
            <a:endParaRPr lang="en-US" altLang="zh-CN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dirty="0"/>
              <a:t>插入操作</a:t>
            </a:r>
            <a:r>
              <a:rPr lang="zh-CN" altLang="en-US" dirty="0">
                <a:solidFill>
                  <a:srgbClr val="7030A0"/>
                </a:solidFill>
              </a:rPr>
              <a:t>不应破坏原链接关系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插入的结点的位置</a:t>
            </a:r>
            <a:endParaRPr lang="en-US" altLang="zh-CN" dirty="0"/>
          </a:p>
          <a:p>
            <a:pPr marL="1200150" lvl="2"/>
            <a:r>
              <a:rPr lang="zh-CN" altLang="en-US" sz="1800" dirty="0">
                <a:solidFill>
                  <a:srgbClr val="7030A0"/>
                </a:solidFill>
              </a:rPr>
              <a:t>链表头；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030DCD"/>
                </a:solidFill>
              </a:rPr>
              <a:t>链表尾；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006600"/>
                </a:solidFill>
              </a:rPr>
              <a:t>链表</a:t>
            </a:r>
            <a:r>
              <a:rPr lang="zh-CN" altLang="en-US" sz="1800" dirty="0">
                <a:solidFill>
                  <a:srgbClr val="0070C0"/>
                </a:solidFill>
              </a:rPr>
              <a:t>中间</a:t>
            </a:r>
            <a:r>
              <a:rPr lang="zh-CN" altLang="en-US" sz="1800" dirty="0">
                <a:solidFill>
                  <a:srgbClr val="006600"/>
                </a:solidFill>
              </a:rPr>
              <a:t>的两结点之间；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80808"/>
                </a:solidFill>
              </a:rPr>
              <a:t>链表结点的</a:t>
            </a:r>
            <a:r>
              <a:rPr lang="zh-CN" altLang="en-US" dirty="0">
                <a:solidFill>
                  <a:srgbClr val="C00000"/>
                </a:solidFill>
              </a:rPr>
              <a:t>删除</a:t>
            </a:r>
            <a:endParaRPr lang="en-US" altLang="zh-CN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dirty="0"/>
              <a:t>删除操作</a:t>
            </a:r>
            <a:r>
              <a:rPr lang="zh-CN" altLang="en-US" dirty="0">
                <a:solidFill>
                  <a:srgbClr val="7030A0"/>
                </a:solidFill>
              </a:rPr>
              <a:t>不应破坏原链接关系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删除的结点的位置</a:t>
            </a:r>
            <a:endParaRPr lang="en-US" altLang="zh-CN" dirty="0"/>
          </a:p>
          <a:p>
            <a:pPr marL="1200150" lvl="2"/>
            <a:r>
              <a:rPr lang="zh-CN" altLang="en-US" sz="1800" dirty="0">
                <a:solidFill>
                  <a:srgbClr val="7030A0"/>
                </a:solidFill>
              </a:rPr>
              <a:t>链表头；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030DCD"/>
                </a:solidFill>
              </a:rPr>
              <a:t>链表尾；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006600"/>
                </a:solidFill>
              </a:rPr>
              <a:t>链表</a:t>
            </a:r>
            <a:r>
              <a:rPr lang="zh-CN" altLang="en-US" sz="1800" dirty="0">
                <a:solidFill>
                  <a:srgbClr val="0070C0"/>
                </a:solidFill>
              </a:rPr>
              <a:t>中间</a:t>
            </a:r>
            <a:r>
              <a:rPr lang="zh-CN" altLang="en-US" sz="1800" dirty="0">
                <a:solidFill>
                  <a:srgbClr val="006600"/>
                </a:solidFill>
              </a:rPr>
              <a:t>的一个结点；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68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在单向链表的第一个位置</a:t>
            </a:r>
            <a:r>
              <a:rPr lang="zh-CN" altLang="en-US" dirty="0">
                <a:solidFill>
                  <a:srgbClr val="030DCD"/>
                </a:solidFill>
              </a:rPr>
              <a:t>插入结点（</a:t>
            </a:r>
            <a:r>
              <a:rPr lang="zh-CN" altLang="en-US" dirty="0">
                <a:solidFill>
                  <a:srgbClr val="C00000"/>
                </a:solidFill>
              </a:rPr>
              <a:t>头部</a:t>
            </a:r>
            <a:r>
              <a:rPr lang="zh-CN" altLang="en-US" dirty="0">
                <a:solidFill>
                  <a:srgbClr val="030DCD"/>
                </a:solidFill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723" y="2927163"/>
            <a:ext cx="8089900" cy="27773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//</a:t>
            </a:r>
            <a:r>
              <a:rPr lang="zh-CN" altLang="en-US" sz="1800" b="1" dirty="0">
                <a:solidFill>
                  <a:srgbClr val="7030A0"/>
                </a:solidFill>
              </a:rPr>
              <a:t>在链表头部插入一个元素，需要修改</a:t>
            </a:r>
            <a:r>
              <a:rPr lang="en-US" altLang="zh-CN" sz="1800" b="1" dirty="0">
                <a:solidFill>
                  <a:srgbClr val="7030A0"/>
                </a:solidFill>
              </a:rPr>
              <a:t>head</a:t>
            </a:r>
            <a:r>
              <a:rPr lang="zh-CN" altLang="en-US" sz="1800" b="1" dirty="0">
                <a:solidFill>
                  <a:srgbClr val="7030A0"/>
                </a:solidFill>
              </a:rPr>
              <a:t>指针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*p;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p=(</a:t>
            </a:r>
            <a:r>
              <a:rPr lang="en-US" altLang="zh-CN" sz="1800" dirty="0">
                <a:solidFill>
                  <a:srgbClr val="006600"/>
                </a:solidFill>
              </a:rPr>
              <a:t>struct student *</a:t>
            </a:r>
            <a:r>
              <a:rPr lang="en-US" altLang="zh-CN" sz="1800" dirty="0">
                <a:solidFill>
                  <a:srgbClr val="080808"/>
                </a:solidFill>
              </a:rPr>
              <a:t>)malloc(</a:t>
            </a:r>
            <a:r>
              <a:rPr lang="en-US" altLang="zh-CN" sz="1800" dirty="0" err="1">
                <a:solidFill>
                  <a:srgbClr val="080808"/>
                </a:solidFill>
              </a:rPr>
              <a:t>sizeof</a:t>
            </a:r>
            <a:r>
              <a:rPr lang="en-US" altLang="zh-CN" sz="1800" dirty="0">
                <a:solidFill>
                  <a:srgbClr val="080808"/>
                </a:solidFill>
              </a:rPr>
              <a:t>(struct student));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初始化新建结点</a:t>
            </a:r>
            <a:r>
              <a:rPr lang="en-US" altLang="zh-CN" sz="1800" dirty="0">
                <a:solidFill>
                  <a:srgbClr val="080808"/>
                </a:solidFill>
              </a:rPr>
              <a:t>p</a:t>
            </a:r>
            <a:r>
              <a:rPr lang="zh-CN" altLang="en-US" sz="1800" dirty="0">
                <a:solidFill>
                  <a:srgbClr val="080808"/>
                </a:solidFill>
              </a:rPr>
              <a:t>的数据，特别地，应使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p-&gt;next=NULL</a:t>
            </a:r>
            <a:r>
              <a:rPr lang="zh-CN" altLang="en-US" sz="1800" dirty="0">
                <a:solidFill>
                  <a:srgbClr val="030DCD"/>
                </a:solidFill>
              </a:rPr>
              <a:t>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C00000"/>
                </a:solidFill>
              </a:rPr>
              <a:t>p-&gt;next=head;  </a:t>
            </a:r>
            <a:r>
              <a:rPr lang="en-US" altLang="zh-CN" sz="1800" b="1" u="sng" dirty="0">
                <a:solidFill>
                  <a:srgbClr val="080808"/>
                </a:solidFill>
              </a:rPr>
              <a:t>//head</a:t>
            </a:r>
            <a:r>
              <a:rPr lang="zh-CN" altLang="en-US" sz="1800" b="1" u="sng" dirty="0">
                <a:solidFill>
                  <a:srgbClr val="080808"/>
                </a:solidFill>
              </a:rPr>
              <a:t>指向原链表的第一个结点</a:t>
            </a:r>
            <a:endParaRPr lang="en-US" altLang="zh-CN" sz="1800" b="1" u="sng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0303DF"/>
                </a:solidFill>
              </a:rPr>
              <a:t>head=p; 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插入一个结点操作，需要知道插入位置的前一个结点（</a:t>
            </a:r>
            <a:r>
              <a:rPr lang="en-US" altLang="zh-CN" sz="1800" dirty="0" err="1">
                <a:solidFill>
                  <a:srgbClr val="006600"/>
                </a:solidFill>
              </a:rPr>
              <a:t>prev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endParaRPr lang="en-US" altLang="zh-CN" sz="1800" dirty="0">
              <a:solidFill>
                <a:srgbClr val="0303DF"/>
              </a:solidFill>
            </a:endParaRPr>
          </a:p>
          <a:p>
            <a:endParaRPr lang="en-US" altLang="zh-CN" dirty="0">
              <a:solidFill>
                <a:srgbClr val="006600"/>
              </a:solidFill>
            </a:endParaRPr>
          </a:p>
          <a:p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921327" y="1391750"/>
            <a:ext cx="7218795" cy="1441080"/>
            <a:chOff x="921327" y="1391750"/>
            <a:chExt cx="7218795" cy="1441080"/>
          </a:xfrm>
        </p:grpSpPr>
        <p:sp>
          <p:nvSpPr>
            <p:cNvPr id="11" name="文本框 10"/>
            <p:cNvSpPr txBox="1"/>
            <p:nvPr/>
          </p:nvSpPr>
          <p:spPr>
            <a:xfrm>
              <a:off x="921327" y="1488443"/>
              <a:ext cx="7493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3508084" y="1458819"/>
              <a:ext cx="749300" cy="60488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>
              <a:stCxn id="18" idx="1"/>
              <a:endCxn id="18" idx="3"/>
            </p:cNvCxnSpPr>
            <p:nvPr/>
          </p:nvCxnSpPr>
          <p:spPr bwMode="auto">
            <a:xfrm>
              <a:off x="3508084" y="176126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3546184" y="1423865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4778084" y="1459015"/>
              <a:ext cx="749300" cy="60488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stCxn id="26" idx="1"/>
              <a:endCxn id="26" idx="3"/>
            </p:cNvCxnSpPr>
            <p:nvPr/>
          </p:nvCxnSpPr>
          <p:spPr bwMode="auto">
            <a:xfrm>
              <a:off x="4778084" y="1761459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" name="文本框 29"/>
            <p:cNvSpPr txBox="1"/>
            <p:nvPr/>
          </p:nvSpPr>
          <p:spPr>
            <a:xfrm>
              <a:off x="4816184" y="1415369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B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31" name="肘形连接符 30"/>
            <p:cNvCxnSpPr>
              <a:endCxn id="30" idx="1"/>
            </p:cNvCxnSpPr>
            <p:nvPr/>
          </p:nvCxnSpPr>
          <p:spPr bwMode="auto">
            <a:xfrm flipV="1">
              <a:off x="3990684" y="1567015"/>
              <a:ext cx="825500" cy="29224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34" name="组合 33"/>
            <p:cNvGrpSpPr/>
            <p:nvPr/>
          </p:nvGrpSpPr>
          <p:grpSpPr>
            <a:xfrm>
              <a:off x="6095422" y="1481191"/>
              <a:ext cx="749300" cy="615108"/>
              <a:chOff x="673100" y="1663956"/>
              <a:chExt cx="749300" cy="749044"/>
            </a:xfrm>
          </p:grpSpPr>
          <p:sp>
            <p:nvSpPr>
              <p:cNvPr id="36" name="矩形 3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" name="直接连接符 36"/>
              <p:cNvCxnSpPr>
                <a:stCxn id="36" idx="1"/>
                <a:endCxn id="3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" name="文本框 39"/>
              <p:cNvSpPr txBox="1"/>
              <p:nvPr/>
            </p:nvSpPr>
            <p:spPr>
              <a:xfrm>
                <a:off x="711200" y="1663956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7352722" y="1478141"/>
              <a:ext cx="749300" cy="616038"/>
              <a:chOff x="673100" y="1662823"/>
              <a:chExt cx="749300" cy="750177"/>
            </a:xfrm>
          </p:grpSpPr>
          <p:sp>
            <p:nvSpPr>
              <p:cNvPr id="44" name="矩形 43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5" name="直接连接符 44"/>
              <p:cNvCxnSpPr>
                <a:stCxn id="44" idx="1"/>
                <a:endCxn id="44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" name="文本框 47"/>
              <p:cNvSpPr txBox="1"/>
              <p:nvPr/>
            </p:nvSpPr>
            <p:spPr>
              <a:xfrm>
                <a:off x="698500" y="166282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3" name="肘形连接符 42"/>
            <p:cNvCxnSpPr>
              <a:endCxn id="48" idx="1"/>
            </p:cNvCxnSpPr>
            <p:nvPr/>
          </p:nvCxnSpPr>
          <p:spPr bwMode="auto">
            <a:xfrm flipV="1">
              <a:off x="6654222" y="1629787"/>
              <a:ext cx="723900" cy="26196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7467022" y="1742293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cxnSp>
          <p:nvCxnSpPr>
            <p:cNvPr id="75" name="肘形连接符 74"/>
            <p:cNvCxnSpPr>
              <a:endCxn id="40" idx="1"/>
            </p:cNvCxnSpPr>
            <p:nvPr/>
          </p:nvCxnSpPr>
          <p:spPr bwMode="auto">
            <a:xfrm flipV="1">
              <a:off x="5457247" y="1632837"/>
              <a:ext cx="676275" cy="21352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6" name="组合 5"/>
            <p:cNvGrpSpPr/>
            <p:nvPr/>
          </p:nvGrpSpPr>
          <p:grpSpPr>
            <a:xfrm>
              <a:off x="2064904" y="1838280"/>
              <a:ext cx="1396131" cy="994550"/>
              <a:chOff x="1242868" y="1841140"/>
              <a:chExt cx="1396131" cy="994550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1279380" y="1841140"/>
                <a:ext cx="673100" cy="30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35" name="肘形连接符 34"/>
              <p:cNvCxnSpPr/>
              <p:nvPr/>
            </p:nvCxnSpPr>
            <p:spPr bwMode="auto">
              <a:xfrm flipV="1">
                <a:off x="1775401" y="1903782"/>
                <a:ext cx="863598" cy="812254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grpSp>
            <p:nvGrpSpPr>
              <p:cNvPr id="5" name="组合 4"/>
              <p:cNvGrpSpPr/>
              <p:nvPr/>
            </p:nvGrpSpPr>
            <p:grpSpPr>
              <a:xfrm>
                <a:off x="1242868" y="2230801"/>
                <a:ext cx="749300" cy="604889"/>
                <a:chOff x="4444422" y="2189281"/>
                <a:chExt cx="749300" cy="604889"/>
              </a:xfrm>
            </p:grpSpPr>
            <p:sp>
              <p:nvSpPr>
                <p:cNvPr id="60" name="矩形 59"/>
                <p:cNvSpPr/>
                <p:nvPr/>
              </p:nvSpPr>
              <p:spPr bwMode="auto">
                <a:xfrm>
                  <a:off x="4444422" y="2189281"/>
                  <a:ext cx="749300" cy="604889"/>
                </a:xfrm>
                <a:prstGeom prst="rect">
                  <a:avLst/>
                </a:prstGeom>
                <a:solidFill>
                  <a:srgbClr val="05A3DD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4444422" y="2193728"/>
                  <a:ext cx="647700" cy="293778"/>
                </a:xfrm>
                <a:prstGeom prst="rect">
                  <a:avLst/>
                </a:prstGeom>
                <a:solidFill>
                  <a:srgbClr val="05A3DD"/>
                </a:solidFill>
              </p:spPr>
              <p:txBody>
                <a:bodyPr wrap="square" tIns="0" rtlCol="0">
                  <a:no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E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cxnSp>
              <p:nvCxnSpPr>
                <p:cNvPr id="61" name="直接连接符 60"/>
                <p:cNvCxnSpPr>
                  <a:stCxn id="60" idx="1"/>
                  <a:endCxn id="60" idx="3"/>
                </p:cNvCxnSpPr>
                <p:nvPr/>
              </p:nvCxnSpPr>
              <p:spPr bwMode="auto">
                <a:xfrm>
                  <a:off x="4444422" y="2491726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46" name="肘形连接符 45"/>
            <p:cNvCxnSpPr/>
            <p:nvPr/>
          </p:nvCxnSpPr>
          <p:spPr bwMode="auto">
            <a:xfrm flipV="1">
              <a:off x="1646743" y="1519388"/>
              <a:ext cx="1756566" cy="210066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47" name="直接连接符 46"/>
            <p:cNvCxnSpPr/>
            <p:nvPr/>
          </p:nvCxnSpPr>
          <p:spPr bwMode="auto">
            <a:xfrm>
              <a:off x="2609703" y="1391750"/>
              <a:ext cx="342900" cy="27115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直接连接符 48"/>
            <p:cNvCxnSpPr/>
            <p:nvPr/>
          </p:nvCxnSpPr>
          <p:spPr bwMode="auto">
            <a:xfrm flipH="1">
              <a:off x="2609703" y="1391750"/>
              <a:ext cx="342900" cy="2380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肘形连接符 55"/>
            <p:cNvCxnSpPr/>
            <p:nvPr/>
          </p:nvCxnSpPr>
          <p:spPr bwMode="auto">
            <a:xfrm>
              <a:off x="1111827" y="1870364"/>
              <a:ext cx="900689" cy="78463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</p:spTree>
    <p:extLst>
      <p:ext uri="{BB962C8B-B14F-4D97-AF65-F5344CB8AC3E}">
        <p14:creationId xmlns:p14="http://schemas.microsoft.com/office/powerpoint/2010/main" val="117152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在单向链表</a:t>
            </a:r>
            <a:r>
              <a:rPr lang="zh-CN" altLang="en-US" dirty="0" smtClean="0">
                <a:solidFill>
                  <a:srgbClr val="C00000"/>
                </a:solidFill>
              </a:rPr>
              <a:t>中间</a:t>
            </a:r>
            <a:r>
              <a:rPr lang="zh-CN" altLang="en-US" dirty="0" smtClean="0">
                <a:solidFill>
                  <a:srgbClr val="030DCD"/>
                </a:solidFill>
              </a:rPr>
              <a:t>插入</a:t>
            </a:r>
            <a:r>
              <a:rPr lang="zh-CN" altLang="en-US" dirty="0">
                <a:solidFill>
                  <a:srgbClr val="030DCD"/>
                </a:solidFill>
              </a:rPr>
              <a:t>一个结点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723" y="2869340"/>
            <a:ext cx="8089900" cy="295409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在结点</a:t>
            </a:r>
            <a:r>
              <a:rPr lang="en-US" altLang="zh-CN" sz="1800" dirty="0">
                <a:solidFill>
                  <a:srgbClr val="C00000"/>
                </a:solidFill>
              </a:rPr>
              <a:t>p1</a:t>
            </a:r>
            <a:r>
              <a:rPr lang="zh-CN" altLang="en-US" sz="1800" dirty="0">
                <a:solidFill>
                  <a:srgbClr val="C00000"/>
                </a:solidFill>
              </a:rPr>
              <a:t>后插入一个结点；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如在有序链表的合适位置插入一个结点；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*p;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p=(</a:t>
            </a:r>
            <a:r>
              <a:rPr lang="en-US" altLang="zh-CN" sz="1800" dirty="0">
                <a:solidFill>
                  <a:srgbClr val="006600"/>
                </a:solidFill>
              </a:rPr>
              <a:t>struct student *</a:t>
            </a:r>
            <a:r>
              <a:rPr lang="en-US" altLang="zh-CN" sz="1800" dirty="0">
                <a:solidFill>
                  <a:srgbClr val="080808"/>
                </a:solidFill>
              </a:rPr>
              <a:t>)malloc(</a:t>
            </a:r>
            <a:r>
              <a:rPr lang="en-US" altLang="zh-CN" sz="1800" dirty="0" err="1">
                <a:solidFill>
                  <a:srgbClr val="080808"/>
                </a:solidFill>
              </a:rPr>
              <a:t>sizeof</a:t>
            </a:r>
            <a:r>
              <a:rPr lang="en-US" altLang="zh-CN" sz="1800" dirty="0">
                <a:solidFill>
                  <a:srgbClr val="080808"/>
                </a:solidFill>
              </a:rPr>
              <a:t>(struct student));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初始化新建结点</a:t>
            </a:r>
            <a:r>
              <a:rPr lang="en-US" altLang="zh-CN" sz="1800" dirty="0">
                <a:solidFill>
                  <a:srgbClr val="080808"/>
                </a:solidFill>
              </a:rPr>
              <a:t>p</a:t>
            </a:r>
            <a:r>
              <a:rPr lang="zh-CN" altLang="en-US" sz="1800" dirty="0">
                <a:solidFill>
                  <a:srgbClr val="080808"/>
                </a:solidFill>
              </a:rPr>
              <a:t>的数据，特别地，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p-&gt;next=NULL</a:t>
            </a:r>
            <a:r>
              <a:rPr lang="zh-CN" altLang="en-US" sz="1800" dirty="0">
                <a:solidFill>
                  <a:srgbClr val="030DCD"/>
                </a:solidFill>
              </a:rPr>
              <a:t>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0303DF"/>
                </a:solidFill>
              </a:rPr>
              <a:t>p-&gt;next=p1-&gt;next;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0303DF"/>
                </a:solidFill>
              </a:rPr>
              <a:t>p1-&gt;next=p;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在链表的尾部插入一个结点的操作，可以与上述过程统一；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//</a:t>
            </a:r>
            <a:r>
              <a:rPr lang="zh-CN" altLang="en-US" sz="1800" b="1" dirty="0">
                <a:solidFill>
                  <a:srgbClr val="7030A0"/>
                </a:solidFill>
              </a:rPr>
              <a:t>插入一个结点操作，需要知道插入位置的前一个结点（</a:t>
            </a:r>
            <a:r>
              <a:rPr lang="en-US" altLang="zh-CN" sz="1800" b="1" dirty="0" err="1">
                <a:solidFill>
                  <a:srgbClr val="7030A0"/>
                </a:solidFill>
              </a:rPr>
              <a:t>prev</a:t>
            </a:r>
            <a:r>
              <a:rPr lang="zh-CN" altLang="en-US" sz="1800" b="1" dirty="0">
                <a:solidFill>
                  <a:srgbClr val="7030A0"/>
                </a:solidFill>
              </a:rPr>
              <a:t>）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endParaRPr lang="en-US" altLang="zh-CN" dirty="0">
              <a:solidFill>
                <a:srgbClr val="006600"/>
              </a:solidFill>
            </a:endParaRPr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883805" y="1045113"/>
            <a:ext cx="7218795" cy="1691435"/>
            <a:chOff x="883805" y="1045113"/>
            <a:chExt cx="7218795" cy="2059735"/>
          </a:xfrm>
        </p:grpSpPr>
        <p:sp>
          <p:nvSpPr>
            <p:cNvPr id="11" name="文本框 10"/>
            <p:cNvSpPr txBox="1"/>
            <p:nvPr/>
          </p:nvSpPr>
          <p:spPr>
            <a:xfrm>
              <a:off x="883805" y="1514807"/>
              <a:ext cx="74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1943100" y="1478732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>
              <a:stCxn id="18" idx="1"/>
              <a:endCxn id="18" idx="3"/>
            </p:cNvCxnSpPr>
            <p:nvPr/>
          </p:nvCxnSpPr>
          <p:spPr bwMode="auto">
            <a:xfrm>
              <a:off x="1943100" y="1847032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1981200" y="1528261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24" name="肘形连接符 23"/>
            <p:cNvCxnSpPr>
              <a:endCxn id="22" idx="1"/>
            </p:cNvCxnSpPr>
            <p:nvPr/>
          </p:nvCxnSpPr>
          <p:spPr bwMode="auto">
            <a:xfrm flipV="1">
              <a:off x="1530350" y="1712928"/>
              <a:ext cx="450850" cy="239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25" name="组合 24"/>
            <p:cNvGrpSpPr/>
            <p:nvPr/>
          </p:nvGrpSpPr>
          <p:grpSpPr>
            <a:xfrm>
              <a:off x="3213100" y="1045113"/>
              <a:ext cx="1879600" cy="1295673"/>
              <a:chOff x="673100" y="1242542"/>
              <a:chExt cx="1879600" cy="1295673"/>
            </a:xfrm>
          </p:grpSpPr>
          <p:sp>
            <p:nvSpPr>
              <p:cNvPr id="26" name="矩形 2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7" name="直接连接符 26"/>
              <p:cNvCxnSpPr>
                <a:stCxn id="26" idx="1"/>
                <a:endCxn id="2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711200" y="1242542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p1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1879600" y="216888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1" name="肘形连接符 30"/>
            <p:cNvCxnSpPr>
              <a:endCxn id="30" idx="1"/>
            </p:cNvCxnSpPr>
            <p:nvPr/>
          </p:nvCxnSpPr>
          <p:spPr bwMode="auto">
            <a:xfrm flipV="1">
              <a:off x="2425700" y="1713166"/>
              <a:ext cx="825500" cy="35587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34" name="组合 33"/>
            <p:cNvGrpSpPr/>
            <p:nvPr/>
          </p:nvGrpSpPr>
          <p:grpSpPr>
            <a:xfrm>
              <a:off x="6057900" y="1518420"/>
              <a:ext cx="749300" cy="736600"/>
              <a:chOff x="673100" y="1676400"/>
              <a:chExt cx="749300" cy="736600"/>
            </a:xfrm>
          </p:grpSpPr>
          <p:sp>
            <p:nvSpPr>
              <p:cNvPr id="36" name="矩形 3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" name="直接连接符 36"/>
              <p:cNvCxnSpPr>
                <a:stCxn id="36" idx="1"/>
                <a:endCxn id="3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" name="文本框 3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5" name="肘形连接符 34"/>
            <p:cNvCxnSpPr>
              <a:endCxn id="62" idx="1"/>
            </p:cNvCxnSpPr>
            <p:nvPr/>
          </p:nvCxnSpPr>
          <p:spPr bwMode="auto">
            <a:xfrm>
              <a:off x="3689350" y="2044437"/>
              <a:ext cx="755650" cy="459992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2" name="组合 41"/>
            <p:cNvGrpSpPr/>
            <p:nvPr/>
          </p:nvGrpSpPr>
          <p:grpSpPr>
            <a:xfrm>
              <a:off x="7315200" y="1515839"/>
              <a:ext cx="749300" cy="736600"/>
              <a:chOff x="673100" y="1676400"/>
              <a:chExt cx="749300" cy="736600"/>
            </a:xfrm>
          </p:grpSpPr>
          <p:sp>
            <p:nvSpPr>
              <p:cNvPr id="44" name="矩形 43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5" name="直接连接符 44"/>
              <p:cNvCxnSpPr>
                <a:stCxn id="44" idx="1"/>
                <a:endCxn id="44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" name="文本框 4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3" name="肘形连接符 42"/>
            <p:cNvCxnSpPr>
              <a:endCxn id="48" idx="1"/>
            </p:cNvCxnSpPr>
            <p:nvPr/>
          </p:nvCxnSpPr>
          <p:spPr bwMode="auto">
            <a:xfrm flipV="1">
              <a:off x="6629400" y="1750034"/>
              <a:ext cx="723900" cy="31901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7429500" y="1823931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4406900" y="2368248"/>
              <a:ext cx="749300" cy="736600"/>
            </a:xfrm>
            <a:prstGeom prst="rect">
              <a:avLst/>
            </a:prstGeom>
            <a:solidFill>
              <a:srgbClr val="05A3DD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445000" y="2417777"/>
              <a:ext cx="647700" cy="369332"/>
            </a:xfrm>
            <a:prstGeom prst="rect">
              <a:avLst/>
            </a:prstGeom>
            <a:solidFill>
              <a:srgbClr val="05A3DD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E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75" name="肘形连接符 74"/>
            <p:cNvCxnSpPr>
              <a:endCxn id="40" idx="1"/>
            </p:cNvCxnSpPr>
            <p:nvPr/>
          </p:nvCxnSpPr>
          <p:spPr bwMode="auto">
            <a:xfrm flipV="1">
              <a:off x="4857750" y="1752615"/>
              <a:ext cx="1238250" cy="119517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1" name="肘形连接符 80"/>
            <p:cNvCxnSpPr/>
            <p:nvPr/>
          </p:nvCxnSpPr>
          <p:spPr bwMode="auto">
            <a:xfrm flipV="1">
              <a:off x="3898900" y="1598633"/>
              <a:ext cx="2139950" cy="33031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61" name="直接连接符 60"/>
            <p:cNvCxnSpPr>
              <a:stCxn id="60" idx="1"/>
              <a:endCxn id="60" idx="3"/>
            </p:cNvCxnSpPr>
            <p:nvPr/>
          </p:nvCxnSpPr>
          <p:spPr bwMode="auto">
            <a:xfrm>
              <a:off x="4406900" y="2736548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9" name="组合 98"/>
            <p:cNvGrpSpPr/>
            <p:nvPr/>
          </p:nvGrpSpPr>
          <p:grpSpPr>
            <a:xfrm>
              <a:off x="4978400" y="1478971"/>
              <a:ext cx="342900" cy="330200"/>
              <a:chOff x="7429500" y="3429000"/>
              <a:chExt cx="342900" cy="330200"/>
            </a:xfrm>
          </p:grpSpPr>
          <p:cxnSp>
            <p:nvCxnSpPr>
              <p:cNvPr id="93" name="直接连接符 92"/>
              <p:cNvCxnSpPr/>
              <p:nvPr/>
            </p:nvCxnSpPr>
            <p:spPr bwMode="auto">
              <a:xfrm>
                <a:off x="7429500" y="3429000"/>
                <a:ext cx="342900" cy="3302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直接连接符 94"/>
              <p:cNvCxnSpPr/>
              <p:nvPr/>
            </p:nvCxnSpPr>
            <p:spPr bwMode="auto">
              <a:xfrm flipH="1">
                <a:off x="7429500" y="3429000"/>
                <a:ext cx="342900" cy="28986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81735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5588"/>
            <a:ext cx="8297498" cy="584200"/>
          </a:xfrm>
        </p:spPr>
        <p:txBody>
          <a:bodyPr/>
          <a:lstStyle/>
          <a:p>
            <a:r>
              <a:rPr lang="zh-CN" altLang="en-US" dirty="0"/>
              <a:t>在单向链表</a:t>
            </a:r>
            <a:r>
              <a:rPr lang="zh-CN" altLang="en-US" dirty="0">
                <a:solidFill>
                  <a:srgbClr val="C00000"/>
                </a:solidFill>
              </a:rPr>
              <a:t>尾部</a:t>
            </a:r>
            <a:r>
              <a:rPr lang="zh-CN" altLang="en-US" dirty="0"/>
              <a:t>插入一个结点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030DCD"/>
                </a:solidFill>
              </a:rPr>
              <a:t>与中间插入操作一致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3127778"/>
            <a:ext cx="8089900" cy="27439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在链表最后插入一个结点；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//</a:t>
            </a:r>
            <a:r>
              <a:rPr lang="zh-CN" altLang="en-US" sz="1800" dirty="0">
                <a:solidFill>
                  <a:srgbClr val="7030A0"/>
                </a:solidFill>
              </a:rPr>
              <a:t>假设原链表的最后一个结点是</a:t>
            </a:r>
            <a:r>
              <a:rPr lang="en-US" altLang="zh-CN" sz="1800" dirty="0">
                <a:solidFill>
                  <a:srgbClr val="7030A0"/>
                </a:solidFill>
              </a:rPr>
              <a:t>p1</a:t>
            </a:r>
            <a:r>
              <a:rPr lang="zh-CN" altLang="en-US" sz="1800" dirty="0">
                <a:solidFill>
                  <a:srgbClr val="7030A0"/>
                </a:solidFill>
              </a:rPr>
              <a:t>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struct student *p;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p=(</a:t>
            </a:r>
            <a:r>
              <a:rPr lang="en-US" altLang="zh-CN" sz="1800" dirty="0">
                <a:solidFill>
                  <a:srgbClr val="006600"/>
                </a:solidFill>
              </a:rPr>
              <a:t>struct student *</a:t>
            </a:r>
            <a:r>
              <a:rPr lang="en-US" altLang="zh-CN" sz="1800" dirty="0">
                <a:solidFill>
                  <a:srgbClr val="080808"/>
                </a:solidFill>
              </a:rPr>
              <a:t>)malloc(</a:t>
            </a:r>
            <a:r>
              <a:rPr lang="en-US" altLang="zh-CN" sz="1800" dirty="0" err="1">
                <a:solidFill>
                  <a:srgbClr val="080808"/>
                </a:solidFill>
              </a:rPr>
              <a:t>sizeof</a:t>
            </a:r>
            <a:r>
              <a:rPr lang="en-US" altLang="zh-CN" sz="1800" dirty="0">
                <a:solidFill>
                  <a:srgbClr val="080808"/>
                </a:solidFill>
              </a:rPr>
              <a:t>(struct student));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初始化新建结点</a:t>
            </a:r>
            <a:r>
              <a:rPr lang="en-US" altLang="zh-CN" sz="1800" dirty="0">
                <a:solidFill>
                  <a:srgbClr val="080808"/>
                </a:solidFill>
              </a:rPr>
              <a:t>p</a:t>
            </a:r>
            <a:r>
              <a:rPr lang="zh-CN" altLang="en-US" sz="1800" dirty="0">
                <a:solidFill>
                  <a:srgbClr val="080808"/>
                </a:solidFill>
              </a:rPr>
              <a:t>的数据，特别地，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p-&gt;next=NULL</a:t>
            </a:r>
            <a:r>
              <a:rPr lang="zh-CN" altLang="en-US" sz="1800" dirty="0">
                <a:solidFill>
                  <a:srgbClr val="030DCD"/>
                </a:solidFill>
              </a:rPr>
              <a:t>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0303DF"/>
                </a:solidFill>
              </a:rPr>
              <a:t>p-&gt;next=p1-&gt;next;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u="sng" dirty="0">
                <a:solidFill>
                  <a:srgbClr val="0303DF"/>
                </a:solidFill>
              </a:rPr>
              <a:t>p1-&gt;next=p;</a:t>
            </a:r>
          </a:p>
          <a:p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插入一个结点操作，需要知道插入位置的前一个结点（</a:t>
            </a:r>
            <a:r>
              <a:rPr lang="en-US" altLang="zh-CN" sz="1800" dirty="0" err="1">
                <a:solidFill>
                  <a:srgbClr val="006600"/>
                </a:solidFill>
              </a:rPr>
              <a:t>prev</a:t>
            </a:r>
            <a:r>
              <a:rPr lang="zh-CN" altLang="en-US" sz="1800" dirty="0">
                <a:solidFill>
                  <a:srgbClr val="006600"/>
                </a:solidFill>
              </a:rPr>
              <a:t>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endParaRPr lang="en-US" altLang="zh-CN" dirty="0">
              <a:solidFill>
                <a:srgbClr val="006600"/>
              </a:solidFill>
            </a:endParaRPr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61291" y="1250207"/>
            <a:ext cx="7493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303DF"/>
                </a:solidFill>
                <a:latin typeface="+mn-ea"/>
                <a:ea typeface="+mn-ea"/>
              </a:rPr>
              <a:t>head</a:t>
            </a:r>
            <a:endParaRPr lang="zh-CN" altLang="en-US" b="1" dirty="0">
              <a:solidFill>
                <a:srgbClr val="0303DF"/>
              </a:solidFill>
              <a:latin typeface="+mn-ea"/>
              <a:ea typeface="+mn-ea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620586" y="1220583"/>
            <a:ext cx="749300" cy="60488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>
            <a:stCxn id="18" idx="1"/>
            <a:endCxn id="18" idx="3"/>
          </p:cNvCxnSpPr>
          <p:nvPr/>
        </p:nvCxnSpPr>
        <p:spPr bwMode="auto">
          <a:xfrm>
            <a:off x="2620586" y="1523027"/>
            <a:ext cx="749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文本框 21"/>
          <p:cNvSpPr txBox="1"/>
          <p:nvPr/>
        </p:nvSpPr>
        <p:spPr>
          <a:xfrm>
            <a:off x="2590017" y="1162737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A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cxnSp>
        <p:nvCxnSpPr>
          <p:cNvPr id="24" name="肘形连接符 23"/>
          <p:cNvCxnSpPr>
            <a:endCxn id="22" idx="1"/>
          </p:cNvCxnSpPr>
          <p:nvPr/>
        </p:nvCxnSpPr>
        <p:spPr bwMode="auto">
          <a:xfrm flipV="1">
            <a:off x="2139167" y="1314383"/>
            <a:ext cx="450850" cy="196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25" name="组合 24"/>
          <p:cNvGrpSpPr/>
          <p:nvPr/>
        </p:nvGrpSpPr>
        <p:grpSpPr>
          <a:xfrm>
            <a:off x="3890586" y="1203411"/>
            <a:ext cx="749300" cy="622259"/>
            <a:chOff x="673100" y="1655248"/>
            <a:chExt cx="749300" cy="757752"/>
          </a:xfrm>
        </p:grpSpPr>
        <p:sp>
          <p:nvSpPr>
            <p:cNvPr id="26" name="矩形 25"/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stCxn id="26" idx="1"/>
              <a:endCxn id="26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" name="文本框 29"/>
            <p:cNvSpPr txBox="1"/>
            <p:nvPr/>
          </p:nvSpPr>
          <p:spPr>
            <a:xfrm>
              <a:off x="681414" y="1655248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B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1" name="肘形连接符 30"/>
          <p:cNvCxnSpPr>
            <a:endCxn id="30" idx="1"/>
          </p:cNvCxnSpPr>
          <p:nvPr/>
        </p:nvCxnSpPr>
        <p:spPr bwMode="auto">
          <a:xfrm flipV="1">
            <a:off x="3073400" y="1355055"/>
            <a:ext cx="825500" cy="29224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34" name="组合 33"/>
          <p:cNvGrpSpPr/>
          <p:nvPr/>
        </p:nvGrpSpPr>
        <p:grpSpPr>
          <a:xfrm>
            <a:off x="5160660" y="1202532"/>
            <a:ext cx="749300" cy="646440"/>
            <a:chOff x="673100" y="1625802"/>
            <a:chExt cx="749300" cy="787198"/>
          </a:xfrm>
        </p:grpSpPr>
        <p:sp>
          <p:nvSpPr>
            <p:cNvPr id="36" name="矩形 35"/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>
              <a:stCxn id="36" idx="1"/>
              <a:endCxn id="36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" name="文本框 39"/>
            <p:cNvSpPr txBox="1"/>
            <p:nvPr/>
          </p:nvSpPr>
          <p:spPr>
            <a:xfrm>
              <a:off x="685965" y="1625802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C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390194" y="1207312"/>
            <a:ext cx="777066" cy="639541"/>
            <a:chOff x="645334" y="1634203"/>
            <a:chExt cx="777066" cy="778797"/>
          </a:xfrm>
        </p:grpSpPr>
        <p:sp>
          <p:nvSpPr>
            <p:cNvPr id="44" name="矩形 43"/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>
              <a:stCxn id="44" idx="1"/>
              <a:endCxn id="44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" name="文本框 47"/>
            <p:cNvSpPr txBox="1"/>
            <p:nvPr/>
          </p:nvSpPr>
          <p:spPr>
            <a:xfrm>
              <a:off x="645334" y="1634203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D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43" name="肘形连接符 42"/>
          <p:cNvCxnSpPr>
            <a:cxnSpLocks/>
            <a:endCxn id="48" idx="1"/>
          </p:cNvCxnSpPr>
          <p:nvPr/>
        </p:nvCxnSpPr>
        <p:spPr bwMode="auto">
          <a:xfrm flipV="1">
            <a:off x="5655960" y="1358958"/>
            <a:ext cx="734234" cy="352712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60" name="矩形 59"/>
          <p:cNvSpPr/>
          <p:nvPr/>
        </p:nvSpPr>
        <p:spPr bwMode="auto">
          <a:xfrm>
            <a:off x="7624322" y="2258709"/>
            <a:ext cx="749300" cy="687717"/>
          </a:xfrm>
          <a:prstGeom prst="rect">
            <a:avLst/>
          </a:prstGeom>
          <a:solidFill>
            <a:srgbClr val="05A3DD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652825" y="2260797"/>
            <a:ext cx="647700" cy="303292"/>
          </a:xfrm>
          <a:prstGeom prst="rect">
            <a:avLst/>
          </a:prstGeom>
          <a:solidFill>
            <a:srgbClr val="05A3DD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E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cxnSp>
        <p:nvCxnSpPr>
          <p:cNvPr id="61" name="直接连接符 60"/>
          <p:cNvCxnSpPr>
            <a:cxnSpLocks/>
            <a:stCxn id="60" idx="1"/>
            <a:endCxn id="60" idx="3"/>
          </p:cNvCxnSpPr>
          <p:nvPr/>
        </p:nvCxnSpPr>
        <p:spPr bwMode="auto">
          <a:xfrm>
            <a:off x="7624322" y="2602568"/>
            <a:ext cx="749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肘形连接符 30">
            <a:extLst>
              <a:ext uri="{FF2B5EF4-FFF2-40B4-BE49-F238E27FC236}">
                <a16:creationId xmlns:a16="http://schemas.microsoft.com/office/drawing/2014/main" id="{A1AC9494-EB2F-431A-8D29-AC7E25789727}"/>
              </a:ext>
            </a:extLst>
          </p:cNvPr>
          <p:cNvCxnSpPr/>
          <p:nvPr/>
        </p:nvCxnSpPr>
        <p:spPr bwMode="auto">
          <a:xfrm flipV="1">
            <a:off x="4342691" y="1413098"/>
            <a:ext cx="825500" cy="29224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58" name="文本框 57"/>
          <p:cNvSpPr txBox="1"/>
          <p:nvPr/>
        </p:nvSpPr>
        <p:spPr>
          <a:xfrm>
            <a:off x="7669471" y="257233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NULL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0CC786B-3316-4093-A927-4C9D47D081A9}"/>
              </a:ext>
            </a:extLst>
          </p:cNvPr>
          <p:cNvSpPr txBox="1"/>
          <p:nvPr/>
        </p:nvSpPr>
        <p:spPr>
          <a:xfrm>
            <a:off x="6266545" y="850405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p1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F2BBD3A-C411-4BED-9B8D-E4C952A39C9F}"/>
              </a:ext>
            </a:extLst>
          </p:cNvPr>
          <p:cNvSpPr txBox="1"/>
          <p:nvPr/>
        </p:nvSpPr>
        <p:spPr>
          <a:xfrm>
            <a:off x="7624322" y="1861977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p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EB206E-9E56-4D5E-A6FC-1B1D98C98E7D}"/>
              </a:ext>
            </a:extLst>
          </p:cNvPr>
          <p:cNvSpPr txBox="1"/>
          <p:nvPr/>
        </p:nvSpPr>
        <p:spPr>
          <a:xfrm>
            <a:off x="1561291" y="2314213"/>
            <a:ext cx="7493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303DF"/>
                </a:solidFill>
                <a:latin typeface="+mn-ea"/>
                <a:ea typeface="+mn-ea"/>
              </a:rPr>
              <a:t>head</a:t>
            </a:r>
            <a:endParaRPr lang="zh-CN" altLang="en-US" b="1" dirty="0">
              <a:solidFill>
                <a:srgbClr val="0303DF"/>
              </a:solidFill>
              <a:latin typeface="+mn-ea"/>
              <a:ea typeface="+mn-ea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A0BDB1-E1F9-40DB-A706-A5795D0106A7}"/>
              </a:ext>
            </a:extLst>
          </p:cNvPr>
          <p:cNvSpPr/>
          <p:nvPr/>
        </p:nvSpPr>
        <p:spPr bwMode="auto">
          <a:xfrm>
            <a:off x="2620586" y="2284589"/>
            <a:ext cx="749300" cy="60488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EB2AD1C-5C33-4E20-80D8-3C77AC7AB9E6}"/>
              </a:ext>
            </a:extLst>
          </p:cNvPr>
          <p:cNvCxnSpPr>
            <a:stCxn id="38" idx="1"/>
            <a:endCxn id="38" idx="3"/>
          </p:cNvCxnSpPr>
          <p:nvPr/>
        </p:nvCxnSpPr>
        <p:spPr bwMode="auto">
          <a:xfrm>
            <a:off x="2620586" y="2587033"/>
            <a:ext cx="7493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18F7A62-1AB9-48F4-A4B2-4EBE6D39C71E}"/>
              </a:ext>
            </a:extLst>
          </p:cNvPr>
          <p:cNvSpPr txBox="1"/>
          <p:nvPr/>
        </p:nvSpPr>
        <p:spPr>
          <a:xfrm>
            <a:off x="2615380" y="2232770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A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cxnSp>
        <p:nvCxnSpPr>
          <p:cNvPr id="47" name="肘形连接符 23">
            <a:extLst>
              <a:ext uri="{FF2B5EF4-FFF2-40B4-BE49-F238E27FC236}">
                <a16:creationId xmlns:a16="http://schemas.microsoft.com/office/drawing/2014/main" id="{EBDF3321-5F8E-4343-B450-C9D3E69E30A3}"/>
              </a:ext>
            </a:extLst>
          </p:cNvPr>
          <p:cNvCxnSpPr>
            <a:endCxn id="46" idx="1"/>
          </p:cNvCxnSpPr>
          <p:nvPr/>
        </p:nvCxnSpPr>
        <p:spPr bwMode="auto">
          <a:xfrm flipV="1">
            <a:off x="2164530" y="2384416"/>
            <a:ext cx="450850" cy="196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E085DAF-2409-43CE-AAB3-8F4B1A26D403}"/>
              </a:ext>
            </a:extLst>
          </p:cNvPr>
          <p:cNvGrpSpPr/>
          <p:nvPr/>
        </p:nvGrpSpPr>
        <p:grpSpPr>
          <a:xfrm>
            <a:off x="3890586" y="2258553"/>
            <a:ext cx="749300" cy="631122"/>
            <a:chOff x="673100" y="1644455"/>
            <a:chExt cx="749300" cy="768545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627236E-848B-4313-999D-52FA460E605B}"/>
                </a:ext>
              </a:extLst>
            </p:cNvPr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88D92B1-BB46-476C-B5AA-37327B99A918}"/>
                </a:ext>
              </a:extLst>
            </p:cNvPr>
            <p:cNvCxnSpPr>
              <a:stCxn id="53" idx="1"/>
              <a:endCxn id="53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A35FAE3-AC2F-499C-BA70-F28C64B31FFF}"/>
                </a:ext>
              </a:extLst>
            </p:cNvPr>
            <p:cNvSpPr txBox="1"/>
            <p:nvPr/>
          </p:nvSpPr>
          <p:spPr>
            <a:xfrm>
              <a:off x="706068" y="1644455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B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56" name="肘形连接符 30">
            <a:extLst>
              <a:ext uri="{FF2B5EF4-FFF2-40B4-BE49-F238E27FC236}">
                <a16:creationId xmlns:a16="http://schemas.microsoft.com/office/drawing/2014/main" id="{B950BC62-50B6-4953-9E95-238F6FFF954F}"/>
              </a:ext>
            </a:extLst>
          </p:cNvPr>
          <p:cNvCxnSpPr>
            <a:endCxn id="55" idx="1"/>
          </p:cNvCxnSpPr>
          <p:nvPr/>
        </p:nvCxnSpPr>
        <p:spPr bwMode="auto">
          <a:xfrm flipV="1">
            <a:off x="3098054" y="2410198"/>
            <a:ext cx="825500" cy="29224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85DACEC-6038-4CBA-AC14-3386A72CE4F9}"/>
              </a:ext>
            </a:extLst>
          </p:cNvPr>
          <p:cNvGrpSpPr/>
          <p:nvPr/>
        </p:nvGrpSpPr>
        <p:grpSpPr>
          <a:xfrm>
            <a:off x="5158392" y="2265833"/>
            <a:ext cx="751568" cy="647143"/>
            <a:chOff x="670832" y="1624945"/>
            <a:chExt cx="751568" cy="788055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21D91FB-EC83-447E-BAD2-C7D7DCD7BCC4}"/>
                </a:ext>
              </a:extLst>
            </p:cNvPr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C017729-37D9-4261-9920-DCF2222EFB47}"/>
                </a:ext>
              </a:extLst>
            </p:cNvPr>
            <p:cNvCxnSpPr>
              <a:stCxn id="59" idx="1"/>
              <a:endCxn id="59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15D4C350-86F4-4003-A787-29C999B0DBA2}"/>
                </a:ext>
              </a:extLst>
            </p:cNvPr>
            <p:cNvSpPr txBox="1"/>
            <p:nvPr/>
          </p:nvSpPr>
          <p:spPr>
            <a:xfrm>
              <a:off x="670832" y="1624945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C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0BBD35C7-4700-47B3-A778-BF888FE34A85}"/>
              </a:ext>
            </a:extLst>
          </p:cNvPr>
          <p:cNvGrpSpPr/>
          <p:nvPr/>
        </p:nvGrpSpPr>
        <p:grpSpPr>
          <a:xfrm>
            <a:off x="6397554" y="2278877"/>
            <a:ext cx="769706" cy="631982"/>
            <a:chOff x="652694" y="1643408"/>
            <a:chExt cx="769706" cy="769592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172E982-A8B3-4287-A110-12D4B088F81E}"/>
                </a:ext>
              </a:extLst>
            </p:cNvPr>
            <p:cNvSpPr/>
            <p:nvPr/>
          </p:nvSpPr>
          <p:spPr bwMode="auto">
            <a:xfrm>
              <a:off x="673100" y="1676400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9E1A6C0-94E2-4865-8D70-6D71744D899D}"/>
                </a:ext>
              </a:extLst>
            </p:cNvPr>
            <p:cNvCxnSpPr>
              <a:stCxn id="66" idx="1"/>
              <a:endCxn id="66" idx="3"/>
            </p:cNvCxnSpPr>
            <p:nvPr/>
          </p:nvCxnSpPr>
          <p:spPr bwMode="auto">
            <a:xfrm>
              <a:off x="673100" y="2044700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449376B-7D2C-41A4-B4E2-61188CB52AEE}"/>
                </a:ext>
              </a:extLst>
            </p:cNvPr>
            <p:cNvSpPr txBox="1"/>
            <p:nvPr/>
          </p:nvSpPr>
          <p:spPr>
            <a:xfrm>
              <a:off x="652694" y="1643408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D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69" name="肘形连接符 42">
            <a:extLst>
              <a:ext uri="{FF2B5EF4-FFF2-40B4-BE49-F238E27FC236}">
                <a16:creationId xmlns:a16="http://schemas.microsoft.com/office/drawing/2014/main" id="{6422759F-86EF-42A1-98EF-BA0E31559F77}"/>
              </a:ext>
            </a:extLst>
          </p:cNvPr>
          <p:cNvCxnSpPr>
            <a:cxnSpLocks/>
            <a:endCxn id="68" idx="1"/>
          </p:cNvCxnSpPr>
          <p:nvPr/>
        </p:nvCxnSpPr>
        <p:spPr bwMode="auto">
          <a:xfrm flipV="1">
            <a:off x="5673654" y="2430523"/>
            <a:ext cx="723900" cy="362992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70" name="肘形连接符 30">
            <a:extLst>
              <a:ext uri="{FF2B5EF4-FFF2-40B4-BE49-F238E27FC236}">
                <a16:creationId xmlns:a16="http://schemas.microsoft.com/office/drawing/2014/main" id="{5EAB039E-4A01-4C22-8496-0751D4D94891}"/>
              </a:ext>
            </a:extLst>
          </p:cNvPr>
          <p:cNvCxnSpPr/>
          <p:nvPr/>
        </p:nvCxnSpPr>
        <p:spPr bwMode="auto">
          <a:xfrm flipV="1">
            <a:off x="4342691" y="2477104"/>
            <a:ext cx="825500" cy="29224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88E8D555-603A-413C-AF68-633E09CCB751}"/>
              </a:ext>
            </a:extLst>
          </p:cNvPr>
          <p:cNvSpPr txBox="1"/>
          <p:nvPr/>
        </p:nvSpPr>
        <p:spPr>
          <a:xfrm>
            <a:off x="6342047" y="1879322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p1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0F0217E-AF67-4EF5-B1BF-EAC533C32273}"/>
              </a:ext>
            </a:extLst>
          </p:cNvPr>
          <p:cNvSpPr txBox="1"/>
          <p:nvPr/>
        </p:nvSpPr>
        <p:spPr>
          <a:xfrm>
            <a:off x="6532260" y="1516469"/>
            <a:ext cx="673100" cy="30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303DF"/>
                </a:solidFill>
                <a:latin typeface="+mn-ea"/>
                <a:ea typeface="+mn-ea"/>
              </a:rPr>
              <a:t>NULL</a:t>
            </a:r>
            <a:endParaRPr lang="zh-CN" altLang="en-US" b="1" dirty="0">
              <a:solidFill>
                <a:srgbClr val="0303DF"/>
              </a:solidFill>
              <a:latin typeface="+mn-ea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28C6F95-3DD2-4556-AA67-E2487CF4E492}"/>
              </a:ext>
            </a:extLst>
          </p:cNvPr>
          <p:cNvSpPr txBox="1"/>
          <p:nvPr/>
        </p:nvSpPr>
        <p:spPr>
          <a:xfrm>
            <a:off x="602523" y="1246537"/>
            <a:ext cx="94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原链表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A3DDD03-C895-442E-BA8A-C2B681E89C23}"/>
              </a:ext>
            </a:extLst>
          </p:cNvPr>
          <p:cNvSpPr txBox="1"/>
          <p:nvPr/>
        </p:nvSpPr>
        <p:spPr>
          <a:xfrm>
            <a:off x="602523" y="2260797"/>
            <a:ext cx="942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尾部插入结点</a:t>
            </a:r>
          </a:p>
        </p:txBody>
      </p:sp>
      <p:cxnSp>
        <p:nvCxnSpPr>
          <p:cNvPr id="49" name="肘形连接符 42">
            <a:extLst>
              <a:ext uri="{FF2B5EF4-FFF2-40B4-BE49-F238E27FC236}">
                <a16:creationId xmlns:a16="http://schemas.microsoft.com/office/drawing/2014/main" id="{2CB5CA14-FD46-4669-9467-3280DEFF5E5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99708" y="2384416"/>
            <a:ext cx="724614" cy="37256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03402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在一个</a:t>
            </a:r>
            <a:r>
              <a:rPr lang="zh-CN" altLang="en-US" dirty="0">
                <a:solidFill>
                  <a:srgbClr val="030DCD"/>
                </a:solidFill>
              </a:rPr>
              <a:t>有序链表</a:t>
            </a:r>
            <a:r>
              <a:rPr lang="zh-CN" altLang="en-US" dirty="0"/>
              <a:t>中，插入一个结点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在一个</a:t>
            </a:r>
            <a:r>
              <a:rPr lang="zh-CN" altLang="en-US" dirty="0">
                <a:solidFill>
                  <a:srgbClr val="C00000"/>
                </a:solidFill>
              </a:rPr>
              <a:t>有序</a:t>
            </a:r>
            <a:r>
              <a:rPr lang="zh-CN" altLang="en-US" dirty="0"/>
              <a:t>链表中，插入一个结点</a:t>
            </a:r>
            <a:endParaRPr lang="en-US" altLang="zh-CN" dirty="0"/>
          </a:p>
          <a:p>
            <a:pPr marL="971550" lvl="1"/>
            <a:r>
              <a:rPr lang="zh-CN" altLang="en-US" dirty="0"/>
              <a:t>假定一个链表按照学生的</a:t>
            </a:r>
            <a:r>
              <a:rPr lang="en-US" altLang="zh-CN" dirty="0"/>
              <a:t>ID</a:t>
            </a:r>
            <a:r>
              <a:rPr lang="zh-CN" altLang="en-US" dirty="0"/>
              <a:t>进行升序排列；</a:t>
            </a:r>
            <a:endParaRPr lang="en-US" altLang="zh-CN" dirty="0"/>
          </a:p>
          <a:p>
            <a:pPr marL="971550" lvl="1"/>
            <a:r>
              <a:rPr lang="zh-CN" altLang="en-US" dirty="0"/>
              <a:t>将新来的一个同学按照其</a:t>
            </a:r>
            <a:r>
              <a:rPr lang="en-US" altLang="zh-CN" dirty="0"/>
              <a:t>ID</a:t>
            </a:r>
            <a:r>
              <a:rPr lang="zh-CN" altLang="en-US" dirty="0"/>
              <a:t>插入到相应位置，使该链表仍为按</a:t>
            </a:r>
            <a:r>
              <a:rPr lang="en-US" altLang="zh-CN" dirty="0"/>
              <a:t>ID</a:t>
            </a:r>
            <a:r>
              <a:rPr lang="zh-CN" altLang="en-US" dirty="0"/>
              <a:t>升序排列；</a:t>
            </a:r>
            <a:endParaRPr lang="en-US" altLang="zh-CN" dirty="0"/>
          </a:p>
          <a:p>
            <a:pPr marL="971550" lvl="1"/>
            <a:endParaRPr lang="en-US" altLang="zh-CN" dirty="0"/>
          </a:p>
          <a:p>
            <a:pPr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student {</a:t>
            </a:r>
          </a:p>
          <a:p>
            <a:pPr lvl="1" indent="0">
              <a:buNone/>
            </a:pPr>
            <a:r>
              <a:rPr lang="en-US" altLang="zh-CN" dirty="0"/>
              <a:t>	int ID;</a:t>
            </a:r>
          </a:p>
          <a:p>
            <a:pPr lvl="1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学生其它信息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struct</a:t>
            </a:r>
            <a:r>
              <a:rPr lang="en-US" altLang="zh-CN" dirty="0"/>
              <a:t> student *next;</a:t>
            </a:r>
          </a:p>
          <a:p>
            <a:pPr lvl="1" indent="0">
              <a:buNone/>
            </a:pPr>
            <a:r>
              <a:rPr lang="en-US" altLang="zh-C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3243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在有序表中插入一个结点例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伪代码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新建结点</a:t>
            </a:r>
            <a:r>
              <a:rPr lang="en-US" altLang="zh-CN" sz="1800" dirty="0" err="1"/>
              <a:t>newNode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-&gt;ID=ID, </a:t>
            </a:r>
            <a:r>
              <a:rPr lang="en-US" altLang="zh-CN" sz="1800" dirty="0" err="1">
                <a:solidFill>
                  <a:srgbClr val="030DCD"/>
                </a:solidFill>
              </a:rPr>
              <a:t>newNode</a:t>
            </a:r>
            <a:r>
              <a:rPr lang="en-US" altLang="zh-CN" sz="1800" dirty="0">
                <a:solidFill>
                  <a:srgbClr val="030DCD"/>
                </a:solidFill>
              </a:rPr>
              <a:t>-&gt;next=NULL;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prev</a:t>
            </a:r>
            <a:r>
              <a:rPr lang="en-US" altLang="zh-CN" sz="1800" dirty="0"/>
              <a:t>=head, </a:t>
            </a:r>
            <a:r>
              <a:rPr lang="en-US" altLang="zh-CN" sz="1800" dirty="0" err="1"/>
              <a:t>pNext</a:t>
            </a:r>
            <a:r>
              <a:rPr lang="en-US" altLang="zh-CN" sz="1800" dirty="0"/>
              <a:t>=head;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C00000"/>
                </a:solidFill>
              </a:rPr>
              <a:t>如果</a:t>
            </a:r>
            <a:r>
              <a:rPr lang="en-US" altLang="zh-CN" sz="1800" dirty="0">
                <a:solidFill>
                  <a:srgbClr val="C00000"/>
                </a:solidFill>
              </a:rPr>
              <a:t>head==NULL</a:t>
            </a:r>
            <a:r>
              <a:rPr lang="zh-CN" altLang="en-US" sz="1800" dirty="0">
                <a:solidFill>
                  <a:srgbClr val="C00000"/>
                </a:solidFill>
              </a:rPr>
              <a:t>，则为空表</a:t>
            </a:r>
            <a:r>
              <a:rPr lang="zh-CN" altLang="en-US" sz="1800" dirty="0"/>
              <a:t>，</a:t>
            </a:r>
            <a:r>
              <a:rPr lang="en-US" altLang="zh-CN" sz="1800" dirty="0"/>
              <a:t>head=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 return (head);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while ((</a:t>
            </a:r>
            <a:r>
              <a:rPr lang="en-US" altLang="zh-CN" sz="1800" dirty="0" err="1">
                <a:solidFill>
                  <a:srgbClr val="006600"/>
                </a:solidFill>
              </a:rPr>
              <a:t>pNext</a:t>
            </a:r>
            <a:r>
              <a:rPr lang="en-US" altLang="zh-CN" sz="1800" dirty="0">
                <a:solidFill>
                  <a:srgbClr val="006600"/>
                </a:solidFill>
              </a:rPr>
              <a:t> !=NULL) &amp;&amp;  (pNext.ID&lt;ID))  </a:t>
            </a:r>
            <a:r>
              <a:rPr lang="en-US" altLang="zh-CN" sz="1800" dirty="0">
                <a:solidFill>
                  <a:srgbClr val="030DCD"/>
                </a:solidFill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必须按此条件顺序</a:t>
            </a:r>
            <a:r>
              <a:rPr lang="en-US" altLang="zh-CN" sz="1800" dirty="0">
                <a:solidFill>
                  <a:srgbClr val="030DCD"/>
                </a:solidFill>
              </a:rPr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    </a:t>
            </a:r>
            <a:r>
              <a:rPr lang="en-US" altLang="zh-CN" sz="1800" dirty="0" err="1">
                <a:solidFill>
                  <a:srgbClr val="006600"/>
                </a:solidFill>
              </a:rPr>
              <a:t>prev</a:t>
            </a:r>
            <a:r>
              <a:rPr lang="en-US" altLang="zh-CN" sz="1800" dirty="0"/>
              <a:t>=</a:t>
            </a:r>
            <a:r>
              <a:rPr lang="en-US" altLang="zh-CN" sz="1800" dirty="0" err="1"/>
              <a:t>pNext</a:t>
            </a:r>
            <a:r>
              <a:rPr lang="en-US" altLang="zh-CN" sz="1800" dirty="0"/>
              <a:t>;  </a:t>
            </a:r>
            <a:r>
              <a:rPr lang="en-US" altLang="zh-CN" sz="1800" dirty="0" err="1"/>
              <a:t>pNext</a:t>
            </a:r>
            <a:r>
              <a:rPr lang="en-US" altLang="zh-CN" sz="1800" dirty="0"/>
              <a:t>=</a:t>
            </a:r>
            <a:r>
              <a:rPr lang="en-US" altLang="zh-CN" sz="1800" dirty="0" err="1"/>
              <a:t>pNext</a:t>
            </a:r>
            <a:r>
              <a:rPr lang="en-US" altLang="zh-CN" sz="1800" dirty="0"/>
              <a:t>-&gt;next;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循环结束后（循环条件不再满足）</a:t>
            </a:r>
            <a:endParaRPr lang="en-US" altLang="zh-CN" sz="18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如果</a:t>
            </a:r>
            <a:r>
              <a:rPr lang="en-US" altLang="zh-CN" sz="1800" dirty="0" err="1"/>
              <a:t>pNext</a:t>
            </a:r>
            <a:r>
              <a:rPr lang="en-US" altLang="zh-CN" sz="1800" dirty="0">
                <a:solidFill>
                  <a:srgbClr val="006600"/>
                </a:solidFill>
              </a:rPr>
              <a:t>==head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zh-CN" altLang="en-US" sz="1800" dirty="0"/>
              <a:t>说明条件</a:t>
            </a:r>
            <a:r>
              <a:rPr lang="en-US" altLang="zh-CN" sz="1800" dirty="0">
                <a:solidFill>
                  <a:srgbClr val="006600"/>
                </a:solidFill>
              </a:rPr>
              <a:t>pNext.ID&lt;ID</a:t>
            </a:r>
            <a:r>
              <a:rPr lang="zh-CN" altLang="en-US" sz="1800" dirty="0"/>
              <a:t>不满足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zh-CN" altLang="en-US" sz="1800" dirty="0"/>
              <a:t>即新学生的</a:t>
            </a:r>
            <a:r>
              <a:rPr lang="en-US" altLang="zh-CN" sz="1800" dirty="0"/>
              <a:t>ID</a:t>
            </a:r>
            <a:r>
              <a:rPr lang="zh-CN" altLang="en-US" sz="1800" dirty="0"/>
              <a:t>最小，插入到链表头部，即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-&gt;next=head; head=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 return (head);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将新学生插入到</a:t>
            </a:r>
            <a:r>
              <a:rPr lang="en-US" altLang="zh-CN" sz="1800" dirty="0" err="1">
                <a:solidFill>
                  <a:srgbClr val="006600"/>
                </a:solidFill>
              </a:rPr>
              <a:t>prev</a:t>
            </a:r>
            <a:r>
              <a:rPr lang="zh-CN" altLang="en-US" sz="1800" dirty="0">
                <a:solidFill>
                  <a:srgbClr val="006600"/>
                </a:solidFill>
              </a:rPr>
              <a:t>之后</a:t>
            </a:r>
            <a:r>
              <a:rPr lang="en-US" altLang="zh-CN" sz="1800" dirty="0" err="1"/>
              <a:t>pNext</a:t>
            </a:r>
            <a:r>
              <a:rPr lang="zh-CN" altLang="en-US" sz="1800" dirty="0">
                <a:solidFill>
                  <a:srgbClr val="C00000"/>
                </a:solidFill>
              </a:rPr>
              <a:t>之前</a:t>
            </a:r>
            <a:r>
              <a:rPr lang="zh-CN" altLang="en-US" sz="1800" dirty="0"/>
              <a:t>，即</a:t>
            </a:r>
            <a:r>
              <a:rPr lang="en-US" altLang="zh-CN" sz="1800" dirty="0" err="1"/>
              <a:t>prev</a:t>
            </a:r>
            <a:r>
              <a:rPr lang="en-US" altLang="zh-CN" sz="1800" dirty="0"/>
              <a:t>-&gt;next=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</a:t>
            </a:r>
            <a:r>
              <a:rPr lang="zh-CN" altLang="en-US" sz="1800" dirty="0"/>
              <a:t>；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-&gt;next=</a:t>
            </a:r>
            <a:r>
              <a:rPr lang="en-US" altLang="zh-CN" sz="1800" dirty="0" err="1"/>
              <a:t>pNext</a:t>
            </a:r>
            <a:r>
              <a:rPr lang="en-US" altLang="zh-CN" sz="1800" dirty="0"/>
              <a:t>, return (head);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C00000"/>
                </a:solidFill>
              </a:rPr>
              <a:t>注：在循环过程中，</a:t>
            </a:r>
            <a:r>
              <a:rPr lang="en-US" altLang="zh-CN" sz="1800" b="1" dirty="0" err="1">
                <a:solidFill>
                  <a:srgbClr val="C00000"/>
                </a:solidFill>
              </a:rPr>
              <a:t>prev</a:t>
            </a:r>
            <a:r>
              <a:rPr lang="zh-CN" altLang="en-US" sz="1800" b="1" dirty="0">
                <a:solidFill>
                  <a:srgbClr val="C00000"/>
                </a:solidFill>
              </a:rPr>
              <a:t>总是比</a:t>
            </a:r>
            <a:r>
              <a:rPr lang="en-US" altLang="zh-CN" sz="1800" b="1" dirty="0" err="1">
                <a:solidFill>
                  <a:srgbClr val="C00000"/>
                </a:solidFill>
              </a:rPr>
              <a:t>PNext</a:t>
            </a:r>
            <a:r>
              <a:rPr lang="zh-CN" altLang="en-US" sz="1800" b="1" dirty="0">
                <a:solidFill>
                  <a:srgbClr val="C00000"/>
                </a:solidFill>
              </a:rPr>
              <a:t>慢一个结点；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761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r>
              <a:rPr lang="en-US" altLang="zh-CN" dirty="0"/>
              <a:t>---</a:t>
            </a:r>
            <a:r>
              <a:rPr lang="zh-CN" altLang="en-US" dirty="0"/>
              <a:t>在有序表中插入一个结点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20763"/>
            <a:ext cx="8089900" cy="5345112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student * </a:t>
            </a:r>
            <a:r>
              <a:rPr lang="en-US" altLang="zh-CN" sz="1600" dirty="0" err="1"/>
              <a:t>insertSortedLink</a:t>
            </a:r>
            <a:r>
              <a:rPr lang="en-US" altLang="zh-CN" sz="1600" dirty="0"/>
              <a:t>(student *head,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ID)   //return head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student *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=head, *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=head;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stydent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 = (node *)</a:t>
            </a:r>
            <a:r>
              <a:rPr lang="en-US" altLang="zh-CN" sz="1600" dirty="0" err="1"/>
              <a:t>malloc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sizeof</a:t>
            </a:r>
            <a:r>
              <a:rPr lang="en-US" altLang="zh-CN" sz="1600" dirty="0"/>
              <a:t>(student));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-&gt;ID=ID;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-&gt;next=NULL;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if (head==NULL)  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{    head=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;     return head;  }  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	while ((</a:t>
            </a:r>
            <a:r>
              <a:rPr lang="en-US" altLang="zh-CN" sz="1600" dirty="0" err="1">
                <a:solidFill>
                  <a:srgbClr val="C00000"/>
                </a:solidFill>
              </a:rPr>
              <a:t>pNext</a:t>
            </a:r>
            <a:r>
              <a:rPr lang="en-US" altLang="zh-CN" sz="1600" dirty="0">
                <a:solidFill>
                  <a:srgbClr val="C00000"/>
                </a:solidFill>
              </a:rPr>
              <a:t>!=NULL) &amp;&amp; (</a:t>
            </a:r>
            <a:r>
              <a:rPr lang="en-US" altLang="zh-CN" sz="1600" dirty="0" err="1">
                <a:solidFill>
                  <a:srgbClr val="C00000"/>
                </a:solidFill>
              </a:rPr>
              <a:t>pNext</a:t>
            </a:r>
            <a:r>
              <a:rPr lang="en-US" altLang="zh-CN" sz="1600" dirty="0">
                <a:solidFill>
                  <a:srgbClr val="C00000"/>
                </a:solidFill>
              </a:rPr>
              <a:t>-&gt;ID &lt;ID)</a:t>
            </a:r>
            <a:r>
              <a:rPr lang="en-US" altLang="zh-CN" sz="1600" dirty="0"/>
              <a:t>)     </a:t>
            </a:r>
            <a:r>
              <a:rPr lang="en-US" altLang="zh-CN" sz="1600" b="1" dirty="0">
                <a:solidFill>
                  <a:srgbClr val="030DCD"/>
                </a:solidFill>
              </a:rPr>
              <a:t>//</a:t>
            </a:r>
            <a:r>
              <a:rPr lang="zh-CN" altLang="en-US" sz="1600" b="1" dirty="0">
                <a:solidFill>
                  <a:srgbClr val="030DCD"/>
                </a:solidFill>
              </a:rPr>
              <a:t>条件</a:t>
            </a:r>
            <a:r>
              <a:rPr lang="en-US" altLang="zh-CN" sz="1600" b="1" dirty="0">
                <a:solidFill>
                  <a:srgbClr val="030DCD"/>
                </a:solidFill>
              </a:rPr>
              <a:t>(</a:t>
            </a:r>
            <a:r>
              <a:rPr lang="en-US" altLang="zh-CN" sz="1600" b="1" dirty="0" err="1">
                <a:solidFill>
                  <a:srgbClr val="030DCD"/>
                </a:solidFill>
              </a:rPr>
              <a:t>pNext</a:t>
            </a:r>
            <a:r>
              <a:rPr lang="en-US" altLang="zh-CN" sz="1600" b="1" dirty="0">
                <a:solidFill>
                  <a:srgbClr val="030DCD"/>
                </a:solidFill>
              </a:rPr>
              <a:t>!=NULL)</a:t>
            </a:r>
            <a:r>
              <a:rPr lang="zh-CN" altLang="en-US" sz="1600" b="1" dirty="0">
                <a:solidFill>
                  <a:srgbClr val="030DCD"/>
                </a:solidFill>
              </a:rPr>
              <a:t>必须在前面</a:t>
            </a:r>
            <a:r>
              <a:rPr lang="en-US" altLang="zh-CN" sz="1600" b="1" dirty="0">
                <a:solidFill>
                  <a:srgbClr val="030DCD"/>
                </a:solidFill>
              </a:rPr>
              <a:t>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{  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;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-&gt;next;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}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if (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==head)   //</a:t>
            </a:r>
            <a:r>
              <a:rPr lang="en-US" altLang="zh-CN" sz="1600" dirty="0" err="1"/>
              <a:t>firsr</a:t>
            </a:r>
            <a:r>
              <a:rPr lang="en-US" altLang="zh-CN" sz="1600" dirty="0"/>
              <a:t> element, insert before </a:t>
            </a:r>
            <a:r>
              <a:rPr lang="en-US" altLang="zh-CN" sz="1600" dirty="0" err="1"/>
              <a:t>pNext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{     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-&gt;next=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;	 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      head=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;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}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else   //insert after </a:t>
            </a:r>
            <a:r>
              <a:rPr lang="en-US" altLang="zh-CN" sz="1600" dirty="0" err="1"/>
              <a:t>pNext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{   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-&gt;next=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; 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      </a:t>
            </a:r>
            <a:r>
              <a:rPr lang="en-US" altLang="zh-CN" sz="1600" dirty="0" err="1"/>
              <a:t>newNode</a:t>
            </a:r>
            <a:r>
              <a:rPr lang="en-US" altLang="zh-CN" sz="1600" dirty="0"/>
              <a:t>-&gt;next=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 }     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 return head;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3457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删除</a:t>
            </a:r>
            <a:r>
              <a:rPr lang="zh-CN" altLang="en-US" dirty="0"/>
              <a:t>单向链表的第一个结点（</a:t>
            </a:r>
            <a:r>
              <a:rPr lang="zh-CN" altLang="en-US" dirty="0">
                <a:solidFill>
                  <a:srgbClr val="C00000"/>
                </a:solidFill>
              </a:rPr>
              <a:t>头结点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3193415"/>
            <a:ext cx="8089900" cy="302034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b="1" dirty="0">
                <a:solidFill>
                  <a:srgbClr val="C00000"/>
                </a:solidFill>
              </a:rPr>
              <a:t>特别注意删除头结点的情况（需要修改</a:t>
            </a:r>
            <a:r>
              <a:rPr lang="en-US" altLang="zh-CN" sz="1800" b="1" dirty="0">
                <a:solidFill>
                  <a:srgbClr val="C00000"/>
                </a:solidFill>
              </a:rPr>
              <a:t>head</a:t>
            </a:r>
            <a:r>
              <a:rPr lang="zh-CN" altLang="en-US" sz="1800" b="1" dirty="0">
                <a:solidFill>
                  <a:srgbClr val="C00000"/>
                </a:solidFill>
              </a:rPr>
              <a:t>指针）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struct student *p;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p=head</a:t>
            </a:r>
            <a:r>
              <a:rPr lang="zh-CN" altLang="en-US" sz="1800" b="1" dirty="0">
                <a:solidFill>
                  <a:srgbClr val="0303DF"/>
                </a:solidFill>
              </a:rPr>
              <a:t>；</a:t>
            </a:r>
            <a:r>
              <a:rPr lang="en-US" altLang="zh-CN" sz="1800" b="1" dirty="0">
                <a:solidFill>
                  <a:srgbClr val="7030A0"/>
                </a:solidFill>
              </a:rPr>
              <a:t>//head</a:t>
            </a:r>
            <a:r>
              <a:rPr lang="zh-CN" altLang="en-US" sz="1800" b="1" dirty="0">
                <a:solidFill>
                  <a:srgbClr val="7030A0"/>
                </a:solidFill>
              </a:rPr>
              <a:t>指向头结点</a:t>
            </a:r>
            <a:r>
              <a:rPr lang="en-US" altLang="zh-CN" sz="1800" b="1" dirty="0">
                <a:solidFill>
                  <a:srgbClr val="7030A0"/>
                </a:solidFill>
              </a:rPr>
              <a:t>A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head=head-&gt;next;    //head=p-&gt;next;  </a:t>
            </a:r>
            <a:r>
              <a:rPr lang="en-US" altLang="zh-CN" sz="1800" b="1" dirty="0">
                <a:solidFill>
                  <a:srgbClr val="7030A0"/>
                </a:solidFill>
              </a:rPr>
              <a:t>//head</a:t>
            </a:r>
            <a:r>
              <a:rPr lang="zh-CN" altLang="en-US" sz="1800" b="1" dirty="0">
                <a:solidFill>
                  <a:srgbClr val="7030A0"/>
                </a:solidFill>
              </a:rPr>
              <a:t>指向新的头结点</a:t>
            </a:r>
            <a:r>
              <a:rPr lang="en-US" altLang="zh-CN" sz="1800" b="1" dirty="0">
                <a:solidFill>
                  <a:srgbClr val="7030A0"/>
                </a:solidFill>
              </a:rPr>
              <a:t>B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1" u="sng" dirty="0">
                <a:solidFill>
                  <a:srgbClr val="7030A0"/>
                </a:solidFill>
              </a:rPr>
              <a:t>free(p);  </a:t>
            </a:r>
            <a:r>
              <a:rPr lang="en-US" altLang="zh-CN" sz="1800" b="1" dirty="0">
                <a:solidFill>
                  <a:srgbClr val="0303DF"/>
                </a:solidFill>
              </a:rPr>
              <a:t>//</a:t>
            </a:r>
            <a:r>
              <a:rPr lang="zh-CN" altLang="en-US" sz="1800" b="1" dirty="0">
                <a:solidFill>
                  <a:srgbClr val="0303DF"/>
                </a:solidFill>
              </a:rPr>
              <a:t>释放结点原头结点</a:t>
            </a:r>
            <a:r>
              <a:rPr lang="en-US" altLang="zh-CN" sz="1800" b="1" dirty="0">
                <a:solidFill>
                  <a:srgbClr val="0303DF"/>
                </a:solidFill>
              </a:rPr>
              <a:t>p</a:t>
            </a:r>
            <a:r>
              <a:rPr lang="zh-CN" altLang="en-US" sz="1800" b="1" dirty="0">
                <a:solidFill>
                  <a:srgbClr val="0303DF"/>
                </a:solidFill>
              </a:rPr>
              <a:t>所占用的内存空间；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删除一个结点后，可能使链表称为空表；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endParaRPr lang="zh-CN" altLang="en-US" sz="2000" dirty="0"/>
          </a:p>
        </p:txBody>
      </p:sp>
      <p:grpSp>
        <p:nvGrpSpPr>
          <p:cNvPr id="55" name="组合 54"/>
          <p:cNvGrpSpPr/>
          <p:nvPr/>
        </p:nvGrpSpPr>
        <p:grpSpPr>
          <a:xfrm>
            <a:off x="828675" y="1146821"/>
            <a:ext cx="7232650" cy="1720577"/>
            <a:chOff x="828675" y="1146821"/>
            <a:chExt cx="7232650" cy="1720577"/>
          </a:xfrm>
        </p:grpSpPr>
        <p:sp>
          <p:nvSpPr>
            <p:cNvPr id="11" name="文本框 10"/>
            <p:cNvSpPr txBox="1"/>
            <p:nvPr/>
          </p:nvSpPr>
          <p:spPr>
            <a:xfrm>
              <a:off x="828675" y="1548947"/>
              <a:ext cx="7493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2348635" y="2104253"/>
              <a:ext cx="749300" cy="632744"/>
            </a:xfrm>
            <a:prstGeom prst="rect">
              <a:avLst/>
            </a:prstGeom>
            <a:solidFill>
              <a:srgbClr val="00B0F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 bwMode="auto">
            <a:xfrm>
              <a:off x="2348635" y="246455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2386735" y="2146799"/>
              <a:ext cx="673100" cy="317258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24" name="肘形连接符 23"/>
            <p:cNvCxnSpPr/>
            <p:nvPr/>
          </p:nvCxnSpPr>
          <p:spPr bwMode="auto">
            <a:xfrm>
              <a:off x="1397146" y="1781392"/>
              <a:ext cx="907039" cy="445113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25" name="组合 24"/>
            <p:cNvGrpSpPr/>
            <p:nvPr/>
          </p:nvGrpSpPr>
          <p:grpSpPr>
            <a:xfrm>
              <a:off x="3987800" y="1146821"/>
              <a:ext cx="914400" cy="1005431"/>
              <a:chOff x="590550" y="1242542"/>
              <a:chExt cx="914400" cy="1170458"/>
            </a:xfrm>
          </p:grpSpPr>
          <p:sp>
            <p:nvSpPr>
              <p:cNvPr id="26" name="矩形 2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7" name="直接连接符 26"/>
              <p:cNvCxnSpPr>
                <a:stCxn id="26" idx="1"/>
                <a:endCxn id="2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590550" y="1242542"/>
                <a:ext cx="914400" cy="429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endParaRPr lang="zh-CN" altLang="en-US" dirty="0">
                  <a:solidFill>
                    <a:srgbClr val="030DCD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016625" y="1546067"/>
              <a:ext cx="749300" cy="632744"/>
              <a:chOff x="673100" y="1676400"/>
              <a:chExt cx="749300" cy="736600"/>
            </a:xfrm>
          </p:grpSpPr>
          <p:sp>
            <p:nvSpPr>
              <p:cNvPr id="36" name="矩形 3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" name="直接连接符 36"/>
              <p:cNvCxnSpPr>
                <a:stCxn id="36" idx="1"/>
                <a:endCxn id="3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" name="文本框 3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5" name="肘形连接符 34"/>
            <p:cNvCxnSpPr/>
            <p:nvPr/>
          </p:nvCxnSpPr>
          <p:spPr bwMode="auto">
            <a:xfrm flipV="1">
              <a:off x="4724400" y="1665424"/>
              <a:ext cx="1231900" cy="321123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2" name="组合 41"/>
            <p:cNvGrpSpPr/>
            <p:nvPr/>
          </p:nvGrpSpPr>
          <p:grpSpPr>
            <a:xfrm>
              <a:off x="7273925" y="1543849"/>
              <a:ext cx="749300" cy="632744"/>
              <a:chOff x="673100" y="1676400"/>
              <a:chExt cx="749300" cy="736600"/>
            </a:xfrm>
          </p:grpSpPr>
          <p:sp>
            <p:nvSpPr>
              <p:cNvPr id="44" name="矩形 43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5" name="直接连接符 44"/>
              <p:cNvCxnSpPr>
                <a:stCxn id="44" idx="1"/>
                <a:endCxn id="44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" name="文本框 4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3" name="肘形连接符 42"/>
            <p:cNvCxnSpPr>
              <a:endCxn id="48" idx="1"/>
            </p:cNvCxnSpPr>
            <p:nvPr/>
          </p:nvCxnSpPr>
          <p:spPr bwMode="auto">
            <a:xfrm flipV="1">
              <a:off x="6588125" y="1745024"/>
              <a:ext cx="723900" cy="274032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7388225" y="1808502"/>
              <a:ext cx="6731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cxnSp>
          <p:nvCxnSpPr>
            <p:cNvPr id="46" name="肘形连接符 45"/>
            <p:cNvCxnSpPr/>
            <p:nvPr/>
          </p:nvCxnSpPr>
          <p:spPr bwMode="auto">
            <a:xfrm flipV="1">
              <a:off x="1535978" y="1588613"/>
              <a:ext cx="2421515" cy="9580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51" name="直接连接符 50"/>
            <p:cNvCxnSpPr/>
            <p:nvPr/>
          </p:nvCxnSpPr>
          <p:spPr bwMode="auto">
            <a:xfrm>
              <a:off x="2649684" y="2583754"/>
              <a:ext cx="342900" cy="2836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直接连接符 51"/>
            <p:cNvCxnSpPr/>
            <p:nvPr/>
          </p:nvCxnSpPr>
          <p:spPr bwMode="auto">
            <a:xfrm flipH="1">
              <a:off x="2649684" y="2583755"/>
              <a:ext cx="342900" cy="2489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肘形连接符 62"/>
            <p:cNvCxnSpPr/>
            <p:nvPr/>
          </p:nvCxnSpPr>
          <p:spPr bwMode="auto">
            <a:xfrm flipV="1">
              <a:off x="3119727" y="1707576"/>
              <a:ext cx="907039" cy="87450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4" name="文本框 63"/>
            <p:cNvSpPr txBox="1"/>
            <p:nvPr/>
          </p:nvSpPr>
          <p:spPr>
            <a:xfrm>
              <a:off x="2342285" y="1747541"/>
              <a:ext cx="6731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</a:t>
              </a:r>
              <a:r>
                <a:rPr lang="en-US" altLang="zh-CN" dirty="0">
                  <a:solidFill>
                    <a:srgbClr val="C00000"/>
                  </a:solidFill>
                  <a:latin typeface="+mn-ea"/>
                  <a:ea typeface="+mn-ea"/>
                </a:rPr>
                <a:t>p</a:t>
              </a:r>
              <a:endParaRPr lang="zh-CN" altLang="en-US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789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在单向链表</a:t>
            </a:r>
            <a:r>
              <a:rPr lang="zh-CN" altLang="en-US" dirty="0" smtClean="0"/>
              <a:t>中</a:t>
            </a:r>
            <a:r>
              <a:rPr lang="zh-CN" altLang="en-US" dirty="0" smtClean="0">
                <a:solidFill>
                  <a:srgbClr val="030DCD"/>
                </a:solidFill>
              </a:rPr>
              <a:t>删除</a:t>
            </a:r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zh-CN" altLang="en-US" dirty="0" smtClean="0">
                <a:solidFill>
                  <a:srgbClr val="C00000"/>
                </a:solidFill>
              </a:rPr>
              <a:t>中间结点（尾结点）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1574" y="3050159"/>
            <a:ext cx="8089900" cy="302034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删除结点</a:t>
            </a:r>
            <a:r>
              <a:rPr lang="en-US" altLang="zh-CN" sz="1800" dirty="0">
                <a:solidFill>
                  <a:srgbClr val="C00000"/>
                </a:solidFill>
              </a:rPr>
              <a:t>p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*p;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p1-&gt;next=p-&gt;next;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free(p);  //</a:t>
            </a:r>
            <a:r>
              <a:rPr lang="zh-CN" altLang="en-US" sz="1800" dirty="0">
                <a:solidFill>
                  <a:srgbClr val="0303DF"/>
                </a:solidFill>
              </a:rPr>
              <a:t>释放结点</a:t>
            </a:r>
            <a:r>
              <a:rPr lang="en-US" altLang="zh-CN" sz="1800" dirty="0">
                <a:solidFill>
                  <a:srgbClr val="0303DF"/>
                </a:solidFill>
              </a:rPr>
              <a:t>p</a:t>
            </a:r>
            <a:r>
              <a:rPr lang="zh-CN" altLang="en-US" sz="1800" dirty="0">
                <a:solidFill>
                  <a:srgbClr val="0303DF"/>
                </a:solidFill>
              </a:rPr>
              <a:t>所占用的内存空间；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删除一个结点后，可能使链表称为空表；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删除尾结点的操作，可以与上述过程统一；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</a:rPr>
              <a:t>删除一个结点操作，需要记住被删除结点的前一个结点（</a:t>
            </a:r>
            <a:r>
              <a:rPr lang="en-US" altLang="zh-CN" sz="1800" dirty="0">
                <a:solidFill>
                  <a:srgbClr val="030DCD"/>
                </a:solidFill>
              </a:rPr>
              <a:t>p1</a:t>
            </a:r>
            <a:r>
              <a:rPr lang="zh-CN" altLang="en-US" sz="1800" dirty="0">
                <a:solidFill>
                  <a:srgbClr val="030DCD"/>
                </a:solidFill>
              </a:rPr>
              <a:t>）</a:t>
            </a:r>
            <a:endParaRPr lang="en-US" altLang="zh-CN" sz="1800" dirty="0">
              <a:solidFill>
                <a:srgbClr val="030DCD"/>
              </a:solidFill>
            </a:endParaRPr>
          </a:p>
          <a:p>
            <a:endParaRPr lang="zh-CN" altLang="en-US" sz="2000" dirty="0"/>
          </a:p>
        </p:txBody>
      </p:sp>
      <p:grpSp>
        <p:nvGrpSpPr>
          <p:cNvPr id="8" name="组合 7"/>
          <p:cNvGrpSpPr/>
          <p:nvPr/>
        </p:nvGrpSpPr>
        <p:grpSpPr>
          <a:xfrm>
            <a:off x="828675" y="1139493"/>
            <a:ext cx="7232650" cy="2072868"/>
            <a:chOff x="869950" y="1242542"/>
            <a:chExt cx="7232650" cy="2413101"/>
          </a:xfrm>
        </p:grpSpPr>
        <p:sp>
          <p:nvSpPr>
            <p:cNvPr id="11" name="文本框 10"/>
            <p:cNvSpPr txBox="1"/>
            <p:nvPr/>
          </p:nvSpPr>
          <p:spPr>
            <a:xfrm>
              <a:off x="869950" y="1719202"/>
              <a:ext cx="74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1943100" y="1676161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>
              <a:stCxn id="18" idx="1"/>
              <a:endCxn id="18" idx="3"/>
            </p:cNvCxnSpPr>
            <p:nvPr/>
          </p:nvCxnSpPr>
          <p:spPr bwMode="auto">
            <a:xfrm>
              <a:off x="1943100" y="2044461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1981200" y="1725690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24" name="肘形连接符 23"/>
            <p:cNvCxnSpPr/>
            <p:nvPr/>
          </p:nvCxnSpPr>
          <p:spPr bwMode="auto">
            <a:xfrm flipV="1">
              <a:off x="1506682" y="1910356"/>
              <a:ext cx="453736" cy="157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25" name="组合 24"/>
            <p:cNvGrpSpPr/>
            <p:nvPr/>
          </p:nvGrpSpPr>
          <p:grpSpPr>
            <a:xfrm>
              <a:off x="3130550" y="1242542"/>
              <a:ext cx="1962150" cy="1295673"/>
              <a:chOff x="590550" y="1242542"/>
              <a:chExt cx="1962150" cy="1295673"/>
            </a:xfrm>
          </p:grpSpPr>
          <p:sp>
            <p:nvSpPr>
              <p:cNvPr id="26" name="矩形 2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7" name="直接连接符 26"/>
              <p:cNvCxnSpPr>
                <a:stCxn id="26" idx="1"/>
                <a:endCxn id="2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590550" y="124254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dirty="0">
                    <a:solidFill>
                      <a:srgbClr val="030DCD"/>
                    </a:solidFill>
                    <a:latin typeface="+mn-ea"/>
                    <a:ea typeface="+mn-ea"/>
                  </a:rPr>
                  <a:t>p1</a:t>
                </a:r>
                <a:endParaRPr lang="zh-CN" altLang="en-US" dirty="0">
                  <a:solidFill>
                    <a:srgbClr val="030DCD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1879600" y="216888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1" name="肘形连接符 30"/>
            <p:cNvCxnSpPr>
              <a:endCxn id="30" idx="1"/>
            </p:cNvCxnSpPr>
            <p:nvPr/>
          </p:nvCxnSpPr>
          <p:spPr bwMode="auto">
            <a:xfrm flipV="1">
              <a:off x="2425700" y="1910595"/>
              <a:ext cx="825500" cy="35587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34" name="组合 33"/>
            <p:cNvGrpSpPr/>
            <p:nvPr/>
          </p:nvGrpSpPr>
          <p:grpSpPr>
            <a:xfrm>
              <a:off x="6057900" y="1715849"/>
              <a:ext cx="749300" cy="736600"/>
              <a:chOff x="673100" y="1676400"/>
              <a:chExt cx="749300" cy="736600"/>
            </a:xfrm>
          </p:grpSpPr>
          <p:sp>
            <p:nvSpPr>
              <p:cNvPr id="36" name="矩形 3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" name="直接连接符 36"/>
              <p:cNvCxnSpPr>
                <a:stCxn id="36" idx="1"/>
                <a:endCxn id="3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" name="文本框 3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5" name="肘形连接符 34"/>
            <p:cNvCxnSpPr>
              <a:endCxn id="62" idx="1"/>
            </p:cNvCxnSpPr>
            <p:nvPr/>
          </p:nvCxnSpPr>
          <p:spPr bwMode="auto">
            <a:xfrm>
              <a:off x="3689350" y="2303568"/>
              <a:ext cx="755650" cy="618643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2" name="组合 41"/>
            <p:cNvGrpSpPr/>
            <p:nvPr/>
          </p:nvGrpSpPr>
          <p:grpSpPr>
            <a:xfrm>
              <a:off x="7315200" y="1713268"/>
              <a:ext cx="749300" cy="736600"/>
              <a:chOff x="673100" y="1676400"/>
              <a:chExt cx="749300" cy="736600"/>
            </a:xfrm>
          </p:grpSpPr>
          <p:sp>
            <p:nvSpPr>
              <p:cNvPr id="44" name="矩形 43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5" name="直接连接符 44"/>
              <p:cNvCxnSpPr>
                <a:stCxn id="44" idx="1"/>
                <a:endCxn id="44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8" name="文本框 4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3" name="肘形连接符 42"/>
            <p:cNvCxnSpPr>
              <a:endCxn id="48" idx="1"/>
            </p:cNvCxnSpPr>
            <p:nvPr/>
          </p:nvCxnSpPr>
          <p:spPr bwMode="auto">
            <a:xfrm flipV="1">
              <a:off x="6629400" y="1947463"/>
              <a:ext cx="723900" cy="31901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8" name="文本框 57"/>
            <p:cNvSpPr txBox="1"/>
            <p:nvPr/>
          </p:nvSpPr>
          <p:spPr>
            <a:xfrm>
              <a:off x="7429500" y="2021360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4406900" y="2620140"/>
              <a:ext cx="749300" cy="863583"/>
            </a:xfrm>
            <a:prstGeom prst="rect">
              <a:avLst/>
            </a:prstGeom>
            <a:solidFill>
              <a:srgbClr val="05A3DD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445000" y="2676908"/>
              <a:ext cx="647700" cy="369332"/>
            </a:xfrm>
            <a:prstGeom prst="rect">
              <a:avLst/>
            </a:prstGeom>
            <a:solidFill>
              <a:srgbClr val="05A3DD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E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75" name="肘形连接符 74"/>
            <p:cNvCxnSpPr>
              <a:endCxn id="40" idx="1"/>
            </p:cNvCxnSpPr>
            <p:nvPr/>
          </p:nvCxnSpPr>
          <p:spPr bwMode="auto">
            <a:xfrm flipV="1">
              <a:off x="4889500" y="1950044"/>
              <a:ext cx="1206500" cy="132460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1" name="肘形连接符 80"/>
            <p:cNvCxnSpPr/>
            <p:nvPr/>
          </p:nvCxnSpPr>
          <p:spPr bwMode="auto">
            <a:xfrm flipV="1">
              <a:off x="3898900" y="1796062"/>
              <a:ext cx="2139950" cy="33031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61" name="直接连接符 60"/>
            <p:cNvCxnSpPr>
              <a:stCxn id="60" idx="1"/>
              <a:endCxn id="60" idx="3"/>
            </p:cNvCxnSpPr>
            <p:nvPr/>
          </p:nvCxnSpPr>
          <p:spPr bwMode="auto">
            <a:xfrm>
              <a:off x="4406900" y="305193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" name="组合 37"/>
            <p:cNvGrpSpPr/>
            <p:nvPr/>
          </p:nvGrpSpPr>
          <p:grpSpPr>
            <a:xfrm>
              <a:off x="4569511" y="3325443"/>
              <a:ext cx="342900" cy="330200"/>
              <a:chOff x="7429500" y="3500125"/>
              <a:chExt cx="342900" cy="330200"/>
            </a:xfrm>
          </p:grpSpPr>
          <p:cxnSp>
            <p:nvCxnSpPr>
              <p:cNvPr id="39" name="直接连接符 38"/>
              <p:cNvCxnSpPr/>
              <p:nvPr/>
            </p:nvCxnSpPr>
            <p:spPr bwMode="auto">
              <a:xfrm>
                <a:off x="7429500" y="3500125"/>
                <a:ext cx="342900" cy="3302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直接连接符 40"/>
              <p:cNvCxnSpPr/>
              <p:nvPr/>
            </p:nvCxnSpPr>
            <p:spPr bwMode="auto">
              <a:xfrm flipH="1">
                <a:off x="7429500" y="3500126"/>
                <a:ext cx="342900" cy="28986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0470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删除</a:t>
            </a:r>
            <a:r>
              <a:rPr lang="zh-CN" altLang="en-US" dirty="0"/>
              <a:t>一个结点例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89777" cy="5345112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/>
              <a:t>给出一个学生的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，删除链表中结点的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等于给定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的结点</a:t>
            </a:r>
            <a:endParaRPr lang="en-US" altLang="zh-CN" sz="2000" b="1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struct student  remove (struct student *head</a:t>
            </a:r>
            <a:r>
              <a:rPr lang="zh-CN" altLang="en-US" sz="1600" dirty="0">
                <a:solidFill>
                  <a:srgbClr val="000118"/>
                </a:solidFill>
              </a:rPr>
              <a:t>，</a:t>
            </a:r>
            <a:r>
              <a:rPr lang="en-US" altLang="zh-CN" sz="1600" dirty="0">
                <a:solidFill>
                  <a:srgbClr val="000118"/>
                </a:solidFill>
              </a:rPr>
              <a:t>long ID)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</a:t>
            </a:r>
            <a:r>
              <a:rPr lang="en-US" altLang="zh-CN" sz="1600" dirty="0" err="1">
                <a:solidFill>
                  <a:srgbClr val="000118"/>
                </a:solidFill>
              </a:rPr>
              <a:t>struct</a:t>
            </a:r>
            <a:r>
              <a:rPr lang="en-US" altLang="zh-CN" sz="1600" dirty="0">
                <a:solidFill>
                  <a:srgbClr val="000118"/>
                </a:solidFill>
              </a:rPr>
              <a:t> student  </a:t>
            </a:r>
            <a:r>
              <a:rPr lang="zh-CN" altLang="en-US" sz="1600" dirty="0">
                <a:solidFill>
                  <a:srgbClr val="000118"/>
                </a:solidFill>
              </a:rPr>
              <a:t>*</a:t>
            </a:r>
            <a:r>
              <a:rPr lang="en-US" altLang="zh-CN" sz="1600" dirty="0" err="1">
                <a:solidFill>
                  <a:srgbClr val="000118"/>
                </a:solidFill>
              </a:rPr>
              <a:t>prev</a:t>
            </a:r>
            <a:r>
              <a:rPr lang="en-US" altLang="zh-CN" sz="1600" dirty="0">
                <a:solidFill>
                  <a:srgbClr val="000118"/>
                </a:solidFill>
              </a:rPr>
              <a:t>=head,  *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=head;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     if (head==NULL)    return (head);   //</a:t>
            </a:r>
            <a:r>
              <a:rPr lang="zh-CN" altLang="en-US" sz="1600" b="1" dirty="0">
                <a:solidFill>
                  <a:srgbClr val="7030A0"/>
                </a:solidFill>
              </a:rPr>
              <a:t>空表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while(</a:t>
            </a:r>
            <a:r>
              <a:rPr lang="en-US" altLang="zh-CN" sz="1600" dirty="0">
                <a:solidFill>
                  <a:srgbClr val="030DCD"/>
                </a:solidFill>
              </a:rPr>
              <a:t>ID != </a:t>
            </a:r>
            <a:r>
              <a:rPr lang="en-US" altLang="zh-CN" sz="1600" dirty="0" err="1">
                <a:solidFill>
                  <a:srgbClr val="030DCD"/>
                </a:solidFill>
              </a:rPr>
              <a:t>pNext</a:t>
            </a:r>
            <a:r>
              <a:rPr lang="en-US" altLang="zh-CN" sz="1600" dirty="0">
                <a:solidFill>
                  <a:srgbClr val="030DCD"/>
                </a:solidFill>
              </a:rPr>
              <a:t>-&gt;ID &amp;&amp; </a:t>
            </a:r>
            <a:r>
              <a:rPr lang="en-US" altLang="zh-CN" sz="1600" dirty="0" err="1">
                <a:solidFill>
                  <a:srgbClr val="030DCD"/>
                </a:solidFill>
              </a:rPr>
              <a:t>pNext</a:t>
            </a:r>
            <a:r>
              <a:rPr lang="en-US" altLang="zh-CN" sz="1600" dirty="0">
                <a:solidFill>
                  <a:srgbClr val="030DCD"/>
                </a:solidFill>
              </a:rPr>
              <a:t> !=NULL </a:t>
            </a:r>
            <a:r>
              <a:rPr lang="en-US" altLang="zh-CN" sz="1600" dirty="0">
                <a:solidFill>
                  <a:srgbClr val="000118"/>
                </a:solidFill>
              </a:rPr>
              <a:t>)   //</a:t>
            </a:r>
            <a:r>
              <a:rPr lang="zh-CN" altLang="en-US" sz="1600" dirty="0">
                <a:solidFill>
                  <a:srgbClr val="000118"/>
                </a:solidFill>
              </a:rPr>
              <a:t>查找要删除的结点</a:t>
            </a:r>
            <a:r>
              <a:rPr lang="en-US" altLang="zh-CN" sz="1600" dirty="0">
                <a:solidFill>
                  <a:srgbClr val="000118"/>
                </a:solidFill>
              </a:rPr>
              <a:t>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{      </a:t>
            </a:r>
            <a:r>
              <a:rPr lang="en-US" altLang="zh-CN" sz="1600" dirty="0" err="1">
                <a:solidFill>
                  <a:srgbClr val="000118"/>
                </a:solidFill>
              </a:rPr>
              <a:t>prev</a:t>
            </a:r>
            <a:r>
              <a:rPr lang="en-US" altLang="zh-CN" sz="1600" dirty="0">
                <a:solidFill>
                  <a:srgbClr val="000118"/>
                </a:solidFill>
              </a:rPr>
              <a:t>=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zh-CN" altLang="en-US" sz="1600" dirty="0">
                <a:solidFill>
                  <a:srgbClr val="000118"/>
                </a:solidFill>
              </a:rPr>
              <a:t>；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       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=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-</a:t>
            </a:r>
            <a:r>
              <a:rPr lang="zh-CN" altLang="en-US" sz="1600" dirty="0">
                <a:solidFill>
                  <a:srgbClr val="000118"/>
                </a:solidFill>
              </a:rPr>
              <a:t>＞</a:t>
            </a:r>
            <a:r>
              <a:rPr lang="en-US" altLang="zh-CN" sz="1600" dirty="0">
                <a:solidFill>
                  <a:srgbClr val="000118"/>
                </a:solidFill>
              </a:rPr>
              <a:t>next</a:t>
            </a:r>
            <a:r>
              <a:rPr lang="zh-CN" altLang="en-US" sz="1600" dirty="0">
                <a:solidFill>
                  <a:srgbClr val="000118"/>
                </a:solidFill>
              </a:rPr>
              <a:t>；</a:t>
            </a: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en-US" altLang="zh-CN" sz="1600" dirty="0" err="1">
                <a:solidFill>
                  <a:srgbClr val="C00000"/>
                </a:solidFill>
              </a:rPr>
              <a:t>prev</a:t>
            </a:r>
            <a:r>
              <a:rPr lang="zh-CN" altLang="en-US" sz="1600" dirty="0">
                <a:solidFill>
                  <a:srgbClr val="C00000"/>
                </a:solidFill>
              </a:rPr>
              <a:t>比</a:t>
            </a:r>
            <a:r>
              <a:rPr lang="en-US" altLang="zh-CN" sz="1600" dirty="0" err="1">
                <a:solidFill>
                  <a:srgbClr val="C00000"/>
                </a:solidFill>
              </a:rPr>
              <a:t>pNext</a:t>
            </a:r>
            <a:r>
              <a:rPr lang="zh-CN" altLang="en-US" sz="1600" dirty="0">
                <a:solidFill>
                  <a:srgbClr val="C00000"/>
                </a:solidFill>
              </a:rPr>
              <a:t>慢一个结点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r>
              <a:rPr lang="en-US" altLang="zh-CN" sz="1600" dirty="0" err="1">
                <a:solidFill>
                  <a:srgbClr val="030DCD"/>
                </a:solidFill>
              </a:rPr>
              <a:t>prev</a:t>
            </a:r>
            <a:r>
              <a:rPr lang="zh-CN" altLang="en-US" sz="1600" dirty="0">
                <a:solidFill>
                  <a:srgbClr val="030DCD"/>
                </a:solidFill>
              </a:rPr>
              <a:t>指向被删除结点的前面的结点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if (</a:t>
            </a:r>
            <a:r>
              <a:rPr lang="en-US" altLang="zh-CN" sz="1600" dirty="0" err="1">
                <a:solidFill>
                  <a:srgbClr val="C00000"/>
                </a:solidFill>
              </a:rPr>
              <a:t>pNext</a:t>
            </a:r>
            <a:r>
              <a:rPr lang="en-US" altLang="zh-CN" sz="1600" dirty="0">
                <a:solidFill>
                  <a:srgbClr val="C00000"/>
                </a:solidFill>
              </a:rPr>
              <a:t>==NULL</a:t>
            </a:r>
            <a:r>
              <a:rPr lang="en-US" altLang="zh-CN" sz="1600" dirty="0">
                <a:solidFill>
                  <a:srgbClr val="000118"/>
                </a:solidFill>
              </a:rPr>
              <a:t>)  return head; //</a:t>
            </a:r>
            <a:r>
              <a:rPr lang="zh-CN" altLang="en-US" sz="1600" dirty="0">
                <a:solidFill>
                  <a:srgbClr val="000118"/>
                </a:solidFill>
              </a:rPr>
              <a:t>没有要删除的结点；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if (</a:t>
            </a:r>
            <a:r>
              <a:rPr lang="en-US" altLang="zh-CN" sz="1600" dirty="0" err="1">
                <a:solidFill>
                  <a:srgbClr val="C00000"/>
                </a:solidFill>
              </a:rPr>
              <a:t>pNext</a:t>
            </a:r>
            <a:r>
              <a:rPr lang="en-US" altLang="zh-CN" sz="1600" dirty="0">
                <a:solidFill>
                  <a:srgbClr val="C00000"/>
                </a:solidFill>
              </a:rPr>
              <a:t>==head</a:t>
            </a:r>
            <a:r>
              <a:rPr lang="en-US" altLang="zh-CN" sz="1600" dirty="0">
                <a:solidFill>
                  <a:srgbClr val="000118"/>
                </a:solidFill>
              </a:rPr>
              <a:t>)  { head = 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-&gt;next; free(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); return head;} //</a:t>
            </a:r>
            <a:r>
              <a:rPr lang="zh-CN" altLang="en-US" sz="1600" dirty="0">
                <a:solidFill>
                  <a:srgbClr val="000118"/>
                </a:solidFill>
              </a:rPr>
              <a:t>删除头结点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//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zh-CN" altLang="en-US" sz="1600" dirty="0">
                <a:solidFill>
                  <a:srgbClr val="000118"/>
                </a:solidFill>
              </a:rPr>
              <a:t>是要删除的结点，可能是一个中间结点，也可能是尾结点；</a:t>
            </a:r>
            <a:endParaRPr lang="en-US" altLang="zh-CN" sz="1600" dirty="0">
              <a:solidFill>
                <a:srgbClr val="00011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</a:t>
            </a:r>
            <a:r>
              <a:rPr lang="en-US" altLang="zh-CN" sz="1600" b="1" dirty="0" err="1">
                <a:solidFill>
                  <a:srgbClr val="030DCD"/>
                </a:solidFill>
              </a:rPr>
              <a:t>prev</a:t>
            </a:r>
            <a:r>
              <a:rPr lang="en-US" altLang="zh-CN" sz="1600" b="1" dirty="0">
                <a:solidFill>
                  <a:srgbClr val="030DCD"/>
                </a:solidFill>
              </a:rPr>
              <a:t>-&gt;next=</a:t>
            </a:r>
            <a:r>
              <a:rPr lang="en-US" altLang="zh-CN" sz="1600" b="1" dirty="0" err="1">
                <a:solidFill>
                  <a:srgbClr val="030DCD"/>
                </a:solidFill>
              </a:rPr>
              <a:t>pNext</a:t>
            </a:r>
            <a:r>
              <a:rPr lang="en-US" altLang="zh-CN" sz="1600" b="1" dirty="0">
                <a:solidFill>
                  <a:srgbClr val="030DCD"/>
                </a:solidFill>
              </a:rPr>
              <a:t>-&gt;next;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   free(</a:t>
            </a:r>
            <a:r>
              <a:rPr lang="en-US" altLang="zh-CN" sz="1600" dirty="0" err="1">
                <a:solidFill>
                  <a:srgbClr val="000118"/>
                </a:solidFill>
              </a:rPr>
              <a:t>pNext</a:t>
            </a:r>
            <a:r>
              <a:rPr lang="en-US" altLang="zh-CN" sz="1600" dirty="0">
                <a:solidFill>
                  <a:srgbClr val="000118"/>
                </a:solidFill>
              </a:rPr>
              <a:t>); 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00118"/>
                </a:solidFill>
              </a:rPr>
              <a:t>　  </a:t>
            </a:r>
            <a:r>
              <a:rPr lang="en-US" altLang="zh-CN" sz="1600" dirty="0">
                <a:solidFill>
                  <a:srgbClr val="000118"/>
                </a:solidFill>
              </a:rPr>
              <a:t>return  (head)</a:t>
            </a:r>
            <a:r>
              <a:rPr lang="zh-CN" altLang="en-US" sz="1600" dirty="0">
                <a:solidFill>
                  <a:srgbClr val="000118"/>
                </a:solidFill>
              </a:rPr>
              <a:t>；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118"/>
                </a:solidFill>
              </a:rPr>
              <a:t>   } </a:t>
            </a:r>
            <a:endParaRPr lang="zh-CN" altLang="en-US" sz="1600" dirty="0">
              <a:solidFill>
                <a:srgbClr val="000118"/>
              </a:solidFill>
            </a:endParaRPr>
          </a:p>
          <a:p>
            <a:pPr>
              <a:spcBef>
                <a:spcPts val="0"/>
              </a:spcBef>
            </a:pPr>
            <a:endParaRPr lang="zh-CN" altLang="en-US" dirty="0">
              <a:solidFill>
                <a:srgbClr val="0001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49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r>
              <a:rPr lang="en-US" altLang="zh-CN" dirty="0"/>
              <a:t>---</a:t>
            </a:r>
            <a:r>
              <a:rPr lang="zh-CN" altLang="en-US" dirty="0"/>
              <a:t>在有序表中删除一个结点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student* </a:t>
            </a:r>
            <a:r>
              <a:rPr lang="en-US" altLang="zh-CN" sz="1600" dirty="0" err="1"/>
              <a:t>removeSortedLink</a:t>
            </a:r>
            <a:r>
              <a:rPr lang="en-US" altLang="zh-CN" sz="1600" dirty="0"/>
              <a:t>(student *head,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ID)   //return head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node *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=head, *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=head;	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if (head==NULL)  return head;    //empty list 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while (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!=NULL &amp;&amp; 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-&gt;ID != ID)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{  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if (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==NULL)    return head;  //not find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else </a:t>
            </a:r>
            <a:r>
              <a:rPr lang="en-US" altLang="zh-CN" sz="1600" dirty="0">
                <a:solidFill>
                  <a:srgbClr val="030DCD"/>
                </a:solidFill>
              </a:rPr>
              <a:t>if (</a:t>
            </a:r>
            <a:r>
              <a:rPr lang="en-US" altLang="zh-CN" sz="1600" dirty="0" err="1">
                <a:solidFill>
                  <a:srgbClr val="030DCD"/>
                </a:solidFill>
              </a:rPr>
              <a:t>pNext</a:t>
            </a:r>
            <a:r>
              <a:rPr lang="en-US" altLang="zh-CN" sz="1600" dirty="0">
                <a:solidFill>
                  <a:srgbClr val="030DCD"/>
                </a:solidFill>
              </a:rPr>
              <a:t>==head)   //delete first element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{	head = 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free(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);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}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else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{	 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-&gt;next=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free(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}  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return head;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8639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遍历</a:t>
            </a:r>
            <a:r>
              <a:rPr lang="zh-CN" altLang="en-US" dirty="0"/>
              <a:t>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 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(student *head)   //</a:t>
            </a:r>
            <a:r>
              <a:rPr lang="zh-CN" altLang="en-US" sz="1800" dirty="0"/>
              <a:t>输出链表数据，返回链表长度</a:t>
            </a:r>
            <a:endParaRPr lang="en-US" altLang="zh-CN" sz="1800" dirty="0"/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 length=0;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*p = head;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if (head==NULL)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(“Empty List\n");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while(p!=NULL)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("%d ",p-&gt;ID);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p=p-&gt;next;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length++;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}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return length;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947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使用前述函数插入、删除与遍历链表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void Link()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student *head=NULL;	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//-------  Insert  ---------------------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insertSortedLink</a:t>
            </a:r>
            <a:r>
              <a:rPr lang="en-US" altLang="zh-CN" sz="1800" dirty="0"/>
              <a:t>(head, 3);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insertSortedLink</a:t>
            </a:r>
            <a:r>
              <a:rPr lang="en-US" altLang="zh-CN" sz="1800" dirty="0"/>
              <a:t>(head, 5);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//-------  Delete  ---------------------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(head, 2);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(head, 3);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(head, 5);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2322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拓展（比较难，可以不做）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已知有两个链表</a:t>
                </a:r>
                <a:r>
                  <a:rPr lang="en-US" altLang="zh-CN" dirty="0" err="1"/>
                  <a:t>a,b</a:t>
                </a:r>
                <a:r>
                  <a:rPr lang="zh-CN" altLang="en-US" dirty="0"/>
                  <a:t>，每个链表的结点包括学号与成绩，把两个链表合并，按学号升序排列；</a:t>
                </a: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利用链表表示多项式，并实现多项式的加减运算；</a:t>
                </a:r>
                <a:endParaRPr lang="en-US" altLang="zh-CN" dirty="0"/>
              </a:p>
              <a:p>
                <a:pPr marL="971550"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dirty="0"/>
                  <a:t>+……+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971550" lvl="1"/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=0,1,…,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可以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1" t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84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7.3.3 </a:t>
            </a:r>
            <a:r>
              <a:rPr lang="zh-CN" altLang="en-US" dirty="0" smtClean="0"/>
              <a:t>循环链表（循环单链表）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2975274"/>
            <a:ext cx="8089900" cy="349219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</a:rPr>
              <a:t>最后一个结点的指针</a:t>
            </a:r>
            <a:r>
              <a:rPr lang="zh-CN" altLang="en-US" b="1" dirty="0" smtClean="0">
                <a:solidFill>
                  <a:srgbClr val="C00000"/>
                </a:solidFill>
              </a:rPr>
              <a:t>指向链表首结点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863600" y="1209831"/>
            <a:ext cx="5829300" cy="1170742"/>
            <a:chOff x="685800" y="1282739"/>
            <a:chExt cx="5829300" cy="1170742"/>
          </a:xfrm>
        </p:grpSpPr>
        <p:grpSp>
          <p:nvGrpSpPr>
            <p:cNvPr id="6" name="组合 5"/>
            <p:cNvGrpSpPr/>
            <p:nvPr/>
          </p:nvGrpSpPr>
          <p:grpSpPr>
            <a:xfrm>
              <a:off x="685800" y="1568573"/>
              <a:ext cx="749300" cy="747122"/>
              <a:chOff x="685800" y="1568573"/>
              <a:chExt cx="749300" cy="747122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724478" y="194636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85800" y="1568573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303DF"/>
                    </a:solidFill>
                    <a:latin typeface="+mn-ea"/>
                    <a:ea typeface="+mn-ea"/>
                  </a:rPr>
                  <a:t>head</a:t>
                </a:r>
                <a:endParaRPr lang="zh-CN" altLang="en-US" b="1" dirty="0">
                  <a:solidFill>
                    <a:srgbClr val="0303DF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943100" y="1282739"/>
              <a:ext cx="749300" cy="1131054"/>
              <a:chOff x="673100" y="1282978"/>
              <a:chExt cx="749300" cy="1131054"/>
            </a:xfrm>
          </p:grpSpPr>
          <p:sp>
            <p:nvSpPr>
              <p:cNvPr id="33" name="矩形 32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" name="直接连接符 33"/>
              <p:cNvCxnSpPr>
                <a:stCxn id="33" idx="1"/>
                <a:endCxn id="33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文本框 34"/>
              <p:cNvSpPr txBox="1"/>
              <p:nvPr/>
            </p:nvSpPr>
            <p:spPr>
              <a:xfrm>
                <a:off x="749300" y="2044700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1356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673100" y="1282978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A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8" name="肘形连接符 7"/>
            <p:cNvCxnSpPr>
              <a:endCxn id="37" idx="1"/>
            </p:cNvCxnSpPr>
            <p:nvPr/>
          </p:nvCxnSpPr>
          <p:spPr bwMode="auto">
            <a:xfrm flipV="1">
              <a:off x="1485900" y="1910356"/>
              <a:ext cx="495300" cy="606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9" name="组合 8"/>
            <p:cNvGrpSpPr/>
            <p:nvPr/>
          </p:nvGrpSpPr>
          <p:grpSpPr>
            <a:xfrm>
              <a:off x="2692400" y="1282978"/>
              <a:ext cx="1270000" cy="1131054"/>
              <a:chOff x="2692400" y="1282978"/>
              <a:chExt cx="1270000" cy="113105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8" name="矩形 27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9" name="直接连接符 28"/>
                <p:cNvCxnSpPr>
                  <a:stCxn id="28" idx="1"/>
                  <a:endCxn id="28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" name="文本框 29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7" name="肘形连接符 26"/>
              <p:cNvCxnSpPr>
                <a:endCxn id="32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3987800" y="1322427"/>
              <a:ext cx="1270000" cy="1131054"/>
              <a:chOff x="2692400" y="1282978"/>
              <a:chExt cx="1270000" cy="113105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2" name="直接连接符 21"/>
                <p:cNvCxnSpPr>
                  <a:stCxn id="21" idx="1"/>
                  <a:endCxn id="21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" name="文本框 22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0" name="肘形连接符 19"/>
              <p:cNvCxnSpPr>
                <a:endCxn id="25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1" name="组合 10"/>
            <p:cNvGrpSpPr/>
            <p:nvPr/>
          </p:nvGrpSpPr>
          <p:grpSpPr>
            <a:xfrm>
              <a:off x="5245100" y="1319846"/>
              <a:ext cx="1270000" cy="1131054"/>
              <a:chOff x="2692400" y="1282978"/>
              <a:chExt cx="1270000" cy="1131054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14" name="矩形 13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5" name="直接连接符 14"/>
                <p:cNvCxnSpPr>
                  <a:stCxn id="14" idx="1"/>
                  <a:endCxn id="14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" name="文本框 15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b="1" dirty="0">
                    <a:solidFill>
                      <a:srgbClr val="0303DF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3" name="肘形连接符 12"/>
              <p:cNvCxnSpPr>
                <a:endCxn id="18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</p:grpSp>
      <p:cxnSp>
        <p:nvCxnSpPr>
          <p:cNvPr id="82" name="直接连接符 81"/>
          <p:cNvCxnSpPr/>
          <p:nvPr/>
        </p:nvCxnSpPr>
        <p:spPr bwMode="auto">
          <a:xfrm flipH="1">
            <a:off x="6273800" y="2196146"/>
            <a:ext cx="12700" cy="4581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直接连接符 82"/>
          <p:cNvCxnSpPr/>
          <p:nvPr/>
        </p:nvCxnSpPr>
        <p:spPr bwMode="auto">
          <a:xfrm flipH="1">
            <a:off x="2431473" y="2650281"/>
            <a:ext cx="3855027" cy="356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直接箭头连接符 87"/>
          <p:cNvCxnSpPr/>
          <p:nvPr/>
        </p:nvCxnSpPr>
        <p:spPr bwMode="auto">
          <a:xfrm flipV="1">
            <a:off x="2431473" y="2380574"/>
            <a:ext cx="0" cy="3053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5" name="矩形 44"/>
          <p:cNvSpPr/>
          <p:nvPr/>
        </p:nvSpPr>
        <p:spPr>
          <a:xfrm>
            <a:off x="5943600" y="197913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80808"/>
                </a:solidFill>
                <a:latin typeface="+mn-ea"/>
              </a:rPr>
              <a:t>1249</a:t>
            </a:r>
            <a:endParaRPr lang="zh-CN" altLang="en-US" dirty="0">
              <a:solidFill>
                <a:srgbClr val="080808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047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532" y="1093761"/>
            <a:ext cx="8089900" cy="349219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6600"/>
                </a:solidFill>
              </a:rPr>
              <a:t>在单向链表中，遍历链表的终止条件是什么？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/>
              <a:t>while(</a:t>
            </a:r>
            <a:r>
              <a:rPr lang="en-US" altLang="zh-CN" b="1" dirty="0">
                <a:solidFill>
                  <a:srgbClr val="C00000"/>
                </a:solidFill>
              </a:rPr>
              <a:t>p!=NULL</a:t>
            </a:r>
            <a:r>
              <a:rPr lang="en-US" altLang="zh-CN" dirty="0"/>
              <a:t>)</a:t>
            </a:r>
            <a:endParaRPr lang="en-US" altLang="zh-CN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6600"/>
                </a:solidFill>
              </a:rPr>
              <a:t>循环链表呢？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080808"/>
                </a:solidFill>
              </a:rPr>
              <a:t>while (</a:t>
            </a:r>
            <a:r>
              <a:rPr lang="en-US" altLang="zh-CN" b="1" dirty="0">
                <a:solidFill>
                  <a:srgbClr val="C00000"/>
                </a:solidFill>
              </a:rPr>
              <a:t>p!=head</a:t>
            </a:r>
            <a:r>
              <a:rPr lang="en-US" altLang="zh-CN" dirty="0">
                <a:solidFill>
                  <a:srgbClr val="080808"/>
                </a:solidFill>
              </a:rPr>
              <a:t>)</a:t>
            </a:r>
            <a:endParaRPr lang="zh-CN" alt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33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创建</a:t>
            </a:r>
            <a:r>
              <a:rPr lang="zh-CN" altLang="en-US" dirty="0"/>
              <a:t>循环链表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创建一个长度为</a:t>
            </a:r>
            <a:r>
              <a:rPr lang="en-US" altLang="zh-CN" dirty="0"/>
              <a:t>n</a:t>
            </a:r>
            <a:r>
              <a:rPr lang="zh-CN" altLang="en-US" dirty="0"/>
              <a:t>的循环链表</a:t>
            </a:r>
            <a:endParaRPr lang="en-US" altLang="zh-CN" dirty="0"/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00"/>
                </a:solidFill>
              </a:rPr>
              <a:t>//</a:t>
            </a:r>
            <a:r>
              <a:rPr lang="zh-CN" altLang="en-US" sz="2400" dirty="0">
                <a:solidFill>
                  <a:srgbClr val="006600"/>
                </a:solidFill>
              </a:rPr>
              <a:t>定义</a:t>
            </a:r>
            <a:r>
              <a:rPr lang="zh-CN" altLang="en-US" sz="2400" dirty="0" smtClean="0">
                <a:solidFill>
                  <a:srgbClr val="006600"/>
                </a:solidFill>
              </a:rPr>
              <a:t>结点结构体</a:t>
            </a:r>
            <a:endParaRPr lang="en-US" altLang="zh-CN" sz="2400" dirty="0">
              <a:solidFill>
                <a:srgbClr val="006600"/>
              </a:solidFill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student {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ID;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/>
              <a:t>    char name[8];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/>
              <a:t>    unsigned </a:t>
            </a:r>
            <a:r>
              <a:rPr lang="en-US" altLang="zh-CN" sz="2400" dirty="0" err="1"/>
              <a:t>C_language</a:t>
            </a:r>
            <a:r>
              <a:rPr lang="en-US" altLang="zh-CN" sz="2400" dirty="0"/>
              <a:t>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303DF"/>
                </a:solidFill>
              </a:rPr>
              <a:t>   </a:t>
            </a:r>
            <a:r>
              <a:rPr lang="en-US" altLang="zh-CN" sz="2400" dirty="0" err="1">
                <a:solidFill>
                  <a:srgbClr val="0303DF"/>
                </a:solidFill>
              </a:rPr>
              <a:t>struct</a:t>
            </a:r>
            <a:r>
              <a:rPr lang="en-US" altLang="zh-CN" sz="2400" dirty="0">
                <a:solidFill>
                  <a:srgbClr val="0303DF"/>
                </a:solidFill>
              </a:rPr>
              <a:t>  student *next;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sz="2400" dirty="0"/>
              <a:t>} ;</a:t>
            </a:r>
          </a:p>
          <a:p>
            <a:pPr lvl="1" indent="0">
              <a:spcBef>
                <a:spcPts val="0"/>
              </a:spcBef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07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创建</a:t>
            </a:r>
            <a:r>
              <a:rPr lang="zh-CN" altLang="en-US" dirty="0"/>
              <a:t>循环</a:t>
            </a:r>
            <a:r>
              <a:rPr lang="zh-CN" altLang="en-US" dirty="0" smtClean="0"/>
              <a:t>链表（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dirty="0" err="1">
                <a:solidFill>
                  <a:srgbClr val="7030A0"/>
                </a:solidFill>
              </a:rPr>
              <a:t>struct</a:t>
            </a:r>
            <a:r>
              <a:rPr lang="en-US" altLang="zh-CN" dirty="0">
                <a:solidFill>
                  <a:srgbClr val="7030A0"/>
                </a:solidFill>
              </a:rPr>
              <a:t> student *</a:t>
            </a:r>
            <a:r>
              <a:rPr lang="en-US" altLang="zh-CN" dirty="0" err="1">
                <a:solidFill>
                  <a:srgbClr val="7030A0"/>
                </a:solidFill>
              </a:rPr>
              <a:t>CreateList</a:t>
            </a:r>
            <a:r>
              <a:rPr lang="en-US" altLang="zh-CN" dirty="0">
                <a:solidFill>
                  <a:srgbClr val="7030A0"/>
                </a:solidFill>
              </a:rPr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int</a:t>
            </a:r>
            <a:r>
              <a:rPr lang="en-US" altLang="zh-CN" dirty="0">
                <a:solidFill>
                  <a:srgbClr val="7030A0"/>
                </a:solidFill>
              </a:rPr>
              <a:t> n)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{     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        //</a:t>
            </a:r>
            <a:r>
              <a:rPr lang="zh-CN" altLang="en-US" sz="2000" dirty="0">
                <a:solidFill>
                  <a:srgbClr val="7030A0"/>
                </a:solidFill>
              </a:rPr>
              <a:t>建立</a:t>
            </a:r>
            <a:r>
              <a:rPr lang="en-US" altLang="zh-CN" sz="2000" dirty="0">
                <a:solidFill>
                  <a:srgbClr val="7030A0"/>
                </a:solidFill>
              </a:rPr>
              <a:t>n</a:t>
            </a:r>
            <a:r>
              <a:rPr lang="zh-CN" altLang="en-US" sz="2000" dirty="0">
                <a:solidFill>
                  <a:srgbClr val="7030A0"/>
                </a:solidFill>
              </a:rPr>
              <a:t>个结点的循环链表，返回头指针；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声明头指针</a:t>
            </a:r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student *head;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student *p;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dirty="0">
                <a:solidFill>
                  <a:srgbClr val="006600"/>
                </a:solidFill>
              </a:rPr>
              <a:t>创建第一个结点</a:t>
            </a:r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/>
              <a:t>p=(</a:t>
            </a:r>
            <a:r>
              <a:rPr lang="en-US" altLang="zh-CN" dirty="0" err="1"/>
              <a:t>struct</a:t>
            </a:r>
            <a:r>
              <a:rPr lang="en-US" altLang="zh-CN" dirty="0"/>
              <a:t> student *)</a:t>
            </a:r>
            <a:r>
              <a:rPr lang="en-US" altLang="zh-CN" dirty="0" err="1">
                <a:solidFill>
                  <a:srgbClr val="006600"/>
                </a:solidFill>
              </a:rPr>
              <a:t>malloc</a:t>
            </a:r>
            <a:r>
              <a:rPr lang="en-US" altLang="zh-CN" dirty="0"/>
              <a:t>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struct</a:t>
            </a:r>
            <a:r>
              <a:rPr lang="en-US" altLang="zh-CN" dirty="0"/>
              <a:t> student));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/>
              <a:t>p-&gt;next=NULL;   //</a:t>
            </a:r>
            <a:r>
              <a:rPr lang="zh-CN" altLang="en-US" dirty="0"/>
              <a:t>赋值结点</a:t>
            </a:r>
            <a:r>
              <a:rPr lang="en-US" altLang="zh-CN" dirty="0"/>
              <a:t>p</a:t>
            </a:r>
            <a:r>
              <a:rPr lang="zh-CN" altLang="en-US" dirty="0"/>
              <a:t>的其它成员变量</a:t>
            </a:r>
            <a:endParaRPr lang="en-US" altLang="zh-CN" dirty="0"/>
          </a:p>
          <a:p>
            <a:pPr lvl="1" indent="0">
              <a:spcBef>
                <a:spcPts val="0"/>
              </a:spcBef>
              <a:buNone/>
            </a:pPr>
            <a:r>
              <a:rPr lang="en-US" altLang="zh-CN" dirty="0"/>
              <a:t>head=p;</a:t>
            </a:r>
          </a:p>
          <a:p>
            <a:pPr lvl="1" indent="0">
              <a:spcBef>
                <a:spcPts val="0"/>
              </a:spcBef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2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创建</a:t>
            </a:r>
            <a:r>
              <a:rPr lang="zh-CN" altLang="en-US" dirty="0"/>
              <a:t>循环</a:t>
            </a:r>
            <a:r>
              <a:rPr lang="zh-CN" altLang="en-US" dirty="0" smtClean="0"/>
              <a:t>链表（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01025" cy="5345112"/>
          </a:xfrm>
        </p:spPr>
        <p:txBody>
          <a:bodyPr/>
          <a:lstStyle/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00"/>
                </a:solidFill>
              </a:rPr>
              <a:t>	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student *node;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00"/>
                </a:solidFill>
              </a:rPr>
              <a:t>	node=head;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=2;i&lt;=</a:t>
            </a:r>
            <a:r>
              <a:rPr lang="en-US" altLang="zh-CN" dirty="0" err="1"/>
              <a:t>n;i</a:t>
            </a:r>
            <a:r>
              <a:rPr lang="en-US" altLang="zh-CN" dirty="0"/>
              <a:t>++)   //</a:t>
            </a:r>
            <a:r>
              <a:rPr lang="zh-CN" altLang="en-US" dirty="0"/>
              <a:t>依次创建</a:t>
            </a:r>
            <a:endParaRPr lang="en-US" altLang="zh-CN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	{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00"/>
                </a:solidFill>
              </a:rPr>
              <a:t>    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person *p;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 p=(</a:t>
            </a:r>
            <a:r>
              <a:rPr lang="en-US" altLang="zh-CN" dirty="0" err="1">
                <a:solidFill>
                  <a:srgbClr val="FF0000"/>
                </a:solidFill>
              </a:rPr>
              <a:t>struct</a:t>
            </a:r>
            <a:r>
              <a:rPr lang="en-US" altLang="zh-CN" dirty="0">
                <a:solidFill>
                  <a:srgbClr val="FF0000"/>
                </a:solidFill>
              </a:rPr>
              <a:t> student *)</a:t>
            </a:r>
            <a:r>
              <a:rPr lang="en-US" altLang="zh-CN" dirty="0" err="1">
                <a:solidFill>
                  <a:srgbClr val="0303DF"/>
                </a:solidFill>
              </a:rPr>
              <a:t>malloc</a:t>
            </a:r>
            <a:r>
              <a:rPr lang="en-US" altLang="zh-CN" dirty="0"/>
              <a:t>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dirty="0" err="1"/>
              <a:t>struct</a:t>
            </a:r>
            <a:r>
              <a:rPr lang="en-US" altLang="zh-CN" dirty="0"/>
              <a:t> student));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 if (p==NULL) return NULL;  //</a:t>
            </a:r>
            <a:r>
              <a:rPr lang="zh-CN" altLang="en-US" dirty="0"/>
              <a:t>无法为新结点申请空间</a:t>
            </a:r>
            <a:endParaRPr lang="en-US" altLang="zh-CN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7030A0"/>
                </a:solidFill>
              </a:rPr>
              <a:t>    p-&gt;ID=</a:t>
            </a:r>
            <a:r>
              <a:rPr lang="en-US" altLang="zh-CN" dirty="0" err="1">
                <a:solidFill>
                  <a:srgbClr val="7030A0"/>
                </a:solidFill>
              </a:rPr>
              <a:t>i</a:t>
            </a:r>
            <a:r>
              <a:rPr lang="en-US" altLang="zh-CN" dirty="0">
                <a:solidFill>
                  <a:srgbClr val="7030A0"/>
                </a:solidFill>
              </a:rPr>
              <a:t>; p-&gt;name=“…”; p-&gt;score= =rand()%101;</a:t>
            </a:r>
            <a:r>
              <a:rPr lang="zh-CN" altLang="en-US" b="1" dirty="0">
                <a:solidFill>
                  <a:srgbClr val="0303DF"/>
                </a:solidFill>
              </a:rPr>
              <a:t>  </a:t>
            </a:r>
            <a:r>
              <a:rPr lang="en-US" altLang="zh-CN" b="1" dirty="0">
                <a:solidFill>
                  <a:srgbClr val="0303DF"/>
                </a:solidFill>
              </a:rPr>
              <a:t>p-&gt;next=NULL;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b="1" dirty="0">
                <a:solidFill>
                  <a:srgbClr val="006600"/>
                </a:solidFill>
              </a:rPr>
              <a:t>    node-&gt;next=p;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006600"/>
                </a:solidFill>
              </a:rPr>
              <a:t>	    node=p;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}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   </a:t>
            </a:r>
            <a:r>
              <a:rPr lang="en-US" altLang="zh-CN" b="1" u="sng" dirty="0">
                <a:solidFill>
                  <a:srgbClr val="C00000"/>
                </a:solidFill>
              </a:rPr>
              <a:t>node-&gt;next=head;  //</a:t>
            </a:r>
            <a:r>
              <a:rPr lang="zh-CN" altLang="en-US" b="1" u="sng" dirty="0">
                <a:solidFill>
                  <a:srgbClr val="C00000"/>
                </a:solidFill>
              </a:rPr>
              <a:t>尾结点指向头结点，循环链表</a:t>
            </a:r>
            <a:endParaRPr lang="en-US" altLang="zh-CN" b="1" u="sng" dirty="0">
              <a:solidFill>
                <a:srgbClr val="C0000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return head;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7030A0"/>
                </a:solidFill>
              </a:rPr>
              <a:t>} //</a:t>
            </a:r>
            <a:r>
              <a:rPr lang="en-US" altLang="zh-CN" dirty="0" err="1">
                <a:solidFill>
                  <a:srgbClr val="7030A0"/>
                </a:solidFill>
              </a:rPr>
              <a:t>struct</a:t>
            </a:r>
            <a:r>
              <a:rPr lang="en-US" altLang="zh-CN" dirty="0">
                <a:solidFill>
                  <a:srgbClr val="7030A0"/>
                </a:solidFill>
              </a:rPr>
              <a:t> student *</a:t>
            </a:r>
            <a:r>
              <a:rPr lang="en-US" altLang="zh-CN" dirty="0" err="1">
                <a:solidFill>
                  <a:srgbClr val="7030A0"/>
                </a:solidFill>
              </a:rPr>
              <a:t>CreateList</a:t>
            </a:r>
            <a:r>
              <a:rPr lang="en-US" altLang="zh-CN" dirty="0">
                <a:solidFill>
                  <a:srgbClr val="7030A0"/>
                </a:solidFill>
              </a:rPr>
              <a:t>(void) </a:t>
            </a:r>
          </a:p>
          <a:p>
            <a:pPr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26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遍历</a:t>
            </a:r>
            <a:r>
              <a:rPr lang="zh-CN" altLang="en-US" dirty="0">
                <a:solidFill>
                  <a:srgbClr val="030DCD"/>
                </a:solidFill>
              </a:rPr>
              <a:t>循环链表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输出结点信息，返回链表长度</a:t>
            </a:r>
            <a:endParaRPr lang="en-US" altLang="zh-CN" dirty="0"/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 </a:t>
            </a:r>
            <a:r>
              <a:rPr lang="en-US" altLang="zh-CN" sz="1800" dirty="0" err="1">
                <a:solidFill>
                  <a:srgbClr val="080808"/>
                </a:solidFill>
              </a:rPr>
              <a:t>outputList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*head) {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>
                <a:solidFill>
                  <a:srgbClr val="080808"/>
                </a:solidFill>
              </a:rPr>
              <a:t>struct</a:t>
            </a:r>
            <a:r>
              <a:rPr lang="en-US" altLang="zh-CN" sz="1800" dirty="0">
                <a:solidFill>
                  <a:srgbClr val="080808"/>
                </a:solidFill>
              </a:rPr>
              <a:t> student *p;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p=head;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length=0;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while (</a:t>
            </a:r>
            <a:r>
              <a:rPr lang="en-US" altLang="zh-CN" sz="1800" b="1" u="sng" dirty="0">
                <a:solidFill>
                  <a:srgbClr val="C00000"/>
                </a:solidFill>
              </a:rPr>
              <a:t>p!=head</a:t>
            </a:r>
            <a:r>
              <a:rPr lang="en-US" altLang="zh-CN" sz="1800" dirty="0">
                <a:solidFill>
                  <a:srgbClr val="080808"/>
                </a:solidFill>
              </a:rPr>
              <a:t>)       //</a:t>
            </a:r>
            <a:r>
              <a:rPr lang="zh-CN" altLang="en-US" sz="1800" dirty="0">
                <a:solidFill>
                  <a:srgbClr val="030DCD"/>
                </a:solidFill>
              </a:rPr>
              <a:t>注：对于单向链表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 while (</a:t>
            </a:r>
            <a:r>
              <a:rPr lang="en-US" altLang="zh-CN" sz="1800" dirty="0">
                <a:solidFill>
                  <a:srgbClr val="C00000"/>
                </a:solidFill>
              </a:rPr>
              <a:t>p!=NULL</a:t>
            </a:r>
            <a:r>
              <a:rPr lang="en-US" altLang="zh-CN" sz="1800" dirty="0">
                <a:solidFill>
                  <a:srgbClr val="080808"/>
                </a:solidFill>
              </a:rPr>
              <a:t>) 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{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 length++;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//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(“%d, %s, %u\</a:t>
            </a:r>
            <a:r>
              <a:rPr lang="en-US" altLang="zh-CN" sz="1800" dirty="0" err="1">
                <a:solidFill>
                  <a:srgbClr val="080808"/>
                </a:solidFill>
              </a:rPr>
              <a:t>n”,p</a:t>
            </a:r>
            <a:r>
              <a:rPr lang="en-US" altLang="zh-CN" sz="1800" dirty="0">
                <a:solidFill>
                  <a:srgbClr val="080808"/>
                </a:solidFill>
              </a:rPr>
              <a:t>-&gt;</a:t>
            </a:r>
            <a:r>
              <a:rPr lang="en-US" altLang="zh-CN" sz="1800" dirty="0" err="1">
                <a:solidFill>
                  <a:srgbClr val="080808"/>
                </a:solidFill>
              </a:rPr>
              <a:t>ID,p</a:t>
            </a:r>
            <a:r>
              <a:rPr lang="en-US" altLang="zh-CN" sz="1800" dirty="0">
                <a:solidFill>
                  <a:srgbClr val="080808"/>
                </a:solidFill>
              </a:rPr>
              <a:t>-&gt;</a:t>
            </a:r>
            <a:r>
              <a:rPr lang="en-US" altLang="zh-CN" sz="1800" dirty="0" err="1">
                <a:solidFill>
                  <a:srgbClr val="080808"/>
                </a:solidFill>
              </a:rPr>
              <a:t>name,p</a:t>
            </a:r>
            <a:r>
              <a:rPr lang="en-US" altLang="zh-CN" sz="1800" dirty="0">
                <a:solidFill>
                  <a:srgbClr val="080808"/>
                </a:solidFill>
              </a:rPr>
              <a:t>-&gt;score);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7030A0"/>
                </a:solidFill>
              </a:rPr>
              <a:t>   p=p-&gt;next;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return length;  //</a:t>
            </a:r>
            <a:r>
              <a:rPr lang="zh-CN" altLang="en-US" sz="1800" dirty="0">
                <a:solidFill>
                  <a:srgbClr val="080808"/>
                </a:solidFill>
              </a:rPr>
              <a:t>返回链表的长度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74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循环</a:t>
            </a:r>
            <a:r>
              <a:rPr lang="zh-CN" altLang="en-US" dirty="0"/>
              <a:t>链表例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猴子选大王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N</a:t>
            </a:r>
            <a:r>
              <a:rPr lang="zh-CN" altLang="en-US" sz="1800" dirty="0"/>
              <a:t>（</a:t>
            </a:r>
            <a:r>
              <a:rPr lang="en-US" altLang="zh-CN" sz="1800" dirty="0"/>
              <a:t>N&gt;=2</a:t>
            </a:r>
            <a:r>
              <a:rPr lang="zh-CN" altLang="en-US" sz="1800" dirty="0"/>
              <a:t>）个猴子围城一圈，顺时针从</a:t>
            </a:r>
            <a:r>
              <a:rPr lang="en-US" altLang="zh-CN" sz="1800" dirty="0"/>
              <a:t>1</a:t>
            </a:r>
            <a:r>
              <a:rPr lang="zh-CN" altLang="en-US" sz="1800" dirty="0"/>
              <a:t>到</a:t>
            </a:r>
            <a:r>
              <a:rPr lang="en-US" altLang="zh-CN" sz="1800" dirty="0"/>
              <a:t>n</a:t>
            </a:r>
            <a:r>
              <a:rPr lang="zh-CN" altLang="en-US" sz="1800" dirty="0"/>
              <a:t>编号，之后从</a:t>
            </a:r>
            <a:r>
              <a:rPr lang="en-US" altLang="zh-CN" sz="1800" dirty="0"/>
              <a:t>1</a:t>
            </a:r>
            <a:r>
              <a:rPr lang="zh-CN" altLang="en-US" sz="1800" dirty="0"/>
              <a:t>号开始沿顺时针方向让猴子从</a:t>
            </a:r>
            <a:r>
              <a:rPr lang="en-US" altLang="zh-CN" sz="1800" dirty="0"/>
              <a:t>1,2,3,…,m</a:t>
            </a:r>
            <a:r>
              <a:rPr lang="zh-CN" altLang="en-US" sz="1800" dirty="0"/>
              <a:t>依次报数，凡是报到</a:t>
            </a:r>
            <a:r>
              <a:rPr lang="en-US" altLang="zh-CN" sz="1800" dirty="0"/>
              <a:t>m</a:t>
            </a:r>
            <a:r>
              <a:rPr lang="zh-CN" altLang="en-US" sz="1800" dirty="0"/>
              <a:t>的猴子让其出圈，取消大王的候选资格。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然后从下一个猴子开始重新计数；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不停地重复上述过程，最后剩余的一个就是猴王。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过程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建立猴子的结构体；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建立循环链表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</a:t>
            </a:r>
            <a:r>
              <a:rPr lang="en-US" altLang="zh-CN" sz="1800" dirty="0"/>
              <a:t>1</a:t>
            </a:r>
            <a:r>
              <a:rPr lang="zh-CN" altLang="en-US" sz="1800" dirty="0"/>
              <a:t>开始计数依次增</a:t>
            </a:r>
            <a:r>
              <a:rPr lang="en-US" altLang="zh-CN" sz="1800" dirty="0"/>
              <a:t>1</a:t>
            </a:r>
            <a:r>
              <a:rPr lang="zh-CN" altLang="en-US" sz="1800" dirty="0"/>
              <a:t>计数，让计数为</a:t>
            </a:r>
            <a:r>
              <a:rPr lang="en-US" altLang="zh-CN" sz="1800" dirty="0"/>
              <a:t>m</a:t>
            </a:r>
            <a:r>
              <a:rPr lang="zh-CN" altLang="en-US" sz="1800" dirty="0"/>
              <a:t>的猴子出圈；直至剩余一个猴子为止；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输出大王；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459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循环链表例</a:t>
            </a:r>
            <a:r>
              <a:rPr lang="en-US" altLang="zh-CN" dirty="0"/>
              <a:t>---</a:t>
            </a:r>
            <a:r>
              <a:rPr lang="zh-CN" altLang="en-US" dirty="0"/>
              <a:t>猴子选大王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定义猴子的结构体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 </a:t>
            </a:r>
            <a:r>
              <a:rPr lang="en-US" altLang="zh-CN" dirty="0" err="1"/>
              <a:t>mon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{</a:t>
            </a:r>
          </a:p>
          <a:p>
            <a:pPr marL="28575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num</a:t>
            </a:r>
            <a:r>
              <a:rPr lang="en-US" altLang="zh-CN" dirty="0"/>
              <a:t>;</a:t>
            </a:r>
          </a:p>
          <a:p>
            <a:pPr marL="28575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mon</a:t>
            </a:r>
            <a:r>
              <a:rPr lang="en-US" altLang="zh-CN" dirty="0"/>
              <a:t> *next;</a:t>
            </a:r>
          </a:p>
          <a:p>
            <a:pPr marL="285750" lvl="1" indent="0">
              <a:buNone/>
            </a:pP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85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循环链表例</a:t>
            </a:r>
            <a:r>
              <a:rPr lang="en-US" altLang="zh-CN" dirty="0"/>
              <a:t>---</a:t>
            </a:r>
            <a:r>
              <a:rPr lang="zh-CN" altLang="en-US" dirty="0"/>
              <a:t>猴子选大王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创建循环链表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* </a:t>
            </a:r>
            <a:r>
              <a:rPr lang="en-US" altLang="zh-CN" sz="1800" dirty="0" err="1"/>
              <a:t>CreateList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 //</a:t>
            </a:r>
            <a:r>
              <a:rPr lang="zh-CN" altLang="en-US" sz="1800" dirty="0"/>
              <a:t>建立有</a:t>
            </a:r>
            <a:r>
              <a:rPr lang="en-US" altLang="zh-CN" sz="1800" dirty="0"/>
              <a:t>n</a:t>
            </a:r>
            <a:r>
              <a:rPr lang="zh-CN" altLang="en-US" sz="1800" dirty="0"/>
              <a:t>个结点的循环链表，返回头指针</a:t>
            </a:r>
            <a:br>
              <a:rPr lang="zh-CN" altLang="en-US" sz="1800" dirty="0"/>
            </a:br>
            <a:r>
              <a:rPr lang="en-US" altLang="zh-CN" sz="1800" dirty="0"/>
              <a:t>{</a:t>
            </a:r>
            <a:r>
              <a:rPr lang="zh-CN" altLang="en-US" sz="1800" dirty="0"/>
              <a:t/>
            </a:r>
            <a:br>
              <a:rPr lang="zh-CN" altLang="en-US" sz="1800" dirty="0"/>
            </a:br>
            <a:r>
              <a:rPr lang="zh-CN" altLang="en-US" sz="1800" dirty="0"/>
              <a:t>   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newNode</a:t>
            </a:r>
            <a:r>
              <a:rPr lang="zh-CN" altLang="en-US" sz="1800" dirty="0"/>
              <a:t>，</a:t>
            </a:r>
            <a:r>
              <a:rPr lang="en-US" altLang="zh-CN" sz="1800" dirty="0"/>
              <a:t>*p=NULL, </a:t>
            </a:r>
            <a:r>
              <a:rPr lang="zh-CN" altLang="en-US" sz="1800" dirty="0"/>
              <a:t> </a:t>
            </a:r>
            <a:r>
              <a:rPr lang="en-US" altLang="zh-CN" sz="1800" dirty="0"/>
              <a:t>*head=NULL;</a:t>
            </a:r>
            <a:r>
              <a:rPr lang="zh-CN" altLang="en-US" sz="1800" dirty="0"/>
              <a:t> 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   for(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=1;i&lt;=</a:t>
            </a:r>
            <a:r>
              <a:rPr lang="en-US" altLang="zh-CN" sz="1800" dirty="0" err="1"/>
              <a:t>n;i</a:t>
            </a:r>
            <a:r>
              <a:rPr lang="en-US" altLang="zh-CN" sz="1800" dirty="0"/>
              <a:t>++)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=(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*)</a:t>
            </a:r>
            <a:r>
              <a:rPr lang="en-US" altLang="zh-CN" sz="1800" dirty="0" err="1"/>
              <a:t>malloc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));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-&gt;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=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-&gt;next=NULL;</a:t>
            </a:r>
            <a:br>
              <a:rPr lang="en-US" altLang="zh-CN" sz="1800" dirty="0"/>
            </a:br>
            <a:r>
              <a:rPr lang="en-US" altLang="zh-CN" sz="1800" dirty="0"/>
              <a:t>         if (head==NULL)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head=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else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p-&gt;next=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p=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p-&gt;next=head;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return head;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8894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循环链表例</a:t>
            </a:r>
            <a:r>
              <a:rPr lang="en-US" altLang="zh-CN" dirty="0"/>
              <a:t>---</a:t>
            </a:r>
            <a:r>
              <a:rPr lang="zh-CN" altLang="en-US" dirty="0"/>
              <a:t>猴子选大王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选大王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* election(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head,int</a:t>
            </a:r>
            <a:r>
              <a:rPr lang="en-US" altLang="zh-CN" sz="1800" dirty="0"/>
              <a:t> m)  //</a:t>
            </a:r>
            <a:r>
              <a:rPr lang="zh-CN" altLang="en-US" sz="1800" dirty="0"/>
              <a:t>计数为</a:t>
            </a:r>
            <a:r>
              <a:rPr lang="en-US" altLang="zh-CN" sz="1800" dirty="0"/>
              <a:t>m</a:t>
            </a:r>
            <a:r>
              <a:rPr lang="zh-CN" altLang="en-US" sz="1800" dirty="0"/>
              <a:t>的出圈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*p1=head, *p2=head;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count=0;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while (p2-&gt;next!=head)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p2=p2-&gt;next;   //p2</a:t>
            </a:r>
            <a:r>
              <a:rPr lang="zh-CN" altLang="en-US" sz="1800" dirty="0"/>
              <a:t>指向最后一个结点；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while (p1-&gt;next!=p1)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count++;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if (count==m)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{ p2-&gt;next=p1-&gt;next, free(p1), p1=p2-&gt;next, count=0;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else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{   p2=p1, p1=p1-&gt;next;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return p2;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950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循环链表例</a:t>
            </a:r>
            <a:r>
              <a:rPr lang="en-US" altLang="zh-CN" dirty="0"/>
              <a:t>---</a:t>
            </a:r>
            <a:r>
              <a:rPr lang="zh-CN" altLang="en-US" dirty="0"/>
              <a:t>猴子选大王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输出大王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outputKing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*head)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(“The King is %d\n”, head-&gt;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);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/>
          </a:p>
          <a:p>
            <a:pPr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主函数</a:t>
            </a:r>
            <a:endParaRPr lang="en-US" altLang="zh-CN" sz="22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mon</a:t>
            </a:r>
            <a:r>
              <a:rPr lang="en-US" altLang="zh-CN" sz="1800" dirty="0"/>
              <a:t> *head=</a:t>
            </a:r>
            <a:r>
              <a:rPr lang="en-US" altLang="zh-CN" sz="1800" dirty="0" err="1"/>
              <a:t>CreateList</a:t>
            </a:r>
            <a:r>
              <a:rPr lang="en-US" altLang="zh-CN" sz="1800" dirty="0"/>
              <a:t>(100);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//head = election(head,1);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head = election(head,5);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outputKing</a:t>
            </a:r>
            <a:r>
              <a:rPr lang="en-US" altLang="zh-CN" sz="1800" dirty="0"/>
              <a:t>(head) 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return 0;</a:t>
            </a:r>
            <a:br>
              <a:rPr lang="en-US" altLang="zh-CN" sz="1800" dirty="0"/>
            </a:br>
            <a:r>
              <a:rPr lang="en-US" altLang="zh-CN" sz="1800" dirty="0"/>
              <a:t>}  </a:t>
            </a:r>
          </a:p>
          <a:p>
            <a:pPr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2230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双向链表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3577" y="1021783"/>
            <a:ext cx="8096598" cy="16216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每个</a:t>
            </a:r>
            <a:r>
              <a:rPr lang="zh-CN" altLang="en-US" sz="2000" dirty="0" smtClean="0"/>
              <a:t>结点包含两个指针</a:t>
            </a:r>
            <a:endParaRPr lang="en-US" altLang="zh-CN" sz="2000" dirty="0" smtClean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前向指针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后向指针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例如：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00" y="2825441"/>
            <a:ext cx="7991475" cy="141922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00" y="4531562"/>
            <a:ext cx="8096598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3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双向链表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结点</a:t>
            </a:r>
            <a:r>
              <a:rPr lang="zh-CN" altLang="en-US" dirty="0" smtClean="0"/>
              <a:t>定义</a:t>
            </a:r>
            <a:endParaRPr lang="en-US" altLang="zh-CN" dirty="0" smtClean="0"/>
          </a:p>
          <a:p>
            <a:pPr marL="285750"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Node</a:t>
            </a:r>
          </a:p>
          <a:p>
            <a:pPr marL="285750" lvl="1" indent="0">
              <a:buNone/>
            </a:pPr>
            <a:r>
              <a:rPr lang="en-US" altLang="zh-CN" dirty="0"/>
              <a:t>{       </a:t>
            </a:r>
          </a:p>
          <a:p>
            <a:pPr marL="285750" lvl="1" indent="0">
              <a:buNone/>
            </a:pPr>
            <a:r>
              <a:rPr lang="en-US" altLang="zh-CN" dirty="0"/>
              <a:t>       char </a:t>
            </a:r>
            <a:r>
              <a:rPr lang="en-US" altLang="zh-CN" dirty="0" err="1"/>
              <a:t>elem</a:t>
            </a:r>
            <a:r>
              <a:rPr lang="en-US" altLang="zh-CN" dirty="0"/>
              <a:t>; </a:t>
            </a:r>
            <a:r>
              <a:rPr lang="en-US" altLang="zh-CN" dirty="0" smtClean="0"/>
              <a:t>  </a:t>
            </a:r>
            <a:r>
              <a:rPr lang="en-US" altLang="zh-CN" dirty="0"/>
              <a:t>//</a:t>
            </a:r>
            <a:r>
              <a:rPr lang="zh-CN" altLang="en-US" dirty="0"/>
              <a:t>根据问题描述定义结点中存储的数据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>
                <a:solidFill>
                  <a:srgbClr val="7030A0"/>
                </a:solidFill>
              </a:rPr>
              <a:t>struct</a:t>
            </a:r>
            <a:r>
              <a:rPr lang="en-US" altLang="zh-CN" dirty="0">
                <a:solidFill>
                  <a:srgbClr val="7030A0"/>
                </a:solidFill>
              </a:rPr>
              <a:t> Node* </a:t>
            </a:r>
            <a:r>
              <a:rPr lang="en-US" altLang="zh-CN" dirty="0" err="1">
                <a:solidFill>
                  <a:srgbClr val="7030A0"/>
                </a:solidFill>
              </a:rPr>
              <a:t>Prev</a:t>
            </a:r>
            <a:r>
              <a:rPr lang="en-US" altLang="zh-CN" dirty="0">
                <a:solidFill>
                  <a:srgbClr val="7030A0"/>
                </a:solidFill>
              </a:rPr>
              <a:t>;   //</a:t>
            </a:r>
            <a:r>
              <a:rPr lang="zh-CN" altLang="en-US" dirty="0">
                <a:solidFill>
                  <a:srgbClr val="7030A0"/>
                </a:solidFill>
              </a:rPr>
              <a:t>前向指针</a:t>
            </a:r>
            <a:endParaRPr lang="en-US" altLang="zh-CN" dirty="0">
              <a:solidFill>
                <a:srgbClr val="7030A0"/>
              </a:solidFill>
            </a:endParaRPr>
          </a:p>
          <a:p>
            <a:pPr marL="285750" lvl="1" indent="0">
              <a:buNone/>
            </a:pPr>
            <a:r>
              <a:rPr lang="en-US" altLang="zh-CN" dirty="0">
                <a:solidFill>
                  <a:srgbClr val="7030A0"/>
                </a:solidFill>
              </a:rPr>
              <a:t>       </a:t>
            </a:r>
            <a:r>
              <a:rPr lang="en-US" altLang="zh-CN" dirty="0" err="1">
                <a:solidFill>
                  <a:srgbClr val="030DCD"/>
                </a:solidFill>
              </a:rPr>
              <a:t>struct</a:t>
            </a:r>
            <a:r>
              <a:rPr lang="en-US" altLang="zh-CN" dirty="0">
                <a:solidFill>
                  <a:srgbClr val="030DCD"/>
                </a:solidFill>
              </a:rPr>
              <a:t> Node* Next;   //</a:t>
            </a:r>
            <a:r>
              <a:rPr lang="zh-CN" altLang="en-US" dirty="0">
                <a:solidFill>
                  <a:srgbClr val="030DCD"/>
                </a:solidFill>
              </a:rPr>
              <a:t>后向指针</a:t>
            </a:r>
            <a:endParaRPr lang="en-US" altLang="zh-CN" dirty="0">
              <a:solidFill>
                <a:srgbClr val="030DCD"/>
              </a:solidFill>
            </a:endParaRPr>
          </a:p>
          <a:p>
            <a:pPr marL="285750" lvl="1" indent="0">
              <a:buNone/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717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创建双向链表</a:t>
            </a:r>
            <a:r>
              <a:rPr lang="en-US" altLang="zh-CN" dirty="0" smtClean="0"/>
              <a:t>-</a:t>
            </a:r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56889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创建循环链表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Node* </a:t>
            </a:r>
            <a:r>
              <a:rPr lang="en-US" altLang="zh-CN" sz="1800" dirty="0" err="1"/>
              <a:t>CreateList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 //</a:t>
            </a:r>
            <a:r>
              <a:rPr lang="zh-CN" altLang="en-US" sz="1800" dirty="0"/>
              <a:t>建立有</a:t>
            </a:r>
            <a:r>
              <a:rPr lang="en-US" altLang="zh-CN" sz="1800" dirty="0"/>
              <a:t>n</a:t>
            </a:r>
            <a:r>
              <a:rPr lang="zh-CN" altLang="en-US" sz="1800" dirty="0"/>
              <a:t>个结点</a:t>
            </a:r>
            <a:r>
              <a:rPr lang="zh-CN" altLang="en-US" sz="1800" dirty="0" smtClean="0"/>
              <a:t>的双向链表</a:t>
            </a:r>
            <a:r>
              <a:rPr lang="zh-CN" altLang="en-US" sz="1800" dirty="0"/>
              <a:t>，返回头指针</a:t>
            </a:r>
            <a:br>
              <a:rPr lang="zh-CN" altLang="en-US" sz="1800" dirty="0"/>
            </a:br>
            <a:r>
              <a:rPr lang="en-US" altLang="zh-CN" sz="1800" dirty="0"/>
              <a:t>{</a:t>
            </a:r>
            <a:r>
              <a:rPr lang="zh-CN" altLang="en-US" sz="1800" dirty="0"/>
              <a:t/>
            </a:r>
            <a:br>
              <a:rPr lang="zh-CN" altLang="en-US" sz="1800" dirty="0"/>
            </a:br>
            <a:r>
              <a:rPr lang="zh-CN" altLang="en-US" sz="1800" dirty="0" smtClean="0"/>
              <a:t>   </a:t>
            </a: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 </a:t>
            </a:r>
            <a:r>
              <a:rPr lang="en-US" altLang="zh-CN" sz="1800" dirty="0"/>
              <a:t>Node *</a:t>
            </a:r>
            <a:r>
              <a:rPr lang="en-US" altLang="zh-CN" sz="1800" dirty="0" err="1"/>
              <a:t>newNode</a:t>
            </a:r>
            <a:r>
              <a:rPr lang="zh-CN" altLang="en-US" sz="1800" dirty="0"/>
              <a:t>，</a:t>
            </a:r>
            <a:r>
              <a:rPr lang="en-US" altLang="zh-CN" sz="1800" dirty="0"/>
              <a:t>*p=NULL, </a:t>
            </a:r>
            <a:r>
              <a:rPr lang="zh-CN" altLang="en-US" sz="1800" dirty="0"/>
              <a:t> </a:t>
            </a:r>
            <a:r>
              <a:rPr lang="en-US" altLang="zh-CN" sz="1800" dirty="0"/>
              <a:t>*head=NULL;</a:t>
            </a:r>
            <a:r>
              <a:rPr lang="zh-CN" altLang="en-US" sz="1800" dirty="0"/>
              <a:t> 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   for(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=1;i&lt;=</a:t>
            </a:r>
            <a:r>
              <a:rPr lang="en-US" altLang="zh-CN" sz="1800" dirty="0" err="1"/>
              <a:t>n;i</a:t>
            </a:r>
            <a:r>
              <a:rPr lang="en-US" altLang="zh-CN" sz="1800" dirty="0"/>
              <a:t>++)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=(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Node </a:t>
            </a:r>
            <a:r>
              <a:rPr lang="en-US" altLang="zh-CN" sz="1800" dirty="0"/>
              <a:t>*)</a:t>
            </a:r>
            <a:r>
              <a:rPr lang="en-US" altLang="zh-CN" sz="1800" dirty="0" err="1"/>
              <a:t>malloc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Node));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>
                <a:solidFill>
                  <a:srgbClr val="7030A0"/>
                </a:solidFill>
              </a:rPr>
              <a:t>newNode</a:t>
            </a:r>
            <a:r>
              <a:rPr lang="en-US" altLang="zh-CN" sz="1800" dirty="0">
                <a:solidFill>
                  <a:srgbClr val="7030A0"/>
                </a:solidFill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</a:rPr>
              <a:t>-&gt;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prev</a:t>
            </a:r>
            <a:r>
              <a:rPr lang="en-US" altLang="zh-CN" sz="1800" dirty="0" smtClean="0">
                <a:solidFill>
                  <a:srgbClr val="7030A0"/>
                </a:solidFill>
              </a:rPr>
              <a:t>=NULL</a:t>
            </a:r>
            <a:r>
              <a:rPr lang="en-US" altLang="zh-CN" sz="1800" dirty="0" smtClean="0"/>
              <a:t>, </a:t>
            </a:r>
            <a:r>
              <a:rPr lang="en-US" altLang="zh-CN" sz="1800" dirty="0" err="1">
                <a:solidFill>
                  <a:srgbClr val="030DCD"/>
                </a:solidFill>
              </a:rPr>
              <a:t>newNode</a:t>
            </a:r>
            <a:r>
              <a:rPr lang="en-US" altLang="zh-CN" sz="1800" dirty="0">
                <a:solidFill>
                  <a:srgbClr val="030DCD"/>
                </a:solidFill>
              </a:rPr>
              <a:t> -&gt;</a:t>
            </a:r>
            <a:r>
              <a:rPr lang="en-US" altLang="zh-CN" sz="1800" dirty="0" smtClean="0">
                <a:solidFill>
                  <a:srgbClr val="C00000"/>
                </a:solidFill>
              </a:rPr>
              <a:t>next</a:t>
            </a:r>
            <a:r>
              <a:rPr lang="en-US" altLang="zh-CN" sz="1800" dirty="0" smtClean="0">
                <a:solidFill>
                  <a:srgbClr val="030DCD"/>
                </a:solidFill>
              </a:rPr>
              <a:t>=NULL</a:t>
            </a:r>
            <a:r>
              <a:rPr lang="zh-CN" altLang="en-US" sz="1800" dirty="0" smtClean="0"/>
              <a:t>，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newNode</a:t>
            </a:r>
            <a:r>
              <a:rPr lang="en-US" altLang="zh-CN" sz="1800" dirty="0" smtClean="0"/>
              <a:t>-&gt;</a:t>
            </a:r>
            <a:r>
              <a:rPr lang="en-US" altLang="zh-CN" sz="1800" dirty="0" err="1" smtClean="0"/>
              <a:t>elem</a:t>
            </a:r>
            <a:r>
              <a:rPr lang="en-US" altLang="zh-CN" sz="1800" dirty="0" smtClean="0"/>
              <a:t>=…;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         if (head==NULL)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head=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else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p-&gt;next= </a:t>
            </a:r>
            <a:r>
              <a:rPr lang="en-US" altLang="zh-CN" sz="1800" dirty="0" err="1" smtClean="0"/>
              <a:t>newNode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newNode</a:t>
            </a:r>
            <a:r>
              <a:rPr lang="en-US" altLang="zh-CN" sz="1800" dirty="0" smtClean="0"/>
              <a:t>-&gt;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prev</a:t>
            </a:r>
            <a:r>
              <a:rPr lang="en-US" altLang="zh-CN" sz="1800" dirty="0" smtClean="0"/>
              <a:t>=p;</a:t>
            </a:r>
            <a:endParaRPr lang="en-US" altLang="zh-CN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p=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smtClean="0"/>
              <a:t>      return </a:t>
            </a:r>
            <a:r>
              <a:rPr lang="en-US" altLang="zh-CN" sz="1800" dirty="0"/>
              <a:t>head;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4772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二叉树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1101061"/>
          </a:xfrm>
        </p:spPr>
        <p:txBody>
          <a:bodyPr/>
          <a:lstStyle/>
          <a:p>
            <a:pPr marL="342900" lvl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 </a:t>
            </a:r>
            <a:r>
              <a:rPr lang="zh-CN" altLang="en-US" sz="1800" dirty="0"/>
              <a:t>一颗二叉树是一个节点的有限集合，是由一个根节点和两个子树构成；每个子树又有两个子树。这两个子树分为左子树和右子树，且顺序不能</a:t>
            </a:r>
            <a:r>
              <a:rPr lang="zh-CN" altLang="en-US" dirty="0" smtClean="0"/>
              <a:t>颠倒；</a:t>
            </a:r>
            <a:endParaRPr lang="en-US" altLang="zh-CN" dirty="0" smtClean="0"/>
          </a:p>
          <a:p>
            <a:pPr marL="342900" lvl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如下图，一颗二叉树就像一</a:t>
            </a:r>
            <a:r>
              <a:rPr lang="zh-CN" altLang="en-US" dirty="0"/>
              <a:t>个倒着的</a:t>
            </a:r>
            <a:r>
              <a:rPr lang="zh-CN" altLang="en-US" dirty="0" smtClean="0"/>
              <a:t>树；</a:t>
            </a:r>
            <a:endParaRPr lang="zh-CN" altLang="en-US" sz="1800" dirty="0"/>
          </a:p>
        </p:txBody>
      </p:sp>
      <p:pic>
        <p:nvPicPr>
          <p:cNvPr id="1028" name="Picture 4" descr="https://img-blog.csdn.net/201804161129202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06" y="2662093"/>
            <a:ext cx="59817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60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利用结构体指针存储二叉树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275628"/>
          </a:xfrm>
        </p:spPr>
        <p:txBody>
          <a:bodyPr/>
          <a:lstStyle/>
          <a:p>
            <a:pPr marL="0" lvl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1A93C8"/>
                </a:solidFill>
                <a:sym typeface="Arial" panose="020B0604020202020204" pitchFamily="34" charset="0"/>
              </a:rPr>
              <a:t>二叉树经常采用如下两种方式存储：</a:t>
            </a:r>
            <a:endParaRPr lang="en-US" altLang="zh-CN" dirty="0">
              <a:solidFill>
                <a:srgbClr val="1A93C8"/>
              </a:solidFill>
              <a:sym typeface="Arial" panose="020B0604020202020204" pitchFamily="34" charset="0"/>
            </a:endParaRPr>
          </a:p>
          <a:p>
            <a:pPr marL="742950" lvl="3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/>
              <a:t>顺序</a:t>
            </a:r>
            <a:r>
              <a:rPr lang="zh-CN" altLang="en-US" sz="1800" dirty="0" smtClean="0"/>
              <a:t>存储（采用数组）</a:t>
            </a:r>
            <a:endParaRPr lang="en-US" altLang="zh-CN" sz="1800" dirty="0"/>
          </a:p>
          <a:p>
            <a:pPr marL="742950" lvl="3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/>
              <a:t>链式存储。</a:t>
            </a:r>
          </a:p>
          <a:p>
            <a:pPr marL="742950" lvl="3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62" y="2481003"/>
            <a:ext cx="71723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0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二叉树的操作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结点定义</a:t>
            </a:r>
            <a:endParaRPr lang="en-US" altLang="zh-CN" sz="2000" dirty="0" smtClean="0"/>
          </a:p>
          <a:p>
            <a:pPr marL="285750" lvl="1" indent="0">
              <a:buNone/>
            </a:pPr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TreeNode</a:t>
            </a:r>
            <a:endParaRPr lang="en-US" altLang="zh-CN" sz="1600" dirty="0"/>
          </a:p>
          <a:p>
            <a:pPr marL="285750" lvl="1" indent="0">
              <a:buNone/>
            </a:pPr>
            <a:r>
              <a:rPr lang="en-US" altLang="zh-CN" sz="1600" dirty="0" smtClean="0"/>
              <a:t>{       </a:t>
            </a:r>
            <a:endParaRPr lang="en-US" altLang="zh-CN" sz="1600" dirty="0"/>
          </a:p>
          <a:p>
            <a:pPr marL="285750" lvl="1" indent="0">
              <a:buNone/>
            </a:pPr>
            <a:r>
              <a:rPr lang="en-US" altLang="zh-CN" sz="1600" dirty="0" smtClean="0"/>
              <a:t>       char </a:t>
            </a:r>
            <a:r>
              <a:rPr lang="en-US" altLang="zh-CN" sz="1600" dirty="0" err="1" smtClean="0"/>
              <a:t>elem</a:t>
            </a:r>
            <a:r>
              <a:rPr lang="en-US" altLang="zh-CN" sz="1600" dirty="0" smtClean="0"/>
              <a:t>; //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elem</a:t>
            </a:r>
            <a:r>
              <a:rPr lang="en-US" altLang="zh-CN" sz="1600" dirty="0" smtClean="0"/>
              <a:t>;     //</a:t>
            </a:r>
            <a:r>
              <a:rPr lang="zh-CN" altLang="en-US" sz="1600" dirty="0"/>
              <a:t>根据问题描述定义结点中存储的数据</a:t>
            </a:r>
            <a:endParaRPr lang="en-US" altLang="zh-CN" sz="1600" dirty="0" smtClean="0"/>
          </a:p>
          <a:p>
            <a:pPr marL="28575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struct</a:t>
            </a:r>
            <a:r>
              <a:rPr lang="en-US" altLang="zh-CN" sz="1600" dirty="0" smtClean="0"/>
              <a:t> </a:t>
            </a:r>
            <a:r>
              <a:rPr lang="en-US" altLang="zh-CN" sz="1600" dirty="0" err="1"/>
              <a:t>TreeNode</a:t>
            </a:r>
            <a:r>
              <a:rPr lang="en-US" altLang="zh-CN" sz="1600" dirty="0"/>
              <a:t>* </a:t>
            </a:r>
            <a:r>
              <a:rPr lang="en-US" altLang="zh-CN" sz="1600" dirty="0" err="1">
                <a:solidFill>
                  <a:srgbClr val="C00000"/>
                </a:solidFill>
              </a:rPr>
              <a:t>lchild</a:t>
            </a:r>
            <a:r>
              <a:rPr lang="en-US" altLang="zh-CN" sz="1600" dirty="0"/>
              <a:t>;   //</a:t>
            </a:r>
            <a:r>
              <a:rPr lang="zh-CN" altLang="en-US" sz="1600" dirty="0"/>
              <a:t>左结点</a:t>
            </a:r>
            <a:r>
              <a:rPr lang="en-US" altLang="zh-CN" sz="1600" dirty="0" smtClean="0"/>
              <a:t>       </a:t>
            </a:r>
          </a:p>
          <a:p>
            <a:pPr marL="285750" lvl="1" indent="0">
              <a:buNone/>
            </a:pPr>
            <a:r>
              <a:rPr lang="en-US" altLang="zh-CN" sz="1600" dirty="0" smtClean="0"/>
              <a:t>       </a:t>
            </a:r>
            <a:r>
              <a:rPr lang="en-US" altLang="zh-CN" sz="1600" dirty="0" err="1" smtClean="0"/>
              <a:t>struct</a:t>
            </a:r>
            <a:r>
              <a:rPr lang="en-US" altLang="zh-CN" sz="1600" dirty="0" smtClean="0"/>
              <a:t> </a:t>
            </a:r>
            <a:r>
              <a:rPr lang="en-US" altLang="zh-CN" sz="1600" dirty="0" err="1"/>
              <a:t>TreeNode</a:t>
            </a:r>
            <a:r>
              <a:rPr lang="en-US" altLang="zh-CN" sz="1600" dirty="0"/>
              <a:t>* </a:t>
            </a:r>
            <a:r>
              <a:rPr lang="en-US" altLang="zh-CN" sz="1600" dirty="0" err="1">
                <a:solidFill>
                  <a:srgbClr val="C00000"/>
                </a:solidFill>
              </a:rPr>
              <a:t>rchild</a:t>
            </a:r>
            <a:r>
              <a:rPr lang="en-US" altLang="zh-CN" sz="1600" dirty="0" smtClean="0"/>
              <a:t>;   //</a:t>
            </a:r>
            <a:r>
              <a:rPr lang="zh-CN" altLang="en-US" sz="1600" dirty="0" smtClean="0"/>
              <a:t>右结点</a:t>
            </a:r>
            <a:endParaRPr lang="en-US" altLang="zh-CN" sz="1600" dirty="0"/>
          </a:p>
          <a:p>
            <a:pPr marL="285750" lvl="1" indent="0">
              <a:buNone/>
            </a:pPr>
            <a:r>
              <a:rPr lang="en-US" altLang="zh-CN" sz="1600" dirty="0" smtClean="0"/>
              <a:t>}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二叉树的操作</a:t>
            </a:r>
            <a:endParaRPr lang="en-US" altLang="zh-CN" sz="2000" dirty="0" smtClean="0"/>
          </a:p>
          <a:p>
            <a:pPr marL="971550" lvl="1"/>
            <a:r>
              <a:rPr lang="zh-CN" altLang="en-US" sz="1600" dirty="0" smtClean="0"/>
              <a:t>创建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遍历：前序、中序、后续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计算高度</a:t>
            </a:r>
            <a:endParaRPr lang="en-US" altLang="zh-CN" sz="1600" dirty="0" smtClean="0"/>
          </a:p>
          <a:p>
            <a:pPr marL="971550" lvl="1"/>
            <a:r>
              <a:rPr lang="en-US" altLang="zh-CN" sz="1600" dirty="0" smtClean="0"/>
              <a:t>……</a:t>
            </a:r>
          </a:p>
          <a:p>
            <a:pPr marL="971550" lvl="1"/>
            <a:endParaRPr lang="en-US" altLang="zh-CN" sz="1600" dirty="0" smtClean="0"/>
          </a:p>
          <a:p>
            <a:pPr marL="971550"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285750" lvl="1" indent="0">
              <a:buNone/>
            </a:pP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95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>
                <a:solidFill>
                  <a:srgbClr val="FF0000"/>
                </a:solidFill>
              </a:rPr>
              <a:t>拓展提高</a:t>
            </a:r>
            <a:r>
              <a:rPr lang="en-US" altLang="zh-CN" dirty="0"/>
              <a:t>---</a:t>
            </a:r>
            <a:r>
              <a:rPr lang="zh-CN" altLang="en-US" dirty="0"/>
              <a:t>利用</a:t>
            </a:r>
            <a:r>
              <a:rPr lang="zh-CN" altLang="en-US" dirty="0">
                <a:solidFill>
                  <a:srgbClr val="7030A0"/>
                </a:solidFill>
              </a:rPr>
              <a:t>二级指针</a:t>
            </a:r>
            <a:r>
              <a:rPr lang="zh-CN" altLang="en-US" dirty="0"/>
              <a:t>实现链表操作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在前面实现的链表的插入与删除结点的方法中，</a:t>
            </a:r>
            <a:r>
              <a:rPr lang="zh-CN" altLang="en-US" sz="2000" b="1" u="sng" dirty="0"/>
              <a:t>需要记住要</a:t>
            </a:r>
            <a:r>
              <a:rPr lang="zh-CN" altLang="en-US" sz="2000" b="1" u="sng" dirty="0">
                <a:solidFill>
                  <a:srgbClr val="006600"/>
                </a:solidFill>
              </a:rPr>
              <a:t>插入</a:t>
            </a:r>
            <a:r>
              <a:rPr lang="zh-CN" altLang="en-US" sz="2000" b="1" u="sng" dirty="0"/>
              <a:t>与</a:t>
            </a:r>
            <a:r>
              <a:rPr lang="zh-CN" altLang="en-US" sz="2000" b="1" u="sng" dirty="0">
                <a:solidFill>
                  <a:srgbClr val="006600"/>
                </a:solidFill>
              </a:rPr>
              <a:t>删除</a:t>
            </a:r>
            <a:r>
              <a:rPr lang="zh-CN" altLang="en-US" sz="2000" b="1" u="sng" dirty="0"/>
              <a:t>结点的</a:t>
            </a:r>
            <a:r>
              <a:rPr lang="zh-CN" altLang="en-US" sz="2000" b="1" u="sng" dirty="0">
                <a:solidFill>
                  <a:srgbClr val="7030A0"/>
                </a:solidFill>
              </a:rPr>
              <a:t>前一个结点</a:t>
            </a:r>
            <a:r>
              <a:rPr lang="zh-CN" altLang="en-US" sz="2000" b="1" u="sng" dirty="0"/>
              <a:t>的位置；</a:t>
            </a:r>
            <a:endParaRPr lang="en-US" altLang="zh-CN" sz="2000" b="1" u="sng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030DCD"/>
                </a:solidFill>
              </a:rPr>
              <a:t>对于</a:t>
            </a:r>
            <a:r>
              <a:rPr lang="zh-CN" altLang="en-US" sz="2000" b="1" u="sng" dirty="0">
                <a:solidFill>
                  <a:srgbClr val="C00000"/>
                </a:solidFill>
              </a:rPr>
              <a:t>头结点</a:t>
            </a:r>
            <a:r>
              <a:rPr lang="zh-CN" altLang="en-US" sz="2000" b="1" u="sng" dirty="0">
                <a:solidFill>
                  <a:srgbClr val="030DCD"/>
                </a:solidFill>
              </a:rPr>
              <a:t>的</a:t>
            </a:r>
            <a:r>
              <a:rPr lang="zh-CN" altLang="en-US" sz="2000" b="1" u="sng" dirty="0">
                <a:solidFill>
                  <a:srgbClr val="7030A0"/>
                </a:solidFill>
              </a:rPr>
              <a:t>插入与删除</a:t>
            </a:r>
            <a:r>
              <a:rPr lang="zh-CN" altLang="en-US" sz="2000" b="1" u="sng" dirty="0">
                <a:solidFill>
                  <a:srgbClr val="030DCD"/>
                </a:solidFill>
              </a:rPr>
              <a:t>操作要单独处理；</a:t>
            </a:r>
            <a:endParaRPr lang="en-US" altLang="zh-CN" sz="2000" b="1" u="sng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Linux</a:t>
            </a:r>
            <a:r>
              <a:rPr lang="zh-CN" altLang="en-US" sz="2000" dirty="0"/>
              <a:t>内核的发明人</a:t>
            </a:r>
            <a:r>
              <a:rPr lang="en-US" altLang="zh-CN" sz="2000" dirty="0"/>
              <a:t>Linus Torvalds</a:t>
            </a:r>
            <a:r>
              <a:rPr lang="zh-CN" altLang="en-US" sz="2000" dirty="0"/>
              <a:t>认为，</a:t>
            </a:r>
            <a:r>
              <a:rPr lang="zh-CN" altLang="en-US" sz="2000" b="1" dirty="0">
                <a:solidFill>
                  <a:srgbClr val="C00000"/>
                </a:solidFill>
              </a:rPr>
              <a:t>上述链表的操作方法是不理解指针的表现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使用</a:t>
            </a:r>
            <a:r>
              <a:rPr lang="zh-CN" altLang="en-US" sz="2000" b="1" u="sng" dirty="0">
                <a:solidFill>
                  <a:srgbClr val="006600"/>
                </a:solidFill>
              </a:rPr>
              <a:t>二级指针</a:t>
            </a:r>
            <a:r>
              <a:rPr lang="zh-CN" altLang="en-US" sz="2000" dirty="0">
                <a:solidFill>
                  <a:srgbClr val="7030A0"/>
                </a:solidFill>
              </a:rPr>
              <a:t>可以避免这些问题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67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回顾</a:t>
            </a:r>
            <a:r>
              <a:rPr lang="zh-CN" altLang="en-US" dirty="0"/>
              <a:t>链表的插入操作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9950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在传统的链表插入操作中，需要利用指针</a:t>
            </a:r>
            <a:r>
              <a:rPr lang="en-US" altLang="zh-CN" dirty="0" err="1"/>
              <a:t>prev</a:t>
            </a:r>
            <a:r>
              <a:rPr lang="zh-CN" altLang="en-US" dirty="0"/>
              <a:t>记录插入节点位置的前趋节点，还要检查是否插入在头结点位置；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755936" y="2447230"/>
            <a:ext cx="7218795" cy="1691435"/>
            <a:chOff x="883805" y="1045113"/>
            <a:chExt cx="7218795" cy="2059735"/>
          </a:xfrm>
        </p:grpSpPr>
        <p:sp>
          <p:nvSpPr>
            <p:cNvPr id="40" name="文本框 39"/>
            <p:cNvSpPr txBox="1"/>
            <p:nvPr/>
          </p:nvSpPr>
          <p:spPr>
            <a:xfrm>
              <a:off x="883805" y="1514807"/>
              <a:ext cx="74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1943100" y="1478732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2" name="直接连接符 41"/>
            <p:cNvCxnSpPr>
              <a:stCxn id="41" idx="1"/>
              <a:endCxn id="41" idx="3"/>
            </p:cNvCxnSpPr>
            <p:nvPr/>
          </p:nvCxnSpPr>
          <p:spPr bwMode="auto">
            <a:xfrm>
              <a:off x="1943100" y="1847032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文本框 42"/>
            <p:cNvSpPr txBox="1"/>
            <p:nvPr/>
          </p:nvSpPr>
          <p:spPr>
            <a:xfrm>
              <a:off x="1981200" y="1528261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44" name="肘形连接符 43"/>
            <p:cNvCxnSpPr>
              <a:endCxn id="43" idx="1"/>
            </p:cNvCxnSpPr>
            <p:nvPr/>
          </p:nvCxnSpPr>
          <p:spPr bwMode="auto">
            <a:xfrm flipV="1">
              <a:off x="1530350" y="1712927"/>
              <a:ext cx="450850" cy="239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5" name="组合 44"/>
            <p:cNvGrpSpPr/>
            <p:nvPr/>
          </p:nvGrpSpPr>
          <p:grpSpPr>
            <a:xfrm>
              <a:off x="3213100" y="1045113"/>
              <a:ext cx="1879600" cy="1295673"/>
              <a:chOff x="673100" y="1242542"/>
              <a:chExt cx="1879600" cy="1295673"/>
            </a:xfrm>
          </p:grpSpPr>
          <p:sp>
            <p:nvSpPr>
              <p:cNvPr id="66" name="矩形 6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7" name="直接连接符 66"/>
              <p:cNvCxnSpPr>
                <a:stCxn id="66" idx="1"/>
                <a:endCxn id="6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8" name="文本框 6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11200" y="1242542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p1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1879600" y="216888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6" name="肘形连接符 45"/>
            <p:cNvCxnSpPr>
              <a:endCxn id="68" idx="1"/>
            </p:cNvCxnSpPr>
            <p:nvPr/>
          </p:nvCxnSpPr>
          <p:spPr bwMode="auto">
            <a:xfrm flipV="1">
              <a:off x="2425700" y="1713166"/>
              <a:ext cx="825500" cy="35587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7" name="组合 46"/>
            <p:cNvGrpSpPr/>
            <p:nvPr/>
          </p:nvGrpSpPr>
          <p:grpSpPr>
            <a:xfrm>
              <a:off x="6057900" y="1518420"/>
              <a:ext cx="749300" cy="736600"/>
              <a:chOff x="673100" y="1676400"/>
              <a:chExt cx="749300" cy="736600"/>
            </a:xfrm>
          </p:grpSpPr>
          <p:sp>
            <p:nvSpPr>
              <p:cNvPr id="63" name="矩形 62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4" name="直接连接符 63"/>
              <p:cNvCxnSpPr>
                <a:stCxn id="63" idx="1"/>
                <a:endCxn id="63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" name="文本框 64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8" name="肘形连接符 47"/>
            <p:cNvCxnSpPr>
              <a:endCxn id="53" idx="1"/>
            </p:cNvCxnSpPr>
            <p:nvPr/>
          </p:nvCxnSpPr>
          <p:spPr bwMode="auto">
            <a:xfrm>
              <a:off x="3689350" y="2044437"/>
              <a:ext cx="755650" cy="459992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9" name="组合 48"/>
            <p:cNvGrpSpPr/>
            <p:nvPr/>
          </p:nvGrpSpPr>
          <p:grpSpPr>
            <a:xfrm>
              <a:off x="7315200" y="1515839"/>
              <a:ext cx="749300" cy="736600"/>
              <a:chOff x="673100" y="1676400"/>
              <a:chExt cx="749300" cy="736600"/>
            </a:xfrm>
          </p:grpSpPr>
          <p:sp>
            <p:nvSpPr>
              <p:cNvPr id="60" name="矩形 59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1" name="直接连接符 60"/>
              <p:cNvCxnSpPr>
                <a:stCxn id="60" idx="1"/>
                <a:endCxn id="60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" name="文本框 61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50" name="肘形连接符 49"/>
            <p:cNvCxnSpPr>
              <a:endCxn id="62" idx="1"/>
            </p:cNvCxnSpPr>
            <p:nvPr/>
          </p:nvCxnSpPr>
          <p:spPr bwMode="auto">
            <a:xfrm flipV="1">
              <a:off x="6629400" y="1750034"/>
              <a:ext cx="723900" cy="31901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7429500" y="1823931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4406900" y="2368248"/>
              <a:ext cx="749300" cy="736600"/>
            </a:xfrm>
            <a:prstGeom prst="rect">
              <a:avLst/>
            </a:prstGeom>
            <a:solidFill>
              <a:srgbClr val="05A3DD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445000" y="2417777"/>
              <a:ext cx="647700" cy="369332"/>
            </a:xfrm>
            <a:prstGeom prst="rect">
              <a:avLst/>
            </a:prstGeom>
            <a:solidFill>
              <a:srgbClr val="05A3DD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E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54" name="肘形连接符 53"/>
            <p:cNvCxnSpPr>
              <a:endCxn id="65" idx="1"/>
            </p:cNvCxnSpPr>
            <p:nvPr/>
          </p:nvCxnSpPr>
          <p:spPr bwMode="auto">
            <a:xfrm flipV="1">
              <a:off x="4857750" y="1752615"/>
              <a:ext cx="1238250" cy="119517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55" name="肘形连接符 54"/>
            <p:cNvCxnSpPr/>
            <p:nvPr/>
          </p:nvCxnSpPr>
          <p:spPr bwMode="auto">
            <a:xfrm flipV="1">
              <a:off x="3898900" y="1598633"/>
              <a:ext cx="2139950" cy="33031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56" name="直接连接符 55"/>
            <p:cNvCxnSpPr>
              <a:stCxn id="52" idx="1"/>
              <a:endCxn id="52" idx="3"/>
            </p:cNvCxnSpPr>
            <p:nvPr/>
          </p:nvCxnSpPr>
          <p:spPr bwMode="auto">
            <a:xfrm>
              <a:off x="4406900" y="2736548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7" name="组合 56"/>
            <p:cNvGrpSpPr/>
            <p:nvPr/>
          </p:nvGrpSpPr>
          <p:grpSpPr>
            <a:xfrm>
              <a:off x="4978400" y="1478971"/>
              <a:ext cx="342900" cy="330200"/>
              <a:chOff x="7429500" y="3429000"/>
              <a:chExt cx="342900" cy="330200"/>
            </a:xfrm>
          </p:grpSpPr>
          <p:cxnSp>
            <p:nvCxnSpPr>
              <p:cNvPr id="58" name="直接连接符 57"/>
              <p:cNvCxnSpPr/>
              <p:nvPr/>
            </p:nvCxnSpPr>
            <p:spPr bwMode="auto">
              <a:xfrm>
                <a:off x="7429500" y="3429000"/>
                <a:ext cx="342900" cy="3302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直接连接符 58"/>
              <p:cNvCxnSpPr/>
              <p:nvPr/>
            </p:nvCxnSpPr>
            <p:spPr bwMode="auto">
              <a:xfrm flipH="1">
                <a:off x="7429500" y="3429000"/>
                <a:ext cx="342900" cy="28986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1" name="组合 70"/>
          <p:cNvGrpSpPr/>
          <p:nvPr/>
        </p:nvGrpSpPr>
        <p:grpSpPr>
          <a:xfrm>
            <a:off x="883227" y="4428437"/>
            <a:ext cx="7218795" cy="1441080"/>
            <a:chOff x="921327" y="1391750"/>
            <a:chExt cx="7218795" cy="1441080"/>
          </a:xfrm>
        </p:grpSpPr>
        <p:sp>
          <p:nvSpPr>
            <p:cNvPr id="72" name="文本框 71"/>
            <p:cNvSpPr txBox="1"/>
            <p:nvPr/>
          </p:nvSpPr>
          <p:spPr>
            <a:xfrm>
              <a:off x="921327" y="1488443"/>
              <a:ext cx="7493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3508084" y="1458819"/>
              <a:ext cx="749300" cy="60488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连接符 73"/>
            <p:cNvCxnSpPr>
              <a:stCxn id="73" idx="1"/>
              <a:endCxn id="73" idx="3"/>
            </p:cNvCxnSpPr>
            <p:nvPr/>
          </p:nvCxnSpPr>
          <p:spPr bwMode="auto">
            <a:xfrm>
              <a:off x="3508084" y="176126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" name="文本框 74"/>
            <p:cNvSpPr txBox="1"/>
            <p:nvPr/>
          </p:nvSpPr>
          <p:spPr>
            <a:xfrm>
              <a:off x="3546184" y="1499492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76" name="矩形 75"/>
            <p:cNvSpPr/>
            <p:nvPr/>
          </p:nvSpPr>
          <p:spPr bwMode="auto">
            <a:xfrm>
              <a:off x="4778084" y="1459015"/>
              <a:ext cx="749300" cy="60488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7" name="直接连接符 76"/>
            <p:cNvCxnSpPr>
              <a:stCxn id="76" idx="1"/>
              <a:endCxn id="76" idx="3"/>
            </p:cNvCxnSpPr>
            <p:nvPr/>
          </p:nvCxnSpPr>
          <p:spPr bwMode="auto">
            <a:xfrm>
              <a:off x="4778084" y="1761459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文本框 77"/>
            <p:cNvSpPr txBox="1"/>
            <p:nvPr/>
          </p:nvSpPr>
          <p:spPr>
            <a:xfrm>
              <a:off x="4816184" y="1499688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B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79" name="肘形连接符 78"/>
            <p:cNvCxnSpPr>
              <a:endCxn id="78" idx="1"/>
            </p:cNvCxnSpPr>
            <p:nvPr/>
          </p:nvCxnSpPr>
          <p:spPr bwMode="auto">
            <a:xfrm flipV="1">
              <a:off x="3990684" y="1651334"/>
              <a:ext cx="825500" cy="29224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80" name="组合 79"/>
            <p:cNvGrpSpPr/>
            <p:nvPr/>
          </p:nvGrpSpPr>
          <p:grpSpPr>
            <a:xfrm>
              <a:off x="6095422" y="1491410"/>
              <a:ext cx="749300" cy="604889"/>
              <a:chOff x="673100" y="1676400"/>
              <a:chExt cx="749300" cy="736600"/>
            </a:xfrm>
          </p:grpSpPr>
          <p:sp>
            <p:nvSpPr>
              <p:cNvPr id="99" name="矩形 98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0" name="直接连接符 99"/>
              <p:cNvCxnSpPr>
                <a:stCxn id="99" idx="1"/>
                <a:endCxn id="99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1" name="文本框 100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7352722" y="1489291"/>
              <a:ext cx="749300" cy="604889"/>
              <a:chOff x="673100" y="1676400"/>
              <a:chExt cx="749300" cy="736600"/>
            </a:xfrm>
          </p:grpSpPr>
          <p:sp>
            <p:nvSpPr>
              <p:cNvPr id="96" name="矩形 9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7" name="直接连接符 96"/>
              <p:cNvCxnSpPr>
                <a:stCxn id="96" idx="1"/>
                <a:endCxn id="9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8" name="文本框 9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82" name="肘形连接符 81"/>
            <p:cNvCxnSpPr>
              <a:endCxn id="98" idx="1"/>
            </p:cNvCxnSpPr>
            <p:nvPr/>
          </p:nvCxnSpPr>
          <p:spPr bwMode="auto">
            <a:xfrm flipV="1">
              <a:off x="6666922" y="1681609"/>
              <a:ext cx="723900" cy="26196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3" name="文本框 82"/>
            <p:cNvSpPr txBox="1"/>
            <p:nvPr/>
          </p:nvSpPr>
          <p:spPr>
            <a:xfrm>
              <a:off x="7467022" y="1742293"/>
              <a:ext cx="673100" cy="303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cxnSp>
          <p:nvCxnSpPr>
            <p:cNvPr id="84" name="肘形连接符 83"/>
            <p:cNvCxnSpPr>
              <a:endCxn id="101" idx="1"/>
            </p:cNvCxnSpPr>
            <p:nvPr/>
          </p:nvCxnSpPr>
          <p:spPr bwMode="auto">
            <a:xfrm flipV="1">
              <a:off x="5457247" y="1683729"/>
              <a:ext cx="676275" cy="21352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85" name="组合 84"/>
            <p:cNvGrpSpPr/>
            <p:nvPr/>
          </p:nvGrpSpPr>
          <p:grpSpPr>
            <a:xfrm>
              <a:off x="2064904" y="1900922"/>
              <a:ext cx="1396131" cy="931908"/>
              <a:chOff x="1242868" y="1903782"/>
              <a:chExt cx="1396131" cy="931908"/>
            </a:xfrm>
          </p:grpSpPr>
          <p:sp>
            <p:nvSpPr>
              <p:cNvPr id="90" name="文本框 89"/>
              <p:cNvSpPr txBox="1"/>
              <p:nvPr/>
            </p:nvSpPr>
            <p:spPr>
              <a:xfrm>
                <a:off x="1268268" y="1908453"/>
                <a:ext cx="673100" cy="30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b="1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91" name="肘形连接符 90"/>
              <p:cNvCxnSpPr/>
              <p:nvPr/>
            </p:nvCxnSpPr>
            <p:spPr bwMode="auto">
              <a:xfrm flipV="1">
                <a:off x="1775401" y="1903782"/>
                <a:ext cx="863598" cy="812254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grpSp>
            <p:nvGrpSpPr>
              <p:cNvPr id="92" name="组合 91"/>
              <p:cNvGrpSpPr/>
              <p:nvPr/>
            </p:nvGrpSpPr>
            <p:grpSpPr>
              <a:xfrm>
                <a:off x="1242868" y="2230801"/>
                <a:ext cx="749300" cy="604889"/>
                <a:chOff x="4444422" y="2189281"/>
                <a:chExt cx="749300" cy="604889"/>
              </a:xfrm>
            </p:grpSpPr>
            <p:sp>
              <p:nvSpPr>
                <p:cNvPr id="93" name="矩形 92"/>
                <p:cNvSpPr/>
                <p:nvPr/>
              </p:nvSpPr>
              <p:spPr bwMode="auto">
                <a:xfrm>
                  <a:off x="4444422" y="2189281"/>
                  <a:ext cx="749300" cy="604889"/>
                </a:xfrm>
                <a:prstGeom prst="rect">
                  <a:avLst/>
                </a:prstGeom>
                <a:solidFill>
                  <a:srgbClr val="05A3DD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文本框 93"/>
                <p:cNvSpPr txBox="1"/>
                <p:nvPr/>
              </p:nvSpPr>
              <p:spPr>
                <a:xfrm>
                  <a:off x="4482522" y="2229954"/>
                  <a:ext cx="647700" cy="303292"/>
                </a:xfrm>
                <a:prstGeom prst="rect">
                  <a:avLst/>
                </a:prstGeom>
                <a:solidFill>
                  <a:srgbClr val="05A3DD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E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cxnSp>
              <p:nvCxnSpPr>
                <p:cNvPr id="95" name="直接连接符 94"/>
                <p:cNvCxnSpPr>
                  <a:stCxn id="93" idx="1"/>
                  <a:endCxn id="93" idx="3"/>
                </p:cNvCxnSpPr>
                <p:nvPr/>
              </p:nvCxnSpPr>
              <p:spPr bwMode="auto">
                <a:xfrm>
                  <a:off x="4444422" y="2491726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86" name="肘形连接符 85"/>
            <p:cNvCxnSpPr/>
            <p:nvPr/>
          </p:nvCxnSpPr>
          <p:spPr bwMode="auto">
            <a:xfrm flipV="1">
              <a:off x="1646743" y="1519388"/>
              <a:ext cx="1756566" cy="210066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87" name="直接连接符 86"/>
            <p:cNvCxnSpPr/>
            <p:nvPr/>
          </p:nvCxnSpPr>
          <p:spPr bwMode="auto">
            <a:xfrm>
              <a:off x="2609703" y="1391750"/>
              <a:ext cx="342900" cy="27115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直接连接符 87"/>
            <p:cNvCxnSpPr/>
            <p:nvPr/>
          </p:nvCxnSpPr>
          <p:spPr bwMode="auto">
            <a:xfrm flipH="1">
              <a:off x="2609703" y="1391750"/>
              <a:ext cx="342900" cy="23803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肘形连接符 88"/>
            <p:cNvCxnSpPr/>
            <p:nvPr/>
          </p:nvCxnSpPr>
          <p:spPr bwMode="auto">
            <a:xfrm>
              <a:off x="1111827" y="1870364"/>
              <a:ext cx="900689" cy="78463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</p:spTree>
    <p:extLst>
      <p:ext uri="{BB962C8B-B14F-4D97-AF65-F5344CB8AC3E}">
        <p14:creationId xmlns:p14="http://schemas.microsoft.com/office/powerpoint/2010/main" val="266951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回顾</a:t>
            </a:r>
            <a:r>
              <a:rPr lang="zh-CN" altLang="en-US" dirty="0"/>
              <a:t>链表的删除操作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0574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在传统的链表删除操作中，需要利用指针</a:t>
            </a:r>
            <a:r>
              <a:rPr lang="en-US" altLang="zh-CN" dirty="0" err="1"/>
              <a:t>prev</a:t>
            </a:r>
            <a:r>
              <a:rPr lang="zh-CN" altLang="en-US" dirty="0"/>
              <a:t>记录删除节点位置的前趋节点，还要检查是否删除第一个元素；</a:t>
            </a:r>
          </a:p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11911" y="2050921"/>
            <a:ext cx="7232650" cy="2072868"/>
            <a:chOff x="869950" y="1242542"/>
            <a:chExt cx="7232650" cy="2413101"/>
          </a:xfrm>
        </p:grpSpPr>
        <p:sp>
          <p:nvSpPr>
            <p:cNvPr id="5" name="文本框 4"/>
            <p:cNvSpPr txBox="1"/>
            <p:nvPr/>
          </p:nvSpPr>
          <p:spPr>
            <a:xfrm>
              <a:off x="869950" y="1719202"/>
              <a:ext cx="74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1943100" y="1676161"/>
              <a:ext cx="749300" cy="736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连接符 6"/>
            <p:cNvCxnSpPr>
              <a:stCxn id="6" idx="1"/>
              <a:endCxn id="6" idx="3"/>
            </p:cNvCxnSpPr>
            <p:nvPr/>
          </p:nvCxnSpPr>
          <p:spPr bwMode="auto">
            <a:xfrm>
              <a:off x="1943100" y="2044461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文本框 7"/>
            <p:cNvSpPr txBox="1"/>
            <p:nvPr/>
          </p:nvSpPr>
          <p:spPr>
            <a:xfrm>
              <a:off x="1981200" y="1725690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9" name="肘形连接符 8"/>
            <p:cNvCxnSpPr/>
            <p:nvPr/>
          </p:nvCxnSpPr>
          <p:spPr bwMode="auto">
            <a:xfrm flipV="1">
              <a:off x="1506682" y="1910356"/>
              <a:ext cx="453736" cy="157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10" name="组合 9"/>
            <p:cNvGrpSpPr/>
            <p:nvPr/>
          </p:nvGrpSpPr>
          <p:grpSpPr>
            <a:xfrm>
              <a:off x="3130550" y="1242542"/>
              <a:ext cx="1962150" cy="1295673"/>
              <a:chOff x="590550" y="1242542"/>
              <a:chExt cx="1962150" cy="1295673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2" name="直接连接符 31"/>
              <p:cNvCxnSpPr>
                <a:stCxn id="31" idx="1"/>
                <a:endCxn id="31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文本框 32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90550" y="124254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dirty="0">
                    <a:solidFill>
                      <a:srgbClr val="030DCD"/>
                    </a:solidFill>
                    <a:latin typeface="+mn-ea"/>
                    <a:ea typeface="+mn-ea"/>
                  </a:rPr>
                  <a:t>p1</a:t>
                </a:r>
                <a:endParaRPr lang="zh-CN" altLang="en-US" dirty="0">
                  <a:solidFill>
                    <a:srgbClr val="030DCD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879600" y="216888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r>
                  <a:rPr lang="en-US" altLang="zh-CN" dirty="0">
                    <a:solidFill>
                      <a:srgbClr val="C00000"/>
                    </a:solidFill>
                    <a:latin typeface="+mn-ea"/>
                    <a:ea typeface="+mn-ea"/>
                  </a:rPr>
                  <a:t>p</a:t>
                </a:r>
                <a:endParaRPr lang="zh-CN" altLang="en-US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1" name="肘形连接符 10"/>
            <p:cNvCxnSpPr>
              <a:endCxn id="33" idx="1"/>
            </p:cNvCxnSpPr>
            <p:nvPr/>
          </p:nvCxnSpPr>
          <p:spPr bwMode="auto">
            <a:xfrm flipV="1">
              <a:off x="2425700" y="1910595"/>
              <a:ext cx="825500" cy="355878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12" name="组合 11"/>
            <p:cNvGrpSpPr/>
            <p:nvPr/>
          </p:nvGrpSpPr>
          <p:grpSpPr>
            <a:xfrm>
              <a:off x="6057900" y="1715849"/>
              <a:ext cx="749300" cy="736600"/>
              <a:chOff x="673100" y="1676400"/>
              <a:chExt cx="749300" cy="736600"/>
            </a:xfrm>
          </p:grpSpPr>
          <p:sp>
            <p:nvSpPr>
              <p:cNvPr id="28" name="矩形 27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9" name="直接连接符 28"/>
              <p:cNvCxnSpPr>
                <a:stCxn id="28" idx="1"/>
                <a:endCxn id="28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文本框 29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3" name="肘形连接符 12"/>
            <p:cNvCxnSpPr>
              <a:endCxn id="18" idx="1"/>
            </p:cNvCxnSpPr>
            <p:nvPr/>
          </p:nvCxnSpPr>
          <p:spPr bwMode="auto">
            <a:xfrm>
              <a:off x="3689350" y="2303568"/>
              <a:ext cx="755650" cy="618643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14" name="组合 13"/>
            <p:cNvGrpSpPr/>
            <p:nvPr/>
          </p:nvGrpSpPr>
          <p:grpSpPr>
            <a:xfrm>
              <a:off x="7315200" y="1713268"/>
              <a:ext cx="749300" cy="736600"/>
              <a:chOff x="673100" y="1676400"/>
              <a:chExt cx="749300" cy="736600"/>
            </a:xfrm>
          </p:grpSpPr>
          <p:sp>
            <p:nvSpPr>
              <p:cNvPr id="25" name="矩形 24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" name="直接连接符 25"/>
              <p:cNvCxnSpPr>
                <a:stCxn id="25" idx="1"/>
                <a:endCxn id="25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" name="文本框 26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5" name="肘形连接符 14"/>
            <p:cNvCxnSpPr>
              <a:endCxn id="27" idx="1"/>
            </p:cNvCxnSpPr>
            <p:nvPr/>
          </p:nvCxnSpPr>
          <p:spPr bwMode="auto">
            <a:xfrm flipV="1">
              <a:off x="6629400" y="1947463"/>
              <a:ext cx="723900" cy="31901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6" name="文本框 15"/>
            <p:cNvSpPr txBox="1"/>
            <p:nvPr/>
          </p:nvSpPr>
          <p:spPr>
            <a:xfrm>
              <a:off x="7429500" y="2021360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4406900" y="2620140"/>
              <a:ext cx="749300" cy="863583"/>
            </a:xfrm>
            <a:prstGeom prst="rect">
              <a:avLst/>
            </a:prstGeom>
            <a:solidFill>
              <a:srgbClr val="05A3DD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445000" y="2676908"/>
              <a:ext cx="647700" cy="369332"/>
            </a:xfrm>
            <a:prstGeom prst="rect">
              <a:avLst/>
            </a:prstGeom>
            <a:solidFill>
              <a:srgbClr val="05A3DD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E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19" name="肘形连接符 18"/>
            <p:cNvCxnSpPr>
              <a:endCxn id="30" idx="1"/>
            </p:cNvCxnSpPr>
            <p:nvPr/>
          </p:nvCxnSpPr>
          <p:spPr bwMode="auto">
            <a:xfrm flipV="1">
              <a:off x="4889500" y="1950044"/>
              <a:ext cx="1206500" cy="132460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0" name="肘形连接符 19"/>
            <p:cNvCxnSpPr/>
            <p:nvPr/>
          </p:nvCxnSpPr>
          <p:spPr bwMode="auto">
            <a:xfrm flipV="1">
              <a:off x="3898900" y="1796062"/>
              <a:ext cx="2139950" cy="33031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21" name="直接连接符 20"/>
            <p:cNvCxnSpPr>
              <a:stCxn id="17" idx="1"/>
              <a:endCxn id="17" idx="3"/>
            </p:cNvCxnSpPr>
            <p:nvPr/>
          </p:nvCxnSpPr>
          <p:spPr bwMode="auto">
            <a:xfrm>
              <a:off x="4406900" y="305193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" name="组合 21"/>
            <p:cNvGrpSpPr/>
            <p:nvPr/>
          </p:nvGrpSpPr>
          <p:grpSpPr>
            <a:xfrm>
              <a:off x="4569511" y="3325443"/>
              <a:ext cx="342900" cy="330200"/>
              <a:chOff x="7429500" y="3500125"/>
              <a:chExt cx="342900" cy="330200"/>
            </a:xfrm>
          </p:grpSpPr>
          <p:cxnSp>
            <p:nvCxnSpPr>
              <p:cNvPr id="23" name="直接连接符 22"/>
              <p:cNvCxnSpPr/>
              <p:nvPr/>
            </p:nvCxnSpPr>
            <p:spPr bwMode="auto">
              <a:xfrm>
                <a:off x="7429500" y="3500125"/>
                <a:ext cx="342900" cy="3302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直接连接符 23"/>
              <p:cNvCxnSpPr/>
              <p:nvPr/>
            </p:nvCxnSpPr>
            <p:spPr bwMode="auto">
              <a:xfrm flipH="1">
                <a:off x="7429500" y="3500126"/>
                <a:ext cx="342900" cy="28986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" name="组合 35"/>
          <p:cNvGrpSpPr/>
          <p:nvPr/>
        </p:nvGrpSpPr>
        <p:grpSpPr>
          <a:xfrm>
            <a:off x="828675" y="4088528"/>
            <a:ext cx="7232650" cy="1720577"/>
            <a:chOff x="828675" y="1146821"/>
            <a:chExt cx="7232650" cy="1720577"/>
          </a:xfrm>
        </p:grpSpPr>
        <p:sp>
          <p:nvSpPr>
            <p:cNvPr id="37" name="文本框 36"/>
            <p:cNvSpPr txBox="1"/>
            <p:nvPr/>
          </p:nvSpPr>
          <p:spPr>
            <a:xfrm>
              <a:off x="828675" y="1548947"/>
              <a:ext cx="7493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head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2348635" y="2104253"/>
              <a:ext cx="749300" cy="632744"/>
            </a:xfrm>
            <a:prstGeom prst="rect">
              <a:avLst/>
            </a:prstGeom>
            <a:solidFill>
              <a:srgbClr val="00B0F0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 bwMode="auto">
            <a:xfrm>
              <a:off x="2348635" y="2464553"/>
              <a:ext cx="7493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" name="文本框 39"/>
            <p:cNvSpPr txBox="1"/>
            <p:nvPr/>
          </p:nvSpPr>
          <p:spPr>
            <a:xfrm>
              <a:off x="2386735" y="2146799"/>
              <a:ext cx="673100" cy="317258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A</a:t>
              </a:r>
              <a:endParaRPr lang="zh-CN" altLang="en-US" dirty="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cxnSp>
          <p:nvCxnSpPr>
            <p:cNvPr id="41" name="肘形连接符 40"/>
            <p:cNvCxnSpPr/>
            <p:nvPr/>
          </p:nvCxnSpPr>
          <p:spPr bwMode="auto">
            <a:xfrm>
              <a:off x="1397146" y="1781392"/>
              <a:ext cx="907039" cy="445113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2" name="组合 41"/>
            <p:cNvGrpSpPr/>
            <p:nvPr/>
          </p:nvGrpSpPr>
          <p:grpSpPr>
            <a:xfrm>
              <a:off x="3987800" y="1146821"/>
              <a:ext cx="914400" cy="1005431"/>
              <a:chOff x="590550" y="1242542"/>
              <a:chExt cx="914400" cy="1170458"/>
            </a:xfrm>
          </p:grpSpPr>
          <p:sp>
            <p:nvSpPr>
              <p:cNvPr id="59" name="矩形 58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0" name="直接连接符 59"/>
              <p:cNvCxnSpPr>
                <a:stCxn id="59" idx="1"/>
                <a:endCxn id="59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1" name="文本框 60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B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590550" y="1242542"/>
                <a:ext cx="914400" cy="429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</a:t>
                </a:r>
                <a:endParaRPr lang="zh-CN" altLang="en-US" dirty="0">
                  <a:solidFill>
                    <a:srgbClr val="030DCD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6016625" y="1546067"/>
              <a:ext cx="749300" cy="632744"/>
              <a:chOff x="673100" y="1676400"/>
              <a:chExt cx="749300" cy="736600"/>
            </a:xfrm>
          </p:grpSpPr>
          <p:sp>
            <p:nvSpPr>
              <p:cNvPr id="56" name="矩形 55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7" name="直接连接符 56"/>
              <p:cNvCxnSpPr>
                <a:stCxn id="56" idx="1"/>
                <a:endCxn id="56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8" name="文本框 57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C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4" name="肘形连接符 43"/>
            <p:cNvCxnSpPr/>
            <p:nvPr/>
          </p:nvCxnSpPr>
          <p:spPr bwMode="auto">
            <a:xfrm flipV="1">
              <a:off x="4724400" y="1665424"/>
              <a:ext cx="1231900" cy="321123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5" name="组合 44"/>
            <p:cNvGrpSpPr/>
            <p:nvPr/>
          </p:nvGrpSpPr>
          <p:grpSpPr>
            <a:xfrm>
              <a:off x="7273925" y="1543849"/>
              <a:ext cx="749300" cy="632744"/>
              <a:chOff x="673100" y="1676400"/>
              <a:chExt cx="749300" cy="736600"/>
            </a:xfrm>
          </p:grpSpPr>
          <p:sp>
            <p:nvSpPr>
              <p:cNvPr id="53" name="矩形 52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4" name="直接连接符 53"/>
              <p:cNvCxnSpPr>
                <a:stCxn id="53" idx="1"/>
                <a:endCxn id="53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5" name="文本框 54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46" name="肘形连接符 45"/>
            <p:cNvCxnSpPr>
              <a:endCxn id="55" idx="1"/>
            </p:cNvCxnSpPr>
            <p:nvPr/>
          </p:nvCxnSpPr>
          <p:spPr bwMode="auto">
            <a:xfrm flipV="1">
              <a:off x="6588125" y="1745024"/>
              <a:ext cx="723900" cy="274032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7" name="文本框 46"/>
            <p:cNvSpPr txBox="1"/>
            <p:nvPr/>
          </p:nvSpPr>
          <p:spPr>
            <a:xfrm>
              <a:off x="7388225" y="1808502"/>
              <a:ext cx="6731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ea"/>
                  <a:ea typeface="+mn-ea"/>
                </a:rPr>
                <a:t>NULL</a:t>
              </a:r>
              <a:endParaRPr lang="zh-CN" altLang="en-US" b="1" dirty="0">
                <a:solidFill>
                  <a:srgbClr val="0303DF"/>
                </a:solidFill>
                <a:latin typeface="+mn-ea"/>
                <a:ea typeface="+mn-ea"/>
              </a:endParaRPr>
            </a:p>
          </p:txBody>
        </p:sp>
        <p:cxnSp>
          <p:nvCxnSpPr>
            <p:cNvPr id="48" name="肘形连接符 47"/>
            <p:cNvCxnSpPr/>
            <p:nvPr/>
          </p:nvCxnSpPr>
          <p:spPr bwMode="auto">
            <a:xfrm flipV="1">
              <a:off x="1535978" y="1588613"/>
              <a:ext cx="2421515" cy="9580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rgbClr val="006600"/>
              </a:solidFill>
              <a:prstDash val="lgDash"/>
              <a:round/>
              <a:headEnd type="none" w="med" len="med"/>
              <a:tailEnd type="triangle"/>
            </a:ln>
          </p:spPr>
        </p:cxnSp>
        <p:cxnSp>
          <p:nvCxnSpPr>
            <p:cNvPr id="49" name="直接连接符 48"/>
            <p:cNvCxnSpPr/>
            <p:nvPr/>
          </p:nvCxnSpPr>
          <p:spPr bwMode="auto">
            <a:xfrm>
              <a:off x="2649684" y="2583754"/>
              <a:ext cx="342900" cy="2836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直接连接符 49"/>
            <p:cNvCxnSpPr/>
            <p:nvPr/>
          </p:nvCxnSpPr>
          <p:spPr bwMode="auto">
            <a:xfrm flipH="1">
              <a:off x="2649684" y="2583755"/>
              <a:ext cx="342900" cy="2489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肘形连接符 50"/>
            <p:cNvCxnSpPr/>
            <p:nvPr/>
          </p:nvCxnSpPr>
          <p:spPr bwMode="auto">
            <a:xfrm flipV="1">
              <a:off x="3119727" y="1707576"/>
              <a:ext cx="907039" cy="87450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2" name="文本框 51"/>
            <p:cNvSpPr txBox="1"/>
            <p:nvPr/>
          </p:nvSpPr>
          <p:spPr>
            <a:xfrm>
              <a:off x="2342285" y="1747541"/>
              <a:ext cx="673100" cy="31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80808"/>
                  </a:solidFill>
                  <a:latin typeface="+mn-ea"/>
                  <a:ea typeface="+mn-ea"/>
                </a:rPr>
                <a:t>  </a:t>
              </a:r>
              <a:r>
                <a:rPr lang="en-US" altLang="zh-CN" dirty="0">
                  <a:solidFill>
                    <a:srgbClr val="C00000"/>
                  </a:solidFill>
                  <a:latin typeface="+mn-ea"/>
                  <a:ea typeface="+mn-ea"/>
                </a:rPr>
                <a:t>p</a:t>
              </a:r>
              <a:endParaRPr lang="zh-CN" altLang="en-US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5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二</a:t>
            </a:r>
            <a:r>
              <a:rPr lang="zh-CN" altLang="en-US" dirty="0"/>
              <a:t>级指针与多级指针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937" y="1158559"/>
            <a:ext cx="5098739" cy="500325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</a:rPr>
              <a:t>二级指针</a:t>
            </a:r>
            <a:r>
              <a:rPr lang="zh-CN" altLang="en-US" dirty="0"/>
              <a:t>：指向指针变量的指针，保存的是指针变量的地址；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如：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 a, *p, **pp, ***</a:t>
            </a:r>
            <a:r>
              <a:rPr lang="en-US" altLang="zh-CN" dirty="0" err="1"/>
              <a:t>ppp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a=1234;   p=&amp;a;   pp=&amp;p;   </a:t>
            </a:r>
            <a:r>
              <a:rPr lang="en-US" altLang="zh-CN" dirty="0" err="1"/>
              <a:t>ppp</a:t>
            </a:r>
            <a:r>
              <a:rPr lang="en-US" altLang="zh-CN" dirty="0"/>
              <a:t>=&amp;pp;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则，</a:t>
            </a:r>
            <a:endParaRPr lang="en-US" altLang="zh-CN" dirty="0"/>
          </a:p>
          <a:p>
            <a:pPr marL="971550" lvl="1"/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*p, **pp,***</a:t>
            </a:r>
            <a:r>
              <a:rPr lang="en-US" altLang="zh-CN" dirty="0" err="1"/>
              <a:t>ppp</a:t>
            </a:r>
            <a:r>
              <a:rPr lang="zh-CN" altLang="en-US" dirty="0"/>
              <a:t>是等价的</a:t>
            </a:r>
            <a:r>
              <a:rPr lang="en-US" altLang="zh-CN" dirty="0"/>
              <a:t>;</a:t>
            </a:r>
          </a:p>
          <a:p>
            <a:pPr marL="1200150" lvl="2"/>
            <a:r>
              <a:rPr lang="en-US" altLang="zh-CN" sz="1800" dirty="0"/>
              <a:t>*p=456, **pp=456, ***</a:t>
            </a:r>
            <a:r>
              <a:rPr lang="en-US" altLang="zh-CN" sz="1800" dirty="0" err="1"/>
              <a:t>ppp</a:t>
            </a:r>
            <a:r>
              <a:rPr lang="en-US" altLang="zh-CN" sz="1800" dirty="0"/>
              <a:t>=456; </a:t>
            </a:r>
          </a:p>
          <a:p>
            <a:pPr marL="1200150" lvl="2"/>
            <a:r>
              <a:rPr lang="zh-CN" altLang="en-US" sz="1800" dirty="0"/>
              <a:t> 结果都是给整型变量</a:t>
            </a:r>
            <a:r>
              <a:rPr lang="en-US" altLang="zh-CN" sz="1800" dirty="0"/>
              <a:t>a</a:t>
            </a:r>
            <a:r>
              <a:rPr lang="zh-CN" altLang="en-US" sz="1800" dirty="0"/>
              <a:t>赋值</a:t>
            </a:r>
            <a:r>
              <a:rPr lang="en-US" altLang="zh-CN" sz="1800" dirty="0"/>
              <a:t>456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en-US" altLang="zh-CN" dirty="0"/>
              <a:t> p, *pp, **</a:t>
            </a:r>
            <a:r>
              <a:rPr lang="en-US" altLang="zh-CN" dirty="0" err="1"/>
              <a:t>ppp</a:t>
            </a:r>
            <a:r>
              <a:rPr lang="zh-CN" altLang="en-US" dirty="0"/>
              <a:t>是等价的；</a:t>
            </a:r>
            <a:endParaRPr lang="en-US" altLang="zh-CN" dirty="0"/>
          </a:p>
          <a:p>
            <a:pPr marL="971550" lvl="1"/>
            <a:r>
              <a:rPr lang="en-US" altLang="zh-CN" dirty="0"/>
              <a:t> pp, *</a:t>
            </a:r>
            <a:r>
              <a:rPr lang="en-US" altLang="zh-CN" dirty="0" err="1"/>
              <a:t>ppp</a:t>
            </a:r>
            <a:r>
              <a:rPr lang="zh-CN" altLang="en-US" dirty="0"/>
              <a:t>是等价的；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常用的是一级指针与二级指针；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59B6715-9FAD-4DF5-86E2-20CA7B3EB603}"/>
              </a:ext>
            </a:extLst>
          </p:cNvPr>
          <p:cNvGraphicFramePr>
            <a:graphicFrameLocks noGrp="1"/>
          </p:cNvGraphicFramePr>
          <p:nvPr/>
        </p:nvGraphicFramePr>
        <p:xfrm>
          <a:off x="6543408" y="1688977"/>
          <a:ext cx="925512" cy="4247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12">
                  <a:extLst>
                    <a:ext uri="{9D8B030D-6E8A-4147-A177-3AD203B41FA5}">
                      <a16:colId xmlns:a16="http://schemas.microsoft.com/office/drawing/2014/main" val="3884803815"/>
                    </a:ext>
                  </a:extLst>
                </a:gridCol>
              </a:tblGrid>
              <a:tr h="521085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1234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43982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…..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1487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1000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27102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….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62494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1050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86139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…..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08350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2000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3048"/>
                  </a:ext>
                </a:extLst>
              </a:tr>
              <a:tr h="532319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0774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0A59B83-10E9-4630-99E6-C2ED2E41A7EC}"/>
              </a:ext>
            </a:extLst>
          </p:cNvPr>
          <p:cNvSpPr txBox="1"/>
          <p:nvPr/>
        </p:nvSpPr>
        <p:spPr>
          <a:xfrm>
            <a:off x="5931777" y="1688979"/>
            <a:ext cx="5313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a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p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pp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+mn-lt"/>
              </a:rPr>
              <a:t>ppp</a:t>
            </a:r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zh-CN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61151" y="1179316"/>
            <a:ext cx="74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A59B83-10E9-4630-99E6-C2ED2E41A7EC}"/>
              </a:ext>
            </a:extLst>
          </p:cNvPr>
          <p:cNvSpPr txBox="1"/>
          <p:nvPr/>
        </p:nvSpPr>
        <p:spPr>
          <a:xfrm>
            <a:off x="7498528" y="1688979"/>
            <a:ext cx="9077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  1000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  1050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n-lt"/>
              </a:rPr>
              <a:t>  2000</a:t>
            </a: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en-US" altLang="zh-CN" dirty="0">
              <a:solidFill>
                <a:srgbClr val="000000"/>
              </a:solidFill>
              <a:latin typeface="+mn-lt"/>
            </a:endParaRPr>
          </a:p>
          <a:p>
            <a:endParaRPr lang="zh-CN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24771" y="1194875"/>
            <a:ext cx="74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变量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692961" y="1194875"/>
            <a:ext cx="74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内存</a:t>
            </a:r>
          </a:p>
        </p:txBody>
      </p:sp>
    </p:spTree>
    <p:extLst>
      <p:ext uri="{BB962C8B-B14F-4D97-AF65-F5344CB8AC3E}">
        <p14:creationId xmlns:p14="http://schemas.microsoft.com/office/powerpoint/2010/main" val="250558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在</a:t>
            </a:r>
            <a:r>
              <a:rPr lang="zh-CN" altLang="en-US" dirty="0"/>
              <a:t>链表中使用二级指针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937" y="1158559"/>
            <a:ext cx="8089900" cy="231529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如基于</a:t>
            </a:r>
            <a:r>
              <a:rPr lang="zh-CN" altLang="en-US" dirty="0" smtClean="0"/>
              <a:t>如下结构体构成</a:t>
            </a:r>
            <a:r>
              <a:rPr lang="zh-CN" altLang="en-US" dirty="0"/>
              <a:t>一个链表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student </a:t>
            </a:r>
          </a:p>
          <a:p>
            <a:pPr lvl="1" indent="0">
              <a:buNone/>
            </a:pP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ID;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>
                <a:solidFill>
                  <a:srgbClr val="030DCD"/>
                </a:solidFill>
              </a:rPr>
              <a:t>struct</a:t>
            </a:r>
            <a:r>
              <a:rPr lang="en-US" altLang="zh-CN" dirty="0">
                <a:solidFill>
                  <a:srgbClr val="030DCD"/>
                </a:solidFill>
              </a:rPr>
              <a:t> student *next;</a:t>
            </a:r>
          </a:p>
          <a:p>
            <a:pPr lvl="1" indent="0">
              <a:buNone/>
            </a:pPr>
            <a:r>
              <a:rPr lang="en-US" altLang="zh-CN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175328" y="4136131"/>
            <a:ext cx="5829300" cy="1170742"/>
            <a:chOff x="685800" y="1282739"/>
            <a:chExt cx="5829300" cy="1170742"/>
          </a:xfrm>
        </p:grpSpPr>
        <p:grpSp>
          <p:nvGrpSpPr>
            <p:cNvPr id="5" name="组合 4"/>
            <p:cNvGrpSpPr/>
            <p:nvPr/>
          </p:nvGrpSpPr>
          <p:grpSpPr>
            <a:xfrm>
              <a:off x="685800" y="1568573"/>
              <a:ext cx="749300" cy="747122"/>
              <a:chOff x="685800" y="1568573"/>
              <a:chExt cx="749300" cy="74712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724478" y="194636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85800" y="1568573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303DF"/>
                    </a:solidFill>
                    <a:latin typeface="+mn-ea"/>
                    <a:ea typeface="+mn-ea"/>
                  </a:rPr>
                  <a:t>head</a:t>
                </a:r>
                <a:endParaRPr lang="zh-CN" altLang="en-US" b="1" dirty="0">
                  <a:solidFill>
                    <a:srgbClr val="0303DF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943100" y="1282739"/>
              <a:ext cx="749300" cy="1131054"/>
              <a:chOff x="673100" y="1282978"/>
              <a:chExt cx="749300" cy="1131054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连接符 32"/>
              <p:cNvCxnSpPr>
                <a:stCxn id="32" idx="1"/>
                <a:endCxn id="32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" name="文本框 33"/>
              <p:cNvSpPr txBox="1"/>
              <p:nvPr/>
            </p:nvSpPr>
            <p:spPr>
              <a:xfrm>
                <a:off x="749300" y="2044700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1356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673100" y="1282978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A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7" name="肘形连接符 6"/>
            <p:cNvCxnSpPr>
              <a:endCxn id="36" idx="1"/>
            </p:cNvCxnSpPr>
            <p:nvPr/>
          </p:nvCxnSpPr>
          <p:spPr bwMode="auto">
            <a:xfrm flipV="1">
              <a:off x="1485900" y="1910356"/>
              <a:ext cx="495300" cy="606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8" name="组合 7"/>
            <p:cNvGrpSpPr/>
            <p:nvPr/>
          </p:nvGrpSpPr>
          <p:grpSpPr>
            <a:xfrm>
              <a:off x="2692400" y="1282978"/>
              <a:ext cx="1270000" cy="1131054"/>
              <a:chOff x="2692400" y="1282978"/>
              <a:chExt cx="1270000" cy="1131054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7" name="矩形 26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8" name="直接连接符 27"/>
                <p:cNvCxnSpPr>
                  <a:stCxn id="27" idx="1"/>
                  <a:endCxn id="27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6" name="肘形连接符 25"/>
              <p:cNvCxnSpPr>
                <a:endCxn id="31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9" name="组合 8"/>
            <p:cNvGrpSpPr/>
            <p:nvPr/>
          </p:nvGrpSpPr>
          <p:grpSpPr>
            <a:xfrm>
              <a:off x="3987800" y="1322427"/>
              <a:ext cx="1270000" cy="1131054"/>
              <a:chOff x="2692400" y="1282978"/>
              <a:chExt cx="1270000" cy="113105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0" name="矩形 19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1" name="直接连接符 20"/>
                <p:cNvCxnSpPr>
                  <a:stCxn id="20" idx="1"/>
                  <a:endCxn id="20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2" name="文本框 21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9" name="肘形连接符 18"/>
              <p:cNvCxnSpPr>
                <a:endCxn id="24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5245100" y="1319846"/>
              <a:ext cx="1270000" cy="1131054"/>
              <a:chOff x="2692400" y="1282978"/>
              <a:chExt cx="1270000" cy="113105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13" name="矩形 12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4" name="直接连接符 13"/>
                <p:cNvCxnSpPr>
                  <a:stCxn id="13" idx="1"/>
                  <a:endCxn id="13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文本框 14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b="1" dirty="0">
                    <a:solidFill>
                      <a:srgbClr val="0303DF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2" name="肘形连接符 11"/>
              <p:cNvCxnSpPr>
                <a:endCxn id="17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817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在结构体类型</a:t>
            </a:r>
            <a:r>
              <a:rPr lang="zh-CN" altLang="en-US" dirty="0"/>
              <a:t>中二级指针的概念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98453" cy="5345112"/>
          </a:xfrm>
        </p:spPr>
        <p:txBody>
          <a:bodyPr/>
          <a:lstStyle/>
          <a:p>
            <a:r>
              <a:rPr lang="en-US" altLang="zh-CN" sz="2000" dirty="0">
                <a:solidFill>
                  <a:srgbClr val="080808"/>
                </a:solidFill>
              </a:rPr>
              <a:t>student  </a:t>
            </a:r>
            <a:r>
              <a:rPr lang="en-US" altLang="zh-CN" sz="2000" dirty="0" err="1">
                <a:solidFill>
                  <a:srgbClr val="080808"/>
                </a:solidFill>
              </a:rPr>
              <a:t>stu</a:t>
            </a:r>
            <a:r>
              <a:rPr lang="en-US" altLang="zh-CN" sz="2000" dirty="0">
                <a:solidFill>
                  <a:srgbClr val="080808"/>
                </a:solidFill>
              </a:rPr>
              <a:t>, *p; </a:t>
            </a:r>
          </a:p>
          <a:p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 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meID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 err="1">
                <a:solidFill>
                  <a:srgbClr val="080808"/>
                </a:solidFill>
              </a:rPr>
              <a:t>ip</a:t>
            </a:r>
            <a:r>
              <a:rPr lang="en-US" altLang="zh-CN" sz="2000" dirty="0">
                <a:solidFill>
                  <a:srgbClr val="080808"/>
                </a:solidFill>
              </a:rPr>
              <a:t>, </a:t>
            </a:r>
            <a:r>
              <a:rPr lang="zh-CN" altLang="en-US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080808"/>
                </a:solidFill>
              </a:rPr>
              <a:t>**</a:t>
            </a:r>
            <a:r>
              <a:rPr lang="en-US" altLang="zh-CN" sz="2000" dirty="0" err="1">
                <a:solidFill>
                  <a:srgbClr val="080808"/>
                </a:solidFill>
              </a:rPr>
              <a:t>ipp</a:t>
            </a:r>
            <a:r>
              <a:rPr lang="en-US" altLang="zh-CN" sz="2000" dirty="0">
                <a:solidFill>
                  <a:srgbClr val="080808"/>
                </a:solidFill>
              </a:rPr>
              <a:t>;</a:t>
            </a:r>
          </a:p>
          <a:p>
            <a:r>
              <a:rPr lang="en-US" altLang="zh-CN" sz="2000" dirty="0">
                <a:solidFill>
                  <a:srgbClr val="080808"/>
                </a:solidFill>
              </a:rPr>
              <a:t>p =&amp;</a:t>
            </a:r>
            <a:r>
              <a:rPr lang="en-US" altLang="zh-CN" sz="2000" dirty="0" err="1">
                <a:solidFill>
                  <a:srgbClr val="080808"/>
                </a:solidFill>
              </a:rPr>
              <a:t>stu</a:t>
            </a:r>
            <a:r>
              <a:rPr lang="zh-CN" altLang="en-US" sz="2000" dirty="0">
                <a:solidFill>
                  <a:srgbClr val="080808"/>
                </a:solidFill>
              </a:rPr>
              <a:t>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根据结构体</a:t>
            </a:r>
            <a:r>
              <a:rPr lang="en-US" altLang="zh-CN" sz="2000" dirty="0" smtClean="0">
                <a:solidFill>
                  <a:srgbClr val="080808"/>
                </a:solidFill>
              </a:rPr>
              <a:t>student</a:t>
            </a:r>
            <a:r>
              <a:rPr lang="zh-CN" altLang="en-US" sz="2000" dirty="0">
                <a:solidFill>
                  <a:srgbClr val="080808"/>
                </a:solidFill>
              </a:rPr>
              <a:t>的定义，成员变量</a:t>
            </a:r>
            <a:r>
              <a:rPr lang="en-US" altLang="zh-CN" sz="2000" dirty="0">
                <a:solidFill>
                  <a:srgbClr val="C00000"/>
                </a:solidFill>
              </a:rPr>
              <a:t>student.ID</a:t>
            </a:r>
            <a:r>
              <a:rPr lang="zh-CN" altLang="en-US" sz="2000" dirty="0">
                <a:solidFill>
                  <a:srgbClr val="080808"/>
                </a:solidFill>
              </a:rPr>
              <a:t>是一个整型数据；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因此可以进行下列操作，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lvl="1"/>
            <a:r>
              <a:rPr lang="en-US" altLang="zh-CN" dirty="0" err="1" smtClean="0">
                <a:solidFill>
                  <a:srgbClr val="080808"/>
                </a:solidFill>
              </a:rPr>
              <a:t>meID</a:t>
            </a:r>
            <a:r>
              <a:rPr lang="en-US" altLang="zh-CN" dirty="0" smtClean="0">
                <a:solidFill>
                  <a:srgbClr val="080808"/>
                </a:solidFill>
              </a:rPr>
              <a:t>=p-</a:t>
            </a:r>
            <a:r>
              <a:rPr lang="en-US" altLang="zh-CN" dirty="0">
                <a:solidFill>
                  <a:srgbClr val="080808"/>
                </a:solidFill>
              </a:rPr>
              <a:t>&gt;ID;    p-&gt;</a:t>
            </a:r>
            <a:r>
              <a:rPr lang="en-US" altLang="zh-CN" dirty="0" smtClean="0">
                <a:solidFill>
                  <a:srgbClr val="080808"/>
                </a:solidFill>
              </a:rPr>
              <a:t>ID=</a:t>
            </a:r>
            <a:r>
              <a:rPr lang="en-US" altLang="zh-CN" dirty="0" err="1" smtClean="0">
                <a:solidFill>
                  <a:srgbClr val="080808"/>
                </a:solidFill>
              </a:rPr>
              <a:t>meID</a:t>
            </a:r>
            <a:r>
              <a:rPr lang="en-US" altLang="zh-CN" dirty="0">
                <a:solidFill>
                  <a:srgbClr val="080808"/>
                </a:solidFill>
              </a:rPr>
              <a:t>;</a:t>
            </a:r>
          </a:p>
          <a:p>
            <a:pPr lvl="1"/>
            <a:r>
              <a:rPr lang="en-US" altLang="zh-CN" sz="1800" dirty="0" err="1">
                <a:solidFill>
                  <a:srgbClr val="030DCD"/>
                </a:solidFill>
              </a:rPr>
              <a:t>ip</a:t>
            </a:r>
            <a:r>
              <a:rPr lang="en-US" altLang="zh-CN" sz="1800" dirty="0">
                <a:solidFill>
                  <a:srgbClr val="030DCD"/>
                </a:solidFill>
              </a:rPr>
              <a:t>=&amp;(p-&gt;ID)</a:t>
            </a:r>
            <a:r>
              <a:rPr lang="en-US" altLang="zh-CN" sz="1800" dirty="0">
                <a:solidFill>
                  <a:srgbClr val="080808"/>
                </a:solidFill>
              </a:rPr>
              <a:t>; </a:t>
            </a:r>
            <a:r>
              <a:rPr lang="zh-CN" altLang="en-US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en-US" altLang="zh-CN" sz="1800" dirty="0" err="1">
                <a:solidFill>
                  <a:srgbClr val="080808"/>
                </a:solidFill>
              </a:rPr>
              <a:t>ip</a:t>
            </a:r>
            <a:r>
              <a:rPr lang="zh-CN" altLang="en-US" sz="1800" dirty="0">
                <a:solidFill>
                  <a:srgbClr val="080808"/>
                </a:solidFill>
              </a:rPr>
              <a:t>是</a:t>
            </a:r>
            <a:r>
              <a:rPr lang="zh-CN" altLang="en-US" sz="1800" dirty="0" smtClean="0">
                <a:solidFill>
                  <a:srgbClr val="080808"/>
                </a:solidFill>
              </a:rPr>
              <a:t>指向结构体</a:t>
            </a:r>
            <a:r>
              <a:rPr lang="en-US" altLang="zh-CN" sz="1800" dirty="0" smtClean="0">
                <a:solidFill>
                  <a:srgbClr val="080808"/>
                </a:solidFill>
              </a:rPr>
              <a:t>student</a:t>
            </a:r>
            <a:r>
              <a:rPr lang="zh-CN" altLang="en-US" sz="1800" dirty="0">
                <a:solidFill>
                  <a:srgbClr val="080808"/>
                </a:solidFill>
              </a:rPr>
              <a:t>成员变量</a:t>
            </a:r>
            <a:r>
              <a:rPr lang="en-US" altLang="zh-CN" sz="1800" dirty="0">
                <a:solidFill>
                  <a:srgbClr val="080808"/>
                </a:solidFill>
              </a:rPr>
              <a:t>ID</a:t>
            </a:r>
            <a:r>
              <a:rPr lang="zh-CN" altLang="en-US" sz="1800" dirty="0">
                <a:solidFill>
                  <a:srgbClr val="080808"/>
                </a:solidFill>
              </a:rPr>
              <a:t>的指针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r>
              <a:rPr lang="en-US" altLang="zh-CN" sz="1800" dirty="0" err="1">
                <a:solidFill>
                  <a:srgbClr val="080808"/>
                </a:solidFill>
              </a:rPr>
              <a:t>ipp</a:t>
            </a:r>
            <a:r>
              <a:rPr lang="en-US" altLang="zh-CN" sz="1800" dirty="0">
                <a:solidFill>
                  <a:srgbClr val="080808"/>
                </a:solidFill>
              </a:rPr>
              <a:t>=&amp;</a:t>
            </a:r>
            <a:r>
              <a:rPr lang="en-US" altLang="zh-CN" sz="1800" dirty="0" err="1">
                <a:solidFill>
                  <a:srgbClr val="080808"/>
                </a:solidFill>
              </a:rPr>
              <a:t>ip</a:t>
            </a:r>
            <a:r>
              <a:rPr lang="en-US" altLang="zh-CN" sz="1800" dirty="0">
                <a:solidFill>
                  <a:srgbClr val="080808"/>
                </a:solidFill>
              </a:rPr>
              <a:t>;    // </a:t>
            </a:r>
            <a:r>
              <a:rPr lang="en-US" altLang="zh-CN" sz="1800" dirty="0" err="1">
                <a:solidFill>
                  <a:srgbClr val="080808"/>
                </a:solidFill>
              </a:rPr>
              <a:t>ipp</a:t>
            </a:r>
            <a:r>
              <a:rPr lang="zh-CN" altLang="en-US" sz="1800" dirty="0">
                <a:solidFill>
                  <a:srgbClr val="080808"/>
                </a:solidFill>
              </a:rPr>
              <a:t>是一个整型变量的二级指针，指向整型指针</a:t>
            </a:r>
            <a:r>
              <a:rPr lang="en-US" altLang="zh-CN" sz="1800" dirty="0" err="1">
                <a:solidFill>
                  <a:srgbClr val="080808"/>
                </a:solidFill>
              </a:rPr>
              <a:t>ip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endParaRPr lang="en-US" altLang="zh-CN" sz="1800" b="1" dirty="0">
              <a:solidFill>
                <a:srgbClr val="080808"/>
              </a:solidFill>
            </a:endParaRPr>
          </a:p>
          <a:p>
            <a:pPr lvl="1"/>
            <a:r>
              <a:rPr lang="en-US" altLang="zh-CN" sz="1800" b="1" dirty="0">
                <a:solidFill>
                  <a:srgbClr val="080808"/>
                </a:solidFill>
              </a:rPr>
              <a:t>*</a:t>
            </a:r>
            <a:r>
              <a:rPr lang="en-US" altLang="zh-CN" sz="1800" b="1" dirty="0" err="1">
                <a:solidFill>
                  <a:srgbClr val="080808"/>
                </a:solidFill>
              </a:rPr>
              <a:t>ip</a:t>
            </a:r>
            <a:r>
              <a:rPr lang="zh-CN" altLang="en-US" sz="1800" b="1" dirty="0">
                <a:solidFill>
                  <a:srgbClr val="080808"/>
                </a:solidFill>
              </a:rPr>
              <a:t>与</a:t>
            </a:r>
            <a:r>
              <a:rPr lang="en-US" altLang="zh-CN" sz="1800" b="1" dirty="0">
                <a:solidFill>
                  <a:srgbClr val="080808"/>
                </a:solidFill>
              </a:rPr>
              <a:t>p-&gt;ID</a:t>
            </a:r>
            <a:r>
              <a:rPr lang="zh-CN" altLang="en-US" sz="1800" b="1" dirty="0">
                <a:solidFill>
                  <a:srgbClr val="080808"/>
                </a:solidFill>
              </a:rPr>
              <a:t>等价；</a:t>
            </a:r>
            <a:endParaRPr lang="en-US" altLang="zh-CN" sz="1800" b="1" dirty="0">
              <a:solidFill>
                <a:srgbClr val="080808"/>
              </a:solidFill>
            </a:endParaRPr>
          </a:p>
          <a:p>
            <a:pPr lvl="1"/>
            <a:r>
              <a:rPr lang="en-US" altLang="zh-CN" sz="1800" b="1" dirty="0" err="1">
                <a:solidFill>
                  <a:srgbClr val="080808"/>
                </a:solidFill>
              </a:rPr>
              <a:t>ip</a:t>
            </a:r>
            <a:r>
              <a:rPr lang="zh-CN" altLang="en-US" sz="1800" b="1" dirty="0">
                <a:solidFill>
                  <a:srgbClr val="080808"/>
                </a:solidFill>
              </a:rPr>
              <a:t>与</a:t>
            </a:r>
            <a:r>
              <a:rPr lang="en-US" altLang="zh-CN" sz="1800" b="1" dirty="0">
                <a:solidFill>
                  <a:srgbClr val="080808"/>
                </a:solidFill>
              </a:rPr>
              <a:t>*</a:t>
            </a:r>
            <a:r>
              <a:rPr lang="en-US" altLang="zh-CN" sz="1800" b="1" dirty="0" err="1">
                <a:solidFill>
                  <a:srgbClr val="080808"/>
                </a:solidFill>
              </a:rPr>
              <a:t>ipp</a:t>
            </a:r>
            <a:r>
              <a:rPr lang="zh-CN" altLang="en-US" sz="1800" b="1" dirty="0">
                <a:solidFill>
                  <a:srgbClr val="080808"/>
                </a:solidFill>
              </a:rPr>
              <a:t>等价；</a:t>
            </a:r>
            <a:endParaRPr lang="en-US" altLang="zh-CN" sz="1800" b="1" dirty="0">
              <a:solidFill>
                <a:srgbClr val="080808"/>
              </a:solidFill>
            </a:endParaRPr>
          </a:p>
          <a:p>
            <a:pPr lvl="1"/>
            <a:r>
              <a:rPr lang="zh-CN" altLang="en-US" sz="1800" b="1" dirty="0">
                <a:solidFill>
                  <a:srgbClr val="080808"/>
                </a:solidFill>
              </a:rPr>
              <a:t>故 </a:t>
            </a:r>
            <a:r>
              <a:rPr lang="en-US" altLang="zh-CN" sz="1800" b="1" dirty="0">
                <a:solidFill>
                  <a:srgbClr val="080808"/>
                </a:solidFill>
              </a:rPr>
              <a:t>**</a:t>
            </a:r>
            <a:r>
              <a:rPr lang="en-US" altLang="zh-CN" sz="1800" b="1" dirty="0" err="1">
                <a:solidFill>
                  <a:srgbClr val="080808"/>
                </a:solidFill>
              </a:rPr>
              <a:t>ip</a:t>
            </a:r>
            <a:r>
              <a:rPr lang="zh-CN" altLang="en-US" sz="1800" b="1" dirty="0">
                <a:solidFill>
                  <a:srgbClr val="080808"/>
                </a:solidFill>
              </a:rPr>
              <a:t>与</a:t>
            </a:r>
            <a:r>
              <a:rPr lang="en-US" altLang="zh-CN" sz="1800" b="1" dirty="0">
                <a:solidFill>
                  <a:srgbClr val="080808"/>
                </a:solidFill>
              </a:rPr>
              <a:t>p-&gt;ID</a:t>
            </a:r>
            <a:r>
              <a:rPr lang="zh-CN" altLang="en-US" sz="1800" b="1" dirty="0">
                <a:solidFill>
                  <a:srgbClr val="080808"/>
                </a:solidFill>
              </a:rPr>
              <a:t>等价；</a:t>
            </a:r>
            <a:endParaRPr lang="en-US" altLang="zh-CN" sz="1800" b="1" dirty="0">
              <a:solidFill>
                <a:srgbClr val="080808"/>
              </a:solidFill>
            </a:endParaRPr>
          </a:p>
          <a:p>
            <a:endParaRPr lang="en-US" altLang="zh-CN" sz="2000" dirty="0">
              <a:solidFill>
                <a:srgbClr val="080808"/>
              </a:solidFill>
            </a:endParaRPr>
          </a:p>
          <a:p>
            <a:endParaRPr lang="en-US" altLang="zh-CN" sz="2000" dirty="0">
              <a:solidFill>
                <a:srgbClr val="080808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99803" y="839788"/>
            <a:ext cx="1765879" cy="1531080"/>
            <a:chOff x="6328064" y="4462857"/>
            <a:chExt cx="1765879" cy="1531080"/>
          </a:xfrm>
        </p:grpSpPr>
        <p:grpSp>
          <p:nvGrpSpPr>
            <p:cNvPr id="9" name="组合 8"/>
            <p:cNvGrpSpPr/>
            <p:nvPr/>
          </p:nvGrpSpPr>
          <p:grpSpPr>
            <a:xfrm>
              <a:off x="7344643" y="4647523"/>
              <a:ext cx="749300" cy="763781"/>
              <a:chOff x="6856270" y="4674704"/>
              <a:chExt cx="749300" cy="763781"/>
            </a:xfrm>
          </p:grpSpPr>
          <p:sp>
            <p:nvSpPr>
              <p:cNvPr id="4" name="矩形 3"/>
              <p:cNvSpPr/>
              <p:nvPr/>
            </p:nvSpPr>
            <p:spPr bwMode="auto">
              <a:xfrm>
                <a:off x="6856270" y="4674704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6894370" y="4724233"/>
                <a:ext cx="673100" cy="369332"/>
              </a:xfrm>
              <a:prstGeom prst="rect">
                <a:avLst/>
              </a:prstGeom>
              <a:solidFill>
                <a:srgbClr val="99CC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dirty="0">
                    <a:solidFill>
                      <a:srgbClr val="006600"/>
                    </a:solidFill>
                    <a:latin typeface="+mn-ea"/>
                    <a:ea typeface="+mn-ea"/>
                  </a:rPr>
                  <a:t>ID</a:t>
                </a:r>
                <a:endParaRPr lang="zh-CN" altLang="en-US" dirty="0">
                  <a:solidFill>
                    <a:srgbClr val="0066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6894370" y="506915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next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 bwMode="auto">
              <a:xfrm>
                <a:off x="6856270" y="5084568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" name="文本框 9"/>
            <p:cNvSpPr txBox="1"/>
            <p:nvPr/>
          </p:nvSpPr>
          <p:spPr>
            <a:xfrm>
              <a:off x="6482199" y="4462857"/>
              <a:ext cx="417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11" name="肘形连接符 10"/>
            <p:cNvCxnSpPr/>
            <p:nvPr/>
          </p:nvCxnSpPr>
          <p:spPr bwMode="auto">
            <a:xfrm flipV="1">
              <a:off x="6742835" y="4684600"/>
              <a:ext cx="563708" cy="1926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2" name="文本框 11"/>
            <p:cNvSpPr txBox="1"/>
            <p:nvPr/>
          </p:nvSpPr>
          <p:spPr>
            <a:xfrm>
              <a:off x="6454493" y="4938805"/>
              <a:ext cx="417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0303DF"/>
                  </a:solidFill>
                  <a:latin typeface="+mn-lt"/>
                  <a:ea typeface="+mn-ea"/>
                </a:rPr>
                <a:t>ip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13" name="肘形连接符 12"/>
            <p:cNvCxnSpPr/>
            <p:nvPr/>
          </p:nvCxnSpPr>
          <p:spPr bwMode="auto">
            <a:xfrm flipV="1">
              <a:off x="6828563" y="4881718"/>
              <a:ext cx="516080" cy="24781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7" name="文本框 16"/>
            <p:cNvSpPr txBox="1"/>
            <p:nvPr/>
          </p:nvSpPr>
          <p:spPr>
            <a:xfrm>
              <a:off x="6328064" y="5624605"/>
              <a:ext cx="57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0303DF"/>
                  </a:solidFill>
                  <a:latin typeface="+mn-lt"/>
                  <a:ea typeface="+mn-ea"/>
                </a:rPr>
                <a:t>ipp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18" name="肘形连接符 17"/>
            <p:cNvCxnSpPr>
              <a:endCxn id="12" idx="2"/>
            </p:cNvCxnSpPr>
            <p:nvPr/>
          </p:nvCxnSpPr>
          <p:spPr bwMode="auto">
            <a:xfrm rot="5400000" flipH="1" flipV="1">
              <a:off x="6381146" y="5411787"/>
              <a:ext cx="385679" cy="17838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</p:spTree>
    <p:extLst>
      <p:ext uri="{BB962C8B-B14F-4D97-AF65-F5344CB8AC3E}">
        <p14:creationId xmlns:p14="http://schemas.microsoft.com/office/powerpoint/2010/main" val="49192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在结构体类型</a:t>
            </a:r>
            <a:r>
              <a:rPr lang="zh-CN" altLang="en-US" dirty="0"/>
              <a:t>中二级指针的概念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429625" cy="5345112"/>
          </a:xfrm>
        </p:spPr>
        <p:txBody>
          <a:bodyPr/>
          <a:lstStyle/>
          <a:p>
            <a:r>
              <a:rPr lang="en-US" altLang="zh-CN" sz="2000" dirty="0">
                <a:solidFill>
                  <a:srgbClr val="080808"/>
                </a:solidFill>
              </a:rPr>
              <a:t>student  </a:t>
            </a:r>
            <a:r>
              <a:rPr lang="en-US" altLang="zh-CN" sz="2000" dirty="0" err="1">
                <a:solidFill>
                  <a:srgbClr val="080808"/>
                </a:solidFill>
              </a:rPr>
              <a:t>stu</a:t>
            </a:r>
            <a:r>
              <a:rPr lang="en-US" altLang="zh-CN" sz="2000" dirty="0">
                <a:solidFill>
                  <a:srgbClr val="080808"/>
                </a:solidFill>
              </a:rPr>
              <a:t>, *p,*q; </a:t>
            </a:r>
          </a:p>
          <a:p>
            <a:r>
              <a:rPr lang="en-US" altLang="zh-CN" sz="2000" dirty="0">
                <a:solidFill>
                  <a:srgbClr val="080808"/>
                </a:solidFill>
              </a:rPr>
              <a:t>student </a:t>
            </a:r>
            <a:r>
              <a:rPr lang="zh-CN" altLang="en-US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080808"/>
                </a:solidFill>
              </a:rPr>
              <a:t>**pp</a:t>
            </a:r>
            <a:r>
              <a:rPr lang="zh-CN" altLang="en-US" sz="2000" dirty="0">
                <a:solidFill>
                  <a:srgbClr val="080808"/>
                </a:solidFill>
              </a:rPr>
              <a:t>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r>
              <a:rPr lang="en-US" altLang="zh-CN" sz="2000" dirty="0">
                <a:solidFill>
                  <a:srgbClr val="080808"/>
                </a:solidFill>
              </a:rPr>
              <a:t>p=&amp;</a:t>
            </a:r>
            <a:r>
              <a:rPr lang="en-US" altLang="zh-CN" sz="2000" dirty="0" err="1">
                <a:solidFill>
                  <a:srgbClr val="080808"/>
                </a:solidFill>
              </a:rPr>
              <a:t>stu</a:t>
            </a:r>
            <a:r>
              <a:rPr lang="zh-CN" altLang="en-US" sz="2000" dirty="0">
                <a:solidFill>
                  <a:srgbClr val="080808"/>
                </a:solidFill>
              </a:rPr>
              <a:t>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根据结构体</a:t>
            </a:r>
            <a:r>
              <a:rPr lang="en-US" altLang="zh-CN" sz="2000" dirty="0" smtClean="0">
                <a:solidFill>
                  <a:srgbClr val="080808"/>
                </a:solidFill>
              </a:rPr>
              <a:t>student</a:t>
            </a:r>
            <a:r>
              <a:rPr lang="zh-CN" altLang="en-US" sz="2000" dirty="0">
                <a:solidFill>
                  <a:srgbClr val="080808"/>
                </a:solidFill>
              </a:rPr>
              <a:t>的定义，成员变量</a:t>
            </a:r>
            <a:r>
              <a:rPr lang="en-US" altLang="zh-CN" sz="2000" dirty="0" err="1">
                <a:solidFill>
                  <a:srgbClr val="C00000"/>
                </a:solidFill>
              </a:rPr>
              <a:t>student.next</a:t>
            </a:r>
            <a:r>
              <a:rPr lang="zh-CN" altLang="en-US" sz="2000" dirty="0">
                <a:solidFill>
                  <a:srgbClr val="080808"/>
                </a:solidFill>
              </a:rPr>
              <a:t>是一</a:t>
            </a:r>
            <a:r>
              <a:rPr lang="zh-CN" altLang="en-US" sz="2000" dirty="0" smtClean="0">
                <a:solidFill>
                  <a:srgbClr val="080808"/>
                </a:solidFill>
              </a:rPr>
              <a:t>个结构体型</a:t>
            </a:r>
            <a:r>
              <a:rPr lang="zh-CN" altLang="en-US" sz="2000" dirty="0">
                <a:solidFill>
                  <a:srgbClr val="080808"/>
                </a:solidFill>
              </a:rPr>
              <a:t>指针；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80808"/>
                </a:solidFill>
              </a:rPr>
              <a:t>因此可以进行下列操作，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lvl="1"/>
            <a:r>
              <a:rPr lang="en-US" altLang="zh-CN" dirty="0">
                <a:solidFill>
                  <a:srgbClr val="080808"/>
                </a:solidFill>
              </a:rPr>
              <a:t>q=p-&gt;next;    //q</a:t>
            </a:r>
            <a:r>
              <a:rPr lang="zh-CN" altLang="en-US" dirty="0">
                <a:solidFill>
                  <a:srgbClr val="080808"/>
                </a:solidFill>
              </a:rPr>
              <a:t>的内容是结点</a:t>
            </a:r>
            <a:r>
              <a:rPr lang="en-US" altLang="zh-CN" dirty="0">
                <a:solidFill>
                  <a:srgbClr val="080808"/>
                </a:solidFill>
              </a:rPr>
              <a:t>p</a:t>
            </a:r>
            <a:r>
              <a:rPr lang="zh-CN" altLang="en-US" dirty="0">
                <a:solidFill>
                  <a:srgbClr val="080808"/>
                </a:solidFill>
              </a:rPr>
              <a:t>的成员变量</a:t>
            </a:r>
            <a:r>
              <a:rPr lang="en-US" altLang="zh-CN" dirty="0">
                <a:solidFill>
                  <a:srgbClr val="080808"/>
                </a:solidFill>
              </a:rPr>
              <a:t>next</a:t>
            </a:r>
            <a:r>
              <a:rPr lang="zh-CN" altLang="en-US" dirty="0">
                <a:solidFill>
                  <a:srgbClr val="080808"/>
                </a:solidFill>
              </a:rPr>
              <a:t>的内容</a:t>
            </a:r>
            <a:r>
              <a:rPr lang="en-US" altLang="zh-CN" dirty="0">
                <a:solidFill>
                  <a:srgbClr val="080808"/>
                </a:solidFill>
              </a:rPr>
              <a:t>,</a:t>
            </a:r>
          </a:p>
          <a:p>
            <a:pPr marL="285750" lvl="1" indent="0">
              <a:buNone/>
            </a:pPr>
            <a:r>
              <a:rPr lang="en-US" altLang="zh-CN" dirty="0">
                <a:solidFill>
                  <a:srgbClr val="080808"/>
                </a:solidFill>
              </a:rPr>
              <a:t>                            //</a:t>
            </a:r>
            <a:r>
              <a:rPr lang="zh-CN" altLang="en-US" dirty="0">
                <a:solidFill>
                  <a:srgbClr val="080808"/>
                </a:solidFill>
              </a:rPr>
              <a:t>其值为一指针，指向下一个结点；</a:t>
            </a:r>
            <a:endParaRPr lang="en-US" altLang="zh-CN" dirty="0">
              <a:solidFill>
                <a:srgbClr val="080808"/>
              </a:solidFill>
            </a:endParaRPr>
          </a:p>
          <a:p>
            <a:pPr lvl="1"/>
            <a:r>
              <a:rPr lang="en-US" altLang="zh-CN" sz="1800" dirty="0">
                <a:solidFill>
                  <a:srgbClr val="030DCD"/>
                </a:solidFill>
              </a:rPr>
              <a:t>pp=&amp;q;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zh-CN" altLang="en-US" sz="1800" dirty="0">
                <a:solidFill>
                  <a:srgbClr val="080808"/>
                </a:solidFill>
              </a:rPr>
              <a:t>    </a:t>
            </a:r>
            <a:r>
              <a:rPr lang="en-US" altLang="zh-CN" sz="1800" b="1" dirty="0">
                <a:solidFill>
                  <a:srgbClr val="006600"/>
                </a:solidFill>
              </a:rPr>
              <a:t>//pp</a:t>
            </a:r>
            <a:r>
              <a:rPr lang="zh-CN" altLang="en-US" sz="1800" b="1" dirty="0">
                <a:solidFill>
                  <a:srgbClr val="006600"/>
                </a:solidFill>
              </a:rPr>
              <a:t>是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指向结构体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student</a:t>
            </a:r>
            <a:r>
              <a:rPr lang="zh-CN" altLang="en-US" sz="1800" b="1" dirty="0">
                <a:solidFill>
                  <a:srgbClr val="006600"/>
                </a:solidFill>
              </a:rPr>
              <a:t>成员变量</a:t>
            </a:r>
            <a:r>
              <a:rPr lang="en-US" altLang="zh-CN" sz="1800" b="1" dirty="0">
                <a:solidFill>
                  <a:srgbClr val="006600"/>
                </a:solidFill>
              </a:rPr>
              <a:t>next</a:t>
            </a:r>
            <a:r>
              <a:rPr lang="zh-CN" altLang="en-US" sz="1800" b="1" dirty="0">
                <a:solidFill>
                  <a:srgbClr val="006600"/>
                </a:solidFill>
              </a:rPr>
              <a:t>的指针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       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结构体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student</a:t>
            </a:r>
            <a:r>
              <a:rPr lang="zh-CN" altLang="en-US" sz="1800" b="1" dirty="0">
                <a:solidFill>
                  <a:srgbClr val="006600"/>
                </a:solidFill>
              </a:rPr>
              <a:t>成员变量</a:t>
            </a:r>
            <a:r>
              <a:rPr lang="en-US" altLang="zh-CN" sz="1800" b="1" dirty="0">
                <a:solidFill>
                  <a:srgbClr val="006600"/>
                </a:solidFill>
              </a:rPr>
              <a:t>next</a:t>
            </a:r>
            <a:r>
              <a:rPr lang="zh-CN" altLang="en-US" sz="1800" b="1" dirty="0">
                <a:solidFill>
                  <a:srgbClr val="006600"/>
                </a:solidFill>
              </a:rPr>
              <a:t>本身就是一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个结构体指针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r>
              <a:rPr lang="en-US" altLang="zh-CN" sz="1800" dirty="0">
                <a:solidFill>
                  <a:srgbClr val="080808"/>
                </a:solidFill>
              </a:rPr>
              <a:t>*pp</a:t>
            </a:r>
            <a:r>
              <a:rPr lang="zh-CN" altLang="en-US" sz="1800" dirty="0">
                <a:solidFill>
                  <a:srgbClr val="080808"/>
                </a:solidFill>
              </a:rPr>
              <a:t>与</a:t>
            </a:r>
            <a:r>
              <a:rPr lang="en-US" altLang="zh-CN" sz="1800" dirty="0">
                <a:solidFill>
                  <a:srgbClr val="080808"/>
                </a:solidFill>
              </a:rPr>
              <a:t>q</a:t>
            </a:r>
            <a:r>
              <a:rPr lang="zh-CN" altLang="en-US" sz="1800" dirty="0">
                <a:solidFill>
                  <a:srgbClr val="080808"/>
                </a:solidFill>
              </a:rPr>
              <a:t>等价；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r>
              <a:rPr lang="zh-CN" altLang="en-US" sz="1800" dirty="0">
                <a:solidFill>
                  <a:srgbClr val="080808"/>
                </a:solidFill>
              </a:rPr>
              <a:t>上述语句可以合并为：</a:t>
            </a:r>
            <a:r>
              <a:rPr lang="en-US" altLang="zh-CN" sz="1800" b="1" dirty="0">
                <a:solidFill>
                  <a:srgbClr val="C00000"/>
                </a:solidFill>
              </a:rPr>
              <a:t>p</a:t>
            </a:r>
            <a:r>
              <a:rPr lang="en-US" altLang="zh-CN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p=&amp;(p-&gt;next)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；</a:t>
            </a:r>
            <a:endParaRPr lang="en-US" altLang="zh-CN" sz="1800" dirty="0">
              <a:solidFill>
                <a:srgbClr val="080808"/>
              </a:solidFill>
              <a:sym typeface="Wingdings" panose="05000000000000000000" pitchFamily="2" charset="2"/>
            </a:endParaRPr>
          </a:p>
          <a:p>
            <a:pPr marL="285750" lvl="1" indent="0">
              <a:buNone/>
            </a:pP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       </a:t>
            </a:r>
            <a:r>
              <a:rPr lang="en-US" altLang="zh-CN" sz="1800" dirty="0">
                <a:solidFill>
                  <a:srgbClr val="080808"/>
                </a:solidFill>
                <a:sym typeface="Wingdings" panose="05000000000000000000" pitchFamily="2" charset="2"/>
              </a:rPr>
              <a:t>pp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指向结点</a:t>
            </a:r>
            <a:r>
              <a:rPr lang="en-US" altLang="zh-CN" sz="1800" dirty="0">
                <a:solidFill>
                  <a:srgbClr val="080808"/>
                </a:solidFill>
                <a:sym typeface="Wingdings" panose="05000000000000000000" pitchFamily="2" charset="2"/>
              </a:rPr>
              <a:t>p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的成员变量</a:t>
            </a:r>
            <a:r>
              <a:rPr lang="en-US" altLang="zh-CN" sz="1800" dirty="0">
                <a:solidFill>
                  <a:srgbClr val="080808"/>
                </a:solidFill>
                <a:sym typeface="Wingdings" panose="05000000000000000000" pitchFamily="2" charset="2"/>
              </a:rPr>
              <a:t>next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的地址；</a:t>
            </a:r>
            <a:endParaRPr lang="en-US" altLang="zh-CN" sz="1800" dirty="0">
              <a:solidFill>
                <a:srgbClr val="080808"/>
              </a:solidFill>
              <a:sym typeface="Wingdings" panose="05000000000000000000" pitchFamily="2" charset="2"/>
            </a:endParaRP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80808"/>
                </a:solidFill>
                <a:sym typeface="Wingdings" panose="05000000000000000000" pitchFamily="2" charset="2"/>
              </a:rPr>
              <a:t>       *pp=(p-&gt;next)-&gt;next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，删除</a:t>
            </a:r>
            <a:r>
              <a:rPr lang="en-US" altLang="zh-CN" sz="1800" dirty="0">
                <a:solidFill>
                  <a:srgbClr val="080808"/>
                </a:solidFill>
                <a:sym typeface="Wingdings" panose="05000000000000000000" pitchFamily="2" charset="2"/>
              </a:rPr>
              <a:t>p</a:t>
            </a:r>
            <a:r>
              <a:rPr lang="zh-CN" altLang="en-US" sz="1800" dirty="0">
                <a:solidFill>
                  <a:srgbClr val="080808"/>
                </a:solidFill>
                <a:sym typeface="Wingdings" panose="05000000000000000000" pitchFamily="2" charset="2"/>
              </a:rPr>
              <a:t>之后的结点；   </a:t>
            </a:r>
            <a:endParaRPr lang="en-US" altLang="zh-CN" sz="1800" dirty="0">
              <a:solidFill>
                <a:srgbClr val="080808"/>
              </a:solidFill>
              <a:sym typeface="Wingdings" panose="05000000000000000000" pitchFamily="2" charset="2"/>
            </a:endParaRPr>
          </a:p>
          <a:p>
            <a:pPr lvl="1"/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endParaRPr lang="en-US" altLang="zh-CN" sz="1800" dirty="0">
              <a:solidFill>
                <a:srgbClr val="080808"/>
              </a:solidFill>
            </a:endParaRPr>
          </a:p>
          <a:p>
            <a:pPr lvl="1"/>
            <a:endParaRPr lang="en-US" altLang="zh-CN" sz="1800" dirty="0">
              <a:solidFill>
                <a:srgbClr val="080808"/>
              </a:solidFill>
            </a:endParaRPr>
          </a:p>
          <a:p>
            <a:endParaRPr lang="en-US" altLang="zh-CN" sz="2000" dirty="0">
              <a:solidFill>
                <a:srgbClr val="080808"/>
              </a:solidFill>
            </a:endParaRPr>
          </a:p>
          <a:p>
            <a:endParaRPr lang="en-US" altLang="zh-CN" sz="2000" dirty="0">
              <a:solidFill>
                <a:srgbClr val="080808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99803" y="910649"/>
            <a:ext cx="1875274" cy="1531080"/>
            <a:chOff x="6218669" y="4462857"/>
            <a:chExt cx="1875274" cy="1531080"/>
          </a:xfrm>
        </p:grpSpPr>
        <p:grpSp>
          <p:nvGrpSpPr>
            <p:cNvPr id="5" name="组合 4"/>
            <p:cNvGrpSpPr/>
            <p:nvPr/>
          </p:nvGrpSpPr>
          <p:grpSpPr>
            <a:xfrm>
              <a:off x="7344643" y="4647523"/>
              <a:ext cx="749300" cy="763781"/>
              <a:chOff x="6856270" y="4674704"/>
              <a:chExt cx="749300" cy="763781"/>
            </a:xfrm>
          </p:grpSpPr>
          <p:sp>
            <p:nvSpPr>
              <p:cNvPr id="12" name="矩形 11"/>
              <p:cNvSpPr/>
              <p:nvPr/>
            </p:nvSpPr>
            <p:spPr bwMode="auto">
              <a:xfrm>
                <a:off x="6856270" y="4674704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894370" y="472423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ID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894370" y="5069153"/>
                <a:ext cx="673100" cy="369332"/>
              </a:xfrm>
              <a:prstGeom prst="rect">
                <a:avLst/>
              </a:prstGeom>
              <a:solidFill>
                <a:srgbClr val="99CC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next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5" name="直接连接符 14"/>
              <p:cNvCxnSpPr/>
              <p:nvPr/>
            </p:nvCxnSpPr>
            <p:spPr bwMode="auto">
              <a:xfrm>
                <a:off x="6856270" y="5084568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" name="文本框 5"/>
            <p:cNvSpPr txBox="1"/>
            <p:nvPr/>
          </p:nvSpPr>
          <p:spPr>
            <a:xfrm>
              <a:off x="6218669" y="4462857"/>
              <a:ext cx="680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 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7" name="肘形连接符 6"/>
            <p:cNvCxnSpPr/>
            <p:nvPr/>
          </p:nvCxnSpPr>
          <p:spPr bwMode="auto">
            <a:xfrm flipV="1">
              <a:off x="6742835" y="4684600"/>
              <a:ext cx="563708" cy="1926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" name="文本框 7"/>
            <p:cNvSpPr txBox="1"/>
            <p:nvPr/>
          </p:nvSpPr>
          <p:spPr>
            <a:xfrm>
              <a:off x="6328064" y="4938805"/>
              <a:ext cx="543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q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9" name="肘形连接符 8"/>
            <p:cNvCxnSpPr/>
            <p:nvPr/>
          </p:nvCxnSpPr>
          <p:spPr bwMode="auto">
            <a:xfrm>
              <a:off x="6828563" y="5129532"/>
              <a:ext cx="516080" cy="1270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0" name="文本框 9"/>
            <p:cNvSpPr txBox="1"/>
            <p:nvPr/>
          </p:nvSpPr>
          <p:spPr>
            <a:xfrm>
              <a:off x="6328064" y="5624605"/>
              <a:ext cx="57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pp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11" name="肘形连接符 10"/>
            <p:cNvCxnSpPr/>
            <p:nvPr/>
          </p:nvCxnSpPr>
          <p:spPr bwMode="auto">
            <a:xfrm rot="5400000" flipH="1" flipV="1">
              <a:off x="6291954" y="5500979"/>
              <a:ext cx="385683" cy="1270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19" name="组合 18"/>
          <p:cNvGrpSpPr/>
          <p:nvPr/>
        </p:nvGrpSpPr>
        <p:grpSpPr>
          <a:xfrm>
            <a:off x="5924227" y="4662238"/>
            <a:ext cx="2646661" cy="1531080"/>
            <a:chOff x="6149979" y="4462857"/>
            <a:chExt cx="1943964" cy="1531080"/>
          </a:xfrm>
        </p:grpSpPr>
        <p:grpSp>
          <p:nvGrpSpPr>
            <p:cNvPr id="20" name="组合 19"/>
            <p:cNvGrpSpPr/>
            <p:nvPr/>
          </p:nvGrpSpPr>
          <p:grpSpPr>
            <a:xfrm>
              <a:off x="7344643" y="4647523"/>
              <a:ext cx="749300" cy="763781"/>
              <a:chOff x="6856270" y="4674704"/>
              <a:chExt cx="749300" cy="763781"/>
            </a:xfrm>
          </p:grpSpPr>
          <p:sp>
            <p:nvSpPr>
              <p:cNvPr id="27" name="矩形 26"/>
              <p:cNvSpPr/>
              <p:nvPr/>
            </p:nvSpPr>
            <p:spPr bwMode="auto">
              <a:xfrm>
                <a:off x="6856270" y="4674704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894370" y="472423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ID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6894370" y="5069153"/>
                <a:ext cx="673100" cy="369332"/>
              </a:xfrm>
              <a:prstGeom prst="rect">
                <a:avLst/>
              </a:prstGeom>
              <a:solidFill>
                <a:srgbClr val="99CC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next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 bwMode="auto">
              <a:xfrm>
                <a:off x="6856270" y="5084568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1" name="文本框 20"/>
            <p:cNvSpPr txBox="1"/>
            <p:nvPr/>
          </p:nvSpPr>
          <p:spPr>
            <a:xfrm>
              <a:off x="6218669" y="4462857"/>
              <a:ext cx="680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 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22" name="肘形连接符 21"/>
            <p:cNvCxnSpPr/>
            <p:nvPr/>
          </p:nvCxnSpPr>
          <p:spPr bwMode="auto">
            <a:xfrm flipV="1">
              <a:off x="6569745" y="4684601"/>
              <a:ext cx="736797" cy="12451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3" name="文本框 22"/>
            <p:cNvSpPr txBox="1"/>
            <p:nvPr/>
          </p:nvSpPr>
          <p:spPr>
            <a:xfrm>
              <a:off x="6149979" y="4938805"/>
              <a:ext cx="721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p-&gt;next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24" name="肘形连接符 23"/>
            <p:cNvCxnSpPr/>
            <p:nvPr/>
          </p:nvCxnSpPr>
          <p:spPr bwMode="auto">
            <a:xfrm>
              <a:off x="6828563" y="5129532"/>
              <a:ext cx="516080" cy="1270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5" name="文本框 24"/>
            <p:cNvSpPr txBox="1"/>
            <p:nvPr/>
          </p:nvSpPr>
          <p:spPr>
            <a:xfrm>
              <a:off x="6328064" y="5624605"/>
              <a:ext cx="57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03DF"/>
                  </a:solidFill>
                  <a:latin typeface="+mn-lt"/>
                  <a:ea typeface="+mn-ea"/>
                </a:rPr>
                <a:t>pp</a:t>
              </a:r>
              <a:endParaRPr lang="zh-CN" altLang="en-US" b="1" dirty="0">
                <a:solidFill>
                  <a:srgbClr val="0303DF"/>
                </a:solidFill>
                <a:latin typeface="+mn-lt"/>
                <a:ea typeface="+mn-ea"/>
              </a:endParaRPr>
            </a:p>
          </p:txBody>
        </p:sp>
        <p:cxnSp>
          <p:nvCxnSpPr>
            <p:cNvPr id="26" name="肘形连接符 25"/>
            <p:cNvCxnSpPr/>
            <p:nvPr/>
          </p:nvCxnSpPr>
          <p:spPr bwMode="auto">
            <a:xfrm rot="5400000" flipH="1" flipV="1">
              <a:off x="6291954" y="5500979"/>
              <a:ext cx="385683" cy="1270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</p:spTree>
    <p:extLst>
      <p:ext uri="{BB962C8B-B14F-4D97-AF65-F5344CB8AC3E}">
        <p14:creationId xmlns:p14="http://schemas.microsoft.com/office/powerpoint/2010/main" val="266171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在结构体类型</a:t>
            </a:r>
            <a:r>
              <a:rPr lang="zh-CN" altLang="en-US" dirty="0"/>
              <a:t>中二级指针的概念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937" y="1158558"/>
            <a:ext cx="8335818" cy="2191156"/>
          </a:xfrm>
        </p:spPr>
        <p:txBody>
          <a:bodyPr/>
          <a:lstStyle/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student  *pre, *Next, </a:t>
            </a:r>
            <a:r>
              <a:rPr lang="en-US" altLang="zh-CN" sz="2000" dirty="0">
                <a:solidFill>
                  <a:srgbClr val="C00000"/>
                </a:solidFill>
              </a:rPr>
              <a:t>**p</a:t>
            </a:r>
            <a:r>
              <a:rPr lang="en-US" altLang="zh-CN" sz="2000" dirty="0">
                <a:solidFill>
                  <a:srgbClr val="080808"/>
                </a:solidFill>
              </a:rPr>
              <a:t>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pre=head, Next=head-&gt;next;    //pre=1249, Next=1356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p=&amp;head;    // p</a:t>
            </a:r>
            <a:r>
              <a:rPr lang="zh-CN" altLang="en-US" sz="2000" dirty="0">
                <a:solidFill>
                  <a:srgbClr val="080808"/>
                </a:solidFill>
              </a:rPr>
              <a:t>的内容是指针</a:t>
            </a:r>
            <a:r>
              <a:rPr lang="en-US" altLang="zh-CN" sz="2000" dirty="0">
                <a:solidFill>
                  <a:srgbClr val="080808"/>
                </a:solidFill>
              </a:rPr>
              <a:t>head</a:t>
            </a:r>
            <a:r>
              <a:rPr lang="zh-CN" altLang="en-US" sz="2000" dirty="0">
                <a:solidFill>
                  <a:srgbClr val="080808"/>
                </a:solidFill>
              </a:rPr>
              <a:t>变量的地址，</a:t>
            </a:r>
            <a:r>
              <a:rPr lang="en-US" altLang="zh-CN" sz="2000" dirty="0">
                <a:solidFill>
                  <a:srgbClr val="080808"/>
                </a:solidFill>
              </a:rPr>
              <a:t>*p </a:t>
            </a:r>
            <a:r>
              <a:rPr lang="zh-CN" altLang="en-US" sz="2000" dirty="0">
                <a:solidFill>
                  <a:srgbClr val="080808"/>
                </a:solidFill>
              </a:rPr>
              <a:t>即是指针</a:t>
            </a:r>
            <a:r>
              <a:rPr lang="en-US" altLang="zh-CN" sz="2000" dirty="0">
                <a:solidFill>
                  <a:srgbClr val="080808"/>
                </a:solidFill>
              </a:rPr>
              <a:t>head</a:t>
            </a:r>
            <a:r>
              <a:rPr lang="zh-CN" altLang="en-US" sz="2000" dirty="0">
                <a:solidFill>
                  <a:srgbClr val="080808"/>
                </a:solidFill>
              </a:rPr>
              <a:t>，即 </a:t>
            </a:r>
            <a:r>
              <a:rPr lang="en-US" altLang="zh-CN" sz="2000" dirty="0">
                <a:solidFill>
                  <a:srgbClr val="080808"/>
                </a:solidFill>
              </a:rPr>
              <a:t>1249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p=&amp;(Next-&gt;next);   // Next-&gt;next</a:t>
            </a:r>
            <a:r>
              <a:rPr lang="zh-CN" altLang="en-US" sz="2000" dirty="0">
                <a:solidFill>
                  <a:srgbClr val="080808"/>
                </a:solidFill>
              </a:rPr>
              <a:t>是 </a:t>
            </a:r>
            <a:r>
              <a:rPr lang="en-US" altLang="zh-CN" sz="2000" dirty="0">
                <a:solidFill>
                  <a:srgbClr val="080808"/>
                </a:solidFill>
              </a:rPr>
              <a:t>1475</a:t>
            </a:r>
            <a:r>
              <a:rPr lang="zh-CN" altLang="en-US" sz="2000" dirty="0">
                <a:solidFill>
                  <a:srgbClr val="080808"/>
                </a:solidFill>
              </a:rPr>
              <a:t>，</a:t>
            </a:r>
            <a:r>
              <a:rPr lang="en-US" altLang="zh-CN" sz="2000" dirty="0">
                <a:solidFill>
                  <a:srgbClr val="080808"/>
                </a:solidFill>
              </a:rPr>
              <a:t>p</a:t>
            </a:r>
            <a:r>
              <a:rPr lang="zh-CN" altLang="en-US" sz="2000" dirty="0">
                <a:solidFill>
                  <a:srgbClr val="080808"/>
                </a:solidFill>
              </a:rPr>
              <a:t>是结点</a:t>
            </a:r>
            <a:r>
              <a:rPr lang="en-US" altLang="zh-CN" sz="2000" dirty="0">
                <a:solidFill>
                  <a:srgbClr val="080808"/>
                </a:solidFill>
              </a:rPr>
              <a:t>1356</a:t>
            </a:r>
            <a:r>
              <a:rPr lang="zh-CN" altLang="en-US" sz="2000" dirty="0">
                <a:solidFill>
                  <a:srgbClr val="080808"/>
                </a:solidFill>
              </a:rPr>
              <a:t>的成员变量</a:t>
            </a:r>
            <a:r>
              <a:rPr lang="en-US" altLang="zh-CN" sz="2000" dirty="0">
                <a:solidFill>
                  <a:srgbClr val="080808"/>
                </a:solidFill>
              </a:rPr>
              <a:t>next</a:t>
            </a:r>
            <a:r>
              <a:rPr lang="zh-CN" altLang="en-US" sz="2000" dirty="0">
                <a:solidFill>
                  <a:srgbClr val="080808"/>
                </a:solidFill>
              </a:rPr>
              <a:t>的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                              //</a:t>
            </a:r>
            <a:r>
              <a:rPr lang="zh-CN" altLang="en-US" sz="2000" dirty="0">
                <a:solidFill>
                  <a:srgbClr val="080808"/>
                </a:solidFill>
              </a:rPr>
              <a:t>地址，即保存</a:t>
            </a:r>
            <a:r>
              <a:rPr lang="en-US" altLang="zh-CN" sz="2000" dirty="0">
                <a:solidFill>
                  <a:srgbClr val="080808"/>
                </a:solidFill>
              </a:rPr>
              <a:t>1475</a:t>
            </a:r>
            <a:r>
              <a:rPr lang="zh-CN" altLang="en-US" sz="2000" dirty="0">
                <a:solidFill>
                  <a:srgbClr val="080808"/>
                </a:solidFill>
              </a:rPr>
              <a:t>内存单元的地址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 lvl="1" indent="0">
              <a:buNone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214006" y="3778877"/>
            <a:ext cx="5829300" cy="1170742"/>
            <a:chOff x="685800" y="1282739"/>
            <a:chExt cx="5829300" cy="1170742"/>
          </a:xfrm>
        </p:grpSpPr>
        <p:grpSp>
          <p:nvGrpSpPr>
            <p:cNvPr id="5" name="组合 4"/>
            <p:cNvGrpSpPr/>
            <p:nvPr/>
          </p:nvGrpSpPr>
          <p:grpSpPr>
            <a:xfrm>
              <a:off x="685800" y="1568573"/>
              <a:ext cx="749300" cy="747122"/>
              <a:chOff x="685800" y="1568573"/>
              <a:chExt cx="749300" cy="74712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724478" y="194636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85800" y="1568573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303DF"/>
                    </a:solidFill>
                    <a:latin typeface="+mn-ea"/>
                    <a:ea typeface="+mn-ea"/>
                  </a:rPr>
                  <a:t>head</a:t>
                </a:r>
                <a:endParaRPr lang="zh-CN" altLang="en-US" b="1" dirty="0">
                  <a:solidFill>
                    <a:srgbClr val="0303DF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943100" y="1282739"/>
              <a:ext cx="749300" cy="1131054"/>
              <a:chOff x="673100" y="1282978"/>
              <a:chExt cx="749300" cy="1131054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连接符 32"/>
              <p:cNvCxnSpPr>
                <a:stCxn id="32" idx="1"/>
                <a:endCxn id="32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" name="文本框 33"/>
              <p:cNvSpPr txBox="1"/>
              <p:nvPr/>
            </p:nvSpPr>
            <p:spPr>
              <a:xfrm>
                <a:off x="749300" y="2044700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1356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673100" y="1282978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A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7" name="肘形连接符 6"/>
            <p:cNvCxnSpPr>
              <a:endCxn id="36" idx="1"/>
            </p:cNvCxnSpPr>
            <p:nvPr/>
          </p:nvCxnSpPr>
          <p:spPr bwMode="auto">
            <a:xfrm flipV="1">
              <a:off x="1485900" y="1910356"/>
              <a:ext cx="495300" cy="606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8" name="组合 7"/>
            <p:cNvGrpSpPr/>
            <p:nvPr/>
          </p:nvGrpSpPr>
          <p:grpSpPr>
            <a:xfrm>
              <a:off x="2692400" y="1282978"/>
              <a:ext cx="1270000" cy="1131054"/>
              <a:chOff x="2692400" y="1282978"/>
              <a:chExt cx="1270000" cy="1131054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7" name="矩形 26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8" name="直接连接符 27"/>
                <p:cNvCxnSpPr>
                  <a:stCxn id="27" idx="1"/>
                  <a:endCxn id="27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6" name="肘形连接符 25"/>
              <p:cNvCxnSpPr>
                <a:endCxn id="31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9" name="组合 8"/>
            <p:cNvGrpSpPr/>
            <p:nvPr/>
          </p:nvGrpSpPr>
          <p:grpSpPr>
            <a:xfrm>
              <a:off x="3987800" y="1322427"/>
              <a:ext cx="1270000" cy="1131054"/>
              <a:chOff x="2692400" y="1282978"/>
              <a:chExt cx="1270000" cy="113105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0" name="矩形 19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1" name="直接连接符 20"/>
                <p:cNvCxnSpPr>
                  <a:stCxn id="20" idx="1"/>
                  <a:endCxn id="20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2" name="文本框 21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9" name="肘形连接符 18"/>
              <p:cNvCxnSpPr>
                <a:endCxn id="24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5245100" y="1319846"/>
              <a:ext cx="1270000" cy="1131054"/>
              <a:chOff x="2692400" y="1282978"/>
              <a:chExt cx="1270000" cy="113105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13" name="矩形 12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4" name="直接连接符 13"/>
                <p:cNvCxnSpPr>
                  <a:stCxn id="13" idx="1"/>
                  <a:endCxn id="13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文本框 14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b="1" dirty="0">
                    <a:solidFill>
                      <a:srgbClr val="0303DF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2" name="肘形连接符 11"/>
              <p:cNvCxnSpPr>
                <a:endCxn id="17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</p:grpSp>
      <p:sp>
        <p:nvSpPr>
          <p:cNvPr id="39" name="矩形标注 38"/>
          <p:cNvSpPr/>
          <p:nvPr/>
        </p:nvSpPr>
        <p:spPr bwMode="auto">
          <a:xfrm>
            <a:off x="1167826" y="5093565"/>
            <a:ext cx="1049482" cy="405312"/>
          </a:xfrm>
          <a:prstGeom prst="wedgeRectCallout">
            <a:avLst>
              <a:gd name="adj1" fmla="val 68917"/>
              <a:gd name="adj2" fmla="val -1938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lt"/>
                <a:ea typeface="宋体" panose="02010600030101010101" pitchFamily="2" charset="-122"/>
              </a:rPr>
              <a:t>re=1249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2" name="矩形标注 41"/>
          <p:cNvSpPr/>
          <p:nvPr/>
        </p:nvSpPr>
        <p:spPr bwMode="auto">
          <a:xfrm>
            <a:off x="2509406" y="5093565"/>
            <a:ext cx="1123946" cy="405312"/>
          </a:xfrm>
          <a:prstGeom prst="wedgeRectCallout">
            <a:avLst>
              <a:gd name="adj1" fmla="val 54877"/>
              <a:gd name="adj2" fmla="val -20925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Next=1356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1" name="矩形标注 40"/>
          <p:cNvSpPr/>
          <p:nvPr/>
        </p:nvSpPr>
        <p:spPr bwMode="auto">
          <a:xfrm>
            <a:off x="623745" y="3373804"/>
            <a:ext cx="1500619" cy="405312"/>
          </a:xfrm>
          <a:prstGeom prst="wedgeRectCallout">
            <a:avLst>
              <a:gd name="adj1" fmla="val 10350"/>
              <a:gd name="adj2" fmla="val 14710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p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是</a:t>
            </a: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head</a:t>
            </a:r>
            <a:r>
              <a:rPr lang="zh-CN" altLang="en-US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的地址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3" name="矩形标注 42"/>
          <p:cNvSpPr/>
          <p:nvPr/>
        </p:nvSpPr>
        <p:spPr bwMode="auto">
          <a:xfrm>
            <a:off x="3826744" y="5167423"/>
            <a:ext cx="1690829" cy="405312"/>
          </a:xfrm>
          <a:prstGeom prst="wedgeRectCallout">
            <a:avLst>
              <a:gd name="adj1" fmla="val 20646"/>
              <a:gd name="adj2" fmla="val -21950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+mn-lt"/>
                <a:ea typeface="宋体" panose="02010600030101010101" pitchFamily="2" charset="-122"/>
              </a:rPr>
              <a:t>Next-&gt;next=1475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960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在结构体类型</a:t>
            </a:r>
            <a:r>
              <a:rPr lang="zh-CN" altLang="en-US" dirty="0"/>
              <a:t>中二级指针的概念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65" y="2626676"/>
            <a:ext cx="8315325" cy="358708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student *head, *Next, </a:t>
            </a:r>
            <a:r>
              <a:rPr lang="en-US" altLang="zh-CN" dirty="0">
                <a:solidFill>
                  <a:srgbClr val="C00000"/>
                </a:solidFill>
              </a:rPr>
              <a:t>**p;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Next=head;    //head=1249, Next=1249;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p=&amp;head;     //</a:t>
            </a:r>
            <a:r>
              <a:rPr lang="zh-CN" altLang="en-US" dirty="0">
                <a:solidFill>
                  <a:srgbClr val="080808"/>
                </a:solidFill>
              </a:rPr>
              <a:t>保存头指针</a:t>
            </a:r>
            <a:r>
              <a:rPr lang="en-US" altLang="zh-CN" dirty="0">
                <a:solidFill>
                  <a:srgbClr val="080808"/>
                </a:solidFill>
              </a:rPr>
              <a:t>1249</a:t>
            </a:r>
            <a:r>
              <a:rPr lang="zh-CN" altLang="en-US" dirty="0">
                <a:solidFill>
                  <a:srgbClr val="080808"/>
                </a:solidFill>
              </a:rPr>
              <a:t>的内存单元的地址</a:t>
            </a:r>
            <a:r>
              <a:rPr lang="en-US" altLang="zh-CN" dirty="0">
                <a:solidFill>
                  <a:srgbClr val="080808"/>
                </a:solidFill>
                <a:sym typeface="Wingdings" panose="05000000000000000000" pitchFamily="2" charset="2"/>
              </a:rPr>
              <a:t>p</a:t>
            </a: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*p=Next-&gt;next; // head=head-&gt;next; </a:t>
            </a:r>
            <a:r>
              <a:rPr lang="zh-CN" altLang="en-US" dirty="0">
                <a:solidFill>
                  <a:srgbClr val="080808"/>
                </a:solidFill>
              </a:rPr>
              <a:t>即删除头结点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95797" y="1219558"/>
            <a:ext cx="5829300" cy="1170742"/>
            <a:chOff x="685800" y="1282739"/>
            <a:chExt cx="5829300" cy="1170742"/>
          </a:xfrm>
        </p:grpSpPr>
        <p:grpSp>
          <p:nvGrpSpPr>
            <p:cNvPr id="5" name="组合 4"/>
            <p:cNvGrpSpPr/>
            <p:nvPr/>
          </p:nvGrpSpPr>
          <p:grpSpPr>
            <a:xfrm>
              <a:off x="685800" y="1568573"/>
              <a:ext cx="749300" cy="747122"/>
              <a:chOff x="685800" y="1568573"/>
              <a:chExt cx="749300" cy="74712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724478" y="1946363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85800" y="1568573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0303DF"/>
                    </a:solidFill>
                    <a:latin typeface="+mn-ea"/>
                    <a:ea typeface="+mn-ea"/>
                  </a:rPr>
                  <a:t>head</a:t>
                </a:r>
                <a:endParaRPr lang="zh-CN" altLang="en-US" b="1" dirty="0">
                  <a:solidFill>
                    <a:srgbClr val="0303DF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943100" y="1282739"/>
              <a:ext cx="749300" cy="1131054"/>
              <a:chOff x="673100" y="1282978"/>
              <a:chExt cx="749300" cy="1131054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673100" y="1676400"/>
                <a:ext cx="749300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连接符 32"/>
              <p:cNvCxnSpPr>
                <a:stCxn id="32" idx="1"/>
                <a:endCxn id="32" idx="3"/>
              </p:cNvCxnSpPr>
              <p:nvPr/>
            </p:nvCxnSpPr>
            <p:spPr bwMode="auto">
              <a:xfrm>
                <a:off x="673100" y="2044700"/>
                <a:ext cx="7493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" name="文本框 33"/>
              <p:cNvSpPr txBox="1"/>
              <p:nvPr/>
            </p:nvSpPr>
            <p:spPr>
              <a:xfrm>
                <a:off x="749300" y="2044700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1356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673100" y="1282978"/>
                <a:ext cx="74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1249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11200" y="1725929"/>
                <a:ext cx="67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80808"/>
                    </a:solidFill>
                    <a:latin typeface="+mn-ea"/>
                    <a:ea typeface="+mn-ea"/>
                  </a:rPr>
                  <a:t>  A</a:t>
                </a:r>
                <a:endParaRPr lang="zh-CN" altLang="en-US" dirty="0">
                  <a:solidFill>
                    <a:srgbClr val="080808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7" name="肘形连接符 6"/>
            <p:cNvCxnSpPr>
              <a:endCxn id="36" idx="1"/>
            </p:cNvCxnSpPr>
            <p:nvPr/>
          </p:nvCxnSpPr>
          <p:spPr bwMode="auto">
            <a:xfrm flipV="1">
              <a:off x="1485900" y="1910356"/>
              <a:ext cx="495300" cy="606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8" name="组合 7"/>
            <p:cNvGrpSpPr/>
            <p:nvPr/>
          </p:nvGrpSpPr>
          <p:grpSpPr>
            <a:xfrm>
              <a:off x="2692400" y="1282978"/>
              <a:ext cx="1270000" cy="1131054"/>
              <a:chOff x="2692400" y="1282978"/>
              <a:chExt cx="1270000" cy="1131054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7" name="矩形 26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8" name="直接连接符 27"/>
                <p:cNvCxnSpPr>
                  <a:stCxn id="27" idx="1"/>
                  <a:endCxn id="27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1356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B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26" name="肘形连接符 25"/>
              <p:cNvCxnSpPr>
                <a:endCxn id="31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9" name="组合 8"/>
            <p:cNvGrpSpPr/>
            <p:nvPr/>
          </p:nvGrpSpPr>
          <p:grpSpPr>
            <a:xfrm>
              <a:off x="3987800" y="1322427"/>
              <a:ext cx="1270000" cy="1131054"/>
              <a:chOff x="2692400" y="1282978"/>
              <a:chExt cx="1270000" cy="113105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20" name="矩形 19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1" name="直接连接符 20"/>
                <p:cNvCxnSpPr>
                  <a:stCxn id="20" idx="1"/>
                  <a:endCxn id="20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2" name="文本框 21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1475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C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9" name="肘形连接符 18"/>
              <p:cNvCxnSpPr>
                <a:endCxn id="24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  <p:grpSp>
          <p:nvGrpSpPr>
            <p:cNvPr id="10" name="组合 9"/>
            <p:cNvGrpSpPr/>
            <p:nvPr/>
          </p:nvGrpSpPr>
          <p:grpSpPr>
            <a:xfrm>
              <a:off x="5245100" y="1319846"/>
              <a:ext cx="1270000" cy="1131054"/>
              <a:chOff x="2692400" y="1282978"/>
              <a:chExt cx="1270000" cy="113105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3213100" y="1282978"/>
                <a:ext cx="749300" cy="1131054"/>
                <a:chOff x="673100" y="1282978"/>
                <a:chExt cx="749300" cy="1131054"/>
              </a:xfrm>
            </p:grpSpPr>
            <p:sp>
              <p:nvSpPr>
                <p:cNvPr id="13" name="矩形 12"/>
                <p:cNvSpPr/>
                <p:nvPr/>
              </p:nvSpPr>
              <p:spPr bwMode="auto">
                <a:xfrm>
                  <a:off x="673100" y="1676400"/>
                  <a:ext cx="749300" cy="7366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4" name="直接连接符 13"/>
                <p:cNvCxnSpPr>
                  <a:stCxn id="13" idx="1"/>
                  <a:endCxn id="13" idx="3"/>
                </p:cNvCxnSpPr>
                <p:nvPr/>
              </p:nvCxnSpPr>
              <p:spPr bwMode="auto">
                <a:xfrm>
                  <a:off x="673100" y="2044700"/>
                  <a:ext cx="7493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文本框 14"/>
                <p:cNvSpPr txBox="1"/>
                <p:nvPr/>
              </p:nvSpPr>
              <p:spPr>
                <a:xfrm>
                  <a:off x="749300" y="2044700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b="1" dirty="0">
                    <a:solidFill>
                      <a:srgbClr val="0303DF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673100" y="1282978"/>
                  <a:ext cx="7493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1021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711200" y="1725929"/>
                  <a:ext cx="673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080808"/>
                      </a:solidFill>
                      <a:latin typeface="+mn-ea"/>
                      <a:ea typeface="+mn-ea"/>
                    </a:rPr>
                    <a:t>  D</a:t>
                  </a:r>
                  <a:endParaRPr lang="zh-CN" altLang="en-US" dirty="0">
                    <a:solidFill>
                      <a:srgbClr val="080808"/>
                    </a:solidFill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2" name="肘形连接符 11"/>
              <p:cNvCxnSpPr>
                <a:endCxn id="17" idx="1"/>
              </p:cNvCxnSpPr>
              <p:nvPr/>
            </p:nvCxnSpPr>
            <p:spPr bwMode="auto">
              <a:xfrm flipV="1">
                <a:off x="2692400" y="1910595"/>
                <a:ext cx="558800" cy="319010"/>
              </a:xfrm>
              <a:prstGeom prst="bentConnector3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03811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利用</a:t>
            </a:r>
            <a:r>
              <a:rPr lang="zh-CN" altLang="en-US" dirty="0"/>
              <a:t>二级指针实现链表的删除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student </a:t>
            </a:r>
            <a:r>
              <a:rPr lang="en-US" altLang="zh-CN" sz="1600" dirty="0"/>
              <a:t>* deleteSortedLink_1(</a:t>
            </a:r>
            <a:r>
              <a:rPr lang="en-US" altLang="zh-CN" sz="1600" b="1" dirty="0">
                <a:solidFill>
                  <a:srgbClr val="030DCD"/>
                </a:solidFill>
              </a:rPr>
              <a:t>student **head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ID)   //return head   (&amp;head, ID)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080808"/>
                </a:solidFill>
              </a:rPr>
              <a:t> student </a:t>
            </a:r>
            <a:r>
              <a:rPr lang="en-US" altLang="zh-CN" sz="1600" dirty="0">
                <a:solidFill>
                  <a:srgbClr val="C00000"/>
                </a:solidFill>
              </a:rPr>
              <a:t>**Cur</a:t>
            </a:r>
            <a:r>
              <a:rPr lang="en-US" altLang="zh-CN" sz="1600" dirty="0"/>
              <a:t>;    //*Cur</a:t>
            </a:r>
            <a:r>
              <a:rPr lang="zh-CN" altLang="en-US" sz="1600" dirty="0"/>
              <a:t>类似于于</a:t>
            </a:r>
            <a:r>
              <a:rPr lang="en-US" altLang="zh-CN" sz="1600" dirty="0" err="1"/>
              <a:t>prev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080808"/>
                </a:solidFill>
              </a:rPr>
              <a:t> student </a:t>
            </a:r>
            <a:r>
              <a:rPr lang="en-US" altLang="zh-CN" sz="1600" dirty="0"/>
              <a:t>*Next;    //Next</a:t>
            </a:r>
            <a:r>
              <a:rPr lang="zh-CN" altLang="en-US" sz="1600" dirty="0"/>
              <a:t>类似于</a:t>
            </a:r>
            <a:r>
              <a:rPr lang="en-US" altLang="zh-CN" sz="1600" dirty="0" err="1"/>
              <a:t>pNext</a:t>
            </a:r>
            <a:r>
              <a:rPr lang="en-US" altLang="zh-CN" sz="1600" dirty="0"/>
              <a:t>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for (Cur = head; *Cur; )   //*Cur points to the first node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Next = *Cur;   //entry = entry-&gt;next;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if (Next-&gt;ID == ID)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rgbClr val="030DCD"/>
                </a:solidFill>
              </a:rPr>
              <a:t>            *Cur = Next-&gt;next;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 free(Next);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 break;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else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    Cur = &amp;(Next-&gt;next);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return *head;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不需要对删除第一个元素（头元素）进行单独处理；</a:t>
            </a:r>
          </a:p>
        </p:txBody>
      </p:sp>
    </p:spTree>
    <p:extLst>
      <p:ext uri="{BB962C8B-B14F-4D97-AF65-F5344CB8AC3E}">
        <p14:creationId xmlns:p14="http://schemas.microsoft.com/office/powerpoint/2010/main" val="266037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利用</a:t>
            </a:r>
            <a:r>
              <a:rPr lang="zh-CN" altLang="en-US" dirty="0"/>
              <a:t>二级指针实现链表的插入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* </a:t>
            </a:r>
            <a:r>
              <a:rPr lang="en-US" altLang="zh-CN" sz="1800" dirty="0" err="1"/>
              <a:t>insertSortedLink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>
                <a:solidFill>
                  <a:srgbClr val="C00000"/>
                </a:solidFill>
              </a:rPr>
              <a:t>**head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ID)   //return head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*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 = (node *)</a:t>
            </a:r>
            <a:r>
              <a:rPr lang="en-US" altLang="zh-CN" sz="1800" dirty="0" err="1"/>
              <a:t>malloc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));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-&gt;ID = ID;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-&gt;next=NULL;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**Cur = head, *Next = *head;    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while (Next)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if (Next-&gt;ID &gt;ID)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   {  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-&gt;next = 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 *Cur 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    return *head;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Cur = &amp;(Next-&gt;next);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     Next = Next-&gt;next;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*Cur = </a:t>
            </a:r>
            <a:r>
              <a:rPr lang="en-US" altLang="zh-CN" sz="1800" dirty="0" err="1"/>
              <a:t>newNode</a:t>
            </a:r>
            <a:r>
              <a:rPr lang="en-US" altLang="zh-CN" sz="1800" dirty="0"/>
              <a:t>;  //insert at the end of the list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      return *head;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5595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遍历</a:t>
            </a:r>
            <a:r>
              <a:rPr lang="zh-CN" altLang="en-US" dirty="0"/>
              <a:t>单向链表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 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(student *head)   //</a:t>
            </a:r>
            <a:r>
              <a:rPr lang="zh-CN" altLang="en-US" sz="1800" dirty="0"/>
              <a:t>输出链表数据，返回链表长度</a:t>
            </a:r>
            <a:endParaRPr lang="en-US" altLang="zh-CN" sz="1800" dirty="0"/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 length=0;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rgbClr val="080808"/>
                </a:solidFill>
              </a:rPr>
              <a:t>student </a:t>
            </a:r>
            <a:r>
              <a:rPr lang="en-US" altLang="zh-CN" sz="1800" dirty="0"/>
              <a:t>*p = head;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if (head==NULL)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(“Empty List\n");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while(p!=NULL)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("%d ",p-&gt;ID);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p=p-&gt;next;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 length++;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}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return length;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7974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使用</a:t>
            </a:r>
            <a:r>
              <a:rPr lang="zh-CN" altLang="en-US" dirty="0"/>
              <a:t>二级指针插入、删除与遍历链表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void Link()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student *head=NULL;	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//-------  Insert  ---------------------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insertSortedLink</a:t>
            </a:r>
            <a:r>
              <a:rPr lang="en-US" altLang="zh-CN" sz="1800" dirty="0"/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&amp;head</a:t>
            </a:r>
            <a:r>
              <a:rPr lang="en-US" altLang="zh-CN" sz="1800" dirty="0"/>
              <a:t>, 3);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insertSortedLink</a:t>
            </a:r>
            <a:r>
              <a:rPr lang="en-US" altLang="zh-CN" sz="1800" dirty="0"/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&amp;head</a:t>
            </a:r>
            <a:r>
              <a:rPr lang="en-US" altLang="zh-CN" sz="1800" dirty="0"/>
              <a:t>, 5);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//-------  Delete  ---------------------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&amp;head</a:t>
            </a:r>
            <a:r>
              <a:rPr lang="en-US" altLang="zh-CN" sz="1800" dirty="0"/>
              <a:t>, 2);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&amp;head</a:t>
            </a:r>
            <a:r>
              <a:rPr lang="en-US" altLang="zh-CN" sz="1800" dirty="0"/>
              <a:t>, 3);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head = </a:t>
            </a:r>
            <a:r>
              <a:rPr lang="en-US" altLang="zh-CN" sz="1800" dirty="0" err="1"/>
              <a:t>deleteSortedLink</a:t>
            </a:r>
            <a:r>
              <a:rPr lang="en-US" altLang="zh-CN" sz="1800" dirty="0"/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&amp;head</a:t>
            </a:r>
            <a:r>
              <a:rPr lang="en-US" altLang="zh-CN" sz="1800" dirty="0"/>
              <a:t>, 5);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outputList</a:t>
            </a:r>
            <a:r>
              <a:rPr lang="en-US" altLang="zh-CN" sz="1800" dirty="0"/>
              <a:t>(head);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7513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</a:t>
            </a:r>
            <a:r>
              <a:rPr lang="zh-CN" altLang="en-US" dirty="0"/>
              <a:t>共用体</a:t>
            </a:r>
            <a:r>
              <a:rPr lang="zh-CN" altLang="en-US" dirty="0" smtClean="0"/>
              <a:t>（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dirty="0" smtClean="0">
                <a:solidFill>
                  <a:srgbClr val="006600"/>
                </a:solidFill>
              </a:rPr>
              <a:t>union</a:t>
            </a:r>
            <a:r>
              <a:rPr lang="zh-CN" altLang="en-US" dirty="0" smtClean="0">
                <a:solidFill>
                  <a:srgbClr val="006600"/>
                </a:solidFill>
              </a:rPr>
              <a:t>，</a:t>
            </a:r>
            <a:r>
              <a:rPr lang="zh-CN" altLang="en-US" dirty="0" smtClean="0">
                <a:solidFill>
                  <a:srgbClr val="7030A0"/>
                </a:solidFill>
              </a:rPr>
              <a:t>联合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8089900" cy="522417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有时需要把几种不同类型的变量在</a:t>
            </a:r>
            <a:r>
              <a:rPr lang="zh-CN" altLang="en-US" sz="2000" b="1" dirty="0">
                <a:solidFill>
                  <a:srgbClr val="C00000"/>
                </a:solidFill>
              </a:rPr>
              <a:t>不同的时刻</a:t>
            </a:r>
            <a:r>
              <a:rPr lang="zh-CN" altLang="en-US" sz="2000" dirty="0"/>
              <a:t>存放到同一个内存单元中；（</a:t>
            </a:r>
            <a:r>
              <a:rPr lang="zh-CN" altLang="en-US" sz="2000" b="1" dirty="0">
                <a:solidFill>
                  <a:srgbClr val="C00000"/>
                </a:solidFill>
              </a:rPr>
              <a:t>注：不是同时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如，可把一个整型变量、一个字符型变量、一个实型变量放在同一个地址开始的内存单元中；</a:t>
            </a:r>
            <a:endParaRPr lang="en-US" altLang="zh-CN" sz="2000" dirty="0"/>
          </a:p>
          <a:p>
            <a:pPr marL="914400" lvl="1" indent="-285750"/>
            <a:r>
              <a:rPr lang="zh-CN" altLang="en-US" sz="1800" b="1" dirty="0"/>
              <a:t>系统为共用体变量所分配的空间大小，是最宽成员变量所需的字节数；（该例为</a:t>
            </a:r>
            <a:r>
              <a:rPr lang="en-US" altLang="zh-CN" sz="1800" b="1" dirty="0"/>
              <a:t>4bytes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971550" lvl="1"/>
            <a:r>
              <a:rPr lang="zh-CN" altLang="en-US" sz="1800" b="1" u="sng" dirty="0">
                <a:solidFill>
                  <a:srgbClr val="C00000"/>
                </a:solidFill>
              </a:rPr>
              <a:t>有时</a:t>
            </a:r>
            <a:r>
              <a:rPr lang="zh-CN" altLang="en-US" sz="1800" b="1" u="sng" dirty="0"/>
              <a:t>保存</a:t>
            </a:r>
            <a:r>
              <a:rPr lang="en-US" altLang="zh-CN" sz="1800" b="1" u="sng" dirty="0" err="1"/>
              <a:t>int</a:t>
            </a:r>
            <a:r>
              <a:rPr lang="zh-CN" altLang="en-US" sz="1800" b="1" u="sng" dirty="0"/>
              <a:t>并变量，</a:t>
            </a:r>
            <a:r>
              <a:rPr lang="zh-CN" altLang="en-US" sz="1800" b="1" u="sng" dirty="0">
                <a:solidFill>
                  <a:srgbClr val="C00000"/>
                </a:solidFill>
              </a:rPr>
              <a:t>有时</a:t>
            </a:r>
            <a:r>
              <a:rPr lang="zh-CN" altLang="en-US" sz="1800" b="1" u="sng" dirty="0"/>
              <a:t>保存</a:t>
            </a:r>
            <a:r>
              <a:rPr lang="en-US" altLang="zh-CN" sz="1800" b="1" u="sng" dirty="0"/>
              <a:t>char</a:t>
            </a:r>
            <a:r>
              <a:rPr lang="zh-CN" altLang="en-US" sz="1800" b="1" u="sng" dirty="0"/>
              <a:t>型变量，</a:t>
            </a:r>
            <a:r>
              <a:rPr lang="zh-CN" altLang="en-US" sz="1800" b="1" u="sng" dirty="0">
                <a:solidFill>
                  <a:srgbClr val="C00000"/>
                </a:solidFill>
              </a:rPr>
              <a:t>有时</a:t>
            </a:r>
            <a:r>
              <a:rPr lang="zh-CN" altLang="en-US" sz="1800" b="1" u="sng" dirty="0"/>
              <a:t>保存</a:t>
            </a:r>
            <a:r>
              <a:rPr lang="en-US" altLang="zh-CN" sz="1800" b="1" u="sng" dirty="0"/>
              <a:t>float</a:t>
            </a:r>
            <a:r>
              <a:rPr lang="zh-CN" altLang="en-US" sz="1800" b="1" u="sng" dirty="0"/>
              <a:t>型；</a:t>
            </a:r>
            <a:endParaRPr lang="en-US" altLang="zh-CN" sz="1800" b="1" u="sng" dirty="0"/>
          </a:p>
          <a:p>
            <a:pPr marL="971550" lvl="1"/>
            <a:r>
              <a:rPr lang="zh-CN" altLang="en-US" sz="1800" b="1" dirty="0">
                <a:solidFill>
                  <a:srgbClr val="030DCD"/>
                </a:solidFill>
              </a:rPr>
              <a:t>但不能同时保存三种变量的值；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/>
              <a:t>访问共用体变量时，</a:t>
            </a:r>
            <a:r>
              <a:rPr lang="zh-CN" altLang="en-US" sz="1800" b="1" dirty="0">
                <a:solidFill>
                  <a:srgbClr val="030DCD"/>
                </a:solidFill>
              </a:rPr>
              <a:t>获取的是最一次赋值的结果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共用体采用覆盖技术，将几个变量互相覆盖；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这种使几个不同的变量共占同一段内存</a:t>
            </a:r>
            <a:r>
              <a:rPr lang="zh-CN" altLang="en-US" sz="2000" dirty="0" smtClean="0"/>
              <a:t>的结构体，</a:t>
            </a:r>
            <a:r>
              <a:rPr lang="zh-CN" altLang="en-US" sz="2000" dirty="0"/>
              <a:t>称为“共用体”类型</a:t>
            </a:r>
            <a:r>
              <a:rPr lang="zh-CN" altLang="en-US" sz="2000" dirty="0" smtClean="0"/>
              <a:t>的结构体；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目的是为了节省内存空间；</a:t>
            </a:r>
          </a:p>
        </p:txBody>
      </p:sp>
    </p:spTree>
    <p:extLst>
      <p:ext uri="{BB962C8B-B14F-4D97-AF65-F5344CB8AC3E}">
        <p14:creationId xmlns:p14="http://schemas.microsoft.com/office/powerpoint/2010/main" val="32956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共用体类型及变量定义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902" y="987426"/>
            <a:ext cx="8089900" cy="57943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定义</a:t>
            </a:r>
            <a:r>
              <a:rPr lang="zh-CN" altLang="en-US" dirty="0">
                <a:solidFill>
                  <a:srgbClr val="7030A0"/>
                </a:solidFill>
              </a:rPr>
              <a:t>共用体类型</a:t>
            </a:r>
            <a:r>
              <a:rPr lang="zh-CN" altLang="en-US" dirty="0"/>
              <a:t>及</a:t>
            </a:r>
            <a:r>
              <a:rPr lang="zh-CN" altLang="en-US" dirty="0">
                <a:solidFill>
                  <a:srgbClr val="7030A0"/>
                </a:solidFill>
              </a:rPr>
              <a:t>变量</a:t>
            </a:r>
            <a:r>
              <a:rPr lang="zh-CN" altLang="en-US" dirty="0"/>
              <a:t>的一般形式：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80629" y="1922317"/>
            <a:ext cx="7297015" cy="2951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000" dirty="0">
                <a:solidFill>
                  <a:srgbClr val="C00000"/>
                </a:solidFill>
              </a:rPr>
              <a:t>union</a:t>
            </a:r>
            <a:r>
              <a:rPr lang="zh-CN" altLang="en-US" sz="2000" dirty="0">
                <a:solidFill>
                  <a:srgbClr val="006600"/>
                </a:solidFill>
              </a:rPr>
              <a:t>　共用体</a:t>
            </a:r>
            <a:r>
              <a:rPr lang="zh-CN" altLang="en-US" sz="2000" dirty="0" smtClean="0">
                <a:solidFill>
                  <a:srgbClr val="006600"/>
                </a:solidFill>
              </a:rPr>
              <a:t>名  </a:t>
            </a:r>
            <a:r>
              <a:rPr lang="en-US" altLang="zh-CN" sz="2000" dirty="0" smtClean="0">
                <a:solidFill>
                  <a:srgbClr val="030DCD"/>
                </a:solidFill>
              </a:rPr>
              <a:t>//</a:t>
            </a:r>
            <a:r>
              <a:rPr lang="zh-CN" altLang="en-US" sz="2000" dirty="0" smtClean="0">
                <a:solidFill>
                  <a:srgbClr val="030DCD"/>
                </a:solidFill>
              </a:rPr>
              <a:t>定义共用体</a:t>
            </a:r>
            <a:r>
              <a:rPr lang="zh-CN" altLang="en-US" sz="2000" dirty="0" smtClean="0">
                <a:solidFill>
                  <a:srgbClr val="7030A0"/>
                </a:solidFill>
              </a:rPr>
              <a:t>类型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成员列表；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}  </a:t>
            </a:r>
            <a:r>
              <a:rPr lang="zh-CN" altLang="en-US" sz="2000" dirty="0">
                <a:solidFill>
                  <a:srgbClr val="000000"/>
                </a:solidFill>
              </a:rPr>
              <a:t>变量列表</a:t>
            </a:r>
            <a:r>
              <a:rPr lang="zh-CN" altLang="en-US" sz="2000" dirty="0" smtClean="0">
                <a:solidFill>
                  <a:srgbClr val="000000"/>
                </a:solidFill>
              </a:rPr>
              <a:t>；</a:t>
            </a:r>
            <a:r>
              <a:rPr lang="en-US" altLang="zh-CN" sz="2000" dirty="0" smtClean="0">
                <a:solidFill>
                  <a:srgbClr val="000000"/>
                </a:solidFill>
              </a:rPr>
              <a:t>//</a:t>
            </a:r>
            <a:r>
              <a:rPr lang="zh-CN" altLang="en-US" sz="2000" dirty="0" smtClean="0">
                <a:solidFill>
                  <a:srgbClr val="000000"/>
                </a:solidFill>
              </a:rPr>
              <a:t>定义共用体</a:t>
            </a:r>
            <a:r>
              <a:rPr lang="zh-CN" altLang="en-US" sz="2000" dirty="0" smtClean="0">
                <a:solidFill>
                  <a:srgbClr val="7030A0"/>
                </a:solidFill>
              </a:rPr>
              <a:t>变量</a:t>
            </a:r>
            <a:endParaRPr lang="zh-CN" altLang="en-US" sz="2000" dirty="0">
              <a:solidFill>
                <a:srgbClr val="7030A0"/>
              </a:solidFill>
            </a:endParaRP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lang="zh-CN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21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共用体类型及变量定义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902" y="987426"/>
            <a:ext cx="8089900" cy="57943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68902" y="1714499"/>
            <a:ext cx="3600451" cy="40524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6600"/>
                </a:solidFill>
              </a:rPr>
              <a:t>union data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 err="1">
                <a:solidFill>
                  <a:srgbClr val="000000"/>
                </a:solidFill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char </a:t>
            </a:r>
            <a:r>
              <a:rPr lang="en-US" altLang="zh-CN" sz="2000" dirty="0" err="1">
                <a:solidFill>
                  <a:srgbClr val="000000"/>
                </a:solidFill>
              </a:rPr>
              <a:t>ch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float f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　</a:t>
            </a:r>
            <a:r>
              <a:rPr lang="en-US" altLang="zh-CN" sz="2000" b="1" dirty="0">
                <a:solidFill>
                  <a:srgbClr val="000000"/>
                </a:solidFill>
              </a:rPr>
              <a:t>} </a:t>
            </a:r>
            <a:r>
              <a:rPr lang="en-US" altLang="zh-CN" sz="2000" b="1" dirty="0" err="1">
                <a:solidFill>
                  <a:srgbClr val="030DCD"/>
                </a:solidFill>
              </a:rPr>
              <a:t>a,b,c</a:t>
            </a:r>
            <a:r>
              <a:rPr lang="en-US" altLang="zh-CN" sz="2000" b="1" dirty="0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定义共用体类型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的同时，声明三个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型变量</a:t>
            </a:r>
            <a:r>
              <a:rPr lang="en-US" altLang="zh-CN" sz="2000" dirty="0" err="1">
                <a:solidFill>
                  <a:srgbClr val="000000"/>
                </a:solidFill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//</a:t>
            </a:r>
            <a:r>
              <a:rPr lang="zh-CN" altLang="en-US" sz="2000" dirty="0">
                <a:solidFill>
                  <a:srgbClr val="7030A0"/>
                </a:solidFill>
              </a:rPr>
              <a:t>系统为变量</a:t>
            </a:r>
            <a:r>
              <a:rPr lang="en-US" altLang="zh-CN" sz="2000" dirty="0" err="1">
                <a:solidFill>
                  <a:srgbClr val="7030A0"/>
                </a:solidFill>
              </a:rPr>
              <a:t>a,b,c</a:t>
            </a:r>
            <a:r>
              <a:rPr lang="zh-CN" altLang="en-US" sz="2000" dirty="0">
                <a:solidFill>
                  <a:srgbClr val="7030A0"/>
                </a:solidFill>
              </a:rPr>
              <a:t>各分配</a:t>
            </a:r>
            <a:r>
              <a:rPr lang="en-US" altLang="zh-CN" sz="2000" dirty="0">
                <a:solidFill>
                  <a:srgbClr val="7030A0"/>
                </a:solidFill>
              </a:rPr>
              <a:t>4</a:t>
            </a:r>
            <a:r>
              <a:rPr lang="zh-CN" altLang="en-US" sz="2000" dirty="0">
                <a:solidFill>
                  <a:srgbClr val="7030A0"/>
                </a:solidFill>
              </a:rPr>
              <a:t>字节的存储空间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447597" y="1724890"/>
            <a:ext cx="3761220" cy="40524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6600"/>
                </a:solidFill>
              </a:rPr>
              <a:t>union data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 err="1">
                <a:solidFill>
                  <a:srgbClr val="000000"/>
                </a:solidFill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char </a:t>
            </a:r>
            <a:r>
              <a:rPr lang="en-US" altLang="zh-CN" sz="2000" dirty="0" err="1">
                <a:solidFill>
                  <a:srgbClr val="000000"/>
                </a:solidFill>
              </a:rPr>
              <a:t>ch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float f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　</a:t>
            </a:r>
            <a:r>
              <a:rPr lang="en-US" altLang="zh-CN" sz="2000" dirty="0">
                <a:solidFill>
                  <a:srgbClr val="000000"/>
                </a:solidFill>
              </a:rPr>
              <a:t>} ;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b="1" dirty="0">
                <a:solidFill>
                  <a:srgbClr val="006600"/>
                </a:solidFill>
              </a:rPr>
              <a:t>union data </a:t>
            </a:r>
            <a:r>
              <a:rPr lang="en-US" altLang="zh-CN" sz="2000" b="1" dirty="0" err="1">
                <a:solidFill>
                  <a:srgbClr val="7030A0"/>
                </a:solidFill>
              </a:rPr>
              <a:t>a,b,c</a:t>
            </a:r>
            <a:r>
              <a:rPr lang="en-US" altLang="zh-CN" sz="2000" b="1" dirty="0">
                <a:solidFill>
                  <a:srgbClr val="7030A0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定义共用体类型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，然后声明三个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型变量</a:t>
            </a:r>
            <a:r>
              <a:rPr lang="en-US" altLang="zh-CN" sz="2000" dirty="0" err="1">
                <a:solidFill>
                  <a:srgbClr val="000000"/>
                </a:solidFill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//</a:t>
            </a:r>
            <a:r>
              <a:rPr lang="zh-CN" altLang="en-US" sz="2000" dirty="0">
                <a:solidFill>
                  <a:srgbClr val="7030A0"/>
                </a:solidFill>
              </a:rPr>
              <a:t>系统为变量</a:t>
            </a:r>
            <a:r>
              <a:rPr lang="en-US" altLang="zh-CN" sz="2000" dirty="0" err="1">
                <a:solidFill>
                  <a:srgbClr val="7030A0"/>
                </a:solidFill>
              </a:rPr>
              <a:t>a,b,c</a:t>
            </a:r>
            <a:r>
              <a:rPr lang="zh-CN" altLang="en-US" sz="2000" dirty="0">
                <a:solidFill>
                  <a:srgbClr val="7030A0"/>
                </a:solidFill>
              </a:rPr>
              <a:t>各分配</a:t>
            </a:r>
            <a:r>
              <a:rPr lang="en-US" altLang="zh-CN" sz="2000" dirty="0">
                <a:solidFill>
                  <a:srgbClr val="7030A0"/>
                </a:solidFill>
              </a:rPr>
              <a:t>4</a:t>
            </a:r>
            <a:r>
              <a:rPr lang="zh-CN" altLang="en-US" sz="2000" dirty="0">
                <a:solidFill>
                  <a:srgbClr val="7030A0"/>
                </a:solidFill>
              </a:rPr>
              <a:t>字节的存储空间</a:t>
            </a:r>
          </a:p>
          <a:p>
            <a:pPr>
              <a:spcBef>
                <a:spcPts val="600"/>
              </a:spcBef>
              <a:buNone/>
            </a:pPr>
            <a:endParaRPr lang="zh-CN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共用体变量的引用方式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7993207" cy="4963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逐个引用共用体变量中的成员；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704107"/>
            <a:ext cx="3600451" cy="43024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6600"/>
                </a:solidFill>
              </a:rPr>
              <a:t>union data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 err="1">
                <a:solidFill>
                  <a:srgbClr val="000000"/>
                </a:solidFill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char </a:t>
            </a:r>
            <a:r>
              <a:rPr lang="en-US" altLang="zh-CN" sz="2000" dirty="0" err="1">
                <a:solidFill>
                  <a:srgbClr val="000000"/>
                </a:solidFill>
              </a:rPr>
              <a:t>ch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float f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　</a:t>
            </a:r>
            <a:r>
              <a:rPr lang="en-US" altLang="zh-CN" sz="2000" dirty="0">
                <a:solidFill>
                  <a:srgbClr val="000000"/>
                </a:solidFill>
              </a:rPr>
              <a:t>} </a:t>
            </a:r>
            <a:r>
              <a:rPr lang="en-US" altLang="zh-CN" sz="2000" dirty="0">
                <a:solidFill>
                  <a:srgbClr val="030DCD"/>
                </a:solidFill>
              </a:rPr>
              <a:t>a</a:t>
            </a:r>
            <a:r>
              <a:rPr lang="zh-CN" altLang="en-US" sz="2000" dirty="0">
                <a:solidFill>
                  <a:srgbClr val="030DCD"/>
                </a:solidFill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</a:rPr>
              <a:t>b</a:t>
            </a:r>
            <a:r>
              <a:rPr lang="zh-CN" altLang="en-US" sz="2000" dirty="0">
                <a:solidFill>
                  <a:srgbClr val="030DCD"/>
                </a:solidFill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</a:rPr>
              <a:t>c</a:t>
            </a:r>
            <a:r>
              <a:rPr lang="en-US" altLang="zh-CN" sz="2000" dirty="0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定义共用体类型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的同时，声明三个</a:t>
            </a:r>
            <a:r>
              <a:rPr lang="en-US" altLang="zh-CN" sz="2000" dirty="0">
                <a:solidFill>
                  <a:srgbClr val="000000"/>
                </a:solidFill>
              </a:rPr>
              <a:t>data</a:t>
            </a:r>
            <a:r>
              <a:rPr lang="zh-CN" altLang="en-US" sz="2000" dirty="0">
                <a:solidFill>
                  <a:srgbClr val="000000"/>
                </a:solidFill>
              </a:rPr>
              <a:t>型变量</a:t>
            </a:r>
            <a:r>
              <a:rPr lang="en-US" altLang="zh-CN" sz="2000" dirty="0" err="1">
                <a:solidFill>
                  <a:srgbClr val="000000"/>
                </a:solidFill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7030A0"/>
                </a:solidFill>
              </a:rPr>
              <a:t>//</a:t>
            </a:r>
            <a:r>
              <a:rPr lang="zh-CN" altLang="en-US" sz="2000" dirty="0">
                <a:solidFill>
                  <a:srgbClr val="7030A0"/>
                </a:solidFill>
              </a:rPr>
              <a:t>系统为变量</a:t>
            </a:r>
            <a:r>
              <a:rPr lang="en-US" altLang="zh-CN" sz="2000" dirty="0" err="1">
                <a:solidFill>
                  <a:srgbClr val="7030A0"/>
                </a:solidFill>
              </a:rPr>
              <a:t>a,b,c</a:t>
            </a:r>
            <a:r>
              <a:rPr lang="zh-CN" altLang="en-US" sz="2000" dirty="0">
                <a:solidFill>
                  <a:srgbClr val="7030A0"/>
                </a:solidFill>
              </a:rPr>
              <a:t>各分配</a:t>
            </a:r>
            <a:r>
              <a:rPr lang="en-US" altLang="zh-CN" sz="2000" dirty="0">
                <a:solidFill>
                  <a:srgbClr val="7030A0"/>
                </a:solidFill>
              </a:rPr>
              <a:t>4</a:t>
            </a:r>
            <a:r>
              <a:rPr lang="zh-CN" altLang="en-US" sz="2000" dirty="0">
                <a:solidFill>
                  <a:srgbClr val="7030A0"/>
                </a:solidFill>
              </a:rPr>
              <a:t>字节的存储空间</a:t>
            </a:r>
          </a:p>
          <a:p>
            <a:pPr>
              <a:spcBef>
                <a:spcPts val="600"/>
              </a:spcBef>
              <a:buNone/>
            </a:pP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302125" y="1714499"/>
            <a:ext cx="4457411" cy="429201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赋值：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971550" lvl="1"/>
            <a:r>
              <a:rPr lang="en-US" altLang="zh-CN" sz="1800" dirty="0" err="1">
                <a:solidFill>
                  <a:srgbClr val="000000"/>
                </a:solidFill>
              </a:rPr>
              <a:t>a.i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</a:rPr>
              <a:t>引用共用体变量中的类型变量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s</a:t>
            </a:r>
            <a:r>
              <a:rPr lang="en-US" altLang="zh-CN" sz="1600" dirty="0" err="1" smtClean="0"/>
              <a:t>canf</a:t>
            </a:r>
            <a:r>
              <a:rPr lang="en-US" altLang="zh-CN" sz="1600" dirty="0" smtClean="0"/>
              <a:t>(“%d”,&amp;</a:t>
            </a:r>
            <a:r>
              <a:rPr lang="en-US" altLang="zh-CN" sz="1600" dirty="0" err="1" smtClean="0"/>
              <a:t>a.i</a:t>
            </a:r>
            <a:r>
              <a:rPr lang="en-US" altLang="zh-CN" sz="1600" dirty="0" smtClean="0"/>
              <a:t>);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printf</a:t>
            </a:r>
            <a:r>
              <a:rPr lang="en-US" altLang="zh-CN" sz="1600" dirty="0"/>
              <a:t>(“%d”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a.i</a:t>
            </a:r>
            <a:r>
              <a:rPr lang="en-US" altLang="zh-CN" sz="1600" dirty="0"/>
              <a:t>);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000000"/>
                </a:solidFill>
              </a:rPr>
              <a:t>a.ch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</a:rPr>
              <a:t>引用共用体变量中的字符变量</a:t>
            </a:r>
            <a:r>
              <a:rPr lang="en-US" altLang="zh-CN" sz="1600" dirty="0" err="1">
                <a:solidFill>
                  <a:srgbClr val="000000"/>
                </a:solidFill>
              </a:rPr>
              <a:t>ch</a:t>
            </a:r>
            <a:r>
              <a:rPr lang="en-US" altLang="zh-CN" sz="1600" dirty="0"/>
              <a:t>;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printf</a:t>
            </a:r>
            <a:r>
              <a:rPr lang="en-US" altLang="zh-CN" sz="1600" dirty="0"/>
              <a:t>(“%c”</a:t>
            </a:r>
            <a:r>
              <a:rPr lang="zh-CN" altLang="en-US" sz="1600" dirty="0"/>
              <a:t>，</a:t>
            </a:r>
            <a:r>
              <a:rPr lang="en-US" altLang="zh-CN" sz="1600" dirty="0"/>
              <a:t>a.ch);</a:t>
            </a:r>
          </a:p>
          <a:p>
            <a:pPr marL="971550" lvl="1"/>
            <a:r>
              <a:rPr lang="en-US" altLang="zh-CN" sz="1800" dirty="0" err="1">
                <a:solidFill>
                  <a:srgbClr val="000000"/>
                </a:solidFill>
              </a:rPr>
              <a:t>a.f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</a:rPr>
              <a:t>引用共用体变量中的实型变量</a:t>
            </a:r>
            <a:r>
              <a:rPr lang="en-US" altLang="zh-CN" sz="1600" dirty="0">
                <a:solidFill>
                  <a:srgbClr val="000000"/>
                </a:solidFill>
              </a:rPr>
              <a:t>f;</a:t>
            </a: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printf</a:t>
            </a:r>
            <a:r>
              <a:rPr lang="en-US" altLang="zh-CN" sz="1600" dirty="0"/>
              <a:t>(“%f”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a.f</a:t>
            </a:r>
            <a:r>
              <a:rPr lang="en-US" altLang="zh-CN" sz="1600" dirty="0"/>
              <a:t>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三个值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不会同时</a:t>
            </a:r>
            <a:r>
              <a:rPr lang="zh-CN" altLang="en-US" sz="2000" b="1" dirty="0">
                <a:solidFill>
                  <a:srgbClr val="7030A0"/>
                </a:solidFill>
              </a:rPr>
              <a:t>存在；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C00000"/>
                </a:solidFill>
              </a:rPr>
              <a:t>只保存最后一个赋值操作的结果；</a:t>
            </a:r>
            <a:endParaRPr lang="en-US" altLang="zh-CN" sz="2000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03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关于共用体的几点注记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8189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共用体变量值的保存</a:t>
            </a:r>
            <a:endParaRPr lang="en-US" altLang="zh-CN" dirty="0"/>
          </a:p>
          <a:p>
            <a:pPr marL="971550" lvl="1"/>
            <a:r>
              <a:rPr lang="zh-CN" altLang="en-US" dirty="0"/>
              <a:t>同一个内存段可以用来存放几种不同类型的成员；</a:t>
            </a:r>
            <a:endParaRPr lang="en-US" altLang="zh-CN" dirty="0"/>
          </a:p>
          <a:p>
            <a:pPr marL="971550" lvl="1"/>
            <a:r>
              <a:rPr lang="zh-CN" altLang="en-US" b="1" dirty="0">
                <a:solidFill>
                  <a:srgbClr val="030DCD"/>
                </a:solidFill>
              </a:rPr>
              <a:t>但在</a:t>
            </a:r>
            <a:r>
              <a:rPr lang="zh-CN" altLang="en-US" b="1" dirty="0">
                <a:solidFill>
                  <a:srgbClr val="7030A0"/>
                </a:solidFill>
              </a:rPr>
              <a:t>每一瞬时</a:t>
            </a:r>
            <a:r>
              <a:rPr lang="zh-CN" altLang="en-US" b="1" dirty="0">
                <a:solidFill>
                  <a:srgbClr val="030DCD"/>
                </a:solidFill>
              </a:rPr>
              <a:t>只能存放</a:t>
            </a:r>
            <a:r>
              <a:rPr lang="zh-CN" altLang="en-US" b="1" dirty="0">
                <a:solidFill>
                  <a:srgbClr val="7030A0"/>
                </a:solidFill>
              </a:rPr>
              <a:t>其中一种</a:t>
            </a:r>
            <a:r>
              <a:rPr lang="zh-CN" altLang="en-US" b="1" dirty="0">
                <a:solidFill>
                  <a:srgbClr val="030DCD"/>
                </a:solidFill>
              </a:rPr>
              <a:t>，而不是同时存放几种；</a:t>
            </a:r>
            <a:endParaRPr lang="en-US" altLang="zh-CN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b="1" dirty="0">
                <a:solidFill>
                  <a:srgbClr val="006600"/>
                </a:solidFill>
              </a:rPr>
              <a:t>即：每一瞬时只有一个成员起作用，其他的成员不起作用，即不是同时都存在和起作用；</a:t>
            </a:r>
            <a:endParaRPr lang="en-US" altLang="zh-CN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FF0000"/>
                </a:solidFill>
              </a:rPr>
              <a:t>因此每个时刻只能对共用体中的一个成员赋值，不能同时对多个成员赋值；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共用体变量值的</a:t>
            </a:r>
            <a:r>
              <a:rPr lang="zh-CN" altLang="en-US" dirty="0" smtClean="0"/>
              <a:t>时效性</a:t>
            </a:r>
            <a:endParaRPr lang="en-US" altLang="zh-CN" dirty="0" smtClean="0"/>
          </a:p>
          <a:p>
            <a:pPr marL="971550" lvl="1"/>
            <a:r>
              <a:rPr lang="zh-CN" altLang="en-US" dirty="0">
                <a:solidFill>
                  <a:srgbClr val="030DCD"/>
                </a:solidFill>
              </a:rPr>
              <a:t>共用体变量中起作用的成员是最后一次存放的成员；</a:t>
            </a:r>
            <a:endParaRPr lang="en-US" altLang="zh-CN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30DCD"/>
                </a:solidFill>
              </a:rPr>
              <a:t>在存入一个</a:t>
            </a:r>
            <a:r>
              <a:rPr lang="zh-CN" altLang="en-US" dirty="0">
                <a:solidFill>
                  <a:srgbClr val="7030A0"/>
                </a:solidFill>
              </a:rPr>
              <a:t>新的成员后</a:t>
            </a:r>
            <a:r>
              <a:rPr lang="zh-CN" altLang="en-US" dirty="0">
                <a:solidFill>
                  <a:srgbClr val="C00000"/>
                </a:solidFill>
              </a:rPr>
              <a:t>原有的成员就失去作用</a:t>
            </a:r>
            <a:r>
              <a:rPr lang="zh-CN" altLang="en-US" dirty="0">
                <a:solidFill>
                  <a:srgbClr val="030DCD"/>
                </a:solidFill>
              </a:rPr>
              <a:t>；</a:t>
            </a:r>
            <a:endParaRPr lang="en-US" altLang="zh-CN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u="sng" dirty="0" smtClean="0"/>
              <a:t>思考：如何确定与使用共用体中存放的值？</a:t>
            </a:r>
            <a:endParaRPr lang="en-US" altLang="zh-CN" b="1" u="sng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/>
            <a:endParaRPr lang="zh-CN" altLang="en-US" dirty="0">
              <a:solidFill>
                <a:srgbClr val="030DC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6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共用体变量值的时效性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015" y="1095664"/>
            <a:ext cx="8089900" cy="71651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在引用共用体变量时，一定注意当前存放在共用体变量中的究竟是哪个成员</a:t>
            </a:r>
            <a:r>
              <a:rPr lang="en-US" altLang="zh-CN" sz="2000" b="1" dirty="0">
                <a:solidFill>
                  <a:srgbClr val="C00000"/>
                </a:solidFill>
              </a:rPr>
              <a:t>;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62420" y="2070206"/>
            <a:ext cx="3600451" cy="40524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6600"/>
                </a:solidFill>
              </a:rPr>
              <a:t>union data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 err="1">
                <a:solidFill>
                  <a:srgbClr val="000000"/>
                </a:solidFill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char </a:t>
            </a:r>
            <a:r>
              <a:rPr lang="en-US" altLang="zh-CN" sz="2000" dirty="0" err="1">
                <a:solidFill>
                  <a:srgbClr val="000000"/>
                </a:solidFill>
              </a:rPr>
              <a:t>ch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   </a:t>
            </a:r>
            <a:r>
              <a:rPr lang="en-US" altLang="zh-CN" sz="2000" dirty="0">
                <a:solidFill>
                  <a:srgbClr val="000000"/>
                </a:solidFill>
              </a:rPr>
              <a:t>float f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　</a:t>
            </a:r>
            <a:r>
              <a:rPr lang="en-US" altLang="zh-CN" sz="2000" dirty="0">
                <a:solidFill>
                  <a:srgbClr val="000000"/>
                </a:solidFill>
              </a:rPr>
              <a:t>} </a:t>
            </a:r>
            <a:r>
              <a:rPr lang="en-US" altLang="zh-CN" sz="2000" dirty="0">
                <a:solidFill>
                  <a:srgbClr val="030DCD"/>
                </a:solidFill>
              </a:rPr>
              <a:t>a</a:t>
            </a:r>
            <a:r>
              <a:rPr lang="zh-CN" altLang="en-US" sz="2000" dirty="0">
                <a:solidFill>
                  <a:srgbClr val="030DCD"/>
                </a:solidFill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</a:rPr>
              <a:t>b</a:t>
            </a:r>
            <a:r>
              <a:rPr lang="zh-CN" altLang="en-US" sz="2000" dirty="0">
                <a:solidFill>
                  <a:srgbClr val="030DCD"/>
                </a:solidFill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</a:rPr>
              <a:t>c</a:t>
            </a:r>
            <a:r>
              <a:rPr lang="en-US" altLang="zh-CN" sz="2000" dirty="0">
                <a:solidFill>
                  <a:srgbClr val="000000"/>
                </a:solidFill>
              </a:rPr>
              <a:t>; </a:t>
            </a:r>
          </a:p>
          <a:p>
            <a:pPr>
              <a:spcBef>
                <a:spcPts val="600"/>
              </a:spcBef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定义共用体类型</a:t>
            </a:r>
            <a:r>
              <a:rPr lang="en-US" altLang="zh-CN" sz="1800" dirty="0">
                <a:solidFill>
                  <a:srgbClr val="000000"/>
                </a:solidFill>
              </a:rPr>
              <a:t>data</a:t>
            </a:r>
            <a:r>
              <a:rPr lang="zh-CN" altLang="en-US" sz="1800" dirty="0">
                <a:solidFill>
                  <a:srgbClr val="000000"/>
                </a:solidFill>
              </a:rPr>
              <a:t>，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同时声明三个</a:t>
            </a:r>
            <a:r>
              <a:rPr lang="en-US" altLang="zh-CN" sz="1800" dirty="0">
                <a:solidFill>
                  <a:srgbClr val="000000"/>
                </a:solidFill>
              </a:rPr>
              <a:t>data</a:t>
            </a:r>
            <a:r>
              <a:rPr lang="zh-CN" altLang="en-US" sz="1800" dirty="0">
                <a:solidFill>
                  <a:srgbClr val="000000"/>
                </a:solidFill>
              </a:rPr>
              <a:t>型变量</a:t>
            </a:r>
            <a:r>
              <a:rPr lang="en-US" altLang="zh-CN" sz="1800" dirty="0" err="1">
                <a:solidFill>
                  <a:srgbClr val="000000"/>
                </a:solidFill>
              </a:rPr>
              <a:t>a,b,c</a:t>
            </a:r>
            <a:r>
              <a:rPr lang="en-US" altLang="zh-CN" sz="1800" dirty="0">
                <a:solidFill>
                  <a:srgbClr val="000000"/>
                </a:solidFill>
              </a:rPr>
              <a:t>;</a:t>
            </a:r>
            <a:endParaRPr lang="zh-CN" altLang="en-US" sz="1800" dirty="0">
              <a:solidFill>
                <a:srgbClr val="00000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559298" y="2063804"/>
            <a:ext cx="4096617" cy="40524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000" dirty="0" err="1">
                <a:solidFill>
                  <a:srgbClr val="000000"/>
                </a:solidFill>
              </a:rPr>
              <a:t>a.i</a:t>
            </a:r>
            <a:r>
              <a:rPr lang="en-US" altLang="zh-CN" sz="2000" dirty="0">
                <a:solidFill>
                  <a:srgbClr val="000000"/>
                </a:solidFill>
              </a:rPr>
              <a:t>=1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buNone/>
            </a:pPr>
            <a:r>
              <a:rPr lang="en-US" altLang="zh-CN" sz="2000" dirty="0" err="1">
                <a:solidFill>
                  <a:srgbClr val="000000"/>
                </a:solidFill>
              </a:rPr>
              <a:t>a.c</a:t>
            </a:r>
            <a:r>
              <a:rPr lang="en-US" altLang="zh-CN" sz="2000" dirty="0">
                <a:solidFill>
                  <a:srgbClr val="000000"/>
                </a:solidFill>
              </a:rPr>
              <a:t>='a'</a:t>
            </a:r>
            <a:r>
              <a:rPr lang="zh-CN" altLang="en-US" sz="2000" dirty="0">
                <a:solidFill>
                  <a:srgbClr val="000000"/>
                </a:solidFill>
              </a:rPr>
              <a:t>；</a:t>
            </a:r>
          </a:p>
          <a:p>
            <a:pPr>
              <a:buNone/>
            </a:pPr>
            <a:r>
              <a:rPr lang="en-US" altLang="zh-CN" sz="2000" dirty="0" err="1">
                <a:solidFill>
                  <a:srgbClr val="030DCD"/>
                </a:solidFill>
              </a:rPr>
              <a:t>a.f</a:t>
            </a:r>
            <a:r>
              <a:rPr lang="en-US" altLang="zh-CN" sz="2000" dirty="0">
                <a:solidFill>
                  <a:srgbClr val="030DCD"/>
                </a:solidFill>
              </a:rPr>
              <a:t>=1.5</a:t>
            </a:r>
            <a:r>
              <a:rPr lang="zh-CN" altLang="en-US" sz="2000" dirty="0">
                <a:solidFill>
                  <a:srgbClr val="030DCD"/>
                </a:solidFill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在完成以上</a:t>
            </a:r>
            <a:r>
              <a:rPr lang="en-US" altLang="zh-CN" sz="1800" dirty="0">
                <a:solidFill>
                  <a:srgbClr val="000000"/>
                </a:solidFill>
              </a:rPr>
              <a:t>3</a:t>
            </a:r>
            <a:r>
              <a:rPr lang="zh-CN" altLang="en-US" sz="1800" dirty="0">
                <a:solidFill>
                  <a:srgbClr val="000000"/>
                </a:solidFill>
              </a:rPr>
              <a:t>个赋值运算以后，</a:t>
            </a:r>
            <a:r>
              <a:rPr lang="zh-CN" altLang="en-US" sz="1800" dirty="0">
                <a:solidFill>
                  <a:srgbClr val="030DCD"/>
                </a:solidFill>
              </a:rPr>
              <a:t>只有</a:t>
            </a:r>
            <a:r>
              <a:rPr lang="en-US" altLang="zh-CN" sz="1800" dirty="0" err="1">
                <a:solidFill>
                  <a:srgbClr val="030DCD"/>
                </a:solidFill>
              </a:rPr>
              <a:t>a.f</a:t>
            </a:r>
            <a:r>
              <a:rPr lang="zh-CN" altLang="en-US" sz="1800" dirty="0">
                <a:solidFill>
                  <a:srgbClr val="030DCD"/>
                </a:solidFill>
              </a:rPr>
              <a:t>是有效的</a:t>
            </a:r>
            <a:r>
              <a:rPr lang="zh-CN" altLang="en-US" sz="1800" dirty="0">
                <a:solidFill>
                  <a:srgbClr val="000000"/>
                </a:solidFill>
              </a:rPr>
              <a:t>，</a:t>
            </a:r>
            <a:r>
              <a:rPr lang="en-US" altLang="zh-CN" sz="1800" dirty="0" err="1">
                <a:solidFill>
                  <a:srgbClr val="C00000"/>
                </a:solidFill>
              </a:rPr>
              <a:t>a.i</a:t>
            </a:r>
            <a:r>
              <a:rPr lang="zh-CN" altLang="en-US" sz="1800" dirty="0">
                <a:solidFill>
                  <a:srgbClr val="C00000"/>
                </a:solidFill>
              </a:rPr>
              <a:t>和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a.c</a:t>
            </a:r>
            <a:r>
              <a:rPr lang="zh-CN" altLang="en-US" sz="1800" dirty="0" smtClean="0">
                <a:solidFill>
                  <a:srgbClr val="C00000"/>
                </a:solidFill>
              </a:rPr>
              <a:t>的赋值无效果</a:t>
            </a:r>
            <a:r>
              <a:rPr lang="en-US" altLang="zh-CN" sz="1800" dirty="0" smtClean="0">
                <a:solidFill>
                  <a:srgbClr val="000000"/>
                </a:solidFill>
              </a:rPr>
              <a:t>;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20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关于共用体的几点注记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共用体变量的地址</a:t>
            </a:r>
            <a:endParaRPr lang="en-US" altLang="zh-CN" dirty="0"/>
          </a:p>
          <a:p>
            <a:pPr marL="971550" lvl="1"/>
            <a:r>
              <a:rPr lang="zh-CN" altLang="en-US" dirty="0"/>
              <a:t>共用体变量的地址和它的各成员的地址都是</a:t>
            </a:r>
            <a:r>
              <a:rPr lang="zh-CN" altLang="en-US" b="1" dirty="0">
                <a:solidFill>
                  <a:srgbClr val="030DCD"/>
                </a:solidFill>
              </a:rPr>
              <a:t>同一个存储单元的地址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如：</a:t>
            </a:r>
            <a:r>
              <a:rPr lang="en-US" altLang="zh-CN" dirty="0">
                <a:solidFill>
                  <a:srgbClr val="7030A0"/>
                </a:solidFill>
              </a:rPr>
              <a:t>&amp;a</a:t>
            </a:r>
            <a:r>
              <a:rPr lang="zh-CN" altLang="en-US" dirty="0">
                <a:solidFill>
                  <a:srgbClr val="7030A0"/>
                </a:solidFill>
              </a:rPr>
              <a:t>、</a:t>
            </a:r>
            <a:r>
              <a:rPr lang="en-US" altLang="zh-CN" dirty="0">
                <a:solidFill>
                  <a:srgbClr val="7030A0"/>
                </a:solidFill>
              </a:rPr>
              <a:t>&amp;</a:t>
            </a:r>
            <a:r>
              <a:rPr lang="en-US" altLang="zh-CN" dirty="0" err="1">
                <a:solidFill>
                  <a:srgbClr val="7030A0"/>
                </a:solidFill>
              </a:rPr>
              <a:t>a.i</a:t>
            </a:r>
            <a:r>
              <a:rPr lang="zh-CN" altLang="en-US" dirty="0">
                <a:solidFill>
                  <a:srgbClr val="7030A0"/>
                </a:solidFill>
              </a:rPr>
              <a:t>、</a:t>
            </a:r>
            <a:r>
              <a:rPr lang="en-US" altLang="zh-CN" dirty="0">
                <a:solidFill>
                  <a:srgbClr val="7030A0"/>
                </a:solidFill>
              </a:rPr>
              <a:t>&amp;</a:t>
            </a:r>
            <a:r>
              <a:rPr lang="en-US" altLang="zh-CN" dirty="0" err="1">
                <a:solidFill>
                  <a:srgbClr val="7030A0"/>
                </a:solidFill>
              </a:rPr>
              <a:t>a.c</a:t>
            </a:r>
            <a:r>
              <a:rPr lang="zh-CN" altLang="en-US" dirty="0">
                <a:solidFill>
                  <a:srgbClr val="7030A0"/>
                </a:solidFill>
              </a:rPr>
              <a:t>、</a:t>
            </a:r>
            <a:r>
              <a:rPr lang="en-US" altLang="zh-CN" dirty="0">
                <a:solidFill>
                  <a:srgbClr val="7030A0"/>
                </a:solidFill>
              </a:rPr>
              <a:t>&amp;</a:t>
            </a:r>
            <a:r>
              <a:rPr lang="en-US" altLang="zh-CN" dirty="0" err="1">
                <a:solidFill>
                  <a:srgbClr val="7030A0"/>
                </a:solidFill>
              </a:rPr>
              <a:t>a.f</a:t>
            </a:r>
            <a:r>
              <a:rPr lang="zh-CN" altLang="en-US" dirty="0" smtClean="0">
                <a:solidFill>
                  <a:srgbClr val="7030A0"/>
                </a:solidFill>
              </a:rPr>
              <a:t>都是访问同</a:t>
            </a:r>
            <a:r>
              <a:rPr lang="zh-CN" altLang="en-US" dirty="0">
                <a:solidFill>
                  <a:srgbClr val="7030A0"/>
                </a:solidFill>
              </a:rPr>
              <a:t>一个内存单元的地址值</a:t>
            </a:r>
            <a:r>
              <a:rPr lang="en-US" altLang="zh-CN" dirty="0">
                <a:solidFill>
                  <a:srgbClr val="7030A0"/>
                </a:solidFill>
              </a:rPr>
              <a:t>;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共用体变量值初始化限制</a:t>
            </a:r>
            <a:endParaRPr lang="en-US" altLang="zh-CN" dirty="0"/>
          </a:p>
          <a:p>
            <a:pPr marL="971550" lvl="1"/>
            <a:r>
              <a:rPr lang="zh-CN" altLang="en-US" dirty="0" smtClean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在定义共用体变量</a:t>
            </a:r>
            <a:r>
              <a:rPr lang="zh-CN" altLang="en-US" dirty="0" smtClean="0"/>
              <a:t>时，同时对所有成员变量初始化；</a:t>
            </a:r>
            <a:endParaRPr lang="en-US" altLang="zh-CN" dirty="0" smtClean="0"/>
          </a:p>
          <a:p>
            <a:pPr marL="971550" lvl="1"/>
            <a:r>
              <a:rPr lang="zh-CN" altLang="en-US" dirty="0" smtClean="0"/>
              <a:t>有的编译器支持初始化其中的个别成员</a:t>
            </a:r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003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不要</a:t>
            </a:r>
            <a:r>
              <a:rPr lang="zh-CN" altLang="en-US" dirty="0" smtClean="0"/>
              <a:t>对</a:t>
            </a:r>
            <a:r>
              <a:rPr lang="zh-CN" altLang="en-US" dirty="0"/>
              <a:t>共用</a:t>
            </a:r>
            <a:r>
              <a:rPr lang="zh-CN" altLang="en-US" dirty="0" smtClean="0"/>
              <a:t>体成员变量</a:t>
            </a:r>
            <a:r>
              <a:rPr lang="zh-CN" altLang="en-US" dirty="0"/>
              <a:t>值进行</a:t>
            </a:r>
            <a:r>
              <a:rPr lang="zh-CN" altLang="en-US" dirty="0">
                <a:solidFill>
                  <a:srgbClr val="7030A0"/>
                </a:solidFill>
              </a:rPr>
              <a:t>初始化</a:t>
            </a:r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81595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135063"/>
            <a:ext cx="8089900" cy="4686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 smtClean="0"/>
              <a:t>union un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 smtClean="0"/>
              <a:t>{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char </a:t>
            </a:r>
            <a:r>
              <a:rPr lang="en-US" altLang="zh-CN" dirty="0" err="1"/>
              <a:t>ch</a:t>
            </a:r>
            <a:r>
              <a:rPr lang="en-US" altLang="zh-CN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float f;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} a = {1</a:t>
            </a:r>
            <a:r>
              <a:rPr lang="en-US" altLang="zh-CN" dirty="0" smtClean="0"/>
              <a:t>,‘a’,</a:t>
            </a:r>
            <a:r>
              <a:rPr lang="en-US" altLang="zh-CN" dirty="0"/>
              <a:t>1.5}; 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错误，</a:t>
            </a:r>
            <a:r>
              <a:rPr lang="zh-CN" altLang="en-US" b="1" u="sng" dirty="0">
                <a:solidFill>
                  <a:srgbClr val="FF0000"/>
                </a:solidFill>
              </a:rPr>
              <a:t>不能对共用</a:t>
            </a:r>
            <a:r>
              <a:rPr lang="zh-CN" altLang="en-US" b="1" u="sng" dirty="0" smtClean="0">
                <a:solidFill>
                  <a:srgbClr val="FF0000"/>
                </a:solidFill>
              </a:rPr>
              <a:t>体</a:t>
            </a:r>
            <a:r>
              <a:rPr lang="zh-CN" altLang="en-US" b="1" u="sng" dirty="0" smtClean="0">
                <a:solidFill>
                  <a:srgbClr val="030DCD"/>
                </a:solidFill>
              </a:rPr>
              <a:t>所有成员变量</a:t>
            </a:r>
            <a:r>
              <a:rPr lang="zh-CN" altLang="en-US" b="1" u="sng" dirty="0" smtClean="0">
                <a:solidFill>
                  <a:srgbClr val="FF0000"/>
                </a:solidFill>
              </a:rPr>
              <a:t>初始化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</a:t>
            </a:r>
            <a:endParaRPr lang="en-US" altLang="zh-CN" dirty="0" smtClean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 smtClean="0"/>
              <a:t>union  un b={12};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union  </a:t>
            </a:r>
            <a:r>
              <a:rPr lang="en-US" altLang="zh-CN" dirty="0" smtClean="0"/>
              <a:t>un c={‘Y’};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union  </a:t>
            </a:r>
            <a:r>
              <a:rPr lang="en-US" altLang="zh-CN" dirty="0" smtClean="0"/>
              <a:t>un d={120.3};</a:t>
            </a:r>
            <a:endParaRPr lang="en-US" altLang="zh-CN" dirty="0"/>
          </a:p>
          <a:p>
            <a:pPr marL="285750" lvl="1" indent="0">
              <a:buNone/>
            </a:pPr>
            <a:r>
              <a:rPr lang="zh-CN" altLang="en-US" dirty="0" smtClean="0">
                <a:solidFill>
                  <a:srgbClr val="006600"/>
                </a:solidFill>
              </a:rPr>
              <a:t>有的编译器可以使 </a:t>
            </a:r>
            <a:r>
              <a:rPr lang="en-US" altLang="zh-CN" dirty="0" err="1" smtClean="0">
                <a:solidFill>
                  <a:srgbClr val="7030A0"/>
                </a:solidFill>
              </a:rPr>
              <a:t>b.i</a:t>
            </a:r>
            <a:r>
              <a:rPr lang="en-US" altLang="zh-CN" dirty="0" smtClean="0">
                <a:solidFill>
                  <a:srgbClr val="7030A0"/>
                </a:solidFill>
              </a:rPr>
              <a:t>=12</a:t>
            </a:r>
            <a:r>
              <a:rPr lang="en-US" altLang="zh-CN" dirty="0" smtClean="0">
                <a:solidFill>
                  <a:srgbClr val="006600"/>
                </a:solidFill>
              </a:rPr>
              <a:t>, </a:t>
            </a:r>
            <a:r>
              <a:rPr lang="en-US" altLang="zh-CN" dirty="0" smtClean="0">
                <a:solidFill>
                  <a:srgbClr val="030DCD"/>
                </a:solidFill>
              </a:rPr>
              <a:t>c.ch=‘Y’</a:t>
            </a:r>
            <a:r>
              <a:rPr lang="zh-CN" altLang="en-US" dirty="0" smtClean="0">
                <a:solidFill>
                  <a:srgbClr val="006600"/>
                </a:solidFill>
              </a:rPr>
              <a:t>，但</a:t>
            </a:r>
            <a:r>
              <a:rPr lang="en-US" altLang="zh-CN" u="sng" dirty="0" err="1" smtClean="0">
                <a:solidFill>
                  <a:srgbClr val="C00000"/>
                </a:solidFill>
              </a:rPr>
              <a:t>d.f</a:t>
            </a:r>
            <a:r>
              <a:rPr lang="zh-CN" altLang="en-US" u="sng" dirty="0" smtClean="0">
                <a:solidFill>
                  <a:srgbClr val="C00000"/>
                </a:solidFill>
              </a:rPr>
              <a:t>不行，会使</a:t>
            </a:r>
            <a:r>
              <a:rPr lang="en-US" altLang="zh-CN" u="sng" dirty="0" err="1" smtClean="0">
                <a:solidFill>
                  <a:srgbClr val="C00000"/>
                </a:solidFill>
              </a:rPr>
              <a:t>d.i</a:t>
            </a:r>
            <a:r>
              <a:rPr lang="en-US" altLang="zh-CN" u="sng" dirty="0" smtClean="0">
                <a:solidFill>
                  <a:srgbClr val="C00000"/>
                </a:solidFill>
              </a:rPr>
              <a:t>=120</a:t>
            </a:r>
            <a:r>
              <a:rPr lang="en-US" altLang="zh-CN" u="sng" dirty="0" smtClean="0">
                <a:solidFill>
                  <a:srgbClr val="006600"/>
                </a:solidFill>
              </a:rPr>
              <a:t>;</a:t>
            </a:r>
          </a:p>
          <a:p>
            <a:pPr marL="285750" lvl="1" indent="0">
              <a:buNone/>
            </a:pPr>
            <a:r>
              <a:rPr lang="zh-CN" altLang="en-US" u="sng" dirty="0" smtClean="0">
                <a:solidFill>
                  <a:srgbClr val="7030A0"/>
                </a:solidFill>
              </a:rPr>
              <a:t>注：不要尝试对共用体成员变量进行初始化</a:t>
            </a:r>
            <a:endParaRPr lang="en-US" altLang="zh-CN" u="sng" dirty="0">
              <a:solidFill>
                <a:srgbClr val="7030A0"/>
              </a:solidFill>
            </a:endParaRPr>
          </a:p>
          <a:p>
            <a:pPr lvl="1" indent="0">
              <a:buNone/>
            </a:pPr>
            <a:endParaRPr lang="en-US" altLang="zh-CN" sz="1600" dirty="0"/>
          </a:p>
          <a:p>
            <a:pPr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69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7030A0"/>
                </a:solidFill>
              </a:rPr>
              <a:t>共用体与结构体</a:t>
            </a:r>
            <a:r>
              <a:rPr lang="zh-CN" altLang="en-US" dirty="0"/>
              <a:t>判断</a:t>
            </a:r>
            <a:r>
              <a:rPr lang="zh-CN" altLang="en-US" dirty="0">
                <a:solidFill>
                  <a:srgbClr val="7030A0"/>
                </a:solidFill>
              </a:rPr>
              <a:t>大端小端</a:t>
            </a:r>
            <a:r>
              <a:rPr lang="zh-CN" altLang="en-US" dirty="0"/>
              <a:t>存储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2467737" cy="37369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考察下述程序段</a:t>
            </a:r>
            <a:r>
              <a:rPr lang="en-US" altLang="zh-CN" sz="2000" dirty="0" smtClean="0"/>
              <a:t> </a:t>
            </a:r>
            <a:endParaRPr lang="en-US" altLang="zh-CN" sz="20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700784"/>
            <a:ext cx="3601593" cy="44714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800" dirty="0" smtClean="0">
                <a:solidFill>
                  <a:srgbClr val="030DCD"/>
                </a:solidFill>
              </a:rPr>
              <a:t>//</a:t>
            </a:r>
            <a:r>
              <a:rPr lang="zh-CN" altLang="en-US" sz="1800" dirty="0" smtClean="0">
                <a:solidFill>
                  <a:srgbClr val="030DCD"/>
                </a:solidFill>
              </a:rPr>
              <a:t>声明共用体数据类型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union </a:t>
            </a:r>
            <a:r>
              <a:rPr lang="en-US" altLang="zh-CN" sz="1800" dirty="0" err="1">
                <a:solidFill>
                  <a:srgbClr val="080808"/>
                </a:solidFill>
              </a:rPr>
              <a:t>Little_endian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{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i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struct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data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{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char </a:t>
            </a:r>
            <a:r>
              <a:rPr lang="en-US" altLang="zh-CN" sz="1800" dirty="0">
                <a:solidFill>
                  <a:srgbClr val="080808"/>
                </a:solidFill>
              </a:rPr>
              <a:t>c1;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char </a:t>
            </a:r>
            <a:r>
              <a:rPr lang="en-US" altLang="zh-CN" sz="1800" dirty="0">
                <a:solidFill>
                  <a:srgbClr val="080808"/>
                </a:solidFill>
              </a:rPr>
              <a:t>c2;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char </a:t>
            </a:r>
            <a:r>
              <a:rPr lang="en-US" altLang="zh-CN" sz="1800" dirty="0">
                <a:solidFill>
                  <a:srgbClr val="080808"/>
                </a:solidFill>
              </a:rPr>
              <a:t>c3;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char </a:t>
            </a:r>
            <a:r>
              <a:rPr lang="en-US" altLang="zh-CN" sz="1800" dirty="0">
                <a:solidFill>
                  <a:srgbClr val="080808"/>
                </a:solidFill>
              </a:rPr>
              <a:t>c4;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smtClean="0">
                <a:solidFill>
                  <a:srgbClr val="080808"/>
                </a:solidFill>
              </a:rPr>
              <a:t>} </a:t>
            </a:r>
            <a:r>
              <a:rPr lang="en-US" altLang="zh-CN" sz="1800" dirty="0">
                <a:solidFill>
                  <a:srgbClr val="080808"/>
                </a:solidFill>
              </a:rPr>
              <a:t>s;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};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306824" y="1069848"/>
            <a:ext cx="3877056" cy="51023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   //</a:t>
            </a:r>
            <a:r>
              <a:rPr lang="zh-CN" altLang="en-US" sz="1800" dirty="0">
                <a:solidFill>
                  <a:srgbClr val="030DCD"/>
                </a:solidFill>
              </a:rPr>
              <a:t>定义共用体变量</a:t>
            </a:r>
            <a:r>
              <a:rPr lang="en-US" altLang="zh-CN" sz="1800" dirty="0">
                <a:solidFill>
                  <a:srgbClr val="030DCD"/>
                </a:solidFill>
              </a:rPr>
              <a:t>le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union </a:t>
            </a:r>
            <a:r>
              <a:rPr lang="en-US" altLang="zh-CN" sz="1800" dirty="0" err="1">
                <a:solidFill>
                  <a:srgbClr val="080808"/>
                </a:solidFill>
              </a:rPr>
              <a:t>Little_endian</a:t>
            </a:r>
            <a:r>
              <a:rPr lang="en-US" altLang="zh-CN" sz="1800" dirty="0">
                <a:solidFill>
                  <a:srgbClr val="080808"/>
                </a:solidFill>
              </a:rPr>
              <a:t> le;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C00000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le.i</a:t>
            </a:r>
            <a:r>
              <a:rPr lang="en-US" altLang="zh-CN" sz="1800" dirty="0" smtClean="0">
                <a:solidFill>
                  <a:srgbClr val="C00000"/>
                </a:solidFill>
              </a:rPr>
              <a:t>=0x12345678</a:t>
            </a:r>
            <a:r>
              <a:rPr lang="en-US" altLang="zh-CN" sz="1800" dirty="0">
                <a:solidFill>
                  <a:srgbClr val="C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7030A0"/>
                </a:solidFill>
              </a:rPr>
              <a:t>     if </a:t>
            </a:r>
            <a:r>
              <a:rPr lang="en-US" altLang="zh-CN" sz="1800" dirty="0">
                <a:solidFill>
                  <a:srgbClr val="7030A0"/>
                </a:solidFill>
              </a:rPr>
              <a:t>(le.s.c1==0x78)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("little-endian\n");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smtClean="0">
                <a:solidFill>
                  <a:srgbClr val="080808"/>
                </a:solidFill>
              </a:rPr>
              <a:t> else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("Big-endian\n");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return </a:t>
            </a:r>
            <a:r>
              <a:rPr lang="en-US" altLang="zh-CN" sz="1800" dirty="0">
                <a:solidFill>
                  <a:srgbClr val="080808"/>
                </a:solidFill>
              </a:rPr>
              <a:t>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} //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main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 smtClean="0">
              <a:solidFill>
                <a:srgbClr val="080808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共用体中有两个成员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整型变量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zh-CN" altLang="en-US" sz="1600" dirty="0" smtClean="0">
                <a:solidFill>
                  <a:srgbClr val="080808"/>
                </a:solidFill>
              </a:rPr>
              <a:t>与结构体变量</a:t>
            </a:r>
            <a:r>
              <a:rPr lang="en-US" altLang="zh-CN" sz="1600" dirty="0" smtClean="0">
                <a:solidFill>
                  <a:srgbClr val="080808"/>
                </a:solidFill>
              </a:rPr>
              <a:t>s</a:t>
            </a: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共用体变量</a:t>
            </a:r>
            <a:r>
              <a:rPr lang="en-US" altLang="zh-CN" sz="1600" dirty="0" smtClean="0">
                <a:solidFill>
                  <a:srgbClr val="080808"/>
                </a:solidFill>
              </a:rPr>
              <a:t>le</a:t>
            </a:r>
            <a:r>
              <a:rPr lang="zh-CN" altLang="en-US" sz="1600" dirty="0" smtClean="0">
                <a:solidFill>
                  <a:srgbClr val="080808"/>
                </a:solidFill>
              </a:rPr>
              <a:t>占用</a:t>
            </a:r>
            <a:r>
              <a:rPr lang="en-US" altLang="zh-CN" sz="1600" dirty="0" smtClean="0">
                <a:solidFill>
                  <a:srgbClr val="080808"/>
                </a:solidFill>
              </a:rPr>
              <a:t>4</a:t>
            </a:r>
            <a:r>
              <a:rPr lang="zh-CN" altLang="en-US" sz="1600" dirty="0" smtClean="0">
                <a:solidFill>
                  <a:srgbClr val="080808"/>
                </a:solidFill>
              </a:rPr>
              <a:t>个字节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两个共用体成员共用这</a:t>
            </a:r>
            <a:r>
              <a:rPr lang="en-US" altLang="zh-CN" sz="1600" dirty="0" smtClean="0">
                <a:solidFill>
                  <a:srgbClr val="080808"/>
                </a:solidFill>
              </a:rPr>
              <a:t>4</a:t>
            </a:r>
            <a:r>
              <a:rPr lang="zh-CN" altLang="en-US" sz="1600" dirty="0" smtClean="0">
                <a:solidFill>
                  <a:srgbClr val="080808"/>
                </a:solidFill>
              </a:rPr>
              <a:t>个字节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给共用体变量</a:t>
            </a:r>
            <a:r>
              <a:rPr lang="en-US" altLang="zh-CN" sz="1800" dirty="0" smtClean="0">
                <a:solidFill>
                  <a:srgbClr val="080808"/>
                </a:solidFill>
              </a:rPr>
              <a:t>le</a:t>
            </a:r>
            <a:r>
              <a:rPr lang="zh-CN" altLang="en-US" sz="1800" dirty="0" smtClean="0">
                <a:solidFill>
                  <a:srgbClr val="080808"/>
                </a:solidFill>
              </a:rPr>
              <a:t>中的成员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</a:t>
            </a:r>
            <a:r>
              <a:rPr lang="zh-CN" altLang="en-US" sz="1800" dirty="0" smtClean="0">
                <a:solidFill>
                  <a:srgbClr val="080808"/>
                </a:solidFill>
              </a:rPr>
              <a:t>赋值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</a:rPr>
              <a:t>如果是小端存储方式，则</a:t>
            </a:r>
            <a:r>
              <a:rPr lang="en-US" altLang="zh-CN" sz="1400" dirty="0" smtClean="0">
                <a:solidFill>
                  <a:srgbClr val="080808"/>
                </a:solidFill>
              </a:rPr>
              <a:t>c1</a:t>
            </a:r>
            <a:r>
              <a:rPr lang="zh-CN" altLang="en-US" sz="1400" dirty="0" smtClean="0">
                <a:solidFill>
                  <a:srgbClr val="080808"/>
                </a:solidFill>
              </a:rPr>
              <a:t>中应该是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</a:t>
            </a:r>
            <a:r>
              <a:rPr lang="zh-CN" altLang="en-US" sz="1400" dirty="0" smtClean="0">
                <a:solidFill>
                  <a:srgbClr val="080808"/>
                </a:solidFill>
              </a:rPr>
              <a:t>的低位字节数据（</a:t>
            </a:r>
            <a:r>
              <a:rPr lang="en-US" altLang="zh-CN" sz="1400" dirty="0" smtClean="0">
                <a:solidFill>
                  <a:srgbClr val="080808"/>
                </a:solidFill>
              </a:rPr>
              <a:t>0x78</a:t>
            </a:r>
            <a:r>
              <a:rPr lang="zh-CN" altLang="en-US" sz="1400" dirty="0" smtClean="0">
                <a:solidFill>
                  <a:srgbClr val="080808"/>
                </a:solidFill>
              </a:rPr>
              <a:t>）</a:t>
            </a:r>
            <a:endParaRPr lang="en-US" altLang="zh-CN" sz="1400" dirty="0" smtClean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80808"/>
                </a:solidFill>
              </a:rPr>
              <a:t>如果</a:t>
            </a:r>
            <a:r>
              <a:rPr lang="zh-CN" altLang="en-US" sz="1400" dirty="0" smtClean="0">
                <a:solidFill>
                  <a:srgbClr val="080808"/>
                </a:solidFill>
              </a:rPr>
              <a:t>是大端</a:t>
            </a:r>
            <a:r>
              <a:rPr lang="zh-CN" altLang="en-US" sz="1400" dirty="0">
                <a:solidFill>
                  <a:srgbClr val="080808"/>
                </a:solidFill>
              </a:rPr>
              <a:t>存储方式，则</a:t>
            </a:r>
            <a:r>
              <a:rPr lang="en-US" altLang="zh-CN" sz="1400" dirty="0">
                <a:solidFill>
                  <a:srgbClr val="080808"/>
                </a:solidFill>
              </a:rPr>
              <a:t>c1</a:t>
            </a:r>
            <a:r>
              <a:rPr lang="zh-CN" altLang="en-US" sz="1400" dirty="0">
                <a:solidFill>
                  <a:srgbClr val="080808"/>
                </a:solidFill>
              </a:rPr>
              <a:t>中应该是</a:t>
            </a:r>
            <a:r>
              <a:rPr lang="en-US" altLang="zh-CN" sz="1400" dirty="0" err="1">
                <a:solidFill>
                  <a:srgbClr val="080808"/>
                </a:solidFill>
              </a:rPr>
              <a:t>i</a:t>
            </a:r>
            <a:r>
              <a:rPr lang="zh-CN" altLang="en-US" sz="1400" dirty="0" smtClean="0">
                <a:solidFill>
                  <a:srgbClr val="080808"/>
                </a:solidFill>
              </a:rPr>
              <a:t>的高位</a:t>
            </a:r>
            <a:r>
              <a:rPr lang="zh-CN" altLang="en-US" sz="1400" dirty="0">
                <a:solidFill>
                  <a:srgbClr val="080808"/>
                </a:solidFill>
              </a:rPr>
              <a:t>字节</a:t>
            </a:r>
            <a:r>
              <a:rPr lang="zh-CN" altLang="en-US" sz="1400" dirty="0" smtClean="0">
                <a:solidFill>
                  <a:srgbClr val="080808"/>
                </a:solidFill>
              </a:rPr>
              <a:t>数据（</a:t>
            </a:r>
            <a:r>
              <a:rPr lang="en-US" altLang="zh-CN" sz="1400" dirty="0" smtClean="0">
                <a:solidFill>
                  <a:srgbClr val="080808"/>
                </a:solidFill>
              </a:rPr>
              <a:t>0x12</a:t>
            </a:r>
            <a:r>
              <a:rPr lang="zh-CN" altLang="en-US" sz="1400" dirty="0" smtClean="0">
                <a:solidFill>
                  <a:srgbClr val="080808"/>
                </a:solidFill>
              </a:rPr>
              <a:t>）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zh-CN" sz="1400" dirty="0" smtClean="0">
              <a:solidFill>
                <a:srgbClr val="080808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32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关于共用体的几点注记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共用体作为</a:t>
            </a:r>
            <a:r>
              <a:rPr lang="zh-CN" altLang="en-US" dirty="0">
                <a:solidFill>
                  <a:srgbClr val="7030A0"/>
                </a:solidFill>
              </a:rPr>
              <a:t>函数参数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限制</a:t>
            </a:r>
            <a:endParaRPr lang="en-US" altLang="zh-CN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b="1" dirty="0">
                <a:solidFill>
                  <a:srgbClr val="030DCD"/>
                </a:solidFill>
              </a:rPr>
              <a:t>不能把共用体变量作为函数参数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也就不能使函数带回共用体变量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指向共用体变量的指针可以作为函数参数；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u="sng" dirty="0">
                <a:solidFill>
                  <a:srgbClr val="006600"/>
                </a:solidFill>
              </a:rPr>
              <a:t>可以定义共用体数组；</a:t>
            </a:r>
            <a:endParaRPr lang="en-US" altLang="zh-CN" b="1" u="sng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30DCD"/>
                </a:solidFill>
              </a:rPr>
              <a:t>共用体类型可以出现在结构体类型定义</a:t>
            </a:r>
            <a:r>
              <a:rPr lang="zh-CN" altLang="en-US" dirty="0" smtClean="0"/>
              <a:t>中，同样，</a:t>
            </a:r>
            <a:r>
              <a:rPr lang="zh-CN" altLang="en-US" dirty="0" smtClean="0">
                <a:solidFill>
                  <a:srgbClr val="7030A0"/>
                </a:solidFill>
              </a:rPr>
              <a:t>结构体也可以出现在共用体类型定义中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C00000"/>
                </a:solidFill>
              </a:rPr>
              <a:t>数组可以作为共用体的成员；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971550"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977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学生与教师信息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/>
              <a:t>保存学生和教师的信息，学生和教师的数据稍有不同；</a:t>
            </a:r>
            <a:endParaRPr lang="en-US" altLang="zh-CN" sz="2000" dirty="0"/>
          </a:p>
          <a:p>
            <a:pPr marL="1085850" lvl="1" indent="-457200"/>
            <a:r>
              <a:rPr lang="zh-CN" altLang="en-US" sz="1800" dirty="0"/>
              <a:t>学生数据包括：姓名、学号、性别、</a:t>
            </a:r>
            <a:r>
              <a:rPr lang="zh-CN" altLang="en-US" sz="1800" dirty="0">
                <a:solidFill>
                  <a:srgbClr val="C00000"/>
                </a:solidFill>
              </a:rPr>
              <a:t>职业</a:t>
            </a:r>
            <a:r>
              <a:rPr lang="zh-CN" altLang="en-US" sz="1800" dirty="0"/>
              <a:t>、</a:t>
            </a:r>
            <a:r>
              <a:rPr lang="zh-CN" altLang="en-US" sz="1800" dirty="0">
                <a:solidFill>
                  <a:srgbClr val="7030A0"/>
                </a:solidFill>
              </a:rPr>
              <a:t>班级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085850" lvl="1" indent="-457200"/>
            <a:r>
              <a:rPr lang="zh-CN" altLang="en-US" sz="1800" dirty="0"/>
              <a:t>教师数据包括：姓名、号码、性别、</a:t>
            </a:r>
            <a:r>
              <a:rPr lang="zh-CN" altLang="en-US" sz="1800" dirty="0">
                <a:solidFill>
                  <a:srgbClr val="C00000"/>
                </a:solidFill>
              </a:rPr>
              <a:t>职业</a:t>
            </a:r>
            <a:r>
              <a:rPr lang="zh-CN" altLang="en-US" sz="1800" dirty="0"/>
              <a:t>、</a:t>
            </a:r>
            <a:r>
              <a:rPr lang="zh-CN" altLang="en-US" sz="1800" dirty="0">
                <a:solidFill>
                  <a:srgbClr val="030DCD"/>
                </a:solidFill>
              </a:rPr>
              <a:t>职务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/>
              <a:t>现要求把它们放在同一表格中，如果“</a:t>
            </a:r>
            <a:r>
              <a:rPr lang="zh-CN" altLang="en-US" sz="2000" dirty="0">
                <a:solidFill>
                  <a:srgbClr val="C00000"/>
                </a:solidFill>
              </a:rPr>
              <a:t>职业</a:t>
            </a:r>
            <a:r>
              <a:rPr lang="en-US" altLang="zh-CN" sz="2000" dirty="0"/>
              <a:t>”</a:t>
            </a:r>
            <a:r>
              <a:rPr lang="zh-CN" altLang="en-US" sz="2000" dirty="0"/>
              <a:t>为“</a:t>
            </a:r>
            <a:r>
              <a:rPr lang="en-US" altLang="zh-CN" sz="2000" dirty="0">
                <a:solidFill>
                  <a:srgbClr val="006600"/>
                </a:solidFill>
              </a:rPr>
              <a:t>s</a:t>
            </a:r>
            <a:r>
              <a:rPr lang="en-US" altLang="zh-CN" sz="2000" dirty="0"/>
              <a:t>”(</a:t>
            </a:r>
            <a:r>
              <a:rPr lang="zh-CN" altLang="en-US" sz="2000" dirty="0">
                <a:solidFill>
                  <a:srgbClr val="C00000"/>
                </a:solidFill>
              </a:rPr>
              <a:t>学生</a:t>
            </a:r>
            <a:r>
              <a:rPr lang="en-US" altLang="zh-CN" sz="2000" dirty="0"/>
              <a:t>)</a:t>
            </a:r>
            <a:r>
              <a:rPr lang="zh-CN" altLang="en-US" sz="2000" dirty="0"/>
              <a:t>，则</a:t>
            </a:r>
            <a:r>
              <a:rPr lang="zh-CN" altLang="en-US" sz="2000" dirty="0">
                <a:solidFill>
                  <a:srgbClr val="030DCD"/>
                </a:solidFill>
              </a:rPr>
              <a:t>第</a:t>
            </a:r>
            <a:r>
              <a:rPr lang="en-US" altLang="zh-CN" sz="2000" dirty="0">
                <a:solidFill>
                  <a:srgbClr val="030DCD"/>
                </a:solidFill>
              </a:rPr>
              <a:t>5</a:t>
            </a:r>
            <a:r>
              <a:rPr lang="zh-CN" altLang="en-US" sz="2000" dirty="0">
                <a:solidFill>
                  <a:srgbClr val="030DCD"/>
                </a:solidFill>
              </a:rPr>
              <a:t>项为</a:t>
            </a:r>
            <a:r>
              <a:rPr lang="en-US" altLang="zh-CN" sz="2000" dirty="0">
                <a:solidFill>
                  <a:srgbClr val="030DCD"/>
                </a:solidFill>
              </a:rPr>
              <a:t>class</a:t>
            </a:r>
            <a:r>
              <a:rPr lang="en-US" altLang="zh-CN" sz="2000" dirty="0"/>
              <a:t>(</a:t>
            </a:r>
            <a:r>
              <a:rPr lang="zh-CN" altLang="en-US" sz="2000" dirty="0">
                <a:solidFill>
                  <a:srgbClr val="7030A0"/>
                </a:solidFill>
              </a:rPr>
              <a:t>班级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006600"/>
                </a:solidFill>
              </a:rPr>
              <a:t>如</a:t>
            </a:r>
            <a:r>
              <a:rPr lang="en-US" altLang="zh-CN" sz="2000" dirty="0">
                <a:solidFill>
                  <a:srgbClr val="006600"/>
                </a:solidFill>
              </a:rPr>
              <a:t>Li</a:t>
            </a:r>
            <a:r>
              <a:rPr lang="zh-CN" altLang="en-US" sz="2000" dirty="0">
                <a:solidFill>
                  <a:srgbClr val="006600"/>
                </a:solidFill>
              </a:rPr>
              <a:t>是</a:t>
            </a:r>
            <a:r>
              <a:rPr lang="en-US" altLang="zh-CN" sz="2000" dirty="0">
                <a:solidFill>
                  <a:srgbClr val="006600"/>
                </a:solidFill>
              </a:rPr>
              <a:t>501</a:t>
            </a:r>
            <a:r>
              <a:rPr lang="zh-CN" altLang="en-US" sz="2000" dirty="0">
                <a:solidFill>
                  <a:srgbClr val="006600"/>
                </a:solidFill>
              </a:rPr>
              <a:t>班的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/>
              <a:t>如果</a:t>
            </a:r>
            <a:r>
              <a:rPr lang="zh-CN" altLang="en-US" sz="2000" dirty="0">
                <a:latin typeface="Arial" panose="020B0604020202020204" pitchFamily="34" charset="0"/>
              </a:rPr>
              <a:t>“</a:t>
            </a:r>
            <a:r>
              <a:rPr lang="zh-CN" altLang="en-US" sz="2000" dirty="0"/>
              <a:t>职业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zh-CN" altLang="en-US" sz="2000" dirty="0"/>
              <a:t>是</a:t>
            </a:r>
            <a:r>
              <a:rPr lang="zh-CN" altLang="en-US" sz="2000" dirty="0">
                <a:latin typeface="Arial" panose="020B0604020202020204" pitchFamily="34" charset="0"/>
              </a:rPr>
              <a:t>“</a:t>
            </a:r>
            <a:r>
              <a:rPr lang="en-US" altLang="zh-CN" sz="2000" dirty="0">
                <a:solidFill>
                  <a:srgbClr val="006600"/>
                </a:solidFill>
              </a:rPr>
              <a:t>t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/>
              <a:t>(</a:t>
            </a:r>
            <a:r>
              <a:rPr lang="zh-CN" altLang="en-US" sz="2000" dirty="0">
                <a:solidFill>
                  <a:srgbClr val="C00000"/>
                </a:solidFill>
              </a:rPr>
              <a:t>教师</a:t>
            </a:r>
            <a:r>
              <a:rPr lang="en-US" altLang="zh-CN" sz="2000" dirty="0"/>
              <a:t>)</a:t>
            </a:r>
            <a:r>
              <a:rPr lang="zh-CN" altLang="en-US" sz="2000" dirty="0"/>
              <a:t>，则</a:t>
            </a:r>
            <a:r>
              <a:rPr lang="zh-CN" altLang="en-US" sz="2000" dirty="0">
                <a:solidFill>
                  <a:srgbClr val="030DCD"/>
                </a:solidFill>
              </a:rPr>
              <a:t>第</a:t>
            </a:r>
            <a:r>
              <a:rPr lang="en-US" altLang="zh-CN" sz="2000" dirty="0">
                <a:solidFill>
                  <a:srgbClr val="030DCD"/>
                </a:solidFill>
              </a:rPr>
              <a:t>5</a:t>
            </a:r>
            <a:r>
              <a:rPr lang="zh-CN" altLang="en-US" sz="2000" dirty="0">
                <a:solidFill>
                  <a:srgbClr val="030DCD"/>
                </a:solidFill>
              </a:rPr>
              <a:t>项为</a:t>
            </a:r>
            <a:r>
              <a:rPr lang="en-US" altLang="zh-CN" sz="2000" dirty="0">
                <a:solidFill>
                  <a:srgbClr val="030DCD"/>
                </a:solidFill>
              </a:rPr>
              <a:t>position</a:t>
            </a:r>
            <a:r>
              <a:rPr lang="en-US" altLang="zh-CN" sz="2000" dirty="0"/>
              <a:t>(</a:t>
            </a:r>
            <a:r>
              <a:rPr lang="zh-CN" altLang="en-US" sz="2000" dirty="0">
                <a:solidFill>
                  <a:srgbClr val="7030A0"/>
                </a:solidFill>
              </a:rPr>
              <a:t>职务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006600"/>
                </a:solidFill>
              </a:rPr>
              <a:t>如</a:t>
            </a:r>
            <a:r>
              <a:rPr lang="en-US" altLang="zh-CN" sz="2000" dirty="0">
                <a:solidFill>
                  <a:srgbClr val="006600"/>
                </a:solidFill>
              </a:rPr>
              <a:t>Wang</a:t>
            </a:r>
            <a:r>
              <a:rPr lang="zh-CN" altLang="en-US" sz="2000" dirty="0">
                <a:solidFill>
                  <a:srgbClr val="006600"/>
                </a:solidFill>
              </a:rPr>
              <a:t>是</a:t>
            </a:r>
            <a:r>
              <a:rPr lang="en-US" altLang="zh-CN" sz="2000" dirty="0">
                <a:solidFill>
                  <a:srgbClr val="006600"/>
                </a:solidFill>
              </a:rPr>
              <a:t>prof(</a:t>
            </a:r>
            <a:r>
              <a:rPr lang="zh-CN" altLang="en-US" sz="2000" dirty="0">
                <a:solidFill>
                  <a:srgbClr val="006600"/>
                </a:solidFill>
              </a:rPr>
              <a:t>教授</a:t>
            </a:r>
            <a:r>
              <a:rPr lang="en-US" altLang="zh-CN" sz="2000" dirty="0">
                <a:solidFill>
                  <a:srgbClr val="006600"/>
                </a:solidFill>
              </a:rPr>
              <a:t>)</a:t>
            </a:r>
            <a:r>
              <a:rPr lang="zh-CN" altLang="en-US" sz="2000" dirty="0">
                <a:solidFill>
                  <a:srgbClr val="006600"/>
                </a:solidFill>
              </a:rPr>
              <a:t>；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/>
              <a:t>对</a:t>
            </a:r>
            <a:r>
              <a:rPr lang="zh-CN" altLang="en-US" sz="2000" dirty="0">
                <a:solidFill>
                  <a:srgbClr val="7030A0"/>
                </a:solidFill>
              </a:rPr>
              <a:t>第</a:t>
            </a:r>
            <a:r>
              <a:rPr lang="en-US" altLang="zh-CN" sz="2000" dirty="0">
                <a:solidFill>
                  <a:srgbClr val="7030A0"/>
                </a:solidFill>
              </a:rPr>
              <a:t>5</a:t>
            </a:r>
            <a:r>
              <a:rPr lang="zh-CN" altLang="en-US" sz="2000" dirty="0" smtClean="0">
                <a:solidFill>
                  <a:srgbClr val="7030A0"/>
                </a:solidFill>
              </a:rPr>
              <a:t>项（班级、职务）</a:t>
            </a:r>
            <a:r>
              <a:rPr lang="zh-CN" altLang="en-US" sz="2000" dirty="0" smtClean="0"/>
              <a:t>可以</a:t>
            </a:r>
            <a:r>
              <a:rPr lang="zh-CN" altLang="en-US" sz="2000" dirty="0"/>
              <a:t>用</a:t>
            </a:r>
            <a:r>
              <a:rPr lang="zh-CN" altLang="en-US" sz="2000" dirty="0">
                <a:solidFill>
                  <a:srgbClr val="030DCD"/>
                </a:solidFill>
              </a:rPr>
              <a:t>共用体</a:t>
            </a:r>
            <a:r>
              <a:rPr lang="zh-CN" altLang="en-US" sz="2000" dirty="0"/>
              <a:t>来处理，将</a:t>
            </a:r>
            <a:r>
              <a:rPr lang="en-US" altLang="zh-CN" sz="2000" dirty="0"/>
              <a:t>class</a:t>
            </a:r>
            <a:r>
              <a:rPr lang="zh-CN" altLang="en-US" sz="2000" dirty="0"/>
              <a:t>和</a:t>
            </a:r>
            <a:r>
              <a:rPr lang="en-US" altLang="zh-CN" sz="2000" dirty="0"/>
              <a:t>position</a:t>
            </a:r>
            <a:r>
              <a:rPr lang="zh-CN" altLang="en-US" sz="2000" dirty="0"/>
              <a:t>放在同一段内存中；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834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 例</a:t>
            </a:r>
            <a:r>
              <a:rPr lang="en-US" altLang="zh-CN" dirty="0"/>
              <a:t>—</a:t>
            </a:r>
            <a:r>
              <a:rPr lang="zh-CN" altLang="en-US" dirty="0"/>
              <a:t>学生与教师信息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345112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   //</a:t>
            </a:r>
            <a:r>
              <a:rPr lang="zh-CN" altLang="en-US" dirty="0"/>
              <a:t>定义结构体及变量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num</a:t>
            </a:r>
            <a:r>
              <a:rPr lang="zh-CN" altLang="en-US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 </a:t>
            </a:r>
            <a:r>
              <a:rPr lang="en-US" altLang="zh-CN" dirty="0"/>
              <a:t>char name[10]</a:t>
            </a:r>
            <a:r>
              <a:rPr lang="zh-CN" altLang="en-US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 </a:t>
            </a:r>
            <a:r>
              <a:rPr lang="en-US" altLang="zh-CN" dirty="0"/>
              <a:t>char sex</a:t>
            </a:r>
            <a:r>
              <a:rPr lang="zh-CN" altLang="en-US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7030A0"/>
                </a:solidFill>
              </a:rPr>
              <a:t>      </a:t>
            </a:r>
            <a:r>
              <a:rPr lang="en-US" altLang="zh-CN" dirty="0">
                <a:solidFill>
                  <a:srgbClr val="7030A0"/>
                </a:solidFill>
              </a:rPr>
              <a:t>char job</a:t>
            </a:r>
            <a:r>
              <a:rPr lang="zh-CN" altLang="en-US" dirty="0"/>
              <a:t>；</a:t>
            </a:r>
            <a:r>
              <a:rPr lang="en-US" altLang="zh-CN" dirty="0"/>
              <a:t>//</a:t>
            </a:r>
            <a:r>
              <a:rPr lang="en-US" altLang="zh-CN" b="1" dirty="0">
                <a:solidFill>
                  <a:srgbClr val="006600"/>
                </a:solidFill>
              </a:rPr>
              <a:t>’s’—class, ’t’---position</a:t>
            </a:r>
            <a:endParaRPr lang="zh-CN" altLang="en-US" b="1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b="1" dirty="0"/>
              <a:t>      </a:t>
            </a:r>
            <a:r>
              <a:rPr lang="en-US" altLang="zh-CN" b="1" dirty="0">
                <a:solidFill>
                  <a:srgbClr val="030DCD"/>
                </a:solidFill>
              </a:rPr>
              <a:t>union      //</a:t>
            </a:r>
            <a:r>
              <a:rPr lang="zh-CN" altLang="en-US" b="1" dirty="0">
                <a:solidFill>
                  <a:srgbClr val="030DCD"/>
                </a:solidFill>
              </a:rPr>
              <a:t>定义共用体及变量</a:t>
            </a:r>
            <a:endParaRPr lang="en-US" altLang="zh-CN" b="1" dirty="0">
              <a:solidFill>
                <a:srgbClr val="030DCD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b="1" dirty="0"/>
              <a:t>   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b="1" dirty="0"/>
              <a:t>           </a:t>
            </a:r>
            <a:r>
              <a:rPr lang="en-US" altLang="zh-CN" b="1" dirty="0" err="1"/>
              <a:t>int</a:t>
            </a:r>
            <a:r>
              <a:rPr lang="en-US" altLang="zh-CN" b="1" dirty="0"/>
              <a:t> class</a:t>
            </a:r>
            <a:r>
              <a:rPr lang="zh-CN" altLang="en-US" b="1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6600"/>
                </a:solidFill>
              </a:rPr>
              <a:t>           </a:t>
            </a:r>
            <a:r>
              <a:rPr lang="en-US" altLang="zh-CN" b="1" dirty="0">
                <a:solidFill>
                  <a:srgbClr val="006600"/>
                </a:solidFill>
              </a:rPr>
              <a:t>char position[10]</a:t>
            </a:r>
            <a:r>
              <a:rPr lang="zh-CN" altLang="en-US" b="1" dirty="0">
                <a:solidFill>
                  <a:srgbClr val="006600"/>
                </a:solidFill>
              </a:rPr>
              <a:t>；</a:t>
            </a:r>
            <a:endParaRPr lang="en-US" altLang="zh-CN" b="1" dirty="0">
              <a:solidFill>
                <a:srgbClr val="006600"/>
              </a:solidFill>
            </a:endParaRPr>
          </a:p>
          <a:p>
            <a:pPr marL="285750" lvl="1" indent="0">
              <a:buNone/>
            </a:pPr>
            <a:r>
              <a:rPr lang="zh-CN" altLang="zh-CN" b="1" dirty="0"/>
              <a:t> </a:t>
            </a:r>
            <a:r>
              <a:rPr lang="en-US" altLang="zh-CN" b="1" dirty="0"/>
              <a:t>     </a:t>
            </a:r>
            <a:r>
              <a:rPr lang="zh-CN" altLang="zh-CN" b="1" dirty="0">
                <a:solidFill>
                  <a:srgbClr val="030DCD"/>
                </a:solidFill>
              </a:rPr>
              <a:t>}</a:t>
            </a:r>
            <a:r>
              <a:rPr lang="en-US" altLang="zh-CN" b="1" dirty="0">
                <a:solidFill>
                  <a:srgbClr val="030DCD"/>
                </a:solidFill>
              </a:rPr>
              <a:t>category</a:t>
            </a:r>
            <a:r>
              <a:rPr lang="zh-CN" altLang="en-US" b="1" dirty="0">
                <a:solidFill>
                  <a:srgbClr val="030DCD"/>
                </a:solidFill>
              </a:rPr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}person[2]</a:t>
            </a:r>
            <a:r>
              <a:rPr lang="zh-CN" altLang="en-US" dirty="0"/>
              <a:t>；</a:t>
            </a:r>
          </a:p>
          <a:p>
            <a:pPr marL="514350" lvl="2" indent="0">
              <a:lnSpc>
                <a:spcPct val="10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812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 例</a:t>
            </a:r>
            <a:r>
              <a:rPr lang="en-US" altLang="zh-CN" dirty="0"/>
              <a:t>—</a:t>
            </a:r>
            <a:r>
              <a:rPr lang="zh-CN" altLang="en-US" dirty="0"/>
              <a:t>学生与教师信息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n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6600"/>
                </a:solidFill>
              </a:rPr>
              <a:t>    //</a:t>
            </a:r>
            <a:r>
              <a:rPr lang="zh-CN" altLang="en-US" dirty="0">
                <a:solidFill>
                  <a:srgbClr val="006600"/>
                </a:solidFill>
              </a:rPr>
              <a:t>输入人员信息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　</a:t>
            </a:r>
            <a:r>
              <a:rPr lang="en-US" altLang="zh-CN" dirty="0"/>
              <a:t>for(</a:t>
            </a:r>
            <a:r>
              <a:rPr lang="en-US" altLang="zh-CN" dirty="0" err="1"/>
              <a:t>i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zh-CN" altLang="en-US" dirty="0"/>
              <a:t>＜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scanf</a:t>
            </a:r>
            <a:r>
              <a:rPr lang="en-US" altLang="zh-CN" dirty="0"/>
              <a:t>("%d %s %c %c"</a:t>
            </a:r>
            <a:r>
              <a:rPr lang="zh-CN" altLang="en-US" dirty="0"/>
              <a:t>，</a:t>
            </a:r>
            <a:r>
              <a:rPr lang="en-US" altLang="zh-CN" dirty="0"/>
              <a:t>&amp;person[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num</a:t>
            </a:r>
            <a:r>
              <a:rPr lang="zh-CN" altLang="en-US" dirty="0"/>
              <a:t>， 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].name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                  &amp;person[</a:t>
            </a:r>
            <a:r>
              <a:rPr lang="en-US" altLang="zh-CN" dirty="0" err="1"/>
              <a:t>i</a:t>
            </a:r>
            <a:r>
              <a:rPr lang="en-US" altLang="zh-CN" dirty="0"/>
              <a:t>].sex</a:t>
            </a:r>
            <a:r>
              <a:rPr lang="zh-CN" altLang="en-US" dirty="0"/>
              <a:t>，</a:t>
            </a:r>
            <a:r>
              <a:rPr lang="en-US" altLang="zh-CN" dirty="0"/>
              <a:t>&amp;person[</a:t>
            </a:r>
            <a:r>
              <a:rPr lang="en-US" altLang="zh-CN" dirty="0" err="1"/>
              <a:t>i</a:t>
            </a:r>
            <a:r>
              <a:rPr lang="en-US" altLang="zh-CN" dirty="0"/>
              <a:t>].job);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</a:t>
            </a:r>
            <a:r>
              <a:rPr lang="en-US" altLang="zh-CN" dirty="0">
                <a:solidFill>
                  <a:srgbClr val="030DCD"/>
                </a:solidFill>
              </a:rPr>
              <a:t>if (person[</a:t>
            </a:r>
            <a:r>
              <a:rPr lang="en-US" altLang="zh-CN" dirty="0" err="1">
                <a:solidFill>
                  <a:srgbClr val="030DCD"/>
                </a:solidFill>
              </a:rPr>
              <a:t>i</a:t>
            </a:r>
            <a:r>
              <a:rPr lang="en-US" altLang="zh-CN" dirty="0">
                <a:solidFill>
                  <a:srgbClr val="030DCD"/>
                </a:solidFill>
              </a:rPr>
              <a:t>].job=='s')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</a:t>
            </a:r>
            <a:r>
              <a:rPr lang="en-US" altLang="zh-CN" dirty="0" err="1"/>
              <a:t>scanf</a:t>
            </a:r>
            <a:r>
              <a:rPr lang="en-US" altLang="zh-CN" dirty="0"/>
              <a:t>("%d"</a:t>
            </a:r>
            <a:r>
              <a:rPr lang="zh-CN" altLang="en-US" dirty="0">
                <a:solidFill>
                  <a:srgbClr val="7030A0"/>
                </a:solidFill>
              </a:rPr>
              <a:t>， </a:t>
            </a:r>
            <a:r>
              <a:rPr lang="en-US" altLang="zh-CN" dirty="0">
                <a:solidFill>
                  <a:srgbClr val="7030A0"/>
                </a:solidFill>
              </a:rPr>
              <a:t>&amp;person[</a:t>
            </a:r>
            <a:r>
              <a:rPr lang="en-US" altLang="zh-CN" dirty="0" err="1">
                <a:solidFill>
                  <a:srgbClr val="7030A0"/>
                </a:solidFill>
              </a:rPr>
              <a:t>i</a:t>
            </a:r>
            <a:r>
              <a:rPr lang="en-US" altLang="zh-CN" dirty="0">
                <a:solidFill>
                  <a:srgbClr val="7030A0"/>
                </a:solidFill>
              </a:rPr>
              <a:t>].</a:t>
            </a:r>
            <a:r>
              <a:rPr lang="en-US" altLang="zh-CN" dirty="0" err="1">
                <a:solidFill>
                  <a:srgbClr val="7030A0"/>
                </a:solidFill>
              </a:rPr>
              <a:t>category.class</a:t>
            </a:r>
            <a:r>
              <a:rPr lang="en-US" altLang="zh-CN" dirty="0"/>
              <a:t>);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else </a:t>
            </a:r>
            <a:r>
              <a:rPr lang="en-US" altLang="zh-CN" dirty="0">
                <a:solidFill>
                  <a:srgbClr val="030DCD"/>
                </a:solidFill>
              </a:rPr>
              <a:t>if (person[</a:t>
            </a:r>
            <a:r>
              <a:rPr lang="en-US" altLang="zh-CN" dirty="0" err="1">
                <a:solidFill>
                  <a:srgbClr val="030DCD"/>
                </a:solidFill>
              </a:rPr>
              <a:t>i</a:t>
            </a:r>
            <a:r>
              <a:rPr lang="en-US" altLang="zh-CN" dirty="0">
                <a:solidFill>
                  <a:srgbClr val="030DCD"/>
                </a:solidFill>
              </a:rPr>
              <a:t>].job=='t')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</a:t>
            </a:r>
            <a:r>
              <a:rPr lang="en-US" altLang="zh-CN" dirty="0" err="1"/>
              <a:t>scanf</a:t>
            </a:r>
            <a:r>
              <a:rPr lang="en-US" altLang="zh-CN" dirty="0"/>
              <a:t>("%s"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7030A0"/>
                </a:solidFill>
              </a:rPr>
              <a:t>person[</a:t>
            </a:r>
            <a:r>
              <a:rPr lang="en-US" altLang="zh-CN" dirty="0" err="1">
                <a:solidFill>
                  <a:srgbClr val="7030A0"/>
                </a:solidFill>
              </a:rPr>
              <a:t>i</a:t>
            </a:r>
            <a:r>
              <a:rPr lang="en-US" altLang="zh-CN" dirty="0">
                <a:solidFill>
                  <a:srgbClr val="7030A0"/>
                </a:solidFill>
              </a:rPr>
              <a:t>].</a:t>
            </a:r>
            <a:r>
              <a:rPr lang="en-US" altLang="zh-CN" dirty="0" err="1">
                <a:solidFill>
                  <a:srgbClr val="7030A0"/>
                </a:solidFill>
              </a:rPr>
              <a:t>category.position</a:t>
            </a:r>
            <a:r>
              <a:rPr lang="en-US" altLang="zh-CN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else </a:t>
            </a:r>
            <a:r>
              <a:rPr lang="en-US" altLang="zh-CN" dirty="0" err="1"/>
              <a:t>printf</a:t>
            </a:r>
            <a:r>
              <a:rPr lang="en-US" altLang="zh-CN" dirty="0"/>
              <a:t>("input error</a:t>
            </a:r>
            <a:r>
              <a:rPr lang="zh-CN" altLang="en-US" dirty="0"/>
              <a:t>！</a:t>
            </a:r>
            <a:r>
              <a:rPr lang="en-US" altLang="zh-CN" dirty="0"/>
              <a:t>")</a:t>
            </a:r>
            <a:r>
              <a:rPr lang="zh-CN" altLang="en-US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}</a:t>
            </a:r>
          </a:p>
          <a:p>
            <a:pPr marL="28575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055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共用体 例</a:t>
            </a:r>
            <a:r>
              <a:rPr lang="en-US" altLang="zh-CN" dirty="0"/>
              <a:t>—</a:t>
            </a:r>
            <a:r>
              <a:rPr lang="zh-CN" altLang="en-US" dirty="0"/>
              <a:t>学生与教师信息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//</a:t>
            </a:r>
            <a:r>
              <a:rPr lang="zh-CN" altLang="en-US" dirty="0"/>
              <a:t>输出人员信息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</a:t>
            </a:r>
            <a:r>
              <a:rPr lang="en-US" altLang="zh-CN" dirty="0"/>
              <a:t>=0</a:t>
            </a:r>
            <a:r>
              <a:rPr lang="zh-CN" altLang="en-US" dirty="0"/>
              <a:t>；</a:t>
            </a:r>
            <a:r>
              <a:rPr lang="en-US" altLang="zh-CN" dirty="0" err="1"/>
              <a:t>i</a:t>
            </a:r>
            <a:r>
              <a:rPr lang="zh-CN" altLang="en-US" dirty="0"/>
              <a:t>＜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if (person[</a:t>
            </a:r>
            <a:r>
              <a:rPr lang="en-US" altLang="zh-CN" dirty="0" err="1"/>
              <a:t>i</a:t>
            </a:r>
            <a:r>
              <a:rPr lang="en-US" altLang="zh-CN" dirty="0"/>
              <a:t>].job=='s')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</a:t>
            </a:r>
            <a:r>
              <a:rPr lang="en-US" altLang="zh-CN" dirty="0" err="1"/>
              <a:t>printf</a:t>
            </a:r>
            <a:r>
              <a:rPr lang="en-US" altLang="zh-CN" dirty="0"/>
              <a:t>(“%\|6d   %\|10s %\|3c %\|3c %\|6d\n”</a:t>
            </a:r>
            <a:r>
              <a:rPr lang="zh-CN" altLang="en-US" dirty="0"/>
              <a:t>， 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num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</a:t>
            </a:r>
            <a:r>
              <a:rPr lang="zh-CN" altLang="en-US" dirty="0"/>
              <a:t>    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].name</a:t>
            </a:r>
            <a:r>
              <a:rPr lang="zh-CN" altLang="en-US" dirty="0"/>
              <a:t>，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].sex</a:t>
            </a:r>
            <a:r>
              <a:rPr lang="zh-CN" altLang="en-US" dirty="0"/>
              <a:t>，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].job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  </a:t>
            </a:r>
            <a:r>
              <a:rPr lang="en-US" altLang="zh-CN" dirty="0">
                <a:solidFill>
                  <a:srgbClr val="030DCD"/>
                </a:solidFill>
              </a:rPr>
              <a:t>person[</a:t>
            </a:r>
            <a:r>
              <a:rPr lang="en-US" altLang="zh-CN" dirty="0" err="1">
                <a:solidFill>
                  <a:srgbClr val="030DCD"/>
                </a:solidFill>
              </a:rPr>
              <a:t>i</a:t>
            </a:r>
            <a:r>
              <a:rPr lang="en-US" altLang="zh-CN" dirty="0">
                <a:solidFill>
                  <a:srgbClr val="030DCD"/>
                </a:solidFill>
              </a:rPr>
              <a:t>].</a:t>
            </a:r>
            <a:r>
              <a:rPr lang="en-US" altLang="zh-CN" dirty="0" err="1">
                <a:solidFill>
                  <a:srgbClr val="030DCD"/>
                </a:solidFill>
              </a:rPr>
              <a:t>category.class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dirty="0"/>
              <a:t>　 </a:t>
            </a:r>
            <a:r>
              <a:rPr lang="en-US" altLang="zh-CN" dirty="0"/>
              <a:t>else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printf</a:t>
            </a:r>
            <a:r>
              <a:rPr lang="en-US" altLang="zh-CN" dirty="0"/>
              <a:t>("%\|6d   %\|10s %\|3c %\|3c %\|6s\n"</a:t>
            </a:r>
            <a:r>
              <a:rPr lang="zh-CN" altLang="en-US" dirty="0"/>
              <a:t>， 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num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</a:t>
            </a:r>
            <a:r>
              <a:rPr lang="zh-CN" altLang="en-US" dirty="0"/>
              <a:t> 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].name</a:t>
            </a:r>
            <a:r>
              <a:rPr lang="zh-CN" altLang="en-US" dirty="0"/>
              <a:t>，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].sex</a:t>
            </a:r>
            <a:r>
              <a:rPr lang="zh-CN" altLang="en-US" dirty="0"/>
              <a:t>，</a:t>
            </a:r>
            <a:r>
              <a:rPr lang="en-US" altLang="zh-CN" dirty="0"/>
              <a:t>person[</a:t>
            </a:r>
            <a:r>
              <a:rPr lang="en-US" altLang="zh-CN" dirty="0" err="1"/>
              <a:t>i</a:t>
            </a:r>
            <a:r>
              <a:rPr lang="en-US" altLang="zh-CN" dirty="0"/>
              <a:t>].job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 </a:t>
            </a:r>
            <a:r>
              <a:rPr lang="en-US" altLang="zh-CN" dirty="0">
                <a:solidFill>
                  <a:srgbClr val="030DCD"/>
                </a:solidFill>
              </a:rPr>
              <a:t>person[</a:t>
            </a:r>
            <a:r>
              <a:rPr lang="en-US" altLang="zh-CN" dirty="0" err="1">
                <a:solidFill>
                  <a:srgbClr val="030DCD"/>
                </a:solidFill>
              </a:rPr>
              <a:t>i</a:t>
            </a:r>
            <a:r>
              <a:rPr lang="en-US" altLang="zh-CN" dirty="0">
                <a:solidFill>
                  <a:srgbClr val="030DCD"/>
                </a:solidFill>
              </a:rPr>
              <a:t>].</a:t>
            </a:r>
            <a:r>
              <a:rPr lang="en-US" altLang="zh-CN" dirty="0" err="1">
                <a:solidFill>
                  <a:srgbClr val="030DCD"/>
                </a:solidFill>
              </a:rPr>
              <a:t>category.position</a:t>
            </a:r>
            <a:r>
              <a:rPr lang="en-US" altLang="zh-CN" dirty="0"/>
              <a:t>); 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   }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  <a:p>
            <a:pPr marL="28575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96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union  vs.</a:t>
            </a:r>
            <a:r>
              <a:rPr lang="zh-CN" altLang="en-US" dirty="0"/>
              <a:t> </a:t>
            </a:r>
            <a:r>
              <a:rPr lang="en-US" altLang="zh-CN" dirty="0"/>
              <a:t>struct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相同点</a:t>
            </a:r>
            <a:endParaRPr lang="en-US" altLang="zh-CN" dirty="0"/>
          </a:p>
          <a:p>
            <a:pPr marL="971550" lvl="1"/>
            <a:r>
              <a:rPr lang="zh-CN" altLang="en-US" dirty="0"/>
              <a:t>都是通过引用变量的成员对成员进行赋值，或获取其值；</a:t>
            </a:r>
            <a:endParaRPr lang="en-US" altLang="zh-CN" dirty="0"/>
          </a:p>
          <a:p>
            <a:pPr marL="971550" lvl="1"/>
            <a:r>
              <a:rPr lang="zh-CN" altLang="en-US" dirty="0"/>
              <a:t>结构体与共用体变量的地址均可以作为函数的参数；</a:t>
            </a:r>
          </a:p>
        </p:txBody>
      </p:sp>
    </p:spTree>
    <p:extLst>
      <p:ext uri="{BB962C8B-B14F-4D97-AF65-F5344CB8AC3E}">
        <p14:creationId xmlns:p14="http://schemas.microsoft.com/office/powerpoint/2010/main" val="4433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union  vs.</a:t>
            </a:r>
            <a:r>
              <a:rPr lang="zh-CN" altLang="en-US" dirty="0"/>
              <a:t> </a:t>
            </a:r>
            <a:r>
              <a:rPr lang="en-US" altLang="zh-CN" dirty="0"/>
              <a:t>struct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“共用体”与“结构体”的定义形式相似，但含义不同；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结构体</a:t>
            </a:r>
          </a:p>
          <a:p>
            <a:pPr marL="971550" lvl="1"/>
            <a:r>
              <a:rPr lang="zh-CN" altLang="en-US" dirty="0"/>
              <a:t>结构体变量所占内存长度</a:t>
            </a:r>
            <a:r>
              <a:rPr lang="zh-CN" altLang="en-US" dirty="0">
                <a:solidFill>
                  <a:srgbClr val="C00000"/>
                </a:solidFill>
              </a:rPr>
              <a:t>大于或等于</a:t>
            </a:r>
            <a:r>
              <a:rPr lang="zh-CN" altLang="en-US" dirty="0"/>
              <a:t>各成员占的内存长度之和，</a:t>
            </a:r>
            <a:r>
              <a:rPr lang="zh-CN" altLang="en-US" dirty="0">
                <a:solidFill>
                  <a:srgbClr val="030DCD"/>
                </a:solidFill>
              </a:rPr>
              <a:t>每个成员分别占有其自己的内存单元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在具体编译器的实现中，由于</a:t>
            </a:r>
            <a:r>
              <a:rPr lang="zh-CN" altLang="en-US" dirty="0">
                <a:solidFill>
                  <a:srgbClr val="C00000"/>
                </a:solidFill>
              </a:rPr>
              <a:t>字节对齐</a:t>
            </a:r>
            <a:r>
              <a:rPr lang="zh-CN" altLang="en-US" dirty="0"/>
              <a:t>的原因，结构体变量所占内存长度一般大于等于各成员占的内存长度之和；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共用体</a:t>
            </a:r>
            <a:endParaRPr lang="en-US" altLang="zh-CN" dirty="0"/>
          </a:p>
          <a:p>
            <a:pPr marL="971550" lvl="1"/>
            <a:r>
              <a:rPr lang="zh-CN" altLang="en-US" dirty="0"/>
              <a:t>共用体变量所占的内存长度等于</a:t>
            </a:r>
            <a:r>
              <a:rPr lang="zh-CN" altLang="en-US" b="1" dirty="0">
                <a:solidFill>
                  <a:srgbClr val="C00000"/>
                </a:solidFill>
              </a:rPr>
              <a:t>最长的成员的长度</a:t>
            </a:r>
            <a:r>
              <a:rPr lang="zh-CN" altLang="en-US" dirty="0"/>
              <a:t>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145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用</a:t>
            </a:r>
            <a:r>
              <a:rPr lang="en-US" altLang="zh-CN" sz="2400" dirty="0" err="1"/>
              <a:t>typedef</a:t>
            </a:r>
            <a:r>
              <a:rPr lang="zh-CN" altLang="en-US" sz="2400" dirty="0"/>
              <a:t>定义类型的方法</a:t>
            </a:r>
            <a:r>
              <a:rPr lang="zh-CN" altLang="en-US" sz="2400" dirty="0" smtClean="0"/>
              <a:t>定义</a:t>
            </a:r>
            <a:r>
              <a:rPr lang="zh-CN" altLang="en-US" sz="2400" dirty="0" smtClean="0">
                <a:solidFill>
                  <a:srgbClr val="030DCD"/>
                </a:solidFill>
              </a:rPr>
              <a:t>结构体</a:t>
            </a:r>
            <a:r>
              <a:rPr lang="zh-CN" altLang="en-US" sz="2400" dirty="0" smtClean="0"/>
              <a:t>与</a:t>
            </a:r>
            <a:r>
              <a:rPr lang="zh-CN" altLang="en-US" sz="2400" dirty="0" smtClean="0">
                <a:solidFill>
                  <a:srgbClr val="030DCD"/>
                </a:solidFill>
              </a:rPr>
              <a:t>结构体指针</a:t>
            </a:r>
            <a:r>
              <a:rPr lang="zh-CN" altLang="en-US" sz="2400" dirty="0"/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定义结构体</a:t>
            </a:r>
          </a:p>
          <a:p>
            <a:pPr lvl="1" indent="0">
              <a:buNone/>
            </a:pPr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month</a:t>
            </a:r>
            <a:r>
              <a:rPr lang="zh-CN" altLang="en-US" sz="1800" dirty="0"/>
              <a:t>；</a:t>
            </a:r>
          </a:p>
          <a:p>
            <a:pPr lvl="1" indent="0">
              <a:buNone/>
            </a:pPr>
            <a:r>
              <a:rPr lang="zh-CN" altLang="en-US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day</a:t>
            </a:r>
            <a:r>
              <a:rPr lang="zh-CN" altLang="en-US" sz="1800" dirty="0"/>
              <a:t>；</a:t>
            </a:r>
          </a:p>
          <a:p>
            <a:pPr lvl="1" indent="0">
              <a:buNone/>
            </a:pPr>
            <a:r>
              <a:rPr lang="zh-CN" altLang="en-US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year</a:t>
            </a:r>
            <a:r>
              <a:rPr lang="zh-CN" altLang="en-US" sz="1800" dirty="0"/>
              <a:t>；</a:t>
            </a:r>
            <a:r>
              <a:rPr lang="en-US" altLang="zh-CN" sz="1800" dirty="0"/>
              <a:t>} ;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定义结构体变量与结构体指针</a:t>
            </a:r>
            <a:endParaRPr lang="en-US" altLang="zh-CN" sz="2000" dirty="0"/>
          </a:p>
          <a:p>
            <a:pPr marL="971550" lvl="1"/>
            <a:r>
              <a:rPr lang="en-US" altLang="zh-CN" sz="1800" dirty="0" err="1">
                <a:solidFill>
                  <a:srgbClr val="030DCD"/>
                </a:solidFill>
              </a:rPr>
              <a:t>struct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>
                <a:solidFill>
                  <a:srgbClr val="030DCD"/>
                </a:solidFill>
              </a:rPr>
              <a:t>  date, *link;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将变量名替换成自己指定的类型名并在前面加上</a:t>
            </a:r>
            <a:r>
              <a:rPr lang="en-US" altLang="zh-CN" sz="2000" dirty="0" err="1"/>
              <a:t>typedef</a:t>
            </a:r>
            <a:r>
              <a:rPr lang="zh-CN" altLang="en-US" sz="2000" dirty="0"/>
              <a:t>，如</a:t>
            </a:r>
            <a:r>
              <a:rPr lang="en-US" altLang="zh-CN" sz="2000" dirty="0"/>
              <a:t>DATE</a:t>
            </a:r>
            <a:r>
              <a:rPr lang="zh-CN" altLang="en-US" sz="2000" dirty="0"/>
              <a:t>，</a:t>
            </a:r>
            <a:r>
              <a:rPr lang="en-US" altLang="zh-CN" sz="2000" dirty="0"/>
              <a:t>LINK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en-US" altLang="zh-CN" sz="1800" b="1" dirty="0">
                <a:solidFill>
                  <a:srgbClr val="C00000"/>
                </a:solidFill>
              </a:rPr>
              <a:t>typedef</a:t>
            </a:r>
            <a:r>
              <a:rPr lang="en-US" altLang="zh-CN" sz="1800" dirty="0"/>
              <a:t>  </a:t>
            </a:r>
            <a:r>
              <a:rPr lang="en-US" altLang="zh-CN" sz="1800" dirty="0">
                <a:solidFill>
                  <a:srgbClr val="030DCD"/>
                </a:solidFill>
              </a:rPr>
              <a:t>struct  </a:t>
            </a:r>
            <a:r>
              <a:rPr lang="en-US" altLang="zh-CN" sz="1800" dirty="0" err="1">
                <a:solidFill>
                  <a:srgbClr val="030DCD"/>
                </a:solidFill>
              </a:rPr>
              <a:t>StructDate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</a:rPr>
              <a:t>SDATE</a:t>
            </a:r>
            <a:r>
              <a:rPr lang="en-US" altLang="zh-CN" sz="1800" dirty="0">
                <a:solidFill>
                  <a:srgbClr val="030DCD"/>
                </a:solidFill>
              </a:rPr>
              <a:t>, *</a:t>
            </a:r>
            <a:r>
              <a:rPr lang="en-US" altLang="zh-CN" sz="1800" b="1" dirty="0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030DCD"/>
                </a:solidFill>
              </a:rPr>
              <a:t>;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则，</a:t>
            </a:r>
            <a:r>
              <a:rPr lang="zh-CN" altLang="en-US" sz="2000" dirty="0">
                <a:solidFill>
                  <a:srgbClr val="006600"/>
                </a:solidFill>
              </a:rPr>
              <a:t>下述语句等价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b="1" dirty="0">
                <a:solidFill>
                  <a:srgbClr val="FF0000"/>
                </a:solidFill>
              </a:rPr>
              <a:t>SDATE</a:t>
            </a:r>
            <a:r>
              <a:rPr lang="en-US" altLang="zh-CN" sz="1800" dirty="0">
                <a:solidFill>
                  <a:srgbClr val="FF0000"/>
                </a:solidFill>
              </a:rPr>
              <a:t> date;  //</a:t>
            </a:r>
            <a:r>
              <a:rPr lang="zh-CN" altLang="en-US" sz="1800" dirty="0"/>
              <a:t>与 </a:t>
            </a:r>
            <a:r>
              <a:rPr lang="en-US" altLang="zh-CN" sz="1800" dirty="0" err="1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6600"/>
                </a:solidFill>
              </a:rPr>
              <a:t> Date </a:t>
            </a:r>
            <a:r>
              <a:rPr lang="en-US" altLang="zh-CN" sz="1800" dirty="0" err="1">
                <a:solidFill>
                  <a:srgbClr val="006600"/>
                </a:solidFill>
              </a:rPr>
              <a:t>date</a:t>
            </a:r>
            <a:r>
              <a:rPr lang="en-US" altLang="zh-CN" sz="1800" dirty="0">
                <a:solidFill>
                  <a:srgbClr val="006600"/>
                </a:solidFill>
              </a:rPr>
              <a:t>; </a:t>
            </a:r>
            <a:r>
              <a:rPr lang="zh-CN" altLang="en-US" sz="1800" dirty="0"/>
              <a:t>等价；</a:t>
            </a:r>
            <a:r>
              <a:rPr lang="en-US" altLang="zh-CN" sz="1800" dirty="0"/>
              <a:t> </a:t>
            </a:r>
          </a:p>
          <a:p>
            <a:pPr marL="971550" lvl="1"/>
            <a:r>
              <a:rPr lang="en-US" altLang="zh-CN" sz="1800" b="1" dirty="0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link</a:t>
            </a:r>
            <a:r>
              <a:rPr lang="en-US" altLang="zh-CN" sz="1800" dirty="0">
                <a:solidFill>
                  <a:srgbClr val="FF0000"/>
                </a:solidFill>
              </a:rPr>
              <a:t>;   //</a:t>
            </a:r>
            <a:r>
              <a:rPr lang="zh-CN" altLang="en-US" sz="1800" dirty="0"/>
              <a:t>与</a:t>
            </a:r>
            <a:r>
              <a:rPr lang="zh-CN" altLang="en-US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err="1">
                <a:solidFill>
                  <a:srgbClr val="006600"/>
                </a:solidFill>
              </a:rPr>
              <a:t>struct</a:t>
            </a:r>
            <a:r>
              <a:rPr lang="en-US" altLang="zh-CN" sz="1800" dirty="0">
                <a:solidFill>
                  <a:srgbClr val="006600"/>
                </a:solidFill>
              </a:rPr>
              <a:t> Date *link; </a:t>
            </a:r>
            <a:r>
              <a:rPr lang="zh-CN" altLang="en-US" sz="1800" dirty="0"/>
              <a:t>等价；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//</a:t>
            </a:r>
            <a:r>
              <a:rPr lang="zh-CN" altLang="en-US" sz="1800" dirty="0">
                <a:solidFill>
                  <a:srgbClr val="7030A0"/>
                </a:solidFill>
              </a:rPr>
              <a:t>降低可读性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  <a:p>
            <a:pPr marL="971550" lvl="1"/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279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4" y="255588"/>
            <a:ext cx="8749665" cy="584200"/>
          </a:xfrm>
        </p:spPr>
        <p:txBody>
          <a:bodyPr/>
          <a:lstStyle/>
          <a:p>
            <a:r>
              <a:rPr lang="zh-CN" altLang="en-US" dirty="0"/>
              <a:t>在定义结构体的同时，</a:t>
            </a:r>
            <a:r>
              <a:rPr lang="zh-CN" altLang="en-US" dirty="0" smtClean="0"/>
              <a:t>定义结构体与结构体指针</a:t>
            </a:r>
            <a:r>
              <a:rPr lang="zh-CN" altLang="en-US" dirty="0"/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在定义结构体</a:t>
            </a:r>
            <a:r>
              <a:rPr lang="zh-CN" altLang="en-US" dirty="0" smtClean="0"/>
              <a:t>及结构体变量</a:t>
            </a:r>
            <a:r>
              <a:rPr lang="zh-CN" altLang="en-US" dirty="0"/>
              <a:t>的同时定义自定义类型</a:t>
            </a:r>
          </a:p>
          <a:p>
            <a:pPr lvl="1" indent="0">
              <a:buNone/>
            </a:pPr>
            <a:r>
              <a:rPr lang="en-US" altLang="zh-CN" dirty="0" err="1">
                <a:solidFill>
                  <a:srgbClr val="C00000"/>
                </a:solidFill>
              </a:rPr>
              <a:t>typedef</a:t>
            </a:r>
            <a:r>
              <a:rPr lang="en-US" altLang="zh-CN" dirty="0">
                <a:solidFill>
                  <a:srgbClr val="030DCD"/>
                </a:solidFill>
              </a:rPr>
              <a:t> </a:t>
            </a:r>
            <a:r>
              <a:rPr lang="en-US" altLang="zh-CN" dirty="0" err="1">
                <a:solidFill>
                  <a:srgbClr val="030DCD"/>
                </a:solidFill>
              </a:rPr>
              <a:t>struct</a:t>
            </a:r>
            <a:r>
              <a:rPr lang="en-US" altLang="zh-CN" dirty="0">
                <a:solidFill>
                  <a:srgbClr val="030DCD"/>
                </a:solidFill>
              </a:rPr>
              <a:t>  </a:t>
            </a:r>
            <a:r>
              <a:rPr lang="en-US" altLang="zh-CN" dirty="0"/>
              <a:t>{</a:t>
            </a:r>
          </a:p>
          <a:p>
            <a:pPr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month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day</a:t>
            </a:r>
            <a:r>
              <a:rPr lang="zh-CN" altLang="en-US" dirty="0"/>
              <a:t>；</a:t>
            </a:r>
          </a:p>
          <a:p>
            <a:pPr lvl="1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year</a:t>
            </a:r>
            <a:r>
              <a:rPr lang="zh-CN" altLang="en-US" dirty="0"/>
              <a:t>；</a:t>
            </a:r>
            <a:r>
              <a:rPr lang="en-US" altLang="zh-CN" dirty="0"/>
              <a:t>}  </a:t>
            </a:r>
            <a:r>
              <a:rPr lang="en-US" altLang="zh-CN" dirty="0">
                <a:solidFill>
                  <a:srgbClr val="030DCD"/>
                </a:solidFill>
              </a:rPr>
              <a:t>DATE</a:t>
            </a:r>
            <a:r>
              <a:rPr lang="zh-CN" altLang="en-US" dirty="0">
                <a:solidFill>
                  <a:srgbClr val="030DCD"/>
                </a:solidFill>
              </a:rPr>
              <a:t>，</a:t>
            </a:r>
            <a:r>
              <a:rPr lang="en-US" altLang="zh-CN" dirty="0">
                <a:solidFill>
                  <a:srgbClr val="030DCD"/>
                </a:solidFill>
              </a:rPr>
              <a:t>*LINK;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则，</a:t>
            </a:r>
            <a:r>
              <a:rPr lang="zh-CN" altLang="en-US" dirty="0">
                <a:solidFill>
                  <a:srgbClr val="006600"/>
                </a:solidFill>
              </a:rPr>
              <a:t>下述语句等价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DATE </a:t>
            </a:r>
            <a:r>
              <a:rPr lang="en-US" altLang="zh-CN" dirty="0" err="1">
                <a:solidFill>
                  <a:srgbClr val="FF0000"/>
                </a:solidFill>
              </a:rPr>
              <a:t>date</a:t>
            </a:r>
            <a:r>
              <a:rPr lang="en-US" altLang="zh-CN" dirty="0">
                <a:solidFill>
                  <a:srgbClr val="FF0000"/>
                </a:solidFill>
              </a:rPr>
              <a:t>;  //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</a:t>
            </a:r>
            <a:r>
              <a:rPr lang="en-US" altLang="zh-CN" dirty="0" err="1">
                <a:solidFill>
                  <a:srgbClr val="006600"/>
                </a:solidFill>
              </a:rPr>
              <a:t>date</a:t>
            </a:r>
            <a:r>
              <a:rPr lang="en-US" altLang="zh-CN" dirty="0">
                <a:solidFill>
                  <a:srgbClr val="006600"/>
                </a:solidFill>
              </a:rPr>
              <a:t>; </a:t>
            </a:r>
            <a:r>
              <a:rPr lang="zh-CN" altLang="en-US" dirty="0"/>
              <a:t>等价；</a:t>
            </a:r>
            <a:r>
              <a:rPr lang="en-US" altLang="zh-CN" dirty="0"/>
              <a:t> </a:t>
            </a:r>
          </a:p>
          <a:p>
            <a:pPr marL="971550" lvl="1"/>
            <a:r>
              <a:rPr lang="en-US" altLang="zh-CN" dirty="0">
                <a:solidFill>
                  <a:srgbClr val="FF0000"/>
                </a:solidFill>
              </a:rPr>
              <a:t>LINK </a:t>
            </a:r>
            <a:r>
              <a:rPr lang="en-US" altLang="zh-CN" dirty="0" err="1">
                <a:solidFill>
                  <a:srgbClr val="FF0000"/>
                </a:solidFill>
              </a:rPr>
              <a:t>link</a:t>
            </a:r>
            <a:r>
              <a:rPr lang="en-US" altLang="zh-CN" dirty="0">
                <a:solidFill>
                  <a:srgbClr val="FF0000"/>
                </a:solidFill>
              </a:rPr>
              <a:t>;   //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struct</a:t>
            </a:r>
            <a:r>
              <a:rPr lang="en-US" altLang="zh-CN" dirty="0">
                <a:solidFill>
                  <a:srgbClr val="006600"/>
                </a:solidFill>
              </a:rPr>
              <a:t> Date *link; </a:t>
            </a:r>
            <a:r>
              <a:rPr lang="zh-CN" altLang="en-US" dirty="0"/>
              <a:t>等价；</a:t>
            </a:r>
            <a:r>
              <a:rPr lang="en-US" altLang="zh-CN" dirty="0"/>
              <a:t> //</a:t>
            </a:r>
            <a:r>
              <a:rPr lang="zh-CN" altLang="en-US" dirty="0"/>
              <a:t>不建议，降低可读性</a:t>
            </a:r>
            <a:endParaRPr lang="en-US" altLang="zh-CN" dirty="0"/>
          </a:p>
          <a:p>
            <a:pPr marL="971550" lvl="1"/>
            <a:endParaRPr lang="en-US" altLang="zh-CN" dirty="0">
              <a:solidFill>
                <a:srgbClr val="FF0000"/>
              </a:solidFill>
            </a:endParaRPr>
          </a:p>
          <a:p>
            <a:pPr marL="971550" lvl="1"/>
            <a:endParaRPr lang="en-US" altLang="zh-CN" dirty="0">
              <a:solidFill>
                <a:srgbClr val="006600"/>
              </a:solidFill>
            </a:endParaRPr>
          </a:p>
          <a:p>
            <a:pPr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/>
              <a:t>主要内容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1080B"/>
                </a:solidFill>
              </a:rPr>
              <a:t>结构体与结构体数组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1080B"/>
                </a:solidFill>
              </a:rPr>
              <a:t>结构体类型</a:t>
            </a:r>
            <a:r>
              <a:rPr lang="zh-CN" altLang="en-US" sz="1800" dirty="0">
                <a:solidFill>
                  <a:srgbClr val="01080B"/>
                </a:solidFill>
              </a:rPr>
              <a:t>的定义  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1200150" lvl="2"/>
            <a:r>
              <a:rPr lang="en-US" altLang="zh-CN" sz="1600" dirty="0" err="1">
                <a:solidFill>
                  <a:srgbClr val="01080B"/>
                </a:solidFill>
              </a:rPr>
              <a:t>struct</a:t>
            </a:r>
            <a:r>
              <a:rPr lang="en-US" altLang="zh-CN" sz="1600" dirty="0">
                <a:solidFill>
                  <a:srgbClr val="01080B"/>
                </a:solidFill>
              </a:rPr>
              <a:t>  name { </a:t>
            </a:r>
            <a:r>
              <a:rPr lang="zh-CN" altLang="en-US" sz="1600" dirty="0">
                <a:solidFill>
                  <a:srgbClr val="01080B"/>
                </a:solidFill>
              </a:rPr>
              <a:t>成员列表</a:t>
            </a:r>
            <a:r>
              <a:rPr lang="en-US" altLang="zh-CN" sz="1600" dirty="0">
                <a:solidFill>
                  <a:srgbClr val="01080B"/>
                </a:solidFill>
              </a:rPr>
              <a:t>}</a:t>
            </a:r>
            <a:r>
              <a:rPr lang="zh-CN" altLang="en-US" sz="1600" dirty="0">
                <a:solidFill>
                  <a:srgbClr val="01080B"/>
                </a:solidFill>
              </a:rPr>
              <a:t>；</a:t>
            </a:r>
            <a:endParaRPr lang="en-US" altLang="zh-CN" sz="16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1080B"/>
                </a:solidFill>
              </a:rPr>
              <a:t>结构体类型</a:t>
            </a:r>
            <a:r>
              <a:rPr lang="zh-CN" altLang="en-US" sz="1800" dirty="0">
                <a:solidFill>
                  <a:srgbClr val="01080B"/>
                </a:solidFill>
              </a:rPr>
              <a:t>变量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1200150" lvl="2"/>
            <a:r>
              <a:rPr lang="zh-CN" altLang="en-US" sz="1800" dirty="0">
                <a:solidFill>
                  <a:srgbClr val="01080B"/>
                </a:solidFill>
              </a:rPr>
              <a:t> 点运算符；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1200150" lvl="2"/>
            <a:r>
              <a:rPr lang="zh-CN" altLang="en-US" sz="1800" dirty="0" smtClean="0">
                <a:solidFill>
                  <a:srgbClr val="01080B"/>
                </a:solidFill>
              </a:rPr>
              <a:t>结构体变量</a:t>
            </a:r>
            <a:r>
              <a:rPr lang="zh-CN" altLang="en-US" sz="1800" dirty="0">
                <a:solidFill>
                  <a:srgbClr val="01080B"/>
                </a:solidFill>
              </a:rPr>
              <a:t>占用的字节数（字节对齐）；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1080B"/>
                </a:solidFill>
              </a:rPr>
              <a:t>结构体变量</a:t>
            </a:r>
            <a:r>
              <a:rPr lang="zh-CN" altLang="en-US" sz="1800" dirty="0">
                <a:solidFill>
                  <a:srgbClr val="01080B"/>
                </a:solidFill>
              </a:rPr>
              <a:t>的赋值与初始化；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1080B"/>
                </a:solidFill>
              </a:rPr>
              <a:t>结构体数组</a:t>
            </a:r>
            <a:r>
              <a:rPr lang="zh-CN" altLang="en-US" sz="1800" dirty="0">
                <a:solidFill>
                  <a:srgbClr val="01080B"/>
                </a:solidFill>
              </a:rPr>
              <a:t>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1080B"/>
                </a:solidFill>
              </a:rPr>
              <a:t>结构体和指向结构体的指针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1080B"/>
                </a:solidFill>
              </a:rPr>
              <a:t>指向结构体的</a:t>
            </a:r>
            <a:r>
              <a:rPr lang="zh-CN" altLang="en-US" sz="1800" dirty="0">
                <a:solidFill>
                  <a:srgbClr val="01080B"/>
                </a:solidFill>
              </a:rPr>
              <a:t>指针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1200150" lvl="2"/>
            <a:r>
              <a:rPr lang="en-US" altLang="zh-CN" sz="1800" dirty="0">
                <a:solidFill>
                  <a:srgbClr val="01080B"/>
                </a:solidFill>
              </a:rPr>
              <a:t>-&gt; </a:t>
            </a:r>
            <a:r>
              <a:rPr lang="zh-CN" altLang="en-US" sz="1800" dirty="0">
                <a:solidFill>
                  <a:srgbClr val="01080B"/>
                </a:solidFill>
              </a:rPr>
              <a:t>运算符；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1080B"/>
                </a:solidFill>
              </a:rPr>
              <a:t>共用体</a:t>
            </a:r>
            <a:endParaRPr lang="en-US" altLang="zh-CN" sz="2000" dirty="0">
              <a:solidFill>
                <a:srgbClr val="0108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8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/>
              <a:t>主要内容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1080B"/>
                </a:solidFill>
              </a:rPr>
              <a:t>链表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  <a:sym typeface="Arial" panose="020B0604020202020204" pitchFamily="34" charset="0"/>
              </a:rPr>
              <a:t>头指针；</a:t>
            </a:r>
            <a:endParaRPr lang="en-US" altLang="zh-CN" sz="1800" dirty="0">
              <a:solidFill>
                <a:srgbClr val="01080B"/>
              </a:solidFill>
              <a:sym typeface="Arial" panose="020B0604020202020204" pitchFamily="34" charset="0"/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  <a:sym typeface="Arial" panose="020B0604020202020204" pitchFamily="34" charset="0"/>
              </a:rPr>
              <a:t>单链表，循环链表；</a:t>
            </a:r>
            <a:endParaRPr lang="en-US" altLang="zh-CN" sz="1800" dirty="0">
              <a:solidFill>
                <a:srgbClr val="01080B"/>
              </a:solidFill>
              <a:sym typeface="Arial" panose="020B0604020202020204" pitchFamily="34" charset="0"/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  <a:sym typeface="Arial" panose="020B0604020202020204" pitchFamily="34" charset="0"/>
              </a:rPr>
              <a:t>链表中结点的插入、删除操作；</a:t>
            </a:r>
            <a:endParaRPr lang="en-US" altLang="zh-CN" sz="1800" dirty="0">
              <a:solidFill>
                <a:srgbClr val="01080B"/>
              </a:solidFill>
              <a:sym typeface="Arial" panose="020B0604020202020204" pitchFamily="34" charset="0"/>
            </a:endParaRPr>
          </a:p>
          <a:p>
            <a:pPr marL="971550" lvl="1"/>
            <a:r>
              <a:rPr lang="en-US" altLang="zh-CN" sz="1800" dirty="0" err="1">
                <a:solidFill>
                  <a:srgbClr val="01080B"/>
                </a:solidFill>
                <a:sym typeface="Arial" panose="020B0604020202020204" pitchFamily="34" charset="0"/>
              </a:rPr>
              <a:t>malloc</a:t>
            </a:r>
            <a:r>
              <a:rPr lang="en-US" altLang="zh-CN" sz="1800" dirty="0">
                <a:solidFill>
                  <a:srgbClr val="01080B"/>
                </a:solidFill>
                <a:sym typeface="Arial" panose="020B0604020202020204" pitchFamily="34" charset="0"/>
              </a:rPr>
              <a:t>()</a:t>
            </a:r>
            <a:r>
              <a:rPr lang="zh-CN" altLang="en-US" sz="1800" dirty="0">
                <a:solidFill>
                  <a:srgbClr val="01080B"/>
                </a:solidFill>
                <a:sym typeface="Arial" panose="020B0604020202020204" pitchFamily="34" charset="0"/>
              </a:rPr>
              <a:t>：动态申请一个结点；</a:t>
            </a:r>
            <a:endParaRPr lang="en-US" altLang="zh-CN" sz="1800" dirty="0">
              <a:solidFill>
                <a:srgbClr val="01080B"/>
              </a:solidFill>
              <a:sym typeface="Arial" panose="020B0604020202020204" pitchFamily="34" charset="0"/>
            </a:endParaRPr>
          </a:p>
          <a:p>
            <a:pPr marL="971550" lvl="1"/>
            <a:r>
              <a:rPr lang="en-US" altLang="zh-CN" sz="1800" dirty="0">
                <a:solidFill>
                  <a:srgbClr val="01080B"/>
                </a:solidFill>
                <a:sym typeface="Arial" panose="020B0604020202020204" pitchFamily="34" charset="0"/>
              </a:rPr>
              <a:t>free()</a:t>
            </a:r>
            <a:r>
              <a:rPr lang="zh-CN" altLang="en-US" sz="1800" dirty="0">
                <a:solidFill>
                  <a:srgbClr val="01080B"/>
                </a:solidFill>
                <a:sym typeface="Arial" panose="020B0604020202020204" pitchFamily="34" charset="0"/>
              </a:rPr>
              <a:t>：释放一个结点；</a:t>
            </a:r>
            <a:endParaRPr lang="en-US" altLang="zh-CN" sz="1800" dirty="0">
              <a:solidFill>
                <a:srgbClr val="01080B"/>
              </a:solidFill>
              <a:sym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mtClean="0">
                <a:solidFill>
                  <a:srgbClr val="01080B"/>
                </a:solidFill>
              </a:rPr>
              <a:t>二叉树</a:t>
            </a:r>
            <a:endParaRPr lang="en-US" altLang="zh-CN" sz="2000" smtClean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1080B"/>
                </a:solidFill>
              </a:rPr>
              <a:t>共</a:t>
            </a:r>
            <a:r>
              <a:rPr lang="zh-CN" altLang="en-US" sz="2000" dirty="0">
                <a:solidFill>
                  <a:srgbClr val="01080B"/>
                </a:solidFill>
              </a:rPr>
              <a:t>用体（联合）</a:t>
            </a:r>
            <a:r>
              <a:rPr lang="en-US" altLang="zh-CN" sz="2000" dirty="0">
                <a:solidFill>
                  <a:srgbClr val="01080B"/>
                </a:solidFill>
              </a:rPr>
              <a:t> union</a:t>
            </a: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</a:rPr>
              <a:t>注意</a:t>
            </a:r>
            <a:r>
              <a:rPr lang="en-US" altLang="zh-CN" sz="1800" dirty="0">
                <a:solidFill>
                  <a:srgbClr val="01080B"/>
                </a:solidFill>
              </a:rPr>
              <a:t>union</a:t>
            </a:r>
            <a:r>
              <a:rPr lang="zh-CN" altLang="en-US" sz="1800" dirty="0">
                <a:solidFill>
                  <a:srgbClr val="01080B"/>
                </a:solidFill>
              </a:rPr>
              <a:t>与</a:t>
            </a:r>
            <a:r>
              <a:rPr lang="en-US" altLang="zh-CN" sz="1800" dirty="0" err="1">
                <a:solidFill>
                  <a:srgbClr val="01080B"/>
                </a:solidFill>
              </a:rPr>
              <a:t>struct</a:t>
            </a:r>
            <a:r>
              <a:rPr lang="zh-CN" altLang="en-US" sz="1800" dirty="0">
                <a:solidFill>
                  <a:srgbClr val="01080B"/>
                </a:solidFill>
              </a:rPr>
              <a:t>的区别；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</a:rPr>
              <a:t>采用覆盖技术，注意成员变量的时效性；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</a:rPr>
              <a:t>覆盖技术：每个时刻只能对共用体中的一个成员赋值；</a:t>
            </a:r>
            <a:endParaRPr lang="en-US" altLang="zh-CN" sz="1800" dirty="0">
              <a:solidFill>
                <a:srgbClr val="01080B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1080B"/>
                </a:solidFill>
              </a:rPr>
              <a:t>时效性：对其中的一个成员赋值后，其它的成员都失去作用，只有该成员起作用；</a:t>
            </a:r>
          </a:p>
          <a:p>
            <a:pPr marL="971550" lvl="1"/>
            <a:endParaRPr lang="en-US" altLang="zh-CN" dirty="0">
              <a:solidFill>
                <a:srgbClr val="0108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70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142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05547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19878</TotalTime>
  <Words>14446</Words>
  <Application>Microsoft Office PowerPoint</Application>
  <PresentationFormat>全屏显示(4:3)</PresentationFormat>
  <Paragraphs>2003</Paragraphs>
  <Slides>142</Slides>
  <Notes>2</Notes>
  <HiddenSlides>23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142</vt:i4>
      </vt:variant>
    </vt:vector>
  </HeadingPairs>
  <TitlesOfParts>
    <vt:vector size="161" baseType="lpstr">
      <vt:lpstr>黑体</vt:lpstr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Symbol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7 数据的组织与处理（2）</vt:lpstr>
      <vt:lpstr>7.1 结构体与结构体数组</vt:lpstr>
      <vt:lpstr>结构体的概念</vt:lpstr>
      <vt:lpstr>结构体类型</vt:lpstr>
      <vt:lpstr>定义结构体类型格式</vt:lpstr>
      <vt:lpstr>定义结构体变量的两种方法</vt:lpstr>
      <vt:lpstr>定义结构体变量的两种方法</vt:lpstr>
      <vt:lpstr>结构体类型与结构体变量</vt:lpstr>
      <vt:lpstr>结构体变量的使用，结构体成员的引用</vt:lpstr>
      <vt:lpstr>PowerPoint 演示文稿</vt:lpstr>
      <vt:lpstr>结构体中使用已定义的结构体--结构体嵌套</vt:lpstr>
      <vt:lpstr>结构体变量地址与成员变量地址</vt:lpstr>
      <vt:lpstr>例：结构体变量的定义与引用</vt:lpstr>
      <vt:lpstr>输入输出个人信息</vt:lpstr>
      <vt:lpstr>宏offsetof()—返回一个成员在结构体中的偏移量</vt:lpstr>
      <vt:lpstr>宏offsetof()例</vt:lpstr>
      <vt:lpstr>自学：拓展提高--结构体成员变量的字节对齐</vt:lpstr>
      <vt:lpstr>宏offsetof()--考察结构体成员变量的字节对齐</vt:lpstr>
      <vt:lpstr>宏offsetof()—考察结构体成员变量的字节对齐</vt:lpstr>
      <vt:lpstr>宏offsetof()—考察结构体成员变量的字节对齐</vt:lpstr>
      <vt:lpstr>宏offsetof()例</vt:lpstr>
      <vt:lpstr>注：结构体成员定义顺序不同，分配字节也不同</vt:lpstr>
      <vt:lpstr>启示：结构体字节对齐对内存空间的影响</vt:lpstr>
      <vt:lpstr>7.1.3 结构体变量的初始化</vt:lpstr>
      <vt:lpstr>结构体变量的初始化</vt:lpstr>
      <vt:lpstr>结构体成员的赋值</vt:lpstr>
      <vt:lpstr>结构体变量之间整体赋值</vt:lpstr>
      <vt:lpstr>结构体变量之间整体赋值</vt:lpstr>
      <vt:lpstr>7.1.4  结构体数组</vt:lpstr>
      <vt:lpstr>结构体数组</vt:lpstr>
      <vt:lpstr>结构体数组初始化</vt:lpstr>
      <vt:lpstr>结构体数组元素的访问</vt:lpstr>
      <vt:lpstr>结构体数组例—0/1背包问题</vt:lpstr>
      <vt:lpstr>结构体数组例—0/1背包问题</vt:lpstr>
      <vt:lpstr>结构体数组例—0/1背包问题</vt:lpstr>
      <vt:lpstr>7.2 结构体指针（指向结构体变量的指针）</vt:lpstr>
      <vt:lpstr>指向结构体变量的指针</vt:lpstr>
      <vt:lpstr>利用结构体指针访问结构体成员变量：-&gt; 运算符</vt:lpstr>
      <vt:lpstr>PowerPoint 演示文稿</vt:lpstr>
      <vt:lpstr>三种访问结构体成员变量的方法</vt:lpstr>
      <vt:lpstr>关于“ . ”运算符与“-&gt;”运算符</vt:lpstr>
      <vt:lpstr>利用结构体指针访问结构体数组</vt:lpstr>
      <vt:lpstr>利用结构体指针访问结构体数组（续）</vt:lpstr>
      <vt:lpstr>利用结构体指针访问结构体数组（续）</vt:lpstr>
      <vt:lpstr>7.3 链表</vt:lpstr>
      <vt:lpstr>链表的特点</vt:lpstr>
      <vt:lpstr>7.3.1 建立链表的过程—以单向链表为例</vt:lpstr>
      <vt:lpstr>建立单向链表的过程</vt:lpstr>
      <vt:lpstr>带有头结点的单向链表</vt:lpstr>
      <vt:lpstr>创建一个简单的单向链表</vt:lpstr>
      <vt:lpstr>由三个结点组成单向链表的构造过程</vt:lpstr>
      <vt:lpstr>由三个结点构成的单向链表</vt:lpstr>
      <vt:lpstr>由三个结点构成的单向链表</vt:lpstr>
      <vt:lpstr>由三个结点构成的单向链表</vt:lpstr>
      <vt:lpstr>单向链表的遍历过程</vt:lpstr>
      <vt:lpstr>单向链表的遍历过程</vt:lpstr>
      <vt:lpstr>单向链表的遍历过程</vt:lpstr>
      <vt:lpstr>单向链表遍历过程</vt:lpstr>
      <vt:lpstr>链表的遍历—do while实现</vt:lpstr>
      <vt:lpstr>链表的遍历—while实现</vt:lpstr>
      <vt:lpstr>利用递归实现链表的遍历</vt:lpstr>
      <vt:lpstr>在单向链表中查找某个结点</vt:lpstr>
      <vt:lpstr>在单向链表中查找某个结点</vt:lpstr>
      <vt:lpstr>动态分配结点—动态链表</vt:lpstr>
      <vt:lpstr>动态申请结点-- malloc函数</vt:lpstr>
      <vt:lpstr>动态申请结点-- calloc函数 </vt:lpstr>
      <vt:lpstr>对malloc与calloc函数的返回值进行强制类型转换 </vt:lpstr>
      <vt:lpstr>调整已分配的内存大小-- realloc函数 </vt:lpstr>
      <vt:lpstr>释放动态分配的结点</vt:lpstr>
      <vt:lpstr>思考：下述定义数组的两种方法有何异同？</vt:lpstr>
      <vt:lpstr>创建一个动态单向链表</vt:lpstr>
      <vt:lpstr>创建一个动态的单向链表—例</vt:lpstr>
      <vt:lpstr>创建一个动态的单向链表—例: CreateLink(int n) </vt:lpstr>
      <vt:lpstr>创建一个动态的单向链表—例</vt:lpstr>
      <vt:lpstr>遍历单向链表，返回链表的长度</vt:lpstr>
      <vt:lpstr>思考与课后练习：如何将单链表中的数据逆序输出？</vt:lpstr>
      <vt:lpstr>7.3.2 链表结点的插入与删除</vt:lpstr>
      <vt:lpstr>在单向链表的第一个位置插入结点（头部）</vt:lpstr>
      <vt:lpstr>在单向链表中间插入一个结点</vt:lpstr>
      <vt:lpstr>在单向链表尾部插入一个结点(与中间插入操作一致)</vt:lpstr>
      <vt:lpstr>在一个有序链表中，插入一个结点</vt:lpstr>
      <vt:lpstr>在有序表中插入一个结点例</vt:lpstr>
      <vt:lpstr>参考代码---在有序表中插入一个结点</vt:lpstr>
      <vt:lpstr>删除单向链表的第一个结点（头结点）</vt:lpstr>
      <vt:lpstr>在单向链表中删除一个中间结点（尾结点）</vt:lpstr>
      <vt:lpstr>删除一个结点例</vt:lpstr>
      <vt:lpstr>参考代码---在有序表中删除一个结点</vt:lpstr>
      <vt:lpstr>遍历单向链表</vt:lpstr>
      <vt:lpstr>使用前述函数插入、删除与遍历链表</vt:lpstr>
      <vt:lpstr>拓展（比较难，可以不做）</vt:lpstr>
      <vt:lpstr>7.3.3 循环链表（循环单链表）</vt:lpstr>
      <vt:lpstr>思考</vt:lpstr>
      <vt:lpstr>课后练习：创建循环链表</vt:lpstr>
      <vt:lpstr>课后练习：创建循环链表（cont.）</vt:lpstr>
      <vt:lpstr>课后练习：创建循环链表（cont.）</vt:lpstr>
      <vt:lpstr>课后练习：遍历循环链表</vt:lpstr>
      <vt:lpstr>课后练习：循环链表例</vt:lpstr>
      <vt:lpstr>循环链表例---猴子选大王</vt:lpstr>
      <vt:lpstr>循环链表例---猴子选大王</vt:lpstr>
      <vt:lpstr>循环链表例---猴子选大王</vt:lpstr>
      <vt:lpstr>循环链表例---猴子选大王</vt:lpstr>
      <vt:lpstr>双向链表</vt:lpstr>
      <vt:lpstr>双向链表</vt:lpstr>
      <vt:lpstr>课后练习：创建双向链表-例</vt:lpstr>
      <vt:lpstr>自学：二叉树</vt:lpstr>
      <vt:lpstr>自学：利用结构体指针存储二叉树</vt:lpstr>
      <vt:lpstr>自学：二叉树的操作</vt:lpstr>
      <vt:lpstr>自学：拓展提高---利用二级指针实现链表操作</vt:lpstr>
      <vt:lpstr>自学：回顾链表的插入操作</vt:lpstr>
      <vt:lpstr>自学：回顾链表的删除操作</vt:lpstr>
      <vt:lpstr>自学：二级指针与多级指针</vt:lpstr>
      <vt:lpstr>自学：在链表中使用二级指针</vt:lpstr>
      <vt:lpstr>自学：在结构体类型中二级指针的概念</vt:lpstr>
      <vt:lpstr>自学：在结构体类型中二级指针的概念</vt:lpstr>
      <vt:lpstr>自学：在结构体类型中二级指针的概念</vt:lpstr>
      <vt:lpstr>自学：在结构体类型中二级指针的概念</vt:lpstr>
      <vt:lpstr>自学：利用二级指针实现链表的删除</vt:lpstr>
      <vt:lpstr>自学：利用二级指针实现链表的插入</vt:lpstr>
      <vt:lpstr>自学：遍历单向链表</vt:lpstr>
      <vt:lpstr>自学：使用二级指针插入、删除与遍历链表</vt:lpstr>
      <vt:lpstr>7.4 共用体（ union，联合）</vt:lpstr>
      <vt:lpstr>共用体类型及变量定义</vt:lpstr>
      <vt:lpstr>共用体类型及变量定义</vt:lpstr>
      <vt:lpstr>共用体变量的引用方式</vt:lpstr>
      <vt:lpstr>关于共用体的几点注记</vt:lpstr>
      <vt:lpstr>共用体变量值的时效性</vt:lpstr>
      <vt:lpstr>关于共用体的几点注记</vt:lpstr>
      <vt:lpstr>不要对共用体成员变量值进行初始化</vt:lpstr>
      <vt:lpstr>利用共用体与结构体判断大端小端存储</vt:lpstr>
      <vt:lpstr>关于共用体的几点注记</vt:lpstr>
      <vt:lpstr>例—学生与教师信息</vt:lpstr>
      <vt:lpstr>共用体 例—学生与教师信息</vt:lpstr>
      <vt:lpstr>共用体 例—学生与教师信息</vt:lpstr>
      <vt:lpstr>共用体 例—学生与教师信息</vt:lpstr>
      <vt:lpstr>union  vs. struct</vt:lpstr>
      <vt:lpstr>union  vs. struct</vt:lpstr>
      <vt:lpstr>用typedef定义类型的方法定义结构体与结构体指针类型</vt:lpstr>
      <vt:lpstr>在定义结构体的同时，定义结构体与结构体指针类型</vt:lpstr>
      <vt:lpstr>主要内容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2049</cp:revision>
  <dcterms:created xsi:type="dcterms:W3CDTF">2013-01-25T01:44:00Z</dcterms:created>
  <dcterms:modified xsi:type="dcterms:W3CDTF">2022-12-14T02:12:05Z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