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4"/>
  </p:notesMasterIdLst>
  <p:sldIdLst>
    <p:sldId id="256" r:id="rId6"/>
    <p:sldId id="500" r:id="rId7"/>
    <p:sldId id="520" r:id="rId8"/>
    <p:sldId id="522" r:id="rId9"/>
    <p:sldId id="521" r:id="rId10"/>
    <p:sldId id="524" r:id="rId11"/>
    <p:sldId id="523" r:id="rId12"/>
    <p:sldId id="525" r:id="rId13"/>
    <p:sldId id="536" r:id="rId14"/>
    <p:sldId id="526" r:id="rId15"/>
    <p:sldId id="528" r:id="rId16"/>
    <p:sldId id="538" r:id="rId17"/>
    <p:sldId id="529" r:id="rId18"/>
    <p:sldId id="530" r:id="rId19"/>
    <p:sldId id="531" r:id="rId20"/>
    <p:sldId id="532" r:id="rId21"/>
    <p:sldId id="537" r:id="rId22"/>
    <p:sldId id="519" r:id="rId2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30DCD"/>
    <a:srgbClr val="006600"/>
    <a:srgbClr val="0000CC"/>
    <a:srgbClr val="003300"/>
    <a:srgbClr val="99CC00"/>
    <a:srgbClr val="7FE41A"/>
    <a:srgbClr val="6AD565"/>
    <a:srgbClr val="9DEB4F"/>
    <a:srgbClr val="69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 autoAdjust="0"/>
  </p:normalViewPr>
  <p:slideViewPr>
    <p:cSldViewPr snapToGrid="0" snapToObjects="1">
      <p:cViewPr varScale="1">
        <p:scale>
          <a:sx n="115" d="100"/>
          <a:sy n="115" d="100"/>
        </p:scale>
        <p:origin x="1416" y="84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/>
              <a:t>2020/11/4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/>
              <a:t>18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23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2020/11/4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2020/11/4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2020/11/4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2020/11/4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2020/11/4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2020/11/4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5725" cy="466725"/>
          </a:xfrm>
        </p:spPr>
        <p:txBody>
          <a:bodyPr/>
          <a:lstStyle/>
          <a:p>
            <a:r>
              <a:rPr lang="zh-CN" altLang="en-US" sz="2400" dirty="0">
                <a:solidFill>
                  <a:schemeClr val="tx1"/>
                </a:solidFill>
              </a:rPr>
              <a:t>程序调试</a:t>
            </a: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全部重新</a:t>
            </a:r>
            <a:r>
              <a:rPr lang="zh-CN" altLang="zh-CN" dirty="0"/>
              <a:t>编译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4"/>
            <a:ext cx="8089900" cy="87038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zh-CN" sz="2000" dirty="0"/>
              <a:t>如果</a:t>
            </a:r>
            <a:r>
              <a:rPr lang="zh-CN" altLang="en-US" sz="2000" dirty="0"/>
              <a:t>代码正确，但</a:t>
            </a:r>
            <a:r>
              <a:rPr lang="zh-CN" altLang="zh-CN" sz="2000" dirty="0"/>
              <a:t>“编译运行”输出的不是理想的结果，</a:t>
            </a:r>
            <a:r>
              <a:rPr lang="zh-CN" altLang="en-US" sz="2000" dirty="0" smtClean="0"/>
              <a:t>可能同一个工程中的有些</a:t>
            </a:r>
            <a:r>
              <a:rPr lang="zh-CN" altLang="en-US" sz="2000" dirty="0"/>
              <a:t>文件修改后没有重新编译，</a:t>
            </a:r>
            <a:r>
              <a:rPr lang="zh-CN" altLang="zh-CN" sz="2000" dirty="0"/>
              <a:t>选择“全部重新编译”，然后选择“运行”。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641638" y="5665501"/>
            <a:ext cx="8089900" cy="870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endParaRPr lang="zh-CN" altLang="zh-CN" dirty="0">
              <a:solidFill>
                <a:srgbClr val="0000CC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119747"/>
            <a:ext cx="776460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1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函数、变量等没有声明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95351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C00000"/>
                </a:solidFill>
              </a:rPr>
              <a:t>善于发现问题，找出原因，解决问题。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30DCD"/>
                </a:solidFill>
              </a:rPr>
              <a:t>例：下述程序编译时出现错误，原因？如何解决？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07" y="2192482"/>
            <a:ext cx="68484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3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函数、变量等没有声明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DCD"/>
                </a:solidFill>
              </a:rPr>
              <a:t>例：下述程序编译时出现错误，原因？如何解决？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一般情况下，如果提示</a:t>
            </a:r>
            <a:r>
              <a:rPr lang="zh-CN" altLang="en-US" sz="1800" dirty="0">
                <a:solidFill>
                  <a:srgbClr val="C00000"/>
                </a:solidFill>
              </a:rPr>
              <a:t>函数没有声明</a:t>
            </a:r>
            <a:r>
              <a:rPr lang="zh-CN" altLang="en-US" sz="1800" dirty="0"/>
              <a:t>（</a:t>
            </a:r>
            <a:r>
              <a:rPr lang="en-US" altLang="zh-CN" sz="1800" dirty="0">
                <a:solidFill>
                  <a:srgbClr val="7030A0"/>
                </a:solidFill>
              </a:rPr>
              <a:t>not </a:t>
            </a:r>
            <a:r>
              <a:rPr lang="en-US" altLang="zh-CN" sz="1800" dirty="0" smtClean="0">
                <a:solidFill>
                  <a:srgbClr val="7030A0"/>
                </a:solidFill>
              </a:rPr>
              <a:t>declared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如果是标准的</a:t>
            </a:r>
            <a:r>
              <a:rPr lang="en-US" altLang="zh-CN" sz="1600" dirty="0"/>
              <a:t>C/C++</a:t>
            </a:r>
            <a:r>
              <a:rPr lang="zh-CN" altLang="en-US" sz="1600" dirty="0"/>
              <a:t>函数，没有包括函数所在的头文件，或函数名错误；</a:t>
            </a:r>
            <a:endParaRPr lang="en-US" altLang="zh-CN" sz="1600" dirty="0"/>
          </a:p>
          <a:p>
            <a:pPr marL="1200150" lvl="2"/>
            <a:r>
              <a:rPr lang="zh-CN" altLang="en-US" sz="1400" dirty="0">
                <a:solidFill>
                  <a:srgbClr val="006600"/>
                </a:solidFill>
              </a:rPr>
              <a:t>如上例中的错误，</a:t>
            </a:r>
            <a:r>
              <a:rPr lang="en-US" altLang="zh-CN" sz="1400" dirty="0" err="1">
                <a:solidFill>
                  <a:srgbClr val="006600"/>
                </a:solidFill>
              </a:rPr>
              <a:t>printf</a:t>
            </a:r>
            <a:r>
              <a:rPr lang="en-US" altLang="zh-CN" sz="1400" dirty="0">
                <a:solidFill>
                  <a:srgbClr val="006600"/>
                </a:solidFill>
              </a:rPr>
              <a:t>()</a:t>
            </a:r>
            <a:r>
              <a:rPr lang="zh-CN" altLang="en-US" sz="1400" dirty="0">
                <a:solidFill>
                  <a:srgbClr val="006600"/>
                </a:solidFill>
              </a:rPr>
              <a:t>与</a:t>
            </a:r>
            <a:r>
              <a:rPr lang="en-US" altLang="zh-CN" sz="1400" dirty="0" err="1">
                <a:solidFill>
                  <a:srgbClr val="006600"/>
                </a:solidFill>
              </a:rPr>
              <a:t>scanf</a:t>
            </a:r>
            <a:r>
              <a:rPr lang="en-US" altLang="zh-CN" sz="1400" dirty="0">
                <a:solidFill>
                  <a:srgbClr val="006600"/>
                </a:solidFill>
              </a:rPr>
              <a:t>()</a:t>
            </a:r>
            <a:r>
              <a:rPr lang="zh-CN" altLang="en-US" sz="1400" dirty="0">
                <a:solidFill>
                  <a:srgbClr val="006600"/>
                </a:solidFill>
              </a:rPr>
              <a:t>在头文件</a:t>
            </a:r>
            <a:r>
              <a:rPr lang="en-US" altLang="zh-CN" sz="1400" dirty="0" err="1">
                <a:solidFill>
                  <a:srgbClr val="006600"/>
                </a:solidFill>
              </a:rPr>
              <a:t>stdio.h</a:t>
            </a:r>
            <a:r>
              <a:rPr lang="zh-CN" altLang="en-US" sz="1400" dirty="0">
                <a:solidFill>
                  <a:srgbClr val="006600"/>
                </a:solidFill>
              </a:rPr>
              <a:t>中声明，应该利用语句</a:t>
            </a:r>
            <a:r>
              <a:rPr lang="en-US" altLang="zh-CN" sz="1400" dirty="0">
                <a:solidFill>
                  <a:srgbClr val="006600"/>
                </a:solidFill>
              </a:rPr>
              <a:t>#include &lt;</a:t>
            </a:r>
            <a:r>
              <a:rPr lang="en-US" altLang="zh-CN" sz="1400" dirty="0" err="1">
                <a:solidFill>
                  <a:srgbClr val="006600"/>
                </a:solidFill>
              </a:rPr>
              <a:t>stdio.h</a:t>
            </a:r>
            <a:r>
              <a:rPr lang="en-US" altLang="zh-CN" sz="1400" dirty="0">
                <a:solidFill>
                  <a:srgbClr val="006600"/>
                </a:solidFill>
              </a:rPr>
              <a:t>&gt;</a:t>
            </a:r>
            <a:r>
              <a:rPr lang="zh-CN" altLang="en-US" sz="1400" dirty="0">
                <a:solidFill>
                  <a:srgbClr val="006600"/>
                </a:solidFill>
              </a:rPr>
              <a:t>将这些函数包括进来；</a:t>
            </a:r>
            <a:endParaRPr lang="en-US" altLang="zh-CN" sz="1400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600" dirty="0"/>
              <a:t>如果是你自己定义的函数，说明函数</a:t>
            </a:r>
            <a:r>
              <a:rPr lang="zh-CN" altLang="en-US" sz="1600" dirty="0" smtClean="0"/>
              <a:t>没有声明，</a:t>
            </a:r>
            <a:r>
              <a:rPr lang="zh-CN" altLang="en-US" sz="1600" dirty="0"/>
              <a:t>或函数名错误；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一般情况下，如果提示</a:t>
            </a:r>
            <a:r>
              <a:rPr lang="zh-CN" altLang="en-US" sz="1800" dirty="0">
                <a:solidFill>
                  <a:srgbClr val="C00000"/>
                </a:solidFill>
              </a:rPr>
              <a:t>变量没有声明</a:t>
            </a:r>
            <a:r>
              <a:rPr lang="zh-CN" altLang="en-US" sz="1800" dirty="0"/>
              <a:t>（</a:t>
            </a:r>
            <a:r>
              <a:rPr lang="en-US" altLang="zh-CN" sz="1800" dirty="0">
                <a:solidFill>
                  <a:srgbClr val="7030A0"/>
                </a:solidFill>
              </a:rPr>
              <a:t>not </a:t>
            </a:r>
            <a:r>
              <a:rPr lang="en-US" altLang="zh-CN" sz="1800" dirty="0" smtClean="0">
                <a:solidFill>
                  <a:srgbClr val="7030A0"/>
                </a:solidFill>
              </a:rPr>
              <a:t>declared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如果是自己定义的变量，说明变量没有定义；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如果是</a:t>
            </a:r>
            <a:r>
              <a:rPr lang="en-US" altLang="zh-CN" sz="1600" dirty="0"/>
              <a:t>C/C++</a:t>
            </a:r>
            <a:r>
              <a:rPr lang="zh-CN" altLang="en-US" sz="1600" dirty="0"/>
              <a:t>已经定义的宏，说明没有包括相应的头文件；</a:t>
            </a:r>
            <a:endParaRPr lang="en-US" altLang="zh-CN" sz="1600" dirty="0"/>
          </a:p>
          <a:p>
            <a:pPr marL="1200150" lvl="2"/>
            <a:r>
              <a:rPr lang="zh-CN" altLang="en-US" sz="1400" dirty="0"/>
              <a:t>如：可以直接使用</a:t>
            </a:r>
            <a:r>
              <a:rPr lang="en-US" altLang="zh-CN" sz="1400" dirty="0" err="1">
                <a:solidFill>
                  <a:srgbClr val="7030A0"/>
                </a:solidFill>
              </a:rPr>
              <a:t>int</a:t>
            </a:r>
            <a:r>
              <a:rPr lang="en-US" altLang="zh-CN" sz="1400" dirty="0">
                <a:solidFill>
                  <a:srgbClr val="7030A0"/>
                </a:solidFill>
              </a:rPr>
              <a:t> </a:t>
            </a:r>
            <a:r>
              <a:rPr lang="en-US" altLang="zh-CN" sz="1400" dirty="0" err="1">
                <a:solidFill>
                  <a:srgbClr val="7030A0"/>
                </a:solidFill>
              </a:rPr>
              <a:t>buf</a:t>
            </a:r>
            <a:r>
              <a:rPr lang="en-US" altLang="zh-CN" sz="1400" dirty="0">
                <a:solidFill>
                  <a:srgbClr val="7030A0"/>
                </a:solidFill>
              </a:rPr>
              <a:t>=</a:t>
            </a:r>
            <a:r>
              <a:rPr lang="en-US" altLang="zh-CN" sz="1400" b="1" dirty="0">
                <a:solidFill>
                  <a:srgbClr val="FF0000"/>
                </a:solidFill>
              </a:rPr>
              <a:t>BUFSIZ</a:t>
            </a:r>
            <a:r>
              <a:rPr lang="zh-CN" altLang="en-US" sz="1400" dirty="0"/>
              <a:t>，其值是</a:t>
            </a:r>
            <a:r>
              <a:rPr lang="en-US" altLang="zh-CN" sz="1400" dirty="0"/>
              <a:t>512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marL="1200150" lvl="2"/>
            <a:r>
              <a:rPr lang="zh-CN" altLang="en-US" sz="1400" dirty="0">
                <a:solidFill>
                  <a:srgbClr val="006600"/>
                </a:solidFill>
              </a:rPr>
              <a:t>头文件</a:t>
            </a:r>
            <a:r>
              <a:rPr lang="en-US" altLang="zh-CN" sz="1400" dirty="0" err="1">
                <a:solidFill>
                  <a:srgbClr val="006600"/>
                </a:solidFill>
              </a:rPr>
              <a:t>stdio.h</a:t>
            </a:r>
            <a:r>
              <a:rPr lang="en-US" altLang="zh-CN" sz="1400" dirty="0">
                <a:solidFill>
                  <a:srgbClr val="006600"/>
                </a:solidFill>
              </a:rPr>
              <a:t> </a:t>
            </a:r>
            <a:r>
              <a:rPr lang="zh-CN" altLang="en-US" sz="1400" dirty="0">
                <a:solidFill>
                  <a:srgbClr val="006600"/>
                </a:solidFill>
              </a:rPr>
              <a:t>中有宏定义</a:t>
            </a:r>
            <a:r>
              <a:rPr lang="en-US" altLang="zh-CN" sz="1400" dirty="0">
                <a:solidFill>
                  <a:srgbClr val="030DCD"/>
                </a:solidFill>
              </a:rPr>
              <a:t># define BUFSIZ 512</a:t>
            </a:r>
            <a:r>
              <a:rPr lang="zh-CN" altLang="en-US" sz="1400" dirty="0">
                <a:solidFill>
                  <a:srgbClr val="030DCD"/>
                </a:solidFill>
              </a:rPr>
              <a:t> ，定义了一个常量</a:t>
            </a:r>
            <a:r>
              <a:rPr lang="en-US" altLang="zh-CN" sz="1400" dirty="0">
                <a:solidFill>
                  <a:srgbClr val="030DCD"/>
                </a:solidFill>
              </a:rPr>
              <a:t>BUFSIZ </a:t>
            </a:r>
            <a:r>
              <a:rPr lang="zh-CN" altLang="en-US" sz="1400" dirty="0">
                <a:solidFill>
                  <a:srgbClr val="030DCD"/>
                </a:solidFill>
              </a:rPr>
              <a:t>，其值为</a:t>
            </a:r>
            <a:r>
              <a:rPr lang="en-US" altLang="zh-CN" sz="1400" dirty="0">
                <a:solidFill>
                  <a:srgbClr val="030DCD"/>
                </a:solidFill>
              </a:rPr>
              <a:t>512</a:t>
            </a:r>
            <a:r>
              <a:rPr lang="zh-CN" altLang="en-US" sz="1400" dirty="0">
                <a:solidFill>
                  <a:srgbClr val="030DCD"/>
                </a:solidFill>
              </a:rPr>
              <a:t>，运行期间不允许修改；</a:t>
            </a:r>
            <a:endParaRPr lang="en-US" altLang="zh-CN" sz="1400" dirty="0">
              <a:solidFill>
                <a:srgbClr val="030DCD"/>
              </a:solidFill>
            </a:endParaRPr>
          </a:p>
          <a:p>
            <a:pPr marL="1200150" lvl="2"/>
            <a:r>
              <a:rPr lang="en-US" altLang="zh-CN" sz="1400" dirty="0">
                <a:solidFill>
                  <a:srgbClr val="006600"/>
                </a:solidFill>
              </a:rPr>
              <a:t>#include &lt;</a:t>
            </a:r>
            <a:r>
              <a:rPr lang="en-US" altLang="zh-CN" sz="1400" dirty="0" err="1">
                <a:solidFill>
                  <a:srgbClr val="006600"/>
                </a:solidFill>
              </a:rPr>
              <a:t>stdio.h</a:t>
            </a:r>
            <a:r>
              <a:rPr lang="en-US" altLang="zh-CN" sz="1400" dirty="0">
                <a:solidFill>
                  <a:srgbClr val="006600"/>
                </a:solidFill>
              </a:rPr>
              <a:t>&gt;</a:t>
            </a:r>
            <a:endParaRPr lang="en-US" altLang="zh-CN" sz="1400" dirty="0">
              <a:solidFill>
                <a:srgbClr val="030DCD"/>
              </a:solidFill>
            </a:endParaRPr>
          </a:p>
          <a:p>
            <a:pPr marL="1200150" lvl="2"/>
            <a:endParaRPr lang="en-US" altLang="zh-CN" sz="1800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30DC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33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注意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的语法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9575" y="958993"/>
            <a:ext cx="8089900" cy="117395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例：</a:t>
            </a:r>
            <a:r>
              <a:rPr lang="zh-CN" altLang="en-US" sz="1800" dirty="0">
                <a:solidFill>
                  <a:srgbClr val="030DCD"/>
                </a:solidFill>
              </a:rPr>
              <a:t>下述程序通过编译，但执行出错。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7030A0"/>
                </a:solidFill>
              </a:rPr>
              <a:t>Win 7</a:t>
            </a:r>
            <a:r>
              <a:rPr lang="zh-CN" altLang="en-US" sz="1800" dirty="0">
                <a:solidFill>
                  <a:srgbClr val="7030A0"/>
                </a:solidFill>
              </a:rPr>
              <a:t>环境下</a:t>
            </a:r>
            <a:r>
              <a:rPr lang="zh-CN" altLang="en-US" sz="1800" dirty="0"/>
              <a:t>，输入</a:t>
            </a:r>
            <a:r>
              <a:rPr lang="en-US" altLang="zh-CN" sz="1800" dirty="0"/>
              <a:t>44 55</a:t>
            </a:r>
            <a:r>
              <a:rPr lang="zh-CN" altLang="en-US" sz="1800" dirty="0"/>
              <a:t>后，出现右边错误提示； 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7030A0"/>
                </a:solidFill>
              </a:rPr>
              <a:t>Win10 </a:t>
            </a:r>
            <a:r>
              <a:rPr lang="zh-CN" altLang="en-US" sz="1800" dirty="0">
                <a:solidFill>
                  <a:srgbClr val="7030A0"/>
                </a:solidFill>
              </a:rPr>
              <a:t>环境下</a:t>
            </a:r>
            <a:r>
              <a:rPr lang="zh-CN" altLang="en-US" sz="1800" dirty="0"/>
              <a:t>，输入</a:t>
            </a:r>
            <a:r>
              <a:rPr lang="en-US" altLang="zh-CN" sz="1800" dirty="0"/>
              <a:t>44 55</a:t>
            </a:r>
            <a:r>
              <a:rPr lang="zh-CN" altLang="en-US" sz="1800" dirty="0"/>
              <a:t>后不出现任何错误信息，</a:t>
            </a:r>
            <a:r>
              <a:rPr lang="zh-CN" altLang="en-US" sz="1800" dirty="0" smtClean="0"/>
              <a:t>但数据没有被接收；</a:t>
            </a:r>
            <a:endParaRPr lang="en-US" altLang="zh-CN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592" y="2405855"/>
            <a:ext cx="3867582" cy="36402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C37712F-B49E-4E2E-8B46-8095377E1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4" y="2331387"/>
            <a:ext cx="4381501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0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--</a:t>
            </a:r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的地址符</a:t>
            </a:r>
            <a:r>
              <a:rPr lang="en-US" altLang="zh-CN" dirty="0"/>
              <a:t>&amp;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100" y="846533"/>
            <a:ext cx="8324850" cy="1696642"/>
          </a:xfrm>
        </p:spPr>
        <p:txBody>
          <a:bodyPr/>
          <a:lstStyle/>
          <a:p>
            <a:pPr marL="342900" indent="-342900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DCD"/>
                </a:solidFill>
              </a:rPr>
              <a:t>例：下述程序通过编译，但执行出错。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这类问题比较难以调试，例如地址越界会导致这种错误；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该例中，</a:t>
            </a:r>
            <a:r>
              <a:rPr lang="en-US" altLang="zh-CN" sz="1800" b="1" dirty="0" err="1"/>
              <a:t>scanf</a:t>
            </a:r>
            <a:r>
              <a:rPr lang="en-US" altLang="zh-CN" sz="1800" b="1" dirty="0"/>
              <a:t>(“%d %d”,</a:t>
            </a:r>
            <a:r>
              <a:rPr lang="en-US" altLang="zh-CN" sz="1800" b="1" dirty="0" err="1"/>
              <a:t>a,b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应该为</a:t>
            </a:r>
            <a:r>
              <a:rPr lang="en-US" altLang="zh-CN" sz="1800" b="1" dirty="0" err="1"/>
              <a:t>scanf</a:t>
            </a:r>
            <a:r>
              <a:rPr lang="en-US" altLang="zh-CN" sz="1800" b="1" dirty="0"/>
              <a:t>(“%d %</a:t>
            </a:r>
            <a:r>
              <a:rPr lang="en-US" altLang="zh-CN" sz="1800" b="1" dirty="0" err="1"/>
              <a:t>d”,</a:t>
            </a:r>
            <a:r>
              <a:rPr lang="en-US" altLang="zh-CN" sz="1800" b="1" dirty="0" err="1">
                <a:solidFill>
                  <a:srgbClr val="FF0000"/>
                </a:solidFill>
              </a:rPr>
              <a:t>&amp;</a:t>
            </a:r>
            <a:r>
              <a:rPr lang="en-US" altLang="zh-CN" sz="1800" b="1" dirty="0" err="1"/>
              <a:t>a,</a:t>
            </a:r>
            <a:r>
              <a:rPr lang="en-US" altLang="zh-CN" sz="1800" b="1" dirty="0" err="1">
                <a:solidFill>
                  <a:srgbClr val="FF0000"/>
                </a:solidFill>
              </a:rPr>
              <a:t>&amp;</a:t>
            </a:r>
            <a:r>
              <a:rPr lang="en-US" altLang="zh-CN" sz="1800" b="1" dirty="0" err="1"/>
              <a:t>b</a:t>
            </a:r>
            <a:r>
              <a:rPr lang="en-US" altLang="zh-CN" sz="1800" b="1" dirty="0"/>
              <a:t>)</a:t>
            </a:r>
          </a:p>
          <a:p>
            <a:pPr marL="342900" indent="-342900" hangingPunct="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b="1" dirty="0" err="1"/>
              <a:t>scanf</a:t>
            </a:r>
            <a:r>
              <a:rPr lang="en-US" altLang="zh-CN" sz="1800" b="1" dirty="0"/>
              <a:t>(“%d %d”,</a:t>
            </a:r>
            <a:r>
              <a:rPr lang="en-US" altLang="zh-CN" sz="1800" b="1" dirty="0" err="1">
                <a:solidFill>
                  <a:srgbClr val="FF0000"/>
                </a:solidFill>
              </a:rPr>
              <a:t>a,b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是将键盘输入保存到以</a:t>
            </a:r>
            <a:r>
              <a:rPr lang="en-US" altLang="zh-CN" sz="1800" b="1" dirty="0" err="1"/>
              <a:t>a,b</a:t>
            </a:r>
            <a:r>
              <a:rPr lang="zh-CN" altLang="en-US" sz="1800" b="1" dirty="0"/>
              <a:t>中的内容所指示的内存单元中，而不是放到系统为变量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分配的内存单元中；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592" y="2733675"/>
            <a:ext cx="3867582" cy="30981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B97E24-56D4-4CFC-BCDF-4014FC005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66999"/>
            <a:ext cx="4381501" cy="337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8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注意中英文符号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65217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例：下述程序通过编译，但</a:t>
            </a:r>
            <a:r>
              <a:rPr lang="zh-CN" altLang="en-US" dirty="0">
                <a:solidFill>
                  <a:srgbClr val="FF0000"/>
                </a:solidFill>
              </a:rPr>
              <a:t>执行结果错误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79F666-4B99-41EB-B335-BFD43334D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883355"/>
            <a:ext cx="4305300" cy="38004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B8BC19-CE21-4861-A89D-5F1AAA75A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237" y="1957387"/>
            <a:ext cx="3833813" cy="342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注意中英文符号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1214"/>
            <a:ext cx="8089900" cy="1087843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例：下述程序通过编译，但执行结果错误。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it-IT" altLang="zh-CN" sz="2000" dirty="0"/>
              <a:t>scanf(“%d</a:t>
            </a:r>
            <a:r>
              <a:rPr lang="zh-CN" altLang="it-IT" sz="2000" dirty="0"/>
              <a:t>，</a:t>
            </a:r>
            <a:r>
              <a:rPr lang="it-IT" altLang="zh-CN" sz="2000" dirty="0"/>
              <a:t>%d”,&amp;a,&amp;b)</a:t>
            </a:r>
            <a:r>
              <a:rPr lang="zh-CN" altLang="en-US" sz="2000" dirty="0"/>
              <a:t>中</a:t>
            </a:r>
            <a:r>
              <a:rPr lang="it-IT" altLang="zh-CN" sz="2000" dirty="0">
                <a:solidFill>
                  <a:srgbClr val="FF0000"/>
                </a:solidFill>
              </a:rPr>
              <a:t>“%d</a:t>
            </a:r>
            <a:r>
              <a:rPr lang="zh-CN" altLang="it-IT" sz="2000" dirty="0">
                <a:solidFill>
                  <a:srgbClr val="FF0000"/>
                </a:solidFill>
              </a:rPr>
              <a:t>，</a:t>
            </a:r>
            <a:r>
              <a:rPr lang="it-IT" altLang="zh-CN" sz="2000" dirty="0">
                <a:solidFill>
                  <a:srgbClr val="FF0000"/>
                </a:solidFill>
              </a:rPr>
              <a:t>%d</a:t>
            </a:r>
            <a:r>
              <a:rPr lang="it-IT" altLang="zh-CN" sz="2000" dirty="0"/>
              <a:t>”</a:t>
            </a:r>
            <a:r>
              <a:rPr lang="zh-CN" altLang="en-US" sz="2000" dirty="0"/>
              <a:t>中使用了</a:t>
            </a:r>
            <a:r>
              <a:rPr lang="zh-CN" altLang="en-US" sz="2000" dirty="0">
                <a:solidFill>
                  <a:srgbClr val="FF0000"/>
                </a:solidFill>
              </a:rPr>
              <a:t>中文逗号</a:t>
            </a:r>
            <a:r>
              <a:rPr lang="en-US" altLang="zh-CN" sz="2000" dirty="0">
                <a:solidFill>
                  <a:srgbClr val="FF0000"/>
                </a:solidFill>
              </a:rPr>
              <a:t>;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但输入时又使用了</a:t>
            </a:r>
            <a:r>
              <a:rPr lang="zh-CN" altLang="en-US" sz="2000" dirty="0">
                <a:solidFill>
                  <a:srgbClr val="FF0000"/>
                </a:solidFill>
              </a:rPr>
              <a:t>西文逗号</a:t>
            </a:r>
            <a:r>
              <a:rPr lang="zh-CN" altLang="en-US" sz="2000" dirty="0"/>
              <a:t>；</a:t>
            </a: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4475E26-333B-44B1-BA1A-035004BF5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6" y="2346612"/>
            <a:ext cx="4305300" cy="3800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C416EFF-14A4-4605-8418-4F217DDEC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487" y="2534730"/>
            <a:ext cx="3833813" cy="342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 —</a:t>
            </a:r>
            <a:r>
              <a:rPr lang="zh-CN" altLang="en-US" dirty="0"/>
              <a:t>注意中英文符号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1214"/>
            <a:ext cx="8089900" cy="1087843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例：下述程序通过编译，但执行结果错误。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或者在</a:t>
            </a:r>
            <a:r>
              <a:rPr lang="it-IT" altLang="zh-CN" sz="2000" dirty="0"/>
              <a:t>scanf(“%d</a:t>
            </a:r>
            <a:r>
              <a:rPr lang="en-US" altLang="zh-CN" sz="2000" dirty="0"/>
              <a:t>,</a:t>
            </a:r>
            <a:r>
              <a:rPr lang="it-IT" altLang="zh-CN" sz="2000" dirty="0"/>
              <a:t>%d”,&amp;a,&amp;b)</a:t>
            </a:r>
            <a:r>
              <a:rPr lang="zh-CN" altLang="en-US" sz="2000" dirty="0"/>
              <a:t>中</a:t>
            </a:r>
            <a:r>
              <a:rPr lang="it-IT" altLang="zh-CN" sz="2000" dirty="0">
                <a:solidFill>
                  <a:srgbClr val="FF0000"/>
                </a:solidFill>
              </a:rPr>
              <a:t>“%d</a:t>
            </a:r>
            <a:r>
              <a:rPr lang="en-US" altLang="zh-CN" sz="2000" dirty="0">
                <a:solidFill>
                  <a:srgbClr val="FF0000"/>
                </a:solidFill>
              </a:rPr>
              <a:t>,</a:t>
            </a:r>
            <a:r>
              <a:rPr lang="it-IT" altLang="zh-CN" sz="2000" dirty="0">
                <a:solidFill>
                  <a:srgbClr val="FF0000"/>
                </a:solidFill>
              </a:rPr>
              <a:t>%d</a:t>
            </a:r>
            <a:r>
              <a:rPr lang="it-IT" altLang="zh-CN" sz="2000" dirty="0"/>
              <a:t>”</a:t>
            </a:r>
            <a:r>
              <a:rPr lang="zh-CN" altLang="en-US" sz="2000" dirty="0"/>
              <a:t>中使用了</a:t>
            </a:r>
            <a:r>
              <a:rPr lang="zh-CN" altLang="en-US" sz="2000" dirty="0">
                <a:solidFill>
                  <a:srgbClr val="FF0000"/>
                </a:solidFill>
              </a:rPr>
              <a:t>英文逗号</a:t>
            </a:r>
            <a:r>
              <a:rPr lang="en-US" altLang="zh-CN" sz="2000" dirty="0">
                <a:solidFill>
                  <a:srgbClr val="FF0000"/>
                </a:solidFill>
              </a:rPr>
              <a:t>;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但输入时又使用了</a:t>
            </a:r>
            <a:r>
              <a:rPr lang="zh-CN" altLang="en-US" sz="2000" dirty="0">
                <a:solidFill>
                  <a:srgbClr val="FF0000"/>
                </a:solidFill>
              </a:rPr>
              <a:t>中文逗号</a:t>
            </a:r>
            <a:r>
              <a:rPr lang="zh-CN" altLang="en-US" sz="2000" dirty="0"/>
              <a:t>；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9B74E7-D8D4-49F0-8D18-F071C8249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30483"/>
            <a:ext cx="4562475" cy="34623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7C1FEF-0BDD-4E72-9454-CFD529D30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963" y="2476500"/>
            <a:ext cx="3938588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3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跟踪变量的</a:t>
            </a:r>
            <a:r>
              <a:rPr lang="zh-CN" altLang="en-US" dirty="0" smtClean="0"/>
              <a:t>值（</a:t>
            </a:r>
            <a:r>
              <a:rPr lang="zh-CN" altLang="en-US" dirty="0" smtClean="0">
                <a:solidFill>
                  <a:srgbClr val="7030A0"/>
                </a:solidFill>
              </a:rPr>
              <a:t>利用</a:t>
            </a:r>
            <a:r>
              <a:rPr lang="en-US" altLang="zh-CN" dirty="0" err="1" smtClean="0">
                <a:solidFill>
                  <a:srgbClr val="7030A0"/>
                </a:solidFill>
              </a:rPr>
              <a:t>printf</a:t>
            </a:r>
            <a:r>
              <a:rPr lang="en-US" altLang="zh-CN" dirty="0" smtClean="0">
                <a:solidFill>
                  <a:srgbClr val="7030A0"/>
                </a:solidFill>
              </a:rPr>
              <a:t>()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93480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例：下述程序通过编译，但执行结果错误。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</a:t>
            </a:r>
            <a:r>
              <a:rPr lang="it-IT" altLang="zh-CN" sz="2000" dirty="0"/>
              <a:t>scanf(“%d</a:t>
            </a:r>
            <a:r>
              <a:rPr lang="zh-CN" altLang="it-IT" sz="2000" dirty="0"/>
              <a:t>，</a:t>
            </a:r>
            <a:r>
              <a:rPr lang="it-IT" altLang="zh-CN" sz="2000" dirty="0"/>
              <a:t>%d”,&amp;a,&amp;b)</a:t>
            </a:r>
            <a:r>
              <a:rPr lang="zh-CN" altLang="en-US" sz="2000" dirty="0"/>
              <a:t>后</a:t>
            </a:r>
            <a:r>
              <a:rPr lang="zh-CN" altLang="en-US" sz="2000" dirty="0">
                <a:solidFill>
                  <a:srgbClr val="FF0000"/>
                </a:solidFill>
              </a:rPr>
              <a:t>利用</a:t>
            </a:r>
            <a:r>
              <a:rPr lang="en-US" altLang="zh-CN" sz="2000" dirty="0" err="1">
                <a:solidFill>
                  <a:srgbClr val="FF0000"/>
                </a:solidFill>
              </a:rPr>
              <a:t>printf</a:t>
            </a:r>
            <a:r>
              <a:rPr lang="en-US" altLang="zh-CN" sz="2000" dirty="0">
                <a:solidFill>
                  <a:srgbClr val="FF0000"/>
                </a:solidFill>
              </a:rPr>
              <a:t>()</a:t>
            </a:r>
            <a:r>
              <a:rPr lang="zh-CN" altLang="en-US" sz="2000" dirty="0">
                <a:solidFill>
                  <a:srgbClr val="FF0000"/>
                </a:solidFill>
              </a:rPr>
              <a:t>跟踪变量的值</a:t>
            </a:r>
            <a:r>
              <a:rPr lang="zh-CN" altLang="en-US" sz="2000" dirty="0"/>
              <a:t>；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DEF82A-5196-44C3-98EC-5FF082DC3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10" y="2446192"/>
            <a:ext cx="4295224" cy="35984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BFB8A45-1EFF-4AA0-A4C0-609B58C5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091" y="2559504"/>
            <a:ext cx="3589584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设置断点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898526"/>
            <a:ext cx="8089900" cy="101340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DCD"/>
                </a:solidFill>
              </a:rPr>
              <a:t>在合适的位置设置断点</a:t>
            </a:r>
            <a:r>
              <a:rPr lang="zh-CN" altLang="en-US" sz="1800" dirty="0" smtClean="0">
                <a:solidFill>
                  <a:srgbClr val="030DCD"/>
                </a:solidFill>
              </a:rPr>
              <a:t>；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DCD"/>
                </a:solidFill>
              </a:rPr>
              <a:t>首先，在</a:t>
            </a:r>
            <a:r>
              <a:rPr lang="en-US" altLang="zh-CN" sz="1800" dirty="0" smtClean="0">
                <a:solidFill>
                  <a:srgbClr val="030DCD"/>
                </a:solidFill>
              </a:rPr>
              <a:t>IDE</a:t>
            </a:r>
            <a:r>
              <a:rPr lang="zh-CN" altLang="en-US" sz="1800" dirty="0" smtClean="0">
                <a:solidFill>
                  <a:srgbClr val="030DCD"/>
                </a:solidFill>
              </a:rPr>
              <a:t>中打开调试信息开关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 marL="971550" lvl="1"/>
            <a:r>
              <a:rPr lang="en-US" altLang="zh-CN" sz="1400" dirty="0" smtClean="0">
                <a:solidFill>
                  <a:srgbClr val="030DCD"/>
                </a:solidFill>
              </a:rPr>
              <a:t>Tools/Compiler Options/</a:t>
            </a:r>
            <a:endParaRPr lang="en-US" altLang="zh-CN" sz="14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800" dirty="0">
              <a:solidFill>
                <a:srgbClr val="030DCD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955" y="2011679"/>
            <a:ext cx="4686300" cy="408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0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设置断点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898525"/>
            <a:ext cx="8089900" cy="142557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30DCD"/>
                </a:solidFill>
              </a:rPr>
              <a:t>左键</a:t>
            </a:r>
            <a:r>
              <a:rPr lang="zh-CN" altLang="en-US" sz="2000" dirty="0">
                <a:solidFill>
                  <a:srgbClr val="030DCD"/>
                </a:solidFill>
              </a:rPr>
              <a:t>点击要设置断点的行号，如要查看输入后变量</a:t>
            </a:r>
            <a:r>
              <a:rPr lang="en-US" altLang="zh-CN" sz="2000" dirty="0">
                <a:solidFill>
                  <a:srgbClr val="030DCD"/>
                </a:solidFill>
              </a:rPr>
              <a:t>a</a:t>
            </a:r>
            <a:r>
              <a:rPr lang="zh-CN" altLang="en-US" sz="2000" dirty="0">
                <a:solidFill>
                  <a:srgbClr val="030DCD"/>
                </a:solidFill>
              </a:rPr>
              <a:t>，</a:t>
            </a:r>
            <a:r>
              <a:rPr lang="en-US" altLang="zh-CN" sz="2000" dirty="0">
                <a:solidFill>
                  <a:srgbClr val="030DCD"/>
                </a:solidFill>
              </a:rPr>
              <a:t>b</a:t>
            </a:r>
            <a:r>
              <a:rPr lang="zh-CN" altLang="en-US" sz="2000" dirty="0">
                <a:solidFill>
                  <a:srgbClr val="030DCD"/>
                </a:solidFill>
              </a:rPr>
              <a:t>的值，则在第</a:t>
            </a:r>
            <a:r>
              <a:rPr lang="en-US" altLang="zh-CN" sz="2000" dirty="0">
                <a:solidFill>
                  <a:srgbClr val="030DCD"/>
                </a:solidFill>
              </a:rPr>
              <a:t>6</a:t>
            </a:r>
            <a:r>
              <a:rPr lang="zh-CN" altLang="en-US" sz="2000" dirty="0">
                <a:solidFill>
                  <a:srgbClr val="030DCD"/>
                </a:solidFill>
              </a:rPr>
              <a:t>行设置断点，当</a:t>
            </a:r>
            <a:r>
              <a:rPr lang="zh-CN" altLang="en-US" sz="2000" dirty="0">
                <a:solidFill>
                  <a:srgbClr val="C00000"/>
                </a:solidFill>
              </a:rPr>
              <a:t>调试程序</a:t>
            </a:r>
            <a:r>
              <a:rPr lang="zh-CN" altLang="en-US" sz="2000" dirty="0">
                <a:solidFill>
                  <a:srgbClr val="030DCD"/>
                </a:solidFill>
              </a:rPr>
              <a:t>是执行到</a:t>
            </a:r>
            <a:r>
              <a:rPr lang="zh-CN" altLang="en-US" sz="2000" dirty="0">
                <a:solidFill>
                  <a:srgbClr val="C00000"/>
                </a:solidFill>
              </a:rPr>
              <a:t>该断点</a:t>
            </a:r>
            <a:r>
              <a:rPr lang="zh-CN" altLang="en-US" sz="2000" dirty="0">
                <a:solidFill>
                  <a:srgbClr val="030DCD"/>
                </a:solidFill>
              </a:rPr>
              <a:t>则程序暂停执行，可检查此时的变量的值等信息；</a:t>
            </a:r>
            <a:endParaRPr lang="en-US" altLang="zh-CN" sz="2000" dirty="0">
              <a:solidFill>
                <a:srgbClr val="030DCD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8363D1-6997-4144-B905-866F291FE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1948585"/>
            <a:ext cx="7234238" cy="392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6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设置断点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0323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然后</a:t>
            </a:r>
            <a:r>
              <a:rPr lang="zh-CN" altLang="en-US" sz="2000" dirty="0" smtClean="0">
                <a:solidFill>
                  <a:srgbClr val="030DCD"/>
                </a:solidFill>
              </a:rPr>
              <a:t>选择</a:t>
            </a:r>
            <a:r>
              <a:rPr lang="zh-CN" altLang="en-US" sz="2000" dirty="0">
                <a:solidFill>
                  <a:srgbClr val="030DCD"/>
                </a:solidFill>
              </a:rPr>
              <a:t>调试“</a:t>
            </a:r>
            <a:r>
              <a:rPr lang="zh-CN" altLang="en-US" sz="2000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debug</a:t>
            </a:r>
            <a:r>
              <a:rPr lang="zh-CN" altLang="en-US" sz="2000" dirty="0">
                <a:solidFill>
                  <a:srgbClr val="030DCD"/>
                </a:solidFill>
              </a:rPr>
              <a:t>”（不是运行）</a:t>
            </a:r>
            <a:endParaRPr lang="en-US" altLang="zh-CN" sz="2000" dirty="0">
              <a:solidFill>
                <a:srgbClr val="030DCD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0A54CB5-91A6-444E-BF0A-F513950DB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" y="1638301"/>
            <a:ext cx="7081578" cy="385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0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设置断点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2377" y="979489"/>
            <a:ext cx="8089900" cy="42703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调试窗口</a:t>
            </a:r>
            <a:endParaRPr lang="en-US" altLang="zh-CN" sz="2000" dirty="0">
              <a:solidFill>
                <a:srgbClr val="030DCD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0" y="2029460"/>
            <a:ext cx="2486025" cy="26574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F35C36C-30CC-4722-96D6-0F1081B6F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06527"/>
            <a:ext cx="5676900" cy="437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6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设置断点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8418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设置要跟踪的变量</a:t>
            </a:r>
            <a:endParaRPr lang="en-US" altLang="zh-CN" sz="2000" dirty="0">
              <a:solidFill>
                <a:srgbClr val="030DCD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762" y="2114982"/>
            <a:ext cx="2900074" cy="33519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" y="1619251"/>
            <a:ext cx="54673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设置断点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24516"/>
            <a:ext cx="8089900" cy="3984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跟踪变量的值</a:t>
            </a:r>
            <a:endParaRPr lang="en-US" altLang="zh-CN" sz="2000" dirty="0">
              <a:solidFill>
                <a:srgbClr val="030DCD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926" y="1942376"/>
            <a:ext cx="2900074" cy="33519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96" y="1520968"/>
            <a:ext cx="53721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3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调试程序</a:t>
            </a:r>
            <a:r>
              <a:rPr lang="en-US" altLang="zh-CN" dirty="0"/>
              <a:t>—</a:t>
            </a:r>
            <a:r>
              <a:rPr lang="zh-CN" altLang="en-US" dirty="0"/>
              <a:t>设置断点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2618"/>
            <a:ext cx="8089900" cy="3984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或直接在</a:t>
            </a:r>
            <a:r>
              <a:rPr lang="en-US" altLang="zh-CN" sz="2000" dirty="0">
                <a:solidFill>
                  <a:srgbClr val="030DCD"/>
                </a:solidFill>
              </a:rPr>
              <a:t>Evaluate</a:t>
            </a:r>
            <a:r>
              <a:rPr lang="zh-CN" altLang="en-US" sz="2000" dirty="0">
                <a:solidFill>
                  <a:srgbClr val="030DCD"/>
                </a:solidFill>
              </a:rPr>
              <a:t>对话框中输入要跟踪的变量</a:t>
            </a:r>
            <a:endParaRPr lang="en-US" altLang="zh-CN" sz="2000" dirty="0">
              <a:solidFill>
                <a:srgbClr val="030DCD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926" y="1942376"/>
            <a:ext cx="2900074" cy="33519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E79D7A-ADA1-4959-848C-2AD385581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63" y="1678421"/>
            <a:ext cx="5126687" cy="424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1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>
                <a:solidFill>
                  <a:srgbClr val="5F5F5F"/>
                </a:solidFill>
              </a:rPr>
              <a:pPr algn="r"/>
              <a:t>18</a:t>
            </a:fld>
            <a:endParaRPr lang="en-US" altLang="zh-CN" sz="1400">
              <a:solidFill>
                <a:srgbClr val="5F5F5F"/>
              </a:solidFill>
            </a:endParaRPr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197618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5988</TotalTime>
  <Words>733</Words>
  <Application>Microsoft Office PowerPoint</Application>
  <PresentationFormat>全屏显示(4:3)</PresentationFormat>
  <Paragraphs>63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全部重新编译</vt:lpstr>
      <vt:lpstr>调试程序—函数、变量等没有声明</vt:lpstr>
      <vt:lpstr>调试程序—函数、变量等没有声明</vt:lpstr>
      <vt:lpstr>调试程序—注意scanf()的语法</vt:lpstr>
      <vt:lpstr>调试程序--scanf()的地址符&amp;</vt:lpstr>
      <vt:lpstr>调试程序—注意中英文符号</vt:lpstr>
      <vt:lpstr>调试程序—注意中英文符号</vt:lpstr>
      <vt:lpstr>调试程序 —注意中英文符号</vt:lpstr>
      <vt:lpstr>调试程序—跟踪变量的值（利用printf()）</vt:lpstr>
      <vt:lpstr>调试程序—设置断点</vt:lpstr>
      <vt:lpstr>调试程序—设置断点</vt:lpstr>
      <vt:lpstr>调试程序—设置断点</vt:lpstr>
      <vt:lpstr>调试程序—设置断点</vt:lpstr>
      <vt:lpstr>调试程序—设置断点</vt:lpstr>
      <vt:lpstr>调试程序—设置断点</vt:lpstr>
      <vt:lpstr>调试程序—设置断点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1478</cp:revision>
  <dcterms:created xsi:type="dcterms:W3CDTF">2013-01-25T01:44:00Z</dcterms:created>
  <dcterms:modified xsi:type="dcterms:W3CDTF">2020-11-04T11:39:10Z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