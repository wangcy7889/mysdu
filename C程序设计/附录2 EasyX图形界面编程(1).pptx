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45"/>
  </p:notesMasterIdLst>
  <p:sldIdLst>
    <p:sldId id="256" r:id="rId6"/>
    <p:sldId id="522" r:id="rId7"/>
    <p:sldId id="523" r:id="rId8"/>
    <p:sldId id="524" r:id="rId9"/>
    <p:sldId id="525" r:id="rId10"/>
    <p:sldId id="526" r:id="rId11"/>
    <p:sldId id="527" r:id="rId12"/>
    <p:sldId id="528" r:id="rId13"/>
    <p:sldId id="529" r:id="rId14"/>
    <p:sldId id="536" r:id="rId15"/>
    <p:sldId id="546" r:id="rId16"/>
    <p:sldId id="533" r:id="rId17"/>
    <p:sldId id="530" r:id="rId18"/>
    <p:sldId id="551" r:id="rId19"/>
    <p:sldId id="537" r:id="rId20"/>
    <p:sldId id="538" r:id="rId21"/>
    <p:sldId id="534" r:id="rId22"/>
    <p:sldId id="531" r:id="rId23"/>
    <p:sldId id="553" r:id="rId24"/>
    <p:sldId id="554" r:id="rId25"/>
    <p:sldId id="555" r:id="rId26"/>
    <p:sldId id="552" r:id="rId27"/>
    <p:sldId id="541" r:id="rId28"/>
    <p:sldId id="542" r:id="rId29"/>
    <p:sldId id="543" r:id="rId30"/>
    <p:sldId id="544" r:id="rId31"/>
    <p:sldId id="540" r:id="rId32"/>
    <p:sldId id="545" r:id="rId33"/>
    <p:sldId id="547" r:id="rId34"/>
    <p:sldId id="548" r:id="rId35"/>
    <p:sldId id="549" r:id="rId36"/>
    <p:sldId id="550" r:id="rId37"/>
    <p:sldId id="556" r:id="rId38"/>
    <p:sldId id="557" r:id="rId39"/>
    <p:sldId id="558" r:id="rId40"/>
    <p:sldId id="559" r:id="rId41"/>
    <p:sldId id="560" r:id="rId42"/>
    <p:sldId id="532" r:id="rId43"/>
    <p:sldId id="519" r:id="rId44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6600"/>
    <a:srgbClr val="030DCD"/>
    <a:srgbClr val="000000"/>
    <a:srgbClr val="0000CC"/>
    <a:srgbClr val="003300"/>
    <a:srgbClr val="99CC00"/>
    <a:srgbClr val="7FE41A"/>
    <a:srgbClr val="6AD565"/>
    <a:srgbClr val="9DE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6379" autoAdjust="0"/>
  </p:normalViewPr>
  <p:slideViewPr>
    <p:cSldViewPr snapToGrid="0" snapToObjects="1">
      <p:cViewPr varScale="1">
        <p:scale>
          <a:sx n="107" d="100"/>
          <a:sy n="107" d="100"/>
        </p:scale>
        <p:origin x="1572" y="96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viewProps" Target="viewProp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theme" Target="theme/theme1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presProps" Target="presProp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2023/1/10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/>
              <a:t>39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5231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2023/1/10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2023/1/10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2023/1/10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2023/1/10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2023/1/10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2023/1/10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asyx.cn/zh-cn/exmessage" TargetMode="External"/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easyx.cn/zh-cn/exmessage" TargetMode="External"/><Relationship Id="rId1" Type="http://schemas.openxmlformats.org/officeDocument/2006/relationships/slideLayout" Target="../slideLayouts/slideLayout3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36.jpeg"/><Relationship Id="rId7" Type="http://schemas.openxmlformats.org/officeDocument/2006/relationships/image" Target="../media/image4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9.jpeg"/><Relationship Id="rId5" Type="http://schemas.openxmlformats.org/officeDocument/2006/relationships/image" Target="../media/image38.jpeg"/><Relationship Id="rId4" Type="http://schemas.openxmlformats.org/officeDocument/2006/relationships/image" Target="../media/image37.jpe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5725" cy="466725"/>
          </a:xfrm>
        </p:spPr>
        <p:txBody>
          <a:bodyPr/>
          <a:lstStyle/>
          <a:p>
            <a:r>
              <a:rPr lang="en-US" altLang="zh-CN" sz="2400" dirty="0" err="1" smtClean="0">
                <a:solidFill>
                  <a:schemeClr val="tx1"/>
                </a:solidFill>
              </a:rPr>
              <a:t>Easyx</a:t>
            </a:r>
            <a:r>
              <a:rPr lang="en-US" altLang="zh-CN" sz="2400" dirty="0" smtClean="0">
                <a:solidFill>
                  <a:schemeClr val="tx1"/>
                </a:solidFill>
              </a:rPr>
              <a:t>-</a:t>
            </a:r>
            <a:r>
              <a:rPr lang="zh-CN" altLang="en-US" sz="2400" dirty="0" smtClean="0">
                <a:solidFill>
                  <a:schemeClr val="tx1"/>
                </a:solidFill>
              </a:rPr>
              <a:t>图形编程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0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简介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120264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 smtClean="0"/>
              <a:t>EasyX</a:t>
            </a:r>
            <a:r>
              <a:rPr lang="en-US" altLang="zh-CN" sz="2000" dirty="0" smtClean="0"/>
              <a:t> </a:t>
            </a:r>
            <a:r>
              <a:rPr lang="zh-CN" altLang="en-US" sz="2000" dirty="0"/>
              <a:t>是针对 </a:t>
            </a:r>
            <a:r>
              <a:rPr lang="en-US" altLang="zh-CN" sz="2000" dirty="0"/>
              <a:t>C/C++ </a:t>
            </a:r>
            <a:r>
              <a:rPr lang="zh-CN" altLang="en-US" sz="2000" dirty="0"/>
              <a:t>的图形库，可以帮助使用</a:t>
            </a:r>
            <a:r>
              <a:rPr lang="en-US" altLang="zh-CN" sz="2000" dirty="0"/>
              <a:t>C/C++</a:t>
            </a:r>
            <a:r>
              <a:rPr lang="zh-CN" altLang="en-US" sz="2000" dirty="0"/>
              <a:t>语言的</a:t>
            </a:r>
            <a:r>
              <a:rPr lang="zh-CN" altLang="en-US" sz="2000" dirty="0" smtClean="0"/>
              <a:t>程序员编写图形</a:t>
            </a:r>
            <a:r>
              <a:rPr lang="zh-CN" altLang="en-US" sz="2000" dirty="0"/>
              <a:t>和游戏编程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/>
              <a:t>EasyX</a:t>
            </a:r>
            <a:r>
              <a:rPr lang="zh-CN" altLang="en-US" sz="2000" dirty="0" smtClean="0"/>
              <a:t>基于</a:t>
            </a:r>
            <a:r>
              <a:rPr lang="en-US" altLang="zh-CN" sz="2000" dirty="0"/>
              <a:t>Windows</a:t>
            </a:r>
            <a:r>
              <a:rPr lang="zh-CN" altLang="en-US" sz="2000" dirty="0"/>
              <a:t>图形编程，将</a:t>
            </a:r>
            <a:r>
              <a:rPr lang="en-US" altLang="zh-CN" sz="2000" dirty="0"/>
              <a:t>Windows</a:t>
            </a:r>
            <a:r>
              <a:rPr lang="zh-CN" altLang="en-US" sz="2000" dirty="0"/>
              <a:t>下的复杂程序过程进行封装，仅给用户提供一个简单熟悉的接口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用户</a:t>
            </a:r>
            <a:r>
              <a:rPr lang="zh-CN" altLang="en-US" sz="2000" dirty="0"/>
              <a:t>对于图形库中函数的调用，最终都会由</a:t>
            </a:r>
            <a:r>
              <a:rPr lang="en-US" altLang="zh-CN" sz="2000" dirty="0"/>
              <a:t>Windows</a:t>
            </a:r>
            <a:r>
              <a:rPr lang="zh-CN" altLang="en-US" sz="2000" dirty="0"/>
              <a:t>底层的</a:t>
            </a:r>
            <a:r>
              <a:rPr lang="en-US" altLang="zh-CN" sz="2000" dirty="0"/>
              <a:t>API</a:t>
            </a:r>
            <a:r>
              <a:rPr lang="zh-CN" altLang="en-US" sz="2000" dirty="0"/>
              <a:t>实现。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519335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455993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访问网址：</a:t>
            </a:r>
            <a:r>
              <a:rPr lang="en-US" altLang="zh-CN" sz="2000" dirty="0" smtClean="0"/>
              <a:t>https</a:t>
            </a:r>
            <a:r>
              <a:rPr lang="en-US" altLang="zh-CN" sz="2000" dirty="0"/>
              <a:t>://easyx.cn</a:t>
            </a:r>
            <a:r>
              <a:rPr lang="en-US" altLang="zh-CN" sz="2000" dirty="0" smtClean="0"/>
              <a:t>/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7" y="1591056"/>
            <a:ext cx="6472555" cy="46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7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242377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如果使用</a:t>
            </a:r>
            <a:r>
              <a:rPr lang="en-US" altLang="zh-CN" sz="1800" dirty="0" smtClean="0"/>
              <a:t>VC++</a:t>
            </a:r>
            <a:r>
              <a:rPr lang="zh-CN" altLang="en-US" sz="1800" dirty="0" smtClean="0"/>
              <a:t>系列平台，可直接点击</a:t>
            </a:r>
            <a:r>
              <a:rPr lang="en-US" altLang="zh-CN" sz="1800" dirty="0" smtClean="0"/>
              <a:t>“</a:t>
            </a:r>
            <a:r>
              <a:rPr lang="zh-CN" altLang="en-US" sz="1800" dirty="0" smtClean="0"/>
              <a:t>下载</a:t>
            </a:r>
            <a:r>
              <a:rPr lang="en-US" altLang="zh-CN" sz="1800" dirty="0" err="1" smtClean="0"/>
              <a:t>EasyX</a:t>
            </a:r>
            <a:r>
              <a:rPr lang="en-US" altLang="zh-CN" sz="1800" dirty="0" smtClean="0"/>
              <a:t>”</a:t>
            </a:r>
            <a:r>
              <a:rPr lang="zh-CN" altLang="en-US" sz="1800" dirty="0" smtClean="0"/>
              <a:t>，下载自动安装版，如</a:t>
            </a:r>
            <a:r>
              <a:rPr lang="en-US" altLang="zh-CN" sz="1800" dirty="0" smtClean="0"/>
              <a:t>EasyX_20200902.exe</a:t>
            </a:r>
            <a:r>
              <a:rPr lang="zh-CN" altLang="en-US" sz="1800" dirty="0" smtClean="0"/>
              <a:t>，然后安装即可。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安装程序会自动检测你所使用的</a:t>
            </a:r>
            <a:r>
              <a:rPr lang="en-US" altLang="zh-CN" sz="1800" dirty="0" smtClean="0"/>
              <a:t>VC++</a:t>
            </a:r>
            <a:r>
              <a:rPr lang="zh-CN" altLang="en-US" sz="1800" dirty="0" smtClean="0"/>
              <a:t>版本，并安装。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" y="2441448"/>
            <a:ext cx="3657600" cy="319105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5" y="2377440"/>
            <a:ext cx="4149979" cy="319105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3026665" y="4512564"/>
            <a:ext cx="813816" cy="429768"/>
          </a:xfrm>
          <a:prstGeom prst="rect">
            <a:avLst/>
          </a:prstGeom>
          <a:noFill/>
          <a:ln w="28575" cap="flat" cmpd="sng" algn="ctr">
            <a:solidFill>
              <a:srgbClr val="030DCD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5793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安装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134600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如果使用</a:t>
            </a:r>
            <a:r>
              <a:rPr lang="en-US" altLang="zh-CN" sz="1800" dirty="0"/>
              <a:t>Dev-</a:t>
            </a:r>
            <a:r>
              <a:rPr lang="en-US" altLang="zh-CN" sz="1800" dirty="0" err="1"/>
              <a:t>Cpp</a:t>
            </a:r>
            <a:r>
              <a:rPr lang="zh-CN" altLang="en-US" sz="1800" dirty="0"/>
              <a:t>等其它平台，在菜单中点击</a:t>
            </a:r>
            <a:r>
              <a:rPr lang="en-US" altLang="zh-CN" sz="1800" dirty="0"/>
              <a:t>“</a:t>
            </a:r>
            <a:r>
              <a:rPr lang="zh-CN" altLang="en-US" sz="1800" dirty="0"/>
              <a:t>下载</a:t>
            </a:r>
            <a:r>
              <a:rPr lang="en-US" altLang="zh-CN" sz="1800" dirty="0"/>
              <a:t>”</a:t>
            </a:r>
            <a:r>
              <a:rPr lang="zh-CN" altLang="en-US" sz="1800" dirty="0"/>
              <a:t>，在界面中点击</a:t>
            </a:r>
            <a:r>
              <a:rPr lang="en-US" altLang="zh-CN" sz="1800" dirty="0"/>
              <a:t>“More”</a:t>
            </a:r>
            <a:r>
              <a:rPr lang="zh-CN" altLang="en-US" sz="1800" dirty="0"/>
              <a:t>，下载手动安装版压缩包，如</a:t>
            </a:r>
            <a:r>
              <a:rPr lang="en-US" altLang="zh-CN" sz="1800" dirty="0"/>
              <a:t>easyx4mingw_20220901.zip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根据压缩包中的</a:t>
            </a:r>
            <a:r>
              <a:rPr lang="en-US" altLang="zh-CN" sz="1800" dirty="0" smtClean="0"/>
              <a:t>readme.txt</a:t>
            </a:r>
            <a:r>
              <a:rPr lang="zh-CN" altLang="en-US" sz="1800" dirty="0" smtClean="0"/>
              <a:t>说明安装即可。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注：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Dev-</a:t>
            </a:r>
            <a:r>
              <a:rPr lang="en-US" altLang="zh-CN" sz="1800" dirty="0" err="1"/>
              <a:t>C</a:t>
            </a:r>
            <a:r>
              <a:rPr lang="en-US" altLang="zh-CN" sz="1800" dirty="0" err="1" smtClean="0"/>
              <a:t>pp</a:t>
            </a:r>
            <a:r>
              <a:rPr lang="zh-CN" altLang="en-US" sz="1800" dirty="0" smtClean="0"/>
              <a:t>根据</a:t>
            </a:r>
            <a:r>
              <a:rPr lang="en-US" altLang="zh-CN" sz="1800" dirty="0" smtClean="0"/>
              <a:t>readme.txt</a:t>
            </a:r>
            <a:r>
              <a:rPr lang="zh-CN" altLang="en-US" sz="1800" dirty="0" smtClean="0"/>
              <a:t>说明安装有时不成功，可参阅下页安装过程。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olidFill>
                <a:srgbClr val="030DCD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907" y="2569464"/>
            <a:ext cx="4012818" cy="2862743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 bwMode="auto">
          <a:xfrm>
            <a:off x="2715768" y="3557016"/>
            <a:ext cx="283464" cy="254825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215" y="2569464"/>
            <a:ext cx="4073169" cy="2862743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 bwMode="auto">
          <a:xfrm>
            <a:off x="5967984" y="4971288"/>
            <a:ext cx="359664" cy="254825"/>
          </a:xfrm>
          <a:prstGeom prst="rect">
            <a:avLst/>
          </a:prstGeom>
          <a:noFill/>
          <a:ln w="28575" cap="flat" cmpd="sng" algn="ctr">
            <a:solidFill>
              <a:srgbClr val="030DCD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30DCD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907" y="2569464"/>
            <a:ext cx="8269477" cy="3722970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 bwMode="auto">
          <a:xfrm>
            <a:off x="749808" y="4517136"/>
            <a:ext cx="5218176" cy="365760"/>
          </a:xfrm>
          <a:prstGeom prst="rect">
            <a:avLst/>
          </a:prstGeom>
          <a:noFill/>
          <a:ln w="28575" cap="flat" cmpd="sng" algn="ctr">
            <a:solidFill>
              <a:srgbClr val="030DCD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noFill/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818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安装方法</a:t>
            </a:r>
            <a:r>
              <a:rPr lang="en-US" altLang="zh-CN" dirty="0" smtClean="0"/>
              <a:t>—Dev-</a:t>
            </a:r>
            <a:r>
              <a:rPr lang="en-US" altLang="zh-CN" dirty="0" err="1" smtClean="0"/>
              <a:t>Cpp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一</a:t>
            </a:r>
            <a:r>
              <a:rPr lang="zh-CN" altLang="en-US" sz="2000" dirty="0"/>
              <a:t>、安装库文件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1</a:t>
            </a:r>
            <a:r>
              <a:rPr lang="zh-CN" altLang="en-US" sz="1800" dirty="0"/>
              <a:t>、下载 </a:t>
            </a:r>
            <a:r>
              <a:rPr lang="en-US" altLang="zh-CN" sz="1800" dirty="0"/>
              <a:t>easyx4mingw_20220901.zip</a:t>
            </a:r>
            <a:r>
              <a:rPr lang="zh-CN" altLang="en-US" sz="1800" dirty="0"/>
              <a:t>，解压缩。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2</a:t>
            </a:r>
            <a:r>
              <a:rPr lang="zh-CN" altLang="en-US" sz="1800" dirty="0"/>
              <a:t>、将 </a:t>
            </a:r>
            <a:r>
              <a:rPr lang="zh-CN" altLang="en-US" sz="1800" dirty="0" smtClean="0"/>
              <a:t>解压之后的</a:t>
            </a:r>
            <a:r>
              <a:rPr lang="en-US" altLang="zh-CN" sz="1800" dirty="0" smtClean="0">
                <a:solidFill>
                  <a:srgbClr val="030DCD"/>
                </a:solidFill>
              </a:rPr>
              <a:t>include </a:t>
            </a:r>
            <a:r>
              <a:rPr lang="zh-CN" altLang="en-US" sz="1800" dirty="0">
                <a:solidFill>
                  <a:srgbClr val="030DCD"/>
                </a:solidFill>
              </a:rPr>
              <a:t>文件夹下的 </a:t>
            </a:r>
            <a:r>
              <a:rPr lang="en-US" altLang="zh-CN" sz="1800" dirty="0" err="1">
                <a:solidFill>
                  <a:srgbClr val="030DCD"/>
                </a:solidFill>
              </a:rPr>
              <a:t>easyx.h</a:t>
            </a:r>
            <a:r>
              <a:rPr lang="en-US" altLang="zh-CN" sz="1800" dirty="0">
                <a:solidFill>
                  <a:srgbClr val="030DCD"/>
                </a:solidFill>
              </a:rPr>
              <a:t> </a:t>
            </a:r>
            <a:r>
              <a:rPr lang="zh-CN" altLang="en-US" sz="1800" dirty="0">
                <a:solidFill>
                  <a:srgbClr val="030DCD"/>
                </a:solidFill>
              </a:rPr>
              <a:t>和 </a:t>
            </a:r>
            <a:r>
              <a:rPr lang="en-US" altLang="zh-CN" sz="1800" dirty="0" err="1">
                <a:solidFill>
                  <a:srgbClr val="030DCD"/>
                </a:solidFill>
              </a:rPr>
              <a:t>graphics.h</a:t>
            </a:r>
            <a:r>
              <a:rPr lang="en-US" altLang="zh-CN" sz="1800" dirty="0">
                <a:solidFill>
                  <a:srgbClr val="030DCD"/>
                </a:solidFill>
              </a:rPr>
              <a:t> </a:t>
            </a:r>
            <a:r>
              <a:rPr lang="zh-CN" altLang="en-US" sz="1800" dirty="0"/>
              <a:t>拷贝到 </a:t>
            </a:r>
            <a:r>
              <a:rPr lang="zh-CN" altLang="en-US" sz="1800" dirty="0" smtClean="0"/>
              <a:t>你的</a:t>
            </a:r>
            <a:r>
              <a:rPr lang="en-US" altLang="zh-CN" sz="1800" dirty="0" smtClean="0"/>
              <a:t>Dev-</a:t>
            </a:r>
            <a:r>
              <a:rPr lang="en-US" altLang="zh-CN" sz="1800" dirty="0" err="1" smtClean="0"/>
              <a:t>Cpp</a:t>
            </a:r>
            <a:r>
              <a:rPr lang="zh-CN" altLang="en-US" sz="1800" dirty="0" smtClean="0"/>
              <a:t>安装目录，如</a:t>
            </a:r>
            <a:r>
              <a:rPr lang="en-US" altLang="zh-CN" sz="1800" dirty="0" smtClean="0"/>
              <a:t>D</a:t>
            </a:r>
            <a:r>
              <a:rPr lang="en-US" altLang="zh-CN" sz="1800" dirty="0"/>
              <a:t>:\Program Files (x86)\</a:t>
            </a:r>
            <a:r>
              <a:rPr lang="en-US" altLang="zh-CN" sz="1800" dirty="0" smtClean="0"/>
              <a:t>Dev-</a:t>
            </a:r>
            <a:r>
              <a:rPr lang="en-US" altLang="zh-CN" sz="1800" dirty="0" err="1" smtClean="0"/>
              <a:t>Cpp</a:t>
            </a:r>
            <a:r>
              <a:rPr lang="en-US" altLang="zh-CN" sz="1800" dirty="0" smtClean="0"/>
              <a:t>\MinGW64\x86_64-w64-mingw32 \</a:t>
            </a:r>
            <a:r>
              <a:rPr lang="en-US" altLang="zh-CN" sz="1800" dirty="0" smtClean="0">
                <a:solidFill>
                  <a:srgbClr val="030DCD"/>
                </a:solidFill>
              </a:rPr>
              <a:t>include</a:t>
            </a:r>
            <a:r>
              <a:rPr lang="en-US" altLang="zh-CN" sz="1800" dirty="0"/>
              <a:t>\ </a:t>
            </a:r>
            <a:r>
              <a:rPr lang="zh-CN" altLang="en-US" sz="1800" dirty="0"/>
              <a:t>文件夹里。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3</a:t>
            </a:r>
            <a:r>
              <a:rPr lang="zh-CN" altLang="en-US" sz="1800" dirty="0"/>
              <a:t>、</a:t>
            </a:r>
            <a:r>
              <a:rPr lang="zh-CN" altLang="en-US" sz="1800" dirty="0" smtClean="0"/>
              <a:t>将解压后的 </a:t>
            </a:r>
            <a:r>
              <a:rPr lang="en-US" altLang="zh-CN" sz="1800" dirty="0">
                <a:solidFill>
                  <a:srgbClr val="7030A0"/>
                </a:solidFill>
              </a:rPr>
              <a:t>lib64\</a:t>
            </a:r>
            <a:r>
              <a:rPr lang="en-US" altLang="zh-CN" sz="1800" dirty="0" err="1">
                <a:solidFill>
                  <a:srgbClr val="7030A0"/>
                </a:solidFill>
              </a:rPr>
              <a:t>libeasyx.a</a:t>
            </a:r>
            <a:r>
              <a:rPr lang="en-US" altLang="zh-CN" sz="1800" dirty="0">
                <a:solidFill>
                  <a:srgbClr val="7030A0"/>
                </a:solidFill>
              </a:rPr>
              <a:t> </a:t>
            </a:r>
            <a:r>
              <a:rPr lang="zh-CN" altLang="en-US" sz="1800" dirty="0"/>
              <a:t>拷贝到 </a:t>
            </a:r>
            <a:r>
              <a:rPr lang="en-US" altLang="zh-CN" sz="1800" dirty="0"/>
              <a:t>D:\Program Files (x86)\Dev-</a:t>
            </a:r>
            <a:r>
              <a:rPr lang="en-US" altLang="zh-CN" sz="1800" dirty="0" err="1"/>
              <a:t>Cpp</a:t>
            </a:r>
            <a:r>
              <a:rPr lang="en-US" altLang="zh-CN" sz="1800" dirty="0"/>
              <a:t>\MinGW64\x86_64-w64-mingw32 </a:t>
            </a:r>
            <a:r>
              <a:rPr lang="en-US" altLang="zh-CN" sz="1800" dirty="0" smtClean="0"/>
              <a:t>\</a:t>
            </a:r>
            <a:r>
              <a:rPr lang="en-US" altLang="zh-CN" sz="1800" dirty="0">
                <a:solidFill>
                  <a:srgbClr val="7030A0"/>
                </a:solidFill>
              </a:rPr>
              <a:t>lib</a:t>
            </a:r>
            <a:r>
              <a:rPr lang="en-US" altLang="zh-CN" sz="1800" dirty="0"/>
              <a:t>\ </a:t>
            </a:r>
            <a:r>
              <a:rPr lang="zh-CN" altLang="en-US" sz="1800" dirty="0"/>
              <a:t>文件夹里。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4</a:t>
            </a:r>
            <a:r>
              <a:rPr lang="zh-CN" altLang="en-US" sz="1800" dirty="0"/>
              <a:t>、将 </a:t>
            </a:r>
            <a:r>
              <a:rPr lang="zh-CN" altLang="en-US" sz="1800" dirty="0" smtClean="0"/>
              <a:t>解压后的</a:t>
            </a:r>
            <a:r>
              <a:rPr lang="en-US" altLang="zh-CN" sz="1800" dirty="0" smtClean="0">
                <a:solidFill>
                  <a:srgbClr val="006600"/>
                </a:solidFill>
              </a:rPr>
              <a:t>lib32\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libeasyx.a</a:t>
            </a:r>
            <a:r>
              <a:rPr lang="en-US" altLang="zh-CN" sz="1800" dirty="0" smtClean="0"/>
              <a:t> </a:t>
            </a:r>
            <a:r>
              <a:rPr lang="zh-CN" altLang="en-US" sz="1800" dirty="0"/>
              <a:t>拷贝到 </a:t>
            </a:r>
            <a:r>
              <a:rPr lang="en-US" altLang="zh-CN" sz="1800" dirty="0"/>
              <a:t>D:\Program Files (x86)\Dev-</a:t>
            </a:r>
            <a:r>
              <a:rPr lang="en-US" altLang="zh-CN" sz="1800" dirty="0" err="1"/>
              <a:t>Cpp</a:t>
            </a:r>
            <a:r>
              <a:rPr lang="en-US" altLang="zh-CN" sz="1800" dirty="0"/>
              <a:t>\MinGW64\x86_64-w64-mingw32 </a:t>
            </a:r>
            <a:r>
              <a:rPr lang="en-US" altLang="zh-CN" sz="1800" dirty="0" smtClean="0"/>
              <a:t>\</a:t>
            </a:r>
            <a:r>
              <a:rPr lang="en-US" altLang="zh-CN" sz="1800" dirty="0">
                <a:solidFill>
                  <a:srgbClr val="006600"/>
                </a:solidFill>
              </a:rPr>
              <a:t>lib32</a:t>
            </a:r>
            <a:r>
              <a:rPr lang="en-US" altLang="zh-CN" sz="1800" dirty="0"/>
              <a:t>\ </a:t>
            </a:r>
            <a:r>
              <a:rPr lang="zh-CN" altLang="en-US" sz="1800" dirty="0"/>
              <a:t>文件夹里。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二</a:t>
            </a:r>
            <a:r>
              <a:rPr lang="zh-CN" altLang="en-US" sz="2000" dirty="0"/>
              <a:t>、增加编译时的链接选项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链接选项增加：</a:t>
            </a:r>
            <a:r>
              <a:rPr lang="en-US" altLang="zh-CN" sz="1800" dirty="0"/>
              <a:t>-</a:t>
            </a:r>
            <a:r>
              <a:rPr lang="en-US" altLang="zh-CN" sz="1800" dirty="0" err="1"/>
              <a:t>leasyx</a:t>
            </a:r>
            <a:r>
              <a:rPr lang="zh-CN" altLang="en-US" sz="1800" dirty="0"/>
              <a:t>，这样可以在编译的时候链接 </a:t>
            </a:r>
            <a:r>
              <a:rPr lang="en-US" altLang="zh-CN" sz="1800" dirty="0" err="1"/>
              <a:t>libeasyx.a</a:t>
            </a:r>
            <a:r>
              <a:rPr lang="en-US" altLang="zh-CN" sz="1800" dirty="0"/>
              <a:t> </a:t>
            </a:r>
            <a:r>
              <a:rPr lang="zh-CN" altLang="en-US" sz="1800" dirty="0"/>
              <a:t>库文件。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/>
              <a:t>方法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Dev-</a:t>
            </a:r>
            <a:r>
              <a:rPr lang="en-US" altLang="zh-CN" sz="1800" dirty="0" err="1" smtClean="0"/>
              <a:t>Cpp</a:t>
            </a:r>
            <a:r>
              <a:rPr lang="zh-CN" altLang="en-US" sz="1800" dirty="0"/>
              <a:t>：工具</a:t>
            </a:r>
            <a:r>
              <a:rPr lang="en-US" altLang="zh-CN" sz="1800" dirty="0"/>
              <a:t>--&gt;</a:t>
            </a:r>
            <a:r>
              <a:rPr lang="zh-CN" altLang="en-US" sz="1800" dirty="0"/>
              <a:t>编译选项</a:t>
            </a:r>
            <a:r>
              <a:rPr lang="en-US" altLang="zh-CN" sz="1800" dirty="0"/>
              <a:t>--&gt;</a:t>
            </a:r>
            <a:r>
              <a:rPr lang="zh-CN" altLang="en-US" sz="1800" dirty="0"/>
              <a:t>在连接器命令行加入以下命令</a:t>
            </a:r>
            <a:r>
              <a:rPr lang="en-US" altLang="zh-CN" sz="1800" dirty="0"/>
              <a:t>:</a:t>
            </a:r>
            <a:r>
              <a:rPr lang="zh-CN" altLang="en-US" sz="1800" dirty="0"/>
              <a:t>添加 </a:t>
            </a:r>
            <a:r>
              <a:rPr lang="en-US" altLang="zh-CN" sz="1800" dirty="0"/>
              <a:t>-</a:t>
            </a:r>
            <a:r>
              <a:rPr lang="en-US" altLang="zh-CN" sz="1800" dirty="0" err="1"/>
              <a:t>leasyx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</a:t>
            </a:r>
            <a:r>
              <a:rPr lang="zh-CN" altLang="en-US" sz="2000" dirty="0"/>
              <a:t>：</a:t>
            </a:r>
            <a:r>
              <a:rPr lang="zh-CN" altLang="en-US" sz="2000" dirty="0" smtClean="0"/>
              <a:t>对于</a:t>
            </a:r>
            <a:r>
              <a:rPr lang="en-US" altLang="zh-CN" sz="2000" dirty="0" err="1" smtClean="0"/>
              <a:t>EasyX</a:t>
            </a:r>
            <a:r>
              <a:rPr lang="zh-CN" altLang="en-US" sz="2000" dirty="0" smtClean="0"/>
              <a:t>的 </a:t>
            </a:r>
            <a:r>
              <a:rPr lang="en-US" altLang="zh-CN" sz="2000" dirty="0"/>
              <a:t>20220610 </a:t>
            </a:r>
            <a:r>
              <a:rPr lang="zh-CN" altLang="en-US" sz="2000" dirty="0"/>
              <a:t>版本，需要在链接选项增加 </a:t>
            </a:r>
            <a:r>
              <a:rPr lang="en-US" altLang="zh-CN" sz="2000" dirty="0"/>
              <a:t>-</a:t>
            </a:r>
            <a:r>
              <a:rPr lang="en-US" altLang="zh-CN" sz="2000" dirty="0" err="1"/>
              <a:t>leasyx</a:t>
            </a:r>
            <a:r>
              <a:rPr lang="en-US" altLang="zh-CN" sz="2000" dirty="0"/>
              <a:t> -lgdi32 -lole32</a:t>
            </a:r>
            <a:r>
              <a:rPr lang="zh-CN" altLang="en-US" sz="2000" dirty="0"/>
              <a:t>。</a:t>
            </a:r>
            <a:endParaRPr lang="en-US" altLang="zh-CN" sz="2000" dirty="0">
              <a:solidFill>
                <a:srgbClr val="030DCD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0193" y="862012"/>
            <a:ext cx="4629150" cy="513397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4818888" y="4050792"/>
            <a:ext cx="475488" cy="210312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圆角矩形标注 9"/>
          <p:cNvSpPr/>
          <p:nvPr/>
        </p:nvSpPr>
        <p:spPr bwMode="auto">
          <a:xfrm>
            <a:off x="3890200" y="2510028"/>
            <a:ext cx="4509135" cy="758952"/>
          </a:xfrm>
          <a:prstGeom prst="wedgeRoundRectCallout">
            <a:avLst>
              <a:gd name="adj1" fmla="val -20833"/>
              <a:gd name="adj2" fmla="val 48707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详情参见：</a:t>
            </a:r>
            <a:endParaRPr lang="en-US" altLang="zh-CN" sz="1600" dirty="0" smtClean="0">
              <a:solidFill>
                <a:srgbClr val="080808"/>
              </a:solidFill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solidFill>
                  <a:srgbClr val="080808"/>
                </a:solidFill>
                <a:ea typeface="宋体" panose="02010600030101010101" pitchFamily="2" charset="-122"/>
              </a:rPr>
              <a:t>https</a:t>
            </a:r>
            <a:r>
              <a:rPr lang="en-US" altLang="zh-CN" sz="1600" dirty="0">
                <a:solidFill>
                  <a:srgbClr val="080808"/>
                </a:solidFill>
                <a:ea typeface="宋体" panose="02010600030101010101" pitchFamily="2" charset="-122"/>
              </a:rPr>
              <a:t>://codebus.cn/bestans/easyx-for-mingw</a:t>
            </a:r>
            <a:endParaRPr kumimoji="0" lang="zh-CN" altLang="en-US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8298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EasyX</a:t>
            </a:r>
            <a:r>
              <a:rPr lang="zh-CN" altLang="en-US" dirty="0"/>
              <a:t>的颜色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err="1" smtClean="0"/>
              <a:t>EasyX</a:t>
            </a:r>
            <a:r>
              <a:rPr lang="zh-CN" altLang="en-US" sz="2000" dirty="0"/>
              <a:t>中的</a:t>
            </a:r>
            <a:r>
              <a:rPr lang="zh-CN" altLang="en-US" sz="2000" dirty="0" smtClean="0"/>
              <a:t>颜色用</a:t>
            </a:r>
            <a:r>
              <a:rPr lang="zh-CN" altLang="en-US" sz="2000" dirty="0"/>
              <a:t>三原色 </a:t>
            </a:r>
            <a:r>
              <a:rPr lang="zh-CN" altLang="en-US" sz="2000" dirty="0">
                <a:solidFill>
                  <a:srgbClr val="C00000"/>
                </a:solidFill>
              </a:rPr>
              <a:t>红绿蓝</a:t>
            </a:r>
            <a:r>
              <a:rPr lang="zh-CN" altLang="en-US" sz="2000" dirty="0"/>
              <a:t> </a:t>
            </a:r>
            <a:r>
              <a:rPr lang="zh-CN" altLang="en-US" sz="2000" dirty="0" smtClean="0"/>
              <a:t>表示。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/>
              <a:t>RGB(</a:t>
            </a:r>
            <a:r>
              <a:rPr lang="zh-CN" altLang="en-US" sz="2000" dirty="0"/>
              <a:t>红色部分，绿色部分，蓝色部分</a:t>
            </a:r>
            <a:r>
              <a:rPr lang="en-US" altLang="zh-CN" sz="2000" dirty="0"/>
              <a:t>);  </a:t>
            </a:r>
            <a:r>
              <a:rPr lang="en-US" altLang="zh-CN" sz="2000" dirty="0" smtClean="0"/>
              <a:t>(</a:t>
            </a:r>
            <a:r>
              <a:rPr lang="zh-CN" altLang="en-US" sz="2000" dirty="0"/>
              <a:t>每个颜色的值都是从</a:t>
            </a:r>
            <a:r>
              <a:rPr lang="en-US" altLang="zh-CN" sz="2000" dirty="0"/>
              <a:t>0 - 255</a:t>
            </a:r>
            <a:r>
              <a:rPr lang="en-US" altLang="zh-CN" sz="2000" dirty="0" smtClean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713" y="2042160"/>
            <a:ext cx="31051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8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EasyX</a:t>
            </a:r>
            <a:r>
              <a:rPr lang="zh-CN" altLang="en-US" dirty="0" smtClean="0"/>
              <a:t>的坐标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C00000"/>
                </a:solidFill>
              </a:rPr>
              <a:t>坐标原点</a:t>
            </a:r>
            <a:r>
              <a:rPr lang="zh-CN" altLang="en-US" dirty="0"/>
              <a:t>默认为窗口的</a:t>
            </a:r>
            <a:r>
              <a:rPr lang="zh-CN" altLang="en-US" dirty="0">
                <a:solidFill>
                  <a:srgbClr val="7030A0"/>
                </a:solidFill>
              </a:rPr>
              <a:t>左上角</a:t>
            </a:r>
            <a:r>
              <a:rPr lang="zh-CN" altLang="en-US" dirty="0"/>
              <a:t>，</a:t>
            </a:r>
            <a:r>
              <a:rPr lang="en-US" altLang="zh-CN" dirty="0"/>
              <a:t>X</a:t>
            </a:r>
            <a:r>
              <a:rPr lang="zh-CN" altLang="en-US" dirty="0"/>
              <a:t>轴向右为正，</a:t>
            </a:r>
            <a:r>
              <a:rPr lang="en-US" altLang="zh-CN" dirty="0"/>
              <a:t>Y</a:t>
            </a:r>
            <a:r>
              <a:rPr lang="zh-CN" altLang="en-US" dirty="0"/>
              <a:t>轴向下为正，度量单位为像素点。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695" y="2279904"/>
            <a:ext cx="436245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436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>
                <a:solidFill>
                  <a:srgbClr val="7030A0"/>
                </a:solidFill>
              </a:rPr>
              <a:t>绘图窗口函数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/>
              <a:t>1. </a:t>
            </a:r>
            <a:r>
              <a:rPr lang="zh-CN" altLang="en-US" sz="2000" dirty="0"/>
              <a:t>创建或初始化绘图窗口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函数原型：</a:t>
            </a:r>
            <a:r>
              <a:rPr lang="en-US" altLang="zh-CN" sz="1800" dirty="0" smtClean="0"/>
              <a:t>HWND  </a:t>
            </a:r>
            <a:r>
              <a:rPr lang="en-US" altLang="zh-CN" sz="1800" dirty="0" err="1"/>
              <a:t>initgraph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width,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height,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flag);</a:t>
            </a:r>
            <a:r>
              <a:rPr lang="en-US" altLang="zh-CN" sz="1800" dirty="0"/>
              <a:t> 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参数</a:t>
            </a:r>
            <a:r>
              <a:rPr lang="en-US" altLang="zh-CN" sz="1800" dirty="0" smtClean="0"/>
              <a:t> </a:t>
            </a:r>
          </a:p>
          <a:p>
            <a:pPr marL="1200150" lvl="2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 </a:t>
            </a:r>
            <a:r>
              <a:rPr lang="en-US" altLang="zh-CN" sz="1600" dirty="0"/>
              <a:t>width </a:t>
            </a:r>
            <a:r>
              <a:rPr lang="zh-CN" altLang="en-US" sz="1600" dirty="0"/>
              <a:t>即窗口的</a:t>
            </a:r>
            <a:r>
              <a:rPr lang="zh-CN" altLang="en-US" sz="1600" dirty="0" smtClean="0"/>
              <a:t>宽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600" dirty="0"/>
              <a:t> </a:t>
            </a:r>
            <a:r>
              <a:rPr lang="en-US" altLang="zh-CN" sz="1600" dirty="0"/>
              <a:t>height </a:t>
            </a:r>
            <a:r>
              <a:rPr lang="zh-CN" altLang="en-US" sz="1600" dirty="0"/>
              <a:t>即窗口的</a:t>
            </a:r>
            <a:r>
              <a:rPr lang="zh-CN" altLang="en-US" sz="1600" dirty="0" smtClean="0"/>
              <a:t>高</a:t>
            </a:r>
            <a:endParaRPr lang="en-US" altLang="zh-CN" sz="1600" dirty="0" smtClean="0"/>
          </a:p>
          <a:p>
            <a:pPr marL="1200150" lvl="2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600" dirty="0" smtClean="0"/>
              <a:t>flag </a:t>
            </a:r>
            <a:r>
              <a:rPr lang="zh-CN" altLang="en-US" sz="1600" dirty="0"/>
              <a:t>为窗口的</a:t>
            </a:r>
            <a:r>
              <a:rPr lang="zh-CN" altLang="en-US" sz="1600" dirty="0" smtClean="0"/>
              <a:t>样式，默认</a:t>
            </a:r>
            <a:r>
              <a:rPr lang="zh-CN" altLang="en-US" sz="1600" dirty="0"/>
              <a:t>为</a:t>
            </a:r>
            <a:r>
              <a:rPr lang="en-US" altLang="zh-CN" sz="1600" dirty="0"/>
              <a:t>NULL  </a:t>
            </a:r>
            <a:endParaRPr lang="en-US" altLang="zh-CN" sz="1600" dirty="0" smtClean="0"/>
          </a:p>
          <a:p>
            <a:pPr marL="1543050" lvl="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400" dirty="0" smtClean="0"/>
              <a:t>用来</a:t>
            </a:r>
            <a:r>
              <a:rPr lang="zh-CN" altLang="en-US" sz="1400" dirty="0"/>
              <a:t>设置</a:t>
            </a:r>
            <a:r>
              <a:rPr lang="zh-CN" altLang="en-US" sz="1400" dirty="0">
                <a:solidFill>
                  <a:srgbClr val="030DCD"/>
                </a:solidFill>
              </a:rPr>
              <a:t>控制台</a:t>
            </a:r>
            <a:r>
              <a:rPr lang="zh-CN" altLang="en-US" sz="1400" dirty="0"/>
              <a:t>和</a:t>
            </a:r>
            <a:r>
              <a:rPr lang="zh-CN" altLang="en-US" sz="1400" dirty="0">
                <a:solidFill>
                  <a:srgbClr val="030DCD"/>
                </a:solidFill>
              </a:rPr>
              <a:t>绘图窗口</a:t>
            </a:r>
            <a:r>
              <a:rPr lang="zh-CN" altLang="en-US" sz="1400" dirty="0"/>
              <a:t>的最小化和关闭</a:t>
            </a:r>
            <a:r>
              <a:rPr lang="zh-CN" altLang="en-US" sz="1400" dirty="0" smtClean="0"/>
              <a:t>按钮</a:t>
            </a:r>
            <a:endParaRPr lang="en-US" altLang="zh-CN" sz="1400" dirty="0" smtClean="0"/>
          </a:p>
          <a:p>
            <a:pPr marL="1543050" lvl="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EW_SHOWCONSOLE       </a:t>
            </a:r>
            <a:r>
              <a:rPr lang="en-US" altLang="zh-CN" sz="1400" dirty="0"/>
              <a:t>//</a:t>
            </a:r>
            <a:r>
              <a:rPr lang="zh-CN" altLang="en-US" sz="1400" dirty="0" smtClean="0"/>
              <a:t>显示控制台窗口（即平时显示运行结果的窗口）</a:t>
            </a:r>
            <a:endParaRPr lang="en-US" altLang="zh-CN" sz="1400" dirty="0" smtClean="0"/>
          </a:p>
          <a:p>
            <a:pPr marL="1543050" lvl="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EW_NOCLOSE                  //</a:t>
            </a:r>
            <a:r>
              <a:rPr lang="zh-CN" altLang="en-US" sz="1400" dirty="0" smtClean="0">
                <a:solidFill>
                  <a:srgbClr val="7030A0"/>
                </a:solidFill>
              </a:rPr>
              <a:t>绘图窗口中</a:t>
            </a:r>
            <a:r>
              <a:rPr lang="zh-CN" altLang="en-US" sz="1400" dirty="0" smtClean="0"/>
              <a:t>禁用关闭</a:t>
            </a:r>
            <a:r>
              <a:rPr lang="zh-CN" altLang="en-US" sz="1400" dirty="0"/>
              <a:t>按钮 </a:t>
            </a:r>
            <a:endParaRPr lang="en-US" altLang="zh-CN" sz="1400" dirty="0" smtClean="0"/>
          </a:p>
          <a:p>
            <a:pPr marL="1543050" lvl="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EW_NOMINIMIZE            //</a:t>
            </a:r>
            <a:r>
              <a:rPr lang="zh-CN" altLang="en-US" sz="1400" dirty="0" smtClean="0">
                <a:solidFill>
                  <a:srgbClr val="7030A0"/>
                </a:solidFill>
              </a:rPr>
              <a:t>绘图窗口中</a:t>
            </a:r>
            <a:r>
              <a:rPr lang="zh-CN" altLang="en-US" sz="1400" dirty="0" smtClean="0"/>
              <a:t>禁用最小</a:t>
            </a:r>
            <a:r>
              <a:rPr lang="zh-CN" altLang="en-US" sz="1400" dirty="0"/>
              <a:t>化按钮  </a:t>
            </a:r>
            <a:endParaRPr lang="en-US" altLang="zh-CN" sz="1400" dirty="0" smtClean="0"/>
          </a:p>
          <a:p>
            <a:pPr marL="1543050" lvl="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EW_DBLCLKS                  //</a:t>
            </a:r>
            <a:r>
              <a:rPr lang="zh-CN" altLang="en-US" sz="1400" dirty="0">
                <a:solidFill>
                  <a:srgbClr val="7030A0"/>
                </a:solidFill>
              </a:rPr>
              <a:t>绘图窗口中</a:t>
            </a:r>
            <a:r>
              <a:rPr lang="zh-CN" altLang="en-US" sz="1400" dirty="0" smtClean="0"/>
              <a:t>支持鼠标双击事件</a:t>
            </a:r>
            <a:endParaRPr lang="en-US" altLang="zh-CN" sz="14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返回值：绘图窗口窗口句柄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</a:t>
            </a:r>
            <a:endParaRPr lang="en-US" altLang="zh-CN" sz="2000" dirty="0" smtClean="0"/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函数</a:t>
            </a:r>
            <a:r>
              <a:rPr lang="en-US" altLang="zh-CN" sz="1800" dirty="0" err="1">
                <a:solidFill>
                  <a:srgbClr val="080808"/>
                </a:solidFill>
              </a:rPr>
              <a:t>initgraph</a:t>
            </a:r>
            <a:r>
              <a:rPr lang="zh-CN" altLang="en-US" sz="1800" dirty="0">
                <a:solidFill>
                  <a:srgbClr val="080808"/>
                </a:solidFill>
              </a:rPr>
              <a:t>返回所创建的绘图窗口</a:t>
            </a:r>
            <a:r>
              <a:rPr lang="zh-CN" altLang="en-US" sz="1800" dirty="0" smtClean="0">
                <a:solidFill>
                  <a:srgbClr val="080808"/>
                </a:solidFill>
              </a:rPr>
              <a:t>句柄</a:t>
            </a:r>
            <a:r>
              <a:rPr lang="en-US" altLang="zh-CN" sz="1800" dirty="0" smtClean="0">
                <a:solidFill>
                  <a:srgbClr val="080808"/>
                </a:solidFill>
              </a:rPr>
              <a:t>;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914400" lvl="1" indent="-28575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rgbClr val="080808"/>
                </a:solidFill>
              </a:rPr>
              <a:t>利用该句柄</a:t>
            </a:r>
            <a:r>
              <a:rPr lang="zh-CN" altLang="en-US" sz="1800" dirty="0" smtClean="0">
                <a:solidFill>
                  <a:srgbClr val="080808"/>
                </a:solidFill>
              </a:rPr>
              <a:t>可设置绘图窗口的属性，如标题，弹出对话窗等。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74726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>
                <a:solidFill>
                  <a:srgbClr val="7030A0"/>
                </a:solidFill>
              </a:rPr>
              <a:t>绘图窗口函数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2. </a:t>
            </a:r>
            <a:r>
              <a:rPr lang="zh-CN" altLang="en-US" sz="2000" dirty="0" smtClean="0"/>
              <a:t>清</a:t>
            </a:r>
            <a:r>
              <a:rPr lang="zh-CN" altLang="en-US" sz="2000" dirty="0"/>
              <a:t>空绘图</a:t>
            </a:r>
            <a:r>
              <a:rPr lang="zh-CN" altLang="en-US" sz="2000" dirty="0" smtClean="0"/>
              <a:t>设备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cleardevice</a:t>
            </a:r>
            <a:r>
              <a:rPr lang="en-US" altLang="zh-CN" sz="1800" dirty="0" smtClean="0"/>
              <a:t>();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olidFill>
                  <a:srgbClr val="080808"/>
                </a:solidFill>
              </a:rPr>
              <a:t>使用：设置绘图窗口的背景色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利用函数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setbkcolor</a:t>
            </a:r>
            <a:r>
              <a:rPr lang="en-US" altLang="zh-CN" sz="1800" dirty="0" smtClean="0">
                <a:solidFill>
                  <a:srgbClr val="080808"/>
                </a:solidFill>
              </a:rPr>
              <a:t>(GREEN)</a:t>
            </a:r>
            <a:r>
              <a:rPr lang="zh-CN" altLang="en-US" sz="1800" dirty="0" smtClean="0">
                <a:solidFill>
                  <a:srgbClr val="080808"/>
                </a:solidFill>
              </a:rPr>
              <a:t>设置绘图窗口的背景色（例如绿色）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dirty="0" smtClean="0">
                <a:solidFill>
                  <a:srgbClr val="080808"/>
                </a:solidFill>
              </a:rPr>
              <a:t>函数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cleardevice</a:t>
            </a:r>
            <a:r>
              <a:rPr lang="en-US" altLang="zh-CN" sz="1800" dirty="0" smtClean="0">
                <a:solidFill>
                  <a:srgbClr val="080808"/>
                </a:solidFill>
              </a:rPr>
              <a:t>()</a:t>
            </a:r>
            <a:r>
              <a:rPr lang="zh-CN" altLang="en-US" sz="1800" dirty="0" smtClean="0"/>
              <a:t>使用设定的背景</a:t>
            </a:r>
            <a:r>
              <a:rPr lang="zh-CN" altLang="en-US" sz="1800" dirty="0"/>
              <a:t>颜色清空绘图</a:t>
            </a:r>
            <a:r>
              <a:rPr lang="zh-CN" altLang="en-US" sz="1800" dirty="0" smtClean="0"/>
              <a:t>窗口（这里为绿色）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3. </a:t>
            </a:r>
            <a:r>
              <a:rPr lang="zh-CN" altLang="en-US" sz="2000" dirty="0" smtClean="0"/>
              <a:t>关闭</a:t>
            </a:r>
            <a:r>
              <a:rPr lang="zh-CN" altLang="en-US" sz="2000" dirty="0"/>
              <a:t>绘图窗口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closegraph</a:t>
            </a:r>
            <a:r>
              <a:rPr lang="en-US" altLang="zh-CN" sz="1800" dirty="0" smtClean="0"/>
              <a:t>();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/>
              <a:t>4. </a:t>
            </a:r>
            <a:r>
              <a:rPr lang="zh-CN" altLang="en-US" sz="2000" dirty="0"/>
              <a:t>设置绘图窗口标题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 smtClean="0">
                <a:solidFill>
                  <a:srgbClr val="7030A0"/>
                </a:solidFill>
              </a:rPr>
              <a:t>SetWindowText</a:t>
            </a:r>
            <a:r>
              <a:rPr lang="en-US" altLang="zh-CN" sz="1800" dirty="0" smtClean="0">
                <a:solidFill>
                  <a:srgbClr val="7030A0"/>
                </a:solidFill>
              </a:rPr>
              <a:t>(HDND handle, char * title</a:t>
            </a:r>
            <a:r>
              <a:rPr lang="en-US" altLang="zh-CN" sz="1800" dirty="0" smtClean="0">
                <a:solidFill>
                  <a:srgbClr val="006600"/>
                </a:solidFill>
              </a:rPr>
              <a:t> </a:t>
            </a:r>
            <a:r>
              <a:rPr lang="en-US" altLang="zh-CN" sz="1800" dirty="0" smtClean="0">
                <a:solidFill>
                  <a:srgbClr val="7030A0"/>
                </a:solidFill>
              </a:rPr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handle</a:t>
            </a:r>
            <a:r>
              <a:rPr lang="zh-CN" altLang="en-US" sz="1800" dirty="0" smtClean="0"/>
              <a:t>是要设置标题的绘图窗口句柄，其数据类型是</a:t>
            </a:r>
            <a:r>
              <a:rPr lang="en-US" altLang="zh-CN" sz="1800" dirty="0" smtClean="0">
                <a:solidFill>
                  <a:srgbClr val="C00000"/>
                </a:solidFill>
              </a:rPr>
              <a:t>HWND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handle</a:t>
            </a:r>
            <a:r>
              <a:rPr lang="zh-CN" altLang="en-US" sz="1800" dirty="0" smtClean="0"/>
              <a:t>可通过两种途径获得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30DCD"/>
                </a:solidFill>
              </a:rPr>
              <a:t>HWND  </a:t>
            </a:r>
            <a:r>
              <a:rPr lang="en-US" altLang="zh-CN" sz="1800" dirty="0" smtClean="0">
                <a:solidFill>
                  <a:srgbClr val="030DCD"/>
                </a:solidFill>
              </a:rPr>
              <a:t>handle </a:t>
            </a:r>
            <a:r>
              <a:rPr lang="en-US" altLang="zh-CN" sz="1800" dirty="0" smtClean="0"/>
              <a:t>= </a:t>
            </a:r>
            <a:r>
              <a:rPr lang="en-US" altLang="zh-CN" sz="1800" dirty="0" err="1" smtClean="0"/>
              <a:t>initgraph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width,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height,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flag); 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30DCD"/>
                </a:solidFill>
              </a:rPr>
              <a:t>HWND  handle </a:t>
            </a:r>
            <a:r>
              <a:rPr lang="en-US" altLang="zh-CN" sz="1800" dirty="0"/>
              <a:t>= </a:t>
            </a:r>
            <a:r>
              <a:rPr lang="en-US" altLang="zh-CN" sz="1800" dirty="0" err="1"/>
              <a:t>GetHWnd</a:t>
            </a:r>
            <a:r>
              <a:rPr lang="en-US" altLang="zh-CN" sz="1800" dirty="0"/>
              <a:t>();</a:t>
            </a:r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008773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>
                <a:solidFill>
                  <a:srgbClr val="7030A0"/>
                </a:solidFill>
              </a:rPr>
              <a:t>绘图窗口函数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5. </a:t>
            </a:r>
            <a:r>
              <a:rPr lang="zh-CN" altLang="en-US" sz="2000" dirty="0" smtClean="0"/>
              <a:t>获取绘图窗口的尺寸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int</a:t>
            </a:r>
            <a:r>
              <a:rPr lang="en-US" altLang="zh-CN" sz="1600" dirty="0"/>
              <a:t>	</a:t>
            </a:r>
            <a:r>
              <a:rPr lang="en-US" altLang="zh-CN" sz="1600" dirty="0" err="1" smtClean="0"/>
              <a:t>getwidth</a:t>
            </a:r>
            <a:r>
              <a:rPr lang="en-US" altLang="zh-CN" sz="1600" dirty="0" smtClean="0"/>
              <a:t>();  //</a:t>
            </a:r>
            <a:r>
              <a:rPr lang="zh-CN" altLang="en-US" sz="1600" dirty="0"/>
              <a:t>获取绘图窗口</a:t>
            </a:r>
            <a:r>
              <a:rPr lang="zh-CN" altLang="en-US" sz="1600" dirty="0" smtClean="0"/>
              <a:t>的宽度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 smtClean="0"/>
              <a:t>int</a:t>
            </a:r>
            <a:r>
              <a:rPr lang="en-US" altLang="zh-CN" sz="1600" dirty="0"/>
              <a:t>	</a:t>
            </a:r>
            <a:r>
              <a:rPr lang="en-US" altLang="zh-CN" sz="1600" dirty="0" err="1" smtClean="0"/>
              <a:t>getheight</a:t>
            </a:r>
            <a:r>
              <a:rPr lang="en-US" altLang="zh-CN" sz="1600" dirty="0" smtClean="0"/>
              <a:t>();  //</a:t>
            </a:r>
            <a:r>
              <a:rPr lang="zh-CN" altLang="en-US" sz="1600" dirty="0"/>
              <a:t>获取绘图窗口</a:t>
            </a:r>
            <a:r>
              <a:rPr lang="zh-CN" altLang="en-US" sz="1600" dirty="0" smtClean="0"/>
              <a:t>的高度</a:t>
            </a:r>
            <a:endParaRPr lang="en-US" altLang="zh-CN" sz="16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6. </a:t>
            </a:r>
            <a:r>
              <a:rPr lang="zh-CN" altLang="en-US" sz="2000" dirty="0"/>
              <a:t>获取绘图窗口</a:t>
            </a:r>
            <a:r>
              <a:rPr lang="zh-CN" altLang="en-US" sz="2000" dirty="0" smtClean="0"/>
              <a:t>的最大坐标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getmaxx</a:t>
            </a:r>
            <a:r>
              <a:rPr lang="en-US" altLang="zh-CN" sz="1600" dirty="0"/>
              <a:t>();  //</a:t>
            </a:r>
            <a:r>
              <a:rPr lang="zh-CN" altLang="en-US" sz="1600" dirty="0"/>
              <a:t>获取绘图窗口的最大</a:t>
            </a:r>
            <a:r>
              <a:rPr lang="en-US" altLang="zh-CN" sz="1600" dirty="0"/>
              <a:t>x</a:t>
            </a:r>
            <a:r>
              <a:rPr lang="zh-CN" altLang="en-US" sz="1600" dirty="0"/>
              <a:t>坐标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int</a:t>
            </a:r>
            <a:r>
              <a:rPr lang="en-US" altLang="zh-CN" sz="1600" dirty="0"/>
              <a:t> </a:t>
            </a:r>
            <a:r>
              <a:rPr lang="en-US" altLang="zh-CN" sz="1600" dirty="0" err="1"/>
              <a:t>getmaxy</a:t>
            </a:r>
            <a:r>
              <a:rPr lang="en-US" altLang="zh-CN" sz="1600" dirty="0"/>
              <a:t>();  //</a:t>
            </a:r>
            <a:r>
              <a:rPr lang="zh-CN" altLang="en-US" sz="1600" dirty="0"/>
              <a:t>获取绘图窗口的最大</a:t>
            </a:r>
            <a:r>
              <a:rPr lang="en-US" altLang="zh-CN" sz="1600" dirty="0"/>
              <a:t>y</a:t>
            </a:r>
            <a:r>
              <a:rPr lang="zh-CN" altLang="en-US" sz="1600" dirty="0" smtClean="0"/>
              <a:t>坐标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/>
              <a:t>7</a:t>
            </a:r>
            <a:r>
              <a:rPr lang="en-US" altLang="zh-CN" sz="2000" dirty="0" smtClean="0"/>
              <a:t>. </a:t>
            </a:r>
            <a:r>
              <a:rPr lang="zh-CN" altLang="en-US" sz="2000" dirty="0" smtClean="0"/>
              <a:t>消息对话框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 err="1"/>
              <a:t>msgbox</a:t>
            </a:r>
            <a:r>
              <a:rPr lang="en-US" altLang="zh-CN" sz="1600" dirty="0" smtClean="0"/>
              <a:t>();</a:t>
            </a: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注：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上述函数以及后续介绍的绘图函数、鼠标消息函数的原型</a:t>
            </a:r>
            <a:r>
              <a:rPr lang="zh-CN" altLang="en-US" sz="1800" dirty="0"/>
              <a:t>主要在头文件</a:t>
            </a:r>
            <a:r>
              <a:rPr lang="en-US" altLang="zh-CN" sz="1800" dirty="0" err="1" smtClean="0"/>
              <a:t>easyx.h</a:t>
            </a:r>
            <a:r>
              <a:rPr lang="zh-CN" altLang="en-US" sz="1800" dirty="0" smtClean="0"/>
              <a:t>中声明，其余在</a:t>
            </a:r>
            <a:r>
              <a:rPr lang="en-US" altLang="zh-CN" sz="1800" dirty="0" err="1" smtClean="0"/>
              <a:t>graphics.h</a:t>
            </a:r>
            <a:r>
              <a:rPr lang="zh-CN" altLang="en-US" sz="1800" dirty="0" smtClean="0"/>
              <a:t>和</a:t>
            </a:r>
            <a:r>
              <a:rPr lang="en-US" altLang="zh-CN" sz="1800" dirty="0" err="1" smtClean="0"/>
              <a:t>windows.h</a:t>
            </a:r>
            <a:r>
              <a:rPr lang="zh-CN" altLang="en-US" sz="1800" dirty="0" smtClean="0"/>
              <a:t>中声明。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由于</a:t>
            </a:r>
            <a:r>
              <a:rPr lang="en-US" altLang="zh-CN" sz="1800" dirty="0" err="1"/>
              <a:t>graphics.h</a:t>
            </a:r>
            <a:r>
              <a:rPr lang="zh-CN" altLang="en-US" sz="1800" dirty="0"/>
              <a:t>又包含了</a:t>
            </a:r>
            <a:r>
              <a:rPr lang="en-US" altLang="zh-CN" sz="1800" dirty="0"/>
              <a:t> </a:t>
            </a:r>
            <a:r>
              <a:rPr lang="en-US" altLang="zh-CN" sz="1800" dirty="0" err="1" smtClean="0"/>
              <a:t>easyx.h</a:t>
            </a:r>
            <a:r>
              <a:rPr lang="zh-CN" altLang="en-US" sz="1800" dirty="0" smtClean="0"/>
              <a:t>，</a:t>
            </a:r>
            <a:r>
              <a:rPr lang="en-US" altLang="zh-CN" sz="1800" dirty="0" err="1" smtClean="0"/>
              <a:t>easyx.h</a:t>
            </a:r>
            <a:r>
              <a:rPr lang="zh-CN" altLang="en-US" sz="1800" dirty="0" smtClean="0"/>
              <a:t>又包含了</a:t>
            </a:r>
            <a:r>
              <a:rPr lang="en-US" altLang="zh-CN" sz="1800" dirty="0" err="1" smtClean="0"/>
              <a:t>windows.h</a:t>
            </a:r>
            <a:r>
              <a:rPr lang="zh-CN" altLang="en-US" sz="1800" dirty="0" smtClean="0"/>
              <a:t>，因此我们使用时只需包含</a:t>
            </a:r>
            <a:r>
              <a:rPr lang="en-US" altLang="zh-CN" sz="1800" dirty="0" err="1" smtClean="0"/>
              <a:t>graphics.h</a:t>
            </a:r>
            <a:r>
              <a:rPr lang="zh-CN" altLang="en-US" sz="1800" dirty="0" smtClean="0"/>
              <a:t>头文件即可；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例外：键盘函数在头文件</a:t>
            </a:r>
            <a:r>
              <a:rPr lang="en-US" altLang="zh-CN" sz="1800" dirty="0" err="1" smtClean="0"/>
              <a:t>conio.h</a:t>
            </a:r>
            <a:r>
              <a:rPr lang="zh-CN" altLang="en-US" sz="1800" dirty="0" smtClean="0"/>
              <a:t>中声明。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8729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>
                <a:solidFill>
                  <a:srgbClr val="7030A0"/>
                </a:solidFill>
              </a:rPr>
              <a:t>绘图</a:t>
            </a:r>
            <a:r>
              <a:rPr lang="zh-CN" altLang="en-US">
                <a:solidFill>
                  <a:srgbClr val="7030A0"/>
                </a:solidFill>
              </a:rPr>
              <a:t>窗口</a:t>
            </a:r>
            <a:r>
              <a:rPr lang="zh-CN" altLang="en-US" smtClean="0">
                <a:solidFill>
                  <a:srgbClr val="7030A0"/>
                </a:solidFill>
              </a:rPr>
              <a:t>函数例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graphics.h</a:t>
            </a:r>
            <a:r>
              <a:rPr lang="en-US" altLang="zh-CN" sz="1800" dirty="0" smtClean="0">
                <a:solidFill>
                  <a:srgbClr val="080808"/>
                </a:solidFill>
              </a:rPr>
              <a:t>&gt;    //</a:t>
            </a:r>
            <a:r>
              <a:rPr lang="zh-CN" altLang="en-US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 err="1">
                <a:solidFill>
                  <a:srgbClr val="080808"/>
                </a:solidFill>
              </a:rPr>
              <a:t>EasyX</a:t>
            </a: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zh-CN" altLang="en-US" sz="1800" dirty="0">
                <a:solidFill>
                  <a:srgbClr val="080808"/>
                </a:solidFill>
              </a:rPr>
              <a:t>绘图库头文件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#include &lt;</a:t>
            </a:r>
            <a:r>
              <a:rPr lang="en-US" altLang="zh-CN" sz="1800" dirty="0" err="1">
                <a:solidFill>
                  <a:srgbClr val="080808"/>
                </a:solidFill>
              </a:rPr>
              <a:t>conio.h</a:t>
            </a:r>
            <a:r>
              <a:rPr lang="en-US" altLang="zh-CN" sz="1800" dirty="0" smtClean="0">
                <a:solidFill>
                  <a:srgbClr val="080808"/>
                </a:solidFill>
              </a:rPr>
              <a:t>&gt;   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main()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HWND handle = </a:t>
            </a:r>
            <a:r>
              <a:rPr lang="en-US" altLang="zh-CN" sz="1800" dirty="0" err="1" smtClean="0">
                <a:solidFill>
                  <a:srgbClr val="7030A0"/>
                </a:solidFill>
              </a:rPr>
              <a:t>initgraph</a:t>
            </a:r>
            <a:r>
              <a:rPr lang="en-US" altLang="zh-CN" sz="1800" dirty="0" smtClean="0">
                <a:solidFill>
                  <a:srgbClr val="7030A0"/>
                </a:solidFill>
              </a:rPr>
              <a:t>(640</a:t>
            </a:r>
            <a:r>
              <a:rPr lang="en-US" altLang="zh-CN" sz="1800" dirty="0">
                <a:solidFill>
                  <a:srgbClr val="7030A0"/>
                </a:solidFill>
              </a:rPr>
              <a:t>, </a:t>
            </a:r>
            <a:r>
              <a:rPr lang="en-US" altLang="zh-CN" sz="1800" dirty="0" smtClean="0">
                <a:solidFill>
                  <a:srgbClr val="7030A0"/>
                </a:solidFill>
              </a:rPr>
              <a:t>480); 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>
                <a:solidFill>
                  <a:srgbClr val="080808"/>
                </a:solidFill>
              </a:rPr>
              <a:t>创建绘图窗口，分辨率 </a:t>
            </a:r>
            <a:r>
              <a:rPr lang="en-US" altLang="zh-CN" sz="1800" dirty="0" smtClean="0">
                <a:solidFill>
                  <a:srgbClr val="080808"/>
                </a:solidFill>
              </a:rPr>
              <a:t>640x480</a:t>
            </a:r>
            <a:r>
              <a:rPr lang="zh-CN" altLang="en-US" sz="1800" dirty="0" smtClean="0">
                <a:solidFill>
                  <a:srgbClr val="080808"/>
                </a:solidFill>
              </a:rPr>
              <a:t>像素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height</a:t>
            </a:r>
            <a:r>
              <a:rPr lang="en-US" altLang="zh-CN" sz="1800" dirty="0" smtClean="0">
                <a:solidFill>
                  <a:srgbClr val="080808"/>
                </a:solidFill>
              </a:rPr>
              <a:t> </a:t>
            </a:r>
            <a:r>
              <a:rPr lang="en-US" altLang="zh-CN" sz="1800" dirty="0">
                <a:solidFill>
                  <a:srgbClr val="080808"/>
                </a:solidFill>
              </a:rPr>
              <a:t>= </a:t>
            </a:r>
            <a:r>
              <a:rPr lang="en-US" altLang="zh-CN" sz="1800" dirty="0" err="1">
                <a:solidFill>
                  <a:srgbClr val="080808"/>
                </a:solidFill>
              </a:rPr>
              <a:t>getheight</a:t>
            </a:r>
            <a:r>
              <a:rPr lang="en-US" altLang="zh-CN" sz="1800" dirty="0">
                <a:solidFill>
                  <a:srgbClr val="080808"/>
                </a:solidFill>
              </a:rPr>
              <a:t>();  //</a:t>
            </a:r>
            <a:r>
              <a:rPr lang="zh-CN" altLang="en-US" sz="1800" dirty="0">
                <a:solidFill>
                  <a:srgbClr val="080808"/>
                </a:solidFill>
              </a:rPr>
              <a:t>获取绘图</a:t>
            </a:r>
            <a:r>
              <a:rPr lang="zh-CN" altLang="en-US" sz="1800" dirty="0" smtClean="0">
                <a:solidFill>
                  <a:srgbClr val="080808"/>
                </a:solidFill>
              </a:rPr>
              <a:t>区（窗口）高度（这里是</a:t>
            </a:r>
            <a:r>
              <a:rPr lang="en-US" altLang="zh-CN" sz="1800" dirty="0" smtClean="0">
                <a:solidFill>
                  <a:srgbClr val="080808"/>
                </a:solidFill>
              </a:rPr>
              <a:t>480</a:t>
            </a:r>
            <a:r>
              <a:rPr lang="zh-CN" altLang="en-US" sz="1800" dirty="0" smtClean="0">
                <a:solidFill>
                  <a:srgbClr val="080808"/>
                </a:solidFill>
              </a:rPr>
              <a:t>）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1800" dirty="0" smtClean="0">
                <a:solidFill>
                  <a:srgbClr val="080808"/>
                </a:solidFill>
              </a:rPr>
              <a:t> width </a:t>
            </a:r>
            <a:r>
              <a:rPr lang="en-US" altLang="zh-CN" sz="1800" dirty="0">
                <a:solidFill>
                  <a:srgbClr val="080808"/>
                </a:solidFill>
              </a:rPr>
              <a:t>= </a:t>
            </a:r>
            <a:r>
              <a:rPr lang="en-US" altLang="zh-CN" sz="1800" dirty="0" err="1">
                <a:solidFill>
                  <a:srgbClr val="080808"/>
                </a:solidFill>
              </a:rPr>
              <a:t>getwidth</a:t>
            </a:r>
            <a:r>
              <a:rPr lang="en-US" altLang="zh-CN" sz="1800" dirty="0" smtClean="0">
                <a:solidFill>
                  <a:srgbClr val="080808"/>
                </a:solidFill>
              </a:rPr>
              <a:t>();    //</a:t>
            </a:r>
            <a:r>
              <a:rPr lang="zh-CN" altLang="en-US" sz="1800" dirty="0">
                <a:solidFill>
                  <a:srgbClr val="080808"/>
                </a:solidFill>
              </a:rPr>
              <a:t>获取绘图区（窗口</a:t>
            </a:r>
            <a:r>
              <a:rPr lang="zh-CN" altLang="en-US" sz="1800" dirty="0" smtClean="0">
                <a:solidFill>
                  <a:srgbClr val="080808"/>
                </a:solidFill>
              </a:rPr>
              <a:t>）宽度（这里是</a:t>
            </a:r>
            <a:r>
              <a:rPr lang="en-US" altLang="zh-CN" sz="1800" dirty="0" smtClean="0">
                <a:solidFill>
                  <a:srgbClr val="080808"/>
                </a:solidFill>
              </a:rPr>
              <a:t>640</a:t>
            </a:r>
            <a:r>
              <a:rPr lang="zh-CN" altLang="en-US" sz="1800" dirty="0" smtClean="0">
                <a:solidFill>
                  <a:srgbClr val="080808"/>
                </a:solidFill>
              </a:rPr>
              <a:t>）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SetWindowText</a:t>
            </a:r>
            <a:r>
              <a:rPr lang="en-US" altLang="zh-CN" sz="1800" dirty="0" smtClean="0">
                <a:solidFill>
                  <a:srgbClr val="080808"/>
                </a:solidFill>
              </a:rPr>
              <a:t>(handle</a:t>
            </a:r>
            <a:r>
              <a:rPr lang="en-US" altLang="zh-CN" sz="1800" dirty="0">
                <a:solidFill>
                  <a:srgbClr val="080808"/>
                </a:solidFill>
              </a:rPr>
              <a:t>, "</a:t>
            </a:r>
            <a:r>
              <a:rPr lang="zh-CN" altLang="en-US" sz="1800" dirty="0" smtClean="0">
                <a:solidFill>
                  <a:srgbClr val="080808"/>
                </a:solidFill>
              </a:rPr>
              <a:t>五子棋</a:t>
            </a:r>
            <a:r>
              <a:rPr lang="en-US" altLang="zh-CN" sz="1800" dirty="0">
                <a:solidFill>
                  <a:srgbClr val="080808"/>
                </a:solidFill>
              </a:rPr>
              <a:t>");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设置绘图窗口标题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 err="1" smtClean="0">
                <a:solidFill>
                  <a:srgbClr val="030DCD"/>
                </a:solidFill>
              </a:rPr>
              <a:t>setbkcolor</a:t>
            </a:r>
            <a:r>
              <a:rPr lang="en-US" altLang="zh-CN" sz="1800" dirty="0" smtClean="0">
                <a:solidFill>
                  <a:srgbClr val="030DCD"/>
                </a:solidFill>
              </a:rPr>
              <a:t>(GREEN);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设置绘图窗口背景色为绿色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   </a:t>
            </a:r>
            <a:r>
              <a:rPr lang="en-US" altLang="zh-CN" sz="1800" dirty="0" smtClean="0">
                <a:solidFill>
                  <a:srgbClr val="080808"/>
                </a:solidFill>
              </a:rPr>
              <a:t>  </a:t>
            </a:r>
            <a:r>
              <a:rPr lang="en-US" altLang="zh-CN" sz="1800" dirty="0" err="1" smtClean="0">
                <a:solidFill>
                  <a:srgbClr val="006600"/>
                </a:solidFill>
              </a:rPr>
              <a:t>cleardevice</a:t>
            </a:r>
            <a:r>
              <a:rPr lang="en-US" altLang="zh-CN" sz="1800" dirty="0" smtClean="0">
                <a:solidFill>
                  <a:srgbClr val="006600"/>
                </a:solidFill>
              </a:rPr>
              <a:t>();           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使用当前背景色（绿色）清空绘图窗口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r>
              <a:rPr lang="en-US" altLang="zh-CN" sz="1800" dirty="0">
                <a:solidFill>
                  <a:srgbClr val="080808"/>
                </a:solidFill>
              </a:rPr>
              <a:t>system("pause");        </a:t>
            </a:r>
            <a:r>
              <a:rPr lang="en-US" altLang="zh-CN" sz="1800" dirty="0" smtClean="0">
                <a:solidFill>
                  <a:srgbClr val="080808"/>
                </a:solidFill>
              </a:rPr>
              <a:t>//</a:t>
            </a:r>
            <a:r>
              <a:rPr lang="zh-CN" altLang="en-US" sz="1800" dirty="0" smtClean="0">
                <a:solidFill>
                  <a:srgbClr val="080808"/>
                </a:solidFill>
              </a:rPr>
              <a:t>暂停程序执行。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                                     //</a:t>
            </a:r>
            <a:r>
              <a:rPr lang="zh-CN" altLang="en-US" sz="1800" dirty="0" smtClean="0">
                <a:solidFill>
                  <a:srgbClr val="080808"/>
                </a:solidFill>
              </a:rPr>
              <a:t>否则程序执行结束，绘图窗口将被关闭</a:t>
            </a: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>
                <a:solidFill>
                  <a:srgbClr val="080808"/>
                </a:solidFill>
              </a:rPr>
              <a:t> </a:t>
            </a:r>
            <a:r>
              <a:rPr lang="en-US" altLang="zh-CN" sz="1800" dirty="0" smtClean="0">
                <a:solidFill>
                  <a:srgbClr val="080808"/>
                </a:solidFill>
              </a:rPr>
              <a:t>    </a:t>
            </a:r>
            <a:r>
              <a:rPr lang="en-US" altLang="zh-CN" sz="1800" dirty="0" err="1">
                <a:solidFill>
                  <a:srgbClr val="080808"/>
                </a:solidFill>
              </a:rPr>
              <a:t>closegraph</a:t>
            </a:r>
            <a:r>
              <a:rPr lang="en-US" altLang="zh-CN" sz="1800" dirty="0" smtClean="0">
                <a:solidFill>
                  <a:srgbClr val="080808"/>
                </a:solidFill>
              </a:rPr>
              <a:t>();                //</a:t>
            </a:r>
            <a:r>
              <a:rPr lang="zh-CN" altLang="en-US" sz="1800" dirty="0" smtClean="0">
                <a:solidFill>
                  <a:srgbClr val="080808"/>
                </a:solidFill>
              </a:rPr>
              <a:t>关闭绘图窗口</a:t>
            </a:r>
            <a:endParaRPr lang="en-US" altLang="zh-CN" sz="1800" b="1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l"/>
            </a:pP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 smtClean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endParaRPr lang="en-US" altLang="zh-CN" sz="1800" dirty="0">
              <a:solidFill>
                <a:srgbClr val="080808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1800" dirty="0" smtClean="0">
                <a:solidFill>
                  <a:srgbClr val="080808"/>
                </a:solidFill>
              </a:rPr>
              <a:t>     </a:t>
            </a:r>
            <a:endParaRPr lang="en-US" altLang="zh-CN" sz="1800" dirty="0">
              <a:solidFill>
                <a:srgbClr val="08080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743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16889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/>
              <a:t>圆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void circle	</a:t>
            </a:r>
            <a:r>
              <a:rPr lang="en-US" altLang="zh-CN" dirty="0" smtClean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y, </a:t>
            </a:r>
            <a:r>
              <a:rPr lang="en-US" altLang="zh-CN" dirty="0" err="1"/>
              <a:t>int</a:t>
            </a:r>
            <a:r>
              <a:rPr lang="en-US" altLang="zh-CN" dirty="0"/>
              <a:t> radius</a:t>
            </a:r>
            <a:r>
              <a:rPr lang="en-US" altLang="zh-CN" dirty="0" smtClean="0"/>
              <a:t>);  // </a:t>
            </a:r>
            <a:r>
              <a:rPr lang="en-US" altLang="zh-CN" dirty="0"/>
              <a:t>Draw a circle without filling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void </a:t>
            </a:r>
            <a:r>
              <a:rPr lang="en-US" altLang="zh-CN" dirty="0" err="1"/>
              <a:t>fillcircle</a:t>
            </a:r>
            <a:r>
              <a:rPr lang="en-US" altLang="zh-CN" dirty="0"/>
              <a:t> 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y, </a:t>
            </a:r>
            <a:r>
              <a:rPr lang="en-US" altLang="zh-CN" dirty="0" err="1"/>
              <a:t>int</a:t>
            </a:r>
            <a:r>
              <a:rPr lang="en-US" altLang="zh-CN" dirty="0"/>
              <a:t> radius</a:t>
            </a:r>
            <a:r>
              <a:rPr lang="en-US" altLang="zh-CN" dirty="0" smtClean="0"/>
              <a:t>);</a:t>
            </a:r>
            <a:r>
              <a:rPr lang="en-US" altLang="zh-CN" dirty="0"/>
              <a:t>	</a:t>
            </a:r>
            <a:r>
              <a:rPr lang="en-US" altLang="zh-CN" dirty="0" smtClean="0"/>
              <a:t> // </a:t>
            </a:r>
            <a:r>
              <a:rPr lang="en-US" altLang="zh-CN" dirty="0"/>
              <a:t>Draw a filled circle with a border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void </a:t>
            </a:r>
            <a:r>
              <a:rPr lang="en-US" altLang="zh-CN" dirty="0" err="1"/>
              <a:t>solidcircle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y, </a:t>
            </a:r>
            <a:r>
              <a:rPr lang="en-US" altLang="zh-CN" dirty="0" err="1"/>
              <a:t>int</a:t>
            </a:r>
            <a:r>
              <a:rPr lang="en-US" altLang="zh-CN" dirty="0"/>
              <a:t> radius</a:t>
            </a:r>
            <a:r>
              <a:rPr lang="en-US" altLang="zh-CN" dirty="0" smtClean="0"/>
              <a:t>); // </a:t>
            </a:r>
            <a:r>
              <a:rPr lang="en-US" altLang="zh-CN" dirty="0"/>
              <a:t>Draw a filled circle without a border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dirty="0"/>
              <a:t>void </a:t>
            </a:r>
            <a:r>
              <a:rPr lang="en-US" altLang="zh-CN" dirty="0" err="1"/>
              <a:t>clearcircle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x, </a:t>
            </a:r>
            <a:r>
              <a:rPr lang="en-US" altLang="zh-CN" dirty="0" err="1"/>
              <a:t>int</a:t>
            </a:r>
            <a:r>
              <a:rPr lang="en-US" altLang="zh-CN" dirty="0"/>
              <a:t> y, </a:t>
            </a:r>
            <a:r>
              <a:rPr lang="en-US" altLang="zh-CN" dirty="0" err="1"/>
              <a:t>int</a:t>
            </a:r>
            <a:r>
              <a:rPr lang="en-US" altLang="zh-CN" dirty="0"/>
              <a:t> radius</a:t>
            </a:r>
            <a:r>
              <a:rPr lang="en-US" altLang="zh-CN" dirty="0" smtClean="0"/>
              <a:t>); // </a:t>
            </a:r>
            <a:r>
              <a:rPr lang="en-US" altLang="zh-CN" dirty="0"/>
              <a:t>Clear a circular region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/>
              <a:t>注：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对于有边界的图形，都有类似于上述四个函数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如</a:t>
            </a:r>
            <a:r>
              <a:rPr lang="zh-CN" altLang="en-US" dirty="0"/>
              <a:t>椭圆</a:t>
            </a:r>
            <a:r>
              <a:rPr lang="zh-CN" altLang="en-US" dirty="0" smtClean="0"/>
              <a:t>、矩形、</a:t>
            </a:r>
            <a:r>
              <a:rPr lang="zh-CN" altLang="en-US" dirty="0"/>
              <a:t>圆角</a:t>
            </a:r>
            <a:r>
              <a:rPr lang="zh-CN" altLang="en-US" dirty="0" smtClean="0"/>
              <a:t>矩形、</a:t>
            </a:r>
            <a:r>
              <a:rPr lang="zh-CN" altLang="en-US" dirty="0"/>
              <a:t>多边形、</a:t>
            </a:r>
            <a:r>
              <a:rPr lang="zh-CN" altLang="en-US" dirty="0" smtClean="0"/>
              <a:t>扇形等</a:t>
            </a: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sz="2000" dirty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	</a:t>
            </a: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44782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C00000"/>
                </a:solidFill>
              </a:rPr>
              <a:t>画圆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16889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1. </a:t>
            </a:r>
            <a:r>
              <a:rPr lang="zh-CN" altLang="en-US" sz="2000" dirty="0" smtClean="0"/>
              <a:t>画有边框空心圆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 smtClean="0">
                <a:sym typeface="Arial" panose="020B0604020202020204" pitchFamily="34" charset="0"/>
              </a:rPr>
              <a:t>：</a:t>
            </a:r>
            <a:r>
              <a:rPr lang="en-US" altLang="zh-CN" sz="1800" dirty="0" smtClean="0">
                <a:sym typeface="Arial" panose="020B0604020202020204" pitchFamily="34" charset="0"/>
              </a:rPr>
              <a:t>void circle(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X,int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Y,int</a:t>
            </a:r>
            <a:r>
              <a:rPr lang="en-US" altLang="zh-CN" sz="1800" dirty="0">
                <a:sym typeface="Arial" panose="020B0604020202020204" pitchFamily="34" charset="0"/>
              </a:rPr>
              <a:t> R);   </a:t>
            </a:r>
            <a:endParaRPr lang="en-US" altLang="zh-CN" sz="1800" dirty="0" smtClean="0">
              <a:sym typeface="Arial" panose="020B0604020202020204" pitchFamily="34" charset="0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ym typeface="Arial" panose="020B0604020202020204" pitchFamily="34" charset="0"/>
              </a:rPr>
              <a:t>功能：</a:t>
            </a:r>
            <a:r>
              <a:rPr lang="zh-CN" altLang="en-US" sz="1800" dirty="0">
                <a:sym typeface="Arial" panose="020B0604020202020204" pitchFamily="34" charset="0"/>
              </a:rPr>
              <a:t>以</a:t>
            </a:r>
            <a:r>
              <a:rPr lang="zh-CN" altLang="en-US" sz="1800" dirty="0"/>
              <a:t>（</a:t>
            </a:r>
            <a:r>
              <a:rPr lang="en-US" altLang="zh-CN" sz="1800" dirty="0"/>
              <a:t>x</a:t>
            </a:r>
            <a:r>
              <a:rPr lang="zh-CN" altLang="en-US" sz="1800" dirty="0"/>
              <a:t>，</a:t>
            </a:r>
            <a:r>
              <a:rPr lang="en-US" altLang="zh-CN" sz="1800" dirty="0"/>
              <a:t>y</a:t>
            </a:r>
            <a:r>
              <a:rPr lang="zh-CN" altLang="en-US" sz="1800" dirty="0"/>
              <a:t>）为圆心，</a:t>
            </a:r>
            <a:r>
              <a:rPr lang="en-US" altLang="zh-CN" sz="1800" dirty="0"/>
              <a:t>R</a:t>
            </a:r>
            <a:r>
              <a:rPr lang="zh-CN" altLang="en-US" sz="1800" dirty="0"/>
              <a:t>为半径画圆 </a:t>
            </a:r>
            <a:r>
              <a:rPr lang="zh-CN" altLang="en-US" sz="1800" dirty="0" smtClean="0"/>
              <a:t>（圆内颜色为背景色）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以白线条画圆，圆内颜色为背景色（空心圆）</a:t>
            </a:r>
            <a:endParaRPr lang="en-US" altLang="zh-CN" sz="1800" dirty="0" smtClean="0"/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dirty="0"/>
              <a:t>	</a:t>
            </a: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zh-CN" altLang="en-US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465071"/>
            <a:ext cx="8058023" cy="506120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0" y="1465071"/>
            <a:ext cx="32575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092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C00000"/>
                </a:solidFill>
              </a:rPr>
              <a:t>画圆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16191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/>
              <a:t>2</a:t>
            </a:r>
            <a:r>
              <a:rPr lang="en-US" altLang="zh-CN" sz="2000" dirty="0" smtClean="0"/>
              <a:t>. </a:t>
            </a:r>
            <a:r>
              <a:rPr lang="zh-CN" altLang="en-US" sz="2000" dirty="0" smtClean="0"/>
              <a:t>以填充颜色画有边苦框圆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 smtClean="0">
                <a:sym typeface="Arial" panose="020B0604020202020204" pitchFamily="34" charset="0"/>
              </a:rPr>
              <a:t>：</a:t>
            </a:r>
            <a:r>
              <a:rPr lang="en-US" altLang="zh-CN" sz="1800" dirty="0" smtClean="0">
                <a:sym typeface="Arial" panose="020B0604020202020204" pitchFamily="34" charset="0"/>
              </a:rPr>
              <a:t>void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fillcircle</a:t>
            </a:r>
            <a:r>
              <a:rPr lang="en-US" altLang="zh-CN" sz="1800" dirty="0" smtClean="0">
                <a:sym typeface="Arial" panose="020B0604020202020204" pitchFamily="34" charset="0"/>
              </a:rPr>
              <a:t>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X,int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Y,int</a:t>
            </a:r>
            <a:r>
              <a:rPr lang="en-US" altLang="zh-CN" sz="1800" dirty="0">
                <a:sym typeface="Arial" panose="020B0604020202020204" pitchFamily="34" charset="0"/>
              </a:rPr>
              <a:t> R);   </a:t>
            </a:r>
            <a:endParaRPr lang="en-US" altLang="zh-CN" sz="1800" dirty="0" smtClean="0">
              <a:sym typeface="Arial" panose="020B0604020202020204" pitchFamily="34" charset="0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ym typeface="Arial" panose="020B0604020202020204" pitchFamily="34" charset="0"/>
              </a:rPr>
              <a:t>功能：</a:t>
            </a:r>
            <a:r>
              <a:rPr lang="zh-CN" altLang="en-US" sz="1800" dirty="0">
                <a:sym typeface="Arial" panose="020B0604020202020204" pitchFamily="34" charset="0"/>
              </a:rPr>
              <a:t>以</a:t>
            </a:r>
            <a:r>
              <a:rPr lang="zh-CN" altLang="en-US" sz="1800" dirty="0"/>
              <a:t>（</a:t>
            </a:r>
            <a:r>
              <a:rPr lang="en-US" altLang="zh-CN" sz="1800" dirty="0"/>
              <a:t>x</a:t>
            </a:r>
            <a:r>
              <a:rPr lang="zh-CN" altLang="en-US" sz="1800" dirty="0"/>
              <a:t>，</a:t>
            </a:r>
            <a:r>
              <a:rPr lang="en-US" altLang="zh-CN" sz="1800" dirty="0"/>
              <a:t>y</a:t>
            </a:r>
            <a:r>
              <a:rPr lang="zh-CN" altLang="en-US" sz="1800" dirty="0"/>
              <a:t>）为圆心，</a:t>
            </a:r>
            <a:r>
              <a:rPr lang="en-US" altLang="zh-CN" sz="1800" dirty="0"/>
              <a:t>R</a:t>
            </a:r>
            <a:r>
              <a:rPr lang="zh-CN" altLang="en-US" sz="1800" dirty="0"/>
              <a:t>为半径画</a:t>
            </a:r>
            <a:r>
              <a:rPr lang="zh-CN" altLang="en-US" sz="1800" dirty="0" smtClean="0"/>
              <a:t>圆，以设定的颜色填充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以红线条画圆，圆内用黄色填充</a:t>
            </a:r>
            <a:r>
              <a:rPr lang="en-US" altLang="zh-CN" dirty="0"/>
              <a:t>	</a:t>
            </a:r>
            <a:endParaRPr lang="zh-CN" altLang="en-US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73" y="1494313"/>
            <a:ext cx="8307704" cy="5029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7027" y="1494313"/>
            <a:ext cx="32575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52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C00000"/>
                </a:solidFill>
              </a:rPr>
              <a:t>画圆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16191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/>
              <a:t>3</a:t>
            </a:r>
            <a:r>
              <a:rPr lang="en-US" altLang="zh-CN" sz="2000" dirty="0" smtClean="0"/>
              <a:t>. </a:t>
            </a:r>
            <a:r>
              <a:rPr lang="zh-CN" altLang="en-US" sz="2000" dirty="0" smtClean="0"/>
              <a:t>以填充颜色画无框圆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 smtClean="0">
                <a:sym typeface="Arial" panose="020B0604020202020204" pitchFamily="34" charset="0"/>
              </a:rPr>
              <a:t>：</a:t>
            </a:r>
            <a:r>
              <a:rPr lang="en-US" altLang="zh-CN" sz="1800" dirty="0" smtClean="0">
                <a:sym typeface="Arial" panose="020B0604020202020204" pitchFamily="34" charset="0"/>
              </a:rPr>
              <a:t>void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solidcircle</a:t>
            </a:r>
            <a:r>
              <a:rPr lang="en-US" altLang="zh-CN" sz="1800" dirty="0" smtClean="0">
                <a:sym typeface="Arial" panose="020B0604020202020204" pitchFamily="34" charset="0"/>
              </a:rPr>
              <a:t>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X,int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Y,int</a:t>
            </a:r>
            <a:r>
              <a:rPr lang="en-US" altLang="zh-CN" sz="1800" dirty="0">
                <a:sym typeface="Arial" panose="020B0604020202020204" pitchFamily="34" charset="0"/>
              </a:rPr>
              <a:t> R);   </a:t>
            </a:r>
            <a:endParaRPr lang="en-US" altLang="zh-CN" sz="1800" dirty="0" smtClean="0">
              <a:sym typeface="Arial" panose="020B0604020202020204" pitchFamily="34" charset="0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ym typeface="Arial" panose="020B0604020202020204" pitchFamily="34" charset="0"/>
              </a:rPr>
              <a:t>功能：</a:t>
            </a:r>
            <a:r>
              <a:rPr lang="zh-CN" altLang="en-US" sz="1800" dirty="0">
                <a:sym typeface="Arial" panose="020B0604020202020204" pitchFamily="34" charset="0"/>
              </a:rPr>
              <a:t>以</a:t>
            </a:r>
            <a:r>
              <a:rPr lang="zh-CN" altLang="en-US" sz="1800" dirty="0"/>
              <a:t>（</a:t>
            </a:r>
            <a:r>
              <a:rPr lang="en-US" altLang="zh-CN" sz="1800" dirty="0"/>
              <a:t>x</a:t>
            </a:r>
            <a:r>
              <a:rPr lang="zh-CN" altLang="en-US" sz="1800" dirty="0"/>
              <a:t>，</a:t>
            </a:r>
            <a:r>
              <a:rPr lang="en-US" altLang="zh-CN" sz="1800" dirty="0"/>
              <a:t>y</a:t>
            </a:r>
            <a:r>
              <a:rPr lang="zh-CN" altLang="en-US" sz="1800" dirty="0"/>
              <a:t>）为圆心，</a:t>
            </a:r>
            <a:r>
              <a:rPr lang="en-US" altLang="zh-CN" sz="1800" dirty="0"/>
              <a:t>R</a:t>
            </a:r>
            <a:r>
              <a:rPr lang="zh-CN" altLang="en-US" sz="1800" dirty="0"/>
              <a:t>为半径</a:t>
            </a:r>
            <a:r>
              <a:rPr lang="zh-CN" altLang="en-US" sz="1800" dirty="0" smtClean="0"/>
              <a:t>画无边框圆，以设定的颜色填充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例如：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画不边框圆，圆内用蓝色填充</a:t>
            </a:r>
            <a:r>
              <a:rPr lang="en-US" altLang="zh-CN" dirty="0"/>
              <a:t>	</a:t>
            </a:r>
            <a:endParaRPr lang="zh-CN" altLang="en-US" dirty="0" smtClean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504" y="1610677"/>
            <a:ext cx="8089900" cy="5029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990" y="1610677"/>
            <a:ext cx="325755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41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-</a:t>
            </a:r>
            <a:r>
              <a:rPr lang="zh-CN" altLang="en-US" dirty="0" smtClean="0">
                <a:solidFill>
                  <a:srgbClr val="C00000"/>
                </a:solidFill>
              </a:rPr>
              <a:t>椭圆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1.</a:t>
            </a:r>
            <a:r>
              <a:rPr lang="zh-CN" altLang="en-US" sz="2000" dirty="0" smtClean="0"/>
              <a:t>画有边框空心椭圆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 smtClean="0">
                <a:sym typeface="Arial" panose="020B0604020202020204" pitchFamily="34" charset="0"/>
              </a:rPr>
              <a:t>：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ym typeface="Arial" panose="020B0604020202020204" pitchFamily="34" charset="0"/>
              </a:rPr>
              <a:t>void </a:t>
            </a:r>
            <a:r>
              <a:rPr lang="en-US" altLang="zh-CN" sz="1800" dirty="0" smtClean="0">
                <a:sym typeface="Arial" panose="020B0604020202020204" pitchFamily="34" charset="0"/>
              </a:rPr>
              <a:t>ellipse(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left,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top,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ym typeface="Arial" panose="020B0604020202020204" pitchFamily="34" charset="0"/>
              </a:rPr>
              <a:t>right</a:t>
            </a:r>
            <a:r>
              <a:rPr lang="en-US" altLang="zh-CN" sz="1800" dirty="0" smtClean="0">
                <a:sym typeface="Arial" panose="020B0604020202020204" pitchFamily="34" charset="0"/>
              </a:rPr>
              <a:t>,</a:t>
            </a:r>
            <a:r>
              <a:rPr lang="en-US" altLang="zh-CN" sz="1800" dirty="0">
                <a:sym typeface="Arial" panose="020B0604020202020204" pitchFamily="34" charset="0"/>
              </a:rPr>
              <a:t>	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smtClean="0">
                <a:sym typeface="Arial" panose="020B0604020202020204" pitchFamily="34" charset="0"/>
              </a:rPr>
              <a:t>bottom);</a:t>
            </a:r>
            <a:r>
              <a:rPr lang="en-US" altLang="zh-CN" sz="1800" dirty="0">
                <a:sym typeface="Arial" panose="020B0604020202020204" pitchFamily="34" charset="0"/>
              </a:rPr>
              <a:t>   </a:t>
            </a:r>
            <a:endParaRPr lang="en-US" altLang="zh-CN" sz="1800" dirty="0" smtClean="0">
              <a:sym typeface="Arial" panose="020B0604020202020204" pitchFamily="34" charset="0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>
                <a:sym typeface="Arial" panose="020B0604020202020204" pitchFamily="34" charset="0"/>
              </a:rPr>
              <a:t>功能</a:t>
            </a:r>
            <a:r>
              <a:rPr lang="zh-CN" altLang="en-US" sz="1800" dirty="0">
                <a:sym typeface="Arial" panose="020B0604020202020204" pitchFamily="34" charset="0"/>
              </a:rPr>
              <a:t>：</a:t>
            </a:r>
            <a:r>
              <a:rPr lang="zh-CN" altLang="en-US" sz="1800" dirty="0" smtClean="0">
                <a:sym typeface="Arial" panose="020B0604020202020204" pitchFamily="34" charset="0"/>
              </a:rPr>
              <a:t>以</a:t>
            </a:r>
            <a:r>
              <a:rPr lang="en-US" altLang="zh-CN" sz="1800" dirty="0" smtClean="0">
                <a:sym typeface="Arial" panose="020B0604020202020204" pitchFamily="34" charset="0"/>
              </a:rPr>
              <a:t>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left,top</a:t>
            </a:r>
            <a:r>
              <a:rPr lang="en-US" altLang="zh-CN" sz="1800" dirty="0" smtClean="0">
                <a:sym typeface="Arial" panose="020B0604020202020204" pitchFamily="34" charset="0"/>
              </a:rPr>
              <a:t>)</a:t>
            </a:r>
            <a:r>
              <a:rPr lang="zh-CN" altLang="en-US" sz="1800" dirty="0" smtClean="0">
                <a:sym typeface="Arial" panose="020B0604020202020204" pitchFamily="34" charset="0"/>
              </a:rPr>
              <a:t>作为</a:t>
            </a:r>
            <a:r>
              <a:rPr lang="zh-CN" altLang="en-US" sz="1800" dirty="0" smtClean="0"/>
              <a:t>椭圆</a:t>
            </a:r>
            <a:r>
              <a:rPr lang="zh-CN" altLang="en-US" sz="1800" dirty="0"/>
              <a:t>外切矩形的左</a:t>
            </a:r>
            <a:r>
              <a:rPr lang="zh-CN" altLang="en-US" sz="1800" dirty="0" smtClean="0"/>
              <a:t>上角的</a:t>
            </a:r>
            <a:r>
              <a:rPr lang="en-US" altLang="zh-CN" sz="1800" dirty="0" smtClean="0"/>
              <a:t>(</a:t>
            </a:r>
            <a:r>
              <a:rPr lang="en-US" altLang="zh-CN" sz="1800" dirty="0" err="1" smtClean="0"/>
              <a:t>x,y</a:t>
            </a:r>
            <a:r>
              <a:rPr lang="en-US" altLang="zh-CN" sz="1800" dirty="0"/>
              <a:t>)</a:t>
            </a:r>
            <a:r>
              <a:rPr lang="en-US" altLang="zh-CN" sz="1800" dirty="0" smtClean="0"/>
              <a:t> </a:t>
            </a:r>
            <a:r>
              <a:rPr lang="zh-CN" altLang="en-US" sz="1800" dirty="0" smtClean="0"/>
              <a:t>坐标，</a:t>
            </a:r>
            <a:r>
              <a:rPr lang="zh-CN" altLang="en-US" sz="1800" dirty="0">
                <a:sym typeface="Arial" panose="020B0604020202020204" pitchFamily="34" charset="0"/>
              </a:rPr>
              <a:t>以</a:t>
            </a:r>
            <a:r>
              <a:rPr lang="en-US" altLang="zh-CN" sz="1800" dirty="0" smtClean="0">
                <a:sym typeface="Arial" panose="020B0604020202020204" pitchFamily="34" charset="0"/>
              </a:rPr>
              <a:t>(right,</a:t>
            </a:r>
            <a:r>
              <a:rPr lang="en-US" altLang="zh-CN" sz="1800" dirty="0">
                <a:sym typeface="Arial" panose="020B0604020202020204" pitchFamily="34" charset="0"/>
              </a:rPr>
              <a:t> bottom</a:t>
            </a:r>
            <a:r>
              <a:rPr lang="en-US" altLang="zh-CN" sz="1800" dirty="0" smtClean="0">
                <a:sym typeface="Arial" panose="020B0604020202020204" pitchFamily="34" charset="0"/>
              </a:rPr>
              <a:t>)</a:t>
            </a:r>
            <a:r>
              <a:rPr lang="zh-CN" altLang="en-US" sz="1800" dirty="0">
                <a:sym typeface="Arial" panose="020B0604020202020204" pitchFamily="34" charset="0"/>
              </a:rPr>
              <a:t>作为</a:t>
            </a:r>
            <a:r>
              <a:rPr lang="zh-CN" altLang="en-US" sz="1800" dirty="0"/>
              <a:t>椭圆外切矩形</a:t>
            </a:r>
            <a:r>
              <a:rPr lang="zh-CN" altLang="en-US" sz="1800" dirty="0" smtClean="0"/>
              <a:t>的右下角</a:t>
            </a:r>
            <a:r>
              <a:rPr lang="zh-CN" altLang="en-US" sz="1800" dirty="0"/>
              <a:t>的</a:t>
            </a:r>
            <a:r>
              <a:rPr lang="en-US" altLang="zh-CN" sz="1800" dirty="0"/>
              <a:t>(</a:t>
            </a:r>
            <a:r>
              <a:rPr lang="en-US" altLang="zh-CN" sz="1800" dirty="0" err="1"/>
              <a:t>x,y</a:t>
            </a:r>
            <a:r>
              <a:rPr lang="en-US" altLang="zh-CN" sz="1800" dirty="0"/>
              <a:t>) </a:t>
            </a:r>
            <a:r>
              <a:rPr lang="zh-CN" altLang="en-US" sz="1800" dirty="0" smtClean="0"/>
              <a:t>坐标，画椭圆。 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利用</a:t>
            </a:r>
            <a:r>
              <a:rPr lang="en-US" altLang="zh-CN" sz="1800" dirty="0" err="1" smtClean="0"/>
              <a:t>setlinecolor</a:t>
            </a:r>
            <a:r>
              <a:rPr lang="en-US" altLang="zh-CN" sz="1800" dirty="0" smtClean="0"/>
              <a:t>()</a:t>
            </a:r>
            <a:r>
              <a:rPr lang="zh-CN" altLang="en-US" sz="1800" dirty="0" smtClean="0"/>
              <a:t>设置线条色彩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/>
              <a:t>2</a:t>
            </a:r>
            <a:r>
              <a:rPr lang="en-US" altLang="zh-CN" sz="2000" dirty="0" smtClean="0"/>
              <a:t>.</a:t>
            </a:r>
            <a:r>
              <a:rPr lang="zh-CN" altLang="en-US" sz="2000" dirty="0"/>
              <a:t>以填充颜色画有</a:t>
            </a:r>
            <a:r>
              <a:rPr lang="zh-CN" altLang="en-US" sz="2000" dirty="0" smtClean="0"/>
              <a:t>边框椭圆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 smtClean="0">
                <a:sym typeface="Arial" panose="020B0604020202020204" pitchFamily="34" charset="0"/>
              </a:rPr>
              <a:t>：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smtClean="0">
                <a:sym typeface="Arial" panose="020B0604020202020204" pitchFamily="34" charset="0"/>
              </a:rPr>
              <a:t>void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fillellipse</a:t>
            </a:r>
            <a:r>
              <a:rPr lang="en-US" altLang="zh-CN" sz="1800" dirty="0" smtClean="0">
                <a:sym typeface="Arial" panose="020B0604020202020204" pitchFamily="34" charset="0"/>
              </a:rPr>
              <a:t>(</a:t>
            </a:r>
            <a:r>
              <a:rPr lang="en-US" altLang="zh-CN" sz="1800" dirty="0" err="1" smtClean="0">
                <a:sym typeface="Arial" panose="020B0604020202020204" pitchFamily="34" charset="0"/>
              </a:rPr>
              <a:t>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ym typeface="Arial" panose="020B0604020202020204" pitchFamily="34" charset="0"/>
              </a:rPr>
              <a:t>left, 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top, 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err="1" smtClean="0">
                <a:sym typeface="Arial" panose="020B0604020202020204" pitchFamily="34" charset="0"/>
              </a:rPr>
              <a:t>right,int</a:t>
            </a:r>
            <a:r>
              <a:rPr lang="en-US" altLang="zh-CN" sz="1800" dirty="0" smtClean="0">
                <a:sym typeface="Arial" panose="020B0604020202020204" pitchFamily="34" charset="0"/>
              </a:rPr>
              <a:t> </a:t>
            </a:r>
            <a:r>
              <a:rPr lang="en-US" altLang="zh-CN" sz="1800" dirty="0">
                <a:sym typeface="Arial" panose="020B0604020202020204" pitchFamily="34" charset="0"/>
              </a:rPr>
              <a:t>bottom</a:t>
            </a:r>
            <a:r>
              <a:rPr lang="en-US" altLang="zh-CN" sz="1800" dirty="0" smtClean="0">
                <a:sym typeface="Arial" panose="020B0604020202020204" pitchFamily="34" charset="0"/>
              </a:rPr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利用</a:t>
            </a:r>
            <a:r>
              <a:rPr lang="en-US" altLang="zh-CN" sz="1800" dirty="0" err="1"/>
              <a:t>setlinecolor</a:t>
            </a:r>
            <a:r>
              <a:rPr lang="en-US" altLang="zh-CN" sz="1800" dirty="0"/>
              <a:t>()</a:t>
            </a:r>
            <a:r>
              <a:rPr lang="zh-CN" altLang="en-US" sz="1800" dirty="0"/>
              <a:t>设置线条</a:t>
            </a:r>
            <a:r>
              <a:rPr lang="zh-CN" altLang="en-US" sz="1800" dirty="0" smtClean="0"/>
              <a:t>色彩，</a:t>
            </a:r>
            <a:r>
              <a:rPr lang="en-US" altLang="zh-CN" sz="1800" dirty="0" err="1" smtClean="0"/>
              <a:t>setfillcolor</a:t>
            </a:r>
            <a:r>
              <a:rPr lang="en-US" altLang="zh-CN" sz="1800" dirty="0" smtClean="0"/>
              <a:t>()</a:t>
            </a:r>
            <a:r>
              <a:rPr lang="zh-CN" altLang="en-US" sz="1800" dirty="0" smtClean="0"/>
              <a:t>设置填充颜色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3.</a:t>
            </a:r>
            <a:r>
              <a:rPr lang="zh-CN" altLang="en-US" sz="2000" dirty="0"/>
              <a:t>以填充颜色画无边框</a:t>
            </a:r>
            <a:r>
              <a:rPr lang="zh-CN" altLang="en-US" sz="2000" dirty="0" smtClean="0"/>
              <a:t>的椭圆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函数</a:t>
            </a:r>
            <a:r>
              <a:rPr lang="zh-CN" altLang="en-US" sz="1800" dirty="0">
                <a:sym typeface="Arial" panose="020B0604020202020204" pitchFamily="34" charset="0"/>
              </a:rPr>
              <a:t>：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smtClean="0">
                <a:sym typeface="Arial" panose="020B0604020202020204" pitchFamily="34" charset="0"/>
              </a:rPr>
              <a:t>void </a:t>
            </a:r>
            <a:r>
              <a:rPr lang="en-US" altLang="zh-CN" sz="1800" dirty="0" err="1">
                <a:sym typeface="Arial" panose="020B0604020202020204" pitchFamily="34" charset="0"/>
              </a:rPr>
              <a:t>fillellipse</a:t>
            </a:r>
            <a:r>
              <a:rPr lang="en-US" altLang="zh-CN" sz="1800" dirty="0">
                <a:sym typeface="Arial" panose="020B0604020202020204" pitchFamily="34" charset="0"/>
              </a:rPr>
              <a:t>(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left, 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top, </a:t>
            </a:r>
            <a:r>
              <a:rPr lang="en-US" altLang="zh-CN" sz="1800" dirty="0" err="1">
                <a:sym typeface="Arial" panose="020B0604020202020204" pitchFamily="34" charset="0"/>
              </a:rPr>
              <a:t>int</a:t>
            </a:r>
            <a:r>
              <a:rPr lang="en-US" altLang="zh-CN" sz="1800" dirty="0">
                <a:sym typeface="Arial" panose="020B0604020202020204" pitchFamily="34" charset="0"/>
              </a:rPr>
              <a:t> </a:t>
            </a:r>
            <a:r>
              <a:rPr lang="en-US" altLang="zh-CN" sz="1800" dirty="0" err="1">
                <a:sym typeface="Arial" panose="020B0604020202020204" pitchFamily="34" charset="0"/>
              </a:rPr>
              <a:t>right,int</a:t>
            </a:r>
            <a:r>
              <a:rPr lang="en-US" altLang="zh-CN" sz="1800" dirty="0">
                <a:sym typeface="Arial" panose="020B0604020202020204" pitchFamily="34" charset="0"/>
              </a:rPr>
              <a:t> bottom);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/>
              <a:t>利用</a:t>
            </a:r>
            <a:r>
              <a:rPr lang="en-US" altLang="zh-CN" sz="1800" dirty="0" err="1"/>
              <a:t>setfillcolor</a:t>
            </a:r>
            <a:r>
              <a:rPr lang="en-US" altLang="zh-CN" sz="1800" dirty="0"/>
              <a:t>()</a:t>
            </a:r>
            <a:r>
              <a:rPr lang="zh-CN" altLang="en-US" sz="1800" dirty="0"/>
              <a:t>设置填充颜色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4</a:t>
            </a:r>
            <a:r>
              <a:rPr lang="en-US" altLang="zh-CN" sz="2000" dirty="0"/>
              <a:t>. </a:t>
            </a:r>
            <a:r>
              <a:rPr lang="en-US" altLang="zh-CN" sz="2000" dirty="0" smtClean="0"/>
              <a:t>Clear </a:t>
            </a:r>
            <a:r>
              <a:rPr lang="en-US" altLang="zh-CN" sz="2000" dirty="0"/>
              <a:t>an elliptical region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void </a:t>
            </a:r>
            <a:r>
              <a:rPr lang="en-US" altLang="zh-CN" sz="1800" dirty="0" err="1"/>
              <a:t>clearellipse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left,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top,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right,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bottom);	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ym typeface="Arial" panose="020B0604020202020204" pitchFamily="34" charset="0"/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16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矩形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smtClean="0">
                <a:solidFill>
                  <a:srgbClr val="080808"/>
                </a:solidFill>
              </a:rPr>
              <a:t>rectangle 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</a:t>
            </a:r>
            <a:r>
              <a:rPr lang="en-US" altLang="zh-CN" sz="2000" dirty="0" smtClean="0">
                <a:solidFill>
                  <a:srgbClr val="080808"/>
                </a:solidFill>
              </a:rPr>
              <a:t>);// </a:t>
            </a:r>
            <a:r>
              <a:rPr lang="en-US" altLang="zh-CN" sz="2000" dirty="0">
                <a:solidFill>
                  <a:srgbClr val="080808"/>
                </a:solidFill>
              </a:rPr>
              <a:t>Draw a rectangle without filling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fillrectangle</a:t>
            </a:r>
            <a:r>
              <a:rPr lang="en-US" altLang="zh-CN" sz="2000" dirty="0">
                <a:solidFill>
                  <a:srgbClr val="080808"/>
                </a:solidFill>
              </a:rPr>
              <a:t> 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bottom);	// Draw a filled rectangle with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solidrectangle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bottom);	// Draw a filled rectangle without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clearrectangle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bottom);	// Clear a rectangular region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详情参见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https://</a:t>
            </a:r>
            <a:r>
              <a:rPr lang="en-US" altLang="zh-CN" sz="1800" dirty="0" smtClean="0"/>
              <a:t>docs.easyx.cn/zh-cn/drawing-func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105101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圆角矩形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roundrect</a:t>
            </a:r>
            <a:r>
              <a:rPr lang="en-US" altLang="zh-CN" sz="2000" dirty="0" smtClean="0">
                <a:solidFill>
                  <a:srgbClr val="080808"/>
                </a:solidFill>
              </a:rPr>
              <a:t>(</a:t>
            </a:r>
            <a:r>
              <a:rPr lang="en-US" altLang="zh-CN" sz="2000" dirty="0" err="1" smtClean="0">
                <a:solidFill>
                  <a:srgbClr val="080808"/>
                </a:solidFill>
              </a:rPr>
              <a:t>int</a:t>
            </a:r>
            <a:r>
              <a:rPr lang="en-US" altLang="zh-CN" sz="2000" dirty="0" smtClean="0">
                <a:solidFill>
                  <a:srgbClr val="080808"/>
                </a:solidFill>
              </a:rPr>
              <a:t> </a:t>
            </a:r>
            <a:r>
              <a:rPr lang="en-US" altLang="zh-CN" sz="2000" dirty="0">
                <a:solidFill>
                  <a:srgbClr val="080808"/>
                </a:solidFill>
              </a:rPr>
              <a:t>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ellipsewidth</a:t>
            </a:r>
            <a:r>
              <a:rPr lang="en-US" altLang="zh-CN" sz="2000" dirty="0">
                <a:solidFill>
                  <a:srgbClr val="080808"/>
                </a:solidFill>
              </a:rPr>
              <a:t>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ellipseheight</a:t>
            </a:r>
            <a:r>
              <a:rPr lang="en-US" altLang="zh-CN" sz="2000" dirty="0">
                <a:solidFill>
                  <a:srgbClr val="080808"/>
                </a:solidFill>
              </a:rPr>
              <a:t>);	</a:t>
            </a:r>
            <a:r>
              <a:rPr lang="en-US" altLang="zh-CN" sz="2000" dirty="0" smtClean="0">
                <a:solidFill>
                  <a:srgbClr val="080808"/>
                </a:solidFill>
              </a:rPr>
              <a:t>// </a:t>
            </a:r>
            <a:r>
              <a:rPr lang="en-US" altLang="zh-CN" sz="2000" dirty="0">
                <a:solidFill>
                  <a:srgbClr val="080808"/>
                </a:solidFill>
              </a:rPr>
              <a:t>Draw a rounded rectangle without filling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fillroundrect</a:t>
            </a:r>
            <a:r>
              <a:rPr lang="en-US" altLang="zh-CN" sz="2000" dirty="0">
                <a:solidFill>
                  <a:srgbClr val="080808"/>
                </a:solidFill>
              </a:rPr>
              <a:t> 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ellipsewidth</a:t>
            </a:r>
            <a:r>
              <a:rPr lang="en-US" altLang="zh-CN" sz="2000" dirty="0">
                <a:solidFill>
                  <a:srgbClr val="080808"/>
                </a:solidFill>
              </a:rPr>
              <a:t>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ellipseheight</a:t>
            </a:r>
            <a:r>
              <a:rPr lang="en-US" altLang="zh-CN" sz="2000" dirty="0" smtClean="0">
                <a:solidFill>
                  <a:srgbClr val="080808"/>
                </a:solidFill>
              </a:rPr>
              <a:t>);  // </a:t>
            </a:r>
            <a:r>
              <a:rPr lang="en-US" altLang="zh-CN" sz="2000" dirty="0">
                <a:solidFill>
                  <a:srgbClr val="080808"/>
                </a:solidFill>
              </a:rPr>
              <a:t>Draw a filled rounded rectangle with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solidroundrect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ellipsewidth</a:t>
            </a:r>
            <a:r>
              <a:rPr lang="en-US" altLang="zh-CN" sz="2000" dirty="0">
                <a:solidFill>
                  <a:srgbClr val="080808"/>
                </a:solidFill>
              </a:rPr>
              <a:t>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ellipseheight</a:t>
            </a:r>
            <a:r>
              <a:rPr lang="en-US" altLang="zh-CN" sz="2000" dirty="0" smtClean="0">
                <a:solidFill>
                  <a:srgbClr val="080808"/>
                </a:solidFill>
              </a:rPr>
              <a:t>);// </a:t>
            </a:r>
            <a:r>
              <a:rPr lang="en-US" altLang="zh-CN" sz="2000" dirty="0">
                <a:solidFill>
                  <a:srgbClr val="080808"/>
                </a:solidFill>
              </a:rPr>
              <a:t>Draw a filled rounded rectangle without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clearroundrect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ellipsewidth</a:t>
            </a:r>
            <a:r>
              <a:rPr lang="en-US" altLang="zh-CN" sz="2000" dirty="0">
                <a:solidFill>
                  <a:srgbClr val="080808"/>
                </a:solidFill>
              </a:rPr>
              <a:t>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ellipseheight</a:t>
            </a:r>
            <a:r>
              <a:rPr lang="en-US" altLang="zh-CN" sz="2000" dirty="0" smtClean="0">
                <a:solidFill>
                  <a:srgbClr val="080808"/>
                </a:solidFill>
              </a:rPr>
              <a:t>);  // </a:t>
            </a:r>
            <a:r>
              <a:rPr lang="en-US" altLang="zh-CN" sz="2000" dirty="0">
                <a:solidFill>
                  <a:srgbClr val="080808"/>
                </a:solidFill>
              </a:rPr>
              <a:t>Clear a rounded rectangular region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详情参见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https://</a:t>
            </a:r>
            <a:r>
              <a:rPr lang="en-US" altLang="zh-CN" sz="1800" dirty="0" smtClean="0"/>
              <a:t>docs.easyx.cn/zh-cn/drawing-func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46942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多边形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smtClean="0">
                <a:solidFill>
                  <a:srgbClr val="080808"/>
                </a:solidFill>
              </a:rPr>
              <a:t>polyline 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const</a:t>
            </a:r>
            <a:r>
              <a:rPr lang="en-US" altLang="zh-CN" sz="2000" dirty="0">
                <a:solidFill>
                  <a:srgbClr val="080808"/>
                </a:solidFill>
              </a:rPr>
              <a:t> POINT *points,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num</a:t>
            </a:r>
            <a:r>
              <a:rPr lang="en-US" altLang="zh-CN" sz="2000" dirty="0" smtClean="0">
                <a:solidFill>
                  <a:srgbClr val="080808"/>
                </a:solidFill>
              </a:rPr>
              <a:t>); // </a:t>
            </a:r>
            <a:r>
              <a:rPr lang="en-US" altLang="zh-CN" sz="2000" dirty="0">
                <a:solidFill>
                  <a:srgbClr val="080808"/>
                </a:solidFill>
              </a:rPr>
              <a:t>Draw multiple consecutive lines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smtClean="0">
                <a:solidFill>
                  <a:srgbClr val="080808"/>
                </a:solidFill>
              </a:rPr>
              <a:t>polygon 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const</a:t>
            </a:r>
            <a:r>
              <a:rPr lang="en-US" altLang="zh-CN" sz="2000" dirty="0">
                <a:solidFill>
                  <a:srgbClr val="080808"/>
                </a:solidFill>
              </a:rPr>
              <a:t> POINT *points,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num</a:t>
            </a:r>
            <a:r>
              <a:rPr lang="en-US" altLang="zh-CN" sz="2000" dirty="0" smtClean="0">
                <a:solidFill>
                  <a:srgbClr val="080808"/>
                </a:solidFill>
              </a:rPr>
              <a:t>); // </a:t>
            </a:r>
            <a:r>
              <a:rPr lang="en-US" altLang="zh-CN" sz="2000" dirty="0">
                <a:solidFill>
                  <a:srgbClr val="080808"/>
                </a:solidFill>
              </a:rPr>
              <a:t>Draw a polygon without filling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fillpolygon</a:t>
            </a:r>
            <a:r>
              <a:rPr lang="en-US" altLang="zh-CN" sz="2000" dirty="0">
                <a:solidFill>
                  <a:srgbClr val="080808"/>
                </a:solidFill>
              </a:rPr>
              <a:t> (</a:t>
            </a:r>
            <a:r>
              <a:rPr lang="en-US" altLang="zh-CN" sz="2000" dirty="0" err="1">
                <a:solidFill>
                  <a:srgbClr val="080808"/>
                </a:solidFill>
              </a:rPr>
              <a:t>const</a:t>
            </a:r>
            <a:r>
              <a:rPr lang="en-US" altLang="zh-CN" sz="2000" dirty="0">
                <a:solidFill>
                  <a:srgbClr val="080808"/>
                </a:solidFill>
              </a:rPr>
              <a:t> POINT *points,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num</a:t>
            </a:r>
            <a:r>
              <a:rPr lang="en-US" altLang="zh-CN" sz="2000" dirty="0" smtClean="0">
                <a:solidFill>
                  <a:srgbClr val="080808"/>
                </a:solidFill>
              </a:rPr>
              <a:t>); // </a:t>
            </a:r>
            <a:r>
              <a:rPr lang="en-US" altLang="zh-CN" sz="2000" dirty="0">
                <a:solidFill>
                  <a:srgbClr val="080808"/>
                </a:solidFill>
              </a:rPr>
              <a:t>Draw a filled polygon with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solidpolygon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const</a:t>
            </a:r>
            <a:r>
              <a:rPr lang="en-US" altLang="zh-CN" sz="2000" dirty="0">
                <a:solidFill>
                  <a:srgbClr val="080808"/>
                </a:solidFill>
              </a:rPr>
              <a:t> POINT *points,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num</a:t>
            </a:r>
            <a:r>
              <a:rPr lang="en-US" altLang="zh-CN" sz="2000" dirty="0" smtClean="0">
                <a:solidFill>
                  <a:srgbClr val="080808"/>
                </a:solidFill>
              </a:rPr>
              <a:t>);  // </a:t>
            </a:r>
            <a:r>
              <a:rPr lang="en-US" altLang="zh-CN" sz="2000" dirty="0">
                <a:solidFill>
                  <a:srgbClr val="080808"/>
                </a:solidFill>
              </a:rPr>
              <a:t>Draw a filled polygon without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clearpolygon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const</a:t>
            </a:r>
            <a:r>
              <a:rPr lang="en-US" altLang="zh-CN" sz="2000" dirty="0">
                <a:solidFill>
                  <a:srgbClr val="080808"/>
                </a:solidFill>
              </a:rPr>
              <a:t> POINT *points,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num</a:t>
            </a:r>
            <a:r>
              <a:rPr lang="en-US" altLang="zh-CN" sz="2000" dirty="0">
                <a:solidFill>
                  <a:srgbClr val="080808"/>
                </a:solidFill>
              </a:rPr>
              <a:t>);	</a:t>
            </a:r>
            <a:r>
              <a:rPr lang="en-US" altLang="zh-CN" sz="2000" dirty="0" smtClean="0">
                <a:solidFill>
                  <a:srgbClr val="080808"/>
                </a:solidFill>
              </a:rPr>
              <a:t> // </a:t>
            </a:r>
            <a:r>
              <a:rPr lang="en-US" altLang="zh-CN" sz="2000" dirty="0">
                <a:solidFill>
                  <a:srgbClr val="080808"/>
                </a:solidFill>
              </a:rPr>
              <a:t>Clear a polygon region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详情参见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https://</a:t>
            </a:r>
            <a:r>
              <a:rPr lang="en-US" altLang="zh-CN" sz="1800" dirty="0" smtClean="0"/>
              <a:t>docs.easyx.cn/zh-cn/drawing-func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4174273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扇形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smtClean="0">
                <a:solidFill>
                  <a:srgbClr val="080808"/>
                </a:solidFill>
              </a:rPr>
              <a:t>pie 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double </a:t>
            </a:r>
            <a:r>
              <a:rPr lang="en-US" altLang="zh-CN" sz="2000" dirty="0" err="1">
                <a:solidFill>
                  <a:srgbClr val="080808"/>
                </a:solidFill>
              </a:rPr>
              <a:t>stangle</a:t>
            </a:r>
            <a:r>
              <a:rPr lang="en-US" altLang="zh-CN" sz="2000" dirty="0">
                <a:solidFill>
                  <a:srgbClr val="080808"/>
                </a:solidFill>
              </a:rPr>
              <a:t>, double </a:t>
            </a:r>
            <a:r>
              <a:rPr lang="en-US" altLang="zh-CN" sz="2000" dirty="0" err="1">
                <a:solidFill>
                  <a:srgbClr val="080808"/>
                </a:solidFill>
              </a:rPr>
              <a:t>endangle</a:t>
            </a:r>
            <a:r>
              <a:rPr lang="en-US" altLang="zh-CN" sz="2000" dirty="0">
                <a:solidFill>
                  <a:srgbClr val="080808"/>
                </a:solidFill>
              </a:rPr>
              <a:t>);	// Draw a sector without filling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fillpie</a:t>
            </a:r>
            <a:r>
              <a:rPr lang="en-US" altLang="zh-CN" sz="2000" dirty="0">
                <a:solidFill>
                  <a:srgbClr val="080808"/>
                </a:solidFill>
              </a:rPr>
              <a:t> 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double </a:t>
            </a:r>
            <a:r>
              <a:rPr lang="en-US" altLang="zh-CN" sz="2000" dirty="0" err="1">
                <a:solidFill>
                  <a:srgbClr val="080808"/>
                </a:solidFill>
              </a:rPr>
              <a:t>stangle</a:t>
            </a:r>
            <a:r>
              <a:rPr lang="en-US" altLang="zh-CN" sz="2000" dirty="0">
                <a:solidFill>
                  <a:srgbClr val="080808"/>
                </a:solidFill>
              </a:rPr>
              <a:t>, double </a:t>
            </a:r>
            <a:r>
              <a:rPr lang="en-US" altLang="zh-CN" sz="2000" dirty="0" err="1">
                <a:solidFill>
                  <a:srgbClr val="080808"/>
                </a:solidFill>
              </a:rPr>
              <a:t>endangle</a:t>
            </a:r>
            <a:r>
              <a:rPr lang="en-US" altLang="zh-CN" sz="2000" dirty="0">
                <a:solidFill>
                  <a:srgbClr val="080808"/>
                </a:solidFill>
              </a:rPr>
              <a:t>);	// Draw a filled sector with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solidpie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double </a:t>
            </a:r>
            <a:r>
              <a:rPr lang="en-US" altLang="zh-CN" sz="2000" dirty="0" err="1">
                <a:solidFill>
                  <a:srgbClr val="080808"/>
                </a:solidFill>
              </a:rPr>
              <a:t>stangle</a:t>
            </a:r>
            <a:r>
              <a:rPr lang="en-US" altLang="zh-CN" sz="2000" dirty="0">
                <a:solidFill>
                  <a:srgbClr val="080808"/>
                </a:solidFill>
              </a:rPr>
              <a:t>, double </a:t>
            </a:r>
            <a:r>
              <a:rPr lang="en-US" altLang="zh-CN" sz="2000" dirty="0" err="1">
                <a:solidFill>
                  <a:srgbClr val="080808"/>
                </a:solidFill>
              </a:rPr>
              <a:t>endangle</a:t>
            </a:r>
            <a:r>
              <a:rPr lang="en-US" altLang="zh-CN" sz="2000" dirty="0">
                <a:solidFill>
                  <a:srgbClr val="080808"/>
                </a:solidFill>
              </a:rPr>
              <a:t>);	// Draw a filled sector without a border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void </a:t>
            </a:r>
            <a:r>
              <a:rPr lang="en-US" altLang="zh-CN" sz="2000" dirty="0" err="1">
                <a:solidFill>
                  <a:srgbClr val="080808"/>
                </a:solidFill>
              </a:rPr>
              <a:t>clearpie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left,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top,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right, 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bottom, double </a:t>
            </a:r>
            <a:r>
              <a:rPr lang="en-US" altLang="zh-CN" sz="2000" dirty="0" err="1">
                <a:solidFill>
                  <a:srgbClr val="080808"/>
                </a:solidFill>
              </a:rPr>
              <a:t>stangle</a:t>
            </a:r>
            <a:r>
              <a:rPr lang="en-US" altLang="zh-CN" sz="2000" dirty="0">
                <a:solidFill>
                  <a:srgbClr val="080808"/>
                </a:solidFill>
              </a:rPr>
              <a:t>, double </a:t>
            </a:r>
            <a:r>
              <a:rPr lang="en-US" altLang="zh-CN" sz="2000" dirty="0" err="1">
                <a:solidFill>
                  <a:srgbClr val="080808"/>
                </a:solidFill>
              </a:rPr>
              <a:t>endangle</a:t>
            </a:r>
            <a:r>
              <a:rPr lang="en-US" altLang="zh-CN" sz="2000" dirty="0">
                <a:solidFill>
                  <a:srgbClr val="080808"/>
                </a:solidFill>
              </a:rPr>
              <a:t>);	// Clear a rounded rectangular region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详情参见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https://</a:t>
            </a:r>
            <a:r>
              <a:rPr lang="en-US" altLang="zh-CN" sz="1800" dirty="0" smtClean="0"/>
              <a:t>docs.easyx.cn/zh-cn/drawing-func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50704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图形绘制</a:t>
            </a:r>
            <a:r>
              <a:rPr lang="en-US" altLang="zh-CN" dirty="0" smtClean="0">
                <a:solidFill>
                  <a:srgbClr val="7030A0"/>
                </a:solidFill>
              </a:rPr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其它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画圆弧：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void </a:t>
            </a:r>
            <a:r>
              <a:rPr lang="en-US" altLang="zh-CN" sz="1800" dirty="0" smtClean="0"/>
              <a:t>arc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left,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top,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right,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bottom, double </a:t>
            </a:r>
            <a:r>
              <a:rPr lang="en-US" altLang="zh-CN" sz="1800" dirty="0" err="1"/>
              <a:t>stangle</a:t>
            </a:r>
            <a:r>
              <a:rPr lang="en-US" altLang="zh-CN" sz="1800" dirty="0"/>
              <a:t>, double </a:t>
            </a:r>
            <a:r>
              <a:rPr lang="en-US" altLang="zh-CN" sz="1800" dirty="0" err="1"/>
              <a:t>endangle</a:t>
            </a:r>
            <a:r>
              <a:rPr lang="en-US" altLang="zh-CN" sz="1800" dirty="0"/>
              <a:t>);	// Draw an arc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画直线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void line(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x1,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y1,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x2,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y2</a:t>
            </a:r>
            <a:r>
              <a:rPr lang="en-US" altLang="zh-CN" sz="1800" dirty="0" smtClean="0"/>
              <a:t>);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 // </a:t>
            </a:r>
            <a:r>
              <a:rPr lang="en-US" altLang="zh-CN" sz="1800" dirty="0"/>
              <a:t>Draw a line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画连续的多条线段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fr-FR" altLang="zh-CN" sz="1800" dirty="0"/>
              <a:t>void </a:t>
            </a:r>
            <a:r>
              <a:rPr lang="fr-FR" altLang="zh-CN" sz="1800" dirty="0" smtClean="0"/>
              <a:t>polyline(const </a:t>
            </a:r>
            <a:r>
              <a:rPr lang="fr-FR" altLang="zh-CN" sz="1800" dirty="0"/>
              <a:t>POINT *points, int num);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画点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putpixel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y, COLORREF color);	// Set pixel color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画三次方贝塞尔</a:t>
            </a:r>
            <a:r>
              <a:rPr lang="zh-CN" altLang="en-US" sz="2000" dirty="0" smtClean="0"/>
              <a:t>曲线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fr-FR" altLang="zh-CN" sz="1800" dirty="0"/>
              <a:t>void polybezier(const POINT *points, int num</a:t>
            </a:r>
            <a:r>
              <a:rPr lang="fr-FR" altLang="zh-CN" sz="1800" dirty="0" smtClean="0"/>
              <a:t>);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填充区域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floodfill</a:t>
            </a:r>
            <a:r>
              <a:rPr lang="en-US" altLang="zh-CN" sz="1800" dirty="0"/>
              <a:t>(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x,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y, COLORREF color, </a:t>
            </a:r>
            <a:r>
              <a:rPr lang="en-US" altLang="zh-CN" sz="1800" dirty="0" err="1"/>
              <a:t>int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filltype</a:t>
            </a:r>
            <a:r>
              <a:rPr lang="en-US" altLang="zh-CN" sz="1800" dirty="0"/>
              <a:t> = FLOODFILLBORDER</a:t>
            </a:r>
            <a:r>
              <a:rPr lang="en-US" altLang="zh-CN" sz="1800" dirty="0" smtClean="0"/>
              <a:t>);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详情参见：</a:t>
            </a:r>
            <a:r>
              <a:rPr lang="en-US" altLang="zh-CN" sz="2000" dirty="0"/>
              <a:t>https://docs.easyx.cn/zh-cn/drawing-func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6706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图形颜色及样式设置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>
                <a:solidFill>
                  <a:srgbClr val="7030A0"/>
                </a:solidFill>
              </a:rPr>
              <a:t>图形颜色及样式设置</a:t>
            </a:r>
            <a:r>
              <a:rPr lang="zh-CN" altLang="en-US" dirty="0" smtClean="0"/>
              <a:t>相关函数，参见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https://docs.easyx.cn/zh-cn/style-settings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705" y="1984248"/>
            <a:ext cx="4852652" cy="429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56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文字输出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rgbClr val="7030A0"/>
                </a:solidFill>
              </a:rPr>
              <a:t>文字输出</a:t>
            </a:r>
            <a:r>
              <a:rPr lang="zh-CN" altLang="en-US" dirty="0" smtClean="0"/>
              <a:t>相关函数，参见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https://docs.easyx.cn/zh-cn/text-func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629" y="2314575"/>
            <a:ext cx="564832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293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图像处理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rgbClr val="7030A0"/>
                </a:solidFill>
              </a:rPr>
              <a:t>图像处理</a:t>
            </a:r>
            <a:r>
              <a:rPr lang="zh-CN" altLang="en-US" dirty="0" smtClean="0"/>
              <a:t>相关函数，参见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https://docs.easyx.cn/zh-cn/image-func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581" y="2124646"/>
            <a:ext cx="6229350" cy="372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86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消息处理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>
                <a:solidFill>
                  <a:srgbClr val="7030A0"/>
                </a:solidFill>
              </a:rPr>
              <a:t>消息处理</a:t>
            </a:r>
            <a:r>
              <a:rPr lang="zh-CN" altLang="en-US" dirty="0" smtClean="0"/>
              <a:t>相关函数，参见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https://docs.easyx.cn/zh-cn/msg-func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360" y="2308860"/>
            <a:ext cx="6581775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850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>
                <a:solidFill>
                  <a:srgbClr val="7030A0"/>
                </a:solidFill>
              </a:rPr>
              <a:t>其它函数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其它函数，参见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https://docs.easyx.cn/zh-cn/msg-func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81" y="2236279"/>
            <a:ext cx="55721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6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EasyX</a:t>
            </a:r>
            <a:r>
              <a:rPr lang="zh-CN" altLang="en-US" dirty="0" smtClean="0"/>
              <a:t>图形库的使用</a:t>
            </a:r>
            <a:r>
              <a:rPr lang="en-US" altLang="zh-CN" dirty="0" smtClean="0"/>
              <a:t>---</a:t>
            </a:r>
            <a:r>
              <a:rPr lang="zh-CN" altLang="en-US" dirty="0" smtClean="0"/>
              <a:t>示例程序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 smtClean="0"/>
              <a:t>示例程序，参见</a:t>
            </a:r>
            <a:endParaRPr lang="en-US" altLang="zh-CN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en-US" altLang="zh-CN" dirty="0"/>
              <a:t>https://docs.easyx.cn/zh-cn/examples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78" y="2525490"/>
            <a:ext cx="7862697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99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键盘消息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b="1" dirty="0" smtClean="0">
                <a:solidFill>
                  <a:srgbClr val="C00000"/>
                </a:solidFill>
              </a:rPr>
              <a:t>注：新版的</a:t>
            </a:r>
            <a:r>
              <a:rPr lang="en-US" altLang="zh-CN" sz="2000" b="1" dirty="0" err="1" smtClean="0">
                <a:solidFill>
                  <a:srgbClr val="C00000"/>
                </a:solidFill>
              </a:rPr>
              <a:t>EasyX</a:t>
            </a:r>
            <a:r>
              <a:rPr lang="zh-CN" altLang="en-US" sz="2000" b="1" dirty="0" smtClean="0">
                <a:solidFill>
                  <a:srgbClr val="C00000"/>
                </a:solidFill>
              </a:rPr>
              <a:t>将键盘消息与鼠标消息做了统一处理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头文件：</a:t>
            </a:r>
            <a:r>
              <a:rPr lang="en-US" altLang="zh-CN" sz="2000" dirty="0" err="1" smtClean="0"/>
              <a:t>conio.h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 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_</a:t>
            </a:r>
            <a:r>
              <a:rPr lang="en-US" altLang="zh-CN" sz="2000" dirty="0" err="1">
                <a:solidFill>
                  <a:srgbClr val="080808"/>
                </a:solidFill>
              </a:rPr>
              <a:t>kbhit</a:t>
            </a:r>
            <a:r>
              <a:rPr lang="en-US" altLang="zh-CN" sz="2000" dirty="0">
                <a:solidFill>
                  <a:srgbClr val="080808"/>
                </a:solidFill>
              </a:rPr>
              <a:t>( void </a:t>
            </a:r>
            <a:r>
              <a:rPr lang="en-US" altLang="zh-CN" sz="2000" dirty="0" smtClean="0">
                <a:solidFill>
                  <a:srgbClr val="080808"/>
                </a:solidFill>
              </a:rPr>
              <a:t>);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/>
              <a:t>检查当前是否有键盘输入，若有则返回一个非</a:t>
            </a:r>
            <a:r>
              <a:rPr lang="en-US" altLang="zh-CN" sz="1800" dirty="0"/>
              <a:t>0</a:t>
            </a:r>
            <a:r>
              <a:rPr lang="zh-CN" altLang="en-US" sz="1800" dirty="0"/>
              <a:t>值，否则返回</a:t>
            </a:r>
            <a:r>
              <a:rPr lang="en-US" altLang="zh-CN" sz="1800" dirty="0"/>
              <a:t>0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getch</a:t>
            </a:r>
            <a:r>
              <a:rPr lang="en-US" altLang="zh-CN" sz="2000" dirty="0">
                <a:solidFill>
                  <a:srgbClr val="080808"/>
                </a:solidFill>
              </a:rPr>
              <a:t>(void</a:t>
            </a:r>
            <a:r>
              <a:rPr lang="en-US" altLang="zh-CN" sz="2000" dirty="0" smtClean="0">
                <a:solidFill>
                  <a:srgbClr val="080808"/>
                </a:solidFill>
              </a:rPr>
              <a:t>)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/>
              <a:t>从控制台读取一个字符，但不显示在屏幕上</a:t>
            </a:r>
            <a:endParaRPr lang="en-US" altLang="zh-CN" sz="1800" dirty="0">
              <a:solidFill>
                <a:srgbClr val="080808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sz="2000" dirty="0">
                <a:solidFill>
                  <a:srgbClr val="080808"/>
                </a:solidFill>
              </a:rPr>
              <a:t>short </a:t>
            </a:r>
            <a:r>
              <a:rPr lang="en-US" altLang="zh-CN" sz="2000" dirty="0" err="1">
                <a:solidFill>
                  <a:srgbClr val="080808"/>
                </a:solidFill>
              </a:rPr>
              <a:t>GetAsyncKeyState</a:t>
            </a:r>
            <a:r>
              <a:rPr lang="en-US" altLang="zh-CN" sz="2000" dirty="0">
                <a:solidFill>
                  <a:srgbClr val="080808"/>
                </a:solidFill>
              </a:rPr>
              <a:t>(</a:t>
            </a:r>
            <a:r>
              <a:rPr lang="en-US" altLang="zh-CN" sz="2000" dirty="0" err="1">
                <a:solidFill>
                  <a:srgbClr val="080808"/>
                </a:solidFill>
              </a:rPr>
              <a:t>int</a:t>
            </a:r>
            <a:r>
              <a:rPr lang="en-US" altLang="zh-CN" sz="2000" dirty="0">
                <a:solidFill>
                  <a:srgbClr val="080808"/>
                </a:solidFill>
              </a:rPr>
              <a:t> </a:t>
            </a:r>
            <a:r>
              <a:rPr lang="en-US" altLang="zh-CN" sz="2000" dirty="0" err="1">
                <a:solidFill>
                  <a:srgbClr val="080808"/>
                </a:solidFill>
              </a:rPr>
              <a:t>vKey</a:t>
            </a:r>
            <a:r>
              <a:rPr lang="en-US" altLang="zh-CN" sz="2000" dirty="0" smtClean="0">
                <a:solidFill>
                  <a:srgbClr val="080808"/>
                </a:solidFill>
              </a:rPr>
              <a:t>)</a:t>
            </a:r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/>
              <a:t>判断函数调用时指定虚拟键的状态，确定用户当前是否按下了键盘上的一</a:t>
            </a:r>
            <a:r>
              <a:rPr lang="zh-CN" altLang="en-US" sz="1800" dirty="0" smtClean="0"/>
              <a:t>个虚拟键。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如传输的</a:t>
            </a:r>
            <a:r>
              <a:rPr lang="en-US" altLang="zh-CN" sz="1800" dirty="0" err="1" smtClean="0">
                <a:solidFill>
                  <a:srgbClr val="080808"/>
                </a:solidFill>
              </a:rPr>
              <a:t>vKey</a:t>
            </a:r>
            <a:r>
              <a:rPr lang="zh-CN" altLang="en-US" sz="1800" dirty="0" smtClean="0">
                <a:solidFill>
                  <a:srgbClr val="080808"/>
                </a:solidFill>
              </a:rPr>
              <a:t>所指定的虚拟</a:t>
            </a:r>
            <a:r>
              <a:rPr lang="zh-CN" altLang="en-US" sz="1800" dirty="0" smtClean="0"/>
              <a:t>键</a:t>
            </a:r>
            <a:r>
              <a:rPr lang="zh-CN" altLang="en-US" sz="1800" dirty="0"/>
              <a:t>已被按过，</a:t>
            </a:r>
            <a:r>
              <a:rPr lang="zh-CN" altLang="en-US" sz="1800" dirty="0" smtClean="0"/>
              <a:t>则返回值的第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位</a:t>
            </a:r>
            <a:r>
              <a:rPr lang="en-US" altLang="zh-CN" sz="1800" dirty="0" smtClean="0"/>
              <a:t>(</a:t>
            </a:r>
            <a:r>
              <a:rPr lang="zh-CN" altLang="en-US" sz="1800" dirty="0" smtClean="0"/>
              <a:t>最低位</a:t>
            </a:r>
            <a:r>
              <a:rPr lang="en-US" altLang="zh-CN" sz="1800" dirty="0" smtClean="0"/>
              <a:t>)</a:t>
            </a:r>
            <a:r>
              <a:rPr lang="zh-CN" altLang="en-US" sz="1800" dirty="0" smtClean="0"/>
              <a:t>设</a:t>
            </a:r>
            <a:r>
              <a:rPr lang="zh-CN" altLang="en-US" sz="1800" dirty="0"/>
              <a:t>为</a:t>
            </a:r>
            <a:r>
              <a:rPr lang="en-US" altLang="zh-CN" sz="1800" dirty="0"/>
              <a:t>1</a:t>
            </a:r>
            <a:r>
              <a:rPr lang="zh-CN" altLang="en-US" sz="1800" dirty="0"/>
              <a:t>；否则设为</a:t>
            </a:r>
            <a:r>
              <a:rPr lang="en-US" altLang="zh-CN" sz="1800" dirty="0"/>
              <a:t>0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</a:t>
            </a:r>
            <a:r>
              <a:rPr lang="zh-CN" altLang="en-US" sz="1800" dirty="0"/>
              <a:t>键处于按下状态，</a:t>
            </a:r>
            <a:r>
              <a:rPr lang="zh-CN" altLang="en-US" sz="1800" dirty="0" smtClean="0"/>
              <a:t>则返回值的最高位</a:t>
            </a:r>
            <a:r>
              <a:rPr lang="en-US" altLang="zh-CN" sz="1800" dirty="0" smtClean="0"/>
              <a:t>15</a:t>
            </a:r>
            <a:r>
              <a:rPr lang="zh-CN" altLang="en-US" sz="1800" dirty="0" smtClean="0"/>
              <a:t>位设</a:t>
            </a:r>
            <a:r>
              <a:rPr lang="zh-CN" altLang="en-US" sz="1800" dirty="0"/>
              <a:t>为</a:t>
            </a:r>
            <a:r>
              <a:rPr lang="en-US" altLang="zh-CN" sz="1800" dirty="0"/>
              <a:t>1</a:t>
            </a:r>
            <a:r>
              <a:rPr lang="zh-CN" altLang="en-US" sz="1800" dirty="0"/>
              <a:t>；如抬起，</a:t>
            </a:r>
            <a:r>
              <a:rPr lang="zh-CN" altLang="en-US" sz="1800" dirty="0" smtClean="0"/>
              <a:t>则设为</a:t>
            </a:r>
            <a:r>
              <a:rPr lang="en-US" altLang="zh-CN" sz="1800" dirty="0"/>
              <a:t>0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375584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80808"/>
                </a:solidFill>
              </a:rPr>
              <a:t>short </a:t>
            </a:r>
            <a:r>
              <a:rPr lang="en-US" altLang="zh-CN" dirty="0" err="1">
                <a:solidFill>
                  <a:srgbClr val="080808"/>
                </a:solidFill>
              </a:rPr>
              <a:t>GetAsyncKeyState</a:t>
            </a:r>
            <a:r>
              <a:rPr lang="en-US" altLang="zh-CN" dirty="0">
                <a:solidFill>
                  <a:srgbClr val="080808"/>
                </a:solidFill>
              </a:rPr>
              <a:t>(</a:t>
            </a:r>
            <a:r>
              <a:rPr lang="en-US" altLang="zh-CN" dirty="0" err="1">
                <a:solidFill>
                  <a:srgbClr val="080808"/>
                </a:solidFill>
              </a:rPr>
              <a:t>int</a:t>
            </a:r>
            <a:r>
              <a:rPr lang="en-US" altLang="zh-CN" dirty="0">
                <a:solidFill>
                  <a:srgbClr val="080808"/>
                </a:solidFill>
              </a:rPr>
              <a:t> </a:t>
            </a:r>
            <a:r>
              <a:rPr lang="en-US" altLang="zh-CN" dirty="0" err="1">
                <a:solidFill>
                  <a:srgbClr val="080808"/>
                </a:solidFill>
              </a:rPr>
              <a:t>vKey</a:t>
            </a:r>
            <a:r>
              <a:rPr lang="en-US" altLang="zh-CN" dirty="0">
                <a:solidFill>
                  <a:srgbClr val="080808"/>
                </a:solidFill>
              </a:rPr>
              <a:t>)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62058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/>
              <a:t>常用键的</a:t>
            </a:r>
            <a:r>
              <a:rPr lang="en-US" altLang="zh-CN" dirty="0" smtClean="0"/>
              <a:t>VK</a:t>
            </a:r>
            <a:r>
              <a:rPr lang="zh-CN" altLang="en-US" dirty="0" smtClean="0"/>
              <a:t>值：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9811261"/>
              </p:ext>
            </p:extLst>
          </p:nvPr>
        </p:nvGraphicFramePr>
        <p:xfrm>
          <a:off x="819912" y="1881632"/>
          <a:ext cx="301142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5192">
                  <a:extLst>
                    <a:ext uri="{9D8B030D-6E8A-4147-A177-3AD203B41FA5}">
                      <a16:colId xmlns:a16="http://schemas.microsoft.com/office/drawing/2014/main" val="682924606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1481520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080808"/>
                          </a:solidFill>
                        </a:rPr>
                        <a:t>键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080808"/>
                          </a:solidFill>
                        </a:rPr>
                        <a:t>虚拟键码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7868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VK_SHIFT</a:t>
                      </a:r>
                      <a:endParaRPr lang="zh-CN" altLang="en-US" sz="1600" b="0" i="0" kern="1200" dirty="0" smtClean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50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</a:t>
                      </a: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VK_LSHIFT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623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右</a:t>
                      </a: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Shift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VK_RSHIFT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857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Ctrl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VK_CONTROL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83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</a:t>
                      </a: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Ctrl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VK_LCONTROL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991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右</a:t>
                      </a:r>
                      <a:r>
                        <a:rPr lang="en-US" altLang="zh-CN" sz="1600" b="0" i="0" kern="1200" dirty="0" err="1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Ctril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VK_RCONTROL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178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VK_MENU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0326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</a:t>
                      </a: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VK_LMENU 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7005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右</a:t>
                      </a:r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Alt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VK_RMENU 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4400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空格键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VK_SPACE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597937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474783"/>
              </p:ext>
            </p:extLst>
          </p:nvPr>
        </p:nvGraphicFramePr>
        <p:xfrm>
          <a:off x="4261104" y="1881632"/>
          <a:ext cx="3358896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2456">
                  <a:extLst>
                    <a:ext uri="{9D8B030D-6E8A-4147-A177-3AD203B41FA5}">
                      <a16:colId xmlns:a16="http://schemas.microsoft.com/office/drawing/2014/main" val="4142606527"/>
                    </a:ext>
                  </a:extLst>
                </a:gridCol>
                <a:gridCol w="1996440">
                  <a:extLst>
                    <a:ext uri="{9D8B030D-6E8A-4147-A177-3AD203B41FA5}">
                      <a16:colId xmlns:a16="http://schemas.microsoft.com/office/drawing/2014/main" val="23689211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1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>
                          <a:solidFill>
                            <a:srgbClr val="080808"/>
                          </a:solidFill>
                        </a:rPr>
                        <a:t>虚拟键码</a:t>
                      </a:r>
                      <a:endParaRPr lang="zh-CN" altLang="en-US" sz="1600" dirty="0">
                        <a:solidFill>
                          <a:srgbClr val="080808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1851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鼠标左键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VK_LBUTTON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615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鼠标右键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VK_RBUTTON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2180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ESC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VK_ESCAPE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11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回车键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VK_RETURN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42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</a:t>
                      </a: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VK_TAB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01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上箭头键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VK_UP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507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下箭头键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VK_DOWN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236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左箭头键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VK_LEFT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56244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右箭头键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600" b="0" i="0" kern="1200" dirty="0" smtClean="0">
                          <a:solidFill>
                            <a:srgbClr val="080808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VK_RIGHT</a:t>
                      </a:r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046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600" b="0" i="0" kern="1200" dirty="0" smtClean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600" b="0" i="0" kern="1200" dirty="0">
                        <a:solidFill>
                          <a:srgbClr val="080808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007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078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80808"/>
                </a:solidFill>
              </a:rPr>
              <a:t>short </a:t>
            </a:r>
            <a:r>
              <a:rPr lang="en-US" altLang="zh-CN" dirty="0" err="1">
                <a:solidFill>
                  <a:srgbClr val="080808"/>
                </a:solidFill>
              </a:rPr>
              <a:t>GetAsyncKeyState</a:t>
            </a:r>
            <a:r>
              <a:rPr lang="en-US" altLang="zh-CN" dirty="0">
                <a:solidFill>
                  <a:srgbClr val="080808"/>
                </a:solidFill>
              </a:rPr>
              <a:t>(</a:t>
            </a:r>
            <a:r>
              <a:rPr lang="en-US" altLang="zh-CN" dirty="0" err="1">
                <a:solidFill>
                  <a:srgbClr val="080808"/>
                </a:solidFill>
              </a:rPr>
              <a:t>int</a:t>
            </a:r>
            <a:r>
              <a:rPr lang="en-US" altLang="zh-CN" dirty="0">
                <a:solidFill>
                  <a:srgbClr val="080808"/>
                </a:solidFill>
              </a:rPr>
              <a:t> </a:t>
            </a:r>
            <a:r>
              <a:rPr lang="en-US" altLang="zh-CN" dirty="0" err="1">
                <a:solidFill>
                  <a:srgbClr val="080808"/>
                </a:solidFill>
              </a:rPr>
              <a:t>vKey</a:t>
            </a:r>
            <a:r>
              <a:rPr lang="en-US" altLang="zh-CN" dirty="0" smtClean="0">
                <a:solidFill>
                  <a:srgbClr val="080808"/>
                </a:solidFill>
              </a:rPr>
              <a:t>) </a:t>
            </a:r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endParaRPr lang="en-US" altLang="zh-CN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025335"/>
            <a:ext cx="8089900" cy="2687129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dirty="0" smtClean="0"/>
              <a:t>控制小球：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利用上下左右箭头移动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利用左右</a:t>
            </a:r>
            <a:r>
              <a:rPr lang="en-US" altLang="zh-CN" dirty="0" smtClean="0"/>
              <a:t>ctrl</a:t>
            </a:r>
            <a:r>
              <a:rPr lang="zh-CN" altLang="en-US" dirty="0" smtClean="0"/>
              <a:t>键缩放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 smtClean="0"/>
              <a:t>该功能也可以通过</a:t>
            </a:r>
            <a:r>
              <a:rPr lang="zh-CN" altLang="en-US" dirty="0"/>
              <a:t>消息</a:t>
            </a:r>
            <a:r>
              <a:rPr lang="zh-CN" altLang="en-US" dirty="0" smtClean="0"/>
              <a:t>处理统一处理函数实现。</a:t>
            </a:r>
            <a:endParaRPr lang="en-US" altLang="zh-CN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" y="1025335"/>
            <a:ext cx="7368921" cy="565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89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鼠标消息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sz="2000" dirty="0"/>
              <a:t>消息结构体用于保存鼠标消息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其结构参见 </a:t>
            </a:r>
            <a:r>
              <a:rPr lang="en-US" altLang="zh-CN" sz="1800" dirty="0" smtClean="0">
                <a:hlinkClick r:id="rId2"/>
              </a:rPr>
              <a:t>https</a:t>
            </a:r>
            <a:r>
              <a:rPr lang="en-US" altLang="zh-CN" sz="1800" dirty="0">
                <a:hlinkClick r:id="rId2"/>
              </a:rPr>
              <a:t>://</a:t>
            </a:r>
            <a:r>
              <a:rPr lang="en-US" altLang="zh-CN" sz="1800" dirty="0" smtClean="0">
                <a:hlinkClick r:id="rId2"/>
              </a:rPr>
              <a:t>docs.easyx.cn/zh-cn/exmessage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相关函数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err="1"/>
              <a:t>ExMessage</a:t>
            </a:r>
            <a:r>
              <a:rPr lang="en-US" altLang="zh-CN" sz="1800" dirty="0"/>
              <a:t> </a:t>
            </a:r>
            <a:r>
              <a:rPr lang="en-US" altLang="zh-CN" sz="1800" dirty="0" err="1"/>
              <a:t>getmessage</a:t>
            </a:r>
            <a:r>
              <a:rPr lang="en-US" altLang="zh-CN" sz="1800" dirty="0"/>
              <a:t>(BYTE filter = -1</a:t>
            </a:r>
            <a:r>
              <a:rPr lang="en-US" altLang="zh-CN" sz="1800" dirty="0" smtClean="0"/>
              <a:t>); </a:t>
            </a:r>
            <a:r>
              <a:rPr lang="zh-CN" altLang="en-US" sz="1800" dirty="0" smtClean="0"/>
              <a:t>或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void </a:t>
            </a:r>
            <a:r>
              <a:rPr lang="en-US" altLang="zh-CN" sz="1800" dirty="0" err="1"/>
              <a:t>getmessage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ExMessage</a:t>
            </a:r>
            <a:r>
              <a:rPr lang="en-US" altLang="zh-CN" sz="1800" dirty="0"/>
              <a:t> *</a:t>
            </a:r>
            <a:r>
              <a:rPr lang="en-US" altLang="zh-CN" sz="1800" dirty="0" err="1"/>
              <a:t>msg</a:t>
            </a:r>
            <a:r>
              <a:rPr lang="en-US" altLang="zh-CN" sz="1800" dirty="0"/>
              <a:t>, BYTE filter = -1</a:t>
            </a:r>
            <a:r>
              <a:rPr lang="en-US" altLang="zh-CN" sz="1800" dirty="0" smtClean="0"/>
              <a:t>);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参数：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 err="1" smtClean="0"/>
              <a:t>msg</a:t>
            </a:r>
            <a:r>
              <a:rPr lang="zh-CN" altLang="en-US" sz="1800" dirty="0"/>
              <a:t>：指向消息结构体 </a:t>
            </a:r>
            <a:r>
              <a:rPr lang="en-US" altLang="zh-CN" sz="1800" dirty="0" err="1">
                <a:hlinkClick r:id="rId2"/>
              </a:rPr>
              <a:t>ExMessage</a:t>
            </a:r>
            <a:r>
              <a:rPr lang="zh-CN" altLang="en-US" sz="1800" dirty="0"/>
              <a:t> 的指针，用来保存获取到的消息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1314450" lvl="2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dirty="0"/>
              <a:t>filter</a:t>
            </a:r>
            <a:r>
              <a:rPr lang="zh-CN" altLang="en-US" sz="1800" dirty="0"/>
              <a:t>：指定要获取的消息范围，默认 </a:t>
            </a:r>
            <a:r>
              <a:rPr lang="en-US" altLang="zh-CN" sz="1800" dirty="0"/>
              <a:t>-1 </a:t>
            </a:r>
            <a:r>
              <a:rPr lang="zh-CN" altLang="en-US" sz="1800" dirty="0"/>
              <a:t>获取所有类别的消息</a:t>
            </a:r>
            <a:r>
              <a:rPr lang="zh-CN" altLang="en-US" sz="1800" dirty="0" smtClean="0"/>
              <a:t>。可以</a:t>
            </a:r>
            <a:r>
              <a:rPr lang="zh-CN" altLang="en-US" sz="1800" dirty="0"/>
              <a:t>用以下值或值的组合获取指定类别的</a:t>
            </a:r>
            <a:r>
              <a:rPr lang="zh-CN" altLang="en-US" sz="1800" dirty="0" smtClean="0"/>
              <a:t>消息：</a:t>
            </a:r>
            <a:endParaRPr lang="en-US" altLang="zh-CN" sz="1800" dirty="0" smtClean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 smtClean="0"/>
              <a:t>EX_MOUSE</a:t>
            </a:r>
            <a:r>
              <a:rPr lang="zh-CN" altLang="en-US" dirty="0" smtClean="0"/>
              <a:t>：鼠标消息</a:t>
            </a:r>
            <a:endParaRPr lang="en-US" altLang="zh-CN" dirty="0" smtClean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EX_KEY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按键消息</a:t>
            </a:r>
            <a:r>
              <a:rPr lang="zh-CN" altLang="en-US" sz="1400" dirty="0" smtClean="0"/>
              <a:t>。</a:t>
            </a:r>
            <a:endParaRPr lang="en-US" altLang="zh-CN" sz="1400" dirty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EX_CHAR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字符消息</a:t>
            </a:r>
            <a:r>
              <a:rPr lang="zh-CN" altLang="en-US" sz="1400" dirty="0" smtClean="0"/>
              <a:t>。</a:t>
            </a:r>
            <a:endParaRPr lang="en-US" altLang="zh-CN" sz="1400" dirty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 smtClean="0"/>
              <a:t>EX_WINDOW</a:t>
            </a:r>
            <a:r>
              <a:rPr lang="zh-CN" altLang="en-US" sz="1400" dirty="0" smtClean="0"/>
              <a:t>：</a:t>
            </a:r>
            <a:r>
              <a:rPr lang="zh-CN" altLang="en-US" sz="1400" dirty="0"/>
              <a:t>窗口消息</a:t>
            </a:r>
            <a:r>
              <a:rPr lang="zh-CN" altLang="en-US" sz="1400" dirty="0" smtClean="0"/>
              <a:t>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返回值：消息结构体</a:t>
            </a:r>
            <a:r>
              <a:rPr lang="en-US" altLang="zh-CN" sz="1800" dirty="0" smtClean="0"/>
              <a:t> </a:t>
            </a:r>
            <a:r>
              <a:rPr lang="en-US" altLang="zh-CN" sz="1800" dirty="0" err="1"/>
              <a:t>ExMessage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功能：用于</a:t>
            </a:r>
            <a:r>
              <a:rPr lang="zh-CN" altLang="en-US" sz="1800" dirty="0"/>
              <a:t>获取一个消息。如果当前消息队列中没有，就一直等待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260416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鼠标消息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 smtClean="0"/>
              <a:t>bool </a:t>
            </a:r>
            <a:r>
              <a:rPr lang="en-US" altLang="zh-CN" sz="2000" dirty="0" err="1"/>
              <a:t>peekmessage</a:t>
            </a:r>
            <a:r>
              <a:rPr lang="en-US" altLang="zh-CN" sz="2000" dirty="0"/>
              <a:t>(</a:t>
            </a:r>
            <a:r>
              <a:rPr lang="en-US" altLang="zh-CN" sz="2000" dirty="0" err="1"/>
              <a:t>ExMessage</a:t>
            </a:r>
            <a:r>
              <a:rPr lang="en-US" altLang="zh-CN" sz="2000" dirty="0"/>
              <a:t> *</a:t>
            </a:r>
            <a:r>
              <a:rPr lang="en-US" altLang="zh-CN" sz="2000" dirty="0" err="1"/>
              <a:t>msg</a:t>
            </a:r>
            <a:r>
              <a:rPr lang="en-US" altLang="zh-CN" sz="2000" dirty="0"/>
              <a:t>, BYTE filter = -1, bool </a:t>
            </a:r>
            <a:r>
              <a:rPr lang="en-US" altLang="zh-CN" sz="2000" dirty="0" err="1"/>
              <a:t>removemsg</a:t>
            </a:r>
            <a:r>
              <a:rPr lang="en-US" altLang="zh-CN" sz="2000" dirty="0"/>
              <a:t> = true</a:t>
            </a:r>
            <a:r>
              <a:rPr lang="en-US" altLang="zh-CN" sz="2000" dirty="0" smtClean="0"/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参数：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i="1" dirty="0" err="1"/>
              <a:t>Msg</a:t>
            </a:r>
            <a:r>
              <a:rPr lang="zh-CN" altLang="en-US" sz="1800" i="1" dirty="0"/>
              <a:t>：</a:t>
            </a:r>
            <a:r>
              <a:rPr lang="zh-CN" altLang="en-US" sz="1800" dirty="0"/>
              <a:t>指向消息结构体 </a:t>
            </a:r>
            <a:r>
              <a:rPr lang="en-US" altLang="zh-CN" sz="1800" dirty="0" err="1">
                <a:hlinkClick r:id="rId2"/>
              </a:rPr>
              <a:t>ExMessage</a:t>
            </a:r>
            <a:r>
              <a:rPr lang="zh-CN" altLang="en-US" sz="1800" dirty="0"/>
              <a:t> 的指针，用来保存获取到的</a:t>
            </a:r>
            <a:r>
              <a:rPr lang="zh-CN" altLang="en-US" sz="1800" dirty="0" smtClean="0"/>
              <a:t>消息。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i="1" dirty="0"/>
              <a:t>Filter</a:t>
            </a:r>
            <a:r>
              <a:rPr lang="zh-CN" altLang="en-US" sz="1800" i="1" dirty="0"/>
              <a:t>：</a:t>
            </a:r>
            <a:r>
              <a:rPr lang="zh-CN" altLang="en-US" sz="1800" dirty="0"/>
              <a:t>指定要获取的消息范围，默认 </a:t>
            </a:r>
            <a:r>
              <a:rPr lang="en-US" altLang="zh-CN" sz="1800" dirty="0"/>
              <a:t>-1 </a:t>
            </a:r>
            <a:r>
              <a:rPr lang="zh-CN" altLang="en-US" sz="1800" dirty="0"/>
              <a:t>获取所有类别的消息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>4</a:t>
            </a:r>
            <a:r>
              <a:rPr lang="zh-CN" altLang="en-US" sz="1800" dirty="0" smtClean="0"/>
              <a:t>类消息类别同</a:t>
            </a:r>
            <a:r>
              <a:rPr lang="en-US" altLang="zh-CN" sz="1800" dirty="0" err="1" smtClean="0"/>
              <a:t>getmessage</a:t>
            </a:r>
            <a:r>
              <a:rPr lang="zh-CN" altLang="en-US" sz="1800" dirty="0" smtClean="0"/>
              <a:t>中的消息类别。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i="1" dirty="0" err="1"/>
              <a:t>removemsg</a:t>
            </a:r>
            <a:r>
              <a:rPr lang="zh-CN" altLang="en-US" sz="1800" i="1" dirty="0"/>
              <a:t>：</a:t>
            </a:r>
            <a:r>
              <a:rPr lang="zh-CN" altLang="en-US" sz="1800" dirty="0"/>
              <a:t>在 </a:t>
            </a:r>
            <a:r>
              <a:rPr lang="en-US" altLang="zh-CN" sz="1800" dirty="0" err="1"/>
              <a:t>peekmessage</a:t>
            </a:r>
            <a:r>
              <a:rPr lang="en-US" altLang="zh-CN" sz="1800" dirty="0"/>
              <a:t> </a:t>
            </a:r>
            <a:r>
              <a:rPr lang="zh-CN" altLang="en-US" sz="1800" dirty="0"/>
              <a:t>处理完消息后，是否将其从消息队列中移</a:t>
            </a:r>
            <a:r>
              <a:rPr lang="zh-CN" altLang="en-US" sz="1800" dirty="0" smtClean="0"/>
              <a:t>除。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返回值：如果获取到了消息，返回 </a:t>
            </a:r>
            <a:r>
              <a:rPr lang="en-US" altLang="zh-CN" sz="2000" dirty="0"/>
              <a:t>true</a:t>
            </a:r>
            <a:r>
              <a:rPr lang="zh-CN" altLang="en-US" sz="2000" dirty="0"/>
              <a:t>。如果当前没有消息，返回 </a:t>
            </a:r>
            <a:r>
              <a:rPr lang="en-US" altLang="zh-CN" sz="2000" dirty="0" smtClean="0"/>
              <a:t>false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功能：用于获取一个消息，并立即返回。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注：默认情况下，连续的鼠标单击会被识别为一系列的单击事件。如果希望两个连续的鼠标单击识别为双击事件，请在创建绘图窗口的时候指定标志位 </a:t>
            </a:r>
            <a:r>
              <a:rPr lang="en-US" altLang="zh-CN" sz="2000" dirty="0"/>
              <a:t>EW_DBLCLKS</a:t>
            </a:r>
            <a:r>
              <a:rPr lang="zh-CN" altLang="en-US" sz="2000" dirty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42629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鼠标消息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en-US" altLang="zh-CN" sz="2000" dirty="0"/>
              <a:t>void </a:t>
            </a:r>
            <a:r>
              <a:rPr lang="en-US" altLang="zh-CN" sz="2000" dirty="0" err="1"/>
              <a:t>flushmessage</a:t>
            </a:r>
            <a:r>
              <a:rPr lang="en-US" altLang="zh-CN" sz="2000" dirty="0"/>
              <a:t>(BYTE filter = -1</a:t>
            </a:r>
            <a:r>
              <a:rPr lang="en-US" altLang="zh-CN" sz="2000" dirty="0" smtClean="0"/>
              <a:t>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参数：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i="1" dirty="0" smtClean="0"/>
              <a:t>Filter</a:t>
            </a:r>
            <a:r>
              <a:rPr lang="zh-CN" altLang="en-US" sz="1800" i="1" dirty="0"/>
              <a:t>：</a:t>
            </a:r>
            <a:r>
              <a:rPr lang="zh-CN" altLang="en-US" sz="1800" dirty="0"/>
              <a:t>指定要获取的消息范围，默认 </a:t>
            </a:r>
            <a:r>
              <a:rPr lang="en-US" altLang="zh-CN" sz="1800" dirty="0"/>
              <a:t>-1 </a:t>
            </a:r>
            <a:r>
              <a:rPr lang="zh-CN" altLang="en-US" sz="1800" dirty="0"/>
              <a:t>获取所有类别的消息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>4</a:t>
            </a:r>
            <a:r>
              <a:rPr lang="zh-CN" altLang="en-US" sz="1800" dirty="0" smtClean="0"/>
              <a:t>类消息类别同</a:t>
            </a:r>
            <a:r>
              <a:rPr lang="en-US" altLang="zh-CN" sz="1800" dirty="0" err="1" smtClean="0"/>
              <a:t>getmessage</a:t>
            </a:r>
            <a:r>
              <a:rPr lang="zh-CN" altLang="en-US" sz="1800" dirty="0" smtClean="0"/>
              <a:t>中的消息类别，即</a:t>
            </a:r>
            <a:endParaRPr lang="en-US" altLang="zh-CN" sz="1800" dirty="0" smtClean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dirty="0"/>
              <a:t>EX_MOUSE</a:t>
            </a:r>
            <a:r>
              <a:rPr lang="zh-CN" altLang="en-US" dirty="0"/>
              <a:t>：鼠标消息</a:t>
            </a:r>
            <a:endParaRPr lang="en-US" altLang="zh-CN" dirty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EX_KEY</a:t>
            </a:r>
            <a:r>
              <a:rPr lang="zh-CN" altLang="en-US" sz="1400" dirty="0"/>
              <a:t>：按键消息。</a:t>
            </a:r>
            <a:endParaRPr lang="en-US" altLang="zh-CN" sz="1400" dirty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EX_CHAR</a:t>
            </a:r>
            <a:r>
              <a:rPr lang="zh-CN" altLang="en-US" sz="1400" dirty="0"/>
              <a:t>：字符消息。</a:t>
            </a:r>
            <a:endParaRPr lang="en-US" altLang="zh-CN" sz="1400" dirty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400" dirty="0"/>
              <a:t>EX_WINDOW</a:t>
            </a:r>
            <a:r>
              <a:rPr lang="zh-CN" altLang="en-US" sz="1400" dirty="0"/>
              <a:t>：窗口消息</a:t>
            </a:r>
            <a:r>
              <a:rPr lang="zh-CN" altLang="en-US" sz="1400" dirty="0" smtClean="0"/>
              <a:t>。</a:t>
            </a:r>
            <a:endParaRPr lang="en-US" altLang="zh-CN" sz="1400" dirty="0" smtClean="0"/>
          </a:p>
          <a:p>
            <a:pPr marL="1657350" lvl="3" indent="-2857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dirty="0" smtClean="0"/>
              <a:t>可以用上述值</a:t>
            </a:r>
            <a:r>
              <a:rPr lang="zh-CN" altLang="en-US" dirty="0"/>
              <a:t>的组合获取指定类别的消息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i="1" dirty="0" err="1"/>
              <a:t>removemsg</a:t>
            </a:r>
            <a:r>
              <a:rPr lang="zh-CN" altLang="en-US" sz="1800" i="1" dirty="0"/>
              <a:t>：</a:t>
            </a:r>
            <a:r>
              <a:rPr lang="zh-CN" altLang="en-US" sz="1800" dirty="0"/>
              <a:t>在 </a:t>
            </a:r>
            <a:r>
              <a:rPr lang="en-US" altLang="zh-CN" sz="1800" dirty="0" err="1"/>
              <a:t>peekmessage</a:t>
            </a:r>
            <a:r>
              <a:rPr lang="en-US" altLang="zh-CN" sz="1800" dirty="0"/>
              <a:t> </a:t>
            </a:r>
            <a:r>
              <a:rPr lang="zh-CN" altLang="en-US" sz="1800" dirty="0"/>
              <a:t>处理完消息后，是否将其从消息队列中移</a:t>
            </a:r>
            <a:r>
              <a:rPr lang="zh-CN" altLang="en-US" sz="1800" dirty="0" smtClean="0"/>
              <a:t>除。</a:t>
            </a:r>
            <a:endParaRPr lang="zh-CN" altLang="en-US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返回值：无。</a:t>
            </a: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/>
              <a:t>功能：用于清空消息缓冲区</a:t>
            </a:r>
            <a:r>
              <a:rPr lang="zh-CN" altLang="en-US" sz="2000" dirty="0" smtClean="0"/>
              <a:t>。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3941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鼠标消息函数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941833"/>
            <a:ext cx="7670482" cy="550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47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制作简单的音乐播放器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参阅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/>
              <a:t>https://www.bilibili.com/video/BV17W4y117Bf/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0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制作简单的视频播放器</a:t>
            </a:r>
            <a:r>
              <a:rPr lang="en-US" altLang="zh-CN" dirty="0" smtClean="0"/>
              <a:t>—</a:t>
            </a:r>
            <a:r>
              <a:rPr lang="zh-CN" altLang="en-US" dirty="0" smtClean="0">
                <a:solidFill>
                  <a:srgbClr val="7030A0"/>
                </a:solidFill>
              </a:rPr>
              <a:t>例</a:t>
            </a:r>
            <a:endParaRPr lang="zh-CN" altLang="en-US" dirty="0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089900" cy="5238305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这里只是抛砖引玉，给出一种实现方法，但示例程序存在卡死的问题。请同学们自己解决。</a:t>
            </a: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r>
              <a:rPr lang="zh-CN" altLang="en-US" sz="2000" dirty="0" smtClean="0"/>
              <a:t>参阅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https</a:t>
            </a:r>
            <a:r>
              <a:rPr lang="en-US" altLang="zh-CN" sz="1800" dirty="0"/>
              <a:t>://tieba.baidu.com/p/1462771044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https</a:t>
            </a:r>
            <a:r>
              <a:rPr lang="en-US" altLang="zh-CN" sz="1800" dirty="0"/>
              <a:t>://learn.microsoft.com/zh-cn/windows/win32/api/vfw/nf-vfw-mciwndcreatea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https</a:t>
            </a:r>
            <a:r>
              <a:rPr lang="en-US" altLang="zh-CN" sz="1800" dirty="0"/>
              <a:t>://bbs.csdn.net/topics/391947735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n"/>
            </a:pPr>
            <a:endParaRPr lang="en-US" altLang="zh-CN" sz="20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4" y="989433"/>
            <a:ext cx="8364070" cy="538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04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参考资料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https://easyx.cn</a:t>
            </a:r>
            <a:r>
              <a:rPr lang="en-US" altLang="zh-CN" dirty="0" smtClean="0"/>
              <a:t>/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/>
              <a:t>https</a:t>
            </a:r>
            <a:r>
              <a:rPr lang="en-US" altLang="zh-CN" dirty="0"/>
              <a:t>://</a:t>
            </a:r>
            <a:r>
              <a:rPr lang="en-US" altLang="zh-CN" dirty="0" smtClean="0"/>
              <a:t>docs.easyx.cn/zh-cn/intro </a:t>
            </a:r>
            <a:r>
              <a:rPr lang="zh-CN" altLang="en-US" dirty="0" smtClean="0"/>
              <a:t>在线文档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/>
              <a:t>https</a:t>
            </a:r>
            <a:r>
              <a:rPr lang="en-US" altLang="zh-CN" dirty="0"/>
              <a:t>://blog.csdn.net/qq_52661581/article/details/125124212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https://blog.csdn.net/m0_63027631/article/details/122697736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/>
              <a:t>https://blog.csdn.net/qq_62582966/article/details/124493813</a:t>
            </a: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dirty="0" smtClean="0"/>
              <a:t>https</a:t>
            </a:r>
            <a:r>
              <a:rPr lang="en-US" altLang="zh-CN" dirty="0"/>
              <a:t>://copyfuture.com/blogs-details/202212061443393526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6489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>
                <a:solidFill>
                  <a:srgbClr val="5F5F5F"/>
                </a:solidFill>
              </a:rPr>
              <a:pPr algn="r"/>
              <a:t>39</a:t>
            </a:fld>
            <a:endParaRPr lang="en-US" altLang="zh-CN" sz="1400">
              <a:solidFill>
                <a:srgbClr val="5F5F5F"/>
              </a:solidFill>
            </a:endParaRPr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197618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7790</TotalTime>
  <Words>2859</Words>
  <Application>Microsoft Office PowerPoint</Application>
  <PresentationFormat>全屏显示(4:3)</PresentationFormat>
  <Paragraphs>340</Paragraphs>
  <Slides>39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39</vt:i4>
      </vt:variant>
    </vt:vector>
  </HeadingPairs>
  <TitlesOfParts>
    <vt:vector size="55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EasyX简介</vt:lpstr>
      <vt:lpstr>EasyX安装</vt:lpstr>
      <vt:lpstr>EasyX安装</vt:lpstr>
      <vt:lpstr>EasyX安装</vt:lpstr>
      <vt:lpstr>EasyX安装方法—Dev-Cpp</vt:lpstr>
      <vt:lpstr>EasyX的颜色</vt:lpstr>
      <vt:lpstr>EasyX的坐标</vt:lpstr>
      <vt:lpstr>EasyX图形库的使用---绘图窗口函数</vt:lpstr>
      <vt:lpstr>EasyX图形库的使用---绘图窗口函数</vt:lpstr>
      <vt:lpstr>EasyX图形库的使用---绘图窗口函数</vt:lpstr>
      <vt:lpstr>EasyX图形库的使用---绘图窗口函数例</vt:lpstr>
      <vt:lpstr>EasyX图形库的使用---图形绘制</vt:lpstr>
      <vt:lpstr>EasyX图形库的使用---图形绘制—画圆</vt:lpstr>
      <vt:lpstr>EasyX图形库的使用---图形绘制—画圆</vt:lpstr>
      <vt:lpstr>EasyX图形库的使用---图形绘制—画圆</vt:lpstr>
      <vt:lpstr>EasyX图形库的使用---图形绘制-椭圆</vt:lpstr>
      <vt:lpstr>EasyX图形库的使用---图形绘制—矩形</vt:lpstr>
      <vt:lpstr>EasyX图形库的使用---图形绘制—圆角矩形</vt:lpstr>
      <vt:lpstr>EasyX图形库的使用---图形绘制—多边形</vt:lpstr>
      <vt:lpstr>EasyX图形库的使用---图形绘制—扇形</vt:lpstr>
      <vt:lpstr>EasyX图形库的使用---图形绘制—其它</vt:lpstr>
      <vt:lpstr>EasyX图形库的使用---图形颜色及样式设置</vt:lpstr>
      <vt:lpstr>EasyX图形库的使用---文字输出</vt:lpstr>
      <vt:lpstr>EasyX图形库的使用---图像处理</vt:lpstr>
      <vt:lpstr>EasyX图形库的使用---消息处理</vt:lpstr>
      <vt:lpstr>EasyX图形库的使用---其它函数</vt:lpstr>
      <vt:lpstr>EasyX图形库的使用---示例程序</vt:lpstr>
      <vt:lpstr>键盘消息函数</vt:lpstr>
      <vt:lpstr>short GetAsyncKeyState(int vKey)</vt:lpstr>
      <vt:lpstr>short GetAsyncKeyState(int vKey) 例</vt:lpstr>
      <vt:lpstr>鼠标消息函数</vt:lpstr>
      <vt:lpstr>鼠标消息函数</vt:lpstr>
      <vt:lpstr>鼠标消息函数</vt:lpstr>
      <vt:lpstr>鼠标消息函数—例</vt:lpstr>
      <vt:lpstr>制作简单的音乐播放器</vt:lpstr>
      <vt:lpstr>制作简单的视频播放器—例</vt:lpstr>
      <vt:lpstr>参考资料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1704</cp:revision>
  <dcterms:created xsi:type="dcterms:W3CDTF">2013-01-25T01:44:00Z</dcterms:created>
  <dcterms:modified xsi:type="dcterms:W3CDTF">2023-01-10T14:11:34Z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