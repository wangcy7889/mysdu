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2" r:id="rId3"/>
    <p:sldMasterId id="2147483684" r:id="rId4"/>
    <p:sldMasterId id="2147483696" r:id="rId5"/>
  </p:sldMasterIdLst>
  <p:notesMasterIdLst>
    <p:notesMasterId r:id="rId79"/>
  </p:notesMasterIdLst>
  <p:sldIdLst>
    <p:sldId id="256" r:id="rId6"/>
    <p:sldId id="634" r:id="rId7"/>
    <p:sldId id="483" r:id="rId8"/>
    <p:sldId id="670" r:id="rId9"/>
    <p:sldId id="669" r:id="rId10"/>
    <p:sldId id="540" r:id="rId11"/>
    <p:sldId id="485" r:id="rId12"/>
    <p:sldId id="652" r:id="rId13"/>
    <p:sldId id="655" r:id="rId14"/>
    <p:sldId id="662" r:id="rId15"/>
    <p:sldId id="488" r:id="rId16"/>
    <p:sldId id="667" r:id="rId17"/>
    <p:sldId id="684" r:id="rId18"/>
    <p:sldId id="654" r:id="rId19"/>
    <p:sldId id="558" r:id="rId20"/>
    <p:sldId id="671" r:id="rId21"/>
    <p:sldId id="686" r:id="rId22"/>
    <p:sldId id="685" r:id="rId23"/>
    <p:sldId id="687" r:id="rId24"/>
    <p:sldId id="688" r:id="rId25"/>
    <p:sldId id="527" r:id="rId26"/>
    <p:sldId id="723" r:id="rId27"/>
    <p:sldId id="724" r:id="rId28"/>
    <p:sldId id="689" r:id="rId29"/>
    <p:sldId id="715" r:id="rId30"/>
    <p:sldId id="708" r:id="rId31"/>
    <p:sldId id="707" r:id="rId32"/>
    <p:sldId id="709" r:id="rId33"/>
    <p:sldId id="733" r:id="rId34"/>
    <p:sldId id="720" r:id="rId35"/>
    <p:sldId id="721" r:id="rId36"/>
    <p:sldId id="716" r:id="rId37"/>
    <p:sldId id="710" r:id="rId38"/>
    <p:sldId id="711" r:id="rId39"/>
    <p:sldId id="726" r:id="rId40"/>
    <p:sldId id="714" r:id="rId41"/>
    <p:sldId id="706" r:id="rId42"/>
    <p:sldId id="695" r:id="rId43"/>
    <p:sldId id="725" r:id="rId44"/>
    <p:sldId id="727" r:id="rId45"/>
    <p:sldId id="728" r:id="rId46"/>
    <p:sldId id="697" r:id="rId47"/>
    <p:sldId id="698" r:id="rId48"/>
    <p:sldId id="699" r:id="rId49"/>
    <p:sldId id="700" r:id="rId50"/>
    <p:sldId id="701" r:id="rId51"/>
    <p:sldId id="702" r:id="rId52"/>
    <p:sldId id="704" r:id="rId53"/>
    <p:sldId id="656" r:id="rId54"/>
    <p:sldId id="490" r:id="rId55"/>
    <p:sldId id="528" r:id="rId56"/>
    <p:sldId id="640" r:id="rId57"/>
    <p:sldId id="641" r:id="rId58"/>
    <p:sldId id="649" r:id="rId59"/>
    <p:sldId id="683" r:id="rId60"/>
    <p:sldId id="638" r:id="rId61"/>
    <p:sldId id="658" r:id="rId62"/>
    <p:sldId id="659" r:id="rId63"/>
    <p:sldId id="663" r:id="rId64"/>
    <p:sldId id="560" r:id="rId65"/>
    <p:sldId id="665" r:id="rId66"/>
    <p:sldId id="561" r:id="rId67"/>
    <p:sldId id="643" r:id="rId68"/>
    <p:sldId id="569" r:id="rId69"/>
    <p:sldId id="570" r:id="rId70"/>
    <p:sldId id="573" r:id="rId71"/>
    <p:sldId id="729" r:id="rId72"/>
    <p:sldId id="730" r:id="rId73"/>
    <p:sldId id="731" r:id="rId74"/>
    <p:sldId id="732" r:id="rId75"/>
    <p:sldId id="542" r:id="rId76"/>
    <p:sldId id="516" r:id="rId77"/>
    <p:sldId id="541" r:id="rId78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0">
          <p15:clr>
            <a:srgbClr val="A4A3A4"/>
          </p15:clr>
        </p15:guide>
        <p15:guide id="2" pos="285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0808"/>
    <a:srgbClr val="006600"/>
    <a:srgbClr val="0000CC"/>
    <a:srgbClr val="B2B2B2"/>
    <a:srgbClr val="666699"/>
    <a:srgbClr val="9999FF"/>
    <a:srgbClr val="000000"/>
    <a:srgbClr val="0303DF"/>
    <a:srgbClr val="030DCD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74" autoAdjust="0"/>
    <p:restoredTop sz="94660" autoAdjust="0"/>
  </p:normalViewPr>
  <p:slideViewPr>
    <p:cSldViewPr snapToGrid="0" snapToObjects="1">
      <p:cViewPr varScale="1">
        <p:scale>
          <a:sx n="105" d="100"/>
          <a:sy n="105" d="100"/>
        </p:scale>
        <p:origin x="1674" y="102"/>
      </p:cViewPr>
      <p:guideLst>
        <p:guide orient="horz" pos="2170"/>
        <p:guide pos="285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1999" cy="71999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16" Type="http://schemas.openxmlformats.org/officeDocument/2006/relationships/slide" Target="slides/slide11.xml"/><Relationship Id="rId11" Type="http://schemas.openxmlformats.org/officeDocument/2006/relationships/slide" Target="slides/slide6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74" Type="http://schemas.openxmlformats.org/officeDocument/2006/relationships/slide" Target="slides/slide69.xml"/><Relationship Id="rId79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6.xml"/><Relationship Id="rId82" Type="http://schemas.openxmlformats.org/officeDocument/2006/relationships/theme" Target="theme/theme1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77" Type="http://schemas.openxmlformats.org/officeDocument/2006/relationships/slide" Target="slides/slide72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80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slide" Target="slides/slide65.xml"/><Relationship Id="rId75" Type="http://schemas.openxmlformats.org/officeDocument/2006/relationships/slide" Target="slides/slide70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slide" Target="slides/slide68.xml"/><Relationship Id="rId78" Type="http://schemas.openxmlformats.org/officeDocument/2006/relationships/slide" Target="slides/slide73.xml"/><Relationship Id="rId8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slide" Target="slides/slide71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4" Type="http://schemas.openxmlformats.org/officeDocument/2006/relationships/slide" Target="slides/slide19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66" Type="http://schemas.openxmlformats.org/officeDocument/2006/relationships/slide" Target="slides/slide6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0" name="Rectangle 4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2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C77AA068-423C-4043-8EE2-1CC6D935DDF0}" type="slidenum">
              <a:rPr lang="zh-CN" alt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05164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D3360855-BA1B-49D5-B0CD-B5E0CC13AAD6}" type="datetime1">
              <a:rPr lang="zh-CN" altLang="en-US" smtClean="0">
                <a:latin typeface="Arial" charset="0"/>
                <a:ea typeface="宋体" charset="-122"/>
              </a:rPr>
              <a:pPr/>
              <a:t>2023/2/18</a:t>
            </a:fld>
            <a:endParaRPr lang="en-US" altLang="zh-CN">
              <a:latin typeface="Arial" charset="0"/>
              <a:ea typeface="宋体" charset="-122"/>
            </a:endParaRPr>
          </a:p>
        </p:txBody>
      </p:sp>
      <p:sp>
        <p:nvSpPr>
          <p:cNvPr id="2253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DCAF334-A9C0-438B-84BC-4E279211E2CD}" type="slidenum">
              <a:rPr lang="en-US" altLang="zh-CN" smtClean="0">
                <a:latin typeface="Arial" charset="0"/>
                <a:ea typeface="宋体" charset="-122"/>
              </a:rPr>
              <a:pPr/>
              <a:t>73</a:t>
            </a:fld>
            <a:endParaRPr lang="en-US" altLang="zh-CN">
              <a:latin typeface="Arial" charset="0"/>
              <a:ea typeface="宋体" charset="-122"/>
            </a:endParaRPr>
          </a:p>
        </p:txBody>
      </p:sp>
      <p:sp>
        <p:nvSpPr>
          <p:cNvPr id="225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27125" y="701675"/>
            <a:ext cx="4587875" cy="3440113"/>
          </a:xfrm>
          <a:ln/>
        </p:spPr>
      </p:sp>
      <p:sp>
        <p:nvSpPr>
          <p:cNvPr id="2253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925" y="4352925"/>
            <a:ext cx="4995863" cy="4140200"/>
          </a:xfrm>
          <a:noFill/>
          <a:ln/>
        </p:spPr>
        <p:txBody>
          <a:bodyPr/>
          <a:lstStyle/>
          <a:p>
            <a:pPr eaLnBrk="1" hangingPunct="1"/>
            <a:endParaRPr lang="zh-CN" altLang="zh-CN">
              <a:latin typeface="Arial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348828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6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KSO_BT1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269875" y="2066925"/>
            <a:ext cx="5592763" cy="1384300"/>
          </a:xfrm>
        </p:spPr>
        <p:txBody>
          <a:bodyPr/>
          <a:lstStyle>
            <a:lvl1pPr algn="ctr">
              <a:defRPr sz="4200">
                <a:solidFill>
                  <a:srgbClr val="14729C"/>
                </a:solidFill>
              </a:defRPr>
            </a:lvl1pPr>
          </a:lstStyle>
          <a:p>
            <a:pPr lvl="0"/>
            <a:r>
              <a:rPr lang="zh-CN" noProof="0"/>
              <a:t>单击此处</a:t>
            </a:r>
            <a:br>
              <a:rPr lang="zh-CN" noProof="0"/>
            </a:br>
            <a:r>
              <a:rPr lang="zh-CN" noProof="0"/>
              <a:t>编辑母版标题样式</a:t>
            </a:r>
          </a:p>
        </p:txBody>
      </p:sp>
      <p:sp>
        <p:nvSpPr>
          <p:cNvPr id="2052" name="KSO_BC1"/>
          <p:cNvSpPr>
            <a:spLocks noGrp="1" noChangeArrowheads="1"/>
          </p:cNvSpPr>
          <p:nvPr>
            <p:ph type="subTitle" idx="1"/>
          </p:nvPr>
        </p:nvSpPr>
        <p:spPr>
          <a:xfrm>
            <a:off x="269875" y="3651250"/>
            <a:ext cx="5588000" cy="547688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>
                <a:solidFill>
                  <a:schemeClr val="folHlink"/>
                </a:solidFill>
              </a:defRPr>
            </a:lvl1pPr>
          </a:lstStyle>
          <a:p>
            <a:pPr lvl="0"/>
            <a:r>
              <a:rPr lang="zh-CN" noProof="0"/>
              <a:t>单击此处编辑母版副标题样式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01BDE14-8C80-49E0-8281-DD5E56F6F558}" type="datetime1">
              <a:rPr lang="zh-CN" altLang="en-US"/>
              <a:t>2023/2/18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4443EEA-FBC3-4E9A-9C70-438B835BD669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2023/2/18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6F85F4-ED83-48A5-8EDD-7FC59D045909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2023/2/18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FBF970-60AF-4DAF-9E35-50708D19D96E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79400" y="1054100"/>
            <a:ext cx="3811588" cy="54070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243388" y="1054100"/>
            <a:ext cx="3811587" cy="54070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2023/2/18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BDED28-B741-4EF3-8A85-476A8059E05F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2023/2/18</a:t>
            </a:fld>
            <a:endParaRPr lang="en-US"/>
          </a:p>
        </p:txBody>
      </p:sp>
      <p:sp>
        <p:nvSpPr>
          <p:cNvPr id="8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03127B-0938-4893-96C2-5BF3E99308BA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2023/2/18</a:t>
            </a:fld>
            <a:endParaRPr lang="en-US"/>
          </a:p>
        </p:txBody>
      </p:sp>
      <p:sp>
        <p:nvSpPr>
          <p:cNvPr id="4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C73F5A-A092-4D93-92E7-775B571A6B0D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2023/2/18</a:t>
            </a:fld>
            <a:endParaRPr lang="en-US"/>
          </a:p>
        </p:txBody>
      </p:sp>
      <p:sp>
        <p:nvSpPr>
          <p:cNvPr id="3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A47056-C575-41A5-9FC0-1A2A3B26D7C5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2023/2/18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96A6E2-01AE-4F33-B1C1-84244AF65CD8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2023/2/18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40B0EB-A491-48EF-BEE0-B90804C1504C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2023/2/18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414B56-E0FF-497B-B381-78CDFF87AB44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111875" y="196850"/>
            <a:ext cx="1943100" cy="626427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79400" y="196850"/>
            <a:ext cx="5680075" cy="626427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2023/2/18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2B9AB2-7367-4ECF-93B6-6B5F052EDA19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5" descr="未标题-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2" name="KSO_BC1"/>
          <p:cNvSpPr>
            <a:spLocks noGrp="1" noChangeArrowheads="1"/>
          </p:cNvSpPr>
          <p:nvPr>
            <p:ph type="subTitle" idx="1"/>
          </p:nvPr>
        </p:nvSpPr>
        <p:spPr>
          <a:xfrm>
            <a:off x="2790825" y="2152650"/>
            <a:ext cx="5870575" cy="496888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 sz="2000">
                <a:solidFill>
                  <a:srgbClr val="6C6F72"/>
                </a:solidFill>
              </a:defRPr>
            </a:lvl1pPr>
          </a:lstStyle>
          <a:p>
            <a:pPr lvl="0"/>
            <a:r>
              <a:rPr lang="zh-CN" noProof="0"/>
              <a:t>单击此处编辑母版副标题样式</a:t>
            </a:r>
          </a:p>
        </p:txBody>
      </p:sp>
      <p:sp>
        <p:nvSpPr>
          <p:cNvPr id="4103" name="KSO_BT1"/>
          <p:cNvSpPr>
            <a:spLocks noGrp="1" noChangeArrowheads="1"/>
          </p:cNvSpPr>
          <p:nvPr>
            <p:ph type="ctrTitle"/>
          </p:nvPr>
        </p:nvSpPr>
        <p:spPr>
          <a:xfrm>
            <a:off x="2787650" y="1258888"/>
            <a:ext cx="5884863" cy="863600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zh-CN" noProof="0"/>
              <a:t>单击此处编辑母版标题样式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D5EB33F-0483-43C6-847F-6D3BDF8997C4}" type="datetime1">
              <a:rPr lang="zh-CN" altLang="en-US"/>
              <a:t>2023/2/18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A24BC01-715A-404A-AF8C-083EFE472DA9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2023/2/18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92F74B-3F9D-4EC0-BB27-2C8E829D834A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2023/2/18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6C4A8C-293A-4006-9D11-27F066922CDA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47675" y="1133475"/>
            <a:ext cx="4030663" cy="51006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30738" y="1133475"/>
            <a:ext cx="4032250" cy="51006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2023/2/18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B30462-3FE9-4AC9-87A4-B13B8F51DDE4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2023/2/18</a:t>
            </a:fld>
            <a:endParaRPr lang="en-US"/>
          </a:p>
        </p:txBody>
      </p:sp>
      <p:sp>
        <p:nvSpPr>
          <p:cNvPr id="8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D057C7-BE4D-4CC7-9A6F-784CBE1E4408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2023/2/18</a:t>
            </a:fld>
            <a:endParaRPr lang="en-US"/>
          </a:p>
        </p:txBody>
      </p:sp>
      <p:sp>
        <p:nvSpPr>
          <p:cNvPr id="4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3111F1-C7D5-4B5F-82C4-FED058A43FED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2023/2/18</a:t>
            </a:fld>
            <a:endParaRPr lang="en-US"/>
          </a:p>
        </p:txBody>
      </p:sp>
      <p:sp>
        <p:nvSpPr>
          <p:cNvPr id="3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8CF258-373D-47B5-9224-E86B2421108D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2023/2/18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98A255-05C8-4069-A9CB-54077EFAD05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2023/2/18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A91975-133D-44B7-B5F6-02DDCE1C6857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2023/2/18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20D0EE-11E1-4E01-A713-4C0B04358260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10350" y="214313"/>
            <a:ext cx="2052638" cy="60198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7675" y="214313"/>
            <a:ext cx="6010275" cy="60198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2023/2/18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E740C7-CC37-4ABD-A9FF-809B75CEBA0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3" r="1172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流程图: 数据 4"/>
          <p:cNvSpPr>
            <a:spLocks noChangeArrowheads="1"/>
          </p:cNvSpPr>
          <p:nvPr/>
        </p:nvSpPr>
        <p:spPr bwMode="auto">
          <a:xfrm>
            <a:off x="2857500" y="0"/>
            <a:ext cx="6286500" cy="6858000"/>
          </a:xfrm>
          <a:prstGeom prst="flowChartInputOutput">
            <a:avLst/>
          </a:prstGeom>
          <a:solidFill>
            <a:srgbClr val="FDD762">
              <a:alpha val="5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endParaRPr lang="zh-CN" altLang="en-US" sz="1300">
              <a:solidFill>
                <a:srgbClr val="5F5F5F"/>
              </a:solidFill>
            </a:endParaRPr>
          </a:p>
        </p:txBody>
      </p:sp>
      <p:pic>
        <p:nvPicPr>
          <p:cNvPr id="6" name="图片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9875" y="1300163"/>
            <a:ext cx="4070350" cy="226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9" name="Text Placeholder 2"/>
          <p:cNvSpPr>
            <a:spLocks noGrp="1" noChangeArrowheads="1"/>
          </p:cNvSpPr>
          <p:nvPr>
            <p:ph type="subTitle" idx="1"/>
          </p:nvPr>
        </p:nvSpPr>
        <p:spPr>
          <a:xfrm>
            <a:off x="3417888" y="5014913"/>
            <a:ext cx="4735512" cy="547687"/>
          </a:xfrm>
        </p:spPr>
        <p:txBody>
          <a:bodyPr/>
          <a:lstStyle>
            <a:lvl1pPr marL="0" indent="0" algn="ctr">
              <a:buFont typeface="Wingdings 2" panose="05020102010507070707" pitchFamily="18" charset="2"/>
              <a:buNone/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zh-CN" noProof="0"/>
              <a:t>单击此处编辑母版副标题样式</a:t>
            </a:r>
          </a:p>
        </p:txBody>
      </p:sp>
      <p:sp>
        <p:nvSpPr>
          <p:cNvPr id="6153" name="Title Placeholder 1"/>
          <p:cNvSpPr>
            <a:spLocks noGrp="1" noChangeArrowheads="1"/>
          </p:cNvSpPr>
          <p:nvPr>
            <p:ph type="ctrTitle"/>
          </p:nvPr>
        </p:nvSpPr>
        <p:spPr>
          <a:xfrm>
            <a:off x="3408363" y="3463925"/>
            <a:ext cx="4737100" cy="1470025"/>
          </a:xfrm>
        </p:spPr>
        <p:txBody>
          <a:bodyPr/>
          <a:lstStyle>
            <a:lvl1pPr algn="ctr">
              <a:defRPr sz="3200"/>
            </a:lvl1pPr>
          </a:lstStyle>
          <a:p>
            <a:pPr lvl="0"/>
            <a:r>
              <a:rPr lang="zh-CN" noProof="0"/>
              <a:t>单击此处编辑母版标题样式</a:t>
            </a:r>
          </a:p>
        </p:txBody>
      </p:sp>
      <p:sp>
        <p:nvSpPr>
          <p:cNvPr id="7" name="Date Placeholder 3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0493455-07EA-47DB-90C0-E7E423CB59B6}" type="datetime1">
              <a:rPr lang="zh-CN" altLang="en-US"/>
              <a:t>2023/2/18</a:t>
            </a:fld>
            <a:endParaRPr lang="en-US"/>
          </a:p>
        </p:txBody>
      </p:sp>
      <p:sp>
        <p:nvSpPr>
          <p:cNvPr id="8" name="Footer Placeholder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338A0BD-2BD5-4CDD-949A-399040E1F361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2023/2/18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4C3199-1AFA-4954-9CC4-12638459641E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2023/2/18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4791B2-E5C4-4716-B26B-E0118C8D48EA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476375"/>
            <a:ext cx="3927475" cy="48799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6613" y="1476375"/>
            <a:ext cx="3929062" cy="48799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2023/2/18</a:t>
            </a:fld>
            <a:endParaRPr 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8A6133-FFB4-4B05-84EA-663E62FDFBC4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2023/2/18</a:t>
            </a:fld>
            <a:endParaRPr lang="en-US"/>
          </a:p>
        </p:txBody>
      </p:sp>
      <p:sp>
        <p:nvSpPr>
          <p:cNvPr id="8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227019-1451-45BD-B61C-7AF55C70AA45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2023/2/18</a:t>
            </a:fld>
            <a:endParaRPr lang="en-US"/>
          </a:p>
        </p:txBody>
      </p:sp>
      <p:sp>
        <p:nvSpPr>
          <p:cNvPr id="4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76A8A5-509F-4FF4-914B-DE7911A9FDCE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2023/2/18</a:t>
            </a:fld>
            <a:endParaRPr lang="en-US"/>
          </a:p>
        </p:txBody>
      </p:sp>
      <p:sp>
        <p:nvSpPr>
          <p:cNvPr id="3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40D63B-70E4-448C-A960-B7BCA42D5432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2023/2/18</a:t>
            </a:fld>
            <a:endParaRPr 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53BC4C-21CF-455E-B095-424B494E974E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2023/2/18</a:t>
            </a:fld>
            <a:endParaRPr 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D8D181-3281-4E13-887C-32993C8F81F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2023/2/18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F84EC5-1729-4024-A363-B97A4567CA7F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68300"/>
            <a:ext cx="2001837" cy="598805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68300"/>
            <a:ext cx="5854700" cy="598805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2023/2/18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A0E7CA-17FA-457E-94D8-9BF9C6220184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矩形 12"/>
          <p:cNvGrpSpPr/>
          <p:nvPr userDrawn="1"/>
        </p:nvGrpSpPr>
        <p:grpSpPr bwMode="auto">
          <a:xfrm>
            <a:off x="0" y="0"/>
            <a:ext cx="9150350" cy="6888163"/>
            <a:chOff x="0" y="0"/>
            <a:chExt cx="5764" cy="4339"/>
          </a:xfrm>
        </p:grpSpPr>
        <p:pic>
          <p:nvPicPr>
            <p:cNvPr id="5" name="矩形 12"/>
            <p:cNvPicPr>
              <a:picLocks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5764" cy="4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Text Box 4"/>
            <p:cNvSpPr txBox="1">
              <a:spLocks noChangeArrowheads="1"/>
            </p:cNvSpPr>
            <p:nvPr/>
          </p:nvSpPr>
          <p:spPr bwMode="auto">
            <a:xfrm>
              <a:off x="0" y="0"/>
              <a:ext cx="5762" cy="4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en-US" sz="1300">
                <a:solidFill>
                  <a:srgbClr val="FFFFFF"/>
                </a:solidFill>
              </a:endParaRPr>
            </a:p>
          </p:txBody>
        </p:sp>
      </p:grpSp>
      <p:grpSp>
        <p:nvGrpSpPr>
          <p:cNvPr id="7" name="组合 13"/>
          <p:cNvGrpSpPr/>
          <p:nvPr userDrawn="1"/>
        </p:nvGrpSpPr>
        <p:grpSpPr bwMode="auto">
          <a:xfrm>
            <a:off x="0" y="263525"/>
            <a:ext cx="9144000" cy="4676775"/>
            <a:chOff x="0" y="0"/>
            <a:chExt cx="12192000" cy="4677534"/>
          </a:xfrm>
        </p:grpSpPr>
        <p:grpSp>
          <p:nvGrpSpPr>
            <p:cNvPr id="8" name="Freeform 5"/>
            <p:cNvGrpSpPr/>
            <p:nvPr userDrawn="1"/>
          </p:nvGrpSpPr>
          <p:grpSpPr bwMode="auto">
            <a:xfrm>
              <a:off x="0" y="-1059"/>
              <a:ext cx="12200128" cy="2353056"/>
              <a:chOff x="0" y="0"/>
              <a:chExt cx="9150096" cy="2353056"/>
            </a:xfrm>
          </p:grpSpPr>
          <p:pic>
            <p:nvPicPr>
              <p:cNvPr id="17" name="Freeform 5"/>
              <p:cNvPicPr>
                <a:picLocks noEditPoints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9150096" cy="23530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" name="Text Box 8"/>
              <p:cNvSpPr txBox="1">
                <a:spLocks noChangeArrowheads="1"/>
              </p:cNvSpPr>
              <p:nvPr/>
            </p:nvSpPr>
            <p:spPr bwMode="auto">
              <a:xfrm>
                <a:off x="0" y="1059"/>
                <a:ext cx="9144000" cy="23530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1920" tIns="60960" rIns="121920" bIns="60960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9" name="矩形 15"/>
            <p:cNvSpPr>
              <a:spLocks noChangeArrowheads="1"/>
            </p:cNvSpPr>
            <p:nvPr/>
          </p:nvSpPr>
          <p:spPr bwMode="auto">
            <a:xfrm>
              <a:off x="0" y="2362583"/>
              <a:ext cx="12192000" cy="1714778"/>
            </a:xfrm>
            <a:prstGeom prst="rect">
              <a:avLst/>
            </a:prstGeom>
            <a:solidFill>
              <a:srgbClr val="28A9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1920" tIns="60960" rIns="121920" bIns="6096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en-US"/>
            </a:p>
          </p:txBody>
        </p:sp>
        <p:cxnSp>
          <p:nvCxnSpPr>
            <p:cNvPr id="10" name="直接连接符 16"/>
            <p:cNvCxnSpPr>
              <a:cxnSpLocks noChangeShapeType="1"/>
            </p:cNvCxnSpPr>
            <p:nvPr/>
          </p:nvCxnSpPr>
          <p:spPr bwMode="auto">
            <a:xfrm>
              <a:off x="0" y="4110425"/>
              <a:ext cx="12192000" cy="0"/>
            </a:xfrm>
            <a:prstGeom prst="line">
              <a:avLst/>
            </a:prstGeom>
            <a:noFill/>
            <a:ln w="19050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" name="直接连接符 17"/>
            <p:cNvCxnSpPr>
              <a:cxnSpLocks noChangeShapeType="1"/>
            </p:cNvCxnSpPr>
            <p:nvPr/>
          </p:nvCxnSpPr>
          <p:spPr bwMode="auto">
            <a:xfrm>
              <a:off x="0" y="4532288"/>
              <a:ext cx="4320000" cy="12674"/>
            </a:xfrm>
            <a:prstGeom prst="line">
              <a:avLst/>
            </a:prstGeom>
            <a:noFill/>
            <a:ln w="3175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" name="直接连接符 18"/>
            <p:cNvCxnSpPr>
              <a:cxnSpLocks noChangeShapeType="1"/>
            </p:cNvCxnSpPr>
            <p:nvPr/>
          </p:nvCxnSpPr>
          <p:spPr bwMode="auto">
            <a:xfrm>
              <a:off x="0" y="4598574"/>
              <a:ext cx="4320000" cy="12674"/>
            </a:xfrm>
            <a:prstGeom prst="line">
              <a:avLst/>
            </a:prstGeom>
            <a:noFill/>
            <a:ln w="3175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" name="直接连接符 19"/>
            <p:cNvCxnSpPr>
              <a:cxnSpLocks noChangeShapeType="1"/>
            </p:cNvCxnSpPr>
            <p:nvPr/>
          </p:nvCxnSpPr>
          <p:spPr bwMode="auto">
            <a:xfrm>
              <a:off x="0" y="4664860"/>
              <a:ext cx="4320000" cy="12674"/>
            </a:xfrm>
            <a:prstGeom prst="line">
              <a:avLst/>
            </a:prstGeom>
            <a:noFill/>
            <a:ln w="3175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" name="直接连接符 20"/>
            <p:cNvCxnSpPr>
              <a:cxnSpLocks noChangeShapeType="1"/>
            </p:cNvCxnSpPr>
            <p:nvPr/>
          </p:nvCxnSpPr>
          <p:spPr bwMode="auto">
            <a:xfrm>
              <a:off x="7872000" y="4532288"/>
              <a:ext cx="4320000" cy="12674"/>
            </a:xfrm>
            <a:prstGeom prst="line">
              <a:avLst/>
            </a:prstGeom>
            <a:noFill/>
            <a:ln w="3175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" name="直接连接符 21"/>
            <p:cNvCxnSpPr>
              <a:cxnSpLocks noChangeShapeType="1"/>
            </p:cNvCxnSpPr>
            <p:nvPr/>
          </p:nvCxnSpPr>
          <p:spPr bwMode="auto">
            <a:xfrm>
              <a:off x="7872000" y="4598574"/>
              <a:ext cx="4320000" cy="12674"/>
            </a:xfrm>
            <a:prstGeom prst="line">
              <a:avLst/>
            </a:prstGeom>
            <a:noFill/>
            <a:ln w="3175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" name="直接连接符 22"/>
            <p:cNvCxnSpPr>
              <a:cxnSpLocks noChangeShapeType="1"/>
            </p:cNvCxnSpPr>
            <p:nvPr/>
          </p:nvCxnSpPr>
          <p:spPr bwMode="auto">
            <a:xfrm>
              <a:off x="7872000" y="4664860"/>
              <a:ext cx="4320000" cy="12674"/>
            </a:xfrm>
            <a:prstGeom prst="line">
              <a:avLst/>
            </a:prstGeom>
            <a:noFill/>
            <a:ln w="3175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8209" name="Text Placeholder 2"/>
          <p:cNvSpPr>
            <a:spLocks noGrp="1" noChangeArrowheads="1"/>
          </p:cNvSpPr>
          <p:nvPr>
            <p:ph type="subTitle" idx="1"/>
          </p:nvPr>
        </p:nvSpPr>
        <p:spPr>
          <a:xfrm>
            <a:off x="3228975" y="4695825"/>
            <a:ext cx="2628900" cy="466725"/>
          </a:xfrm>
        </p:spPr>
        <p:txBody>
          <a:bodyPr/>
          <a:lstStyle>
            <a:lvl1pPr algn="ctr">
              <a:buFont typeface="Wingdings 2" panose="05020102010507070707" pitchFamily="18" charset="2"/>
              <a:buNone/>
              <a:defRPr sz="1600"/>
            </a:lvl1pPr>
          </a:lstStyle>
          <a:p>
            <a:pPr lvl="0"/>
            <a:r>
              <a:rPr lang="zh-CN" noProof="0">
                <a:sym typeface="Arial" panose="020B0604020202020204" pitchFamily="34" charset="0"/>
              </a:rPr>
              <a:t>单击此处编辑母版副标题样式</a:t>
            </a:r>
          </a:p>
        </p:txBody>
      </p:sp>
      <p:sp>
        <p:nvSpPr>
          <p:cNvPr id="8213" name="Title Placeholder 1"/>
          <p:cNvSpPr>
            <a:spLocks noGrp="1" noChangeArrowheads="1"/>
          </p:cNvSpPr>
          <p:nvPr>
            <p:ph type="ctrTitle"/>
          </p:nvPr>
        </p:nvSpPr>
        <p:spPr>
          <a:xfrm>
            <a:off x="714375" y="3140075"/>
            <a:ext cx="7772400" cy="717550"/>
          </a:xfrm>
        </p:spPr>
        <p:txBody>
          <a:bodyPr/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noProof="0"/>
              <a:t>单击此处编辑母版标题样式</a:t>
            </a:r>
          </a:p>
        </p:txBody>
      </p:sp>
      <p:sp>
        <p:nvSpPr>
          <p:cNvPr id="19" name="Date Placeholder 3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E9B9122-6204-415B-9B63-767BCB80D292}" type="datetime1">
              <a:rPr lang="zh-CN" altLang="en-US"/>
              <a:t>2023/2/18</a:t>
            </a:fld>
            <a:endParaRPr lang="en-US"/>
          </a:p>
        </p:txBody>
      </p:sp>
      <p:sp>
        <p:nvSpPr>
          <p:cNvPr id="20" name="Footer Placeholder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" name="Slide Number Placeholder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0250EEA-FF4E-41D5-AF69-6EEADFA6D3D0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2023/2/18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989441-A55F-43EA-A8B0-412ADF2DBC6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2023/2/18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64DB7A-EFF0-4FC6-B595-90C219780068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85775" y="1135063"/>
            <a:ext cx="3968750" cy="534511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06925" y="1135063"/>
            <a:ext cx="3968750" cy="534511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2023/2/18</a:t>
            </a:fld>
            <a:endParaRPr 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9D5673-5430-4CAF-80D3-E7AE5060CFAF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2023/2/18</a:t>
            </a:fld>
            <a:endParaRPr lang="en-US"/>
          </a:p>
        </p:txBody>
      </p:sp>
      <p:sp>
        <p:nvSpPr>
          <p:cNvPr id="8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25A6FA-2176-4BCE-AD9F-89675A8CFB5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2023/2/18</a:t>
            </a:fld>
            <a:endParaRPr lang="en-US"/>
          </a:p>
        </p:txBody>
      </p:sp>
      <p:sp>
        <p:nvSpPr>
          <p:cNvPr id="4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1250DC-0878-4B08-A8DF-B0618002FCC3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2023/2/18</a:t>
            </a:fld>
            <a:endParaRPr lang="en-US"/>
          </a:p>
        </p:txBody>
      </p:sp>
      <p:sp>
        <p:nvSpPr>
          <p:cNvPr id="3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FB7DB4-EE38-47B9-960D-23808051C6B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2023/2/18</a:t>
            </a:fld>
            <a:endParaRPr 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779915-1CD2-4D16-B500-B5490E936485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2023/2/18</a:t>
            </a:fld>
            <a:endParaRPr 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29697E-D45A-4E7C-81FC-4060FFD7AB32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2023/2/18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C46216-539C-4C56-A730-F6A42213F0E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53200" y="255588"/>
            <a:ext cx="2022475" cy="6224587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85775" y="255588"/>
            <a:ext cx="5915025" cy="6224587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2023/2/18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C01A58-410C-44AE-B15D-E703576B05EB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 eaLnBrk="1"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 eaLnBrk="1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74489087"/>
      </p:ext>
    </p:extLst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9400" y="1010465"/>
            <a:ext cx="8636000" cy="4972050"/>
          </a:xfrm>
        </p:spPr>
        <p:txBody>
          <a:bodyPr/>
          <a:lstStyle>
            <a:lvl1pPr eaLnBrk="1">
              <a:lnSpc>
                <a:spcPct val="130000"/>
              </a:lnSpc>
              <a:spcBef>
                <a:spcPts val="0"/>
              </a:spcBef>
              <a:buFont typeface="Wingdings" pitchFamily="2" charset="2"/>
              <a:buChar char="l"/>
              <a:defRPr/>
            </a:lvl1pPr>
            <a:lvl2pPr eaLnBrk="1">
              <a:lnSpc>
                <a:spcPct val="130000"/>
              </a:lnSpc>
              <a:spcBef>
                <a:spcPts val="0"/>
              </a:spcBef>
              <a:buFont typeface="Wingdings" pitchFamily="2" charset="2"/>
              <a:buChar char="Ø"/>
              <a:defRPr/>
            </a:lvl2pPr>
            <a:lvl3pPr eaLnBrk="1">
              <a:lnSpc>
                <a:spcPct val="130000"/>
              </a:lnSpc>
              <a:spcBef>
                <a:spcPts val="0"/>
              </a:spcBef>
              <a:defRPr/>
            </a:lvl3pPr>
            <a:lvl4pPr eaLnBrk="1">
              <a:lnSpc>
                <a:spcPct val="130000"/>
              </a:lnSpc>
              <a:spcBef>
                <a:spcPts val="0"/>
              </a:spcBef>
              <a:defRPr/>
            </a:lvl4pPr>
            <a:lvl5pPr eaLnBrk="1">
              <a:lnSpc>
                <a:spcPct val="13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Text Box 17"/>
          <p:cNvSpPr txBox="1">
            <a:spLocks noChangeArrowheads="1"/>
          </p:cNvSpPr>
          <p:nvPr userDrawn="1"/>
        </p:nvSpPr>
        <p:spPr bwMode="auto">
          <a:xfrm>
            <a:off x="50800" y="6481763"/>
            <a:ext cx="9067800" cy="3397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fld id="{380602F7-2D1E-4BA3-9157-D4E968859D90}" type="slidenum">
              <a:rPr lang="zh-CN" altLang="en-US" sz="1600" b="1" smtClean="0">
                <a:solidFill>
                  <a:srgbClr val="000000"/>
                </a:solidFill>
              </a:rPr>
              <a:pPr algn="r" eaLnBrk="1" hangingPunct="1">
                <a:spcBef>
                  <a:spcPct val="50000"/>
                </a:spcBef>
                <a:buFontTx/>
                <a:buNone/>
                <a:defRPr/>
              </a:pPr>
              <a:t>‹#›</a:t>
            </a:fld>
            <a:r>
              <a:rPr lang="zh-CN" altLang="en-US" sz="1600" b="1" dirty="0">
                <a:solidFill>
                  <a:srgbClr val="FFFFFF"/>
                </a:solidFill>
              </a:rPr>
              <a:t> </a:t>
            </a:r>
            <a:endParaRPr lang="zh-CN" altLang="zh-CN" sz="16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8186712"/>
      </p:ext>
    </p:extLst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79400" y="1096963"/>
            <a:ext cx="4241800" cy="4972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73600" y="1096963"/>
            <a:ext cx="4241800" cy="4972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37356039"/>
      </p:ext>
    </p:extLst>
  </p:cSld>
  <p:clrMapOvr>
    <a:masterClrMapping/>
  </p:clrMapOvr>
  <p:transition spd="med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buFontTx/>
              <a:buNone/>
              <a:defRPr/>
            </a:pPr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buFontTx/>
              <a:buNone/>
              <a:defRPr/>
            </a:pPr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buFontTx/>
              <a:buNone/>
              <a:defRPr/>
            </a:pPr>
            <a:fld id="{0FF57203-C35C-4101-BB59-5D58D06E0BA5}" type="slidenum">
              <a:rPr lang="en-US" altLang="zh-CN">
                <a:solidFill>
                  <a:srgbClr val="000000"/>
                </a:solidFill>
                <a:latin typeface="Arial" charset="0"/>
                <a:ea typeface="宋体" charset="-122"/>
              </a:rPr>
              <a:pPr>
                <a:buFontTx/>
                <a:buNone/>
                <a:defRPr/>
              </a:pPr>
              <a:t>‹#›</a:t>
            </a:fld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4049000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2192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641475"/>
            <a:ext cx="3810000" cy="4454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41475"/>
            <a:ext cx="3810000" cy="4454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buFontTx/>
              <a:buNone/>
            </a:pPr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buFontTx/>
              <a:buNone/>
            </a:pPr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buFontTx/>
              <a:buNone/>
            </a:pPr>
            <a:fld id="{9FC7E16D-5A04-4A97-B5EF-ADB58EFF5016}" type="slidenum">
              <a:rPr lang="zh-CN" altLang="en-US">
                <a:solidFill>
                  <a:srgbClr val="000000"/>
                </a:solidFill>
                <a:latin typeface="Arial" charset="0"/>
                <a:ea typeface="宋体" charset="-122"/>
              </a:rPr>
              <a:pPr>
                <a:buFontTx/>
                <a:buNone/>
              </a:pPr>
              <a:t>‹#›</a:t>
            </a:fld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26094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4.jpe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7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8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slideLayout" Target="../slideLayouts/slideLayout47.xml"/><Relationship Id="rId7" Type="http://schemas.openxmlformats.org/officeDocument/2006/relationships/image" Target="../media/image10.jpeg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theme" Target="../theme/theme5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9" Type="http://schemas.openxmlformats.org/officeDocument/2006/relationships/image" Target="../media/image1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8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0650" y="0"/>
            <a:ext cx="394335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KSO_BT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39725" y="196850"/>
            <a:ext cx="6400800" cy="70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8" name="KSO_BC1"/>
          <p:cNvSpPr>
            <a:spLocks noGrp="1" noChangeArrowheads="1"/>
          </p:cNvSpPr>
          <p:nvPr>
            <p:ph type="body" idx="9"/>
          </p:nvPr>
        </p:nvSpPr>
        <p:spPr bwMode="auto">
          <a:xfrm>
            <a:off x="279400" y="1054100"/>
            <a:ext cx="7775575" cy="540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1029" name="KSO_FD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1200" smtClean="0">
                <a:solidFill>
                  <a:srgbClr val="919293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2023/2/18</a:t>
            </a:fld>
            <a:endParaRPr lang="en-US"/>
          </a:p>
        </p:txBody>
      </p:sp>
      <p:sp>
        <p:nvSpPr>
          <p:cNvPr id="1030" name="KSO_FT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>
              <a:defRPr sz="1200" smtClean="0">
                <a:solidFill>
                  <a:srgbClr val="919293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31" name="KSO_FN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 smtClean="0">
                <a:solidFill>
                  <a:srgbClr val="919293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C705EA6D-0A8A-47D3-AD10-1EDF3BDE7BA2}" type="slidenum">
              <a:rPr lang="zh-CN" alt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3000" b="1" kern="1200">
          <a:solidFill>
            <a:srgbClr val="1A93C8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9pPr>
    </p:titleStyle>
    <p:bodyStyle>
      <a:lvl1pPr marL="357505" indent="-357505" algn="just" rtl="0" fontAlgn="base">
        <a:spcBef>
          <a:spcPts val="1800"/>
        </a:spcBef>
        <a:spcAft>
          <a:spcPct val="0"/>
        </a:spcAft>
        <a:buClr>
          <a:srgbClr val="1A93C8"/>
        </a:buClr>
        <a:buSzPct val="60000"/>
        <a:buFont typeface="Wingdings" panose="05000000000000000000" pitchFamily="2" charset="2"/>
        <a:buChar char="m"/>
        <a:defRPr sz="2000" kern="1200">
          <a:solidFill>
            <a:srgbClr val="1A93C8"/>
          </a:solidFill>
          <a:latin typeface="+mn-lt"/>
          <a:ea typeface="+mn-ea"/>
          <a:cs typeface="+mn-cs"/>
        </a:defRPr>
      </a:lvl1pPr>
      <a:lvl2pPr marL="357505" indent="-357505" algn="l" rtl="0" fontAlgn="base">
        <a:lnSpc>
          <a:spcPct val="130000"/>
        </a:lnSpc>
        <a:spcBef>
          <a:spcPct val="0"/>
        </a:spcBef>
        <a:spcAft>
          <a:spcPts val="600"/>
        </a:spcAft>
        <a:buClr>
          <a:srgbClr val="A1BBEE"/>
        </a:buClr>
        <a:buFont typeface="幼圆" panose="02010509060101010101" pitchFamily="49" charset="-122"/>
        <a:buChar char=" "/>
        <a:defRPr sz="1600" kern="1200">
          <a:solidFill>
            <a:srgbClr val="7D7D7D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组合 6"/>
          <p:cNvGrpSpPr>
            <a:grpSpLocks noChangeAspect="1"/>
          </p:cNvGrpSpPr>
          <p:nvPr/>
        </p:nvGrpSpPr>
        <p:grpSpPr bwMode="auto">
          <a:xfrm>
            <a:off x="-3175" y="12700"/>
            <a:ext cx="9144000" cy="6858000"/>
            <a:chOff x="0" y="0"/>
            <a:chExt cx="7850038" cy="5887529"/>
          </a:xfrm>
        </p:grpSpPr>
        <p:pic>
          <p:nvPicPr>
            <p:cNvPr id="2051" name="图片 5" descr="未标题-1.jpg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076" b="14151"/>
            <a:stretch>
              <a:fillRect/>
            </a:stretch>
          </p:blipFill>
          <p:spPr bwMode="auto">
            <a:xfrm>
              <a:off x="3925019" y="0"/>
              <a:ext cx="3925019" cy="58875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52" name="图片 5" descr="未标题-1.jpg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076" b="14310"/>
            <a:stretch>
              <a:fillRect/>
            </a:stretch>
          </p:blipFill>
          <p:spPr bwMode="auto">
            <a:xfrm flipH="1">
              <a:off x="0" y="0"/>
              <a:ext cx="3925019" cy="58766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077" name="KSO_FD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900" smtClean="0">
                <a:solidFill>
                  <a:srgbClr val="969696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2023/2/18</a:t>
            </a:fld>
            <a:endParaRPr lang="en-US"/>
          </a:p>
        </p:txBody>
      </p:sp>
      <p:sp>
        <p:nvSpPr>
          <p:cNvPr id="3078" name="KSO_FT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>
              <a:defRPr sz="900" smtClean="0">
                <a:solidFill>
                  <a:srgbClr val="969696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KSO_FN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>
              <a:defRPr sz="900" smtClean="0">
                <a:solidFill>
                  <a:srgbClr val="969696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028345E7-2928-4024-B92D-DE6894893D24}" type="slidenum">
              <a:rPr lang="zh-CN" altLang="en-US"/>
              <a:t>‹#›</a:t>
            </a:fld>
            <a:endParaRPr lang="en-US"/>
          </a:p>
        </p:txBody>
      </p:sp>
      <p:sp>
        <p:nvSpPr>
          <p:cNvPr id="2056" name="KSO_BC1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47675" y="1133475"/>
            <a:ext cx="8215313" cy="510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2057" name="KSO_BT1"/>
          <p:cNvSpPr>
            <a:spLocks noGrp="1" noChangeArrowheads="1"/>
          </p:cNvSpPr>
          <p:nvPr>
            <p:ph type="title" idx="9"/>
          </p:nvPr>
        </p:nvSpPr>
        <p:spPr bwMode="auto">
          <a:xfrm>
            <a:off x="447675" y="214313"/>
            <a:ext cx="8215313" cy="795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2pPr>
      <a:lvl3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3pPr>
      <a:lvl4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4pPr>
      <a:lvl5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9pPr>
    </p:titleStyle>
    <p:bodyStyle>
      <a:lvl1pPr marL="361950" indent="-361950" algn="just" defTabSz="685800" rtl="0" fontAlgn="base">
        <a:lnSpc>
          <a:spcPct val="110000"/>
        </a:lnSpc>
        <a:spcBef>
          <a:spcPts val="12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l"/>
        <a:defRPr sz="24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61950" indent="-361950" algn="l" defTabSz="685800" rtl="0" fontAlgn="base">
        <a:lnSpc>
          <a:spcPct val="120000"/>
        </a:lnSpc>
        <a:spcBef>
          <a:spcPct val="0"/>
        </a:spcBef>
        <a:spcAft>
          <a:spcPts val="1200"/>
        </a:spcAft>
        <a:buClr>
          <a:srgbClr val="E5A997"/>
        </a:buClr>
        <a:buFont typeface="幼圆" panose="02010509060101010101" pitchFamily="49" charset="-122"/>
        <a:buChar char=" 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3pPr>
      <a:lvl4pPr marL="12001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15430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9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9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Text Placeholder 2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566738" y="1476375"/>
            <a:ext cx="8008937" cy="487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5124" name="Date Placeholder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28650" y="6403975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9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2023/2/18</a:t>
            </a:fld>
            <a:endParaRPr lang="en-US"/>
          </a:p>
        </p:txBody>
      </p:sp>
      <p:sp>
        <p:nvSpPr>
          <p:cNvPr id="5125" name="Footer Placeholder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28950" y="6403975"/>
            <a:ext cx="30861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>
              <a:defRPr sz="9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6" name="Slide Number Placeholder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57950" y="6403975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>
              <a:defRPr sz="9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1F8672DB-A52B-402A-AC56-6EAF7309D802}" type="slidenum">
              <a:rPr lang="zh-CN" altLang="en-US"/>
              <a:t>‹#›</a:t>
            </a:fld>
            <a:endParaRPr lang="en-US"/>
          </a:p>
        </p:txBody>
      </p:sp>
      <p:sp>
        <p:nvSpPr>
          <p:cNvPr id="3079" name="Title Placeholder 1"/>
          <p:cNvSpPr>
            <a:spLocks noGrp="1" noChangeArrowheads="1"/>
          </p:cNvSpPr>
          <p:nvPr>
            <p:ph type="title" idx="9"/>
          </p:nvPr>
        </p:nvSpPr>
        <p:spPr bwMode="auto">
          <a:xfrm>
            <a:off x="566738" y="368300"/>
            <a:ext cx="8008937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2pPr>
      <a:lvl3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3pPr>
      <a:lvl4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4pPr>
      <a:lvl5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9pPr>
    </p:titleStyle>
    <p:bodyStyle>
      <a:lvl1pPr marL="266700" indent="-266700" algn="l" defTabSz="685800" rtl="0" fontAlgn="base">
        <a:lnSpc>
          <a:spcPct val="90000"/>
        </a:lnSpc>
        <a:spcBef>
          <a:spcPts val="1350"/>
        </a:spcBef>
        <a:spcAft>
          <a:spcPct val="0"/>
        </a:spcAft>
        <a:buClr>
          <a:schemeClr val="accent2"/>
        </a:buClr>
        <a:buSzPct val="80000"/>
        <a:buFont typeface="Wingdings 2" panose="05020102010507070707" pitchFamily="18" charset="2"/>
        <a:buChar char="ö"/>
        <a:defRPr sz="24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266700" indent="-266700" algn="l" defTabSz="685800" rtl="0" fontAlgn="base">
        <a:lnSpc>
          <a:spcPct val="130000"/>
        </a:lnSpc>
        <a:spcBef>
          <a:spcPct val="0"/>
        </a:spcBef>
        <a:spcAft>
          <a:spcPct val="0"/>
        </a:spcAft>
        <a:buFont typeface="Calibri" panose="020F0502020204030204" pitchFamily="34" charset="0"/>
        <a:buChar char=" 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1500" kern="1200">
          <a:solidFill>
            <a:srgbClr val="303030"/>
          </a:solidFill>
          <a:latin typeface="+mn-lt"/>
          <a:ea typeface="+mn-ea"/>
          <a:cs typeface="+mn-cs"/>
        </a:defRPr>
      </a:lvl3pPr>
      <a:lvl4pPr marL="12001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1300" kern="1200">
          <a:solidFill>
            <a:srgbClr val="303030"/>
          </a:solidFill>
          <a:latin typeface="+mn-lt"/>
          <a:ea typeface="+mn-ea"/>
          <a:cs typeface="+mn-cs"/>
        </a:defRPr>
      </a:lvl4pPr>
      <a:lvl5pPr marL="15430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1300" kern="1200">
          <a:solidFill>
            <a:srgbClr val="30303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矩形 11"/>
          <p:cNvGrpSpPr/>
          <p:nvPr/>
        </p:nvGrpSpPr>
        <p:grpSpPr bwMode="auto">
          <a:xfrm>
            <a:off x="0" y="0"/>
            <a:ext cx="9150350" cy="6888163"/>
            <a:chOff x="0" y="0"/>
            <a:chExt cx="5764" cy="4339"/>
          </a:xfrm>
        </p:grpSpPr>
        <p:pic>
          <p:nvPicPr>
            <p:cNvPr id="4099" name="矩形 11"/>
            <p:cNvPicPr>
              <a:picLocks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5764" cy="4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72" name="Text Box 4"/>
            <p:cNvSpPr txBox="1">
              <a:spLocks noChangeArrowheads="1"/>
            </p:cNvSpPr>
            <p:nvPr/>
          </p:nvSpPr>
          <p:spPr bwMode="auto">
            <a:xfrm>
              <a:off x="0" y="0"/>
              <a:ext cx="5762" cy="4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en-US" sz="1300">
                <a:solidFill>
                  <a:srgbClr val="FFFFFF"/>
                </a:solidFill>
              </a:endParaRPr>
            </a:p>
          </p:txBody>
        </p:sp>
      </p:grpSp>
      <p:sp>
        <p:nvSpPr>
          <p:cNvPr id="4101" name="Text Placeholder 2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85775" y="1135063"/>
            <a:ext cx="8089900" cy="5345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>
                <a:sym typeface="Arial" panose="020B0604020202020204" pitchFamily="34" charset="0"/>
              </a:rPr>
              <a:t>单击此处编辑母版文本样式</a:t>
            </a:r>
          </a:p>
          <a:p>
            <a:pPr lvl="1"/>
            <a:r>
              <a:rPr lang="zh-CN" altLang="en-US">
                <a:sym typeface="宋体" panose="02010600030101010101" pitchFamily="2" charset="-122"/>
              </a:rPr>
              <a:t>第二级</a:t>
            </a:r>
          </a:p>
          <a:p>
            <a:pPr lvl="2"/>
            <a:r>
              <a:rPr lang="zh-CN" altLang="en-US">
                <a:sym typeface="宋体" panose="02010600030101010101" pitchFamily="2" charset="-122"/>
              </a:rPr>
              <a:t>第三级</a:t>
            </a:r>
          </a:p>
          <a:p>
            <a:pPr lvl="3"/>
            <a:r>
              <a:rPr lang="zh-CN" altLang="en-US">
                <a:sym typeface="宋体" panose="02010600030101010101" pitchFamily="2" charset="-122"/>
              </a:rPr>
              <a:t>第四级</a:t>
            </a:r>
          </a:p>
        </p:txBody>
      </p:sp>
      <p:sp>
        <p:nvSpPr>
          <p:cNvPr id="7174" name="Date Placeholder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28650" y="6508750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9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2023/2/18</a:t>
            </a:fld>
            <a:endParaRPr lang="en-US"/>
          </a:p>
        </p:txBody>
      </p:sp>
      <p:sp>
        <p:nvSpPr>
          <p:cNvPr id="7175" name="Footer Placeholder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28950" y="6508750"/>
            <a:ext cx="30861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>
              <a:defRPr sz="9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6" name="Slide Number Placeholder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57950" y="6508750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>
              <a:defRPr sz="9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C44DC649-F695-46C3-B7FF-3FC4AA7FFBA1}" type="slidenum">
              <a:rPr lang="zh-CN" altLang="en-US"/>
              <a:t>‹#›</a:t>
            </a:fld>
            <a:endParaRPr lang="en-US"/>
          </a:p>
        </p:txBody>
      </p:sp>
      <p:sp>
        <p:nvSpPr>
          <p:cNvPr id="4105" name="Title Placeholder 1"/>
          <p:cNvSpPr>
            <a:spLocks noGrp="1" noChangeArrowheads="1"/>
          </p:cNvSpPr>
          <p:nvPr>
            <p:ph type="title" idx="9"/>
          </p:nvPr>
        </p:nvSpPr>
        <p:spPr bwMode="auto">
          <a:xfrm>
            <a:off x="485775" y="255588"/>
            <a:ext cx="80899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cxnSp>
        <p:nvCxnSpPr>
          <p:cNvPr id="4106" name="直接连接符 8"/>
          <p:cNvCxnSpPr>
            <a:cxnSpLocks noChangeShapeType="1"/>
          </p:cNvCxnSpPr>
          <p:nvPr/>
        </p:nvCxnSpPr>
        <p:spPr bwMode="auto">
          <a:xfrm flipH="1">
            <a:off x="57150" y="6480175"/>
            <a:ext cx="8980488" cy="0"/>
          </a:xfrm>
          <a:prstGeom prst="line">
            <a:avLst/>
          </a:prstGeom>
          <a:noFill/>
          <a:ln w="15875">
            <a:solidFill>
              <a:srgbClr val="28A9D6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4107" name="Freeform 5"/>
          <p:cNvGrpSpPr/>
          <p:nvPr/>
        </p:nvGrpSpPr>
        <p:grpSpPr bwMode="auto">
          <a:xfrm>
            <a:off x="5595938" y="5657850"/>
            <a:ext cx="3194050" cy="822325"/>
            <a:chOff x="0" y="0"/>
            <a:chExt cx="2012" cy="518"/>
          </a:xfrm>
        </p:grpSpPr>
        <p:pic>
          <p:nvPicPr>
            <p:cNvPr id="4108" name="Freeform 5"/>
            <p:cNvPicPr>
              <a:picLocks noEditPoints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2012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81" name="Text Box 13"/>
            <p:cNvSpPr txBox="1">
              <a:spLocks noChangeArrowheads="1"/>
            </p:cNvSpPr>
            <p:nvPr/>
          </p:nvSpPr>
          <p:spPr bwMode="auto">
            <a:xfrm>
              <a:off x="-1" y="1"/>
              <a:ext cx="2009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4110" name="任意多边形 10"/>
          <p:cNvSpPr>
            <a:spLocks noChangeArrowheads="1"/>
          </p:cNvSpPr>
          <p:nvPr/>
        </p:nvSpPr>
        <p:spPr bwMode="auto">
          <a:xfrm flipV="1">
            <a:off x="244475" y="423863"/>
            <a:ext cx="8977313" cy="431800"/>
          </a:xfrm>
          <a:custGeom>
            <a:avLst/>
            <a:gdLst>
              <a:gd name="T0" fmla="*/ 167822 w 11969073"/>
              <a:gd name="T1" fmla="*/ 524933 h 524933"/>
              <a:gd name="T2" fmla="*/ 168846 w 11969073"/>
              <a:gd name="T3" fmla="*/ 524933 h 524933"/>
              <a:gd name="T4" fmla="*/ 168846 w 11969073"/>
              <a:gd name="T5" fmla="*/ 14598 h 524933"/>
              <a:gd name="T6" fmla="*/ 1386790 w 11969073"/>
              <a:gd name="T7" fmla="*/ 14598 h 524933"/>
              <a:gd name="T8" fmla="*/ 11969073 w 11969073"/>
              <a:gd name="T9" fmla="*/ 0 h 524933"/>
              <a:gd name="T10" fmla="*/ 167822 w 11969073"/>
              <a:gd name="T11" fmla="*/ 0 h 524933"/>
              <a:gd name="T12" fmla="*/ 152999 w 11969073"/>
              <a:gd name="T13" fmla="*/ 0 h 524933"/>
              <a:gd name="T14" fmla="*/ 152999 w 11969073"/>
              <a:gd name="T15" fmla="*/ 507260 h 524933"/>
              <a:gd name="T16" fmla="*/ 107280 w 11969073"/>
              <a:gd name="T17" fmla="*/ 507260 h 524933"/>
              <a:gd name="T18" fmla="*/ 107280 w 11969073"/>
              <a:gd name="T19" fmla="*/ 0 h 524933"/>
              <a:gd name="T20" fmla="*/ 0 w 11969073"/>
              <a:gd name="T21" fmla="*/ 0 h 524933"/>
              <a:gd name="T22" fmla="*/ 0 w 11969073"/>
              <a:gd name="T23" fmla="*/ 524932 h 524933"/>
              <a:gd name="T24" fmla="*/ 33834 w 11969073"/>
              <a:gd name="T25" fmla="*/ 524932 h 524933"/>
              <a:gd name="T26" fmla="*/ 33834 w 11969073"/>
              <a:gd name="T27" fmla="*/ 23810 h 524933"/>
              <a:gd name="T28" fmla="*/ 79553 w 11969073"/>
              <a:gd name="T29" fmla="*/ 23810 h 524933"/>
              <a:gd name="T30" fmla="*/ 79553 w 11969073"/>
              <a:gd name="T31" fmla="*/ 524932 h 524933"/>
              <a:gd name="T32" fmla="*/ 167822 w 11969073"/>
              <a:gd name="T33" fmla="*/ 524932 h 524933"/>
              <a:gd name="T34" fmla="*/ 167822 w 11969073"/>
              <a:gd name="T35" fmla="*/ 524933 h 5249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1969073" h="524933">
                <a:moveTo>
                  <a:pt x="167822" y="524933"/>
                </a:moveTo>
                <a:lnTo>
                  <a:pt x="168846" y="524933"/>
                </a:lnTo>
                <a:lnTo>
                  <a:pt x="168846" y="14598"/>
                </a:lnTo>
                <a:lnTo>
                  <a:pt x="1386790" y="14598"/>
                </a:lnTo>
                <a:lnTo>
                  <a:pt x="11969073" y="0"/>
                </a:lnTo>
                <a:lnTo>
                  <a:pt x="167822" y="0"/>
                </a:lnTo>
                <a:lnTo>
                  <a:pt x="152999" y="0"/>
                </a:lnTo>
                <a:lnTo>
                  <a:pt x="152999" y="507260"/>
                </a:lnTo>
                <a:lnTo>
                  <a:pt x="107280" y="507260"/>
                </a:lnTo>
                <a:lnTo>
                  <a:pt x="107280" y="0"/>
                </a:lnTo>
                <a:lnTo>
                  <a:pt x="0" y="0"/>
                </a:lnTo>
                <a:lnTo>
                  <a:pt x="0" y="524932"/>
                </a:lnTo>
                <a:lnTo>
                  <a:pt x="33834" y="524932"/>
                </a:lnTo>
                <a:lnTo>
                  <a:pt x="33834" y="23810"/>
                </a:lnTo>
                <a:lnTo>
                  <a:pt x="79553" y="23810"/>
                </a:lnTo>
                <a:lnTo>
                  <a:pt x="79553" y="524932"/>
                </a:lnTo>
                <a:lnTo>
                  <a:pt x="167822" y="524932"/>
                </a:lnTo>
                <a:lnTo>
                  <a:pt x="167822" y="524933"/>
                </a:lnTo>
                <a:close/>
              </a:path>
            </a:pathLst>
          </a:custGeom>
          <a:solidFill>
            <a:srgbClr val="28A9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0" hangingPunct="0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 kern="1200">
          <a:solidFill>
            <a:srgbClr val="1A93C8"/>
          </a:solidFill>
          <a:latin typeface="+mj-lt"/>
          <a:ea typeface="+mj-ea"/>
          <a:cs typeface="+mj-cs"/>
        </a:defRPr>
      </a:lvl1pPr>
      <a:lvl2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2pPr>
      <a:lvl3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3pPr>
      <a:lvl4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4pPr>
      <a:lvl5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9pPr>
    </p:titleStyle>
    <p:bodyStyle>
      <a:lvl1pPr algn="l" defTabSz="685800" rtl="0" fontAlgn="base">
        <a:lnSpc>
          <a:spcPct val="90000"/>
        </a:lnSpc>
        <a:spcBef>
          <a:spcPts val="1350"/>
        </a:spcBef>
        <a:spcAft>
          <a:spcPct val="0"/>
        </a:spcAft>
        <a:buClr>
          <a:schemeClr val="accent1"/>
        </a:buClr>
        <a:buSzPct val="60000"/>
        <a:buFont typeface="Wingdings 2" panose="05020102010507070707" pitchFamily="18" charset="2"/>
        <a:buChar char=""/>
        <a:defRPr sz="2400" kern="1200">
          <a:solidFill>
            <a:srgbClr val="1A93C8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28650" indent="-342900" algn="l" defTabSz="685800" rtl="0" fontAlgn="base">
        <a:lnSpc>
          <a:spcPct val="130000"/>
        </a:lnSpc>
        <a:spcBef>
          <a:spcPct val="0"/>
        </a:spcBef>
        <a:spcAft>
          <a:spcPct val="0"/>
        </a:spcAft>
        <a:buSzPct val="80000"/>
        <a:buFont typeface="Wingdings" panose="05000000000000000000" pitchFamily="2" charset="2"/>
        <a:buChar char="ü"/>
        <a:defRPr sz="2000" kern="1200">
          <a:solidFill>
            <a:srgbClr val="000000"/>
          </a:solidFill>
          <a:latin typeface="+mn-lt"/>
          <a:ea typeface="+mn-ea"/>
          <a:cs typeface="+mn-cs"/>
          <a:sym typeface="宋体" panose="02010600030101010101" pitchFamily="2" charset="-122"/>
        </a:defRPr>
      </a:lvl2pPr>
      <a:lvl3pPr marL="8572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2000" kern="1200">
          <a:solidFill>
            <a:srgbClr val="000000"/>
          </a:solidFill>
          <a:latin typeface="+mn-lt"/>
          <a:ea typeface="+mn-ea"/>
          <a:cs typeface="+mn-cs"/>
          <a:sym typeface="宋体" panose="02010600030101010101" pitchFamily="2" charset="-122"/>
        </a:defRPr>
      </a:lvl3pPr>
      <a:lvl4pPr marL="12001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1600" kern="1200">
          <a:solidFill>
            <a:srgbClr val="000000"/>
          </a:solidFill>
          <a:latin typeface="+mn-lt"/>
          <a:ea typeface="+mn-ea"/>
          <a:cs typeface="+mn-cs"/>
          <a:sym typeface="宋体" panose="02010600030101010101" pitchFamily="2" charset="-122"/>
        </a:defRPr>
      </a:lvl4pPr>
      <a:lvl5pPr marL="15430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1300" kern="1200">
          <a:solidFill>
            <a:srgbClr val="7F7F7F"/>
          </a:solidFill>
          <a:latin typeface="+mn-lt"/>
          <a:ea typeface="幼圆" panose="02010509060101010101" pitchFamily="49" charset="-122"/>
          <a:cs typeface="+mn-cs"/>
          <a:sym typeface="宋体" panose="02010600030101010101" pitchFamily="2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7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22" descr="aaaa002"/>
          <p:cNvPicPr>
            <a:picLocks noChangeAspect="1" noChangeArrowheads="1"/>
          </p:cNvPicPr>
          <p:nvPr userDrawn="1"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0" y="0"/>
            <a:ext cx="9144000" cy="1222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1950" y="119063"/>
            <a:ext cx="8547100" cy="547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279400" y="1096963"/>
            <a:ext cx="8636000" cy="497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669256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</p:sldLayoutIdLst>
  <p:transition spd="med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itchFamily="2" charset="2"/>
        <a:buChar char="Ø"/>
        <a:defRPr sz="2800" b="1">
          <a:solidFill>
            <a:schemeClr val="hlink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800000"/>
        </a:buClr>
        <a:buFont typeface="Wingdings" pitchFamily="2" charset="2"/>
        <a:buChar char="l"/>
        <a:defRPr sz="2400" b="1">
          <a:solidFill>
            <a:srgbClr val="000000"/>
          </a:solidFill>
          <a:latin typeface="+mn-lt"/>
          <a:ea typeface="楷体_GB2312" pitchFamily="49" charset="-122"/>
        </a:defRPr>
      </a:lvl2pPr>
      <a:lvl3pPr marL="1143000" indent="-228600" algn="l" rtl="0" eaLnBrk="0" fontAlgn="base" hangingPunct="0">
        <a:lnSpc>
          <a:spcPct val="145000"/>
        </a:lnSpc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þ"/>
        <a:defRPr sz="2400" b="1">
          <a:solidFill>
            <a:srgbClr val="A85400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145000"/>
        </a:lnSpc>
        <a:spcBef>
          <a:spcPct val="20000"/>
        </a:spcBef>
        <a:spcAft>
          <a:spcPct val="0"/>
        </a:spcAft>
        <a:buBlip>
          <a:blip r:embed="rId9"/>
        </a:buBlip>
        <a:defRPr sz="1600" b="1">
          <a:solidFill>
            <a:srgbClr val="800080"/>
          </a:solidFill>
          <a:latin typeface="+mn-lt"/>
          <a:ea typeface="楷体_GB2312" pitchFamily="49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35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5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5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jpeg"/><Relationship Id="rId3" Type="http://schemas.openxmlformats.org/officeDocument/2006/relationships/image" Target="../media/image35.jpeg"/><Relationship Id="rId7" Type="http://schemas.openxmlformats.org/officeDocument/2006/relationships/image" Target="../media/image3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38.jpeg"/><Relationship Id="rId5" Type="http://schemas.openxmlformats.org/officeDocument/2006/relationships/image" Target="../media/image37.jpeg"/><Relationship Id="rId4" Type="http://schemas.openxmlformats.org/officeDocument/2006/relationships/image" Target="../media/image36.jpeg"/><Relationship Id="rId9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91887" y="2677886"/>
            <a:ext cx="8501742" cy="1001485"/>
          </a:xfrm>
        </p:spPr>
        <p:txBody>
          <a:bodyPr/>
          <a:lstStyle/>
          <a:p>
            <a:r>
              <a:rPr lang="zh-CN" altLang="en-US" sz="4000" dirty="0">
                <a:solidFill>
                  <a:srgbClr val="000000"/>
                </a:solidFill>
              </a:rPr>
              <a:t>计算导论与程序设计</a:t>
            </a:r>
          </a:p>
        </p:txBody>
      </p:sp>
      <p:sp>
        <p:nvSpPr>
          <p:cNvPr id="1024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067236" y="4643870"/>
            <a:ext cx="2943225" cy="466725"/>
          </a:xfrm>
        </p:spPr>
        <p:txBody>
          <a:bodyPr/>
          <a:lstStyle/>
          <a:p>
            <a:r>
              <a:rPr lang="zh-CN" altLang="en-US" sz="2400" dirty="0"/>
              <a:t>字符数组与字符串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pic>
        <p:nvPicPr>
          <p:cNvPr id="4" name="Picture 2" descr="http://www.sdu.edu.cn/2010/images/top222.jpg"/>
          <p:cNvPicPr>
            <a:picLocks noChangeAspect="1" noChangeArrowheads="1"/>
          </p:cNvPicPr>
          <p:nvPr/>
        </p:nvPicPr>
        <p:blipFill>
          <a:blip r:embed="rId2" cstate="print"/>
          <a:srcRect b="9109"/>
          <a:stretch>
            <a:fillRect/>
          </a:stretch>
        </p:blipFill>
        <p:spPr bwMode="auto">
          <a:xfrm>
            <a:off x="0" y="0"/>
            <a:ext cx="9144000" cy="254725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1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493569" y="1026897"/>
            <a:ext cx="8047758" cy="5405076"/>
          </a:xfrm>
        </p:spPr>
        <p:txBody>
          <a:bodyPr/>
          <a:lstStyle/>
          <a:p>
            <a:pPr marL="342900" indent="-342900" algn="just"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30DCD"/>
                </a:solidFill>
              </a:rPr>
              <a:t>字符数组</a:t>
            </a:r>
            <a:r>
              <a:rPr lang="zh-CN" altLang="en-US" sz="2000" dirty="0"/>
              <a:t>：存放</a:t>
            </a:r>
            <a:r>
              <a:rPr lang="zh-CN" altLang="en-US" sz="2000" dirty="0">
                <a:solidFill>
                  <a:srgbClr val="FF3300"/>
                </a:solidFill>
              </a:rPr>
              <a:t>字符数据</a:t>
            </a:r>
            <a:r>
              <a:rPr lang="zh-CN" altLang="en-US" sz="2000" dirty="0"/>
              <a:t>的数组，每一个</a:t>
            </a:r>
            <a:r>
              <a:rPr lang="zh-CN" altLang="en-US" sz="2000" dirty="0">
                <a:solidFill>
                  <a:srgbClr val="FF3300"/>
                </a:solidFill>
              </a:rPr>
              <a:t>元素</a:t>
            </a:r>
            <a:r>
              <a:rPr lang="zh-CN" altLang="en-US" sz="2000" dirty="0"/>
              <a:t>存放一个</a:t>
            </a:r>
            <a:r>
              <a:rPr lang="zh-CN" altLang="en-US" sz="2000" dirty="0">
                <a:solidFill>
                  <a:srgbClr val="FF3300"/>
                </a:solidFill>
              </a:rPr>
              <a:t>字符；</a:t>
            </a:r>
            <a:endParaRPr lang="en-US" altLang="zh-CN" sz="2000" dirty="0"/>
          </a:p>
          <a:p>
            <a:pPr marL="342900" indent="-342900" algn="just"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30DCD"/>
                </a:solidFill>
              </a:rPr>
              <a:t>字符数组元素的机内存储</a:t>
            </a:r>
            <a:r>
              <a:rPr lang="zh-CN" altLang="en-US" sz="2000" b="1" dirty="0">
                <a:solidFill>
                  <a:srgbClr val="7030A0"/>
                </a:solidFill>
              </a:rPr>
              <a:t>：</a:t>
            </a:r>
            <a:r>
              <a:rPr lang="zh-CN" altLang="en-US" sz="2000" dirty="0">
                <a:solidFill>
                  <a:srgbClr val="7030A0"/>
                </a:solidFill>
              </a:rPr>
              <a:t>一个字节的连续空间</a:t>
            </a:r>
            <a:r>
              <a:rPr lang="zh-CN" altLang="en-US" sz="2000" dirty="0"/>
              <a:t>；</a:t>
            </a:r>
            <a:endParaRPr lang="en-US" altLang="zh-CN" sz="2000" dirty="0"/>
          </a:p>
          <a:p>
            <a:pPr marL="342900" indent="-342900" algn="just"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一维字符型数组：</a:t>
            </a:r>
            <a:r>
              <a:rPr lang="en-US" altLang="zh-CN" sz="2000" dirty="0" smtClean="0">
                <a:solidFill>
                  <a:srgbClr val="7030A0"/>
                </a:solidFill>
              </a:rPr>
              <a:t>char c[10];</a:t>
            </a:r>
            <a:endParaRPr lang="en-US" altLang="zh-CN" sz="2000" dirty="0">
              <a:solidFill>
                <a:srgbClr val="7030A0"/>
              </a:solidFill>
            </a:endParaRPr>
          </a:p>
          <a:p>
            <a:pPr marL="457200" indent="-457200" algn="just">
              <a:buFont typeface="Wingdings" panose="05000000000000000000" pitchFamily="2" charset="2"/>
              <a:buChar char="l"/>
            </a:pPr>
            <a:endParaRPr lang="zh-CN" altLang="en-US" sz="2800" b="1" dirty="0">
              <a:solidFill>
                <a:srgbClr val="FF3300"/>
              </a:solidFill>
            </a:endParaRPr>
          </a:p>
          <a:p>
            <a:pPr marL="457200" indent="-457200" algn="just">
              <a:buFont typeface="Wingdings" panose="05000000000000000000" pitchFamily="2" charset="2"/>
              <a:buChar char="l"/>
            </a:pPr>
            <a:endParaRPr lang="zh-CN" altLang="en-US" sz="2800" b="1" dirty="0"/>
          </a:p>
        </p:txBody>
      </p:sp>
      <p:sp>
        <p:nvSpPr>
          <p:cNvPr id="5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93569" y="238559"/>
            <a:ext cx="7772400" cy="609600"/>
          </a:xfrm>
        </p:spPr>
        <p:txBody>
          <a:bodyPr/>
          <a:lstStyle/>
          <a:p>
            <a:r>
              <a:rPr lang="en-US" altLang="zh-CN" dirty="0"/>
              <a:t>6.7 </a:t>
            </a:r>
            <a:r>
              <a:rPr lang="zh-CN" altLang="en-US" dirty="0"/>
              <a:t>字符</a:t>
            </a:r>
            <a:r>
              <a:rPr lang="zh-CN" altLang="en-US" dirty="0" smtClean="0"/>
              <a:t>数组</a:t>
            </a:r>
            <a:endParaRPr lang="zh-CN" altLang="en-US" dirty="0"/>
          </a:p>
        </p:txBody>
      </p:sp>
      <p:grpSp>
        <p:nvGrpSpPr>
          <p:cNvPr id="4" name="Group 5"/>
          <p:cNvGrpSpPr>
            <a:grpSpLocks/>
          </p:cNvGrpSpPr>
          <p:nvPr/>
        </p:nvGrpSpPr>
        <p:grpSpPr bwMode="auto">
          <a:xfrm>
            <a:off x="4379769" y="2329516"/>
            <a:ext cx="3516313" cy="3090988"/>
            <a:chOff x="2645" y="1290"/>
            <a:chExt cx="2215" cy="2451"/>
          </a:xfrm>
        </p:grpSpPr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3322" y="1486"/>
              <a:ext cx="1094" cy="2205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33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noAutofit/>
            </a:bodyPr>
            <a:lstStyle/>
            <a:p>
              <a:endParaRPr lang="zh-CN" altLang="en-US"/>
            </a:p>
          </p:txBody>
        </p:sp>
        <p:sp>
          <p:nvSpPr>
            <p:cNvPr id="7" name="Line 7"/>
            <p:cNvSpPr>
              <a:spLocks noChangeShapeType="1"/>
            </p:cNvSpPr>
            <p:nvPr/>
          </p:nvSpPr>
          <p:spPr bwMode="auto">
            <a:xfrm>
              <a:off x="3322" y="2540"/>
              <a:ext cx="107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" name="Line 8"/>
            <p:cNvSpPr>
              <a:spLocks noChangeShapeType="1"/>
            </p:cNvSpPr>
            <p:nvPr/>
          </p:nvSpPr>
          <p:spPr bwMode="auto">
            <a:xfrm>
              <a:off x="3322" y="1763"/>
              <a:ext cx="108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" name="Line 9"/>
            <p:cNvSpPr>
              <a:spLocks noChangeShapeType="1"/>
            </p:cNvSpPr>
            <p:nvPr/>
          </p:nvSpPr>
          <p:spPr bwMode="auto">
            <a:xfrm>
              <a:off x="3322" y="2042"/>
              <a:ext cx="110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" name="Line 10"/>
            <p:cNvSpPr>
              <a:spLocks noChangeShapeType="1"/>
            </p:cNvSpPr>
            <p:nvPr/>
          </p:nvSpPr>
          <p:spPr bwMode="auto">
            <a:xfrm>
              <a:off x="3322" y="2269"/>
              <a:ext cx="108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" name="Line 11"/>
            <p:cNvSpPr>
              <a:spLocks noChangeShapeType="1"/>
            </p:cNvSpPr>
            <p:nvPr/>
          </p:nvSpPr>
          <p:spPr bwMode="auto">
            <a:xfrm>
              <a:off x="3322" y="3364"/>
              <a:ext cx="109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" name="Line 12"/>
            <p:cNvSpPr>
              <a:spLocks noChangeShapeType="1"/>
            </p:cNvSpPr>
            <p:nvPr/>
          </p:nvSpPr>
          <p:spPr bwMode="auto">
            <a:xfrm>
              <a:off x="2982" y="2952"/>
              <a:ext cx="0" cy="336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" name="Line 13"/>
            <p:cNvSpPr>
              <a:spLocks noChangeShapeType="1"/>
            </p:cNvSpPr>
            <p:nvPr/>
          </p:nvSpPr>
          <p:spPr bwMode="auto">
            <a:xfrm>
              <a:off x="4416" y="2952"/>
              <a:ext cx="0" cy="336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" name="Text Box 14"/>
            <p:cNvSpPr txBox="1">
              <a:spLocks noChangeArrowheads="1"/>
            </p:cNvSpPr>
            <p:nvPr/>
          </p:nvSpPr>
          <p:spPr bwMode="auto">
            <a:xfrm>
              <a:off x="4484" y="1374"/>
              <a:ext cx="376" cy="23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33FF"/>
                  </a:solidFill>
                </a14:hiddenFill>
              </a:ex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prstDash val="sys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20000"/>
                </a:spcBef>
                <a:buClr>
                  <a:srgbClr val="CC99FF"/>
                </a:buClr>
                <a:buFont typeface="Monotype Sorts" pitchFamily="2" charset="2"/>
                <a:buNone/>
              </a:pPr>
              <a:r>
                <a:rPr kumimoji="1" lang="en-US" altLang="en-US" sz="2000" b="1" dirty="0">
                  <a:solidFill>
                    <a:srgbClr val="336600"/>
                  </a:solidFill>
                  <a:latin typeface="Times New Roman" panose="02020603050405020304" pitchFamily="18" charset="0"/>
                  <a:sym typeface="Monotype Sorts" pitchFamily="2" charset="2"/>
                </a:rPr>
                <a:t>c</a:t>
              </a:r>
              <a:r>
                <a:rPr kumimoji="1" lang="en-US" altLang="en-US" sz="2000" b="1" dirty="0" smtClean="0">
                  <a:solidFill>
                    <a:srgbClr val="336600"/>
                  </a:solidFill>
                  <a:latin typeface="Times New Roman" panose="02020603050405020304" pitchFamily="18" charset="0"/>
                  <a:sym typeface="Monotype Sorts" pitchFamily="2" charset="2"/>
                </a:rPr>
                <a:t>[</a:t>
              </a:r>
              <a:r>
                <a:rPr kumimoji="1" lang="en-US" altLang="en-US" sz="2000" b="1" dirty="0" smtClean="0">
                  <a:solidFill>
                    <a:srgbClr val="C00000"/>
                  </a:solidFill>
                  <a:latin typeface="Times New Roman" panose="02020603050405020304" pitchFamily="18" charset="0"/>
                  <a:sym typeface="Monotype Sorts" pitchFamily="2" charset="2"/>
                </a:rPr>
                <a:t>0</a:t>
              </a:r>
              <a:r>
                <a:rPr kumimoji="1" lang="en-US" altLang="en-US" sz="2000" b="1" dirty="0">
                  <a:solidFill>
                    <a:srgbClr val="336600"/>
                  </a:solidFill>
                  <a:latin typeface="Times New Roman" panose="02020603050405020304" pitchFamily="18" charset="0"/>
                  <a:sym typeface="Monotype Sorts" pitchFamily="2" charset="2"/>
                </a:rPr>
                <a:t>]</a:t>
              </a:r>
            </a:p>
            <a:p>
              <a:pPr algn="ctr">
                <a:spcBef>
                  <a:spcPct val="20000"/>
                </a:spcBef>
                <a:buClr>
                  <a:srgbClr val="CC99FF"/>
                </a:buClr>
                <a:buFont typeface="Monotype Sorts" pitchFamily="2" charset="2"/>
                <a:buNone/>
              </a:pPr>
              <a:r>
                <a:rPr kumimoji="1" lang="en-US" altLang="en-US" sz="2000" b="1" dirty="0">
                  <a:solidFill>
                    <a:srgbClr val="336600"/>
                  </a:solidFill>
                  <a:latin typeface="Times New Roman" panose="02020603050405020304" pitchFamily="18" charset="0"/>
                  <a:sym typeface="Monotype Sorts" pitchFamily="2" charset="2"/>
                </a:rPr>
                <a:t>c</a:t>
              </a:r>
              <a:r>
                <a:rPr kumimoji="1" lang="en-US" altLang="en-US" sz="2000" b="1" dirty="0" smtClean="0">
                  <a:solidFill>
                    <a:srgbClr val="336600"/>
                  </a:solidFill>
                  <a:latin typeface="Times New Roman" panose="02020603050405020304" pitchFamily="18" charset="0"/>
                  <a:sym typeface="Monotype Sorts" pitchFamily="2" charset="2"/>
                </a:rPr>
                <a:t>[</a:t>
              </a:r>
              <a:r>
                <a:rPr kumimoji="1" lang="en-US" altLang="en-US" sz="2000" b="1" dirty="0" smtClean="0">
                  <a:solidFill>
                    <a:srgbClr val="C00000"/>
                  </a:solidFill>
                  <a:latin typeface="Times New Roman" panose="02020603050405020304" pitchFamily="18" charset="0"/>
                  <a:sym typeface="Monotype Sorts" pitchFamily="2" charset="2"/>
                </a:rPr>
                <a:t>1</a:t>
              </a:r>
              <a:r>
                <a:rPr kumimoji="1" lang="en-US" altLang="en-US" sz="2000" b="1" dirty="0">
                  <a:solidFill>
                    <a:srgbClr val="336600"/>
                  </a:solidFill>
                  <a:latin typeface="Times New Roman" panose="02020603050405020304" pitchFamily="18" charset="0"/>
                  <a:sym typeface="Monotype Sorts" pitchFamily="2" charset="2"/>
                </a:rPr>
                <a:t>]</a:t>
              </a:r>
            </a:p>
            <a:p>
              <a:pPr algn="ctr">
                <a:spcBef>
                  <a:spcPct val="20000"/>
                </a:spcBef>
                <a:buClr>
                  <a:srgbClr val="CC99FF"/>
                </a:buClr>
                <a:buFont typeface="Monotype Sorts" pitchFamily="2" charset="2"/>
                <a:buNone/>
              </a:pPr>
              <a:r>
                <a:rPr kumimoji="1" lang="en-US" altLang="en-US" sz="2000" b="1" dirty="0">
                  <a:solidFill>
                    <a:srgbClr val="336600"/>
                  </a:solidFill>
                  <a:latin typeface="Times New Roman" panose="02020603050405020304" pitchFamily="18" charset="0"/>
                  <a:sym typeface="Monotype Sorts" pitchFamily="2" charset="2"/>
                </a:rPr>
                <a:t>c</a:t>
              </a:r>
              <a:r>
                <a:rPr kumimoji="1" lang="en-US" altLang="en-US" sz="2000" b="1" dirty="0" smtClean="0">
                  <a:solidFill>
                    <a:srgbClr val="336600"/>
                  </a:solidFill>
                  <a:latin typeface="Times New Roman" panose="02020603050405020304" pitchFamily="18" charset="0"/>
                  <a:sym typeface="Monotype Sorts" pitchFamily="2" charset="2"/>
                </a:rPr>
                <a:t>[</a:t>
              </a:r>
              <a:r>
                <a:rPr kumimoji="1" lang="en-US" altLang="en-US" sz="2000" b="1" dirty="0" smtClean="0">
                  <a:solidFill>
                    <a:srgbClr val="C00000"/>
                  </a:solidFill>
                  <a:latin typeface="Times New Roman" panose="02020603050405020304" pitchFamily="18" charset="0"/>
                  <a:sym typeface="Monotype Sorts" pitchFamily="2" charset="2"/>
                </a:rPr>
                <a:t>2</a:t>
              </a:r>
              <a:r>
                <a:rPr kumimoji="1" lang="en-US" altLang="en-US" sz="2000" b="1" dirty="0">
                  <a:solidFill>
                    <a:srgbClr val="336600"/>
                  </a:solidFill>
                  <a:latin typeface="Times New Roman" panose="02020603050405020304" pitchFamily="18" charset="0"/>
                  <a:sym typeface="Monotype Sorts" pitchFamily="2" charset="2"/>
                </a:rPr>
                <a:t>]</a:t>
              </a:r>
            </a:p>
            <a:p>
              <a:pPr algn="ctr">
                <a:spcBef>
                  <a:spcPct val="20000"/>
                </a:spcBef>
                <a:buClr>
                  <a:srgbClr val="CC99FF"/>
                </a:buClr>
                <a:buFont typeface="Monotype Sorts" pitchFamily="2" charset="2"/>
                <a:buNone/>
              </a:pPr>
              <a:r>
                <a:rPr kumimoji="1" lang="en-US" altLang="en-US" sz="2000" b="1" dirty="0">
                  <a:solidFill>
                    <a:srgbClr val="336600"/>
                  </a:solidFill>
                  <a:latin typeface="Times New Roman" panose="02020603050405020304" pitchFamily="18" charset="0"/>
                  <a:sym typeface="Monotype Sorts" pitchFamily="2" charset="2"/>
                </a:rPr>
                <a:t>c</a:t>
              </a:r>
              <a:r>
                <a:rPr kumimoji="1" lang="en-US" altLang="en-US" sz="2000" b="1" dirty="0" smtClean="0">
                  <a:solidFill>
                    <a:srgbClr val="336600"/>
                  </a:solidFill>
                  <a:latin typeface="Times New Roman" panose="02020603050405020304" pitchFamily="18" charset="0"/>
                  <a:sym typeface="Monotype Sorts" pitchFamily="2" charset="2"/>
                </a:rPr>
                <a:t>[</a:t>
              </a:r>
              <a:r>
                <a:rPr kumimoji="1" lang="en-US" altLang="en-US" sz="2000" b="1" dirty="0" smtClean="0">
                  <a:solidFill>
                    <a:srgbClr val="C00000"/>
                  </a:solidFill>
                  <a:latin typeface="Times New Roman" panose="02020603050405020304" pitchFamily="18" charset="0"/>
                  <a:sym typeface="Monotype Sorts" pitchFamily="2" charset="2"/>
                </a:rPr>
                <a:t>3</a:t>
              </a:r>
              <a:r>
                <a:rPr kumimoji="1" lang="en-US" altLang="en-US" sz="2000" b="1" dirty="0">
                  <a:solidFill>
                    <a:srgbClr val="336600"/>
                  </a:solidFill>
                  <a:latin typeface="Times New Roman" panose="02020603050405020304" pitchFamily="18" charset="0"/>
                  <a:sym typeface="Monotype Sorts" pitchFamily="2" charset="2"/>
                </a:rPr>
                <a:t>]</a:t>
              </a:r>
            </a:p>
            <a:p>
              <a:pPr algn="ctr">
                <a:spcBef>
                  <a:spcPct val="20000"/>
                </a:spcBef>
                <a:buClr>
                  <a:srgbClr val="CC99FF"/>
                </a:buClr>
                <a:buFont typeface="Monotype Sorts" pitchFamily="2" charset="2"/>
                <a:buNone/>
              </a:pPr>
              <a:r>
                <a:rPr kumimoji="1" lang="en-US" altLang="en-US" sz="2000" b="1" dirty="0">
                  <a:solidFill>
                    <a:srgbClr val="336600"/>
                  </a:solidFill>
                  <a:latin typeface="Arial Black" panose="020B0A04020102020204" pitchFamily="34" charset="0"/>
                  <a:sym typeface="Monotype Sorts" pitchFamily="2" charset="2"/>
                </a:rPr>
                <a:t>.</a:t>
              </a:r>
            </a:p>
            <a:p>
              <a:pPr algn="ctr">
                <a:spcBef>
                  <a:spcPct val="20000"/>
                </a:spcBef>
                <a:buClr>
                  <a:srgbClr val="CC99FF"/>
                </a:buClr>
                <a:buFont typeface="Monotype Sorts" pitchFamily="2" charset="2"/>
                <a:buNone/>
              </a:pPr>
              <a:r>
                <a:rPr kumimoji="1" lang="en-US" altLang="en-US" sz="2000" b="1" dirty="0">
                  <a:solidFill>
                    <a:srgbClr val="336600"/>
                  </a:solidFill>
                  <a:latin typeface="Arial Black" panose="020B0A04020102020204" pitchFamily="34" charset="0"/>
                  <a:sym typeface="Monotype Sorts" pitchFamily="2" charset="2"/>
                </a:rPr>
                <a:t>.</a:t>
              </a:r>
            </a:p>
            <a:p>
              <a:pPr algn="ctr">
                <a:spcBef>
                  <a:spcPct val="20000"/>
                </a:spcBef>
                <a:buClr>
                  <a:srgbClr val="CC99FF"/>
                </a:buClr>
                <a:buFont typeface="Monotype Sorts" pitchFamily="2" charset="2"/>
                <a:buNone/>
              </a:pPr>
              <a:r>
                <a:rPr kumimoji="1" lang="en-US" altLang="en-US" sz="2000" b="1" dirty="0">
                  <a:solidFill>
                    <a:srgbClr val="336600"/>
                  </a:solidFill>
                  <a:latin typeface="Arial Black" panose="020B0A04020102020204" pitchFamily="34" charset="0"/>
                  <a:sym typeface="Monotype Sorts" pitchFamily="2" charset="2"/>
                </a:rPr>
                <a:t>.</a:t>
              </a:r>
              <a:endParaRPr kumimoji="1" lang="en-US" altLang="en-US" sz="2000" b="1" dirty="0">
                <a:solidFill>
                  <a:srgbClr val="336600"/>
                </a:solidFill>
                <a:latin typeface="Times New Roman" panose="02020603050405020304" pitchFamily="18" charset="0"/>
                <a:sym typeface="Monotype Sorts" pitchFamily="2" charset="2"/>
              </a:endParaRPr>
            </a:p>
            <a:p>
              <a:pPr algn="ctr">
                <a:spcBef>
                  <a:spcPct val="20000"/>
                </a:spcBef>
                <a:buClr>
                  <a:srgbClr val="CC99FF"/>
                </a:buClr>
                <a:buFont typeface="Monotype Sorts" pitchFamily="2" charset="2"/>
                <a:buNone/>
              </a:pPr>
              <a:r>
                <a:rPr kumimoji="1" lang="en-US" altLang="en-US" sz="2000" b="1" dirty="0" smtClean="0">
                  <a:solidFill>
                    <a:srgbClr val="336600"/>
                  </a:solidFill>
                  <a:latin typeface="Times New Roman" panose="02020603050405020304" pitchFamily="18" charset="0"/>
                  <a:sym typeface="Monotype Sorts" pitchFamily="2" charset="2"/>
                </a:rPr>
                <a:t>c[</a:t>
              </a:r>
              <a:r>
                <a:rPr kumimoji="1" lang="en-US" altLang="en-US" sz="2000" b="1" dirty="0">
                  <a:solidFill>
                    <a:srgbClr val="C00000"/>
                  </a:solidFill>
                  <a:latin typeface="Times New Roman" panose="02020603050405020304" pitchFamily="18" charset="0"/>
                  <a:sym typeface="Monotype Sorts" pitchFamily="2" charset="2"/>
                </a:rPr>
                <a:t>9</a:t>
              </a:r>
              <a:r>
                <a:rPr kumimoji="1" lang="en-US" altLang="en-US" sz="2000" b="1" dirty="0" smtClean="0">
                  <a:solidFill>
                    <a:srgbClr val="336600"/>
                  </a:solidFill>
                  <a:latin typeface="Times New Roman" panose="02020603050405020304" pitchFamily="18" charset="0"/>
                  <a:sym typeface="Monotype Sorts" pitchFamily="2" charset="2"/>
                </a:rPr>
                <a:t>]</a:t>
              </a:r>
              <a:endParaRPr kumimoji="1" lang="en-US" altLang="zh-CN" sz="2000" b="1" dirty="0">
                <a:solidFill>
                  <a:srgbClr val="336600"/>
                </a:solidFill>
                <a:latin typeface="Times New Roman" panose="02020603050405020304" pitchFamily="18" charset="0"/>
                <a:sym typeface="Monotype Sorts" pitchFamily="2" charset="2"/>
              </a:endParaRPr>
            </a:p>
          </p:txBody>
        </p:sp>
        <p:sp>
          <p:nvSpPr>
            <p:cNvPr id="15" name="Text Box 15"/>
            <p:cNvSpPr txBox="1">
              <a:spLocks noChangeArrowheads="1"/>
            </p:cNvSpPr>
            <p:nvPr/>
          </p:nvSpPr>
          <p:spPr bwMode="auto">
            <a:xfrm>
              <a:off x="3639" y="1476"/>
              <a:ext cx="307" cy="22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33FF"/>
                  </a:solidFill>
                </a14:hiddenFill>
              </a:ex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prstDash val="sys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20000"/>
                </a:spcBef>
                <a:buClr>
                  <a:srgbClr val="CC99FF"/>
                </a:buClr>
                <a:buFont typeface="Monotype Sorts" pitchFamily="2" charset="2"/>
                <a:buNone/>
              </a:pPr>
              <a:r>
                <a:rPr kumimoji="1" lang="en-US" altLang="zh-CN" b="1" dirty="0" smtClean="0">
                  <a:solidFill>
                    <a:srgbClr val="000000"/>
                  </a:solidFill>
                  <a:latin typeface="Times New Roman" panose="02020603050405020304" pitchFamily="18" charset="0"/>
                  <a:sym typeface="Monotype Sorts" pitchFamily="2" charset="2"/>
                </a:rPr>
                <a:t>‘a’</a:t>
              </a:r>
              <a:endParaRPr kumimoji="1"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Monotype Sorts" pitchFamily="2" charset="2"/>
              </a:endParaRPr>
            </a:p>
            <a:p>
              <a:pPr algn="ctr">
                <a:spcBef>
                  <a:spcPct val="20000"/>
                </a:spcBef>
                <a:buClr>
                  <a:srgbClr val="CC99FF"/>
                </a:buClr>
                <a:buFont typeface="Monotype Sorts" pitchFamily="2" charset="2"/>
                <a:buNone/>
              </a:pPr>
              <a:r>
                <a:rPr kumimoji="1" lang="en-US" altLang="zh-CN" b="1" dirty="0" smtClean="0">
                  <a:solidFill>
                    <a:srgbClr val="000000"/>
                  </a:solidFill>
                  <a:latin typeface="Times New Roman" panose="02020603050405020304" pitchFamily="18" charset="0"/>
                  <a:sym typeface="Monotype Sorts" pitchFamily="2" charset="2"/>
                </a:rPr>
                <a:t>‘b’</a:t>
              </a:r>
              <a:endParaRPr kumimoji="1"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Monotype Sorts" pitchFamily="2" charset="2"/>
              </a:endParaRPr>
            </a:p>
            <a:p>
              <a:pPr algn="ctr">
                <a:spcBef>
                  <a:spcPct val="20000"/>
                </a:spcBef>
                <a:buClr>
                  <a:srgbClr val="CC99FF"/>
                </a:buClr>
                <a:buFont typeface="Monotype Sorts" pitchFamily="2" charset="2"/>
                <a:buNone/>
              </a:pPr>
              <a:r>
                <a:rPr kumimoji="1" lang="en-US" altLang="zh-CN" b="1" dirty="0" smtClean="0">
                  <a:solidFill>
                    <a:srgbClr val="000000"/>
                  </a:solidFill>
                  <a:latin typeface="Times New Roman" panose="02020603050405020304" pitchFamily="18" charset="0"/>
                  <a:sym typeface="Monotype Sorts" pitchFamily="2" charset="2"/>
                </a:rPr>
                <a:t>‘c’</a:t>
              </a:r>
              <a:endParaRPr kumimoji="1"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Monotype Sorts" pitchFamily="2" charset="2"/>
              </a:endParaRPr>
            </a:p>
            <a:p>
              <a:pPr algn="ctr">
                <a:spcBef>
                  <a:spcPct val="20000"/>
                </a:spcBef>
                <a:buClr>
                  <a:srgbClr val="CC99FF"/>
                </a:buClr>
                <a:buFont typeface="Monotype Sorts" pitchFamily="2" charset="2"/>
                <a:buNone/>
              </a:pPr>
              <a:r>
                <a:rPr kumimoji="1" lang="en-US" altLang="zh-CN" b="1" dirty="0" smtClean="0">
                  <a:solidFill>
                    <a:srgbClr val="000000"/>
                  </a:solidFill>
                  <a:latin typeface="Times New Roman" panose="02020603050405020304" pitchFamily="18" charset="0"/>
                  <a:sym typeface="Monotype Sorts" pitchFamily="2" charset="2"/>
                </a:rPr>
                <a:t>‘A’</a:t>
              </a:r>
              <a:endParaRPr kumimoji="1"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Monotype Sorts" pitchFamily="2" charset="2"/>
              </a:endParaRPr>
            </a:p>
            <a:p>
              <a:pPr algn="ctr">
                <a:spcBef>
                  <a:spcPts val="0"/>
                </a:spcBef>
                <a:buClr>
                  <a:srgbClr val="CC99FF"/>
                </a:buClr>
                <a:buFont typeface="Monotype Sorts" pitchFamily="2" charset="2"/>
                <a:buNone/>
              </a:pPr>
              <a:r>
                <a:rPr kumimoji="1" lang="en-US" altLang="zh-CN" b="1" dirty="0">
                  <a:solidFill>
                    <a:srgbClr val="000000"/>
                  </a:solidFill>
                  <a:latin typeface="Arial Black" panose="020B0A04020102020204" pitchFamily="34" charset="0"/>
                  <a:sym typeface="Monotype Sorts" pitchFamily="2" charset="2"/>
                </a:rPr>
                <a:t>.</a:t>
              </a:r>
            </a:p>
            <a:p>
              <a:pPr algn="ctr">
                <a:spcBef>
                  <a:spcPts val="0"/>
                </a:spcBef>
                <a:buClr>
                  <a:srgbClr val="CC99FF"/>
                </a:buClr>
                <a:buFont typeface="Monotype Sorts" pitchFamily="2" charset="2"/>
                <a:buNone/>
              </a:pPr>
              <a:r>
                <a:rPr kumimoji="1" lang="en-US" altLang="zh-CN" b="1" dirty="0">
                  <a:solidFill>
                    <a:srgbClr val="000000"/>
                  </a:solidFill>
                  <a:latin typeface="Arial Black" panose="020B0A04020102020204" pitchFamily="34" charset="0"/>
                  <a:sym typeface="Monotype Sorts" pitchFamily="2" charset="2"/>
                </a:rPr>
                <a:t>.</a:t>
              </a:r>
            </a:p>
            <a:p>
              <a:pPr algn="ctr">
                <a:spcBef>
                  <a:spcPts val="0"/>
                </a:spcBef>
                <a:buClr>
                  <a:srgbClr val="CC99FF"/>
                </a:buClr>
                <a:buFont typeface="Monotype Sorts" pitchFamily="2" charset="2"/>
                <a:buNone/>
              </a:pPr>
              <a:r>
                <a:rPr kumimoji="1" lang="en-US" altLang="zh-CN" b="1" dirty="0">
                  <a:solidFill>
                    <a:srgbClr val="000000"/>
                  </a:solidFill>
                  <a:latin typeface="Arial Black" panose="020B0A04020102020204" pitchFamily="34" charset="0"/>
                  <a:sym typeface="Monotype Sorts" pitchFamily="2" charset="2"/>
                </a:rPr>
                <a:t>.</a:t>
              </a:r>
              <a:endParaRPr kumimoji="1"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Monotype Sorts" pitchFamily="2" charset="2"/>
              </a:endParaRPr>
            </a:p>
            <a:p>
              <a:pPr algn="ctr">
                <a:spcBef>
                  <a:spcPts val="0"/>
                </a:spcBef>
                <a:buClr>
                  <a:srgbClr val="CC99FF"/>
                </a:buClr>
                <a:buFont typeface="Monotype Sorts" pitchFamily="2" charset="2"/>
                <a:buNone/>
              </a:pPr>
              <a:endParaRPr kumimoji="1"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Monotype Sorts" pitchFamily="2" charset="2"/>
              </a:endParaRPr>
            </a:p>
            <a:p>
              <a:pPr algn="ctr">
                <a:spcBef>
                  <a:spcPct val="20000"/>
                </a:spcBef>
                <a:buClr>
                  <a:srgbClr val="CC99FF"/>
                </a:buClr>
                <a:buFont typeface="Monotype Sorts" pitchFamily="2" charset="2"/>
                <a:buNone/>
              </a:pPr>
              <a:r>
                <a:rPr kumimoji="1" lang="en-US" altLang="zh-CN" b="1" dirty="0" smtClean="0">
                  <a:solidFill>
                    <a:srgbClr val="000000"/>
                  </a:solidFill>
                  <a:latin typeface="Times New Roman" panose="02020603050405020304" pitchFamily="18" charset="0"/>
                  <a:sym typeface="Monotype Sorts" pitchFamily="2" charset="2"/>
                </a:rPr>
                <a:t>‘8’</a:t>
              </a:r>
              <a:endParaRPr kumimoji="1"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Monotype Sorts" pitchFamily="2" charset="2"/>
              </a:endParaRPr>
            </a:p>
          </p:txBody>
        </p:sp>
        <p:sp>
          <p:nvSpPr>
            <p:cNvPr id="16" name="Text Box 16"/>
            <p:cNvSpPr txBox="1">
              <a:spLocks noChangeArrowheads="1"/>
            </p:cNvSpPr>
            <p:nvPr/>
          </p:nvSpPr>
          <p:spPr bwMode="auto">
            <a:xfrm>
              <a:off x="2645" y="1290"/>
              <a:ext cx="601" cy="24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33FF"/>
                  </a:solidFill>
                </a14:hiddenFill>
              </a:ex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prstDash val="sys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20000"/>
                </a:spcBef>
                <a:buClr>
                  <a:srgbClr val="CC99FF"/>
                </a:buClr>
                <a:buFont typeface="Monotype Sorts" pitchFamily="2" charset="2"/>
                <a:buNone/>
              </a:pPr>
              <a:r>
                <a:rPr kumimoji="1" lang="zh-CN" altLang="en-US" sz="2000" b="1" dirty="0">
                  <a:solidFill>
                    <a:srgbClr val="336600"/>
                  </a:solidFill>
                  <a:latin typeface="Times New Roman" panose="02020603050405020304" pitchFamily="18" charset="0"/>
                  <a:sym typeface="Monotype Sorts" pitchFamily="2" charset="2"/>
                </a:rPr>
                <a:t>低地址</a:t>
              </a:r>
            </a:p>
            <a:p>
              <a:pPr algn="ctr">
                <a:spcBef>
                  <a:spcPct val="20000"/>
                </a:spcBef>
                <a:buClr>
                  <a:srgbClr val="CC99FF"/>
                </a:buClr>
                <a:buFont typeface="Monotype Sorts" pitchFamily="2" charset="2"/>
                <a:buNone/>
              </a:pPr>
              <a:endParaRPr kumimoji="1" lang="zh-CN" altLang="en-US" sz="2000" b="1" dirty="0">
                <a:solidFill>
                  <a:srgbClr val="66FFFF"/>
                </a:solidFill>
                <a:latin typeface="Times New Roman" panose="02020603050405020304" pitchFamily="18" charset="0"/>
                <a:sym typeface="Monotype Sorts" pitchFamily="2" charset="2"/>
              </a:endParaRPr>
            </a:p>
            <a:p>
              <a:pPr algn="ctr">
                <a:spcBef>
                  <a:spcPct val="20000"/>
                </a:spcBef>
                <a:buClr>
                  <a:srgbClr val="CC99FF"/>
                </a:buClr>
                <a:buFont typeface="Monotype Sorts" pitchFamily="2" charset="2"/>
                <a:buNone/>
              </a:pPr>
              <a:endParaRPr kumimoji="1" lang="zh-CN" altLang="en-US" sz="2000" b="1" dirty="0">
                <a:solidFill>
                  <a:srgbClr val="66FFFF"/>
                </a:solidFill>
                <a:latin typeface="Times New Roman" panose="02020603050405020304" pitchFamily="18" charset="0"/>
                <a:sym typeface="Monotype Sorts" pitchFamily="2" charset="2"/>
              </a:endParaRPr>
            </a:p>
            <a:p>
              <a:pPr algn="ctr">
                <a:spcBef>
                  <a:spcPct val="20000"/>
                </a:spcBef>
                <a:buClr>
                  <a:srgbClr val="CC99FF"/>
                </a:buClr>
                <a:buFont typeface="Monotype Sorts" pitchFamily="2" charset="2"/>
                <a:buNone/>
              </a:pPr>
              <a:endParaRPr kumimoji="1" lang="zh-CN" altLang="en-US" sz="2000" b="1" dirty="0">
                <a:solidFill>
                  <a:srgbClr val="66FFFF"/>
                </a:solidFill>
                <a:latin typeface="Times New Roman" panose="02020603050405020304" pitchFamily="18" charset="0"/>
                <a:sym typeface="Monotype Sorts" pitchFamily="2" charset="2"/>
              </a:endParaRPr>
            </a:p>
            <a:p>
              <a:pPr algn="ctr">
                <a:spcBef>
                  <a:spcPct val="20000"/>
                </a:spcBef>
                <a:buClr>
                  <a:srgbClr val="CC99FF"/>
                </a:buClr>
                <a:buFont typeface="Monotype Sorts" pitchFamily="2" charset="2"/>
                <a:buNone/>
              </a:pPr>
              <a:r>
                <a:rPr kumimoji="1" lang="zh-CN" altLang="en-US" sz="2000" b="1" dirty="0">
                  <a:solidFill>
                    <a:srgbClr val="66FFFF"/>
                  </a:solidFill>
                  <a:latin typeface="Arial Black" panose="020B0A04020102020204" pitchFamily="34" charset="0"/>
                  <a:sym typeface="Monotype Sorts" pitchFamily="2" charset="2"/>
                </a:rPr>
                <a:t> </a:t>
              </a:r>
            </a:p>
            <a:p>
              <a:pPr algn="ctr">
                <a:spcBef>
                  <a:spcPct val="20000"/>
                </a:spcBef>
                <a:buClr>
                  <a:srgbClr val="CC99FF"/>
                </a:buClr>
                <a:buFont typeface="Monotype Sorts" pitchFamily="2" charset="2"/>
                <a:buNone/>
              </a:pPr>
              <a:endParaRPr kumimoji="1" lang="en-US" altLang="zh-CN" sz="2000" b="1" dirty="0">
                <a:solidFill>
                  <a:srgbClr val="66FFFF"/>
                </a:solidFill>
                <a:latin typeface="Times New Roman" panose="02020603050405020304" pitchFamily="18" charset="0"/>
                <a:sym typeface="Monotype Sorts" pitchFamily="2" charset="2"/>
              </a:endParaRPr>
            </a:p>
            <a:p>
              <a:pPr algn="ctr">
                <a:spcBef>
                  <a:spcPct val="20000"/>
                </a:spcBef>
                <a:buClr>
                  <a:srgbClr val="CC99FF"/>
                </a:buClr>
                <a:buFont typeface="Monotype Sorts" pitchFamily="2" charset="2"/>
                <a:buNone/>
              </a:pPr>
              <a:endParaRPr kumimoji="1" lang="en-US" altLang="zh-CN" sz="2000" b="1" dirty="0">
                <a:solidFill>
                  <a:srgbClr val="66FFFF"/>
                </a:solidFill>
                <a:latin typeface="Times New Roman" panose="02020603050405020304" pitchFamily="18" charset="0"/>
                <a:sym typeface="Monotype Sorts" pitchFamily="2" charset="2"/>
              </a:endParaRPr>
            </a:p>
            <a:p>
              <a:pPr algn="ctr">
                <a:spcBef>
                  <a:spcPct val="20000"/>
                </a:spcBef>
                <a:buClr>
                  <a:srgbClr val="CC99FF"/>
                </a:buClr>
                <a:buFont typeface="Monotype Sorts" pitchFamily="2" charset="2"/>
                <a:buNone/>
              </a:pPr>
              <a:endParaRPr kumimoji="1" lang="zh-CN" altLang="en-US" sz="2000" b="1" dirty="0">
                <a:solidFill>
                  <a:srgbClr val="66FFFF"/>
                </a:solidFill>
                <a:latin typeface="Times New Roman" panose="02020603050405020304" pitchFamily="18" charset="0"/>
                <a:sym typeface="Monotype Sorts" pitchFamily="2" charset="2"/>
              </a:endParaRPr>
            </a:p>
            <a:p>
              <a:pPr algn="ctr">
                <a:spcBef>
                  <a:spcPct val="20000"/>
                </a:spcBef>
                <a:buClr>
                  <a:srgbClr val="CC99FF"/>
                </a:buClr>
                <a:buFont typeface="Monotype Sorts" pitchFamily="2" charset="2"/>
                <a:buNone/>
              </a:pPr>
              <a:r>
                <a:rPr kumimoji="1" lang="zh-CN" altLang="zh-CN" sz="2000" b="1" dirty="0">
                  <a:solidFill>
                    <a:srgbClr val="336600"/>
                  </a:solidFill>
                  <a:latin typeface="Times New Roman" panose="02020603050405020304" pitchFamily="18" charset="0"/>
                  <a:sym typeface="Monotype Sorts" pitchFamily="2" charset="2"/>
                </a:rPr>
                <a:t>高地址</a:t>
              </a:r>
              <a:endParaRPr kumimoji="1" lang="zh-CN" altLang="en-US" sz="2000" b="1" dirty="0">
                <a:solidFill>
                  <a:srgbClr val="336600"/>
                </a:solidFill>
                <a:latin typeface="Times New Roman" panose="02020603050405020304" pitchFamily="18" charset="0"/>
                <a:sym typeface="Monotype Sorts" pitchFamily="2" charset="2"/>
              </a:endParaRPr>
            </a:p>
          </p:txBody>
        </p:sp>
      </p:grpSp>
      <p:sp>
        <p:nvSpPr>
          <p:cNvPr id="17" name="AutoShape 18"/>
          <p:cNvSpPr>
            <a:spLocks noChangeArrowheads="1"/>
          </p:cNvSpPr>
          <p:nvPr/>
        </p:nvSpPr>
        <p:spPr bwMode="auto">
          <a:xfrm>
            <a:off x="833040" y="2453736"/>
            <a:ext cx="3755665" cy="3260836"/>
          </a:xfrm>
          <a:prstGeom prst="cloudCallout">
            <a:avLst>
              <a:gd name="adj1" fmla="val 64772"/>
              <a:gd name="adj2" fmla="val -34967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33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t" anchorCtr="0">
            <a:spAutoFit/>
          </a:bodyPr>
          <a:lstStyle/>
          <a:p>
            <a:pPr marL="285750" indent="-285750">
              <a:spcBef>
                <a:spcPct val="20000"/>
              </a:spcBef>
              <a:buClr>
                <a:srgbClr val="CC99FF"/>
              </a:buClr>
              <a:buFont typeface="Wingdings" panose="05000000000000000000" pitchFamily="2" charset="2"/>
              <a:buChar char="ü"/>
            </a:pPr>
            <a:r>
              <a:rPr kumimoji="1"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Monotype Sorts" pitchFamily="2" charset="2"/>
              </a:rPr>
              <a:t>每个数据元素占用的字节数，就是</a:t>
            </a:r>
            <a:r>
              <a:rPr kumimoji="1"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Monotype Sorts" pitchFamily="2" charset="2"/>
              </a:rPr>
              <a:t>基类型</a:t>
            </a:r>
            <a:r>
              <a:rPr kumimoji="1"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Monotype Sorts" pitchFamily="2" charset="2"/>
              </a:rPr>
              <a:t>的字节数</a:t>
            </a:r>
          </a:p>
          <a:p>
            <a:pPr marL="285750" indent="-285750">
              <a:spcBef>
                <a:spcPct val="20000"/>
              </a:spcBef>
              <a:buClr>
                <a:srgbClr val="CC99FF"/>
              </a:buClr>
              <a:buFont typeface="Wingdings" panose="05000000000000000000" pitchFamily="2" charset="2"/>
              <a:buChar char="ü"/>
            </a:pPr>
            <a:r>
              <a:rPr kumimoji="1" lang="zh-CN" altLang="en-US" b="1" dirty="0">
                <a:solidFill>
                  <a:srgbClr val="3366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Monotype Sorts" pitchFamily="2" charset="2"/>
              </a:rPr>
              <a:t>一个元素</a:t>
            </a:r>
            <a:r>
              <a:rPr kumimoji="1" lang="zh-CN" altLang="en-US" b="1" dirty="0" smtClean="0">
                <a:solidFill>
                  <a:srgbClr val="3366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Monotype Sorts" pitchFamily="2" charset="2"/>
              </a:rPr>
              <a:t>占</a:t>
            </a:r>
            <a:r>
              <a:rPr kumimoji="1" lang="en-US" altLang="zh-CN" b="1" dirty="0">
                <a:solidFill>
                  <a:srgbClr val="0000C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Monotype Sorts" pitchFamily="2" charset="2"/>
              </a:rPr>
              <a:t>1</a:t>
            </a:r>
            <a:r>
              <a:rPr kumimoji="1" lang="zh-CN" altLang="en-US" b="1" dirty="0" smtClean="0">
                <a:solidFill>
                  <a:srgbClr val="0000C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Monotype Sorts" pitchFamily="2" charset="2"/>
              </a:rPr>
              <a:t>个</a:t>
            </a:r>
            <a:r>
              <a:rPr kumimoji="1" lang="zh-CN" altLang="en-US" b="1" dirty="0">
                <a:solidFill>
                  <a:srgbClr val="3366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Monotype Sorts" pitchFamily="2" charset="2"/>
              </a:rPr>
              <a:t>字节；</a:t>
            </a:r>
            <a:endParaRPr kumimoji="1" lang="en-US" altLang="zh-CN" b="1" dirty="0">
              <a:solidFill>
                <a:srgbClr val="3366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Monotype Sorts" pitchFamily="2" charset="2"/>
            </a:endParaRPr>
          </a:p>
          <a:p>
            <a:pPr marL="285750" indent="-285750">
              <a:spcBef>
                <a:spcPct val="20000"/>
              </a:spcBef>
              <a:buClr>
                <a:srgbClr val="CC99FF"/>
              </a:buClr>
              <a:buFont typeface="Wingdings" panose="05000000000000000000" pitchFamily="2" charset="2"/>
              <a:buChar char="ü"/>
            </a:pPr>
            <a:r>
              <a:rPr kumimoji="1" lang="zh-CN" altLang="en-US" b="1" dirty="0">
                <a:solidFill>
                  <a:srgbClr val="030DCD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Monotype Sorts" pitchFamily="2" charset="2"/>
              </a:rPr>
              <a:t>系统为</a:t>
            </a:r>
            <a:r>
              <a:rPr kumimoji="1" lang="zh-CN" altLang="en-US" b="1" dirty="0" smtClean="0">
                <a:solidFill>
                  <a:srgbClr val="030DCD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Monotype Sorts" pitchFamily="2" charset="2"/>
              </a:rPr>
              <a:t>数组连续</a:t>
            </a:r>
            <a:r>
              <a:rPr kumimoji="1" lang="zh-CN" altLang="en-US" b="1" dirty="0">
                <a:solidFill>
                  <a:srgbClr val="030DCD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Monotype Sorts" pitchFamily="2" charset="2"/>
              </a:rPr>
              <a:t>分配</a:t>
            </a:r>
            <a:r>
              <a:rPr kumimoji="1" lang="zh-CN" altLang="en-US" b="1" dirty="0" smtClean="0">
                <a:solidFill>
                  <a:srgbClr val="030DCD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Monotype Sorts" pitchFamily="2" charset="2"/>
              </a:rPr>
              <a:t>了</a:t>
            </a:r>
            <a:r>
              <a:rPr kumimoji="1" lang="en-US" altLang="zh-CN" b="1" dirty="0" smtClean="0">
                <a:solidFill>
                  <a:srgbClr val="030DCD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Monotype Sorts" pitchFamily="2" charset="2"/>
              </a:rPr>
              <a:t>10</a:t>
            </a:r>
            <a:r>
              <a:rPr kumimoji="1" lang="zh-CN" altLang="en-US" b="1" dirty="0" smtClean="0">
                <a:solidFill>
                  <a:srgbClr val="030DCD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Monotype Sorts" pitchFamily="2" charset="2"/>
              </a:rPr>
              <a:t>个</a:t>
            </a:r>
            <a:r>
              <a:rPr kumimoji="1" lang="zh-CN" altLang="en-US" b="1" dirty="0">
                <a:solidFill>
                  <a:srgbClr val="030DCD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Monotype Sorts" pitchFamily="2" charset="2"/>
              </a:rPr>
              <a:t>字节的地址空间；</a:t>
            </a:r>
          </a:p>
        </p:txBody>
      </p:sp>
    </p:spTree>
    <p:extLst>
      <p:ext uri="{BB962C8B-B14F-4D97-AF65-F5344CB8AC3E}">
        <p14:creationId xmlns:p14="http://schemas.microsoft.com/office/powerpoint/2010/main" val="4148623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402359" y="1091046"/>
            <a:ext cx="8274050" cy="5193002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FF3300"/>
                </a:solidFill>
              </a:rPr>
              <a:t>逐个</a:t>
            </a:r>
            <a:r>
              <a:rPr lang="zh-CN" altLang="en-US" sz="2000" dirty="0"/>
              <a:t>元素</a:t>
            </a:r>
            <a:r>
              <a:rPr lang="zh-CN" altLang="en-US" sz="2000" dirty="0" smtClean="0"/>
              <a:t>初始化</a:t>
            </a:r>
            <a:endParaRPr lang="en-US" altLang="zh-CN" sz="2000" dirty="0"/>
          </a:p>
          <a:p>
            <a:pPr marL="971550" lvl="1"/>
            <a:r>
              <a:rPr lang="en-US" altLang="zh-CN" sz="1800" dirty="0" smtClean="0">
                <a:solidFill>
                  <a:srgbClr val="030DCD"/>
                </a:solidFill>
              </a:rPr>
              <a:t>char </a:t>
            </a:r>
            <a:r>
              <a:rPr lang="en-US" altLang="zh-CN" sz="1800" dirty="0">
                <a:solidFill>
                  <a:srgbClr val="030DCD"/>
                </a:solidFill>
              </a:rPr>
              <a:t>c[10] = </a:t>
            </a:r>
            <a:r>
              <a:rPr lang="en-US" altLang="zh-CN" sz="1800" dirty="0" smtClean="0">
                <a:solidFill>
                  <a:srgbClr val="030DCD"/>
                </a:solidFill>
              </a:rPr>
              <a:t>{‘I’,' ','</a:t>
            </a:r>
            <a:r>
              <a:rPr lang="en-US" altLang="zh-CN" sz="1800" dirty="0" err="1" smtClean="0">
                <a:solidFill>
                  <a:srgbClr val="030DCD"/>
                </a:solidFill>
              </a:rPr>
              <a:t>a','m</a:t>
            </a:r>
            <a:r>
              <a:rPr lang="en-US" altLang="zh-CN" sz="1800" dirty="0" smtClean="0">
                <a:solidFill>
                  <a:srgbClr val="030DCD"/>
                </a:solidFill>
              </a:rPr>
              <a:t>',' ','</a:t>
            </a:r>
            <a:r>
              <a:rPr lang="en-US" altLang="zh-CN" sz="1800" dirty="0" err="1" smtClean="0">
                <a:solidFill>
                  <a:srgbClr val="030DCD"/>
                </a:solidFill>
              </a:rPr>
              <a:t>h','a','p','p','y</a:t>
            </a:r>
            <a:r>
              <a:rPr lang="en-US" altLang="zh-CN" sz="1800" dirty="0" smtClean="0">
                <a:solidFill>
                  <a:srgbClr val="030DCD"/>
                </a:solidFill>
              </a:rPr>
              <a:t>'}; </a:t>
            </a:r>
            <a:r>
              <a:rPr lang="en-US" altLang="zh-CN" sz="1600" dirty="0">
                <a:solidFill>
                  <a:srgbClr val="030DCD"/>
                </a:solidFill>
              </a:rPr>
              <a:t>//</a:t>
            </a:r>
            <a:r>
              <a:rPr lang="zh-CN" altLang="en-US" sz="1600" dirty="0">
                <a:solidFill>
                  <a:srgbClr val="006600"/>
                </a:solidFill>
              </a:rPr>
              <a:t>初始化</a:t>
            </a:r>
            <a:r>
              <a:rPr lang="en-US" altLang="zh-CN" sz="1600" dirty="0">
                <a:solidFill>
                  <a:srgbClr val="006600"/>
                </a:solidFill>
              </a:rPr>
              <a:t>10</a:t>
            </a:r>
            <a:r>
              <a:rPr lang="zh-CN" altLang="en-US" sz="1600" dirty="0">
                <a:solidFill>
                  <a:srgbClr val="006600"/>
                </a:solidFill>
              </a:rPr>
              <a:t>个</a:t>
            </a:r>
            <a:r>
              <a:rPr lang="zh-CN" altLang="en-US" sz="1600" dirty="0" smtClean="0">
                <a:solidFill>
                  <a:srgbClr val="006600"/>
                </a:solidFill>
              </a:rPr>
              <a:t>字符</a:t>
            </a:r>
            <a:endParaRPr lang="en-US" altLang="zh-CN" sz="1600" dirty="0">
              <a:solidFill>
                <a:srgbClr val="006600"/>
              </a:solidFill>
            </a:endParaRPr>
          </a:p>
          <a:p>
            <a:pPr marL="971550" lvl="1"/>
            <a:endParaRPr lang="en-US" altLang="zh-CN" sz="1600" dirty="0">
              <a:solidFill>
                <a:srgbClr val="030DCD"/>
              </a:solidFill>
            </a:endParaRPr>
          </a:p>
          <a:p>
            <a:pPr marL="971550" lvl="1"/>
            <a:endParaRPr lang="en-US" altLang="zh-CN" sz="1800" dirty="0" smtClean="0"/>
          </a:p>
          <a:p>
            <a:pPr marL="971550" lvl="1"/>
            <a:r>
              <a:rPr lang="en-US" altLang="zh-CN" sz="1800" dirty="0" smtClean="0"/>
              <a:t>char </a:t>
            </a:r>
            <a:r>
              <a:rPr lang="en-US" altLang="zh-CN" sz="1800" dirty="0"/>
              <a:t>hex[16] = {'0', '1’, '2', '3', '4', '5', '6', '7', '8', '9', 'A', 'B', 'C', 'D', 'E', 'F’};</a:t>
            </a:r>
          </a:p>
          <a:p>
            <a:pPr marL="971550" lvl="1"/>
            <a:r>
              <a:rPr lang="zh-CN" altLang="en-US" sz="1800" dirty="0" smtClean="0">
                <a:solidFill>
                  <a:srgbClr val="7030A0"/>
                </a:solidFill>
              </a:rPr>
              <a:t>若</a:t>
            </a:r>
            <a:r>
              <a:rPr lang="zh-CN" altLang="en-US" sz="1800" dirty="0">
                <a:solidFill>
                  <a:srgbClr val="7030A0"/>
                </a:solidFill>
              </a:rPr>
              <a:t>初始化数据少于数组长度</a:t>
            </a:r>
            <a:r>
              <a:rPr lang="zh-CN" altLang="en-US" sz="1800" dirty="0" smtClean="0"/>
              <a:t>，</a:t>
            </a:r>
            <a:r>
              <a:rPr lang="zh-CN" altLang="en-US" sz="1800" b="1" u="sng" dirty="0">
                <a:solidFill>
                  <a:srgbClr val="FF3300"/>
                </a:solidFill>
              </a:rPr>
              <a:t>剩余</a:t>
            </a:r>
            <a:r>
              <a:rPr lang="zh-CN" altLang="en-US" sz="1800" b="1" u="sng" dirty="0"/>
              <a:t>元素自动为</a:t>
            </a:r>
            <a:r>
              <a:rPr lang="zh-CN" altLang="en-US" sz="1800" b="1" u="sng" dirty="0">
                <a:solidFill>
                  <a:srgbClr val="FF3300"/>
                </a:solidFill>
              </a:rPr>
              <a:t>“空</a:t>
            </a:r>
            <a:r>
              <a:rPr lang="en-US" altLang="zh-CN" sz="1800" b="1" u="sng" dirty="0">
                <a:solidFill>
                  <a:srgbClr val="FF3300"/>
                </a:solidFill>
              </a:rPr>
              <a:t>NULL</a:t>
            </a:r>
            <a:r>
              <a:rPr lang="zh-CN" altLang="en-US" sz="1800" b="1" u="sng" dirty="0">
                <a:solidFill>
                  <a:srgbClr val="FF3300"/>
                </a:solidFill>
              </a:rPr>
              <a:t>”</a:t>
            </a:r>
            <a:r>
              <a:rPr lang="en-US" altLang="zh-CN" sz="1800" b="1" u="sng" dirty="0"/>
              <a:t>(</a:t>
            </a:r>
            <a:r>
              <a:rPr lang="en-US" altLang="zh-CN" sz="1800" b="1" u="sng" dirty="0">
                <a:solidFill>
                  <a:srgbClr val="7030A0"/>
                </a:solidFill>
              </a:rPr>
              <a:t>‘</a:t>
            </a:r>
            <a:r>
              <a:rPr lang="zh-CN" altLang="en-US" sz="1800" b="1" u="sng" dirty="0">
                <a:solidFill>
                  <a:srgbClr val="7030A0"/>
                </a:solidFill>
              </a:rPr>
              <a:t>\0</a:t>
            </a:r>
            <a:r>
              <a:rPr lang="en-US" altLang="zh-CN" sz="1800" b="1" u="sng" dirty="0">
                <a:solidFill>
                  <a:srgbClr val="7030A0"/>
                </a:solidFill>
              </a:rPr>
              <a:t>’</a:t>
            </a:r>
            <a:r>
              <a:rPr lang="en-US" altLang="zh-CN" sz="1800" b="1" u="sng" dirty="0"/>
              <a:t>)</a:t>
            </a:r>
          </a:p>
          <a:p>
            <a:pPr marL="1200150" lvl="2"/>
            <a:r>
              <a:rPr lang="en-US" altLang="zh-CN" sz="1600" dirty="0">
                <a:solidFill>
                  <a:srgbClr val="030DCD"/>
                </a:solidFill>
              </a:rPr>
              <a:t>char c[10] = {‘c’, ‘ ’, ‘p’, ‘r’, ‘o’, ‘g’, ‘r’, ‘a’, ‘m’}</a:t>
            </a:r>
            <a:r>
              <a:rPr lang="en-US" altLang="zh-CN" sz="1600" dirty="0"/>
              <a:t>;  </a:t>
            </a:r>
          </a:p>
          <a:p>
            <a:pPr marL="1200150" lvl="2"/>
            <a:r>
              <a:rPr lang="en-US" altLang="zh-CN" sz="1600" dirty="0"/>
              <a:t>// </a:t>
            </a:r>
            <a:r>
              <a:rPr lang="zh-CN" altLang="en-US" sz="1600" dirty="0">
                <a:solidFill>
                  <a:srgbClr val="006600"/>
                </a:solidFill>
              </a:rPr>
              <a:t>初始化</a:t>
            </a:r>
            <a:r>
              <a:rPr lang="en-US" altLang="zh-CN" sz="1600" dirty="0">
                <a:solidFill>
                  <a:srgbClr val="006600"/>
                </a:solidFill>
              </a:rPr>
              <a:t>9</a:t>
            </a:r>
            <a:r>
              <a:rPr lang="zh-CN" altLang="en-US" sz="1600" dirty="0">
                <a:solidFill>
                  <a:srgbClr val="006600"/>
                </a:solidFill>
              </a:rPr>
              <a:t>个字符，</a:t>
            </a:r>
            <a:r>
              <a:rPr lang="zh-CN" altLang="en-US" sz="1600" dirty="0">
                <a:solidFill>
                  <a:srgbClr val="FF0000"/>
                </a:solidFill>
              </a:rPr>
              <a:t>后面多余的元素自动</a:t>
            </a:r>
            <a:r>
              <a:rPr lang="zh-CN" altLang="en-US" sz="1600" dirty="0" smtClean="0">
                <a:solidFill>
                  <a:srgbClr val="FF0000"/>
                </a:solidFill>
              </a:rPr>
              <a:t>补</a:t>
            </a:r>
            <a:r>
              <a:rPr lang="en-US" altLang="zh-CN" sz="1600" b="1" dirty="0">
                <a:solidFill>
                  <a:srgbClr val="FF0000"/>
                </a:solidFill>
              </a:rPr>
              <a:t>‘</a:t>
            </a:r>
            <a:r>
              <a:rPr lang="zh-CN" altLang="en-US" sz="1600" b="1" dirty="0">
                <a:solidFill>
                  <a:srgbClr val="FF0000"/>
                </a:solidFill>
              </a:rPr>
              <a:t>\0</a:t>
            </a:r>
            <a:r>
              <a:rPr lang="en-US" altLang="zh-CN" sz="1600" b="1" dirty="0">
                <a:solidFill>
                  <a:srgbClr val="FF0000"/>
                </a:solidFill>
              </a:rPr>
              <a:t>’ </a:t>
            </a:r>
            <a:r>
              <a:rPr lang="zh-CN" altLang="en-US" sz="1600" dirty="0" smtClean="0">
                <a:solidFill>
                  <a:srgbClr val="FF0000"/>
                </a:solidFill>
              </a:rPr>
              <a:t>（</a:t>
            </a:r>
            <a:r>
              <a:rPr lang="en-US" altLang="zh-CN" sz="1600" dirty="0">
                <a:solidFill>
                  <a:srgbClr val="FF0000"/>
                </a:solidFill>
              </a:rPr>
              <a:t>NULL</a:t>
            </a:r>
            <a:r>
              <a:rPr lang="zh-CN" altLang="en-US" sz="1600" dirty="0" smtClean="0">
                <a:solidFill>
                  <a:srgbClr val="FF0000"/>
                </a:solidFill>
              </a:rPr>
              <a:t>）</a:t>
            </a:r>
            <a:r>
              <a:rPr lang="en-US" altLang="zh-CN" sz="1600" dirty="0" smtClean="0">
                <a:solidFill>
                  <a:srgbClr val="FF0000"/>
                </a:solidFill>
              </a:rPr>
              <a:t> </a:t>
            </a:r>
            <a:endParaRPr lang="zh-CN" altLang="en-US" sz="1600" dirty="0">
              <a:solidFill>
                <a:srgbClr val="FF0000"/>
              </a:solidFill>
            </a:endParaRPr>
          </a:p>
          <a:p>
            <a:pPr lvl="1" indent="0">
              <a:buNone/>
            </a:pPr>
            <a:endParaRPr lang="en-US" altLang="zh-CN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endParaRPr lang="en-US" altLang="zh-CN" sz="2000" b="1" dirty="0" smtClean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  <a:p>
            <a:pPr marL="971550" lvl="1"/>
            <a:endParaRPr lang="en-US" altLang="zh-CN" dirty="0"/>
          </a:p>
        </p:txBody>
      </p:sp>
      <p:sp>
        <p:nvSpPr>
          <p:cNvPr id="2" name="矩形 1"/>
          <p:cNvSpPr/>
          <p:nvPr/>
        </p:nvSpPr>
        <p:spPr>
          <a:xfrm>
            <a:off x="402359" y="325704"/>
            <a:ext cx="732847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1A93C8"/>
                </a:solidFill>
                <a:latin typeface="+mj-lt"/>
                <a:ea typeface="+mj-ea"/>
                <a:cs typeface="+mj-cs"/>
              </a:rPr>
              <a:t>6.7.1 </a:t>
            </a:r>
            <a:r>
              <a:rPr lang="zh-CN" altLang="en-US" sz="2800" dirty="0">
                <a:solidFill>
                  <a:srgbClr val="1A93C8"/>
                </a:solidFill>
                <a:latin typeface="+mj-lt"/>
                <a:ea typeface="+mj-ea"/>
                <a:cs typeface="+mj-cs"/>
              </a:rPr>
              <a:t>字符数组初始化</a:t>
            </a:r>
          </a:p>
        </p:txBody>
      </p:sp>
      <p:pic>
        <p:nvPicPr>
          <p:cNvPr id="4" name="Picture 4" descr="fig6_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6669" y="3687547"/>
            <a:ext cx="6340186" cy="607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fig6_7">
            <a:extLst>
              <a:ext uri="{FF2B5EF4-FFF2-40B4-BE49-F238E27FC236}">
                <a16:creationId xmlns:a16="http://schemas.microsoft.com/office/drawing/2014/main" id="{EEA9CB60-B597-4C43-B1E3-CEB34F5FFD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7756" y="1774996"/>
            <a:ext cx="6400800" cy="649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3749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402359" y="1091046"/>
            <a:ext cx="8274050" cy="5193002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FF3300"/>
                </a:solidFill>
              </a:rPr>
              <a:t>逐个</a:t>
            </a:r>
            <a:r>
              <a:rPr lang="zh-CN" altLang="en-US" dirty="0"/>
              <a:t>元素</a:t>
            </a:r>
            <a:r>
              <a:rPr lang="zh-CN" altLang="en-US" dirty="0" smtClean="0"/>
              <a:t>初始化</a:t>
            </a:r>
            <a:endParaRPr lang="en-US" altLang="zh-CN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dirty="0" smtClean="0"/>
              <a:t>若</a:t>
            </a:r>
            <a:r>
              <a:rPr lang="zh-CN" altLang="en-US" dirty="0"/>
              <a:t>未指定数组长度，则</a:t>
            </a:r>
            <a:r>
              <a:rPr lang="zh-CN" altLang="en-US" dirty="0">
                <a:solidFill>
                  <a:srgbClr val="030DCD"/>
                </a:solidFill>
              </a:rPr>
              <a:t>长度等于初值个数</a:t>
            </a:r>
            <a:endParaRPr lang="en-US" altLang="zh-CN" dirty="0">
              <a:solidFill>
                <a:srgbClr val="030DCD"/>
              </a:solidFill>
            </a:endParaRPr>
          </a:p>
          <a:p>
            <a:pPr marL="1200150" lvl="2"/>
            <a:r>
              <a:rPr lang="en-US" altLang="zh-CN" sz="1800" dirty="0">
                <a:solidFill>
                  <a:srgbClr val="030DCD"/>
                </a:solidFill>
              </a:rPr>
              <a:t>char </a:t>
            </a:r>
            <a:r>
              <a:rPr lang="en-US" altLang="zh-CN" sz="1800" dirty="0">
                <a:solidFill>
                  <a:srgbClr val="FF0000"/>
                </a:solidFill>
              </a:rPr>
              <a:t>c[ ] </a:t>
            </a:r>
            <a:r>
              <a:rPr lang="en-US" altLang="zh-CN" sz="1800" dirty="0"/>
              <a:t>= {'I',' ','</a:t>
            </a:r>
            <a:r>
              <a:rPr lang="en-US" altLang="zh-CN" sz="1800" dirty="0" err="1"/>
              <a:t>a','m</a:t>
            </a:r>
            <a:r>
              <a:rPr lang="en-US" altLang="zh-CN" sz="1800" dirty="0"/>
              <a:t>',' ','</a:t>
            </a:r>
            <a:r>
              <a:rPr lang="en-US" altLang="zh-CN" sz="1800" dirty="0" err="1"/>
              <a:t>h','a','p','p','y</a:t>
            </a:r>
            <a:r>
              <a:rPr lang="en-US" altLang="zh-CN" sz="1800" dirty="0"/>
              <a:t>'}; </a:t>
            </a:r>
          </a:p>
          <a:p>
            <a:pPr marL="1200150" lvl="2"/>
            <a:r>
              <a:rPr lang="zh-CN" altLang="en-US" sz="1800" dirty="0"/>
              <a:t>相当于</a:t>
            </a:r>
            <a:r>
              <a:rPr lang="en-US" altLang="zh-CN" sz="1800" dirty="0">
                <a:solidFill>
                  <a:srgbClr val="030DCD"/>
                </a:solidFill>
              </a:rPr>
              <a:t>char c[10 ] </a:t>
            </a:r>
            <a:r>
              <a:rPr lang="en-US" altLang="zh-CN" sz="1800" dirty="0"/>
              <a:t>= {'I',' ','</a:t>
            </a:r>
            <a:r>
              <a:rPr lang="en-US" altLang="zh-CN" sz="1800" dirty="0" err="1"/>
              <a:t>a','m</a:t>
            </a:r>
            <a:r>
              <a:rPr lang="en-US" altLang="zh-CN" sz="1800" dirty="0"/>
              <a:t>',' ','</a:t>
            </a:r>
            <a:r>
              <a:rPr lang="en-US" altLang="zh-CN" sz="1800" dirty="0" err="1"/>
              <a:t>h','a','p','p','y</a:t>
            </a:r>
            <a:r>
              <a:rPr lang="en-US" altLang="zh-CN" sz="1800" dirty="0"/>
              <a:t>'};  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 smtClean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  <a:p>
            <a:pPr marL="971550" lvl="1"/>
            <a:endParaRPr lang="en-US" altLang="zh-CN" dirty="0"/>
          </a:p>
        </p:txBody>
      </p:sp>
      <p:sp>
        <p:nvSpPr>
          <p:cNvPr id="2" name="矩形 1"/>
          <p:cNvSpPr/>
          <p:nvPr/>
        </p:nvSpPr>
        <p:spPr>
          <a:xfrm>
            <a:off x="402359" y="325704"/>
            <a:ext cx="732847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800" dirty="0" smtClean="0">
                <a:solidFill>
                  <a:srgbClr val="1A93C8"/>
                </a:solidFill>
                <a:latin typeface="+mj-lt"/>
                <a:ea typeface="+mj-ea"/>
                <a:cs typeface="+mj-cs"/>
              </a:rPr>
              <a:t>字符</a:t>
            </a:r>
            <a:r>
              <a:rPr lang="zh-CN" altLang="en-US" sz="2800" dirty="0">
                <a:solidFill>
                  <a:srgbClr val="1A93C8"/>
                </a:solidFill>
                <a:latin typeface="+mj-lt"/>
                <a:ea typeface="+mj-ea"/>
                <a:cs typeface="+mj-cs"/>
              </a:rPr>
              <a:t>数组初始化</a:t>
            </a:r>
          </a:p>
        </p:txBody>
      </p:sp>
      <p:pic>
        <p:nvPicPr>
          <p:cNvPr id="6" name="Picture 4" descr="fig6_7">
            <a:extLst>
              <a:ext uri="{FF2B5EF4-FFF2-40B4-BE49-F238E27FC236}">
                <a16:creationId xmlns:a16="http://schemas.microsoft.com/office/drawing/2014/main" id="{76C23DFA-352A-4567-BDE3-391C76FEE2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9701" y="2500305"/>
            <a:ext cx="6400800" cy="519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7323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402359" y="1091046"/>
            <a:ext cx="8274050" cy="5193002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dirty="0" smtClean="0"/>
              <a:t>整体初始化</a:t>
            </a:r>
            <a:endParaRPr lang="en-US" altLang="zh-CN" dirty="0" smtClean="0"/>
          </a:p>
          <a:p>
            <a:pPr marL="971550" lvl="1"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030DCD"/>
                </a:solidFill>
              </a:rPr>
              <a:t>整体</a:t>
            </a:r>
            <a:r>
              <a:rPr lang="zh-CN" altLang="en-US" b="1" dirty="0" smtClean="0">
                <a:solidFill>
                  <a:srgbClr val="030DCD"/>
                </a:solidFill>
              </a:rPr>
              <a:t>初始化字符数组</a:t>
            </a:r>
            <a:r>
              <a:rPr lang="zh-CN" altLang="en-US" b="1" dirty="0">
                <a:solidFill>
                  <a:srgbClr val="030DCD"/>
                </a:solidFill>
              </a:rPr>
              <a:t>时</a:t>
            </a:r>
            <a:r>
              <a:rPr lang="zh-CN" altLang="en-US" b="1" dirty="0" smtClean="0">
                <a:solidFill>
                  <a:srgbClr val="030DCD"/>
                </a:solidFill>
              </a:rPr>
              <a:t>，定义</a:t>
            </a:r>
            <a:r>
              <a:rPr lang="zh-CN" altLang="en-US" b="1" dirty="0">
                <a:solidFill>
                  <a:srgbClr val="030DCD"/>
                </a:solidFill>
              </a:rPr>
              <a:t>的字符数组要大于初始化的字符串长度；</a:t>
            </a:r>
            <a:endParaRPr lang="en-US" altLang="zh-CN" sz="2800" b="1" dirty="0">
              <a:solidFill>
                <a:srgbClr val="030DCD"/>
              </a:solidFill>
            </a:endParaRPr>
          </a:p>
          <a:p>
            <a:pPr marL="971550" lvl="1">
              <a:buFont typeface="Wingdings" panose="05000000000000000000" pitchFamily="2" charset="2"/>
              <a:buChar char="l"/>
            </a:pPr>
            <a:r>
              <a:rPr lang="zh-CN" altLang="en-US" dirty="0" smtClean="0"/>
              <a:t>要</a:t>
            </a:r>
            <a:r>
              <a:rPr lang="zh-CN" altLang="en-US" dirty="0"/>
              <a:t>多出一个元素存储</a:t>
            </a:r>
            <a:r>
              <a:rPr lang="en-US" altLang="zh-CN" b="1" dirty="0">
                <a:solidFill>
                  <a:srgbClr val="006600"/>
                </a:solidFill>
              </a:rPr>
              <a:t>’\0’</a:t>
            </a:r>
          </a:p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2000" dirty="0" smtClean="0"/>
              <a:t>例如</a:t>
            </a:r>
            <a:endParaRPr lang="en-US" altLang="zh-CN" sz="2000" dirty="0"/>
          </a:p>
          <a:p>
            <a:pPr marL="971550" lvl="1">
              <a:buFont typeface="Wingdings" panose="05000000000000000000" pitchFamily="2" charset="2"/>
              <a:buChar char="l"/>
            </a:pPr>
            <a:r>
              <a:rPr lang="en-US" altLang="zh-CN" sz="1800" dirty="0" smtClean="0"/>
              <a:t>char </a:t>
            </a:r>
            <a:r>
              <a:rPr lang="en-US" altLang="zh-CN" sz="1800" dirty="0"/>
              <a:t>c[</a:t>
            </a:r>
            <a:r>
              <a:rPr lang="en-US" altLang="zh-CN" sz="1800" b="1" dirty="0">
                <a:solidFill>
                  <a:srgbClr val="7030A0"/>
                </a:solidFill>
              </a:rPr>
              <a:t>10</a:t>
            </a:r>
            <a:r>
              <a:rPr lang="en-US" altLang="zh-CN" sz="1800" dirty="0"/>
              <a:t>] = “</a:t>
            </a:r>
            <a:r>
              <a:rPr lang="en-US" altLang="zh-CN" sz="1800" dirty="0">
                <a:solidFill>
                  <a:srgbClr val="7030A0"/>
                </a:solidFill>
              </a:rPr>
              <a:t>I am happy</a:t>
            </a:r>
            <a:r>
              <a:rPr lang="en-US" altLang="zh-CN" sz="1800" dirty="0"/>
              <a:t>”;    //</a:t>
            </a:r>
            <a:r>
              <a:rPr lang="zh-CN" altLang="en-US" sz="1800" b="1" dirty="0">
                <a:solidFill>
                  <a:srgbClr val="C00000"/>
                </a:solidFill>
              </a:rPr>
              <a:t>不允许</a:t>
            </a:r>
            <a:r>
              <a:rPr lang="zh-CN" altLang="en-US" sz="1800" dirty="0"/>
              <a:t>，</a:t>
            </a:r>
            <a:r>
              <a:rPr lang="zh-CN" altLang="en-US" sz="1800" b="1" dirty="0">
                <a:solidFill>
                  <a:srgbClr val="006600"/>
                </a:solidFill>
              </a:rPr>
              <a:t>没有空间存储</a:t>
            </a:r>
            <a:r>
              <a:rPr lang="en-US" altLang="zh-CN" sz="1800" b="1" dirty="0">
                <a:solidFill>
                  <a:srgbClr val="006600"/>
                </a:solidFill>
              </a:rPr>
              <a:t>’\0’ </a:t>
            </a:r>
          </a:p>
          <a:p>
            <a:pPr marL="1314450" lvl="2" indent="-285750">
              <a:buFont typeface="Arial" panose="020B0604020202020204" pitchFamily="34" charset="0"/>
              <a:buChar char="•"/>
            </a:pPr>
            <a:r>
              <a:rPr lang="zh-CN" altLang="en-US" sz="1800" dirty="0"/>
              <a:t>编译错误：</a:t>
            </a:r>
            <a:r>
              <a:rPr lang="en-US" altLang="zh-CN" sz="1800" dirty="0"/>
              <a:t>[Error] initializer-string for array of chars is too long [-</a:t>
            </a:r>
            <a:r>
              <a:rPr lang="en-US" altLang="zh-CN" sz="1800" dirty="0" err="1"/>
              <a:t>fpermissive</a:t>
            </a:r>
            <a:r>
              <a:rPr lang="en-US" altLang="zh-CN" sz="1800" dirty="0"/>
              <a:t>]</a:t>
            </a:r>
          </a:p>
          <a:p>
            <a:pPr marL="971550" lvl="1">
              <a:buFont typeface="Wingdings" panose="05000000000000000000" pitchFamily="2" charset="2"/>
              <a:buChar char="l"/>
            </a:pPr>
            <a:r>
              <a:rPr lang="en-US" altLang="zh-CN" sz="1800" dirty="0" smtClean="0"/>
              <a:t>char </a:t>
            </a:r>
            <a:r>
              <a:rPr lang="en-US" altLang="zh-CN" sz="1800" dirty="0"/>
              <a:t>c[</a:t>
            </a:r>
            <a:r>
              <a:rPr lang="en-US" altLang="zh-CN" sz="1800" b="1" dirty="0">
                <a:solidFill>
                  <a:srgbClr val="7030A0"/>
                </a:solidFill>
              </a:rPr>
              <a:t>11</a:t>
            </a:r>
            <a:r>
              <a:rPr lang="en-US" altLang="zh-CN" sz="1800" dirty="0"/>
              <a:t>] = “</a:t>
            </a:r>
            <a:r>
              <a:rPr lang="en-US" altLang="zh-CN" sz="1800" dirty="0">
                <a:solidFill>
                  <a:srgbClr val="7030A0"/>
                </a:solidFill>
              </a:rPr>
              <a:t>I am happy</a:t>
            </a:r>
            <a:r>
              <a:rPr lang="en-US" altLang="zh-CN" sz="1800" dirty="0"/>
              <a:t>”;    </a:t>
            </a:r>
            <a:r>
              <a:rPr lang="en-US" altLang="zh-CN" sz="1800" dirty="0" smtClean="0"/>
              <a:t>//</a:t>
            </a:r>
            <a:r>
              <a:rPr lang="zh-CN" altLang="en-US" sz="1800" b="1" dirty="0">
                <a:solidFill>
                  <a:srgbClr val="C00000"/>
                </a:solidFill>
              </a:rPr>
              <a:t>允许末尾自动补‘</a:t>
            </a:r>
            <a:r>
              <a:rPr lang="en-US" altLang="zh-CN" sz="1800" b="1" dirty="0">
                <a:solidFill>
                  <a:srgbClr val="C00000"/>
                </a:solidFill>
              </a:rPr>
              <a:t>\0</a:t>
            </a:r>
            <a:r>
              <a:rPr lang="zh-CN" altLang="en-US" sz="1800" b="1" dirty="0">
                <a:solidFill>
                  <a:srgbClr val="C00000"/>
                </a:solidFill>
              </a:rPr>
              <a:t>’</a:t>
            </a:r>
            <a:endParaRPr lang="en-US" altLang="zh-CN" sz="1800" b="1" dirty="0">
              <a:solidFill>
                <a:srgbClr val="C0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b="1" u="sng" dirty="0">
                <a:solidFill>
                  <a:srgbClr val="006600"/>
                </a:solidFill>
              </a:rPr>
              <a:t>对字符数组</a:t>
            </a:r>
            <a:r>
              <a:rPr lang="zh-CN" altLang="en-US" sz="2000" b="1" i="1" u="sng" dirty="0">
                <a:solidFill>
                  <a:srgbClr val="C00000"/>
                </a:solidFill>
              </a:rPr>
              <a:t>整体赋值</a:t>
            </a:r>
            <a:r>
              <a:rPr lang="zh-CN" altLang="en-US" sz="2000" b="1" i="1" u="sng" dirty="0">
                <a:solidFill>
                  <a:srgbClr val="006600"/>
                </a:solidFill>
              </a:rPr>
              <a:t>，</a:t>
            </a:r>
            <a:r>
              <a:rPr lang="zh-CN" altLang="en-US" sz="2000" b="1" i="1" u="sng" dirty="0">
                <a:solidFill>
                  <a:srgbClr val="7030A0"/>
                </a:solidFill>
              </a:rPr>
              <a:t>只能在定义数组且初始化时进行</a:t>
            </a:r>
            <a:r>
              <a:rPr lang="zh-CN" altLang="en-US" sz="2000" b="1" u="sng" dirty="0">
                <a:solidFill>
                  <a:srgbClr val="006600"/>
                </a:solidFill>
              </a:rPr>
              <a:t>。后续对数组元素的赋值只能逐个元素进行赋值。</a:t>
            </a:r>
            <a:endParaRPr lang="en-US" altLang="zh-CN" sz="2000" b="1" u="sng" dirty="0">
              <a:solidFill>
                <a:srgbClr val="006600"/>
              </a:solidFill>
            </a:endParaRPr>
          </a:p>
          <a:p>
            <a:pPr marL="971550" lvl="1"/>
            <a:r>
              <a:rPr lang="en-US" altLang="zh-CN" sz="1800" dirty="0"/>
              <a:t>char c[10];   </a:t>
            </a:r>
            <a:r>
              <a:rPr lang="en-US" altLang="zh-CN" sz="1800" b="1" dirty="0">
                <a:solidFill>
                  <a:srgbClr val="030DCD"/>
                </a:solidFill>
              </a:rPr>
              <a:t>c=“</a:t>
            </a:r>
            <a:r>
              <a:rPr lang="en-US" altLang="zh-CN" sz="1800" b="1" dirty="0" err="1">
                <a:solidFill>
                  <a:srgbClr val="030DCD"/>
                </a:solidFill>
              </a:rPr>
              <a:t>abc</a:t>
            </a:r>
            <a:r>
              <a:rPr lang="en-US" altLang="zh-CN" sz="1800" b="1" dirty="0">
                <a:solidFill>
                  <a:srgbClr val="030DCD"/>
                </a:solidFill>
              </a:rPr>
              <a:t>”</a:t>
            </a:r>
            <a:r>
              <a:rPr lang="zh-CN" altLang="en-US" sz="1800" dirty="0"/>
              <a:t>； </a:t>
            </a:r>
            <a:r>
              <a:rPr lang="en-US" altLang="zh-CN" sz="1800" dirty="0"/>
              <a:t>//</a:t>
            </a:r>
            <a:r>
              <a:rPr lang="zh-CN" altLang="en-US" sz="1800" b="1" dirty="0">
                <a:solidFill>
                  <a:srgbClr val="C00000"/>
                </a:solidFill>
              </a:rPr>
              <a:t>不允许</a:t>
            </a:r>
            <a:r>
              <a:rPr lang="zh-CN" altLang="en-US" sz="1800" dirty="0"/>
              <a:t>，</a:t>
            </a:r>
            <a:r>
              <a:rPr lang="zh-CN" altLang="en-US" sz="1800" b="1" i="1" dirty="0">
                <a:solidFill>
                  <a:srgbClr val="030DCD"/>
                </a:solidFill>
              </a:rPr>
              <a:t>只有初始化时才能整体赋值</a:t>
            </a:r>
            <a:r>
              <a:rPr lang="zh-CN" altLang="en-US" sz="1800" dirty="0"/>
              <a:t>；</a:t>
            </a:r>
          </a:p>
          <a:p>
            <a:pPr marL="971550" lvl="1"/>
            <a:r>
              <a:rPr lang="en-US" altLang="zh-CN" sz="1800" dirty="0"/>
              <a:t>char c[10];  </a:t>
            </a:r>
            <a:r>
              <a:rPr lang="en-US" altLang="zh-CN" sz="1800" b="1" dirty="0">
                <a:solidFill>
                  <a:srgbClr val="006600"/>
                </a:solidFill>
              </a:rPr>
              <a:t>c[3]=‘t’</a:t>
            </a:r>
            <a:r>
              <a:rPr lang="en-US" altLang="zh-CN" sz="1800" dirty="0"/>
              <a:t>;      //</a:t>
            </a:r>
            <a:r>
              <a:rPr lang="zh-CN" altLang="en-US" sz="1800" dirty="0">
                <a:solidFill>
                  <a:srgbClr val="7030A0"/>
                </a:solidFill>
              </a:rPr>
              <a:t>允许</a:t>
            </a:r>
          </a:p>
          <a:p>
            <a:pPr marL="971550" lvl="1">
              <a:buFont typeface="Wingdings" panose="05000000000000000000" pitchFamily="2" charset="2"/>
              <a:buChar char="l"/>
            </a:pPr>
            <a:endParaRPr lang="en-US" altLang="zh-CN" sz="1600" dirty="0" smtClean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  <a:p>
            <a:pPr marL="971550" lvl="1"/>
            <a:endParaRPr lang="en-US" altLang="zh-CN" dirty="0"/>
          </a:p>
        </p:txBody>
      </p:sp>
      <p:sp>
        <p:nvSpPr>
          <p:cNvPr id="2" name="矩形 1"/>
          <p:cNvSpPr/>
          <p:nvPr/>
        </p:nvSpPr>
        <p:spPr>
          <a:xfrm>
            <a:off x="402359" y="325704"/>
            <a:ext cx="732847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800" dirty="0" smtClean="0">
                <a:solidFill>
                  <a:srgbClr val="1A93C8"/>
                </a:solidFill>
                <a:latin typeface="+mj-lt"/>
                <a:ea typeface="+mj-ea"/>
                <a:cs typeface="+mj-cs"/>
              </a:rPr>
              <a:t>字符</a:t>
            </a:r>
            <a:r>
              <a:rPr lang="zh-CN" altLang="en-US" sz="2800" dirty="0">
                <a:solidFill>
                  <a:srgbClr val="1A93C8"/>
                </a:solidFill>
                <a:latin typeface="+mj-lt"/>
                <a:ea typeface="+mj-ea"/>
                <a:cs typeface="+mj-cs"/>
              </a:rPr>
              <a:t>数组初始化</a:t>
            </a:r>
          </a:p>
        </p:txBody>
      </p:sp>
    </p:spTree>
    <p:extLst>
      <p:ext uri="{BB962C8B-B14F-4D97-AF65-F5344CB8AC3E}">
        <p14:creationId xmlns:p14="http://schemas.microsoft.com/office/powerpoint/2010/main" val="15491805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7030A0"/>
                </a:solidFill>
              </a:rPr>
              <a:t>课后练习：</a:t>
            </a:r>
            <a:r>
              <a:rPr lang="zh-CN" altLang="en-US" dirty="0" smtClean="0"/>
              <a:t>利用</a:t>
            </a:r>
            <a:r>
              <a:rPr lang="en-US" altLang="zh-CN" dirty="0" err="1"/>
              <a:t>memset</a:t>
            </a:r>
            <a:r>
              <a:rPr lang="en-US" altLang="zh-CN" dirty="0"/>
              <a:t> </a:t>
            </a:r>
            <a:r>
              <a:rPr lang="zh-CN" altLang="en-US" dirty="0"/>
              <a:t>函数对字符数组的初始化 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使用 </a:t>
            </a:r>
            <a:r>
              <a:rPr lang="en-US" altLang="zh-CN" sz="2000" dirty="0" err="1"/>
              <a:t>memset</a:t>
            </a:r>
            <a:r>
              <a:rPr lang="en-US" altLang="zh-CN" sz="2000" dirty="0"/>
              <a:t> </a:t>
            </a:r>
            <a:r>
              <a:rPr lang="zh-CN" altLang="en-US" sz="2000" dirty="0"/>
              <a:t>函数（头文件</a:t>
            </a:r>
            <a:r>
              <a:rPr lang="en-US" altLang="zh-CN" sz="2000" dirty="0" err="1"/>
              <a:t>memory.h</a:t>
            </a:r>
            <a:r>
              <a:rPr lang="zh-CN" altLang="en-US" sz="2000" dirty="0"/>
              <a:t>或</a:t>
            </a:r>
            <a:r>
              <a:rPr lang="en-US" altLang="zh-CN" sz="2000" dirty="0" err="1"/>
              <a:t>string.h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pPr marL="971550" lvl="1"/>
            <a:r>
              <a:rPr lang="en-US" altLang="zh-CN" sz="1800" b="1" dirty="0">
                <a:cs typeface="Courier New" panose="02070309020205020404" pitchFamily="49" charset="0"/>
              </a:rPr>
              <a:t>void *</a:t>
            </a:r>
            <a:r>
              <a:rPr lang="en-US" altLang="zh-CN" sz="1800" b="1" dirty="0" err="1">
                <a:cs typeface="Courier New" panose="02070309020205020404" pitchFamily="49" charset="0"/>
              </a:rPr>
              <a:t>memset</a:t>
            </a:r>
            <a:r>
              <a:rPr lang="en-US" altLang="zh-CN" sz="1800" b="1" dirty="0">
                <a:cs typeface="Courier New" panose="02070309020205020404" pitchFamily="49" charset="0"/>
              </a:rPr>
              <a:t>(void *s, int </a:t>
            </a:r>
            <a:r>
              <a:rPr lang="en-US" altLang="zh-CN" sz="1800" b="1" dirty="0" err="1">
                <a:cs typeface="Courier New" panose="02070309020205020404" pitchFamily="49" charset="0"/>
              </a:rPr>
              <a:t>ch</a:t>
            </a:r>
            <a:r>
              <a:rPr lang="en-US" altLang="zh-CN" sz="1800" b="1" dirty="0">
                <a:cs typeface="Courier New" panose="02070309020205020404" pitchFamily="49" charset="0"/>
              </a:rPr>
              <a:t>, int n);</a:t>
            </a:r>
          </a:p>
          <a:p>
            <a:pPr marL="1200150" lvl="2"/>
            <a:r>
              <a:rPr lang="zh-CN" altLang="en-US" sz="1600" dirty="0">
                <a:cs typeface="Courier New" panose="02070309020205020404" pitchFamily="49" charset="0"/>
              </a:rPr>
              <a:t>从</a:t>
            </a:r>
            <a:r>
              <a:rPr lang="en-US" altLang="zh-CN" sz="1600" dirty="0">
                <a:cs typeface="Courier New" panose="02070309020205020404" pitchFamily="49" charset="0"/>
              </a:rPr>
              <a:t>s</a:t>
            </a:r>
            <a:r>
              <a:rPr lang="zh-CN" altLang="en-US" sz="1600" dirty="0">
                <a:cs typeface="Courier New" panose="02070309020205020404" pitchFamily="49" charset="0"/>
              </a:rPr>
              <a:t>之后的</a:t>
            </a:r>
            <a:r>
              <a:rPr lang="en-US" altLang="zh-CN" sz="1600" b="1" dirty="0">
                <a:solidFill>
                  <a:srgbClr val="C00000"/>
                </a:solidFill>
                <a:cs typeface="Courier New" panose="02070309020205020404" pitchFamily="49" charset="0"/>
              </a:rPr>
              <a:t>n</a:t>
            </a:r>
            <a:r>
              <a:rPr lang="zh-CN" altLang="en-US" sz="1600" b="1" dirty="0">
                <a:solidFill>
                  <a:srgbClr val="C00000"/>
                </a:solidFill>
                <a:cs typeface="Courier New" panose="02070309020205020404" pitchFamily="49" charset="0"/>
              </a:rPr>
              <a:t>个字节</a:t>
            </a:r>
            <a:r>
              <a:rPr lang="zh-CN" altLang="en-US" sz="1600" dirty="0">
                <a:cs typeface="Courier New" panose="02070309020205020404" pitchFamily="49" charset="0"/>
              </a:rPr>
              <a:t>用</a:t>
            </a:r>
            <a:r>
              <a:rPr lang="en-US" altLang="zh-CN" sz="1600" dirty="0" err="1">
                <a:cs typeface="Courier New" panose="02070309020205020404" pitchFamily="49" charset="0"/>
              </a:rPr>
              <a:t>ch</a:t>
            </a:r>
            <a:r>
              <a:rPr lang="zh-CN" altLang="en-US" sz="1600" dirty="0">
                <a:cs typeface="Courier New" panose="02070309020205020404" pitchFamily="49" charset="0"/>
              </a:rPr>
              <a:t>填充</a:t>
            </a:r>
            <a:r>
              <a:rPr lang="en-US" altLang="zh-CN" sz="1600" dirty="0">
                <a:cs typeface="Courier New" panose="02070309020205020404" pitchFamily="49" charset="0"/>
              </a:rPr>
              <a:t>;</a:t>
            </a:r>
          </a:p>
          <a:p>
            <a:pPr marL="971550" lvl="1"/>
            <a:r>
              <a:rPr lang="zh-CN" altLang="en-US" sz="1800" dirty="0">
                <a:latin typeface="+mn-ea"/>
                <a:cs typeface="Courier New" panose="02070309020205020404" pitchFamily="49" charset="0"/>
              </a:rPr>
              <a:t>作用是在一段内存块中的每个字节填充某个给定的值，它是对较大的结构体或数组进行清零操作的一种最快方法</a:t>
            </a:r>
            <a:r>
              <a:rPr lang="en-US" altLang="zh-CN" sz="1800" dirty="0">
                <a:latin typeface="+mn-ea"/>
                <a:cs typeface="Courier New" panose="02070309020205020404" pitchFamily="49" charset="0"/>
              </a:rPr>
              <a:t>;</a:t>
            </a:r>
            <a:endParaRPr lang="zh-CN" altLang="en-US" sz="1800" dirty="0">
              <a:latin typeface="+mn-ea"/>
              <a:cs typeface="Courier New" panose="02070309020205020404" pitchFamily="49" charset="0"/>
            </a:endParaRPr>
          </a:p>
          <a:p>
            <a:pPr marL="971550" lvl="1"/>
            <a:r>
              <a:rPr lang="zh-CN" altLang="en-US" sz="1800" dirty="0">
                <a:solidFill>
                  <a:srgbClr val="030DCD"/>
                </a:solidFill>
              </a:rPr>
              <a:t>如：</a:t>
            </a:r>
            <a:r>
              <a:rPr lang="en-US" altLang="zh-CN" sz="1800" dirty="0">
                <a:solidFill>
                  <a:srgbClr val="030DCD"/>
                </a:solidFill>
              </a:rPr>
              <a:t>char c[10];  </a:t>
            </a:r>
            <a:r>
              <a:rPr lang="en-US" altLang="zh-CN" sz="1800" dirty="0" err="1">
                <a:solidFill>
                  <a:srgbClr val="030DCD"/>
                </a:solidFill>
                <a:cs typeface="Courier New" panose="02070309020205020404" pitchFamily="49" charset="0"/>
              </a:rPr>
              <a:t>memset</a:t>
            </a:r>
            <a:r>
              <a:rPr lang="en-US" altLang="zh-CN" sz="1800" dirty="0">
                <a:solidFill>
                  <a:srgbClr val="030DCD"/>
                </a:solidFill>
                <a:cs typeface="Courier New" panose="02070309020205020404" pitchFamily="49" charset="0"/>
              </a:rPr>
              <a:t>(c,’A’,</a:t>
            </a:r>
            <a:r>
              <a:rPr lang="en-US" altLang="zh-CN" sz="1800" dirty="0" err="1">
                <a:solidFill>
                  <a:srgbClr val="030DCD"/>
                </a:solidFill>
                <a:cs typeface="Courier New" panose="02070309020205020404" pitchFamily="49" charset="0"/>
              </a:rPr>
              <a:t>sizeof</a:t>
            </a:r>
            <a:r>
              <a:rPr lang="en-US" altLang="zh-CN" sz="1800" dirty="0">
                <a:solidFill>
                  <a:srgbClr val="030DCD"/>
                </a:solidFill>
                <a:cs typeface="Courier New" panose="02070309020205020404" pitchFamily="49" charset="0"/>
              </a:rPr>
              <a:t>(c));</a:t>
            </a:r>
          </a:p>
          <a:p>
            <a:pPr marL="1200150" lvl="2"/>
            <a:r>
              <a:rPr lang="zh-CN" altLang="en-US" sz="1600" b="1" dirty="0">
                <a:solidFill>
                  <a:srgbClr val="006600"/>
                </a:solidFill>
                <a:cs typeface="Courier New" panose="02070309020205020404" pitchFamily="49" charset="0"/>
              </a:rPr>
              <a:t>将数组</a:t>
            </a:r>
            <a:r>
              <a:rPr lang="en-US" altLang="zh-CN" sz="1600" b="1" dirty="0">
                <a:solidFill>
                  <a:srgbClr val="006600"/>
                </a:solidFill>
                <a:cs typeface="Courier New" panose="02070309020205020404" pitchFamily="49" charset="0"/>
              </a:rPr>
              <a:t>c</a:t>
            </a:r>
            <a:r>
              <a:rPr lang="zh-CN" altLang="en-US" sz="1600" b="1" dirty="0">
                <a:solidFill>
                  <a:srgbClr val="006600"/>
                </a:solidFill>
                <a:cs typeface="Courier New" panose="02070309020205020404" pitchFamily="49" charset="0"/>
              </a:rPr>
              <a:t>的所有元素（字节）初始化为</a:t>
            </a:r>
            <a:r>
              <a:rPr lang="en-US" altLang="zh-CN" sz="1600" b="1" dirty="0">
                <a:solidFill>
                  <a:srgbClr val="006600"/>
                </a:solidFill>
                <a:cs typeface="Courier New" panose="02070309020205020404" pitchFamily="49" charset="0"/>
              </a:rPr>
              <a:t>' A ' </a:t>
            </a:r>
            <a:r>
              <a:rPr lang="zh-CN" altLang="en-US" sz="1600" b="1" dirty="0">
                <a:solidFill>
                  <a:srgbClr val="006600"/>
                </a:solidFill>
                <a:cs typeface="Courier New" panose="02070309020205020404" pitchFamily="49" charset="0"/>
              </a:rPr>
              <a:t>；</a:t>
            </a:r>
            <a:endParaRPr lang="en-US" altLang="zh-CN" sz="1600" b="1" dirty="0">
              <a:solidFill>
                <a:srgbClr val="006600"/>
              </a:solidFill>
              <a:cs typeface="Courier New" panose="02070309020205020404" pitchFamily="49" charset="0"/>
            </a:endParaRPr>
          </a:p>
          <a:p>
            <a:pPr marL="1200150" lvl="2"/>
            <a:r>
              <a:rPr lang="zh-CN" altLang="en-US" sz="1600" dirty="0">
                <a:cs typeface="Courier New" panose="02070309020205020404" pitchFamily="49" charset="0"/>
              </a:rPr>
              <a:t>一般参数</a:t>
            </a:r>
            <a:r>
              <a:rPr lang="en-US" altLang="zh-CN" sz="1600" dirty="0">
                <a:cs typeface="Courier New" panose="02070309020205020404" pitchFamily="49" charset="0"/>
              </a:rPr>
              <a:t>n</a:t>
            </a:r>
            <a:r>
              <a:rPr lang="zh-CN" altLang="en-US" sz="1600" dirty="0">
                <a:cs typeface="Courier New" panose="02070309020205020404" pitchFamily="49" charset="0"/>
              </a:rPr>
              <a:t>用</a:t>
            </a:r>
            <a:r>
              <a:rPr lang="en-US" altLang="zh-CN" sz="1600" dirty="0" err="1">
                <a:cs typeface="Courier New" panose="02070309020205020404" pitchFamily="49" charset="0"/>
              </a:rPr>
              <a:t>sizeof</a:t>
            </a:r>
            <a:r>
              <a:rPr lang="en-US" altLang="zh-CN" sz="1600" dirty="0">
                <a:cs typeface="Courier New" panose="02070309020205020404" pitchFamily="49" charset="0"/>
              </a:rPr>
              <a:t>()</a:t>
            </a:r>
            <a:r>
              <a:rPr lang="zh-CN" altLang="en-US" sz="1600" dirty="0">
                <a:cs typeface="Courier New" panose="02070309020205020404" pitchFamily="49" charset="0"/>
              </a:rPr>
              <a:t>传递</a:t>
            </a:r>
            <a:r>
              <a:rPr lang="en-US" altLang="zh-CN" sz="1600" dirty="0">
                <a:cs typeface="Courier New" panose="02070309020205020404" pitchFamily="49" charset="0"/>
              </a:rPr>
              <a:t>;</a:t>
            </a:r>
          </a:p>
          <a:p>
            <a:pPr marL="971550" lvl="1"/>
            <a:r>
              <a:rPr lang="en-US" altLang="zh-CN" sz="1800" dirty="0">
                <a:solidFill>
                  <a:srgbClr val="030DCD"/>
                </a:solidFill>
              </a:rPr>
              <a:t>char c[10];  </a:t>
            </a:r>
            <a:r>
              <a:rPr lang="en-US" altLang="zh-CN" sz="1800" dirty="0" err="1">
                <a:solidFill>
                  <a:srgbClr val="030DCD"/>
                </a:solidFill>
                <a:cs typeface="Courier New" panose="02070309020205020404" pitchFamily="49" charset="0"/>
              </a:rPr>
              <a:t>memset</a:t>
            </a:r>
            <a:r>
              <a:rPr lang="en-US" altLang="zh-CN" sz="1800" dirty="0">
                <a:solidFill>
                  <a:srgbClr val="030DCD"/>
                </a:solidFill>
                <a:cs typeface="Courier New" panose="02070309020205020404" pitchFamily="49" charset="0"/>
              </a:rPr>
              <a:t>(c,0,sizeof(c)); //</a:t>
            </a:r>
            <a:r>
              <a:rPr lang="zh-CN" altLang="en-US" sz="1600" dirty="0">
                <a:cs typeface="Courier New" panose="02070309020205020404" pitchFamily="49" charset="0"/>
              </a:rPr>
              <a:t>将数组</a:t>
            </a:r>
            <a:r>
              <a:rPr lang="en-US" altLang="zh-CN" sz="1600" dirty="0">
                <a:cs typeface="Courier New" panose="02070309020205020404" pitchFamily="49" charset="0"/>
              </a:rPr>
              <a:t>c</a:t>
            </a:r>
            <a:r>
              <a:rPr lang="zh-CN" altLang="en-US" sz="1600" dirty="0">
                <a:cs typeface="Courier New" panose="02070309020205020404" pitchFamily="49" charset="0"/>
              </a:rPr>
              <a:t>的</a:t>
            </a:r>
            <a:r>
              <a:rPr lang="zh-CN" altLang="en-US" sz="1600" dirty="0">
                <a:solidFill>
                  <a:srgbClr val="C00000"/>
                </a:solidFill>
                <a:cs typeface="Courier New" panose="02070309020205020404" pitchFamily="49" charset="0"/>
              </a:rPr>
              <a:t>所有字节</a:t>
            </a:r>
            <a:r>
              <a:rPr lang="zh-CN" altLang="en-US" sz="1600" dirty="0">
                <a:cs typeface="Courier New" panose="02070309020205020404" pitchFamily="49" charset="0"/>
              </a:rPr>
              <a:t>初始化为</a:t>
            </a:r>
            <a:r>
              <a:rPr lang="en-US" altLang="zh-CN" sz="1600" dirty="0">
                <a:cs typeface="Courier New" panose="02070309020205020404" pitchFamily="49" charset="0"/>
              </a:rPr>
              <a:t>0</a:t>
            </a:r>
            <a:r>
              <a:rPr lang="zh-CN" altLang="en-US" sz="1600" dirty="0">
                <a:cs typeface="Courier New" panose="02070309020205020404" pitchFamily="49" charset="0"/>
              </a:rPr>
              <a:t>或</a:t>
            </a:r>
            <a:r>
              <a:rPr lang="en-US" altLang="zh-CN" sz="1600" dirty="0">
                <a:cs typeface="Courier New" panose="02070309020205020404" pitchFamily="49" charset="0"/>
              </a:rPr>
              <a:t>'\0'</a:t>
            </a:r>
            <a:r>
              <a:rPr lang="zh-CN" altLang="en-US" sz="1600" dirty="0">
                <a:cs typeface="Courier New" panose="02070309020205020404" pitchFamily="49" charset="0"/>
              </a:rPr>
              <a:t>；</a:t>
            </a:r>
            <a:endParaRPr lang="en-US" altLang="zh-CN" sz="1600" dirty="0">
              <a:cs typeface="Courier New" panose="02070309020205020404" pitchFamily="49" charset="0"/>
            </a:endParaRPr>
          </a:p>
          <a:p>
            <a:pPr marL="971550" lvl="1"/>
            <a:r>
              <a:rPr lang="en-US" altLang="zh-CN" sz="1800" dirty="0">
                <a:solidFill>
                  <a:srgbClr val="030DCD"/>
                </a:solidFill>
              </a:rPr>
              <a:t>char c[10];  </a:t>
            </a:r>
            <a:r>
              <a:rPr lang="en-US" altLang="zh-CN" sz="1800" dirty="0" err="1">
                <a:solidFill>
                  <a:srgbClr val="030DCD"/>
                </a:solidFill>
                <a:cs typeface="Courier New" panose="02070309020205020404" pitchFamily="49" charset="0"/>
              </a:rPr>
              <a:t>memset</a:t>
            </a:r>
            <a:r>
              <a:rPr lang="en-US" altLang="zh-CN" sz="1800" dirty="0">
                <a:solidFill>
                  <a:srgbClr val="030DCD"/>
                </a:solidFill>
                <a:cs typeface="Courier New" panose="02070309020205020404" pitchFamily="49" charset="0"/>
              </a:rPr>
              <a:t>(c,0x38,sizeof(c));  </a:t>
            </a:r>
            <a:r>
              <a:rPr lang="en-US" altLang="zh-CN" sz="1600" dirty="0">
                <a:cs typeface="Courier New" panose="02070309020205020404" pitchFamily="49" charset="0"/>
              </a:rPr>
              <a:t>//</a:t>
            </a:r>
            <a:r>
              <a:rPr lang="zh-CN" altLang="en-US" sz="1600" dirty="0">
                <a:cs typeface="Courier New" panose="02070309020205020404" pitchFamily="49" charset="0"/>
              </a:rPr>
              <a:t>将数组</a:t>
            </a:r>
            <a:r>
              <a:rPr lang="en-US" altLang="zh-CN" sz="1600" dirty="0">
                <a:cs typeface="Courier New" panose="02070309020205020404" pitchFamily="49" charset="0"/>
              </a:rPr>
              <a:t>c</a:t>
            </a:r>
            <a:r>
              <a:rPr lang="zh-CN" altLang="en-US" sz="1600" dirty="0">
                <a:cs typeface="Courier New" panose="02070309020205020404" pitchFamily="49" charset="0"/>
              </a:rPr>
              <a:t>的</a:t>
            </a:r>
            <a:r>
              <a:rPr lang="zh-CN" altLang="en-US" sz="1600" dirty="0">
                <a:solidFill>
                  <a:srgbClr val="C00000"/>
                </a:solidFill>
                <a:cs typeface="Courier New" panose="02070309020205020404" pitchFamily="49" charset="0"/>
              </a:rPr>
              <a:t>每个字节</a:t>
            </a:r>
            <a:r>
              <a:rPr lang="zh-CN" altLang="en-US" sz="1600" dirty="0">
                <a:cs typeface="Courier New" panose="02070309020205020404" pitchFamily="49" charset="0"/>
              </a:rPr>
              <a:t>初始化为</a:t>
            </a:r>
            <a:r>
              <a:rPr lang="en-US" altLang="zh-CN" sz="1600" dirty="0">
                <a:cs typeface="Courier New" panose="02070309020205020404" pitchFamily="49" charset="0"/>
              </a:rPr>
              <a:t>'8'</a:t>
            </a:r>
            <a:r>
              <a:rPr lang="zh-CN" altLang="en-US" sz="1600" dirty="0">
                <a:cs typeface="Courier New" panose="02070309020205020404" pitchFamily="49" charset="0"/>
              </a:rPr>
              <a:t>；</a:t>
            </a:r>
            <a:endParaRPr lang="en-US" altLang="zh-CN" sz="1600" dirty="0">
              <a:cs typeface="Courier New" panose="02070309020205020404" pitchFamily="49" charset="0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注：</a:t>
            </a:r>
            <a:endParaRPr lang="en-US" altLang="zh-CN" sz="2000" dirty="0"/>
          </a:p>
          <a:p>
            <a:pPr marL="971550" lvl="1"/>
            <a:r>
              <a:rPr lang="en-US" altLang="zh-CN" sz="1800" dirty="0">
                <a:solidFill>
                  <a:srgbClr val="C00000"/>
                </a:solidFill>
              </a:rPr>
              <a:t>int a[10]</a:t>
            </a:r>
            <a:r>
              <a:rPr lang="en-US" altLang="zh-CN" sz="1800" dirty="0"/>
              <a:t>; </a:t>
            </a:r>
            <a:r>
              <a:rPr lang="en-US" altLang="zh-CN" sz="1800" dirty="0" err="1">
                <a:solidFill>
                  <a:srgbClr val="030DCD"/>
                </a:solidFill>
                <a:cs typeface="Courier New" panose="02070309020205020404" pitchFamily="49" charset="0"/>
              </a:rPr>
              <a:t>memset</a:t>
            </a:r>
            <a:r>
              <a:rPr lang="en-US" altLang="zh-CN" sz="1800" dirty="0">
                <a:solidFill>
                  <a:srgbClr val="030DCD"/>
                </a:solidFill>
                <a:cs typeface="Courier New" panose="02070309020205020404" pitchFamily="49" charset="0"/>
              </a:rPr>
              <a:t>(a,10,sizeof(a));  </a:t>
            </a:r>
            <a:r>
              <a:rPr lang="en-US" altLang="zh-CN" sz="1800" dirty="0">
                <a:cs typeface="Courier New" panose="02070309020205020404" pitchFamily="49" charset="0"/>
              </a:rPr>
              <a:t>//</a:t>
            </a:r>
            <a:r>
              <a:rPr lang="zh-CN" altLang="en-US" sz="1800" dirty="0">
                <a:cs typeface="Courier New" panose="02070309020205020404" pitchFamily="49" charset="0"/>
              </a:rPr>
              <a:t>将数组</a:t>
            </a:r>
            <a:r>
              <a:rPr lang="en-US" altLang="zh-CN" sz="1800" dirty="0">
                <a:cs typeface="Courier New" panose="02070309020205020404" pitchFamily="49" charset="0"/>
              </a:rPr>
              <a:t>a</a:t>
            </a:r>
            <a:r>
              <a:rPr lang="zh-CN" altLang="en-US" sz="1800" dirty="0">
                <a:cs typeface="Courier New" panose="02070309020205020404" pitchFamily="49" charset="0"/>
              </a:rPr>
              <a:t>的</a:t>
            </a:r>
            <a:r>
              <a:rPr lang="zh-CN" altLang="en-US" sz="1800" b="1" dirty="0">
                <a:solidFill>
                  <a:srgbClr val="C00000"/>
                </a:solidFill>
                <a:cs typeface="Courier New" panose="02070309020205020404" pitchFamily="49" charset="0"/>
              </a:rPr>
              <a:t>每个字节</a:t>
            </a:r>
            <a:r>
              <a:rPr lang="zh-CN" altLang="en-US" sz="1800" dirty="0">
                <a:cs typeface="Courier New" panose="02070309020205020404" pitchFamily="49" charset="0"/>
              </a:rPr>
              <a:t>均初始化为</a:t>
            </a:r>
            <a:r>
              <a:rPr lang="en-US" altLang="zh-CN" sz="1800" dirty="0">
                <a:cs typeface="Courier New" panose="02070309020205020404" pitchFamily="49" charset="0"/>
              </a:rPr>
              <a:t>10</a:t>
            </a:r>
            <a:r>
              <a:rPr lang="zh-CN" altLang="en-US" sz="1800" dirty="0">
                <a:cs typeface="Courier New" panose="02070309020205020404" pitchFamily="49" charset="0"/>
              </a:rPr>
              <a:t>，即</a:t>
            </a:r>
            <a:r>
              <a:rPr lang="en-US" altLang="zh-CN" sz="1800" dirty="0">
                <a:cs typeface="Courier New" panose="02070309020205020404" pitchFamily="49" charset="0"/>
              </a:rPr>
              <a:t>0x0A</a:t>
            </a:r>
            <a:r>
              <a:rPr lang="zh-CN" altLang="en-US" sz="1800" dirty="0">
                <a:cs typeface="Courier New" panose="02070309020205020404" pitchFamily="49" charset="0"/>
              </a:rPr>
              <a:t>，即</a:t>
            </a:r>
            <a:r>
              <a:rPr lang="en-US" altLang="zh-CN" sz="1800" dirty="0">
                <a:cs typeface="Courier New" panose="02070309020205020404" pitchFamily="49" charset="0"/>
              </a:rPr>
              <a:t>0000 1010</a:t>
            </a:r>
            <a:r>
              <a:rPr lang="zh-CN" altLang="en-US" sz="1800" dirty="0">
                <a:cs typeface="Courier New" panose="02070309020205020404" pitchFamily="49" charset="0"/>
              </a:rPr>
              <a:t>；</a:t>
            </a:r>
            <a:endParaRPr lang="en-US" altLang="zh-CN" sz="1800" dirty="0">
              <a:cs typeface="Courier New" panose="02070309020205020404" pitchFamily="49" charset="0"/>
            </a:endParaRPr>
          </a:p>
          <a:p>
            <a:pPr marL="971550" lvl="1"/>
            <a:r>
              <a:rPr lang="zh-CN" altLang="en-US" sz="1800" dirty="0">
                <a:cs typeface="Courier New" panose="02070309020205020404" pitchFamily="49" charset="0"/>
              </a:rPr>
              <a:t>整型数组</a:t>
            </a:r>
            <a:r>
              <a:rPr lang="en-US" altLang="zh-CN" sz="1800" dirty="0">
                <a:cs typeface="Courier New" panose="02070309020205020404" pitchFamily="49" charset="0"/>
              </a:rPr>
              <a:t>a</a:t>
            </a:r>
            <a:r>
              <a:rPr lang="zh-CN" altLang="en-US" sz="1800" dirty="0">
                <a:cs typeface="Courier New" panose="02070309020205020404" pitchFamily="49" charset="0"/>
              </a:rPr>
              <a:t>的</a:t>
            </a:r>
            <a:r>
              <a:rPr lang="zh-CN" altLang="en-US" sz="1800" b="1" dirty="0">
                <a:solidFill>
                  <a:srgbClr val="006600"/>
                </a:solidFill>
                <a:cs typeface="Courier New" panose="02070309020205020404" pitchFamily="49" charset="0"/>
              </a:rPr>
              <a:t>每个元素</a:t>
            </a:r>
            <a:r>
              <a:rPr lang="en-US" altLang="zh-CN" sz="1800" b="1" dirty="0">
                <a:solidFill>
                  <a:srgbClr val="FF0000"/>
                </a:solidFill>
                <a:cs typeface="Courier New" panose="02070309020205020404" pitchFamily="49" charset="0"/>
              </a:rPr>
              <a:t>a[</a:t>
            </a:r>
            <a:r>
              <a:rPr lang="en-US" altLang="zh-CN" sz="1800" b="1" dirty="0" err="1">
                <a:solidFill>
                  <a:srgbClr val="FF0000"/>
                </a:solidFill>
                <a:cs typeface="Courier New" panose="02070309020205020404" pitchFamily="49" charset="0"/>
              </a:rPr>
              <a:t>i</a:t>
            </a:r>
            <a:r>
              <a:rPr lang="en-US" altLang="zh-CN" sz="1800" b="1" dirty="0">
                <a:solidFill>
                  <a:srgbClr val="FF0000"/>
                </a:solidFill>
                <a:cs typeface="Courier New" panose="02070309020205020404" pitchFamily="49" charset="0"/>
              </a:rPr>
              <a:t>]</a:t>
            </a:r>
            <a:r>
              <a:rPr lang="zh-CN" altLang="en-US" sz="1800" b="1" dirty="0">
                <a:solidFill>
                  <a:srgbClr val="006600"/>
                </a:solidFill>
                <a:cs typeface="Courier New" panose="02070309020205020404" pitchFamily="49" charset="0"/>
              </a:rPr>
              <a:t>的值是</a:t>
            </a:r>
            <a:r>
              <a:rPr lang="en-US" altLang="zh-CN" sz="1800" b="1" dirty="0">
                <a:solidFill>
                  <a:srgbClr val="030DCD"/>
                </a:solidFill>
                <a:cs typeface="Courier New" panose="02070309020205020404" pitchFamily="49" charset="0"/>
              </a:rPr>
              <a:t>0x0a0a0a0a</a:t>
            </a:r>
            <a:r>
              <a:rPr lang="zh-CN" altLang="en-US" sz="1800" dirty="0">
                <a:cs typeface="Courier New" panose="02070309020205020404" pitchFamily="49" charset="0"/>
              </a:rPr>
              <a:t>，</a:t>
            </a:r>
            <a:r>
              <a:rPr lang="en-US" altLang="zh-CN" sz="1800" dirty="0">
                <a:cs typeface="Courier New" panose="02070309020205020404" pitchFamily="49" charset="0"/>
              </a:rPr>
              <a:t>a[</a:t>
            </a:r>
            <a:r>
              <a:rPr lang="en-US" altLang="zh-CN" sz="1800" dirty="0" err="1">
                <a:cs typeface="Courier New" panose="02070309020205020404" pitchFamily="49" charset="0"/>
              </a:rPr>
              <a:t>i</a:t>
            </a:r>
            <a:r>
              <a:rPr lang="en-US" altLang="zh-CN" sz="1800" dirty="0">
                <a:cs typeface="Courier New" panose="02070309020205020404" pitchFamily="49" charset="0"/>
              </a:rPr>
              <a:t>]</a:t>
            </a:r>
            <a:r>
              <a:rPr lang="zh-CN" altLang="en-US" sz="1800" dirty="0">
                <a:cs typeface="Courier New" panose="02070309020205020404" pitchFamily="49" charset="0"/>
              </a:rPr>
              <a:t>的值</a:t>
            </a:r>
            <a:r>
              <a:rPr lang="zh-CN" altLang="en-US" sz="1800" dirty="0" smtClean="0">
                <a:cs typeface="Courier New" panose="02070309020205020404" pitchFamily="49" charset="0"/>
              </a:rPr>
              <a:t>不是</a:t>
            </a:r>
            <a:r>
              <a:rPr lang="en-US" altLang="zh-CN" sz="1800" dirty="0" smtClean="0">
                <a:solidFill>
                  <a:srgbClr val="030DCD"/>
                </a:solidFill>
                <a:cs typeface="Courier New" panose="02070309020205020404" pitchFamily="49" charset="0"/>
              </a:rPr>
              <a:t>0xa</a:t>
            </a:r>
            <a:r>
              <a:rPr lang="zh-CN" altLang="en-US" sz="1800" dirty="0" smtClean="0">
                <a:cs typeface="Courier New" panose="02070309020205020404" pitchFamily="49" charset="0"/>
              </a:rPr>
              <a:t>；</a:t>
            </a:r>
            <a:endParaRPr lang="en-US" altLang="zh-CN" sz="1800" dirty="0">
              <a:cs typeface="Courier New" panose="02070309020205020404" pitchFamily="49" charset="0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3275623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5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546822" y="1091045"/>
            <a:ext cx="7772400" cy="5146243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"/>
              </a:rPr>
              <a:t>引用字符数组的</a:t>
            </a:r>
            <a:r>
              <a:rPr lang="zh-CN" altLang="en-US" sz="2000" dirty="0">
                <a:solidFill>
                  <a:srgbClr val="C00000"/>
                </a:solidFill>
                <a:latin typeface=""/>
              </a:rPr>
              <a:t>一个元素</a:t>
            </a:r>
            <a:r>
              <a:rPr lang="zh-CN" altLang="en-US" sz="2000" dirty="0">
                <a:latin typeface=""/>
              </a:rPr>
              <a:t>，得到一个</a:t>
            </a:r>
            <a:r>
              <a:rPr lang="zh-CN" altLang="en-US" sz="2000" dirty="0">
                <a:solidFill>
                  <a:srgbClr val="FF3300"/>
                </a:solidFill>
                <a:latin typeface=""/>
              </a:rPr>
              <a:t>字符</a:t>
            </a:r>
            <a:r>
              <a:rPr lang="zh-CN" altLang="en-US" sz="2000" dirty="0">
                <a:latin typeface=""/>
              </a:rPr>
              <a:t>。</a:t>
            </a:r>
          </a:p>
          <a:p>
            <a:pPr marL="342900" indent="-342900">
              <a:lnSpc>
                <a:spcPct val="8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"/>
              </a:rPr>
              <a:t>例如</a:t>
            </a:r>
            <a:r>
              <a:rPr lang="zh-CN" altLang="en-US" sz="2000" dirty="0" smtClean="0">
                <a:latin typeface=""/>
              </a:rPr>
              <a:t>：逐个元素输出</a:t>
            </a:r>
            <a:r>
              <a:rPr lang="zh-CN" altLang="en-US" sz="2000" dirty="0">
                <a:latin typeface=""/>
              </a:rPr>
              <a:t>一个字符</a:t>
            </a:r>
            <a:r>
              <a:rPr lang="zh-CN" altLang="en-US" sz="2000" dirty="0" smtClean="0">
                <a:latin typeface=""/>
              </a:rPr>
              <a:t>数组  </a:t>
            </a:r>
            <a:r>
              <a:rPr lang="en-US" altLang="zh-CN" sz="2000" dirty="0" smtClean="0">
                <a:latin typeface=""/>
              </a:rPr>
              <a:t>//</a:t>
            </a:r>
            <a:r>
              <a:rPr lang="zh-CN" altLang="en-US" sz="2000" dirty="0" smtClean="0">
                <a:solidFill>
                  <a:srgbClr val="7030A0"/>
                </a:solidFill>
                <a:latin typeface=""/>
              </a:rPr>
              <a:t>得到的是一</a:t>
            </a:r>
            <a:r>
              <a:rPr lang="zh-CN" altLang="en-US" sz="2000" dirty="0">
                <a:solidFill>
                  <a:srgbClr val="7030A0"/>
                </a:solidFill>
                <a:latin typeface=""/>
              </a:rPr>
              <a:t>个字符串</a:t>
            </a:r>
            <a:r>
              <a:rPr lang="zh-CN" altLang="en-US" sz="2000" dirty="0">
                <a:latin typeface=""/>
              </a:rPr>
              <a:t>。</a:t>
            </a:r>
          </a:p>
          <a:p>
            <a:pPr lvl="1" indent="0">
              <a:lnSpc>
                <a:spcPct val="100000"/>
              </a:lnSpc>
              <a:spcBef>
                <a:spcPts val="600"/>
              </a:spcBef>
              <a:buNone/>
            </a:pPr>
            <a:endParaRPr lang="en-US" altLang="zh-CN" sz="1600" dirty="0" smtClean="0"/>
          </a:p>
          <a:p>
            <a:pPr lvl="1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600" dirty="0" smtClean="0"/>
              <a:t>main</a:t>
            </a:r>
            <a:r>
              <a:rPr lang="en-US" altLang="zh-CN" sz="1600" dirty="0"/>
              <a:t>()</a:t>
            </a:r>
          </a:p>
          <a:p>
            <a:pPr lvl="1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600" dirty="0"/>
              <a:t>{</a:t>
            </a:r>
          </a:p>
          <a:p>
            <a:pPr lvl="1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600" dirty="0"/>
              <a:t>      char b[10]={'I',' ','</a:t>
            </a:r>
            <a:r>
              <a:rPr lang="en-US" altLang="zh-CN" sz="1600" dirty="0" err="1"/>
              <a:t>a','m</a:t>
            </a:r>
            <a:r>
              <a:rPr lang="en-US" altLang="zh-CN" sz="1600" dirty="0"/>
              <a:t>',' ','a',' ','</a:t>
            </a:r>
            <a:r>
              <a:rPr lang="en-US" altLang="zh-CN" sz="1600" dirty="0" err="1"/>
              <a:t>b','o','y</a:t>
            </a:r>
            <a:r>
              <a:rPr lang="en-US" altLang="zh-CN" sz="1600" dirty="0"/>
              <a:t>'};    //10</a:t>
            </a:r>
            <a:r>
              <a:rPr lang="zh-CN" altLang="en-US" sz="1600" dirty="0"/>
              <a:t>个</a:t>
            </a:r>
            <a:r>
              <a:rPr lang="zh-CN" altLang="en-US" sz="1600" dirty="0" smtClean="0"/>
              <a:t>字符</a:t>
            </a:r>
            <a:endParaRPr lang="en-US" altLang="zh-CN" sz="1600" dirty="0" smtClean="0"/>
          </a:p>
          <a:p>
            <a:pPr lvl="1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600" dirty="0"/>
              <a:t>      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 </a:t>
            </a:r>
            <a:r>
              <a:rPr lang="en-US" altLang="zh-CN" sz="1600" dirty="0" err="1"/>
              <a:t>i</a:t>
            </a:r>
            <a:r>
              <a:rPr lang="en-US" altLang="zh-CN" sz="1600" dirty="0"/>
              <a:t>;</a:t>
            </a:r>
          </a:p>
          <a:p>
            <a:pPr lvl="1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600" dirty="0"/>
              <a:t>      for(</a:t>
            </a:r>
            <a:r>
              <a:rPr lang="en-US" altLang="zh-CN" sz="1600" dirty="0" err="1"/>
              <a:t>i</a:t>
            </a:r>
            <a:r>
              <a:rPr lang="en-US" altLang="zh-CN" sz="1600" dirty="0"/>
              <a:t>=0;i&lt;10;i++)</a:t>
            </a:r>
          </a:p>
          <a:p>
            <a:pPr lvl="1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600" dirty="0"/>
              <a:t> </a:t>
            </a:r>
            <a:r>
              <a:rPr lang="en-US" altLang="zh-CN" sz="1600" b="1" dirty="0">
                <a:solidFill>
                  <a:srgbClr val="030DCD"/>
                </a:solidFill>
              </a:rPr>
              <a:t>           </a:t>
            </a:r>
            <a:r>
              <a:rPr lang="en-US" altLang="zh-CN" sz="1600" b="1" dirty="0" err="1">
                <a:solidFill>
                  <a:srgbClr val="030DCD"/>
                </a:solidFill>
              </a:rPr>
              <a:t>printf</a:t>
            </a:r>
            <a:r>
              <a:rPr lang="en-US" altLang="zh-CN" sz="1600" b="1" dirty="0" smtClean="0">
                <a:solidFill>
                  <a:srgbClr val="030DCD"/>
                </a:solidFill>
              </a:rPr>
              <a:t>(“</a:t>
            </a:r>
            <a:r>
              <a:rPr lang="en-US" altLang="zh-CN" sz="1600" b="1" dirty="0" smtClean="0">
                <a:solidFill>
                  <a:srgbClr val="C00000"/>
                </a:solidFill>
              </a:rPr>
              <a:t>%</a:t>
            </a:r>
            <a:r>
              <a:rPr lang="en-US" altLang="zh-CN" sz="1600" b="1" dirty="0" err="1" smtClean="0">
                <a:solidFill>
                  <a:srgbClr val="C00000"/>
                </a:solidFill>
              </a:rPr>
              <a:t>c</a:t>
            </a:r>
            <a:r>
              <a:rPr lang="en-US" altLang="zh-CN" sz="1600" b="1" dirty="0" err="1" smtClean="0">
                <a:solidFill>
                  <a:srgbClr val="030DCD"/>
                </a:solidFill>
              </a:rPr>
              <a:t>”,</a:t>
            </a:r>
            <a:r>
              <a:rPr lang="en-US" altLang="zh-CN" sz="1600" b="1" dirty="0" err="1">
                <a:solidFill>
                  <a:srgbClr val="030DCD"/>
                </a:solidFill>
              </a:rPr>
              <a:t>c</a:t>
            </a:r>
            <a:r>
              <a:rPr lang="en-US" altLang="zh-CN" sz="1600" b="1" dirty="0">
                <a:solidFill>
                  <a:srgbClr val="030DCD"/>
                </a:solidFill>
              </a:rPr>
              <a:t>[</a:t>
            </a:r>
            <a:r>
              <a:rPr lang="en-US" altLang="zh-CN" sz="1600" b="1" dirty="0" err="1">
                <a:solidFill>
                  <a:srgbClr val="030DCD"/>
                </a:solidFill>
              </a:rPr>
              <a:t>i</a:t>
            </a:r>
            <a:r>
              <a:rPr lang="en-US" altLang="zh-CN" sz="1600" b="1" dirty="0">
                <a:solidFill>
                  <a:srgbClr val="030DCD"/>
                </a:solidFill>
              </a:rPr>
              <a:t>]); </a:t>
            </a:r>
            <a:r>
              <a:rPr lang="en-US" altLang="zh-CN" sz="1600" b="1" dirty="0" smtClean="0">
                <a:solidFill>
                  <a:srgbClr val="030DCD"/>
                </a:solidFill>
              </a:rPr>
              <a:t>   //</a:t>
            </a:r>
            <a:r>
              <a:rPr lang="zh-CN" altLang="en-US" sz="1600" b="1" dirty="0" smtClean="0"/>
              <a:t>使用</a:t>
            </a:r>
            <a:r>
              <a:rPr lang="en-US" altLang="zh-CN" sz="1600" b="1" dirty="0" smtClean="0">
                <a:solidFill>
                  <a:srgbClr val="030DCD"/>
                </a:solidFill>
              </a:rPr>
              <a:t>%c</a:t>
            </a:r>
            <a:r>
              <a:rPr lang="zh-CN" altLang="en-US" sz="1600" b="1" dirty="0" smtClean="0"/>
              <a:t>格式输出单个字符</a:t>
            </a:r>
            <a:endParaRPr lang="en-US" altLang="zh-CN" sz="1600" b="1" dirty="0"/>
          </a:p>
          <a:p>
            <a:pPr lvl="1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600" dirty="0"/>
              <a:t>      </a:t>
            </a:r>
            <a:r>
              <a:rPr lang="en-US" altLang="zh-CN" sz="1600" dirty="0" err="1"/>
              <a:t>printf</a:t>
            </a:r>
            <a:r>
              <a:rPr lang="en-US" altLang="zh-CN" sz="1600" dirty="0"/>
              <a:t>("\n");</a:t>
            </a:r>
          </a:p>
          <a:p>
            <a:pPr lvl="1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600" dirty="0"/>
              <a:t>}</a:t>
            </a:r>
          </a:p>
          <a:p>
            <a:pPr lvl="1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600" dirty="0"/>
              <a:t> </a:t>
            </a:r>
          </a:p>
          <a:p>
            <a:pPr lvl="1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600" dirty="0"/>
              <a:t> </a:t>
            </a:r>
            <a:r>
              <a:rPr lang="zh-CN" altLang="en-US" sz="1600" dirty="0"/>
              <a:t>输出结果： </a:t>
            </a:r>
            <a:r>
              <a:rPr lang="en-US" altLang="zh-CN" sz="1600" dirty="0"/>
              <a:t>I am a boy</a:t>
            </a:r>
          </a:p>
          <a:p>
            <a:pPr marL="342900" indent="-342900">
              <a:lnSpc>
                <a:spcPct val="80000"/>
              </a:lnSpc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402359" y="325704"/>
            <a:ext cx="732847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1A93C8"/>
                </a:solidFill>
                <a:latin typeface="+mj-lt"/>
                <a:ea typeface="+mj-ea"/>
                <a:cs typeface="+mj-cs"/>
              </a:rPr>
              <a:t>字符数组的引用</a:t>
            </a:r>
          </a:p>
        </p:txBody>
      </p:sp>
    </p:spTree>
    <p:extLst>
      <p:ext uri="{BB962C8B-B14F-4D97-AF65-F5344CB8AC3E}">
        <p14:creationId xmlns:p14="http://schemas.microsoft.com/office/powerpoint/2010/main" val="10243356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518535" y="1080655"/>
            <a:ext cx="4115810" cy="5308889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b="1" dirty="0"/>
              <a:t> </a:t>
            </a:r>
            <a:r>
              <a:rPr lang="en-US" altLang="zh-CN" sz="1800" b="1" dirty="0"/>
              <a:t> </a:t>
            </a:r>
            <a:r>
              <a:rPr lang="zh-CN" altLang="en-US" dirty="0"/>
              <a:t>输出一个钻石图形。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 err="1"/>
              <a:t>int</a:t>
            </a:r>
            <a:r>
              <a:rPr lang="en-US" altLang="zh-CN" sz="1600" dirty="0"/>
              <a:t> main()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{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>
                <a:solidFill>
                  <a:srgbClr val="FF3300"/>
                </a:solidFill>
              </a:rPr>
              <a:t>      char diamond[5][5]</a:t>
            </a:r>
            <a:r>
              <a:rPr lang="en-US" altLang="zh-CN" sz="1600" dirty="0"/>
              <a:t>={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            {'  ','  ','</a:t>
            </a:r>
            <a:r>
              <a:rPr lang="en-US" altLang="zh-CN" sz="1600" dirty="0">
                <a:solidFill>
                  <a:srgbClr val="030DCD"/>
                </a:solidFill>
              </a:rPr>
              <a:t>*</a:t>
            </a:r>
            <a:r>
              <a:rPr lang="en-US" altLang="zh-CN" sz="1600" dirty="0"/>
              <a:t>'},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            {'  ','</a:t>
            </a:r>
            <a:r>
              <a:rPr lang="en-US" altLang="zh-CN" sz="1600" dirty="0">
                <a:solidFill>
                  <a:srgbClr val="030DCD"/>
                </a:solidFill>
              </a:rPr>
              <a:t>*</a:t>
            </a:r>
            <a:r>
              <a:rPr lang="en-US" altLang="zh-CN" sz="1600" dirty="0"/>
              <a:t>','  ','</a:t>
            </a:r>
            <a:r>
              <a:rPr lang="en-US" altLang="zh-CN" sz="1600" dirty="0">
                <a:solidFill>
                  <a:srgbClr val="030DCD"/>
                </a:solidFill>
              </a:rPr>
              <a:t>*</a:t>
            </a:r>
            <a:r>
              <a:rPr lang="en-US" altLang="zh-CN" sz="1600" dirty="0"/>
              <a:t>'},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zh-CN" altLang="en-US" sz="1600" dirty="0"/>
              <a:t>            {</a:t>
            </a:r>
            <a:r>
              <a:rPr lang="en-US" altLang="zh-CN" sz="1600" dirty="0"/>
              <a:t>‘</a:t>
            </a:r>
            <a:r>
              <a:rPr lang="zh-CN" altLang="en-US" sz="1600" dirty="0">
                <a:solidFill>
                  <a:srgbClr val="030DCD"/>
                </a:solidFill>
              </a:rPr>
              <a:t>*</a:t>
            </a:r>
            <a:r>
              <a:rPr lang="en-US" altLang="zh-CN" sz="1600" dirty="0"/>
              <a:t>’,</a:t>
            </a:r>
            <a:r>
              <a:rPr lang="zh-CN" altLang="en-US" sz="1600" dirty="0"/>
              <a:t>'  ','  ','  ','</a:t>
            </a:r>
            <a:r>
              <a:rPr lang="zh-CN" altLang="en-US" sz="1600" dirty="0">
                <a:solidFill>
                  <a:srgbClr val="030DCD"/>
                </a:solidFill>
              </a:rPr>
              <a:t>*</a:t>
            </a:r>
            <a:r>
              <a:rPr lang="zh-CN" altLang="en-US" sz="1600" dirty="0"/>
              <a:t>'},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zh-CN" altLang="en-US" sz="1600" dirty="0"/>
              <a:t>            {'  ','</a:t>
            </a:r>
            <a:r>
              <a:rPr lang="zh-CN" altLang="en-US" sz="1600" dirty="0">
                <a:solidFill>
                  <a:srgbClr val="030DCD"/>
                </a:solidFill>
              </a:rPr>
              <a:t>*</a:t>
            </a:r>
            <a:r>
              <a:rPr lang="zh-CN" altLang="en-US" sz="1600" dirty="0"/>
              <a:t>','  ','</a:t>
            </a:r>
            <a:r>
              <a:rPr lang="zh-CN" altLang="en-US" sz="1600" dirty="0">
                <a:solidFill>
                  <a:srgbClr val="030DCD"/>
                </a:solidFill>
              </a:rPr>
              <a:t>*'</a:t>
            </a:r>
            <a:r>
              <a:rPr lang="zh-CN" altLang="en-US" sz="1600" dirty="0"/>
              <a:t>},</a:t>
            </a:r>
            <a:endParaRPr lang="en-US" altLang="zh-CN" sz="1600" dirty="0"/>
          </a:p>
          <a:p>
            <a:pPr marL="285750" lvl="1" indent="0">
              <a:lnSpc>
                <a:spcPct val="100000"/>
              </a:lnSpc>
              <a:buNone/>
            </a:pPr>
            <a:r>
              <a:rPr lang="zh-CN" altLang="en-US" sz="1600" b="1" dirty="0"/>
              <a:t>            </a:t>
            </a:r>
            <a:r>
              <a:rPr lang="zh-CN" altLang="en-US" sz="1600" dirty="0"/>
              <a:t>{'  ','  ','</a:t>
            </a:r>
            <a:r>
              <a:rPr lang="zh-CN" altLang="en-US" sz="1600" dirty="0">
                <a:solidFill>
                  <a:srgbClr val="030DCD"/>
                </a:solidFill>
              </a:rPr>
              <a:t>*</a:t>
            </a:r>
            <a:r>
              <a:rPr lang="zh-CN" altLang="en-US" sz="1600" dirty="0"/>
              <a:t>'} };</a:t>
            </a:r>
          </a:p>
          <a:p>
            <a:pPr marL="514350" lvl="2" indent="0">
              <a:lnSpc>
                <a:spcPct val="100000"/>
              </a:lnSpc>
              <a:buNone/>
            </a:pPr>
            <a:r>
              <a:rPr lang="zh-CN" altLang="en-US" sz="1600" dirty="0"/>
              <a:t>  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 </a:t>
            </a:r>
            <a:r>
              <a:rPr lang="en-US" altLang="zh-CN" sz="1600" dirty="0" err="1"/>
              <a:t>i,j</a:t>
            </a:r>
            <a:r>
              <a:rPr lang="en-US" altLang="zh-CN" sz="1600" dirty="0"/>
              <a:t>;</a:t>
            </a:r>
          </a:p>
          <a:p>
            <a:pPr marL="514350" lvl="2" indent="0">
              <a:lnSpc>
                <a:spcPct val="100000"/>
              </a:lnSpc>
              <a:buNone/>
            </a:pPr>
            <a:r>
              <a:rPr lang="en-US" altLang="zh-CN" sz="1600" dirty="0"/>
              <a:t>  for(</a:t>
            </a:r>
            <a:r>
              <a:rPr lang="en-US" altLang="zh-CN" sz="1600" dirty="0" err="1"/>
              <a:t>i</a:t>
            </a:r>
            <a:r>
              <a:rPr lang="en-US" altLang="zh-CN" sz="1600" dirty="0"/>
              <a:t>=0;i&lt;5;i++)</a:t>
            </a:r>
          </a:p>
          <a:p>
            <a:pPr marL="514350" lvl="2" indent="0">
              <a:lnSpc>
                <a:spcPct val="100000"/>
              </a:lnSpc>
              <a:buNone/>
            </a:pPr>
            <a:r>
              <a:rPr lang="en-US" altLang="zh-CN" sz="1600" dirty="0"/>
              <a:t>  {</a:t>
            </a:r>
          </a:p>
          <a:p>
            <a:pPr marL="514350" lvl="2" indent="0">
              <a:lnSpc>
                <a:spcPct val="100000"/>
              </a:lnSpc>
              <a:buNone/>
            </a:pPr>
            <a:r>
              <a:rPr lang="en-US" altLang="zh-CN" sz="1600" dirty="0"/>
              <a:t>      for(j=0;j&lt;5;j++)</a:t>
            </a:r>
          </a:p>
          <a:p>
            <a:pPr marL="514350" lvl="2" indent="0">
              <a:lnSpc>
                <a:spcPct val="100000"/>
              </a:lnSpc>
              <a:buNone/>
            </a:pPr>
            <a:r>
              <a:rPr lang="en-US" altLang="zh-CN" sz="1600" dirty="0"/>
              <a:t>            </a:t>
            </a:r>
            <a:r>
              <a:rPr lang="en-US" altLang="zh-CN" sz="1600" b="1" dirty="0">
                <a:solidFill>
                  <a:srgbClr val="C00000"/>
                </a:solidFill>
              </a:rPr>
              <a:t> </a:t>
            </a:r>
            <a:r>
              <a:rPr lang="en-US" altLang="zh-CN" sz="1600" b="1" dirty="0" err="1">
                <a:solidFill>
                  <a:srgbClr val="C00000"/>
                </a:solidFill>
              </a:rPr>
              <a:t>printf</a:t>
            </a:r>
            <a:r>
              <a:rPr lang="en-US" altLang="zh-CN" sz="1600" b="1" dirty="0">
                <a:solidFill>
                  <a:srgbClr val="C00000"/>
                </a:solidFill>
              </a:rPr>
              <a:t>("%</a:t>
            </a:r>
            <a:r>
              <a:rPr lang="en-US" altLang="zh-CN" sz="1600" b="1" dirty="0" err="1">
                <a:solidFill>
                  <a:srgbClr val="C00000"/>
                </a:solidFill>
              </a:rPr>
              <a:t>c",diamond</a:t>
            </a:r>
            <a:r>
              <a:rPr lang="en-US" altLang="zh-CN" sz="1600" b="1" dirty="0">
                <a:solidFill>
                  <a:srgbClr val="C00000"/>
                </a:solidFill>
              </a:rPr>
              <a:t>[</a:t>
            </a:r>
            <a:r>
              <a:rPr lang="en-US" altLang="zh-CN" sz="1600" b="1" dirty="0" err="1">
                <a:solidFill>
                  <a:srgbClr val="C00000"/>
                </a:solidFill>
              </a:rPr>
              <a:t>i</a:t>
            </a:r>
            <a:r>
              <a:rPr lang="en-US" altLang="zh-CN" sz="1600" b="1" dirty="0">
                <a:solidFill>
                  <a:srgbClr val="C00000"/>
                </a:solidFill>
              </a:rPr>
              <a:t>][j]);</a:t>
            </a:r>
          </a:p>
          <a:p>
            <a:pPr marL="514350" lvl="2" indent="0">
              <a:lnSpc>
                <a:spcPct val="100000"/>
              </a:lnSpc>
              <a:buNone/>
            </a:pPr>
            <a:r>
              <a:rPr lang="en-US" altLang="zh-CN" sz="1600" dirty="0"/>
              <a:t>       </a:t>
            </a:r>
            <a:r>
              <a:rPr lang="en-US" altLang="zh-CN" sz="1600" dirty="0" err="1"/>
              <a:t>printf</a:t>
            </a:r>
            <a:r>
              <a:rPr lang="en-US" altLang="zh-CN" sz="1600" dirty="0"/>
              <a:t>("\n");</a:t>
            </a:r>
          </a:p>
          <a:p>
            <a:pPr marL="514350" lvl="2" indent="0">
              <a:lnSpc>
                <a:spcPct val="100000"/>
              </a:lnSpc>
              <a:buNone/>
            </a:pPr>
            <a:r>
              <a:rPr lang="en-US" altLang="zh-CN" sz="1600" dirty="0"/>
              <a:t>   }</a:t>
            </a:r>
          </a:p>
          <a:p>
            <a:pPr marL="514350" lvl="2" indent="0">
              <a:lnSpc>
                <a:spcPct val="100000"/>
              </a:lnSpc>
              <a:buNone/>
            </a:pPr>
            <a:r>
              <a:rPr lang="en-US" altLang="zh-CN" sz="1600" dirty="0"/>
              <a:t>  return 0;</a:t>
            </a:r>
          </a:p>
          <a:p>
            <a:pPr marL="514350" lvl="2" indent="0">
              <a:lnSpc>
                <a:spcPct val="100000"/>
              </a:lnSpc>
              <a:buNone/>
            </a:pPr>
            <a:r>
              <a:rPr lang="en-US" altLang="zh-CN" sz="1600" dirty="0"/>
              <a:t>}  </a:t>
            </a:r>
            <a:endParaRPr lang="zh-CN" altLang="en-US" sz="1600" dirty="0"/>
          </a:p>
          <a:p>
            <a:endParaRPr lang="en-US" altLang="zh-CN" b="1" dirty="0">
              <a:latin typeface="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67444" y="282925"/>
            <a:ext cx="449353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7030A0"/>
                </a:solidFill>
                <a:latin typeface="+mj-lt"/>
                <a:ea typeface="+mj-ea"/>
                <a:cs typeface="+mj-cs"/>
              </a:rPr>
              <a:t>课后练习：</a:t>
            </a:r>
            <a:r>
              <a:rPr lang="zh-CN" altLang="en-US" sz="2800" dirty="0">
                <a:solidFill>
                  <a:srgbClr val="1A93C8"/>
                </a:solidFill>
                <a:latin typeface="+mj-lt"/>
                <a:ea typeface="+mj-ea"/>
                <a:cs typeface="+mj-cs"/>
              </a:rPr>
              <a:t>字符数组的引用</a:t>
            </a:r>
          </a:p>
        </p:txBody>
      </p:sp>
      <p:pic>
        <p:nvPicPr>
          <p:cNvPr id="4" name="Picture 4" descr="ex6_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6636" y="2766436"/>
            <a:ext cx="19050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4223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822960" y="1112578"/>
            <a:ext cx="7214616" cy="5000770"/>
          </a:xfrm>
          <a:ln>
            <a:noFill/>
          </a:ln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逐个元素输入</a:t>
            </a:r>
            <a:endParaRPr lang="en-US" altLang="zh-CN" sz="2000" dirty="0"/>
          </a:p>
          <a:p>
            <a:pPr marL="971550" lvl="1"/>
            <a:r>
              <a:rPr lang="en-US" altLang="zh-CN" sz="1800" dirty="0"/>
              <a:t>c</a:t>
            </a:r>
            <a:r>
              <a:rPr lang="en-US" altLang="zh-CN" sz="1800" dirty="0" smtClean="0"/>
              <a:t>har c=</a:t>
            </a:r>
            <a:r>
              <a:rPr lang="en-US" altLang="zh-CN" sz="1800" dirty="0" err="1" smtClean="0">
                <a:solidFill>
                  <a:srgbClr val="7030A0"/>
                </a:solidFill>
              </a:rPr>
              <a:t>getchar</a:t>
            </a:r>
            <a:r>
              <a:rPr lang="en-US" altLang="zh-CN" sz="1800" dirty="0" smtClean="0"/>
              <a:t>();      </a:t>
            </a:r>
            <a:r>
              <a:rPr lang="en-US" altLang="zh-CN" sz="1800" dirty="0"/>
              <a:t>//</a:t>
            </a:r>
            <a:r>
              <a:rPr lang="en-US" altLang="zh-CN" sz="1800" dirty="0" err="1" smtClean="0"/>
              <a:t>stdio.h</a:t>
            </a:r>
            <a:r>
              <a:rPr lang="en-US" altLang="zh-CN" sz="1800" dirty="0" smtClean="0"/>
              <a:t>  (</a:t>
            </a:r>
            <a:r>
              <a:rPr lang="zh-CN" altLang="en-US" sz="1800" dirty="0" smtClean="0"/>
              <a:t>标准</a:t>
            </a:r>
            <a:r>
              <a:rPr lang="en-US" altLang="zh-CN" sz="1800" dirty="0" smtClean="0"/>
              <a:t>C)</a:t>
            </a:r>
            <a:endParaRPr lang="en-US" altLang="zh-CN" sz="1800" dirty="0"/>
          </a:p>
          <a:p>
            <a:pPr marL="971550" lvl="1"/>
            <a:r>
              <a:rPr lang="en-US" altLang="zh-CN" sz="1800" dirty="0"/>
              <a:t>char </a:t>
            </a:r>
            <a:r>
              <a:rPr lang="en-US" altLang="zh-CN" sz="1800" dirty="0">
                <a:solidFill>
                  <a:srgbClr val="7030A0"/>
                </a:solidFill>
              </a:rPr>
              <a:t>c=</a:t>
            </a:r>
            <a:r>
              <a:rPr lang="en-US" altLang="zh-CN" sz="1800" dirty="0" err="1">
                <a:solidFill>
                  <a:srgbClr val="7030A0"/>
                </a:solidFill>
              </a:rPr>
              <a:t>getche</a:t>
            </a:r>
            <a:r>
              <a:rPr lang="en-US" altLang="zh-CN" sz="1800" dirty="0"/>
              <a:t>();        //</a:t>
            </a:r>
            <a:r>
              <a:rPr lang="en-US" altLang="zh-CN" sz="1800" dirty="0" err="1" smtClean="0">
                <a:solidFill>
                  <a:srgbClr val="030DCD"/>
                </a:solidFill>
              </a:rPr>
              <a:t>conio.h</a:t>
            </a:r>
            <a:r>
              <a:rPr lang="en-US" altLang="zh-CN" sz="1800" dirty="0" smtClean="0">
                <a:solidFill>
                  <a:srgbClr val="030DCD"/>
                </a:solidFill>
              </a:rPr>
              <a:t>   (Windows)</a:t>
            </a:r>
            <a:endParaRPr lang="en-US" altLang="zh-CN" sz="1800" dirty="0">
              <a:solidFill>
                <a:srgbClr val="030DCD"/>
              </a:solidFill>
            </a:endParaRPr>
          </a:p>
          <a:p>
            <a:pPr marL="971550" lvl="1"/>
            <a:r>
              <a:rPr lang="en-US" altLang="zh-CN" sz="1800" dirty="0" smtClean="0"/>
              <a:t>char </a:t>
            </a:r>
            <a:r>
              <a:rPr lang="en-US" altLang="zh-CN" sz="1800" dirty="0">
                <a:solidFill>
                  <a:srgbClr val="7030A0"/>
                </a:solidFill>
              </a:rPr>
              <a:t>c=</a:t>
            </a:r>
            <a:r>
              <a:rPr lang="en-US" altLang="zh-CN" sz="1800" dirty="0" err="1" smtClean="0">
                <a:solidFill>
                  <a:srgbClr val="7030A0"/>
                </a:solidFill>
              </a:rPr>
              <a:t>getch</a:t>
            </a:r>
            <a:r>
              <a:rPr lang="en-US" altLang="zh-CN" sz="1800" dirty="0" smtClean="0"/>
              <a:t>();         </a:t>
            </a:r>
            <a:r>
              <a:rPr lang="en-US" altLang="zh-CN" sz="1800" dirty="0"/>
              <a:t>//</a:t>
            </a:r>
            <a:r>
              <a:rPr lang="en-US" altLang="zh-CN" sz="1800" dirty="0" err="1" smtClean="0">
                <a:solidFill>
                  <a:srgbClr val="030DCD"/>
                </a:solidFill>
              </a:rPr>
              <a:t>conio.h</a:t>
            </a:r>
            <a:r>
              <a:rPr lang="en-US" altLang="zh-CN" sz="1800" dirty="0">
                <a:solidFill>
                  <a:srgbClr val="030DCD"/>
                </a:solidFill>
              </a:rPr>
              <a:t>   (Windows)</a:t>
            </a:r>
          </a:p>
          <a:p>
            <a:pPr marL="971550" lvl="1"/>
            <a:r>
              <a:rPr lang="en-US" altLang="zh-CN" sz="1800" dirty="0" err="1" smtClean="0"/>
              <a:t>int</a:t>
            </a:r>
            <a:r>
              <a:rPr lang="en-US" altLang="zh-CN" sz="1800" dirty="0" smtClean="0"/>
              <a:t> </a:t>
            </a:r>
            <a:r>
              <a:rPr lang="en-US" altLang="zh-CN" sz="1800" dirty="0" err="1">
                <a:solidFill>
                  <a:srgbClr val="7030A0"/>
                </a:solidFill>
              </a:rPr>
              <a:t>scanf</a:t>
            </a:r>
            <a:r>
              <a:rPr lang="en-US" altLang="zh-CN" sz="1800" dirty="0"/>
              <a:t>(“</a:t>
            </a:r>
            <a:r>
              <a:rPr lang="en-US" altLang="zh-CN" sz="1800" dirty="0">
                <a:solidFill>
                  <a:srgbClr val="C00000"/>
                </a:solidFill>
              </a:rPr>
              <a:t>%c</a:t>
            </a:r>
            <a:r>
              <a:rPr lang="en-US" altLang="zh-CN" sz="1800" dirty="0"/>
              <a:t>”,..)     //</a:t>
            </a:r>
            <a:r>
              <a:rPr lang="en-US" altLang="zh-CN" sz="1800" dirty="0" err="1"/>
              <a:t>stdio.h</a:t>
            </a: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例：</a:t>
            </a:r>
            <a:endParaRPr lang="en-US" altLang="zh-CN" sz="2000" dirty="0" smtClean="0"/>
          </a:p>
          <a:p>
            <a:pPr lvl="1" indent="0">
              <a:lnSpc>
                <a:spcPct val="120000"/>
              </a:lnSpc>
              <a:buNone/>
            </a:pPr>
            <a:r>
              <a:rPr lang="en-US" altLang="zh-CN" sz="1600" dirty="0" err="1" smtClean="0"/>
              <a:t>int</a:t>
            </a:r>
            <a:r>
              <a:rPr lang="en-US" altLang="zh-CN" sz="1600" dirty="0" smtClean="0"/>
              <a:t>  char c[20];</a:t>
            </a:r>
          </a:p>
          <a:p>
            <a:pPr lvl="1" indent="0">
              <a:lnSpc>
                <a:spcPct val="120000"/>
              </a:lnSpc>
              <a:buNone/>
            </a:pPr>
            <a:r>
              <a:rPr lang="en-US" altLang="zh-CN" sz="1600" dirty="0"/>
              <a:t>//</a:t>
            </a:r>
            <a:r>
              <a:rPr lang="zh-CN" altLang="en-US" sz="1600" dirty="0"/>
              <a:t>键盘输入</a:t>
            </a:r>
            <a:r>
              <a:rPr lang="en-US" altLang="zh-CN" sz="1600" dirty="0"/>
              <a:t>20</a:t>
            </a:r>
            <a:r>
              <a:rPr lang="zh-CN" altLang="en-US" sz="1600" dirty="0"/>
              <a:t>个</a:t>
            </a:r>
            <a:r>
              <a:rPr lang="zh-CN" altLang="en-US" sz="1600" dirty="0" smtClean="0"/>
              <a:t>字符到数组</a:t>
            </a:r>
            <a:r>
              <a:rPr lang="en-US" altLang="zh-CN" sz="1600" dirty="0" smtClean="0"/>
              <a:t>c</a:t>
            </a:r>
            <a:r>
              <a:rPr lang="zh-CN" altLang="en-US" sz="1600" dirty="0" smtClean="0"/>
              <a:t>中</a:t>
            </a:r>
            <a:endParaRPr lang="en-US" altLang="zh-CN" sz="1600" dirty="0"/>
          </a:p>
          <a:p>
            <a:pPr lvl="1" indent="0">
              <a:lnSpc>
                <a:spcPct val="120000"/>
              </a:lnSpc>
              <a:buNone/>
            </a:pPr>
            <a:r>
              <a:rPr lang="en-US" altLang="zh-CN" sz="1600" dirty="0" smtClean="0"/>
              <a:t>for (</a:t>
            </a:r>
            <a:r>
              <a:rPr lang="en-US" altLang="zh-CN" sz="1600" dirty="0" err="1" smtClean="0"/>
              <a:t>int</a:t>
            </a:r>
            <a:r>
              <a:rPr lang="en-US" altLang="zh-CN" sz="1600" dirty="0" smtClean="0"/>
              <a:t> </a:t>
            </a:r>
            <a:r>
              <a:rPr lang="en-US" altLang="zh-CN" sz="1600" dirty="0" err="1" smtClean="0"/>
              <a:t>i</a:t>
            </a:r>
            <a:r>
              <a:rPr lang="en-US" altLang="zh-CN" sz="1600" dirty="0" smtClean="0"/>
              <a:t>=0;i&lt;20;i++)  </a:t>
            </a:r>
          </a:p>
          <a:p>
            <a:pPr lvl="1" indent="0">
              <a:lnSpc>
                <a:spcPct val="120000"/>
              </a:lnSpc>
              <a:buNone/>
            </a:pPr>
            <a:r>
              <a:rPr lang="en-US" altLang="zh-CN" sz="1600" dirty="0" smtClean="0"/>
              <a:t>    c[</a:t>
            </a:r>
            <a:r>
              <a:rPr lang="en-US" altLang="zh-CN" sz="1600" dirty="0" err="1" smtClean="0"/>
              <a:t>i</a:t>
            </a:r>
            <a:r>
              <a:rPr lang="en-US" altLang="zh-CN" sz="1600" dirty="0" smtClean="0"/>
              <a:t>]=</a:t>
            </a:r>
            <a:r>
              <a:rPr lang="en-US" altLang="zh-CN" sz="1600" dirty="0" err="1" smtClean="0"/>
              <a:t>getchar</a:t>
            </a:r>
            <a:r>
              <a:rPr lang="en-US" altLang="zh-CN" sz="1600" dirty="0" smtClean="0"/>
              <a:t>();   </a:t>
            </a:r>
          </a:p>
          <a:p>
            <a:pPr lvl="1" indent="0">
              <a:lnSpc>
                <a:spcPct val="120000"/>
              </a:lnSpc>
              <a:buNone/>
            </a:pPr>
            <a:r>
              <a:rPr lang="en-US" altLang="zh-CN" sz="1600" dirty="0" smtClean="0"/>
              <a:t>  //c[</a:t>
            </a:r>
            <a:r>
              <a:rPr lang="en-US" altLang="zh-CN" sz="1600" dirty="0" err="1" smtClean="0"/>
              <a:t>i</a:t>
            </a:r>
            <a:r>
              <a:rPr lang="en-US" altLang="zh-CN" sz="1600" dirty="0"/>
              <a:t>]=</a:t>
            </a:r>
            <a:r>
              <a:rPr lang="en-US" altLang="zh-CN" sz="1600" dirty="0" err="1" smtClean="0"/>
              <a:t>getche</a:t>
            </a:r>
            <a:r>
              <a:rPr lang="en-US" altLang="zh-CN" sz="1600" dirty="0" smtClean="0"/>
              <a:t>();</a:t>
            </a:r>
          </a:p>
          <a:p>
            <a:pPr lvl="1" indent="0">
              <a:lnSpc>
                <a:spcPct val="120000"/>
              </a:lnSpc>
              <a:buNone/>
            </a:pPr>
            <a:r>
              <a:rPr lang="en-US" altLang="zh-CN" sz="1600" dirty="0"/>
              <a:t> </a:t>
            </a:r>
            <a:r>
              <a:rPr lang="en-US" altLang="zh-CN" sz="1600" dirty="0" smtClean="0"/>
              <a:t> //c[</a:t>
            </a:r>
            <a:r>
              <a:rPr lang="en-US" altLang="zh-CN" sz="1600" dirty="0" err="1" smtClean="0"/>
              <a:t>i</a:t>
            </a:r>
            <a:r>
              <a:rPr lang="en-US" altLang="zh-CN" sz="1600" dirty="0"/>
              <a:t>]=</a:t>
            </a:r>
            <a:r>
              <a:rPr lang="en-US" altLang="zh-CN" sz="1600" dirty="0" err="1" smtClean="0"/>
              <a:t>getch</a:t>
            </a:r>
            <a:r>
              <a:rPr lang="en-US" altLang="zh-CN" sz="1600" dirty="0" smtClean="0"/>
              <a:t>(); </a:t>
            </a:r>
          </a:p>
          <a:p>
            <a:pPr lvl="1" indent="0">
              <a:lnSpc>
                <a:spcPct val="120000"/>
              </a:lnSpc>
              <a:buNone/>
            </a:pPr>
            <a:r>
              <a:rPr lang="en-US" altLang="zh-CN" sz="1600" dirty="0" smtClean="0"/>
              <a:t>  //</a:t>
            </a:r>
            <a:r>
              <a:rPr lang="en-US" altLang="zh-CN" sz="1600" dirty="0" err="1" smtClean="0"/>
              <a:t>scanf</a:t>
            </a:r>
            <a:r>
              <a:rPr lang="en-US" altLang="zh-CN" sz="1600" dirty="0"/>
              <a:t>(“</a:t>
            </a:r>
            <a:r>
              <a:rPr lang="en-US" altLang="zh-CN" sz="1600" dirty="0">
                <a:solidFill>
                  <a:srgbClr val="C00000"/>
                </a:solidFill>
              </a:rPr>
              <a:t>%</a:t>
            </a:r>
            <a:r>
              <a:rPr lang="en-US" altLang="zh-CN" sz="1600" dirty="0" err="1">
                <a:solidFill>
                  <a:srgbClr val="C00000"/>
                </a:solidFill>
              </a:rPr>
              <a:t>c</a:t>
            </a:r>
            <a:r>
              <a:rPr lang="en-US" altLang="zh-CN" sz="1600" dirty="0" err="1" smtClean="0"/>
              <a:t>”,&amp;c</a:t>
            </a:r>
            <a:r>
              <a:rPr lang="en-US" altLang="zh-CN" sz="1600" dirty="0" smtClean="0"/>
              <a:t>[</a:t>
            </a:r>
            <a:r>
              <a:rPr lang="en-US" altLang="zh-CN" sz="1600" dirty="0" err="1" smtClean="0"/>
              <a:t>i</a:t>
            </a:r>
            <a:r>
              <a:rPr lang="en-US" altLang="zh-CN" sz="1600" dirty="0" smtClean="0"/>
              <a:t>]) ;</a:t>
            </a:r>
          </a:p>
          <a:p>
            <a:pPr marL="971550" lvl="1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</p:txBody>
      </p:sp>
      <p:sp>
        <p:nvSpPr>
          <p:cNvPr id="3" name="矩形 2"/>
          <p:cNvSpPr/>
          <p:nvPr/>
        </p:nvSpPr>
        <p:spPr>
          <a:xfrm>
            <a:off x="367443" y="282925"/>
            <a:ext cx="739456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1A93C8"/>
                </a:solidFill>
                <a:latin typeface="+mj-lt"/>
                <a:ea typeface="+mj-ea"/>
                <a:cs typeface="+mj-cs"/>
              </a:rPr>
              <a:t>字符</a:t>
            </a:r>
            <a:r>
              <a:rPr lang="zh-CN" altLang="en-US" sz="2800" dirty="0" smtClean="0">
                <a:solidFill>
                  <a:srgbClr val="1A93C8"/>
                </a:solidFill>
                <a:latin typeface="+mj-lt"/>
                <a:ea typeface="+mj-ea"/>
                <a:cs typeface="+mj-cs"/>
              </a:rPr>
              <a:t>数组</a:t>
            </a:r>
            <a:r>
              <a:rPr lang="zh-CN" altLang="en-US" sz="2800" dirty="0" smtClean="0">
                <a:solidFill>
                  <a:srgbClr val="7030A0"/>
                </a:solidFill>
                <a:latin typeface="+mj-lt"/>
                <a:ea typeface="+mj-ea"/>
                <a:cs typeface="+mj-cs"/>
              </a:rPr>
              <a:t>元素</a:t>
            </a:r>
            <a:r>
              <a:rPr lang="zh-CN" altLang="en-US" sz="2800" dirty="0" smtClean="0">
                <a:solidFill>
                  <a:srgbClr val="1A93C8"/>
                </a:solidFill>
                <a:latin typeface="+mj-lt"/>
                <a:ea typeface="+mj-ea"/>
                <a:cs typeface="+mj-cs"/>
              </a:rPr>
              <a:t>的输入</a:t>
            </a:r>
            <a:r>
              <a:rPr lang="en-US" altLang="zh-CN" sz="2800" dirty="0" smtClean="0">
                <a:solidFill>
                  <a:srgbClr val="1A93C8"/>
                </a:solidFill>
                <a:latin typeface="+mj-lt"/>
                <a:ea typeface="+mj-ea"/>
                <a:cs typeface="+mj-cs"/>
              </a:rPr>
              <a:t>/</a:t>
            </a:r>
            <a:r>
              <a:rPr lang="zh-CN" altLang="en-US" sz="2800" dirty="0" smtClean="0">
                <a:solidFill>
                  <a:srgbClr val="1A93C8"/>
                </a:solidFill>
                <a:latin typeface="+mj-lt"/>
                <a:ea typeface="+mj-ea"/>
                <a:cs typeface="+mj-cs"/>
              </a:rPr>
              <a:t>输出</a:t>
            </a:r>
            <a:endParaRPr lang="zh-CN" altLang="en-US" sz="2800" dirty="0">
              <a:solidFill>
                <a:srgbClr val="1A93C8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951796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67443" y="282925"/>
            <a:ext cx="739456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1A93C8"/>
                </a:solidFill>
                <a:latin typeface="+mj-lt"/>
                <a:ea typeface="+mj-ea"/>
                <a:cs typeface="+mj-cs"/>
              </a:rPr>
              <a:t>字符</a:t>
            </a:r>
            <a:r>
              <a:rPr lang="zh-CN" altLang="en-US" sz="2800" dirty="0" smtClean="0">
                <a:solidFill>
                  <a:srgbClr val="1A93C8"/>
                </a:solidFill>
                <a:latin typeface="+mj-lt"/>
                <a:ea typeface="+mj-ea"/>
                <a:cs typeface="+mj-cs"/>
              </a:rPr>
              <a:t>数组</a:t>
            </a:r>
            <a:r>
              <a:rPr lang="zh-CN" altLang="en-US" sz="2800" dirty="0" smtClean="0">
                <a:solidFill>
                  <a:srgbClr val="7030A0"/>
                </a:solidFill>
                <a:latin typeface="+mj-lt"/>
                <a:ea typeface="+mj-ea"/>
                <a:cs typeface="+mj-cs"/>
              </a:rPr>
              <a:t>元素</a:t>
            </a:r>
            <a:r>
              <a:rPr lang="zh-CN" altLang="en-US" sz="2800" dirty="0" smtClean="0">
                <a:solidFill>
                  <a:srgbClr val="1A93C8"/>
                </a:solidFill>
                <a:latin typeface="+mj-lt"/>
                <a:ea typeface="+mj-ea"/>
                <a:cs typeface="+mj-cs"/>
              </a:rPr>
              <a:t>的输入</a:t>
            </a:r>
            <a:r>
              <a:rPr lang="en-US" altLang="zh-CN" sz="2800" dirty="0" smtClean="0">
                <a:solidFill>
                  <a:srgbClr val="1A93C8"/>
                </a:solidFill>
                <a:latin typeface="+mj-lt"/>
                <a:ea typeface="+mj-ea"/>
                <a:cs typeface="+mj-cs"/>
              </a:rPr>
              <a:t>/</a:t>
            </a:r>
            <a:r>
              <a:rPr lang="zh-CN" altLang="en-US" sz="2800" dirty="0" smtClean="0">
                <a:solidFill>
                  <a:srgbClr val="1A93C8"/>
                </a:solidFill>
                <a:latin typeface="+mj-lt"/>
                <a:ea typeface="+mj-ea"/>
                <a:cs typeface="+mj-cs"/>
              </a:rPr>
              <a:t>输出</a:t>
            </a:r>
            <a:endParaRPr lang="zh-CN" altLang="en-US" sz="2800" dirty="0">
              <a:solidFill>
                <a:srgbClr val="1A93C8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3"/>
          <p:cNvSpPr txBox="1">
            <a:spLocks noRot="1" noChangeArrowheads="1"/>
          </p:cNvSpPr>
          <p:nvPr/>
        </p:nvSpPr>
        <p:spPr bwMode="auto">
          <a:xfrm>
            <a:off x="491491" y="1001851"/>
            <a:ext cx="7875269" cy="50007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逐个元素输出</a:t>
            </a:r>
            <a:endParaRPr lang="en-US" altLang="zh-CN" sz="2000" dirty="0" smtClean="0"/>
          </a:p>
          <a:p>
            <a:pPr marL="971550" lvl="1"/>
            <a:r>
              <a:rPr lang="en-US" altLang="zh-CN" sz="1800" dirty="0" err="1"/>
              <a:t>int</a:t>
            </a:r>
            <a:r>
              <a:rPr lang="en-US" altLang="zh-CN" sz="1800" dirty="0"/>
              <a:t> </a:t>
            </a:r>
            <a:r>
              <a:rPr lang="en-US" altLang="zh-CN" sz="1800" dirty="0" err="1">
                <a:solidFill>
                  <a:srgbClr val="7030A0"/>
                </a:solidFill>
              </a:rPr>
              <a:t>putchar</a:t>
            </a:r>
            <a:r>
              <a:rPr lang="en-US" altLang="zh-CN" sz="1800" dirty="0"/>
              <a:t>(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char);     //</a:t>
            </a:r>
            <a:r>
              <a:rPr lang="en-US" altLang="zh-CN" sz="1800" dirty="0" err="1"/>
              <a:t>stdio.h</a:t>
            </a:r>
            <a:endParaRPr lang="en-US" altLang="zh-CN" sz="1800" dirty="0"/>
          </a:p>
          <a:p>
            <a:pPr marL="971550" lvl="1"/>
            <a:r>
              <a:rPr lang="en-US" altLang="zh-CN" sz="1800" dirty="0" err="1"/>
              <a:t>int</a:t>
            </a:r>
            <a:r>
              <a:rPr lang="en-US" altLang="zh-CN" sz="1800" dirty="0"/>
              <a:t> </a:t>
            </a:r>
            <a:r>
              <a:rPr lang="en-US" altLang="zh-CN" sz="1800" dirty="0" err="1">
                <a:solidFill>
                  <a:srgbClr val="7030A0"/>
                </a:solidFill>
              </a:rPr>
              <a:t>printf</a:t>
            </a:r>
            <a:r>
              <a:rPr lang="en-US" altLang="zh-CN" sz="1800" dirty="0"/>
              <a:t>(“</a:t>
            </a:r>
            <a:r>
              <a:rPr lang="en-US" altLang="zh-CN" sz="1800" dirty="0">
                <a:solidFill>
                  <a:srgbClr val="C00000"/>
                </a:solidFill>
              </a:rPr>
              <a:t>%c</a:t>
            </a:r>
            <a:r>
              <a:rPr lang="en-US" altLang="zh-CN" sz="1800" dirty="0"/>
              <a:t>”,…);      //</a:t>
            </a:r>
            <a:r>
              <a:rPr lang="en-US" altLang="zh-CN" sz="1800" dirty="0" err="1"/>
              <a:t>stdio.h</a:t>
            </a: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例：</a:t>
            </a:r>
            <a:endParaRPr lang="en-US" altLang="zh-CN" sz="2000" dirty="0" smtClean="0"/>
          </a:p>
          <a:p>
            <a:pPr lvl="1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1600" dirty="0" err="1" smtClean="0"/>
              <a:t>int</a:t>
            </a:r>
            <a:r>
              <a:rPr lang="en-US" altLang="zh-CN" sz="1600" dirty="0" smtClean="0"/>
              <a:t>  char c[20];</a:t>
            </a:r>
          </a:p>
          <a:p>
            <a:pPr lvl="1" indent="0">
              <a:lnSpc>
                <a:spcPct val="120000"/>
              </a:lnSpc>
              <a:buNone/>
            </a:pPr>
            <a:r>
              <a:rPr lang="en-US" altLang="zh-CN" sz="1600" dirty="0"/>
              <a:t>//</a:t>
            </a:r>
            <a:r>
              <a:rPr lang="zh-CN" altLang="en-US" sz="1600" dirty="0"/>
              <a:t>键盘输入</a:t>
            </a:r>
            <a:r>
              <a:rPr lang="en-US" altLang="zh-CN" sz="1600" dirty="0"/>
              <a:t>20</a:t>
            </a:r>
            <a:r>
              <a:rPr lang="zh-CN" altLang="en-US" sz="1600" dirty="0"/>
              <a:t>个</a:t>
            </a:r>
            <a:r>
              <a:rPr lang="zh-CN" altLang="en-US" sz="1600" dirty="0" smtClean="0"/>
              <a:t>字符</a:t>
            </a:r>
            <a:r>
              <a:rPr lang="zh-CN" altLang="en-US" sz="1600" dirty="0"/>
              <a:t>到数组</a:t>
            </a:r>
            <a:r>
              <a:rPr lang="en-US" altLang="zh-CN" sz="1600" dirty="0"/>
              <a:t>c</a:t>
            </a:r>
            <a:r>
              <a:rPr lang="zh-CN" altLang="en-US" sz="1600" dirty="0" smtClean="0"/>
              <a:t>中</a:t>
            </a:r>
            <a:endParaRPr lang="en-US" altLang="zh-CN" sz="1600" dirty="0"/>
          </a:p>
          <a:p>
            <a:pPr lvl="1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1600" dirty="0" smtClean="0"/>
              <a:t>for (</a:t>
            </a:r>
            <a:r>
              <a:rPr lang="en-US" altLang="zh-CN" sz="1600" dirty="0" err="1" smtClean="0"/>
              <a:t>int</a:t>
            </a:r>
            <a:r>
              <a:rPr lang="en-US" altLang="zh-CN" sz="1600" dirty="0" smtClean="0"/>
              <a:t> </a:t>
            </a:r>
            <a:r>
              <a:rPr lang="en-US" altLang="zh-CN" sz="1600" dirty="0" err="1" smtClean="0"/>
              <a:t>i</a:t>
            </a:r>
            <a:r>
              <a:rPr lang="en-US" altLang="zh-CN" sz="1600" dirty="0" smtClean="0"/>
              <a:t>=0;i&lt;20;i++)</a:t>
            </a:r>
          </a:p>
          <a:p>
            <a:pPr lvl="1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1600" dirty="0" smtClean="0"/>
              <a:t>    </a:t>
            </a:r>
            <a:r>
              <a:rPr lang="en-US" altLang="zh-CN" sz="1600" dirty="0" smtClean="0">
                <a:solidFill>
                  <a:srgbClr val="7030A0"/>
                </a:solidFill>
              </a:rPr>
              <a:t>c[</a:t>
            </a:r>
            <a:r>
              <a:rPr lang="en-US" altLang="zh-CN" sz="1600" dirty="0" err="1" smtClean="0">
                <a:solidFill>
                  <a:srgbClr val="7030A0"/>
                </a:solidFill>
              </a:rPr>
              <a:t>i</a:t>
            </a:r>
            <a:r>
              <a:rPr lang="en-US" altLang="zh-CN" sz="1600" dirty="0" smtClean="0">
                <a:solidFill>
                  <a:srgbClr val="7030A0"/>
                </a:solidFill>
              </a:rPr>
              <a:t>]=</a:t>
            </a:r>
            <a:r>
              <a:rPr lang="en-US" altLang="zh-CN" sz="1600" dirty="0" err="1" smtClean="0">
                <a:solidFill>
                  <a:srgbClr val="7030A0"/>
                </a:solidFill>
              </a:rPr>
              <a:t>getchar</a:t>
            </a:r>
            <a:r>
              <a:rPr lang="en-US" altLang="zh-CN" sz="1600" dirty="0" smtClean="0">
                <a:solidFill>
                  <a:srgbClr val="7030A0"/>
                </a:solidFill>
              </a:rPr>
              <a:t>();   </a:t>
            </a:r>
          </a:p>
          <a:p>
            <a:pPr lvl="1" indent="0">
              <a:lnSpc>
                <a:spcPct val="120000"/>
              </a:lnSpc>
              <a:buNone/>
            </a:pPr>
            <a:r>
              <a:rPr lang="en-US" altLang="zh-CN" sz="1600" dirty="0" smtClean="0"/>
              <a:t>//</a:t>
            </a:r>
            <a:r>
              <a:rPr lang="zh-CN" altLang="en-US" sz="1600" dirty="0" smtClean="0"/>
              <a:t>输出字符数组</a:t>
            </a:r>
            <a:r>
              <a:rPr lang="en-US" altLang="zh-CN" sz="1600" dirty="0" smtClean="0"/>
              <a:t>c</a:t>
            </a:r>
          </a:p>
          <a:p>
            <a:pPr lvl="1" indent="0">
              <a:lnSpc>
                <a:spcPct val="120000"/>
              </a:lnSpc>
              <a:buNone/>
            </a:pPr>
            <a:r>
              <a:rPr lang="en-US" altLang="zh-CN" sz="1600" dirty="0"/>
              <a:t>for (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 </a:t>
            </a:r>
            <a:r>
              <a:rPr lang="en-US" altLang="zh-CN" sz="1600" dirty="0" err="1"/>
              <a:t>i</a:t>
            </a:r>
            <a:r>
              <a:rPr lang="en-US" altLang="zh-CN" sz="1600" dirty="0"/>
              <a:t>=0;i&lt;20;i++)</a:t>
            </a:r>
          </a:p>
          <a:p>
            <a:pPr lvl="1" indent="0">
              <a:lnSpc>
                <a:spcPct val="120000"/>
              </a:lnSpc>
              <a:buNone/>
            </a:pPr>
            <a:r>
              <a:rPr lang="en-US" altLang="zh-CN" sz="1600" dirty="0">
                <a:solidFill>
                  <a:srgbClr val="7030A0"/>
                </a:solidFill>
              </a:rPr>
              <a:t>    </a:t>
            </a:r>
            <a:r>
              <a:rPr lang="en-US" altLang="zh-CN" sz="1600" dirty="0" err="1" smtClean="0">
                <a:solidFill>
                  <a:srgbClr val="7030A0"/>
                </a:solidFill>
              </a:rPr>
              <a:t>putchar</a:t>
            </a:r>
            <a:r>
              <a:rPr lang="en-US" altLang="zh-CN" sz="1600" dirty="0" smtClean="0">
                <a:solidFill>
                  <a:srgbClr val="7030A0"/>
                </a:solidFill>
              </a:rPr>
              <a:t>(c[</a:t>
            </a:r>
            <a:r>
              <a:rPr lang="en-US" altLang="zh-CN" sz="1600" dirty="0" err="1" smtClean="0">
                <a:solidFill>
                  <a:srgbClr val="7030A0"/>
                </a:solidFill>
              </a:rPr>
              <a:t>i</a:t>
            </a:r>
            <a:r>
              <a:rPr lang="en-US" altLang="zh-CN" sz="1600" dirty="0" smtClean="0">
                <a:solidFill>
                  <a:srgbClr val="7030A0"/>
                </a:solidFill>
              </a:rPr>
              <a:t>]);</a:t>
            </a:r>
          </a:p>
          <a:p>
            <a:pPr lvl="1" indent="0">
              <a:lnSpc>
                <a:spcPct val="120000"/>
              </a:lnSpc>
              <a:buNone/>
            </a:pPr>
            <a:r>
              <a:rPr lang="en-US" altLang="zh-CN" sz="1600" dirty="0"/>
              <a:t> </a:t>
            </a:r>
            <a:r>
              <a:rPr lang="en-US" altLang="zh-CN" sz="1600" dirty="0" smtClean="0"/>
              <a:t> //</a:t>
            </a:r>
            <a:r>
              <a:rPr lang="en-US" altLang="zh-CN" sz="1600" dirty="0" err="1" smtClean="0"/>
              <a:t>printf</a:t>
            </a:r>
            <a:r>
              <a:rPr lang="en-US" altLang="zh-CN" sz="1600" dirty="0" smtClean="0"/>
              <a:t>(“%</a:t>
            </a:r>
            <a:r>
              <a:rPr lang="en-US" altLang="zh-CN" sz="1600" dirty="0" err="1" smtClean="0"/>
              <a:t>c”,c</a:t>
            </a:r>
            <a:r>
              <a:rPr lang="en-US" altLang="zh-CN" sz="1600" dirty="0" smtClean="0"/>
              <a:t>[</a:t>
            </a:r>
            <a:r>
              <a:rPr lang="en-US" altLang="zh-CN" sz="1600" dirty="0" err="1" smtClean="0"/>
              <a:t>i</a:t>
            </a:r>
            <a:r>
              <a:rPr lang="en-US" altLang="zh-CN" sz="1600" dirty="0" smtClean="0"/>
              <a:t>]);   </a:t>
            </a:r>
            <a:endParaRPr lang="en-US" altLang="zh-CN" sz="1600" dirty="0"/>
          </a:p>
          <a:p>
            <a:pPr lvl="1" indent="0">
              <a:lnSpc>
                <a:spcPct val="120000"/>
              </a:lnSpc>
              <a:buNone/>
            </a:pPr>
            <a:endParaRPr lang="en-US" altLang="zh-CN" sz="1600" dirty="0"/>
          </a:p>
          <a:p>
            <a:pPr lvl="1" indent="0">
              <a:lnSpc>
                <a:spcPct val="120000"/>
              </a:lnSpc>
              <a:buFont typeface="Wingdings" panose="05000000000000000000" pitchFamily="2" charset="2"/>
              <a:buNone/>
            </a:pPr>
            <a:endParaRPr lang="en-US" altLang="zh-CN" sz="1800" dirty="0" smtClean="0"/>
          </a:p>
          <a:p>
            <a:pPr marL="971550" lvl="1">
              <a:buFont typeface="Wingdings" panose="05000000000000000000" pitchFamily="2" charset="2"/>
              <a:buChar char="l"/>
            </a:pPr>
            <a:endParaRPr lang="en-US" altLang="zh-CN" dirty="0" smtClean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65755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367444" y="1089603"/>
            <a:ext cx="8035892" cy="5219757"/>
          </a:xfrm>
        </p:spPr>
        <p:txBody>
          <a:bodyPr/>
          <a:lstStyle/>
          <a:p>
            <a:pPr marL="342900" indent="-342900" algn="just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2000" b="1" dirty="0" smtClean="0">
                <a:solidFill>
                  <a:srgbClr val="030DCD"/>
                </a:solidFill>
              </a:rPr>
              <a:t>字符串</a:t>
            </a:r>
            <a:r>
              <a:rPr lang="en-US" altLang="zh-CN" sz="2000" b="1" dirty="0"/>
              <a:t>(String)</a:t>
            </a:r>
            <a:endParaRPr lang="en-US" altLang="zh-CN" sz="2000" b="1" dirty="0" smtClean="0">
              <a:solidFill>
                <a:srgbClr val="030DCD"/>
              </a:solidFill>
            </a:endParaRPr>
          </a:p>
          <a:p>
            <a:pPr marL="971550" lvl="1" algn="just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 smtClean="0"/>
              <a:t>由</a:t>
            </a:r>
            <a:r>
              <a:rPr lang="zh-CN" altLang="en-US" sz="1800" dirty="0"/>
              <a:t>数字、字母、下划线等符号组成的一串字符</a:t>
            </a:r>
            <a:r>
              <a:rPr lang="zh-CN" altLang="en-US" sz="1800" dirty="0" smtClean="0"/>
              <a:t>；</a:t>
            </a:r>
            <a:endParaRPr lang="en-US" altLang="zh-CN" sz="1800" dirty="0" smtClean="0"/>
          </a:p>
          <a:p>
            <a:pPr marL="971550" lvl="1" algn="just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 smtClean="0"/>
              <a:t>一个字符串由</a:t>
            </a:r>
            <a:r>
              <a:rPr lang="en-US" altLang="zh-CN" sz="1800" dirty="0">
                <a:solidFill>
                  <a:srgbClr val="C00000"/>
                </a:solidFill>
              </a:rPr>
              <a:t>‘\0’</a:t>
            </a:r>
            <a:r>
              <a:rPr lang="zh-CN" altLang="en-US" sz="1800" dirty="0" smtClean="0"/>
              <a:t>作为其结尾符；</a:t>
            </a:r>
            <a:endParaRPr lang="en-US" altLang="zh-CN" sz="1800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2000" b="1" dirty="0" smtClean="0"/>
              <a:t>字符串例：</a:t>
            </a:r>
            <a:r>
              <a:rPr lang="zh-CN" altLang="en-US" sz="2000" b="1" dirty="0">
                <a:solidFill>
                  <a:srgbClr val="7030A0"/>
                </a:solidFill>
              </a:rPr>
              <a:t>“</a:t>
            </a:r>
            <a:r>
              <a:rPr lang="en-US" altLang="zh-CN" sz="2000" dirty="0">
                <a:solidFill>
                  <a:srgbClr val="7030A0"/>
                </a:solidFill>
              </a:rPr>
              <a:t>I am happy</a:t>
            </a:r>
            <a:r>
              <a:rPr lang="en-US" altLang="zh-CN" sz="2000" b="1" dirty="0">
                <a:solidFill>
                  <a:srgbClr val="7030A0"/>
                </a:solidFill>
              </a:rPr>
              <a:t>”</a:t>
            </a:r>
            <a:r>
              <a:rPr lang="en-US" altLang="zh-CN" sz="2000" b="1" dirty="0"/>
              <a:t>;   //</a:t>
            </a:r>
            <a:r>
              <a:rPr lang="zh-CN" altLang="en-US" sz="2000" b="1" dirty="0">
                <a:solidFill>
                  <a:srgbClr val="030DCD"/>
                </a:solidFill>
              </a:rPr>
              <a:t>字符串用</a:t>
            </a:r>
            <a:r>
              <a:rPr lang="zh-CN" altLang="en-US" sz="2000" b="1" dirty="0">
                <a:solidFill>
                  <a:srgbClr val="006600"/>
                </a:solidFill>
              </a:rPr>
              <a:t>双引号</a:t>
            </a:r>
            <a:endParaRPr lang="en-US" altLang="zh-CN" sz="2000" b="1" dirty="0">
              <a:solidFill>
                <a:srgbClr val="006600"/>
              </a:solidFill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endParaRPr lang="en-US" altLang="zh-CN" sz="2000" b="1" dirty="0" smtClean="0">
              <a:solidFill>
                <a:srgbClr val="030DCD"/>
              </a:solidFill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2000" b="1" dirty="0" smtClean="0">
                <a:solidFill>
                  <a:srgbClr val="030DCD"/>
                </a:solidFill>
              </a:rPr>
              <a:t>字符串</a:t>
            </a:r>
            <a:r>
              <a:rPr lang="zh-CN" altLang="en-US" sz="2000" b="1" dirty="0">
                <a:solidFill>
                  <a:srgbClr val="030DCD"/>
                </a:solidFill>
              </a:rPr>
              <a:t>的存储</a:t>
            </a:r>
            <a:endParaRPr lang="en-US" altLang="zh-CN" sz="2000" b="1" dirty="0">
              <a:solidFill>
                <a:srgbClr val="030DCD"/>
              </a:solidFill>
            </a:endParaRPr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b="1" dirty="0" smtClean="0">
                <a:solidFill>
                  <a:srgbClr val="C00000"/>
                </a:solidFill>
              </a:rPr>
              <a:t>在</a:t>
            </a:r>
            <a:r>
              <a:rPr lang="en-US" altLang="zh-CN" sz="1800" b="1" dirty="0" smtClean="0">
                <a:solidFill>
                  <a:srgbClr val="C00000"/>
                </a:solidFill>
              </a:rPr>
              <a:t>C</a:t>
            </a:r>
            <a:r>
              <a:rPr lang="zh-CN" altLang="en-US" sz="1800" b="1" dirty="0" smtClean="0">
                <a:solidFill>
                  <a:srgbClr val="C00000"/>
                </a:solidFill>
              </a:rPr>
              <a:t>语言</a:t>
            </a:r>
            <a:r>
              <a:rPr lang="zh-CN" altLang="en-US" sz="1800" b="1" dirty="0">
                <a:solidFill>
                  <a:srgbClr val="C00000"/>
                </a:solidFill>
              </a:rPr>
              <a:t>中，一个字符串利用</a:t>
            </a:r>
            <a:r>
              <a:rPr lang="zh-CN" altLang="en-US" sz="1800" b="1" u="sng" dirty="0" smtClean="0">
                <a:solidFill>
                  <a:srgbClr val="0000CC"/>
                </a:solidFill>
              </a:rPr>
              <a:t>字符数组</a:t>
            </a:r>
            <a:r>
              <a:rPr lang="zh-CN" altLang="en-US" sz="1800" b="1" dirty="0" smtClean="0">
                <a:solidFill>
                  <a:srgbClr val="C00000"/>
                </a:solidFill>
              </a:rPr>
              <a:t>的形式存储；</a:t>
            </a:r>
            <a:endParaRPr lang="en-US" altLang="zh-CN" sz="1800" b="1" dirty="0" smtClean="0">
              <a:solidFill>
                <a:srgbClr val="C00000"/>
              </a:solidFill>
            </a:endParaRPr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b="1" dirty="0" smtClean="0">
                <a:solidFill>
                  <a:srgbClr val="C00000"/>
                </a:solidFill>
              </a:rPr>
              <a:t>与字符数组的不同之处在于，</a:t>
            </a:r>
            <a:r>
              <a:rPr lang="zh-CN" altLang="en-US" sz="1800" b="1" i="1" u="sng" dirty="0">
                <a:solidFill>
                  <a:srgbClr val="006600"/>
                </a:solidFill>
              </a:rPr>
              <a:t>需要一个</a:t>
            </a:r>
            <a:r>
              <a:rPr lang="zh-CN" altLang="en-US" sz="1800" b="1" i="1" u="sng" dirty="0">
                <a:solidFill>
                  <a:srgbClr val="C00000"/>
                </a:solidFill>
              </a:rPr>
              <a:t>额外的数组元素</a:t>
            </a:r>
            <a:r>
              <a:rPr lang="zh-CN" altLang="en-US" sz="1800" b="1" i="1" u="sng" dirty="0">
                <a:solidFill>
                  <a:srgbClr val="006600"/>
                </a:solidFill>
              </a:rPr>
              <a:t>存储字符串的</a:t>
            </a:r>
            <a:r>
              <a:rPr lang="zh-CN" altLang="en-US" sz="1800" b="1" i="1" u="sng" dirty="0">
                <a:solidFill>
                  <a:srgbClr val="7030A0"/>
                </a:solidFill>
              </a:rPr>
              <a:t>结尾符</a:t>
            </a:r>
            <a:r>
              <a:rPr lang="en-US" altLang="zh-CN" sz="1800" b="1" i="1" u="sng" dirty="0">
                <a:solidFill>
                  <a:srgbClr val="C00000"/>
                </a:solidFill>
              </a:rPr>
              <a:t>‘\0’</a:t>
            </a:r>
            <a:r>
              <a:rPr lang="zh-CN" altLang="en-US" sz="1800" b="1" i="1" u="sng" dirty="0">
                <a:solidFill>
                  <a:srgbClr val="C00000"/>
                </a:solidFill>
              </a:rPr>
              <a:t>；</a:t>
            </a:r>
            <a:endParaRPr lang="en-US" altLang="zh-CN" sz="1800" b="1" i="1" u="sng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2000" b="1" dirty="0" smtClean="0"/>
              <a:t>例如，存储字符串</a:t>
            </a:r>
            <a:r>
              <a:rPr lang="zh-CN" altLang="en-US" sz="2000" b="1" dirty="0">
                <a:solidFill>
                  <a:srgbClr val="7030A0"/>
                </a:solidFill>
              </a:rPr>
              <a:t>“</a:t>
            </a:r>
            <a:r>
              <a:rPr lang="en-US" altLang="zh-CN" sz="2000" dirty="0">
                <a:solidFill>
                  <a:srgbClr val="7030A0"/>
                </a:solidFill>
              </a:rPr>
              <a:t>I am happy</a:t>
            </a:r>
            <a:r>
              <a:rPr lang="en-US" altLang="zh-CN" sz="2000" b="1" dirty="0" smtClean="0">
                <a:solidFill>
                  <a:srgbClr val="7030A0"/>
                </a:solidFill>
              </a:rPr>
              <a:t>”</a:t>
            </a:r>
            <a:r>
              <a:rPr lang="zh-CN" altLang="en-US" sz="2000" b="1" dirty="0" smtClean="0">
                <a:solidFill>
                  <a:srgbClr val="7030A0"/>
                </a:solidFill>
              </a:rPr>
              <a:t>，</a:t>
            </a:r>
            <a:r>
              <a:rPr lang="zh-CN" altLang="en-US" sz="2000" b="1" dirty="0" smtClean="0"/>
              <a:t>需要占用</a:t>
            </a:r>
            <a:r>
              <a:rPr lang="en-US" altLang="zh-CN" sz="2000" b="1" dirty="0" smtClean="0">
                <a:solidFill>
                  <a:srgbClr val="C00000"/>
                </a:solidFill>
              </a:rPr>
              <a:t>11</a:t>
            </a:r>
            <a:r>
              <a:rPr lang="zh-CN" altLang="en-US" sz="2000" b="1" dirty="0" smtClean="0">
                <a:solidFill>
                  <a:srgbClr val="C00000"/>
                </a:solidFill>
              </a:rPr>
              <a:t>个字节</a:t>
            </a:r>
            <a:r>
              <a:rPr lang="zh-CN" altLang="en-US" sz="2000" b="1" dirty="0" smtClean="0"/>
              <a:t>的内存空间。</a:t>
            </a:r>
            <a:endParaRPr lang="en-US" altLang="zh-CN" sz="2000" b="1" dirty="0" smtClean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endParaRPr lang="en-US" altLang="zh-CN" sz="2000" b="1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endParaRPr lang="en-US" altLang="zh-CN" sz="2000" b="1" dirty="0" smtClean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endParaRPr lang="en-US" altLang="zh-CN" sz="2000" b="1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endParaRPr lang="en-US" altLang="zh-CN" sz="2000" b="1" dirty="0" smtClean="0"/>
          </a:p>
        </p:txBody>
      </p:sp>
      <p:sp>
        <p:nvSpPr>
          <p:cNvPr id="3" name="矩形 2"/>
          <p:cNvSpPr/>
          <p:nvPr/>
        </p:nvSpPr>
        <p:spPr>
          <a:xfrm>
            <a:off x="367443" y="282925"/>
            <a:ext cx="739456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7030A0"/>
                </a:solidFill>
                <a:latin typeface="+mj-lt"/>
                <a:ea typeface="+mj-ea"/>
                <a:cs typeface="+mj-cs"/>
              </a:rPr>
              <a:t>字符串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615" y="4690525"/>
            <a:ext cx="7067550" cy="59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399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367444" y="1089603"/>
            <a:ext cx="8035892" cy="5219757"/>
          </a:xfrm>
        </p:spPr>
        <p:txBody>
          <a:bodyPr/>
          <a:lstStyle/>
          <a:p>
            <a:pPr marL="342900" indent="-342900" algn="just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2000" b="1" dirty="0" smtClean="0">
                <a:solidFill>
                  <a:srgbClr val="030DCD"/>
                </a:solidFill>
              </a:rPr>
              <a:t>一个</a:t>
            </a:r>
            <a:r>
              <a:rPr lang="zh-CN" altLang="en-US" sz="2000" b="1" dirty="0" smtClean="0">
                <a:solidFill>
                  <a:srgbClr val="7030A0"/>
                </a:solidFill>
              </a:rPr>
              <a:t>字符数组</a:t>
            </a:r>
            <a:r>
              <a:rPr lang="zh-CN" altLang="en-US" sz="2000" b="1" dirty="0" smtClean="0">
                <a:solidFill>
                  <a:srgbClr val="030DCD"/>
                </a:solidFill>
              </a:rPr>
              <a:t>，如果其最后一个元素的值是</a:t>
            </a:r>
            <a:r>
              <a:rPr lang="en-US" altLang="zh-CN" sz="2000" dirty="0">
                <a:solidFill>
                  <a:srgbClr val="C00000"/>
                </a:solidFill>
              </a:rPr>
              <a:t>‘\0</a:t>
            </a:r>
            <a:r>
              <a:rPr lang="en-US" altLang="zh-CN" sz="2000" dirty="0" smtClean="0">
                <a:solidFill>
                  <a:srgbClr val="C00000"/>
                </a:solidFill>
              </a:rPr>
              <a:t>’</a:t>
            </a:r>
          </a:p>
          <a:p>
            <a:pPr marL="971550" lvl="1" algn="just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 smtClean="0">
                <a:solidFill>
                  <a:srgbClr val="030DCD"/>
                </a:solidFill>
              </a:rPr>
              <a:t>可以将其理解为最后一个元素是</a:t>
            </a:r>
            <a:r>
              <a:rPr lang="en-US" altLang="zh-CN" sz="1800" dirty="0">
                <a:solidFill>
                  <a:srgbClr val="C00000"/>
                </a:solidFill>
              </a:rPr>
              <a:t>‘\0’</a:t>
            </a:r>
            <a:r>
              <a:rPr lang="zh-CN" altLang="en-US" sz="1800" dirty="0" smtClean="0">
                <a:solidFill>
                  <a:srgbClr val="030DCD"/>
                </a:solidFill>
              </a:rPr>
              <a:t>的字符数组</a:t>
            </a:r>
            <a:endParaRPr lang="en-US" altLang="zh-CN" sz="1800" dirty="0" smtClean="0">
              <a:solidFill>
                <a:srgbClr val="030DCD"/>
              </a:solidFill>
            </a:endParaRPr>
          </a:p>
          <a:p>
            <a:pPr marL="971550" lvl="1" algn="just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 smtClean="0">
                <a:solidFill>
                  <a:srgbClr val="030DCD"/>
                </a:solidFill>
              </a:rPr>
              <a:t>也可以将字符数组整体上理解为一个字符串</a:t>
            </a:r>
            <a:endParaRPr lang="en-US" altLang="zh-CN" sz="1800" dirty="0" smtClean="0">
              <a:solidFill>
                <a:srgbClr val="030DCD"/>
              </a:solidFill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2000" b="1" dirty="0" smtClean="0"/>
              <a:t>例如</a:t>
            </a:r>
            <a:endParaRPr lang="en-US" altLang="zh-CN" sz="2000" b="1" dirty="0" smtClean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800" dirty="0"/>
              <a:t>c</a:t>
            </a:r>
            <a:r>
              <a:rPr lang="en-US" altLang="zh-CN" sz="1800" dirty="0" smtClean="0"/>
              <a:t>har c[11]=</a:t>
            </a:r>
            <a:r>
              <a:rPr lang="zh-CN" altLang="en-US" sz="2000" dirty="0" smtClean="0">
                <a:solidFill>
                  <a:srgbClr val="7030A0"/>
                </a:solidFill>
              </a:rPr>
              <a:t>“</a:t>
            </a:r>
            <a:r>
              <a:rPr lang="en-US" altLang="zh-CN" sz="2000" dirty="0">
                <a:solidFill>
                  <a:srgbClr val="7030A0"/>
                </a:solidFill>
              </a:rPr>
              <a:t>I am happy</a:t>
            </a:r>
            <a:r>
              <a:rPr lang="en-US" altLang="zh-CN" sz="2000" dirty="0" smtClean="0">
                <a:solidFill>
                  <a:srgbClr val="7030A0"/>
                </a:solidFill>
              </a:rPr>
              <a:t>”</a:t>
            </a:r>
            <a:r>
              <a:rPr lang="zh-CN" altLang="en-US" sz="2000" dirty="0" smtClean="0">
                <a:solidFill>
                  <a:srgbClr val="7030A0"/>
                </a:solidFill>
              </a:rPr>
              <a:t>，其存储方式图所示</a:t>
            </a:r>
            <a:endParaRPr lang="en-US" altLang="zh-CN" sz="2000" dirty="0" smtClean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endParaRPr lang="en-US" altLang="zh-CN" sz="2000" b="1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endParaRPr lang="en-US" altLang="zh-CN" sz="2000" b="1" dirty="0" smtClean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2000" b="1" i="1" u="sng" dirty="0" smtClean="0">
                <a:solidFill>
                  <a:srgbClr val="006600"/>
                </a:solidFill>
              </a:rPr>
              <a:t>一个字符串，就是一个由</a:t>
            </a:r>
            <a:r>
              <a:rPr lang="en-US" altLang="zh-CN" sz="2000" b="1" i="1" u="sng" dirty="0" smtClean="0">
                <a:solidFill>
                  <a:srgbClr val="006600"/>
                </a:solidFill>
              </a:rPr>
              <a:t>’/0’</a:t>
            </a:r>
            <a:r>
              <a:rPr lang="zh-CN" altLang="en-US" sz="2000" b="1" i="1" u="sng" dirty="0" smtClean="0">
                <a:solidFill>
                  <a:srgbClr val="006600"/>
                </a:solidFill>
              </a:rPr>
              <a:t>结尾的字符数组</a:t>
            </a:r>
            <a:endParaRPr lang="en-US" altLang="zh-CN" sz="2000" b="1" i="1" u="sng" dirty="0" smtClean="0">
              <a:solidFill>
                <a:srgbClr val="006600"/>
              </a:solidFill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2000" b="1" i="1" u="sng" dirty="0" smtClean="0">
                <a:solidFill>
                  <a:srgbClr val="0070C0"/>
                </a:solidFill>
              </a:rPr>
              <a:t>因此，</a:t>
            </a:r>
            <a:r>
              <a:rPr lang="zh-CN" altLang="en-US" sz="2000" b="1" i="1" u="sng" dirty="0" smtClean="0">
                <a:solidFill>
                  <a:srgbClr val="C00000"/>
                </a:solidFill>
              </a:rPr>
              <a:t>引用数组名</a:t>
            </a:r>
            <a:r>
              <a:rPr lang="zh-CN" altLang="en-US" sz="2000" b="1" i="1" u="sng" dirty="0" smtClean="0">
                <a:solidFill>
                  <a:srgbClr val="0070C0"/>
                </a:solidFill>
              </a:rPr>
              <a:t>，或</a:t>
            </a:r>
            <a:r>
              <a:rPr lang="zh-CN" altLang="en-US" sz="2000" b="1" i="1" u="sng" dirty="0" smtClean="0">
                <a:solidFill>
                  <a:srgbClr val="C00000"/>
                </a:solidFill>
              </a:rPr>
              <a:t>引用指向字符串首字符的指针</a:t>
            </a:r>
            <a:r>
              <a:rPr lang="zh-CN" altLang="en-US" sz="2000" b="1" i="1" u="sng" dirty="0" smtClean="0">
                <a:solidFill>
                  <a:srgbClr val="0070C0"/>
                </a:solidFill>
              </a:rPr>
              <a:t>，就得到一个字符串</a:t>
            </a:r>
            <a:endParaRPr lang="en-US" altLang="zh-CN" sz="2000" b="1" i="1" u="sng" dirty="0" smtClean="0">
              <a:solidFill>
                <a:srgbClr val="0070C0"/>
              </a:solidFill>
            </a:endParaRPr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dirty="0" err="1">
                <a:solidFill>
                  <a:srgbClr val="0070C0"/>
                </a:solidFill>
              </a:rPr>
              <a:t>printf</a:t>
            </a:r>
            <a:r>
              <a:rPr lang="en-US" altLang="zh-CN" dirty="0">
                <a:solidFill>
                  <a:srgbClr val="0070C0"/>
                </a:solidFill>
              </a:rPr>
              <a:t>(“%</a:t>
            </a:r>
            <a:r>
              <a:rPr lang="en-US" altLang="zh-CN" dirty="0" err="1">
                <a:solidFill>
                  <a:srgbClr val="0070C0"/>
                </a:solidFill>
              </a:rPr>
              <a:t>s”,</a:t>
            </a:r>
            <a:r>
              <a:rPr lang="en-US" altLang="zh-CN" dirty="0" err="1" smtClean="0">
                <a:solidFill>
                  <a:srgbClr val="0070C0"/>
                </a:solidFill>
              </a:rPr>
              <a:t>c</a:t>
            </a:r>
            <a:r>
              <a:rPr lang="en-US" altLang="zh-CN" sz="1800" dirty="0" smtClean="0">
                <a:solidFill>
                  <a:srgbClr val="0070C0"/>
                </a:solidFill>
              </a:rPr>
              <a:t>); </a:t>
            </a:r>
            <a:r>
              <a:rPr lang="en-US" altLang="zh-CN" dirty="0" smtClean="0"/>
              <a:t>//</a:t>
            </a:r>
            <a:r>
              <a:rPr lang="zh-CN" altLang="en-US" dirty="0" smtClean="0"/>
              <a:t>输出</a:t>
            </a:r>
            <a:r>
              <a:rPr lang="zh-CN" altLang="en-US" dirty="0">
                <a:solidFill>
                  <a:srgbClr val="7030A0"/>
                </a:solidFill>
              </a:rPr>
              <a:t>“</a:t>
            </a:r>
            <a:r>
              <a:rPr lang="en-US" altLang="zh-CN" dirty="0">
                <a:solidFill>
                  <a:srgbClr val="7030A0"/>
                </a:solidFill>
              </a:rPr>
              <a:t>I am happy</a:t>
            </a:r>
            <a:r>
              <a:rPr lang="en-US" altLang="zh-CN" dirty="0" smtClean="0">
                <a:solidFill>
                  <a:srgbClr val="7030A0"/>
                </a:solidFill>
              </a:rPr>
              <a:t>”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endParaRPr lang="en-US" altLang="zh-CN" sz="2000" b="1" dirty="0" smtClean="0"/>
          </a:p>
        </p:txBody>
      </p:sp>
      <p:sp>
        <p:nvSpPr>
          <p:cNvPr id="3" name="矩形 2"/>
          <p:cNvSpPr/>
          <p:nvPr/>
        </p:nvSpPr>
        <p:spPr>
          <a:xfrm>
            <a:off x="524600" y="282925"/>
            <a:ext cx="739456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1A93C8"/>
                </a:solidFill>
                <a:latin typeface="+mj-lt"/>
                <a:ea typeface="+mj-ea"/>
                <a:cs typeface="+mj-cs"/>
              </a:rPr>
              <a:t>字符串与字符数组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199" y="2921894"/>
            <a:ext cx="7067550" cy="777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548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367444" y="1089603"/>
            <a:ext cx="8035892" cy="5219757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en-US" altLang="zh-CN" sz="1800" dirty="0"/>
              <a:t>char c[11]=</a:t>
            </a:r>
            <a:r>
              <a:rPr lang="zh-CN" altLang="en-US" sz="2000" dirty="0">
                <a:solidFill>
                  <a:srgbClr val="7030A0"/>
                </a:solidFill>
              </a:rPr>
              <a:t>“</a:t>
            </a:r>
            <a:r>
              <a:rPr lang="en-US" altLang="zh-CN" sz="2000" dirty="0">
                <a:solidFill>
                  <a:srgbClr val="7030A0"/>
                </a:solidFill>
              </a:rPr>
              <a:t>I am happy”;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en-US" altLang="zh-CN" sz="2000" b="1" dirty="0">
                <a:solidFill>
                  <a:srgbClr val="0303DF"/>
                </a:solidFill>
              </a:rPr>
              <a:t>char </a:t>
            </a:r>
            <a:r>
              <a:rPr lang="en-US" altLang="zh-CN" sz="2000" b="1" dirty="0" smtClean="0">
                <a:solidFill>
                  <a:srgbClr val="0303DF"/>
                </a:solidFill>
              </a:rPr>
              <a:t>*</a:t>
            </a:r>
            <a:r>
              <a:rPr lang="en-US" altLang="zh-CN" sz="2000" b="1" dirty="0" err="1" smtClean="0">
                <a:solidFill>
                  <a:srgbClr val="0303DF"/>
                </a:solidFill>
              </a:rPr>
              <a:t>str</a:t>
            </a:r>
            <a:r>
              <a:rPr lang="en-US" altLang="zh-CN" sz="2000" b="1" dirty="0" smtClean="0">
                <a:solidFill>
                  <a:srgbClr val="0303DF"/>
                </a:solidFill>
              </a:rPr>
              <a:t>=c;  // </a:t>
            </a:r>
            <a:r>
              <a:rPr lang="zh-CN" altLang="en-US" sz="2000" b="1" dirty="0" smtClean="0">
                <a:solidFill>
                  <a:srgbClr val="0303DF"/>
                </a:solidFill>
              </a:rPr>
              <a:t>或</a:t>
            </a:r>
            <a:r>
              <a:rPr lang="en-US" altLang="zh-CN" sz="2000" b="1" dirty="0">
                <a:solidFill>
                  <a:srgbClr val="0303DF"/>
                </a:solidFill>
              </a:rPr>
              <a:t>char *</a:t>
            </a:r>
            <a:r>
              <a:rPr lang="en-US" altLang="zh-CN" sz="2000" b="1" dirty="0" err="1" smtClean="0">
                <a:solidFill>
                  <a:srgbClr val="0303DF"/>
                </a:solidFill>
              </a:rPr>
              <a:t>str</a:t>
            </a:r>
            <a:r>
              <a:rPr lang="en-US" altLang="zh-CN" sz="2000" b="1" dirty="0" smtClean="0">
                <a:solidFill>
                  <a:srgbClr val="0303DF"/>
                </a:solidFill>
              </a:rPr>
              <a:t>;  </a:t>
            </a:r>
            <a:r>
              <a:rPr lang="en-US" altLang="zh-CN" sz="2000" b="1" dirty="0" err="1" smtClean="0">
                <a:solidFill>
                  <a:srgbClr val="0303DF"/>
                </a:solidFill>
              </a:rPr>
              <a:t>str</a:t>
            </a:r>
            <a:r>
              <a:rPr lang="en-US" altLang="zh-CN" sz="2000" b="1" dirty="0" smtClean="0">
                <a:solidFill>
                  <a:srgbClr val="0303DF"/>
                </a:solidFill>
              </a:rPr>
              <a:t>=c</a:t>
            </a:r>
            <a:r>
              <a:rPr lang="en-US" altLang="zh-CN" sz="2000" b="1" dirty="0">
                <a:solidFill>
                  <a:srgbClr val="0303DF"/>
                </a:solidFill>
              </a:rPr>
              <a:t>; </a:t>
            </a:r>
            <a:endParaRPr lang="en-US" altLang="zh-CN" sz="2000" b="1" dirty="0" smtClean="0">
              <a:solidFill>
                <a:srgbClr val="0303DF"/>
              </a:solidFill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en-US" altLang="zh-CN" sz="2000" dirty="0" err="1">
                <a:solidFill>
                  <a:srgbClr val="0070C0"/>
                </a:solidFill>
              </a:rPr>
              <a:t>printf</a:t>
            </a:r>
            <a:r>
              <a:rPr lang="en-US" altLang="zh-CN" sz="2000" dirty="0">
                <a:solidFill>
                  <a:srgbClr val="0070C0"/>
                </a:solidFill>
              </a:rPr>
              <a:t>(“%</a:t>
            </a:r>
            <a:r>
              <a:rPr lang="en-US" altLang="zh-CN" sz="2000" dirty="0" err="1">
                <a:solidFill>
                  <a:srgbClr val="0070C0"/>
                </a:solidFill>
              </a:rPr>
              <a:t>s</a:t>
            </a:r>
            <a:r>
              <a:rPr lang="en-US" altLang="zh-CN" sz="2000" dirty="0" err="1" smtClean="0">
                <a:solidFill>
                  <a:srgbClr val="0070C0"/>
                </a:solidFill>
              </a:rPr>
              <a:t>”,c</a:t>
            </a:r>
            <a:r>
              <a:rPr lang="en-US" altLang="zh-CN" sz="1800" dirty="0" smtClean="0">
                <a:solidFill>
                  <a:srgbClr val="0070C0"/>
                </a:solidFill>
              </a:rPr>
              <a:t>); </a:t>
            </a:r>
            <a:r>
              <a:rPr lang="en-US" altLang="zh-CN" sz="2000" dirty="0"/>
              <a:t>//</a:t>
            </a:r>
            <a:r>
              <a:rPr lang="zh-CN" altLang="en-US" sz="2000" dirty="0"/>
              <a:t>输出</a:t>
            </a:r>
            <a:r>
              <a:rPr lang="zh-CN" altLang="en-US" sz="2000" dirty="0">
                <a:solidFill>
                  <a:srgbClr val="7030A0"/>
                </a:solidFill>
              </a:rPr>
              <a:t>“</a:t>
            </a:r>
            <a:r>
              <a:rPr lang="en-US" altLang="zh-CN" sz="2000" dirty="0">
                <a:solidFill>
                  <a:srgbClr val="7030A0"/>
                </a:solidFill>
              </a:rPr>
              <a:t>I am happy”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en-US" altLang="zh-CN" sz="2000" b="1" dirty="0" err="1">
                <a:solidFill>
                  <a:srgbClr val="0303DF"/>
                </a:solidFill>
              </a:rPr>
              <a:t>printf</a:t>
            </a:r>
            <a:r>
              <a:rPr lang="en-US" altLang="zh-CN" sz="2000" b="1" dirty="0">
                <a:solidFill>
                  <a:srgbClr val="0303DF"/>
                </a:solidFill>
              </a:rPr>
              <a:t>(“%s</a:t>
            </a:r>
            <a:r>
              <a:rPr lang="en-US" altLang="zh-CN" sz="2000" b="1" dirty="0" smtClean="0">
                <a:solidFill>
                  <a:srgbClr val="0303DF"/>
                </a:solidFill>
              </a:rPr>
              <a:t>”,</a:t>
            </a:r>
            <a:r>
              <a:rPr lang="en-US" altLang="zh-CN" sz="2000" b="1" dirty="0" err="1" smtClean="0">
                <a:solidFill>
                  <a:srgbClr val="0303DF"/>
                </a:solidFill>
              </a:rPr>
              <a:t>str</a:t>
            </a:r>
            <a:r>
              <a:rPr lang="en-US" altLang="zh-CN" sz="1800" b="1" dirty="0" smtClean="0">
                <a:solidFill>
                  <a:srgbClr val="0303DF"/>
                </a:solidFill>
              </a:rPr>
              <a:t>);</a:t>
            </a:r>
            <a:r>
              <a:rPr lang="en-US" altLang="zh-CN" sz="1800" dirty="0" smtClean="0">
                <a:solidFill>
                  <a:srgbClr val="0070C0"/>
                </a:solidFill>
              </a:rPr>
              <a:t> </a:t>
            </a:r>
            <a:r>
              <a:rPr lang="en-US" altLang="zh-CN" sz="2000" dirty="0"/>
              <a:t>//</a:t>
            </a:r>
            <a:r>
              <a:rPr lang="zh-CN" altLang="en-US" sz="2000" dirty="0"/>
              <a:t>输出</a:t>
            </a:r>
            <a:r>
              <a:rPr lang="zh-CN" altLang="en-US" sz="2000" dirty="0">
                <a:solidFill>
                  <a:srgbClr val="7030A0"/>
                </a:solidFill>
              </a:rPr>
              <a:t>“</a:t>
            </a:r>
            <a:r>
              <a:rPr lang="en-US" altLang="zh-CN" sz="2000" dirty="0">
                <a:solidFill>
                  <a:srgbClr val="7030A0"/>
                </a:solidFill>
              </a:rPr>
              <a:t>I am happy”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endParaRPr lang="en-US" altLang="zh-CN" sz="2000" b="1" dirty="0" smtClean="0">
              <a:solidFill>
                <a:srgbClr val="0303DF"/>
              </a:solidFill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2000" b="1" dirty="0" smtClean="0">
                <a:solidFill>
                  <a:srgbClr val="C00000"/>
                </a:solidFill>
              </a:rPr>
              <a:t>注：如果字符串中有转义符，转义符优先</a:t>
            </a:r>
            <a:endParaRPr lang="en-US" altLang="zh-CN" sz="2000" b="1" dirty="0" smtClean="0">
              <a:solidFill>
                <a:srgbClr val="C00000"/>
              </a:solidFill>
            </a:endParaRPr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 smtClean="0">
                <a:solidFill>
                  <a:srgbClr val="080808"/>
                </a:solidFill>
              </a:rPr>
              <a:t>字符串</a:t>
            </a:r>
            <a:r>
              <a:rPr lang="en-US" altLang="zh-CN" sz="1800" dirty="0">
                <a:solidFill>
                  <a:srgbClr val="080808"/>
                </a:solidFill>
              </a:rPr>
              <a:t>"AB\101\007\b\087\ab"</a:t>
            </a:r>
            <a:r>
              <a:rPr lang="zh-CN" altLang="en-US" sz="1800" dirty="0" smtClean="0">
                <a:solidFill>
                  <a:srgbClr val="080808"/>
                </a:solidFill>
              </a:rPr>
              <a:t>的长度是多少？</a:t>
            </a:r>
            <a:endParaRPr lang="en-US" altLang="zh-CN" sz="1800" dirty="0" smtClean="0">
              <a:solidFill>
                <a:srgbClr val="080808"/>
              </a:solidFill>
            </a:endParaRPr>
          </a:p>
          <a:p>
            <a:pPr marL="1314450" lvl="2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solidFill>
                  <a:srgbClr val="080808"/>
                </a:solidFill>
              </a:rPr>
              <a:t>字符：</a:t>
            </a:r>
            <a:r>
              <a:rPr lang="en-US" altLang="zh-CN" sz="1600" dirty="0" smtClean="0">
                <a:solidFill>
                  <a:srgbClr val="080808"/>
                </a:solidFill>
              </a:rPr>
              <a:t>A,B,</a:t>
            </a:r>
            <a:r>
              <a:rPr lang="en-US" altLang="zh-CN" sz="1600" dirty="0">
                <a:solidFill>
                  <a:srgbClr val="080808"/>
                </a:solidFill>
              </a:rPr>
              <a:t> \</a:t>
            </a:r>
            <a:r>
              <a:rPr lang="en-US" altLang="zh-CN" sz="1600" dirty="0" smtClean="0">
                <a:solidFill>
                  <a:srgbClr val="080808"/>
                </a:solidFill>
              </a:rPr>
              <a:t>101</a:t>
            </a:r>
            <a:r>
              <a:rPr lang="en-US" altLang="zh-CN" sz="1600" b="1" dirty="0" smtClean="0">
                <a:solidFill>
                  <a:srgbClr val="080808"/>
                </a:solidFill>
              </a:rPr>
              <a:t>,</a:t>
            </a:r>
            <a:r>
              <a:rPr lang="en-US" altLang="zh-CN" sz="1600" dirty="0">
                <a:solidFill>
                  <a:srgbClr val="080808"/>
                </a:solidFill>
              </a:rPr>
              <a:t> \</a:t>
            </a:r>
            <a:r>
              <a:rPr lang="en-US" altLang="zh-CN" sz="1600" dirty="0" smtClean="0">
                <a:solidFill>
                  <a:srgbClr val="080808"/>
                </a:solidFill>
              </a:rPr>
              <a:t>007,</a:t>
            </a:r>
            <a:r>
              <a:rPr lang="en-US" altLang="zh-CN" sz="1600" dirty="0">
                <a:solidFill>
                  <a:srgbClr val="080808"/>
                </a:solidFill>
              </a:rPr>
              <a:t> \</a:t>
            </a:r>
            <a:r>
              <a:rPr lang="en-US" altLang="zh-CN" sz="1600" dirty="0" smtClean="0">
                <a:solidFill>
                  <a:srgbClr val="080808"/>
                </a:solidFill>
              </a:rPr>
              <a:t>b</a:t>
            </a:r>
            <a:r>
              <a:rPr lang="zh-CN" altLang="en-US" sz="1600" dirty="0" smtClean="0">
                <a:solidFill>
                  <a:srgbClr val="080808"/>
                </a:solidFill>
              </a:rPr>
              <a:t>， 其中</a:t>
            </a:r>
            <a:r>
              <a:rPr lang="en-US" altLang="zh-CN" sz="1600" dirty="0">
                <a:solidFill>
                  <a:srgbClr val="C00000"/>
                </a:solidFill>
              </a:rPr>
              <a:t>\</a:t>
            </a:r>
            <a:r>
              <a:rPr lang="en-US" altLang="zh-CN" sz="1600" dirty="0" smtClean="0">
                <a:solidFill>
                  <a:srgbClr val="C00000"/>
                </a:solidFill>
              </a:rPr>
              <a:t>087</a:t>
            </a:r>
            <a:r>
              <a:rPr lang="zh-CN" altLang="en-US" sz="1600" dirty="0" smtClean="0">
                <a:solidFill>
                  <a:srgbClr val="080808"/>
                </a:solidFill>
              </a:rPr>
              <a:t>不是合法的</a:t>
            </a:r>
            <a:r>
              <a:rPr lang="en-US" altLang="zh-CN" sz="1600" dirty="0" smtClean="0">
                <a:solidFill>
                  <a:srgbClr val="080808"/>
                </a:solidFill>
              </a:rPr>
              <a:t>8</a:t>
            </a:r>
            <a:r>
              <a:rPr lang="zh-CN" altLang="en-US" sz="1600" dirty="0" smtClean="0">
                <a:solidFill>
                  <a:srgbClr val="080808"/>
                </a:solidFill>
              </a:rPr>
              <a:t>进制数，因此</a:t>
            </a:r>
            <a:r>
              <a:rPr lang="en-US" altLang="zh-CN" sz="1600" dirty="0" smtClean="0">
                <a:solidFill>
                  <a:srgbClr val="080808"/>
                </a:solidFill>
              </a:rPr>
              <a:t>\0</a:t>
            </a:r>
            <a:r>
              <a:rPr lang="zh-CN" altLang="en-US" sz="1600" dirty="0" smtClean="0">
                <a:solidFill>
                  <a:srgbClr val="080808"/>
                </a:solidFill>
              </a:rPr>
              <a:t>作为字符串的结束，故长度是</a:t>
            </a:r>
            <a:r>
              <a:rPr lang="en-US" altLang="zh-CN" sz="1600" dirty="0" smtClean="0">
                <a:solidFill>
                  <a:srgbClr val="080808"/>
                </a:solidFill>
              </a:rPr>
              <a:t>5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080808"/>
                </a:solidFill>
              </a:rPr>
              <a:t>字符串</a:t>
            </a:r>
            <a:r>
              <a:rPr lang="en-US" altLang="zh-CN" sz="1800" dirty="0">
                <a:solidFill>
                  <a:srgbClr val="080808"/>
                </a:solidFill>
              </a:rPr>
              <a:t>"</a:t>
            </a:r>
            <a:r>
              <a:rPr lang="en-US" altLang="zh-CN" sz="1800" dirty="0" smtClean="0">
                <a:solidFill>
                  <a:srgbClr val="080808"/>
                </a:solidFill>
              </a:rPr>
              <a:t>AB\101\007\b\078\ab</a:t>
            </a:r>
            <a:r>
              <a:rPr lang="en-US" altLang="zh-CN" sz="1800" dirty="0">
                <a:solidFill>
                  <a:srgbClr val="080808"/>
                </a:solidFill>
              </a:rPr>
              <a:t>"</a:t>
            </a:r>
            <a:r>
              <a:rPr lang="zh-CN" altLang="en-US" sz="1800" dirty="0">
                <a:solidFill>
                  <a:srgbClr val="080808"/>
                </a:solidFill>
              </a:rPr>
              <a:t>的长度是多少？</a:t>
            </a:r>
            <a:endParaRPr lang="en-US" altLang="zh-CN" sz="1800" dirty="0">
              <a:solidFill>
                <a:srgbClr val="080808"/>
              </a:solidFill>
            </a:endParaRPr>
          </a:p>
          <a:p>
            <a:pPr marL="1314450" lvl="2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80808"/>
                </a:solidFill>
              </a:rPr>
              <a:t>字符：</a:t>
            </a:r>
            <a:r>
              <a:rPr lang="en-US" altLang="zh-CN" sz="1600" dirty="0">
                <a:solidFill>
                  <a:srgbClr val="080808"/>
                </a:solidFill>
              </a:rPr>
              <a:t>A,B, \101</a:t>
            </a:r>
            <a:r>
              <a:rPr lang="en-US" altLang="zh-CN" sz="1600" b="1" dirty="0">
                <a:solidFill>
                  <a:srgbClr val="080808"/>
                </a:solidFill>
              </a:rPr>
              <a:t>,</a:t>
            </a:r>
            <a:r>
              <a:rPr lang="en-US" altLang="zh-CN" sz="1600" dirty="0">
                <a:solidFill>
                  <a:srgbClr val="080808"/>
                </a:solidFill>
              </a:rPr>
              <a:t> \007, \</a:t>
            </a:r>
            <a:r>
              <a:rPr lang="en-US" altLang="zh-CN" sz="1600" dirty="0" smtClean="0">
                <a:solidFill>
                  <a:srgbClr val="080808"/>
                </a:solidFill>
              </a:rPr>
              <a:t>b</a:t>
            </a:r>
            <a:r>
              <a:rPr lang="en-US" altLang="zh-CN" sz="1600" dirty="0">
                <a:solidFill>
                  <a:srgbClr val="080808"/>
                </a:solidFill>
              </a:rPr>
              <a:t>,</a:t>
            </a:r>
            <a:r>
              <a:rPr lang="en-US" altLang="zh-CN" sz="1600" dirty="0" smtClean="0">
                <a:solidFill>
                  <a:srgbClr val="C00000"/>
                </a:solidFill>
              </a:rPr>
              <a:t>\07</a:t>
            </a:r>
            <a:r>
              <a:rPr lang="en-US" altLang="zh-CN" sz="1600" dirty="0" smtClean="0">
                <a:solidFill>
                  <a:srgbClr val="080808"/>
                </a:solidFill>
              </a:rPr>
              <a:t>,8,\</a:t>
            </a:r>
            <a:r>
              <a:rPr lang="en-US" altLang="zh-CN" sz="1600" dirty="0" err="1" smtClean="0">
                <a:solidFill>
                  <a:srgbClr val="080808"/>
                </a:solidFill>
              </a:rPr>
              <a:t>a,b</a:t>
            </a:r>
            <a:r>
              <a:rPr lang="zh-CN" altLang="en-US" sz="1600" dirty="0" smtClean="0">
                <a:solidFill>
                  <a:srgbClr val="080808"/>
                </a:solidFill>
              </a:rPr>
              <a:t>，</a:t>
            </a:r>
            <a:r>
              <a:rPr lang="zh-CN" altLang="en-US" sz="1600" dirty="0">
                <a:solidFill>
                  <a:srgbClr val="080808"/>
                </a:solidFill>
              </a:rPr>
              <a:t>故长度</a:t>
            </a:r>
            <a:r>
              <a:rPr lang="zh-CN" altLang="en-US" sz="1600" dirty="0" smtClean="0">
                <a:solidFill>
                  <a:srgbClr val="080808"/>
                </a:solidFill>
              </a:rPr>
              <a:t>是</a:t>
            </a:r>
            <a:r>
              <a:rPr lang="en-US" altLang="zh-CN" sz="1600" dirty="0" smtClean="0">
                <a:solidFill>
                  <a:srgbClr val="080808"/>
                </a:solidFill>
              </a:rPr>
              <a:t>9</a:t>
            </a:r>
          </a:p>
          <a:p>
            <a:pPr marL="1314450" lvl="2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solidFill>
                  <a:srgbClr val="7030A0"/>
                </a:solidFill>
              </a:rPr>
              <a:t>注：有的编译器支持</a:t>
            </a:r>
            <a:r>
              <a:rPr lang="en-US" altLang="zh-CN" sz="1600" dirty="0" smtClean="0">
                <a:solidFill>
                  <a:srgbClr val="7030A0"/>
                </a:solidFill>
              </a:rPr>
              <a:t>\</a:t>
            </a:r>
            <a:r>
              <a:rPr lang="zh-CN" altLang="en-US" sz="1600" dirty="0" smtClean="0">
                <a:solidFill>
                  <a:srgbClr val="7030A0"/>
                </a:solidFill>
              </a:rPr>
              <a:t>后跟两位</a:t>
            </a:r>
            <a:r>
              <a:rPr lang="en-US" altLang="zh-CN" sz="1600" dirty="0" smtClean="0">
                <a:solidFill>
                  <a:srgbClr val="7030A0"/>
                </a:solidFill>
              </a:rPr>
              <a:t>8</a:t>
            </a:r>
            <a:r>
              <a:rPr lang="zh-CN" altLang="en-US" sz="1600" dirty="0" smtClean="0">
                <a:solidFill>
                  <a:srgbClr val="7030A0"/>
                </a:solidFill>
              </a:rPr>
              <a:t>进制数，例如</a:t>
            </a:r>
            <a:r>
              <a:rPr lang="en-US" altLang="zh-CN" sz="1600" dirty="0" smtClean="0">
                <a:solidFill>
                  <a:srgbClr val="7030A0"/>
                </a:solidFill>
              </a:rPr>
              <a:t>\07</a:t>
            </a:r>
            <a:r>
              <a:rPr lang="zh-CN" altLang="en-US" sz="1600" dirty="0" smtClean="0">
                <a:solidFill>
                  <a:srgbClr val="7030A0"/>
                </a:solidFill>
              </a:rPr>
              <a:t>，但不建议使用</a:t>
            </a:r>
            <a:endParaRPr lang="en-US" altLang="zh-CN" sz="1600" dirty="0">
              <a:solidFill>
                <a:srgbClr val="7030A0"/>
              </a:solidFill>
            </a:endParaRPr>
          </a:p>
          <a:p>
            <a:pPr marL="1314450" lvl="2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zh-CN" sz="1800" dirty="0">
              <a:solidFill>
                <a:srgbClr val="080808"/>
              </a:solidFill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endParaRPr lang="en-US" altLang="zh-CN" sz="2000" b="1" dirty="0" smtClean="0">
              <a:solidFill>
                <a:srgbClr val="C00000"/>
              </a:solidFill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endParaRPr lang="en-US" altLang="zh-CN" sz="2000" b="1" dirty="0" smtClean="0">
              <a:solidFill>
                <a:srgbClr val="C00000"/>
              </a:solidFill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endParaRPr lang="en-US" altLang="zh-CN" sz="2000" b="1" dirty="0" smtClean="0">
              <a:solidFill>
                <a:srgbClr val="0303DF"/>
              </a:solidFill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endParaRPr lang="en-US" altLang="zh-CN" sz="2000" b="1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endParaRPr lang="en-US" altLang="zh-CN" sz="2000" b="1" dirty="0" smtClean="0"/>
          </a:p>
        </p:txBody>
      </p:sp>
      <p:sp>
        <p:nvSpPr>
          <p:cNvPr id="3" name="矩形 2"/>
          <p:cNvSpPr/>
          <p:nvPr/>
        </p:nvSpPr>
        <p:spPr>
          <a:xfrm>
            <a:off x="524600" y="282925"/>
            <a:ext cx="739456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800" dirty="0" smtClean="0">
                <a:solidFill>
                  <a:srgbClr val="1A93C8"/>
                </a:solidFill>
                <a:latin typeface="+mj-lt"/>
                <a:ea typeface="+mj-ea"/>
                <a:cs typeface="+mj-cs"/>
              </a:rPr>
              <a:t>通过</a:t>
            </a:r>
            <a:r>
              <a:rPr lang="zh-CN" altLang="en-US" sz="2800" dirty="0" smtClean="0">
                <a:solidFill>
                  <a:srgbClr val="7030A0"/>
                </a:solidFill>
                <a:latin typeface="+mj-lt"/>
                <a:ea typeface="+mj-ea"/>
                <a:cs typeface="+mj-cs"/>
              </a:rPr>
              <a:t>字符指针</a:t>
            </a:r>
            <a:r>
              <a:rPr lang="zh-CN" altLang="en-US" sz="2800" dirty="0" smtClean="0">
                <a:solidFill>
                  <a:srgbClr val="1A93C8"/>
                </a:solidFill>
                <a:latin typeface="+mj-lt"/>
                <a:ea typeface="+mj-ea"/>
                <a:cs typeface="+mj-cs"/>
              </a:rPr>
              <a:t>引用</a:t>
            </a:r>
            <a:r>
              <a:rPr lang="zh-CN" altLang="en-US" sz="2800" dirty="0" smtClean="0">
                <a:solidFill>
                  <a:srgbClr val="0303DF"/>
                </a:solidFill>
                <a:latin typeface="+mj-lt"/>
                <a:ea typeface="+mj-ea"/>
                <a:cs typeface="+mj-cs"/>
              </a:rPr>
              <a:t>字符串</a:t>
            </a:r>
            <a:endParaRPr lang="zh-CN" altLang="en-US" sz="2800" dirty="0">
              <a:solidFill>
                <a:srgbClr val="0303DF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479922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367444" y="1089603"/>
            <a:ext cx="8381701" cy="5352761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solidFill>
                  <a:srgbClr val="0000CC"/>
                </a:solidFill>
              </a:rPr>
              <a:t>机内存储 </a:t>
            </a:r>
            <a:r>
              <a:rPr lang="en-US" altLang="zh-CN" sz="2000" b="1" dirty="0">
                <a:solidFill>
                  <a:srgbClr val="C00000"/>
                </a:solidFill>
              </a:rPr>
              <a:t>'a' </a:t>
            </a:r>
            <a:r>
              <a:rPr lang="zh-CN" altLang="en-US" sz="2000" b="1" dirty="0">
                <a:solidFill>
                  <a:srgbClr val="0000CC"/>
                </a:solidFill>
              </a:rPr>
              <a:t>与 </a:t>
            </a:r>
            <a:r>
              <a:rPr lang="en-US" altLang="zh-CN" sz="2000" b="1" dirty="0">
                <a:solidFill>
                  <a:srgbClr val="C00000"/>
                </a:solidFill>
              </a:rPr>
              <a:t>"a" </a:t>
            </a:r>
            <a:r>
              <a:rPr lang="zh-CN" altLang="en-US" sz="2000" b="1" dirty="0" smtClean="0">
                <a:solidFill>
                  <a:srgbClr val="0000CC"/>
                </a:solidFill>
              </a:rPr>
              <a:t>；</a:t>
            </a:r>
            <a:endParaRPr lang="en-US" altLang="zh-CN" sz="2000" b="1" dirty="0">
              <a:solidFill>
                <a:srgbClr val="0000CC"/>
              </a:solidFill>
            </a:endParaRPr>
          </a:p>
          <a:p>
            <a:pPr marL="971550" lvl="1"/>
            <a:r>
              <a:rPr lang="en-US" altLang="zh-CN" b="1" dirty="0">
                <a:solidFill>
                  <a:srgbClr val="C00000"/>
                </a:solidFill>
              </a:rPr>
              <a:t> </a:t>
            </a:r>
            <a:r>
              <a:rPr lang="en-US" altLang="zh-CN" sz="1800" b="1" dirty="0"/>
              <a:t>‘a’</a:t>
            </a:r>
            <a:r>
              <a:rPr lang="zh-CN" altLang="en-US" sz="1800" b="1" dirty="0"/>
              <a:t>是一个</a:t>
            </a:r>
            <a:r>
              <a:rPr lang="zh-CN" altLang="en-US" sz="1800" b="1" dirty="0">
                <a:solidFill>
                  <a:srgbClr val="006600"/>
                </a:solidFill>
              </a:rPr>
              <a:t>字符，</a:t>
            </a:r>
            <a:r>
              <a:rPr lang="en-US" altLang="zh-CN" sz="1800" b="1" dirty="0"/>
              <a:t> </a:t>
            </a:r>
            <a:r>
              <a:rPr lang="zh-CN" altLang="en-US" sz="1800" b="1" dirty="0"/>
              <a:t>存储</a:t>
            </a:r>
            <a:r>
              <a:rPr lang="en-US" altLang="zh-CN" sz="1800" b="1" dirty="0"/>
              <a:t>‘a’</a:t>
            </a:r>
            <a:r>
              <a:rPr lang="zh-CN" altLang="en-US" sz="1800" b="1" dirty="0"/>
              <a:t>占用</a:t>
            </a:r>
            <a:r>
              <a:rPr lang="zh-CN" altLang="en-US" sz="1800" b="1" dirty="0">
                <a:solidFill>
                  <a:srgbClr val="030DCD"/>
                </a:solidFill>
              </a:rPr>
              <a:t>一个字节</a:t>
            </a:r>
            <a:r>
              <a:rPr lang="zh-CN" altLang="en-US" sz="1800" b="1" dirty="0"/>
              <a:t>的内存空间；</a:t>
            </a:r>
            <a:endParaRPr lang="en-US" altLang="zh-CN" sz="1800" b="1" dirty="0"/>
          </a:p>
          <a:p>
            <a:pPr marL="971550" lvl="1"/>
            <a:r>
              <a:rPr lang="en-US" altLang="zh-CN" sz="1800" b="1" dirty="0"/>
              <a:t>“a”</a:t>
            </a:r>
            <a:r>
              <a:rPr lang="zh-CN" altLang="en-US" sz="1800" b="1" dirty="0"/>
              <a:t>是一个</a:t>
            </a:r>
            <a:r>
              <a:rPr lang="zh-CN" altLang="en-US" sz="1800" b="1" dirty="0">
                <a:solidFill>
                  <a:srgbClr val="006600"/>
                </a:solidFill>
              </a:rPr>
              <a:t>字符串，</a:t>
            </a:r>
            <a:r>
              <a:rPr lang="en-US" altLang="zh-CN" sz="1800" b="1" dirty="0">
                <a:solidFill>
                  <a:srgbClr val="C00000"/>
                </a:solidFill>
              </a:rPr>
              <a:t>"a"</a:t>
            </a:r>
            <a:r>
              <a:rPr lang="zh-CN" altLang="en-US" sz="1800" b="1" dirty="0"/>
              <a:t>相当于两个字符</a:t>
            </a:r>
            <a:r>
              <a:rPr lang="zh-CN" altLang="en-US" sz="1800" b="1" dirty="0">
                <a:solidFill>
                  <a:srgbClr val="C00000"/>
                </a:solidFill>
              </a:rPr>
              <a:t>：</a:t>
            </a:r>
            <a:r>
              <a:rPr lang="en-US" altLang="zh-CN" sz="1800" b="1" dirty="0">
                <a:solidFill>
                  <a:srgbClr val="C00000"/>
                </a:solidFill>
              </a:rPr>
              <a:t>  'a'</a:t>
            </a:r>
            <a:r>
              <a:rPr lang="zh-CN" altLang="en-US" sz="1800" b="1" dirty="0"/>
              <a:t>与</a:t>
            </a:r>
            <a:r>
              <a:rPr lang="en-US" altLang="zh-CN" sz="1800" b="1" dirty="0">
                <a:solidFill>
                  <a:srgbClr val="C00000"/>
                </a:solidFill>
              </a:rPr>
              <a:t>  '\0’ </a:t>
            </a:r>
            <a:r>
              <a:rPr lang="zh-CN" altLang="en-US" sz="1800" b="1" dirty="0">
                <a:solidFill>
                  <a:srgbClr val="C00000"/>
                </a:solidFill>
              </a:rPr>
              <a:t>；</a:t>
            </a:r>
            <a:endParaRPr lang="en-US" altLang="zh-CN" sz="1800" b="1" dirty="0">
              <a:solidFill>
                <a:srgbClr val="C00000"/>
              </a:solidFill>
            </a:endParaRPr>
          </a:p>
          <a:p>
            <a:pPr marL="971550" lvl="1"/>
            <a:r>
              <a:rPr lang="zh-CN" altLang="en-US" sz="1800" b="1" dirty="0"/>
              <a:t>存储</a:t>
            </a:r>
            <a:r>
              <a:rPr lang="en-US" altLang="zh-CN" sz="1800" b="1" dirty="0"/>
              <a:t> “a”</a:t>
            </a:r>
            <a:r>
              <a:rPr lang="zh-CN" altLang="en-US" sz="1800" b="1" dirty="0"/>
              <a:t>需要</a:t>
            </a:r>
            <a:r>
              <a:rPr lang="zh-CN" altLang="en-US" sz="1800" b="1" dirty="0">
                <a:solidFill>
                  <a:srgbClr val="030DCD"/>
                </a:solidFill>
              </a:rPr>
              <a:t>两个字节</a:t>
            </a:r>
            <a:r>
              <a:rPr lang="zh-CN" altLang="en-US" sz="1800" b="1" dirty="0"/>
              <a:t>的内存空间；</a:t>
            </a:r>
            <a:endParaRPr lang="en-US" altLang="zh-CN" sz="1800" b="1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对于‘</a:t>
            </a:r>
            <a:r>
              <a:rPr lang="en-US" altLang="zh-CN" sz="2000" dirty="0"/>
              <a:t>\0</a:t>
            </a:r>
            <a:r>
              <a:rPr lang="zh-CN" altLang="en-US" sz="2000" dirty="0"/>
              <a:t>’的</a:t>
            </a:r>
            <a:r>
              <a:rPr lang="zh-CN" altLang="en-US" sz="2000" dirty="0" smtClean="0"/>
              <a:t>理解</a:t>
            </a:r>
            <a:endParaRPr lang="en-US" altLang="zh-CN" sz="2000" dirty="0" smtClean="0"/>
          </a:p>
          <a:p>
            <a:pPr marL="971550" lvl="1"/>
            <a:r>
              <a:rPr lang="en-US" altLang="zh-CN" sz="1800" dirty="0"/>
              <a:t>‘\0</a:t>
            </a:r>
            <a:r>
              <a:rPr lang="en-US" altLang="zh-CN" sz="1800" dirty="0" smtClean="0"/>
              <a:t>’</a:t>
            </a:r>
            <a:r>
              <a:rPr lang="zh-CN" altLang="en-US" sz="1800" dirty="0" smtClean="0"/>
              <a:t>是</a:t>
            </a:r>
            <a:r>
              <a:rPr lang="zh-CN" altLang="en-US" sz="1800" b="1" dirty="0" smtClean="0">
                <a:solidFill>
                  <a:srgbClr val="030DCD"/>
                </a:solidFill>
              </a:rPr>
              <a:t>数值</a:t>
            </a:r>
            <a:r>
              <a:rPr lang="en-US" altLang="zh-CN" sz="1800" dirty="0" smtClean="0"/>
              <a:t>0</a:t>
            </a:r>
            <a:r>
              <a:rPr lang="zh-CN" altLang="en-US" sz="1800" dirty="0"/>
              <a:t> </a:t>
            </a:r>
            <a:r>
              <a:rPr lang="zh-CN" altLang="en-US" sz="1800" dirty="0" smtClean="0"/>
              <a:t> （</a:t>
            </a:r>
            <a:r>
              <a:rPr lang="en-US" altLang="zh-CN" sz="1800" dirty="0" smtClean="0"/>
              <a:t>NULL</a:t>
            </a:r>
            <a:r>
              <a:rPr lang="zh-CN" altLang="en-US" sz="1800" dirty="0" smtClean="0"/>
              <a:t>）</a:t>
            </a:r>
            <a:endParaRPr lang="en-US" altLang="zh-CN" sz="1800" dirty="0" smtClean="0"/>
          </a:p>
          <a:p>
            <a:pPr marL="1200150" lvl="2"/>
            <a:r>
              <a:rPr lang="zh-CN" altLang="en-US" sz="1600" dirty="0"/>
              <a:t>表达式 </a:t>
            </a:r>
            <a:r>
              <a:rPr lang="en-US" altLang="zh-CN" sz="1600" dirty="0"/>
              <a:t>(</a:t>
            </a:r>
            <a:r>
              <a:rPr lang="en-US" altLang="zh-CN" sz="1600" dirty="0">
                <a:solidFill>
                  <a:srgbClr val="7030A0"/>
                </a:solidFill>
              </a:rPr>
              <a:t>‘\0’= =‘0’</a:t>
            </a:r>
            <a:r>
              <a:rPr lang="en-US" altLang="zh-CN" sz="1600" dirty="0"/>
              <a:t>)</a:t>
            </a:r>
            <a:r>
              <a:rPr lang="zh-CN" altLang="en-US" sz="1600" dirty="0"/>
              <a:t>的值是多少</a:t>
            </a:r>
            <a:r>
              <a:rPr lang="en-US" altLang="zh-CN" sz="1600" dirty="0"/>
              <a:t> </a:t>
            </a:r>
            <a:r>
              <a:rPr lang="zh-CN" altLang="en-US" sz="1600" dirty="0"/>
              <a:t>？</a:t>
            </a:r>
            <a:endParaRPr lang="en-US" altLang="zh-CN" sz="1600" dirty="0"/>
          </a:p>
          <a:p>
            <a:pPr marL="1200150" lvl="2"/>
            <a:r>
              <a:rPr lang="zh-CN" altLang="en-US" sz="1600" dirty="0"/>
              <a:t>表达式 </a:t>
            </a:r>
            <a:r>
              <a:rPr lang="en-US" altLang="zh-CN" sz="1600" dirty="0"/>
              <a:t>(</a:t>
            </a:r>
            <a:r>
              <a:rPr lang="en-US" altLang="zh-CN" sz="1600" dirty="0">
                <a:solidFill>
                  <a:srgbClr val="7030A0"/>
                </a:solidFill>
              </a:rPr>
              <a:t>‘\0’= =0</a:t>
            </a:r>
            <a:r>
              <a:rPr lang="en-US" altLang="zh-CN" sz="1600" dirty="0"/>
              <a:t>)</a:t>
            </a:r>
            <a:r>
              <a:rPr lang="zh-CN" altLang="en-US" sz="1600" dirty="0"/>
              <a:t>的值是多少</a:t>
            </a:r>
            <a:r>
              <a:rPr lang="en-US" altLang="zh-CN" sz="1600" dirty="0"/>
              <a:t> </a:t>
            </a:r>
            <a:r>
              <a:rPr lang="zh-CN" altLang="en-US" sz="1600" dirty="0"/>
              <a:t>？</a:t>
            </a:r>
            <a:endParaRPr lang="en-US" altLang="zh-CN" sz="1600" dirty="0"/>
          </a:p>
          <a:p>
            <a:pPr marL="1200150" lvl="2"/>
            <a:r>
              <a:rPr lang="zh-CN" altLang="en-US" sz="1600" dirty="0"/>
              <a:t>表达式 </a:t>
            </a:r>
            <a:r>
              <a:rPr lang="en-US" altLang="zh-CN" sz="1600" dirty="0"/>
              <a:t>(</a:t>
            </a:r>
            <a:r>
              <a:rPr lang="en-US" altLang="zh-CN" sz="1600" dirty="0">
                <a:solidFill>
                  <a:srgbClr val="7030A0"/>
                </a:solidFill>
              </a:rPr>
              <a:t>‘\0’= =NULL</a:t>
            </a:r>
            <a:r>
              <a:rPr lang="en-US" altLang="zh-CN" sz="1600" dirty="0"/>
              <a:t>)</a:t>
            </a:r>
            <a:r>
              <a:rPr lang="zh-CN" altLang="en-US" sz="1600" dirty="0"/>
              <a:t>的值是多少</a:t>
            </a:r>
            <a:r>
              <a:rPr lang="en-US" altLang="zh-CN" sz="1600" dirty="0"/>
              <a:t> </a:t>
            </a:r>
            <a:r>
              <a:rPr lang="zh-CN" altLang="en-US" sz="1600" dirty="0"/>
              <a:t>？</a:t>
            </a:r>
            <a:endParaRPr lang="en-US" altLang="zh-CN" sz="16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头文件 </a:t>
            </a:r>
            <a:r>
              <a:rPr lang="en-US" altLang="zh-CN" sz="2000" dirty="0" err="1"/>
              <a:t>stdlib.h</a:t>
            </a:r>
            <a:r>
              <a:rPr lang="zh-CN" altLang="en-US" sz="2000" dirty="0"/>
              <a:t>中有宏定义</a:t>
            </a:r>
            <a:endParaRPr lang="en-US" altLang="zh-CN" sz="2000" dirty="0"/>
          </a:p>
          <a:p>
            <a:pPr marL="971550" lvl="1"/>
            <a:r>
              <a:rPr lang="en-US" altLang="zh-CN" sz="1800" b="1" dirty="0">
                <a:solidFill>
                  <a:srgbClr val="C00000"/>
                </a:solidFill>
              </a:rPr>
              <a:t>#define NULL 0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回顾</a:t>
            </a:r>
            <a:r>
              <a:rPr lang="en-US" altLang="zh-CN" sz="2000" dirty="0"/>
              <a:t>ASCII</a:t>
            </a:r>
            <a:r>
              <a:rPr lang="zh-CN" altLang="en-US" sz="2000" dirty="0"/>
              <a:t>码表</a:t>
            </a:r>
            <a:endParaRPr lang="en-US" altLang="zh-CN" sz="2000" dirty="0"/>
          </a:p>
          <a:p>
            <a:pPr marL="971550" lvl="1"/>
            <a:r>
              <a:rPr lang="en-US" altLang="zh-CN" sz="1800" b="1" dirty="0"/>
              <a:t>NULL</a:t>
            </a:r>
            <a:r>
              <a:rPr lang="zh-CN" altLang="en-US" sz="1800" dirty="0"/>
              <a:t>的</a:t>
            </a:r>
            <a:r>
              <a:rPr lang="en-US" altLang="zh-CN" sz="1800" dirty="0"/>
              <a:t>ASCII</a:t>
            </a:r>
            <a:r>
              <a:rPr lang="zh-CN" altLang="en-US" sz="1800" dirty="0"/>
              <a:t>码是</a:t>
            </a:r>
            <a:r>
              <a:rPr lang="en-US" altLang="zh-CN" sz="1800" dirty="0"/>
              <a:t>0</a:t>
            </a:r>
            <a:r>
              <a:rPr lang="zh-CN" altLang="en-US" sz="1800" dirty="0"/>
              <a:t>；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b="1" i="1" dirty="0" smtClean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b="1" i="1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sz="2000" b="1" i="1" dirty="0"/>
          </a:p>
        </p:txBody>
      </p:sp>
      <p:sp>
        <p:nvSpPr>
          <p:cNvPr id="3" name="矩形 2"/>
          <p:cNvSpPr/>
          <p:nvPr/>
        </p:nvSpPr>
        <p:spPr>
          <a:xfrm>
            <a:off x="367443" y="282925"/>
            <a:ext cx="739456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800" dirty="0" smtClean="0">
                <a:solidFill>
                  <a:srgbClr val="1A93C8"/>
                </a:solidFill>
                <a:latin typeface="+mj-lt"/>
                <a:ea typeface="+mj-ea"/>
                <a:cs typeface="+mj-cs"/>
              </a:rPr>
              <a:t>关于字符串的</a:t>
            </a:r>
            <a:r>
              <a:rPr lang="zh-CN" altLang="en-US" sz="2800" dirty="0">
                <a:solidFill>
                  <a:srgbClr val="1A93C8"/>
                </a:solidFill>
                <a:latin typeface="+mj-lt"/>
                <a:ea typeface="+mj-ea"/>
                <a:cs typeface="+mj-cs"/>
              </a:rPr>
              <a:t>结尾符</a:t>
            </a:r>
            <a:r>
              <a:rPr lang="en-US" altLang="zh-CN" sz="2800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'\0’</a:t>
            </a:r>
            <a:endParaRPr lang="zh-CN" altLang="en-US" sz="2800" dirty="0">
              <a:solidFill>
                <a:srgbClr val="C0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" name="对话气泡: 圆角矩形 5">
            <a:extLst>
              <a:ext uri="{FF2B5EF4-FFF2-40B4-BE49-F238E27FC236}">
                <a16:creationId xmlns:a16="http://schemas.microsoft.com/office/drawing/2014/main" id="{E057FBE0-AE63-4E64-B77A-3D01CBFE5BBC}"/>
              </a:ext>
            </a:extLst>
          </p:cNvPr>
          <p:cNvSpPr/>
          <p:nvPr/>
        </p:nvSpPr>
        <p:spPr bwMode="auto">
          <a:xfrm>
            <a:off x="5084489" y="3072921"/>
            <a:ext cx="1233183" cy="318243"/>
          </a:xfrm>
          <a:prstGeom prst="wedgeRoundRectCallout">
            <a:avLst>
              <a:gd name="adj1" fmla="val -97703"/>
              <a:gd name="adj2" fmla="val 62500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altLang="zh-CN" sz="1600" dirty="0" smtClean="0">
                <a:solidFill>
                  <a:srgbClr val="000000"/>
                </a:solidFill>
                <a:ea typeface="宋体" panose="02010600030101010101" pitchFamily="2" charset="-122"/>
              </a:rPr>
              <a:t>false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宋体" panose="02010600030101010101" pitchFamily="2" charset="-122"/>
              </a:rPr>
              <a:t>, or</a:t>
            </a:r>
            <a:r>
              <a:rPr kumimoji="0" lang="en-US" altLang="zh-CN" sz="1600" b="0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ea typeface="宋体" panose="02010600030101010101" pitchFamily="2" charset="-122"/>
              </a:rPr>
              <a:t> 0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ea typeface="宋体" panose="02010600030101010101" pitchFamily="2" charset="-122"/>
            </a:endParaRPr>
          </a:p>
        </p:txBody>
      </p:sp>
      <p:sp>
        <p:nvSpPr>
          <p:cNvPr id="8" name="对话气泡: 圆角矩形 6">
            <a:extLst>
              <a:ext uri="{FF2B5EF4-FFF2-40B4-BE49-F238E27FC236}">
                <a16:creationId xmlns:a16="http://schemas.microsoft.com/office/drawing/2014/main" id="{A67CBC88-7F01-4291-9465-B58AC80D7391}"/>
              </a:ext>
            </a:extLst>
          </p:cNvPr>
          <p:cNvSpPr/>
          <p:nvPr/>
        </p:nvSpPr>
        <p:spPr bwMode="auto">
          <a:xfrm>
            <a:off x="5084489" y="3499884"/>
            <a:ext cx="1233183" cy="313995"/>
          </a:xfrm>
          <a:prstGeom prst="wedgeRoundRectCallout">
            <a:avLst>
              <a:gd name="adj1" fmla="val -92397"/>
              <a:gd name="adj2" fmla="val 20565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000000"/>
                </a:solidFill>
                <a:ea typeface="宋体" panose="02010600030101010101" pitchFamily="2" charset="-122"/>
              </a:rPr>
              <a:t>t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宋体" panose="02010600030101010101" pitchFamily="2" charset="-122"/>
              </a:rPr>
              <a:t>rue, or</a:t>
            </a:r>
            <a:r>
              <a:rPr kumimoji="0" lang="en-US" altLang="zh-CN" sz="1600" b="0" i="0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ea typeface="宋体" panose="02010600030101010101" pitchFamily="2" charset="-122"/>
              </a:rPr>
              <a:t> 1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ea typeface="宋体" panose="02010600030101010101" pitchFamily="2" charset="-122"/>
            </a:endParaRPr>
          </a:p>
        </p:txBody>
      </p:sp>
      <p:sp>
        <p:nvSpPr>
          <p:cNvPr id="9" name="对话气泡: 圆角矩形 7">
            <a:extLst>
              <a:ext uri="{FF2B5EF4-FFF2-40B4-BE49-F238E27FC236}">
                <a16:creationId xmlns:a16="http://schemas.microsoft.com/office/drawing/2014/main" id="{27C3BD8C-1E46-4DE1-87F7-75748767F0EA}"/>
              </a:ext>
            </a:extLst>
          </p:cNvPr>
          <p:cNvSpPr/>
          <p:nvPr/>
        </p:nvSpPr>
        <p:spPr bwMode="auto">
          <a:xfrm>
            <a:off x="5084489" y="3916748"/>
            <a:ext cx="1233183" cy="325772"/>
          </a:xfrm>
          <a:prstGeom prst="wedgeRoundRectCallout">
            <a:avLst>
              <a:gd name="adj1" fmla="val -77982"/>
              <a:gd name="adj2" fmla="val -9826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000000"/>
                </a:solidFill>
                <a:ea typeface="宋体" panose="02010600030101010101" pitchFamily="2" charset="-122"/>
              </a:rPr>
              <a:t>t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宋体" panose="02010600030101010101" pitchFamily="2" charset="-122"/>
              </a:rPr>
              <a:t>rue, or</a:t>
            </a:r>
            <a:r>
              <a:rPr kumimoji="0" lang="en-US" altLang="zh-CN" sz="1600" b="0" i="0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ea typeface="宋体" panose="02010600030101010101" pitchFamily="2" charset="-122"/>
              </a:rPr>
              <a:t> 1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ea typeface="宋体" panose="02010600030101010101" pitchFamily="2" charset="-122"/>
            </a:endParaRP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44FD81EE-19E8-4B35-BF64-EBAD6074FB55}"/>
              </a:ext>
            </a:extLst>
          </p:cNvPr>
          <p:cNvSpPr txBox="1">
            <a:spLocks/>
          </p:cNvSpPr>
          <p:nvPr/>
        </p:nvSpPr>
        <p:spPr bwMode="auto">
          <a:xfrm>
            <a:off x="1159733" y="5810772"/>
            <a:ext cx="8089900" cy="916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89773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402359" y="1091046"/>
            <a:ext cx="8274050" cy="5193002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2000" b="1" dirty="0" smtClean="0">
                <a:solidFill>
                  <a:srgbClr val="000000"/>
                </a:solidFill>
              </a:rPr>
              <a:t>利用</a:t>
            </a:r>
            <a:r>
              <a:rPr lang="zh-CN" altLang="en-US" sz="2000" b="1" dirty="0" smtClean="0">
                <a:solidFill>
                  <a:srgbClr val="C00000"/>
                </a:solidFill>
              </a:rPr>
              <a:t>字符数组的方法</a:t>
            </a:r>
            <a:r>
              <a:rPr lang="zh-CN" altLang="en-US" sz="2000" b="1" dirty="0" smtClean="0">
                <a:solidFill>
                  <a:srgbClr val="000000"/>
                </a:solidFill>
              </a:rPr>
              <a:t>定义与初始化字符串</a:t>
            </a:r>
            <a:endParaRPr lang="en-US" altLang="zh-CN" sz="2000" b="1" dirty="0" smtClean="0">
              <a:solidFill>
                <a:srgbClr val="000000"/>
              </a:solidFill>
            </a:endParaRPr>
          </a:p>
          <a:p>
            <a:pPr marL="971550" lvl="1">
              <a:buFont typeface="Wingdings" panose="05000000000000000000" pitchFamily="2" charset="2"/>
              <a:buChar char="l"/>
            </a:pPr>
            <a:r>
              <a:rPr lang="zh-CN" altLang="en-US" sz="1800" dirty="0" smtClean="0">
                <a:solidFill>
                  <a:srgbClr val="0303DF"/>
                </a:solidFill>
              </a:rPr>
              <a:t>字符数组的最后一个元素一定是</a:t>
            </a:r>
            <a:r>
              <a:rPr lang="en-US" altLang="zh-CN" sz="1800" b="1" dirty="0">
                <a:solidFill>
                  <a:srgbClr val="C00000"/>
                </a:solidFill>
              </a:rPr>
              <a:t>‘\0’</a:t>
            </a:r>
            <a:endParaRPr lang="en-US" altLang="zh-CN" sz="1800" dirty="0" smtClean="0">
              <a:solidFill>
                <a:srgbClr val="0303DF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303DF"/>
                </a:solidFill>
              </a:rPr>
              <a:t>定义</a:t>
            </a:r>
            <a:r>
              <a:rPr lang="zh-CN" altLang="en-US" sz="2000" b="1" dirty="0" smtClean="0">
                <a:solidFill>
                  <a:srgbClr val="0303DF"/>
                </a:solidFill>
              </a:rPr>
              <a:t>字符串</a:t>
            </a:r>
            <a:r>
              <a:rPr lang="zh-CN" altLang="en-US" sz="2000" b="1" dirty="0" smtClean="0"/>
              <a:t>时</a:t>
            </a:r>
            <a:r>
              <a:rPr lang="zh-CN" altLang="en-US" sz="2000" b="1" dirty="0" smtClean="0">
                <a:solidFill>
                  <a:srgbClr val="7030A0"/>
                </a:solidFill>
              </a:rPr>
              <a:t>逐个数组元素</a:t>
            </a:r>
            <a:r>
              <a:rPr lang="zh-CN" altLang="en-US" sz="2000" b="1" dirty="0"/>
              <a:t>初始化一个</a:t>
            </a:r>
            <a:r>
              <a:rPr lang="zh-CN" altLang="en-US" sz="2000" b="1" dirty="0">
                <a:solidFill>
                  <a:srgbClr val="C00000"/>
                </a:solidFill>
              </a:rPr>
              <a:t>字符串</a:t>
            </a:r>
            <a:endParaRPr lang="en-US" altLang="zh-CN" sz="2000" b="1" dirty="0">
              <a:solidFill>
                <a:srgbClr val="C00000"/>
              </a:solidFill>
            </a:endParaRPr>
          </a:p>
          <a:p>
            <a:pPr marL="971550" lvl="1">
              <a:buFont typeface="Wingdings" panose="05000000000000000000" pitchFamily="2" charset="2"/>
              <a:buChar char="l"/>
            </a:pPr>
            <a:r>
              <a:rPr lang="zh-CN" altLang="en-US" sz="1800" b="1" dirty="0" smtClean="0"/>
              <a:t>如：</a:t>
            </a:r>
            <a:endParaRPr lang="en-US" altLang="zh-CN" sz="1800" b="1" dirty="0" smtClean="0"/>
          </a:p>
          <a:p>
            <a:pPr marL="1200150" lvl="2"/>
            <a:r>
              <a:rPr lang="en-US" altLang="zh-CN" sz="1800" b="1" dirty="0" smtClean="0">
                <a:solidFill>
                  <a:srgbClr val="030DCD"/>
                </a:solidFill>
              </a:rPr>
              <a:t>char </a:t>
            </a:r>
            <a:r>
              <a:rPr lang="en-US" altLang="zh-CN" sz="1800" b="1" dirty="0">
                <a:solidFill>
                  <a:srgbClr val="030DCD"/>
                </a:solidFill>
              </a:rPr>
              <a:t>c[11] = {‘I’,‘ ’,‘</a:t>
            </a:r>
            <a:r>
              <a:rPr lang="en-US" altLang="zh-CN" sz="1800" b="1" dirty="0" err="1">
                <a:solidFill>
                  <a:srgbClr val="030DCD"/>
                </a:solidFill>
              </a:rPr>
              <a:t>a’,‘m</a:t>
            </a:r>
            <a:r>
              <a:rPr lang="en-US" altLang="zh-CN" sz="1800" b="1" dirty="0">
                <a:solidFill>
                  <a:srgbClr val="030DCD"/>
                </a:solidFill>
              </a:rPr>
              <a:t>’,‘ ’,‘</a:t>
            </a:r>
            <a:r>
              <a:rPr lang="en-US" altLang="zh-CN" sz="1800" b="1" dirty="0" err="1">
                <a:solidFill>
                  <a:srgbClr val="030DCD"/>
                </a:solidFill>
              </a:rPr>
              <a:t>h’,‘a’,‘p’,‘p’,‘y</a:t>
            </a:r>
            <a:r>
              <a:rPr lang="en-US" altLang="zh-CN" sz="1800" b="1" dirty="0">
                <a:solidFill>
                  <a:srgbClr val="030DCD"/>
                </a:solidFill>
              </a:rPr>
              <a:t>’, </a:t>
            </a:r>
            <a:r>
              <a:rPr lang="en-US" altLang="zh-CN" sz="1800" b="1" dirty="0">
                <a:solidFill>
                  <a:srgbClr val="C00000"/>
                </a:solidFill>
              </a:rPr>
              <a:t>‘\0’</a:t>
            </a:r>
            <a:r>
              <a:rPr lang="en-US" altLang="zh-CN" sz="1800" b="1" dirty="0">
                <a:solidFill>
                  <a:srgbClr val="030DCD"/>
                </a:solidFill>
              </a:rPr>
              <a:t>};  </a:t>
            </a:r>
            <a:endParaRPr lang="en-US" altLang="zh-CN" sz="1800" b="1" dirty="0" smtClean="0">
              <a:solidFill>
                <a:srgbClr val="030DCD"/>
              </a:solidFill>
            </a:endParaRPr>
          </a:p>
          <a:p>
            <a:pPr marL="1200150" lvl="2"/>
            <a:r>
              <a:rPr lang="zh-CN" altLang="en-US" sz="1800" b="1" dirty="0">
                <a:solidFill>
                  <a:srgbClr val="7030A0"/>
                </a:solidFill>
              </a:rPr>
              <a:t>最后一个数组元素必须是字符串的结尾符</a:t>
            </a:r>
            <a:r>
              <a:rPr lang="en-US" altLang="zh-CN" sz="1800" b="1" dirty="0">
                <a:solidFill>
                  <a:srgbClr val="C00000"/>
                </a:solidFill>
              </a:rPr>
              <a:t>‘\0’</a:t>
            </a:r>
            <a:r>
              <a:rPr lang="zh-CN" altLang="en-US" sz="1800" b="1" dirty="0">
                <a:solidFill>
                  <a:srgbClr val="C00000"/>
                </a:solidFill>
              </a:rPr>
              <a:t>；</a:t>
            </a:r>
            <a:endParaRPr lang="en-US" altLang="zh-CN" sz="1800" b="1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b="1" dirty="0"/>
              <a:t>整体</a:t>
            </a:r>
            <a:r>
              <a:rPr lang="zh-CN" altLang="en-US" sz="2000" b="1" dirty="0" smtClean="0"/>
              <a:t>初始化</a:t>
            </a:r>
            <a:endParaRPr lang="en-US" altLang="zh-CN" sz="2000" b="1" dirty="0" smtClean="0"/>
          </a:p>
          <a:p>
            <a:pPr marL="971550" lvl="1">
              <a:buFont typeface="Wingdings" panose="05000000000000000000" pitchFamily="2" charset="2"/>
              <a:buChar char="l"/>
            </a:pPr>
            <a:r>
              <a:rPr lang="en-US" altLang="zh-CN" sz="1800" dirty="0"/>
              <a:t>char c[</a:t>
            </a:r>
            <a:r>
              <a:rPr lang="en-US" altLang="zh-CN" sz="1800" b="1" dirty="0">
                <a:solidFill>
                  <a:srgbClr val="7030A0"/>
                </a:solidFill>
              </a:rPr>
              <a:t>10</a:t>
            </a:r>
            <a:r>
              <a:rPr lang="en-US" altLang="zh-CN" sz="1800" dirty="0"/>
              <a:t>] = “</a:t>
            </a:r>
            <a:r>
              <a:rPr lang="en-US" altLang="zh-CN" sz="1800" dirty="0">
                <a:solidFill>
                  <a:srgbClr val="7030A0"/>
                </a:solidFill>
              </a:rPr>
              <a:t>I am happy</a:t>
            </a:r>
            <a:r>
              <a:rPr lang="en-US" altLang="zh-CN" sz="1800" dirty="0"/>
              <a:t>”;    //</a:t>
            </a:r>
            <a:r>
              <a:rPr lang="zh-CN" altLang="en-US" sz="1800" b="1" dirty="0">
                <a:solidFill>
                  <a:srgbClr val="C00000"/>
                </a:solidFill>
              </a:rPr>
              <a:t>不允许</a:t>
            </a:r>
            <a:r>
              <a:rPr lang="zh-CN" altLang="en-US" sz="1800" dirty="0"/>
              <a:t>，</a:t>
            </a:r>
            <a:r>
              <a:rPr lang="zh-CN" altLang="en-US" sz="1800" b="1" dirty="0">
                <a:solidFill>
                  <a:srgbClr val="006600"/>
                </a:solidFill>
              </a:rPr>
              <a:t>没有空间存储</a:t>
            </a:r>
            <a:r>
              <a:rPr lang="en-US" altLang="zh-CN" sz="1800" b="1" dirty="0">
                <a:solidFill>
                  <a:srgbClr val="006600"/>
                </a:solidFill>
              </a:rPr>
              <a:t>’\0’ </a:t>
            </a:r>
          </a:p>
          <a:p>
            <a:pPr marL="971550" lvl="1">
              <a:buFont typeface="Wingdings" panose="05000000000000000000" pitchFamily="2" charset="2"/>
              <a:buChar char="l"/>
            </a:pPr>
            <a:r>
              <a:rPr lang="en-US" altLang="zh-CN" sz="1800" dirty="0"/>
              <a:t>char c[</a:t>
            </a:r>
            <a:r>
              <a:rPr lang="en-US" altLang="zh-CN" sz="1800" b="1" dirty="0">
                <a:solidFill>
                  <a:srgbClr val="7030A0"/>
                </a:solidFill>
              </a:rPr>
              <a:t>11</a:t>
            </a:r>
            <a:r>
              <a:rPr lang="en-US" altLang="zh-CN" sz="1800" dirty="0"/>
              <a:t>] = “</a:t>
            </a:r>
            <a:r>
              <a:rPr lang="en-US" altLang="zh-CN" sz="1800" dirty="0">
                <a:solidFill>
                  <a:srgbClr val="7030A0"/>
                </a:solidFill>
              </a:rPr>
              <a:t>I am happy</a:t>
            </a:r>
            <a:r>
              <a:rPr lang="en-US" altLang="zh-CN" sz="1800" dirty="0"/>
              <a:t>”;    //</a:t>
            </a:r>
            <a:r>
              <a:rPr lang="zh-CN" altLang="en-US" sz="1800" b="1" dirty="0">
                <a:solidFill>
                  <a:srgbClr val="7030A0"/>
                </a:solidFill>
              </a:rPr>
              <a:t>允许</a:t>
            </a:r>
            <a:r>
              <a:rPr lang="zh-CN" altLang="en-US" sz="1800" dirty="0">
                <a:solidFill>
                  <a:srgbClr val="7030A0"/>
                </a:solidFill>
              </a:rPr>
              <a:t>，</a:t>
            </a:r>
            <a:r>
              <a:rPr lang="zh-CN" altLang="en-US" sz="1800" b="1" dirty="0">
                <a:solidFill>
                  <a:srgbClr val="C00000"/>
                </a:solidFill>
              </a:rPr>
              <a:t>末尾自动补‘</a:t>
            </a:r>
            <a:r>
              <a:rPr lang="en-US" altLang="zh-CN" sz="1800" b="1" dirty="0">
                <a:solidFill>
                  <a:srgbClr val="C00000"/>
                </a:solidFill>
              </a:rPr>
              <a:t>\0</a:t>
            </a:r>
            <a:r>
              <a:rPr lang="zh-CN" altLang="en-US" sz="1800" b="1" dirty="0">
                <a:solidFill>
                  <a:srgbClr val="C00000"/>
                </a:solidFill>
              </a:rPr>
              <a:t>’</a:t>
            </a:r>
            <a:endParaRPr lang="en-US" altLang="zh-CN" sz="1800" b="1" dirty="0">
              <a:solidFill>
                <a:srgbClr val="C00000"/>
              </a:solidFill>
            </a:endParaRPr>
          </a:p>
          <a:p>
            <a:pPr marL="971550" lvl="1">
              <a:buFont typeface="Wingdings" panose="05000000000000000000" pitchFamily="2" charset="2"/>
              <a:buChar char="l"/>
            </a:pPr>
            <a:r>
              <a:rPr lang="en-US" altLang="zh-CN" sz="1800" dirty="0"/>
              <a:t>char c[] = “I am happy”</a:t>
            </a:r>
            <a:r>
              <a:rPr lang="zh-CN" altLang="en-US" sz="1800" dirty="0"/>
              <a:t>；</a:t>
            </a:r>
            <a:r>
              <a:rPr lang="en-US" altLang="zh-CN" sz="1800" dirty="0"/>
              <a:t>//</a:t>
            </a:r>
            <a:r>
              <a:rPr lang="zh-CN" altLang="en-US" sz="1800" dirty="0" smtClean="0"/>
              <a:t>相当于</a:t>
            </a:r>
            <a:r>
              <a:rPr lang="en-US" altLang="zh-CN" sz="1800" dirty="0"/>
              <a:t>char c[</a:t>
            </a:r>
            <a:r>
              <a:rPr lang="en-US" altLang="zh-CN" sz="1800" b="1" dirty="0">
                <a:solidFill>
                  <a:srgbClr val="7030A0"/>
                </a:solidFill>
              </a:rPr>
              <a:t>11</a:t>
            </a:r>
            <a:r>
              <a:rPr lang="en-US" altLang="zh-CN" sz="1800" dirty="0"/>
              <a:t>] = “</a:t>
            </a:r>
            <a:r>
              <a:rPr lang="en-US" altLang="zh-CN" sz="1800" dirty="0">
                <a:solidFill>
                  <a:srgbClr val="7030A0"/>
                </a:solidFill>
              </a:rPr>
              <a:t>I am happy</a:t>
            </a:r>
            <a:r>
              <a:rPr lang="en-US" altLang="zh-CN" sz="1800" dirty="0"/>
              <a:t>”; </a:t>
            </a:r>
          </a:p>
          <a:p>
            <a:pPr marL="971550" lvl="1">
              <a:buFont typeface="Wingdings" panose="05000000000000000000" pitchFamily="2" charset="2"/>
              <a:buChar char="l"/>
            </a:pPr>
            <a:r>
              <a:rPr lang="zh-CN" altLang="en-US" sz="1800" b="1" u="sng" dirty="0" smtClean="0">
                <a:solidFill>
                  <a:srgbClr val="006600"/>
                </a:solidFill>
              </a:rPr>
              <a:t>利用字符</a:t>
            </a:r>
            <a:r>
              <a:rPr lang="zh-CN" altLang="en-US" sz="1800" b="1" u="sng" dirty="0">
                <a:solidFill>
                  <a:srgbClr val="006600"/>
                </a:solidFill>
              </a:rPr>
              <a:t>数组</a:t>
            </a:r>
            <a:r>
              <a:rPr lang="zh-CN" altLang="en-US" sz="1800" b="1" i="1" u="sng" dirty="0" smtClean="0">
                <a:solidFill>
                  <a:srgbClr val="C00000"/>
                </a:solidFill>
              </a:rPr>
              <a:t>整体初始化一个字符串</a:t>
            </a:r>
            <a:r>
              <a:rPr lang="zh-CN" altLang="en-US" sz="1800" b="1" i="1" u="sng" dirty="0" smtClean="0">
                <a:solidFill>
                  <a:srgbClr val="006600"/>
                </a:solidFill>
              </a:rPr>
              <a:t>，</a:t>
            </a:r>
            <a:r>
              <a:rPr lang="zh-CN" altLang="en-US" sz="1800" b="1" i="1" u="sng" dirty="0">
                <a:solidFill>
                  <a:srgbClr val="7030A0"/>
                </a:solidFill>
              </a:rPr>
              <a:t>只能在定义</a:t>
            </a:r>
            <a:r>
              <a:rPr lang="zh-CN" altLang="en-US" sz="1800" b="1" i="1" u="sng" dirty="0" smtClean="0">
                <a:solidFill>
                  <a:srgbClr val="7030A0"/>
                </a:solidFill>
              </a:rPr>
              <a:t>数组时进行</a:t>
            </a:r>
            <a:endParaRPr lang="en-US" altLang="zh-CN" sz="1800" b="1" u="sng" dirty="0">
              <a:solidFill>
                <a:srgbClr val="006600"/>
              </a:solidFill>
            </a:endParaRPr>
          </a:p>
          <a:p>
            <a:pPr marL="1200150" lvl="2"/>
            <a:r>
              <a:rPr lang="zh-CN" altLang="en-US" sz="1800" dirty="0" smtClean="0"/>
              <a:t>例如 ：</a:t>
            </a:r>
            <a:r>
              <a:rPr lang="en-US" altLang="zh-CN" sz="1800" dirty="0" smtClean="0"/>
              <a:t>char </a:t>
            </a:r>
            <a:r>
              <a:rPr lang="en-US" altLang="zh-CN" sz="1800" dirty="0"/>
              <a:t>c[10];   </a:t>
            </a:r>
            <a:r>
              <a:rPr lang="en-US" altLang="zh-CN" sz="1800" b="1" dirty="0">
                <a:solidFill>
                  <a:srgbClr val="030DCD"/>
                </a:solidFill>
              </a:rPr>
              <a:t>c=“</a:t>
            </a:r>
            <a:r>
              <a:rPr lang="en-US" altLang="zh-CN" sz="1800" b="1" dirty="0" err="1">
                <a:solidFill>
                  <a:srgbClr val="030DCD"/>
                </a:solidFill>
              </a:rPr>
              <a:t>abc</a:t>
            </a:r>
            <a:r>
              <a:rPr lang="en-US" altLang="zh-CN" sz="1800" b="1" dirty="0">
                <a:solidFill>
                  <a:srgbClr val="030DCD"/>
                </a:solidFill>
              </a:rPr>
              <a:t>”</a:t>
            </a:r>
            <a:r>
              <a:rPr lang="zh-CN" altLang="en-US" sz="1800" dirty="0"/>
              <a:t>； </a:t>
            </a:r>
            <a:r>
              <a:rPr lang="en-US" altLang="zh-CN" sz="1800" dirty="0"/>
              <a:t>//</a:t>
            </a:r>
            <a:r>
              <a:rPr lang="zh-CN" altLang="en-US" sz="1800" b="1" dirty="0">
                <a:solidFill>
                  <a:srgbClr val="C00000"/>
                </a:solidFill>
              </a:rPr>
              <a:t>不允许</a:t>
            </a:r>
            <a:r>
              <a:rPr lang="zh-CN" altLang="en-US" sz="1800" dirty="0"/>
              <a:t>，</a:t>
            </a:r>
            <a:endParaRPr lang="en-US" altLang="zh-CN" b="1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  <a:p>
            <a:pPr marL="971550" lvl="1"/>
            <a:endParaRPr lang="en-US" altLang="zh-CN" dirty="0"/>
          </a:p>
        </p:txBody>
      </p:sp>
      <p:sp>
        <p:nvSpPr>
          <p:cNvPr id="2" name="矩形 1"/>
          <p:cNvSpPr/>
          <p:nvPr/>
        </p:nvSpPr>
        <p:spPr>
          <a:xfrm>
            <a:off x="402359" y="325704"/>
            <a:ext cx="732847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800" dirty="0" smtClean="0">
                <a:solidFill>
                  <a:srgbClr val="7030A0"/>
                </a:solidFill>
                <a:latin typeface="+mj-lt"/>
                <a:ea typeface="+mj-ea"/>
                <a:cs typeface="+mj-cs"/>
              </a:rPr>
              <a:t>字符串</a:t>
            </a:r>
            <a:r>
              <a:rPr lang="zh-CN" altLang="en-US" sz="2800" dirty="0" smtClean="0">
                <a:solidFill>
                  <a:srgbClr val="1A93C8"/>
                </a:solidFill>
                <a:latin typeface="+mj-lt"/>
                <a:ea typeface="+mj-ea"/>
                <a:cs typeface="+mj-cs"/>
              </a:rPr>
              <a:t>的定义与初始化</a:t>
            </a:r>
            <a:endParaRPr lang="zh-CN" altLang="en-US" sz="2800" dirty="0">
              <a:solidFill>
                <a:srgbClr val="C00000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116348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402359" y="1091046"/>
            <a:ext cx="8274050" cy="5193002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2000" b="1" dirty="0" smtClean="0">
                <a:solidFill>
                  <a:srgbClr val="000000"/>
                </a:solidFill>
              </a:rPr>
              <a:t>利用</a:t>
            </a:r>
            <a:r>
              <a:rPr lang="zh-CN" altLang="en-US" sz="2000" b="1" dirty="0" smtClean="0">
                <a:solidFill>
                  <a:srgbClr val="C00000"/>
                </a:solidFill>
              </a:rPr>
              <a:t>字符指针的方法</a:t>
            </a:r>
            <a:r>
              <a:rPr lang="zh-CN" altLang="en-US" sz="2000" b="1" dirty="0" smtClean="0">
                <a:solidFill>
                  <a:srgbClr val="000000"/>
                </a:solidFill>
              </a:rPr>
              <a:t>定义与初始化字符串</a:t>
            </a:r>
            <a:endParaRPr lang="en-US" altLang="zh-CN" sz="2000" b="1" dirty="0" smtClean="0">
              <a:solidFill>
                <a:srgbClr val="00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2000" dirty="0" smtClean="0"/>
              <a:t>正确定义与初始化</a:t>
            </a:r>
            <a:endParaRPr lang="en-US" altLang="zh-CN" sz="2000" dirty="0" smtClean="0"/>
          </a:p>
          <a:p>
            <a:pPr marL="971550" lvl="1">
              <a:buFont typeface="Wingdings" panose="05000000000000000000" pitchFamily="2" charset="2"/>
              <a:buChar char="l"/>
            </a:pPr>
            <a:r>
              <a:rPr lang="en-US" altLang="zh-CN" sz="1800" dirty="0" err="1" smtClean="0"/>
              <a:t>const</a:t>
            </a:r>
            <a:r>
              <a:rPr lang="en-US" altLang="zh-CN" sz="1800" dirty="0" smtClean="0"/>
              <a:t> </a:t>
            </a:r>
            <a:r>
              <a:rPr lang="en-US" altLang="zh-CN" sz="1800" dirty="0"/>
              <a:t>char *p=“</a:t>
            </a:r>
            <a:r>
              <a:rPr lang="en-US" altLang="zh-CN" sz="1800" dirty="0">
                <a:solidFill>
                  <a:srgbClr val="0000CC"/>
                </a:solidFill>
              </a:rPr>
              <a:t>I am happy</a:t>
            </a:r>
            <a:r>
              <a:rPr lang="en-US" altLang="zh-CN" sz="1800" dirty="0" smtClean="0">
                <a:solidFill>
                  <a:srgbClr val="0000CC"/>
                </a:solidFill>
              </a:rPr>
              <a:t>”;  </a:t>
            </a:r>
            <a:r>
              <a:rPr lang="en-US" altLang="zh-CN" sz="1800" dirty="0" smtClean="0">
                <a:solidFill>
                  <a:srgbClr val="7030A0"/>
                </a:solidFill>
              </a:rPr>
              <a:t>//</a:t>
            </a:r>
            <a:r>
              <a:rPr lang="zh-CN" altLang="en-US" sz="1800" dirty="0" smtClean="0">
                <a:solidFill>
                  <a:srgbClr val="7030A0"/>
                </a:solidFill>
              </a:rPr>
              <a:t>字符串内容不允许修改</a:t>
            </a:r>
            <a:endParaRPr lang="en-US" altLang="zh-CN" sz="1800" dirty="0">
              <a:solidFill>
                <a:srgbClr val="7030A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2000" dirty="0" smtClean="0"/>
              <a:t>不规范定义与初始化</a:t>
            </a:r>
            <a:endParaRPr lang="en-US" altLang="zh-CN" sz="2000" dirty="0" smtClean="0"/>
          </a:p>
          <a:p>
            <a:pPr marL="971550" lvl="1">
              <a:buFont typeface="Wingdings" panose="05000000000000000000" pitchFamily="2" charset="2"/>
              <a:buChar char="l"/>
            </a:pPr>
            <a:r>
              <a:rPr lang="en-US" altLang="zh-CN" sz="1800" dirty="0" smtClean="0"/>
              <a:t>char </a:t>
            </a:r>
            <a:r>
              <a:rPr lang="en-US" altLang="zh-CN" sz="1800" dirty="0"/>
              <a:t>*p=“</a:t>
            </a:r>
            <a:r>
              <a:rPr lang="en-US" altLang="zh-CN" sz="1800" dirty="0">
                <a:solidFill>
                  <a:srgbClr val="0000CC"/>
                </a:solidFill>
              </a:rPr>
              <a:t>I am happy”;</a:t>
            </a:r>
          </a:p>
          <a:p>
            <a:pPr marL="971550" lvl="1">
              <a:buFont typeface="Wingdings" panose="05000000000000000000" pitchFamily="2" charset="2"/>
              <a:buChar char="l"/>
            </a:pPr>
            <a:r>
              <a:rPr lang="en-US" altLang="zh-CN" sz="1800" dirty="0">
                <a:solidFill>
                  <a:srgbClr val="7030A0"/>
                </a:solidFill>
              </a:rPr>
              <a:t>[Warning] deprecated </a:t>
            </a:r>
            <a:r>
              <a:rPr lang="en-US" altLang="zh-CN" sz="1800" dirty="0">
                <a:solidFill>
                  <a:srgbClr val="030DCD"/>
                </a:solidFill>
              </a:rPr>
              <a:t>conversion from </a:t>
            </a:r>
            <a:r>
              <a:rPr lang="en-US" altLang="zh-CN" sz="1800" b="1" dirty="0">
                <a:solidFill>
                  <a:srgbClr val="C00000"/>
                </a:solidFill>
              </a:rPr>
              <a:t>string constant </a:t>
            </a:r>
            <a:r>
              <a:rPr lang="en-US" altLang="zh-CN" sz="1800" dirty="0">
                <a:solidFill>
                  <a:srgbClr val="7030A0"/>
                </a:solidFill>
              </a:rPr>
              <a:t>to </a:t>
            </a:r>
            <a:r>
              <a:rPr lang="en-US" altLang="zh-CN" sz="1800" b="1" dirty="0">
                <a:solidFill>
                  <a:srgbClr val="030DCD"/>
                </a:solidFill>
              </a:rPr>
              <a:t>'</a:t>
            </a:r>
            <a:r>
              <a:rPr lang="en-US" altLang="zh-CN" sz="1800" b="1" dirty="0">
                <a:solidFill>
                  <a:srgbClr val="7030A0"/>
                </a:solidFill>
              </a:rPr>
              <a:t>char*</a:t>
            </a:r>
            <a:r>
              <a:rPr lang="en-US" altLang="zh-CN" sz="1800" b="1" dirty="0">
                <a:solidFill>
                  <a:srgbClr val="030DCD"/>
                </a:solidFill>
              </a:rPr>
              <a:t>' </a:t>
            </a:r>
            <a:r>
              <a:rPr lang="en-US" altLang="zh-CN" sz="1800" dirty="0">
                <a:solidFill>
                  <a:srgbClr val="7030A0"/>
                </a:solidFill>
              </a:rPr>
              <a:t>[-</a:t>
            </a:r>
            <a:r>
              <a:rPr lang="en-US" altLang="zh-CN" sz="1800" dirty="0" err="1">
                <a:solidFill>
                  <a:srgbClr val="7030A0"/>
                </a:solidFill>
              </a:rPr>
              <a:t>Wwrite</a:t>
            </a:r>
            <a:r>
              <a:rPr lang="en-US" altLang="zh-CN" sz="1800" dirty="0">
                <a:solidFill>
                  <a:srgbClr val="7030A0"/>
                </a:solidFill>
              </a:rPr>
              <a:t>-strings</a:t>
            </a:r>
            <a:r>
              <a:rPr lang="en-US" altLang="zh-CN" sz="1600" dirty="0" smtClean="0">
                <a:solidFill>
                  <a:srgbClr val="7030A0"/>
                </a:solidFill>
              </a:rPr>
              <a:t>]</a:t>
            </a:r>
          </a:p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2000" dirty="0" smtClean="0"/>
              <a:t>思考</a:t>
            </a:r>
            <a:endParaRPr lang="en-US" altLang="zh-CN" sz="2000" dirty="0" smtClean="0"/>
          </a:p>
          <a:p>
            <a:pPr marL="971550" lvl="1">
              <a:buFont typeface="Wingdings" panose="05000000000000000000" pitchFamily="2" charset="2"/>
              <a:buChar char="l"/>
            </a:pPr>
            <a:r>
              <a:rPr lang="en-US" altLang="zh-CN" sz="1800" dirty="0" err="1"/>
              <a:t>const</a:t>
            </a:r>
            <a:r>
              <a:rPr lang="en-US" altLang="zh-CN" sz="1800" dirty="0"/>
              <a:t> char *p=“</a:t>
            </a:r>
            <a:r>
              <a:rPr lang="en-US" altLang="zh-CN" sz="1800" dirty="0">
                <a:solidFill>
                  <a:srgbClr val="0000CC"/>
                </a:solidFill>
              </a:rPr>
              <a:t>I am happy</a:t>
            </a:r>
            <a:r>
              <a:rPr lang="en-US" altLang="zh-CN" sz="1800" dirty="0" smtClean="0">
                <a:solidFill>
                  <a:srgbClr val="0000CC"/>
                </a:solidFill>
              </a:rPr>
              <a:t>”;</a:t>
            </a:r>
          </a:p>
          <a:p>
            <a:pPr marL="971550" lvl="1">
              <a:buFont typeface="Wingdings" panose="05000000000000000000" pitchFamily="2" charset="2"/>
              <a:buChar char="l"/>
            </a:pPr>
            <a:r>
              <a:rPr lang="zh-CN" altLang="en-US" sz="1800" dirty="0" smtClean="0"/>
              <a:t>只能通过</a:t>
            </a:r>
            <a:r>
              <a:rPr lang="en-US" altLang="zh-CN" sz="1800" dirty="0" smtClean="0"/>
              <a:t>p</a:t>
            </a:r>
            <a:r>
              <a:rPr lang="zh-CN" altLang="en-US" sz="1800" dirty="0" smtClean="0"/>
              <a:t>引用字符串，不能修改</a:t>
            </a:r>
            <a:endParaRPr lang="en-US" altLang="zh-CN" sz="1800" dirty="0" smtClean="0"/>
          </a:p>
          <a:p>
            <a:pPr marL="971550" lvl="1">
              <a:buFont typeface="Wingdings" panose="05000000000000000000" pitchFamily="2" charset="2"/>
              <a:buChar char="l"/>
            </a:pPr>
            <a:r>
              <a:rPr lang="zh-CN" altLang="en-US" sz="1800" dirty="0" smtClean="0"/>
              <a:t>如果想修改，如何处理？</a:t>
            </a:r>
            <a:endParaRPr lang="en-US" altLang="zh-CN" sz="1800" dirty="0" smtClean="0"/>
          </a:p>
          <a:p>
            <a:pPr marL="971550" lvl="1">
              <a:buFont typeface="Wingdings" panose="05000000000000000000" pitchFamily="2" charset="2"/>
              <a:buChar char="l"/>
            </a:pPr>
            <a:endParaRPr lang="en-US" altLang="zh-CN" sz="16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 smtClean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>
              <a:solidFill>
                <a:srgbClr val="7030A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>
              <a:solidFill>
                <a:srgbClr val="7030A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b="1" dirty="0" smtClean="0">
              <a:solidFill>
                <a:srgbClr val="0303DF"/>
              </a:solidFill>
            </a:endParaRPr>
          </a:p>
          <a:p>
            <a:pPr marL="971550" lvl="1"/>
            <a:endParaRPr lang="en-US" altLang="zh-CN" dirty="0"/>
          </a:p>
        </p:txBody>
      </p:sp>
      <p:sp>
        <p:nvSpPr>
          <p:cNvPr id="2" name="矩形 1"/>
          <p:cNvSpPr/>
          <p:nvPr/>
        </p:nvSpPr>
        <p:spPr>
          <a:xfrm>
            <a:off x="402359" y="325704"/>
            <a:ext cx="732847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800" dirty="0" smtClean="0">
                <a:solidFill>
                  <a:srgbClr val="7030A0"/>
                </a:solidFill>
                <a:latin typeface="+mj-lt"/>
                <a:ea typeface="+mj-ea"/>
                <a:cs typeface="+mj-cs"/>
              </a:rPr>
              <a:t>字符串</a:t>
            </a:r>
            <a:r>
              <a:rPr lang="zh-CN" altLang="en-US" sz="2800" dirty="0" smtClean="0">
                <a:solidFill>
                  <a:srgbClr val="1A93C8"/>
                </a:solidFill>
                <a:latin typeface="+mj-lt"/>
                <a:ea typeface="+mj-ea"/>
                <a:cs typeface="+mj-cs"/>
              </a:rPr>
              <a:t>的定义与初始化</a:t>
            </a:r>
            <a:endParaRPr lang="zh-CN" altLang="en-US" sz="2800" dirty="0">
              <a:solidFill>
                <a:srgbClr val="C00000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742823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6464808" y="1931288"/>
            <a:ext cx="2092729" cy="680276"/>
          </a:xfrm>
          <a:ln>
            <a:solidFill>
              <a:srgbClr val="000000"/>
            </a:solidFill>
          </a:ln>
        </p:spPr>
        <p:txBody>
          <a:bodyPr/>
          <a:lstStyle/>
          <a:p>
            <a:pPr>
              <a:buNone/>
            </a:pPr>
            <a:r>
              <a:rPr lang="zh-CN" altLang="en-US" sz="1800" dirty="0" smtClean="0">
                <a:solidFill>
                  <a:srgbClr val="000000"/>
                </a:solidFill>
              </a:rPr>
              <a:t>思考：该程序存在什么问题？</a:t>
            </a:r>
            <a:endParaRPr lang="en-US" altLang="zh-CN" sz="1800" dirty="0" smtClean="0">
              <a:solidFill>
                <a:srgbClr val="000000"/>
              </a:solidFill>
            </a:endParaRPr>
          </a:p>
          <a:p>
            <a:pPr>
              <a:buNone/>
            </a:pPr>
            <a:endParaRPr lang="en-US" altLang="zh-CN" sz="1800" dirty="0" smtClean="0">
              <a:solidFill>
                <a:srgbClr val="00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402359" y="325704"/>
            <a:ext cx="732847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800" dirty="0" smtClean="0">
                <a:solidFill>
                  <a:srgbClr val="7030A0"/>
                </a:solidFill>
                <a:latin typeface="+mj-lt"/>
                <a:ea typeface="+mj-ea"/>
                <a:cs typeface="+mj-cs"/>
              </a:rPr>
              <a:t>为</a:t>
            </a:r>
            <a:r>
              <a:rPr lang="zh-CN" altLang="en-US" sz="28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字符指针</a:t>
            </a:r>
            <a:r>
              <a:rPr lang="zh-CN" altLang="en-US" sz="2800" dirty="0" smtClean="0">
                <a:solidFill>
                  <a:srgbClr val="7030A0"/>
                </a:solidFill>
                <a:latin typeface="+mj-lt"/>
                <a:ea typeface="+mj-ea"/>
                <a:cs typeface="+mj-cs"/>
              </a:rPr>
              <a:t>指向的字符串分配存储空间</a:t>
            </a:r>
            <a:endParaRPr lang="zh-CN" altLang="en-US" sz="2800" dirty="0">
              <a:solidFill>
                <a:srgbClr val="C0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3"/>
          <p:cNvSpPr txBox="1">
            <a:spLocks noRot="1" noChangeArrowheads="1"/>
          </p:cNvSpPr>
          <p:nvPr/>
        </p:nvSpPr>
        <p:spPr bwMode="auto">
          <a:xfrm>
            <a:off x="6537959" y="3609728"/>
            <a:ext cx="2092729" cy="1227448"/>
          </a:xfrm>
          <a:prstGeom prst="rect">
            <a:avLst/>
          </a:prstGeom>
          <a:noFill/>
          <a:ln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 2" panose="05020102010507070707" pitchFamily="18" charset="2"/>
              <a:buNone/>
            </a:pPr>
            <a:r>
              <a:rPr lang="en-US" altLang="zh-CN" sz="1800" dirty="0" err="1" smtClean="0">
                <a:solidFill>
                  <a:srgbClr val="C00000"/>
                </a:solidFill>
              </a:rPr>
              <a:t>str</a:t>
            </a:r>
            <a:r>
              <a:rPr lang="zh-CN" altLang="en-US" sz="1800" dirty="0" smtClean="0">
                <a:solidFill>
                  <a:srgbClr val="C00000"/>
                </a:solidFill>
              </a:rPr>
              <a:t>是一个野指针</a:t>
            </a:r>
            <a:endParaRPr lang="en-US" altLang="zh-CN" sz="1800" dirty="0" smtClean="0">
              <a:solidFill>
                <a:srgbClr val="C00000"/>
              </a:solidFill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zh-CN" altLang="en-US" sz="1800" dirty="0" smtClean="0">
                <a:solidFill>
                  <a:srgbClr val="C00000"/>
                </a:solidFill>
              </a:rPr>
              <a:t>需要为要输入的字符串分配存储空间</a:t>
            </a:r>
            <a:endParaRPr lang="en-US" altLang="zh-CN" sz="1800" dirty="0" smtClean="0">
              <a:solidFill>
                <a:srgbClr val="C0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99" y="1230820"/>
            <a:ext cx="5781675" cy="452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638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6464808" y="1931288"/>
            <a:ext cx="2092729" cy="3582544"/>
          </a:xfrm>
          <a:ln>
            <a:solidFill>
              <a:srgbClr val="000000"/>
            </a:solidFill>
          </a:ln>
        </p:spPr>
        <p:txBody>
          <a:bodyPr/>
          <a:lstStyle/>
          <a:p>
            <a:pPr>
              <a:buNone/>
            </a:pPr>
            <a:r>
              <a:rPr lang="zh-CN" altLang="en-US" sz="1800" dirty="0" smtClean="0">
                <a:solidFill>
                  <a:srgbClr val="000000"/>
                </a:solidFill>
              </a:rPr>
              <a:t>其实，可以直接通过数组名</a:t>
            </a:r>
            <a:r>
              <a:rPr lang="en-US" altLang="zh-CN" sz="1800" dirty="0" smtClean="0">
                <a:solidFill>
                  <a:srgbClr val="000000"/>
                </a:solidFill>
              </a:rPr>
              <a:t>c</a:t>
            </a:r>
            <a:r>
              <a:rPr lang="zh-CN" altLang="en-US" sz="1800" dirty="0" smtClean="0">
                <a:solidFill>
                  <a:srgbClr val="000000"/>
                </a:solidFill>
              </a:rPr>
              <a:t>引用字符串。即：</a:t>
            </a:r>
            <a:endParaRPr lang="en-US" altLang="zh-CN" sz="1800" dirty="0" smtClean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0303DF"/>
                </a:solidFill>
              </a:rPr>
              <a:t>c</a:t>
            </a:r>
            <a:r>
              <a:rPr lang="en-US" altLang="zh-CN" sz="1800" dirty="0" smtClean="0">
                <a:solidFill>
                  <a:srgbClr val="0303DF"/>
                </a:solidFill>
              </a:rPr>
              <a:t>har c[100];</a:t>
            </a:r>
          </a:p>
          <a:p>
            <a:pPr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800" dirty="0" err="1">
                <a:solidFill>
                  <a:srgbClr val="0303DF"/>
                </a:solidFill>
              </a:rPr>
              <a:t>s</a:t>
            </a:r>
            <a:r>
              <a:rPr lang="en-US" altLang="zh-CN" sz="1800" dirty="0" err="1" smtClean="0">
                <a:solidFill>
                  <a:srgbClr val="0303DF"/>
                </a:solidFill>
              </a:rPr>
              <a:t>canf</a:t>
            </a:r>
            <a:r>
              <a:rPr lang="en-US" altLang="zh-CN" sz="1800" dirty="0" smtClean="0">
                <a:solidFill>
                  <a:srgbClr val="0303DF"/>
                </a:solidFill>
              </a:rPr>
              <a:t>(“%</a:t>
            </a:r>
            <a:r>
              <a:rPr lang="en-US" altLang="zh-CN" sz="1800" dirty="0" err="1" smtClean="0">
                <a:solidFill>
                  <a:srgbClr val="0303DF"/>
                </a:solidFill>
              </a:rPr>
              <a:t>s”,c</a:t>
            </a:r>
            <a:r>
              <a:rPr lang="en-US" altLang="zh-CN" sz="1800" dirty="0" smtClean="0">
                <a:solidFill>
                  <a:srgbClr val="0303DF"/>
                </a:solidFill>
              </a:rPr>
              <a:t>);</a:t>
            </a:r>
          </a:p>
          <a:p>
            <a:pPr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800" dirty="0" err="1">
                <a:solidFill>
                  <a:srgbClr val="0303DF"/>
                </a:solidFill>
              </a:rPr>
              <a:t>p</a:t>
            </a:r>
            <a:r>
              <a:rPr lang="en-US" altLang="zh-CN" sz="1800" dirty="0" err="1" smtClean="0">
                <a:solidFill>
                  <a:srgbClr val="0303DF"/>
                </a:solidFill>
              </a:rPr>
              <a:t>rintf</a:t>
            </a:r>
            <a:r>
              <a:rPr lang="en-US" altLang="zh-CN" sz="1800" dirty="0" smtClean="0">
                <a:solidFill>
                  <a:srgbClr val="0303DF"/>
                </a:solidFill>
              </a:rPr>
              <a:t>(“%</a:t>
            </a:r>
            <a:r>
              <a:rPr lang="en-US" altLang="zh-CN" sz="1800" dirty="0" err="1" smtClean="0">
                <a:solidFill>
                  <a:srgbClr val="0303DF"/>
                </a:solidFill>
              </a:rPr>
              <a:t>s”,c</a:t>
            </a:r>
            <a:r>
              <a:rPr lang="en-US" altLang="zh-CN" sz="1800" dirty="0" smtClean="0">
                <a:solidFill>
                  <a:srgbClr val="0303DF"/>
                </a:solidFill>
              </a:rPr>
              <a:t>);</a:t>
            </a:r>
          </a:p>
        </p:txBody>
      </p:sp>
      <p:sp>
        <p:nvSpPr>
          <p:cNvPr id="2" name="矩形 1"/>
          <p:cNvSpPr/>
          <p:nvPr/>
        </p:nvSpPr>
        <p:spPr>
          <a:xfrm>
            <a:off x="402359" y="325704"/>
            <a:ext cx="732847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7030A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字符指针</a:t>
            </a:r>
            <a:r>
              <a:rPr lang="zh-CN" altLang="en-US" sz="2800" b="1" dirty="0">
                <a:solidFill>
                  <a:srgbClr val="7030A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指向的字符串分配存储空间</a:t>
            </a:r>
            <a:endParaRPr lang="zh-CN" altLang="en-US" sz="2800" b="1" dirty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59" y="1166812"/>
            <a:ext cx="5838825" cy="452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202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6821424" y="1056322"/>
            <a:ext cx="2092729" cy="3582544"/>
          </a:xfrm>
          <a:ln>
            <a:solidFill>
              <a:srgbClr val="000000"/>
            </a:solidFill>
          </a:ln>
        </p:spPr>
        <p:txBody>
          <a:bodyPr/>
          <a:lstStyle/>
          <a:p>
            <a:pPr>
              <a:buNone/>
            </a:pPr>
            <a:r>
              <a:rPr lang="en-US" altLang="zh-CN" sz="1600" dirty="0" smtClean="0">
                <a:solidFill>
                  <a:srgbClr val="000000"/>
                </a:solidFill>
              </a:rPr>
              <a:t>1. </a:t>
            </a:r>
            <a:r>
              <a:rPr lang="zh-CN" altLang="en-US" sz="1600" dirty="0" smtClean="0">
                <a:solidFill>
                  <a:srgbClr val="000000"/>
                </a:solidFill>
              </a:rPr>
              <a:t>函数</a:t>
            </a:r>
            <a:r>
              <a:rPr lang="en-US" altLang="zh-CN" sz="1600" dirty="0" err="1" smtClean="0">
                <a:solidFill>
                  <a:srgbClr val="000000"/>
                </a:solidFill>
              </a:rPr>
              <a:t>malloc</a:t>
            </a:r>
            <a:r>
              <a:rPr lang="en-US" altLang="zh-CN" sz="1600" dirty="0" smtClean="0">
                <a:solidFill>
                  <a:srgbClr val="000000"/>
                </a:solidFill>
              </a:rPr>
              <a:t>(100)</a:t>
            </a:r>
            <a:r>
              <a:rPr lang="zh-CN" altLang="en-US" sz="1600" dirty="0" smtClean="0">
                <a:solidFill>
                  <a:srgbClr val="000000"/>
                </a:solidFill>
              </a:rPr>
              <a:t>分配</a:t>
            </a:r>
            <a:r>
              <a:rPr lang="en-US" altLang="zh-CN" sz="1600" dirty="0" smtClean="0">
                <a:solidFill>
                  <a:srgbClr val="000000"/>
                </a:solidFill>
              </a:rPr>
              <a:t>100</a:t>
            </a:r>
            <a:r>
              <a:rPr lang="zh-CN" altLang="en-US" sz="1600" dirty="0" smtClean="0">
                <a:solidFill>
                  <a:srgbClr val="000000"/>
                </a:solidFill>
              </a:rPr>
              <a:t>个字节的存储空间，返回指向该空间的指针</a:t>
            </a:r>
            <a:r>
              <a:rPr lang="en-US" altLang="zh-CN" sz="1600" dirty="0" smtClean="0">
                <a:solidFill>
                  <a:srgbClr val="000000"/>
                </a:solidFill>
              </a:rPr>
              <a:t>(void </a:t>
            </a:r>
            <a:r>
              <a:rPr lang="zh-CN" altLang="en-US" sz="1600" dirty="0" smtClean="0">
                <a:solidFill>
                  <a:srgbClr val="000000"/>
                </a:solidFill>
              </a:rPr>
              <a:t>*</a:t>
            </a:r>
            <a:r>
              <a:rPr lang="en-US" altLang="zh-CN" sz="1600" dirty="0" smtClean="0">
                <a:solidFill>
                  <a:srgbClr val="000000"/>
                </a:solidFill>
              </a:rPr>
              <a:t>)</a:t>
            </a:r>
          </a:p>
          <a:p>
            <a:pPr>
              <a:buNone/>
            </a:pPr>
            <a:r>
              <a:rPr lang="en-US" altLang="zh-CN" sz="1600" dirty="0" smtClean="0">
                <a:solidFill>
                  <a:srgbClr val="000000"/>
                </a:solidFill>
              </a:rPr>
              <a:t>2.  </a:t>
            </a:r>
            <a:r>
              <a:rPr lang="zh-CN" altLang="en-US" sz="1600" dirty="0" smtClean="0">
                <a:solidFill>
                  <a:srgbClr val="000000"/>
                </a:solidFill>
              </a:rPr>
              <a:t>利用 </a:t>
            </a:r>
            <a:r>
              <a:rPr lang="en-US" altLang="zh-CN" sz="1600" dirty="0" smtClean="0">
                <a:solidFill>
                  <a:srgbClr val="000000"/>
                </a:solidFill>
              </a:rPr>
              <a:t>(char *)</a:t>
            </a:r>
            <a:r>
              <a:rPr lang="zh-CN" altLang="en-US" sz="1600" dirty="0" smtClean="0">
                <a:solidFill>
                  <a:srgbClr val="000000"/>
                </a:solidFill>
              </a:rPr>
              <a:t>将</a:t>
            </a:r>
            <a:r>
              <a:rPr lang="en-US" altLang="zh-CN" sz="1600" dirty="0" smtClean="0">
                <a:solidFill>
                  <a:srgbClr val="000000"/>
                </a:solidFill>
              </a:rPr>
              <a:t>(void *)</a:t>
            </a:r>
            <a:r>
              <a:rPr lang="zh-CN" altLang="en-US" sz="1600" dirty="0" smtClean="0">
                <a:solidFill>
                  <a:srgbClr val="000000"/>
                </a:solidFill>
              </a:rPr>
              <a:t>转换为</a:t>
            </a:r>
            <a:r>
              <a:rPr lang="en-US" altLang="zh-CN" sz="1600" dirty="0" smtClean="0">
                <a:solidFill>
                  <a:srgbClr val="000000"/>
                </a:solidFill>
              </a:rPr>
              <a:t>char *</a:t>
            </a:r>
          </a:p>
          <a:p>
            <a:pPr>
              <a:buNone/>
            </a:pPr>
            <a:r>
              <a:rPr lang="en-US" altLang="zh-CN" sz="1600" dirty="0" smtClean="0">
                <a:solidFill>
                  <a:srgbClr val="000000"/>
                </a:solidFill>
              </a:rPr>
              <a:t>3. </a:t>
            </a:r>
            <a:r>
              <a:rPr lang="zh-CN" altLang="en-US" sz="1600" dirty="0" smtClean="0">
                <a:solidFill>
                  <a:srgbClr val="000000"/>
                </a:solidFill>
              </a:rPr>
              <a:t>该空间使用结束后要及时释放</a:t>
            </a:r>
            <a:r>
              <a:rPr lang="en-US" altLang="zh-CN" sz="1600" dirty="0" smtClean="0">
                <a:solidFill>
                  <a:srgbClr val="000000"/>
                </a:solidFill>
              </a:rPr>
              <a:t>free(</a:t>
            </a:r>
            <a:r>
              <a:rPr lang="en-US" altLang="zh-CN" sz="1600" dirty="0" err="1" smtClean="0">
                <a:solidFill>
                  <a:srgbClr val="000000"/>
                </a:solidFill>
              </a:rPr>
              <a:t>str</a:t>
            </a:r>
            <a:r>
              <a:rPr lang="en-US" altLang="zh-CN" sz="1600" dirty="0" smtClean="0">
                <a:solidFill>
                  <a:srgbClr val="000000"/>
                </a:solidFill>
              </a:rPr>
              <a:t>)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347" y="1056322"/>
            <a:ext cx="6143625" cy="501967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402359" y="325704"/>
            <a:ext cx="732847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7030A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字符指针</a:t>
            </a:r>
            <a:r>
              <a:rPr lang="zh-CN" altLang="en-US" sz="2800" b="1" dirty="0">
                <a:solidFill>
                  <a:srgbClr val="7030A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指向的字符串分配存储空间</a:t>
            </a:r>
            <a:endParaRPr lang="zh-CN" altLang="en-US" sz="2800" b="1" dirty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9469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594360" y="1056322"/>
            <a:ext cx="8138160" cy="5280470"/>
          </a:xfrm>
          <a:ln>
            <a:noFill/>
          </a:ln>
        </p:spPr>
        <p:txBody>
          <a:bodyPr/>
          <a:lstStyle/>
          <a:p>
            <a:pPr marL="285750" indent="-28575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2000" dirty="0" smtClean="0">
                <a:solidFill>
                  <a:srgbClr val="000000"/>
                </a:solidFill>
              </a:rPr>
              <a:t>头文件</a:t>
            </a:r>
            <a:endParaRPr lang="en-US" altLang="zh-CN" sz="2000" dirty="0" smtClean="0">
              <a:solidFill>
                <a:srgbClr val="000000"/>
              </a:solidFill>
            </a:endParaRPr>
          </a:p>
          <a:p>
            <a:pPr marL="914400" lvl="1" indent="-28575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800" dirty="0" err="1" smtClean="0">
                <a:solidFill>
                  <a:srgbClr val="7030A0"/>
                </a:solidFill>
              </a:rPr>
              <a:t>stdlib.h</a:t>
            </a:r>
            <a:r>
              <a:rPr lang="zh-CN" altLang="en-US" sz="1800" dirty="0"/>
              <a:t>或</a:t>
            </a:r>
            <a:r>
              <a:rPr lang="en-US" altLang="zh-CN" sz="1800" dirty="0" err="1" smtClean="0">
                <a:solidFill>
                  <a:srgbClr val="006600"/>
                </a:solidFill>
              </a:rPr>
              <a:t>malloc.h</a:t>
            </a:r>
            <a:endParaRPr lang="en-US" altLang="zh-CN" sz="1800" dirty="0" smtClean="0">
              <a:solidFill>
                <a:srgbClr val="7030A0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2000" dirty="0" smtClean="0">
                <a:solidFill>
                  <a:srgbClr val="000000"/>
                </a:solidFill>
              </a:rPr>
              <a:t>函数原型与功能</a:t>
            </a:r>
            <a:endParaRPr lang="en-US" altLang="zh-CN" sz="2000" dirty="0" smtClean="0">
              <a:solidFill>
                <a:srgbClr val="000000"/>
              </a:solidFill>
            </a:endParaRPr>
          </a:p>
          <a:p>
            <a:pPr marL="914400" lvl="1" indent="-28575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800" dirty="0" smtClean="0">
                <a:solidFill>
                  <a:srgbClr val="0303DF"/>
                </a:solidFill>
              </a:rPr>
              <a:t>void </a:t>
            </a:r>
            <a:r>
              <a:rPr lang="en-US" altLang="zh-CN" sz="1800" dirty="0">
                <a:solidFill>
                  <a:srgbClr val="0303DF"/>
                </a:solidFill>
              </a:rPr>
              <a:t>*</a:t>
            </a:r>
            <a:r>
              <a:rPr lang="en-US" altLang="zh-CN" sz="1800" dirty="0" err="1">
                <a:solidFill>
                  <a:srgbClr val="0303DF"/>
                </a:solidFill>
              </a:rPr>
              <a:t>malloc</a:t>
            </a:r>
            <a:r>
              <a:rPr lang="en-US" altLang="zh-CN" sz="1800" dirty="0">
                <a:solidFill>
                  <a:srgbClr val="0303DF"/>
                </a:solidFill>
              </a:rPr>
              <a:t>(</a:t>
            </a:r>
            <a:r>
              <a:rPr lang="en-US" altLang="zh-CN" sz="1800" dirty="0" err="1">
                <a:solidFill>
                  <a:srgbClr val="0303DF"/>
                </a:solidFill>
              </a:rPr>
              <a:t>size_t</a:t>
            </a:r>
            <a:r>
              <a:rPr lang="en-US" altLang="zh-CN" sz="1800" dirty="0">
                <a:solidFill>
                  <a:srgbClr val="0303DF"/>
                </a:solidFill>
              </a:rPr>
              <a:t> size)</a:t>
            </a:r>
            <a:r>
              <a:rPr lang="en-US" altLang="zh-CN" sz="1800" dirty="0"/>
              <a:t> </a:t>
            </a:r>
            <a:r>
              <a:rPr lang="en-US" altLang="zh-CN" sz="1800" dirty="0" smtClean="0"/>
              <a:t>  //</a:t>
            </a:r>
            <a:r>
              <a:rPr lang="zh-CN" altLang="en-US" sz="1800" dirty="0" smtClean="0"/>
              <a:t>注：</a:t>
            </a:r>
            <a:r>
              <a:rPr lang="en-US" altLang="zh-CN" sz="1800" dirty="0" err="1" smtClean="0"/>
              <a:t>size_t</a:t>
            </a:r>
            <a:r>
              <a:rPr lang="en-US" altLang="zh-CN" sz="1800" dirty="0" smtClean="0"/>
              <a:t> </a:t>
            </a:r>
            <a:r>
              <a:rPr lang="zh-CN" altLang="en-US" sz="1800" dirty="0" smtClean="0"/>
              <a:t>即</a:t>
            </a:r>
            <a:r>
              <a:rPr lang="en-US" altLang="zh-CN" sz="1800" dirty="0"/>
              <a:t>unsigned </a:t>
            </a:r>
            <a:r>
              <a:rPr lang="en-US" altLang="zh-CN" sz="1800" dirty="0" err="1" smtClean="0"/>
              <a:t>int</a:t>
            </a:r>
            <a:endParaRPr lang="en-US" altLang="zh-CN" sz="1800" dirty="0" smtClean="0"/>
          </a:p>
          <a:p>
            <a:pPr marL="1200150" lvl="2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zh-CN" altLang="en-US" sz="1600" dirty="0" smtClean="0"/>
              <a:t>分配</a:t>
            </a:r>
            <a:r>
              <a:rPr lang="en-US" altLang="zh-CN" sz="1600" dirty="0" smtClean="0"/>
              <a:t>size</a:t>
            </a:r>
            <a:r>
              <a:rPr lang="zh-CN" altLang="en-US" sz="1600" dirty="0" smtClean="0"/>
              <a:t>个字节的</a:t>
            </a:r>
            <a:r>
              <a:rPr lang="zh-CN" altLang="en-US" sz="1600" dirty="0"/>
              <a:t>内存空间   </a:t>
            </a:r>
            <a:r>
              <a:rPr lang="en-US" altLang="zh-CN" sz="1600" dirty="0"/>
              <a:t>//</a:t>
            </a:r>
            <a:r>
              <a:rPr lang="zh-CN" altLang="en-US" sz="1600" dirty="0"/>
              <a:t>如 </a:t>
            </a:r>
            <a:r>
              <a:rPr lang="en-US" altLang="zh-CN" sz="1600" dirty="0" err="1"/>
              <a:t>int</a:t>
            </a:r>
            <a:r>
              <a:rPr lang="zh-CN" altLang="en-US" sz="1600" dirty="0"/>
              <a:t>*</a:t>
            </a:r>
            <a:r>
              <a:rPr lang="en-US" altLang="zh-CN" sz="1600" dirty="0"/>
              <a:t> p=(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*)</a:t>
            </a:r>
            <a:r>
              <a:rPr lang="en-US" altLang="zh-CN" sz="1600" dirty="0" err="1" smtClean="0"/>
              <a:t>calloc</a:t>
            </a:r>
            <a:r>
              <a:rPr lang="en-US" altLang="zh-CN" sz="1600" dirty="0" smtClean="0"/>
              <a:t>(20);</a:t>
            </a:r>
            <a:endParaRPr lang="en-US" altLang="zh-CN" sz="1600" dirty="0"/>
          </a:p>
          <a:p>
            <a:pPr marL="1200150" lvl="2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zh-CN" altLang="en-US" sz="1600" dirty="0" smtClean="0"/>
              <a:t>若执行成功，返回</a:t>
            </a:r>
            <a:r>
              <a:rPr lang="zh-CN" altLang="en-US" sz="1600" dirty="0"/>
              <a:t>一个</a:t>
            </a:r>
            <a:r>
              <a:rPr lang="zh-CN" altLang="en-US" sz="1600" dirty="0" smtClean="0"/>
              <a:t>指向该内存区域的指针；若执行不成功，返回</a:t>
            </a:r>
            <a:r>
              <a:rPr lang="en-US" altLang="zh-CN" sz="1600" dirty="0" smtClean="0"/>
              <a:t>NULL</a:t>
            </a:r>
          </a:p>
          <a:p>
            <a:pPr marL="914400" lvl="1" indent="-28575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800" dirty="0">
                <a:solidFill>
                  <a:srgbClr val="0303DF"/>
                </a:solidFill>
              </a:rPr>
              <a:t>void *</a:t>
            </a:r>
            <a:r>
              <a:rPr lang="en-US" altLang="zh-CN" sz="1800" dirty="0" err="1">
                <a:solidFill>
                  <a:srgbClr val="0303DF"/>
                </a:solidFill>
              </a:rPr>
              <a:t>calloc</a:t>
            </a:r>
            <a:r>
              <a:rPr lang="en-US" altLang="zh-CN" sz="1800" dirty="0">
                <a:solidFill>
                  <a:srgbClr val="0303DF"/>
                </a:solidFill>
              </a:rPr>
              <a:t>(</a:t>
            </a:r>
            <a:r>
              <a:rPr lang="en-US" altLang="zh-CN" sz="1800" dirty="0" err="1">
                <a:solidFill>
                  <a:srgbClr val="0303DF"/>
                </a:solidFill>
              </a:rPr>
              <a:t>size_t</a:t>
            </a:r>
            <a:r>
              <a:rPr lang="en-US" altLang="zh-CN" sz="1800" dirty="0">
                <a:solidFill>
                  <a:srgbClr val="0303DF"/>
                </a:solidFill>
              </a:rPr>
              <a:t> </a:t>
            </a:r>
            <a:r>
              <a:rPr lang="en-US" altLang="zh-CN" sz="1800" dirty="0" smtClean="0">
                <a:solidFill>
                  <a:srgbClr val="0303DF"/>
                </a:solidFill>
              </a:rPr>
              <a:t>n, </a:t>
            </a:r>
            <a:r>
              <a:rPr lang="en-US" altLang="zh-CN" sz="1800" dirty="0" err="1">
                <a:solidFill>
                  <a:srgbClr val="0303DF"/>
                </a:solidFill>
              </a:rPr>
              <a:t>size_t</a:t>
            </a:r>
            <a:r>
              <a:rPr lang="en-US" altLang="zh-CN" sz="1800" dirty="0">
                <a:solidFill>
                  <a:srgbClr val="0303DF"/>
                </a:solidFill>
              </a:rPr>
              <a:t> size</a:t>
            </a:r>
            <a:r>
              <a:rPr lang="en-US" altLang="zh-CN" sz="1800" dirty="0" smtClean="0">
                <a:solidFill>
                  <a:srgbClr val="0303DF"/>
                </a:solidFill>
              </a:rPr>
              <a:t>)  </a:t>
            </a:r>
            <a:r>
              <a:rPr lang="en-US" altLang="zh-CN" sz="1800" dirty="0" smtClean="0"/>
              <a:t>//</a:t>
            </a:r>
            <a:r>
              <a:rPr lang="zh-CN" altLang="en-US" sz="1800" dirty="0" smtClean="0"/>
              <a:t>如 </a:t>
            </a:r>
            <a:r>
              <a:rPr lang="en-US" altLang="zh-CN" sz="1800" dirty="0" err="1" smtClean="0"/>
              <a:t>int</a:t>
            </a:r>
            <a:r>
              <a:rPr lang="zh-CN" altLang="en-US" sz="1800" dirty="0" smtClean="0"/>
              <a:t>*</a:t>
            </a:r>
            <a:r>
              <a:rPr lang="en-US" altLang="zh-CN" sz="1800" dirty="0" smtClean="0"/>
              <a:t> p</a:t>
            </a:r>
            <a:r>
              <a:rPr lang="en-US" altLang="zh-CN" dirty="0" smtClean="0"/>
              <a:t>=(</a:t>
            </a:r>
            <a:r>
              <a:rPr lang="en-US" altLang="zh-CN" dirty="0" err="1"/>
              <a:t>int</a:t>
            </a:r>
            <a:r>
              <a:rPr lang="en-US" altLang="zh-CN" dirty="0"/>
              <a:t>*)</a:t>
            </a:r>
            <a:r>
              <a:rPr lang="en-US" altLang="zh-CN" dirty="0" err="1" smtClean="0"/>
              <a:t>calloc</a:t>
            </a:r>
            <a:r>
              <a:rPr lang="en-US" altLang="zh-CN" dirty="0" smtClean="0"/>
              <a:t>(5, </a:t>
            </a:r>
            <a:r>
              <a:rPr lang="en-US" altLang="zh-CN" dirty="0" err="1"/>
              <a:t>sizeof</a:t>
            </a:r>
            <a:r>
              <a:rPr lang="en-US" altLang="zh-CN" dirty="0"/>
              <a:t>(</a:t>
            </a:r>
            <a:r>
              <a:rPr lang="en-US" altLang="zh-CN" dirty="0" err="1"/>
              <a:t>int</a:t>
            </a:r>
            <a:r>
              <a:rPr lang="en-US" altLang="zh-CN" dirty="0"/>
              <a:t>));</a:t>
            </a:r>
            <a:endParaRPr lang="en-US" altLang="zh-CN" sz="1800" dirty="0" smtClean="0"/>
          </a:p>
          <a:p>
            <a:pPr marL="1143000" lvl="2" indent="-28575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altLang="zh-CN" sz="1600" dirty="0"/>
              <a:t> </a:t>
            </a:r>
            <a:r>
              <a:rPr lang="zh-CN" altLang="en-US" sz="1600" dirty="0" smtClean="0"/>
              <a:t>分配</a:t>
            </a:r>
            <a:r>
              <a:rPr lang="en-US" altLang="zh-CN" sz="1600" dirty="0" smtClean="0"/>
              <a:t>n</a:t>
            </a:r>
            <a:r>
              <a:rPr lang="zh-CN" altLang="en-US" sz="1600" dirty="0" smtClean="0"/>
              <a:t>*</a:t>
            </a:r>
            <a:r>
              <a:rPr lang="en-US" altLang="zh-CN" sz="1600" dirty="0" smtClean="0"/>
              <a:t>size</a:t>
            </a:r>
            <a:r>
              <a:rPr lang="zh-CN" altLang="en-US" sz="1600" dirty="0" smtClean="0"/>
              <a:t>个字节的</a:t>
            </a:r>
            <a:r>
              <a:rPr lang="zh-CN" altLang="en-US" sz="1600" dirty="0"/>
              <a:t>内存</a:t>
            </a:r>
            <a:r>
              <a:rPr lang="zh-CN" altLang="en-US" sz="1600" dirty="0" smtClean="0"/>
              <a:t>空间</a:t>
            </a:r>
            <a:endParaRPr lang="en-US" altLang="zh-CN" sz="1600" dirty="0" smtClean="0"/>
          </a:p>
          <a:p>
            <a:pPr marL="1143000" lvl="2" indent="-28575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zh-CN" altLang="en-US" sz="1600" dirty="0" smtClean="0"/>
              <a:t>若执行</a:t>
            </a:r>
            <a:r>
              <a:rPr lang="zh-CN" altLang="en-US" sz="1600" dirty="0"/>
              <a:t>成功，返回一个指向该内存区域的指针</a:t>
            </a:r>
            <a:r>
              <a:rPr lang="zh-CN" altLang="en-US" sz="1600" dirty="0" smtClean="0"/>
              <a:t>；若执行</a:t>
            </a:r>
            <a:r>
              <a:rPr lang="zh-CN" altLang="en-US" sz="1600" dirty="0"/>
              <a:t>不成功，返回</a:t>
            </a:r>
            <a:r>
              <a:rPr lang="en-US" altLang="zh-CN" sz="1600" dirty="0"/>
              <a:t>NULL</a:t>
            </a:r>
          </a:p>
          <a:p>
            <a:pPr marL="1143000" lvl="2" indent="-28575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altLang="zh-CN" sz="1600" dirty="0" err="1" smtClean="0">
                <a:solidFill>
                  <a:srgbClr val="006600"/>
                </a:solidFill>
              </a:rPr>
              <a:t>malloc</a:t>
            </a:r>
            <a:r>
              <a:rPr lang="en-US" altLang="zh-CN" sz="1600" dirty="0">
                <a:solidFill>
                  <a:srgbClr val="006600"/>
                </a:solidFill>
              </a:rPr>
              <a:t> </a:t>
            </a:r>
            <a:r>
              <a:rPr lang="zh-CN" altLang="en-US" sz="1600" dirty="0">
                <a:solidFill>
                  <a:srgbClr val="006600"/>
                </a:solidFill>
              </a:rPr>
              <a:t>和 </a:t>
            </a:r>
            <a:r>
              <a:rPr lang="en-US" altLang="zh-CN" sz="1600" dirty="0" err="1">
                <a:solidFill>
                  <a:srgbClr val="006600"/>
                </a:solidFill>
              </a:rPr>
              <a:t>calloc</a:t>
            </a:r>
            <a:r>
              <a:rPr lang="en-US" altLang="zh-CN" sz="1600" dirty="0">
                <a:solidFill>
                  <a:srgbClr val="006600"/>
                </a:solidFill>
              </a:rPr>
              <a:t> </a:t>
            </a:r>
            <a:r>
              <a:rPr lang="zh-CN" altLang="en-US" sz="1600" dirty="0" smtClean="0">
                <a:solidFill>
                  <a:srgbClr val="006600"/>
                </a:solidFill>
              </a:rPr>
              <a:t>的区别</a:t>
            </a:r>
            <a:endParaRPr lang="en-US" altLang="zh-CN" sz="1600" dirty="0" smtClean="0">
              <a:solidFill>
                <a:srgbClr val="006600"/>
              </a:solidFill>
            </a:endParaRPr>
          </a:p>
          <a:p>
            <a:pPr marL="1485900" lvl="3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400" dirty="0" err="1" smtClean="0"/>
              <a:t>malloc</a:t>
            </a:r>
            <a:r>
              <a:rPr lang="en-US" altLang="zh-CN" sz="1400" dirty="0" smtClean="0"/>
              <a:t> </a:t>
            </a:r>
            <a:r>
              <a:rPr lang="zh-CN" altLang="en-US" sz="1400" dirty="0"/>
              <a:t>不会设置内存为零，而 </a:t>
            </a:r>
            <a:r>
              <a:rPr lang="en-US" altLang="zh-CN" sz="1400" dirty="0" err="1"/>
              <a:t>calloc</a:t>
            </a:r>
            <a:r>
              <a:rPr lang="en-US" altLang="zh-CN" sz="1400" dirty="0"/>
              <a:t> </a:t>
            </a:r>
            <a:r>
              <a:rPr lang="zh-CN" altLang="en-US" sz="1400" dirty="0"/>
              <a:t>会设置分配的内存为</a:t>
            </a:r>
            <a:r>
              <a:rPr lang="zh-CN" altLang="en-US" sz="1400" dirty="0" smtClean="0"/>
              <a:t>零</a:t>
            </a:r>
            <a:endParaRPr lang="en-US" altLang="zh-CN" sz="1400" dirty="0"/>
          </a:p>
          <a:p>
            <a:pPr marL="914400" lvl="1" indent="-28575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800" dirty="0" smtClean="0">
                <a:solidFill>
                  <a:srgbClr val="0303DF"/>
                </a:solidFill>
              </a:rPr>
              <a:t>void </a:t>
            </a:r>
            <a:r>
              <a:rPr lang="en-US" altLang="zh-CN" sz="1800" dirty="0">
                <a:solidFill>
                  <a:srgbClr val="0303DF"/>
                </a:solidFill>
              </a:rPr>
              <a:t>free(void *</a:t>
            </a:r>
            <a:r>
              <a:rPr lang="en-US" altLang="zh-CN" sz="1800" dirty="0" err="1">
                <a:solidFill>
                  <a:srgbClr val="0303DF"/>
                </a:solidFill>
              </a:rPr>
              <a:t>ptr</a:t>
            </a:r>
            <a:r>
              <a:rPr lang="en-US" altLang="zh-CN" sz="1800" dirty="0">
                <a:solidFill>
                  <a:srgbClr val="0303DF"/>
                </a:solidFill>
              </a:rPr>
              <a:t>) </a:t>
            </a:r>
          </a:p>
          <a:p>
            <a:pPr marL="1200150" lvl="2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zh-CN" altLang="en-US" sz="1600" dirty="0"/>
              <a:t>释放之前调用 </a:t>
            </a:r>
            <a:r>
              <a:rPr lang="en-US" altLang="zh-CN" sz="1600" dirty="0" err="1"/>
              <a:t>calloc</a:t>
            </a:r>
            <a:r>
              <a:rPr lang="zh-CN" altLang="en-US" sz="1600" dirty="0"/>
              <a:t>、</a:t>
            </a:r>
            <a:r>
              <a:rPr lang="en-US" altLang="zh-CN" sz="1600" dirty="0" err="1"/>
              <a:t>malloc</a:t>
            </a:r>
            <a:r>
              <a:rPr lang="en-US" altLang="zh-CN" sz="1600" dirty="0"/>
              <a:t> </a:t>
            </a:r>
            <a:r>
              <a:rPr lang="zh-CN" altLang="en-US" sz="1600" dirty="0"/>
              <a:t>或 </a:t>
            </a:r>
            <a:r>
              <a:rPr lang="en-US" altLang="zh-CN" sz="1600" dirty="0" err="1"/>
              <a:t>realloc</a:t>
            </a:r>
            <a:r>
              <a:rPr lang="en-US" altLang="zh-CN" sz="1600" dirty="0"/>
              <a:t> </a:t>
            </a:r>
            <a:r>
              <a:rPr lang="zh-CN" altLang="en-US" sz="1600" dirty="0"/>
              <a:t>所分配的内存空间。</a:t>
            </a:r>
            <a:endParaRPr lang="en-US" altLang="zh-CN" sz="1600" dirty="0"/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en-US" altLang="zh-CN" sz="2000" dirty="0" err="1" smtClean="0"/>
              <a:t>malloc</a:t>
            </a:r>
            <a:r>
              <a:rPr lang="zh-CN" altLang="en-US" sz="2000" dirty="0" smtClean="0"/>
              <a:t>和</a:t>
            </a:r>
            <a:r>
              <a:rPr lang="en-US" altLang="zh-CN" sz="2000" dirty="0" err="1" smtClean="0"/>
              <a:t>calloc</a:t>
            </a:r>
            <a:r>
              <a:rPr lang="zh-CN" altLang="en-US" sz="2000" dirty="0" smtClean="0"/>
              <a:t>函数动态从堆中申请内存区域，使用完后要及时调用</a:t>
            </a:r>
            <a:r>
              <a:rPr lang="en-US" altLang="zh-CN" sz="2000" dirty="0" smtClean="0"/>
              <a:t>free</a:t>
            </a:r>
            <a:r>
              <a:rPr lang="zh-CN" altLang="en-US" sz="2000" dirty="0" smtClean="0"/>
              <a:t>函数归还给堆，否则可能导致堆栈溢出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endParaRPr lang="en-US" altLang="zh-CN" sz="2000" dirty="0">
              <a:solidFill>
                <a:srgbClr val="000000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endParaRPr lang="en-US" altLang="zh-CN" sz="2000" dirty="0" smtClean="0">
              <a:solidFill>
                <a:srgbClr val="00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402359" y="325704"/>
            <a:ext cx="732847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800" dirty="0" smtClean="0">
                <a:solidFill>
                  <a:srgbClr val="7030A0"/>
                </a:solidFill>
                <a:latin typeface="+mj-lt"/>
                <a:ea typeface="+mj-ea"/>
                <a:cs typeface="+mj-cs"/>
              </a:rPr>
              <a:t>函数 </a:t>
            </a:r>
            <a:r>
              <a:rPr lang="en-US" altLang="zh-CN" sz="2800" dirty="0" err="1" smtClean="0">
                <a:solidFill>
                  <a:srgbClr val="7030A0"/>
                </a:solidFill>
                <a:latin typeface="+mj-lt"/>
                <a:ea typeface="+mj-ea"/>
                <a:cs typeface="+mj-cs"/>
              </a:rPr>
              <a:t>malloc</a:t>
            </a:r>
            <a:r>
              <a:rPr lang="en-US" altLang="zh-CN" sz="2800" dirty="0" smtClean="0">
                <a:solidFill>
                  <a:srgbClr val="7030A0"/>
                </a:solidFill>
                <a:latin typeface="+mj-lt"/>
                <a:ea typeface="+mj-ea"/>
                <a:cs typeface="+mj-cs"/>
              </a:rPr>
              <a:t> </a:t>
            </a:r>
            <a:r>
              <a:rPr lang="zh-CN" altLang="en-US" sz="2800" dirty="0" smtClean="0">
                <a:solidFill>
                  <a:srgbClr val="7030A0"/>
                </a:solidFill>
                <a:latin typeface="+mj-lt"/>
                <a:ea typeface="+mj-ea"/>
                <a:cs typeface="+mj-cs"/>
              </a:rPr>
              <a:t>与</a:t>
            </a:r>
            <a:r>
              <a:rPr lang="en-US" altLang="zh-CN" sz="2800" dirty="0" smtClean="0">
                <a:solidFill>
                  <a:srgbClr val="7030A0"/>
                </a:solidFill>
                <a:latin typeface="+mj-lt"/>
                <a:ea typeface="+mj-ea"/>
                <a:cs typeface="+mj-cs"/>
              </a:rPr>
              <a:t>free</a:t>
            </a:r>
            <a:endParaRPr lang="zh-CN" altLang="en-US" sz="2800" dirty="0">
              <a:solidFill>
                <a:srgbClr val="C00000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73799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462396" y="1129867"/>
            <a:ext cx="7434695" cy="5237682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整体输入</a:t>
            </a:r>
            <a:endParaRPr lang="en-US" altLang="zh-CN" sz="2000" dirty="0" smtClean="0"/>
          </a:p>
          <a:p>
            <a:pPr marL="971550" lvl="1"/>
            <a:r>
              <a:rPr lang="en-US" altLang="zh-CN" sz="1800" dirty="0"/>
              <a:t>char *</a:t>
            </a:r>
            <a:r>
              <a:rPr lang="en-US" altLang="zh-CN" sz="1800" dirty="0">
                <a:solidFill>
                  <a:srgbClr val="7030A0"/>
                </a:solidFill>
              </a:rPr>
              <a:t>gets</a:t>
            </a:r>
            <a:r>
              <a:rPr lang="en-US" altLang="zh-CN" sz="1800" dirty="0"/>
              <a:t>(char *</a:t>
            </a:r>
            <a:r>
              <a:rPr lang="en-US" altLang="zh-CN" sz="1800" dirty="0" err="1"/>
              <a:t>str</a:t>
            </a:r>
            <a:r>
              <a:rPr lang="en-US" altLang="zh-CN" sz="1800" dirty="0"/>
              <a:t>);    // </a:t>
            </a:r>
            <a:r>
              <a:rPr lang="en-US" altLang="zh-CN" sz="1800" dirty="0" err="1"/>
              <a:t>stdio.h</a:t>
            </a:r>
            <a:endParaRPr lang="en-US" altLang="zh-CN" sz="1800" dirty="0"/>
          </a:p>
          <a:p>
            <a:pPr marL="971550" lvl="1"/>
            <a:r>
              <a:rPr lang="en-US" altLang="zh-CN" sz="1800" dirty="0" err="1"/>
              <a:t>int</a:t>
            </a:r>
            <a:r>
              <a:rPr lang="en-US" altLang="zh-CN" sz="1800" dirty="0"/>
              <a:t> </a:t>
            </a:r>
            <a:r>
              <a:rPr lang="en-US" altLang="zh-CN" sz="1800" dirty="0" err="1">
                <a:solidFill>
                  <a:srgbClr val="7030A0"/>
                </a:solidFill>
              </a:rPr>
              <a:t>scanf</a:t>
            </a:r>
            <a:r>
              <a:rPr lang="en-US" altLang="zh-CN" sz="1800" dirty="0"/>
              <a:t>(“</a:t>
            </a:r>
            <a:r>
              <a:rPr lang="en-US" altLang="zh-CN" sz="1800" dirty="0">
                <a:solidFill>
                  <a:srgbClr val="C00000"/>
                </a:solidFill>
              </a:rPr>
              <a:t>%s</a:t>
            </a:r>
            <a:r>
              <a:rPr lang="en-US" altLang="zh-CN" sz="1800" dirty="0"/>
              <a:t>”,</a:t>
            </a:r>
            <a:r>
              <a:rPr lang="zh-CN" altLang="en-US" sz="1800" dirty="0"/>
              <a:t>字符数组名</a:t>
            </a:r>
            <a:r>
              <a:rPr lang="en-US" altLang="zh-CN" sz="1800" dirty="0"/>
              <a:t>)</a:t>
            </a:r>
            <a:r>
              <a:rPr lang="zh-CN" altLang="en-US" sz="1800" dirty="0"/>
              <a:t>；   </a:t>
            </a:r>
            <a:r>
              <a:rPr lang="en-US" altLang="zh-CN" sz="1800" dirty="0"/>
              <a:t>// </a:t>
            </a:r>
            <a:r>
              <a:rPr lang="en-US" altLang="zh-CN" sz="1800" dirty="0" err="1"/>
              <a:t>stdio.h</a:t>
            </a: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整体</a:t>
            </a:r>
            <a:r>
              <a:rPr lang="zh-CN" altLang="en-US" sz="2000" dirty="0" smtClean="0"/>
              <a:t>输出</a:t>
            </a:r>
            <a:endParaRPr lang="en-US" altLang="zh-CN" sz="2000" dirty="0"/>
          </a:p>
          <a:p>
            <a:pPr marL="971550" lvl="1"/>
            <a:r>
              <a:rPr lang="en-US" altLang="zh-CN" sz="1800" dirty="0" err="1"/>
              <a:t>int</a:t>
            </a:r>
            <a:r>
              <a:rPr lang="en-US" altLang="zh-CN" sz="1800" dirty="0"/>
              <a:t> </a:t>
            </a:r>
            <a:r>
              <a:rPr lang="en-US" altLang="zh-CN" sz="1800" dirty="0">
                <a:solidFill>
                  <a:srgbClr val="7030A0"/>
                </a:solidFill>
              </a:rPr>
              <a:t>puts</a:t>
            </a:r>
            <a:r>
              <a:rPr lang="en-US" altLang="zh-CN" sz="1800" dirty="0"/>
              <a:t>(char *</a:t>
            </a:r>
            <a:r>
              <a:rPr lang="en-US" altLang="zh-CN" sz="1800" dirty="0" err="1"/>
              <a:t>str</a:t>
            </a:r>
            <a:r>
              <a:rPr lang="en-US" altLang="zh-CN" sz="1800" dirty="0"/>
              <a:t>);   //</a:t>
            </a:r>
            <a:r>
              <a:rPr lang="en-US" altLang="zh-CN" sz="1800" dirty="0" err="1" smtClean="0"/>
              <a:t>stdio.h</a:t>
            </a:r>
            <a:r>
              <a:rPr lang="en-US" altLang="zh-CN" sz="1800" dirty="0" smtClean="0"/>
              <a:t>  //</a:t>
            </a:r>
            <a:r>
              <a:rPr lang="zh-CN" altLang="en-US" sz="1800" dirty="0" smtClean="0"/>
              <a:t>输入的字符串中可以含有空格</a:t>
            </a:r>
            <a:endParaRPr lang="en-US" altLang="zh-CN" sz="1800" dirty="0"/>
          </a:p>
          <a:p>
            <a:pPr marL="971550" lvl="1"/>
            <a:r>
              <a:rPr lang="en-US" altLang="zh-CN" sz="1800" dirty="0" err="1"/>
              <a:t>int</a:t>
            </a:r>
            <a:r>
              <a:rPr lang="en-US" altLang="zh-CN" sz="1800" dirty="0"/>
              <a:t> </a:t>
            </a:r>
            <a:r>
              <a:rPr lang="en-US" altLang="zh-CN" sz="1800" dirty="0" err="1">
                <a:solidFill>
                  <a:srgbClr val="7030A0"/>
                </a:solidFill>
              </a:rPr>
              <a:t>printf</a:t>
            </a:r>
            <a:r>
              <a:rPr lang="en-US" altLang="zh-CN" sz="1800" dirty="0"/>
              <a:t>(“</a:t>
            </a:r>
            <a:r>
              <a:rPr lang="en-US" altLang="zh-CN" sz="1800" dirty="0">
                <a:solidFill>
                  <a:srgbClr val="C00000"/>
                </a:solidFill>
              </a:rPr>
              <a:t>%s</a:t>
            </a:r>
            <a:r>
              <a:rPr lang="en-US" altLang="zh-CN" sz="1800" dirty="0"/>
              <a:t>”,</a:t>
            </a:r>
            <a:r>
              <a:rPr lang="zh-CN" altLang="en-US" sz="1800" dirty="0"/>
              <a:t> </a:t>
            </a:r>
            <a:r>
              <a:rPr lang="en-US" altLang="zh-CN" sz="1800" dirty="0"/>
              <a:t>…)</a:t>
            </a:r>
            <a:r>
              <a:rPr lang="zh-CN" altLang="en-US" sz="1800" dirty="0"/>
              <a:t>  </a:t>
            </a:r>
            <a:r>
              <a:rPr lang="en-US" altLang="zh-CN" sz="1800" dirty="0"/>
              <a:t>//</a:t>
            </a:r>
            <a:r>
              <a:rPr lang="en-US" altLang="zh-CN" sz="1800" dirty="0" err="1" smtClean="0"/>
              <a:t>stdio.h</a:t>
            </a:r>
            <a:r>
              <a:rPr lang="en-US" altLang="zh-CN" sz="1800" dirty="0" smtClean="0"/>
              <a:t>  //</a:t>
            </a:r>
            <a:r>
              <a:rPr lang="zh-CN" altLang="en-US" sz="1800" dirty="0"/>
              <a:t>输入的字符串</a:t>
            </a:r>
            <a:r>
              <a:rPr lang="zh-CN" altLang="en-US" sz="1800" dirty="0" smtClean="0"/>
              <a:t>中不能含有空格</a:t>
            </a: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例</a:t>
            </a:r>
            <a:r>
              <a:rPr lang="zh-CN" altLang="en-US" sz="2000" dirty="0"/>
              <a:t>：</a:t>
            </a:r>
            <a:endParaRPr lang="en-US" altLang="zh-CN" sz="2000" dirty="0"/>
          </a:p>
          <a:p>
            <a:pPr lvl="1" indent="0">
              <a:lnSpc>
                <a:spcPct val="120000"/>
              </a:lnSpc>
              <a:buNone/>
            </a:pPr>
            <a:r>
              <a:rPr lang="en-US" altLang="zh-CN" sz="1600" dirty="0" err="1"/>
              <a:t>int</a:t>
            </a:r>
            <a:r>
              <a:rPr lang="en-US" altLang="zh-CN" sz="1600" dirty="0"/>
              <a:t>  </a:t>
            </a:r>
            <a:r>
              <a:rPr lang="en-US" altLang="zh-CN" sz="1600" dirty="0" smtClean="0"/>
              <a:t>char c[21];</a:t>
            </a:r>
            <a:endParaRPr lang="en-US" altLang="zh-CN" sz="1600" dirty="0"/>
          </a:p>
          <a:p>
            <a:pPr lvl="1" indent="0">
              <a:lnSpc>
                <a:spcPct val="120000"/>
              </a:lnSpc>
              <a:buNone/>
            </a:pPr>
            <a:r>
              <a:rPr lang="en-US" altLang="zh-CN" sz="1600" dirty="0" smtClean="0">
                <a:solidFill>
                  <a:srgbClr val="7030A0"/>
                </a:solidFill>
              </a:rPr>
              <a:t>gets(c);  //</a:t>
            </a:r>
            <a:r>
              <a:rPr lang="en-US" altLang="zh-CN" sz="1600" dirty="0"/>
              <a:t>//</a:t>
            </a:r>
            <a:r>
              <a:rPr lang="zh-CN" altLang="en-US" sz="1600" dirty="0"/>
              <a:t>键盘输入长度不超过</a:t>
            </a:r>
            <a:r>
              <a:rPr lang="en-US" altLang="zh-CN" sz="1600" dirty="0"/>
              <a:t>20</a:t>
            </a:r>
            <a:r>
              <a:rPr lang="zh-CN" altLang="en-US" sz="1600" dirty="0"/>
              <a:t>的</a:t>
            </a:r>
            <a:r>
              <a:rPr lang="zh-CN" altLang="en-US" sz="1600" dirty="0" smtClean="0"/>
              <a:t>字符串</a:t>
            </a:r>
            <a:endParaRPr lang="en-US" altLang="zh-CN" sz="1600" dirty="0" smtClean="0">
              <a:solidFill>
                <a:srgbClr val="7030A0"/>
              </a:solidFill>
            </a:endParaRPr>
          </a:p>
          <a:p>
            <a:pPr lvl="1" indent="0">
              <a:lnSpc>
                <a:spcPct val="120000"/>
              </a:lnSpc>
              <a:buNone/>
            </a:pPr>
            <a:r>
              <a:rPr lang="en-US" altLang="zh-CN" sz="1600" dirty="0" smtClean="0">
                <a:solidFill>
                  <a:srgbClr val="7030A0"/>
                </a:solidFill>
              </a:rPr>
              <a:t>//</a:t>
            </a:r>
            <a:r>
              <a:rPr lang="en-US" altLang="zh-CN" sz="1600" dirty="0" err="1" smtClean="0">
                <a:solidFill>
                  <a:srgbClr val="7030A0"/>
                </a:solidFill>
              </a:rPr>
              <a:t>scanf</a:t>
            </a:r>
            <a:r>
              <a:rPr lang="en-US" altLang="zh-CN" sz="1600" dirty="0" smtClean="0">
                <a:solidFill>
                  <a:srgbClr val="7030A0"/>
                </a:solidFill>
              </a:rPr>
              <a:t>(“%</a:t>
            </a:r>
            <a:r>
              <a:rPr lang="en-US" altLang="zh-CN" sz="1600" dirty="0" err="1" smtClean="0">
                <a:solidFill>
                  <a:srgbClr val="7030A0"/>
                </a:solidFill>
              </a:rPr>
              <a:t>s”,c</a:t>
            </a:r>
            <a:r>
              <a:rPr lang="en-US" altLang="zh-CN" sz="1600" dirty="0" smtClean="0">
                <a:solidFill>
                  <a:srgbClr val="7030A0"/>
                </a:solidFill>
              </a:rPr>
              <a:t>);  //c</a:t>
            </a:r>
            <a:r>
              <a:rPr lang="zh-CN" altLang="en-US" sz="1600" dirty="0" smtClean="0">
                <a:solidFill>
                  <a:srgbClr val="7030A0"/>
                </a:solidFill>
              </a:rPr>
              <a:t>是数组名，是一个地址</a:t>
            </a:r>
            <a:endParaRPr lang="en-US" altLang="zh-CN" sz="1600" dirty="0" smtClean="0">
              <a:solidFill>
                <a:srgbClr val="7030A0"/>
              </a:solidFill>
            </a:endParaRPr>
          </a:p>
          <a:p>
            <a:pPr lvl="1" indent="0">
              <a:lnSpc>
                <a:spcPct val="120000"/>
              </a:lnSpc>
              <a:buNone/>
            </a:pPr>
            <a:r>
              <a:rPr lang="en-US" altLang="zh-CN" sz="1600" dirty="0" smtClean="0">
                <a:solidFill>
                  <a:srgbClr val="030DCD"/>
                </a:solidFill>
              </a:rPr>
              <a:t>puts(c);</a:t>
            </a:r>
          </a:p>
          <a:p>
            <a:pPr lvl="1" indent="0">
              <a:lnSpc>
                <a:spcPct val="120000"/>
              </a:lnSpc>
              <a:buNone/>
            </a:pPr>
            <a:r>
              <a:rPr lang="en-US" altLang="zh-CN" sz="1600" dirty="0" err="1">
                <a:solidFill>
                  <a:srgbClr val="030DCD"/>
                </a:solidFill>
              </a:rPr>
              <a:t>p</a:t>
            </a:r>
            <a:r>
              <a:rPr lang="en-US" altLang="zh-CN" sz="1600" dirty="0" err="1" smtClean="0">
                <a:solidFill>
                  <a:srgbClr val="030DCD"/>
                </a:solidFill>
              </a:rPr>
              <a:t>rintf</a:t>
            </a:r>
            <a:r>
              <a:rPr lang="en-US" altLang="zh-CN" sz="1600" dirty="0" smtClean="0">
                <a:solidFill>
                  <a:srgbClr val="030DCD"/>
                </a:solidFill>
              </a:rPr>
              <a:t>(“%s\</a:t>
            </a:r>
            <a:r>
              <a:rPr lang="en-US" altLang="zh-CN" sz="1600" dirty="0" err="1" smtClean="0">
                <a:solidFill>
                  <a:srgbClr val="030DCD"/>
                </a:solidFill>
              </a:rPr>
              <a:t>b”,c</a:t>
            </a:r>
            <a:r>
              <a:rPr lang="en-US" altLang="zh-CN" sz="1600" dirty="0" smtClean="0">
                <a:solidFill>
                  <a:srgbClr val="030DCD"/>
                </a:solidFill>
              </a:rPr>
              <a:t>);</a:t>
            </a:r>
            <a:endParaRPr lang="en-US" altLang="zh-CN" sz="1600" dirty="0">
              <a:solidFill>
                <a:srgbClr val="030DCD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 smtClean="0"/>
          </a:p>
          <a:p>
            <a:pPr marL="342900"/>
            <a:endParaRPr lang="en-US" altLang="zh-CN" dirty="0"/>
          </a:p>
        </p:txBody>
      </p:sp>
      <p:sp>
        <p:nvSpPr>
          <p:cNvPr id="3" name="矩形 2"/>
          <p:cNvSpPr/>
          <p:nvPr/>
        </p:nvSpPr>
        <p:spPr>
          <a:xfrm>
            <a:off x="367443" y="282925"/>
            <a:ext cx="739456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800" dirty="0" smtClean="0">
                <a:solidFill>
                  <a:srgbClr val="1A93C8"/>
                </a:solidFill>
                <a:latin typeface="+mj-lt"/>
                <a:ea typeface="+mj-ea"/>
                <a:cs typeface="+mj-cs"/>
              </a:rPr>
              <a:t>字符串的输入</a:t>
            </a:r>
            <a:r>
              <a:rPr lang="en-US" altLang="zh-CN" sz="2800" dirty="0" smtClean="0">
                <a:solidFill>
                  <a:srgbClr val="1A93C8"/>
                </a:solidFill>
                <a:latin typeface="+mj-lt"/>
                <a:ea typeface="+mj-ea"/>
                <a:cs typeface="+mj-cs"/>
              </a:rPr>
              <a:t>/</a:t>
            </a:r>
            <a:r>
              <a:rPr lang="zh-CN" altLang="en-US" sz="2800" dirty="0" smtClean="0">
                <a:solidFill>
                  <a:srgbClr val="1A93C8"/>
                </a:solidFill>
                <a:latin typeface="+mj-lt"/>
                <a:ea typeface="+mj-ea"/>
                <a:cs typeface="+mj-cs"/>
              </a:rPr>
              <a:t>输出</a:t>
            </a:r>
            <a:endParaRPr lang="zh-CN" altLang="en-US" sz="2800" dirty="0">
              <a:solidFill>
                <a:srgbClr val="1A93C8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265267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5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558223" y="1118467"/>
            <a:ext cx="7772400" cy="4114800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原型声明：</a:t>
            </a:r>
            <a:r>
              <a:rPr lang="en-US" altLang="zh-CN" sz="2000" dirty="0" err="1">
                <a:solidFill>
                  <a:srgbClr val="030DCD"/>
                </a:solidFill>
              </a:rPr>
              <a:t>size_t</a:t>
            </a:r>
            <a:r>
              <a:rPr lang="en-US" altLang="zh-CN" sz="2000" dirty="0">
                <a:solidFill>
                  <a:srgbClr val="030DCD"/>
                </a:solidFill>
              </a:rPr>
              <a:t>  </a:t>
            </a:r>
            <a:r>
              <a:rPr lang="en-US" altLang="zh-CN" sz="2000" dirty="0" err="1">
                <a:solidFill>
                  <a:srgbClr val="030DCD"/>
                </a:solidFill>
              </a:rPr>
              <a:t>strlen</a:t>
            </a:r>
            <a:r>
              <a:rPr lang="en-US" altLang="zh-CN" sz="2000" dirty="0">
                <a:solidFill>
                  <a:srgbClr val="030DCD"/>
                </a:solidFill>
              </a:rPr>
              <a:t>(const char *string);</a:t>
            </a:r>
          </a:p>
          <a:p>
            <a:pPr marL="342900" indent="-342900" algn="just">
              <a:buFont typeface="Wingdings" panose="05000000000000000000" pitchFamily="2" charset="2"/>
              <a:buChar char="l"/>
            </a:pPr>
            <a:r>
              <a:rPr lang="zh-CN" altLang="en-US" sz="2000" dirty="0"/>
              <a:t>功能：</a:t>
            </a:r>
            <a:endParaRPr lang="en-US" altLang="zh-CN" sz="2000" dirty="0"/>
          </a:p>
          <a:p>
            <a:pPr marL="971550" lvl="1" algn="just"/>
            <a:r>
              <a:rPr lang="zh-CN" altLang="en-US" sz="1800" dirty="0"/>
              <a:t>计算</a:t>
            </a:r>
            <a:r>
              <a:rPr lang="en-US" altLang="zh-CN" sz="1800" dirty="0"/>
              <a:t>str</a:t>
            </a:r>
            <a:r>
              <a:rPr lang="zh-CN" altLang="en-US" sz="1800" dirty="0"/>
              <a:t>为起始地址的字符串的长度</a:t>
            </a:r>
            <a:r>
              <a:rPr lang="en-US" altLang="zh-CN" sz="1800" dirty="0"/>
              <a:t>(</a:t>
            </a:r>
            <a:r>
              <a:rPr lang="zh-CN" altLang="en-US" sz="1800" dirty="0">
                <a:solidFill>
                  <a:srgbClr val="FF3300"/>
                </a:solidFill>
              </a:rPr>
              <a:t>不包括“字符串结束标志”</a:t>
            </a:r>
            <a:r>
              <a:rPr lang="en-US" altLang="zh-CN" sz="1800" dirty="0"/>
              <a:t>)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 marL="971550" lvl="1" algn="just"/>
            <a:r>
              <a:rPr lang="zh-CN" altLang="en-US" sz="1800" dirty="0"/>
              <a:t>返回</a:t>
            </a:r>
            <a:r>
              <a:rPr lang="en-US" altLang="zh-CN" sz="1800" dirty="0"/>
              <a:t>str</a:t>
            </a:r>
            <a:r>
              <a:rPr lang="zh-CN" altLang="en-US" sz="1800" dirty="0"/>
              <a:t>所指字符串的长度；</a:t>
            </a:r>
            <a:endParaRPr lang="en-US" altLang="zh-CN" sz="1800" dirty="0"/>
          </a:p>
          <a:p>
            <a:pPr marL="342900" indent="-342900" algn="just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30DCD"/>
                </a:solidFill>
              </a:rPr>
              <a:t>注：</a:t>
            </a:r>
            <a:endParaRPr lang="en-US" altLang="zh-CN" sz="2000" dirty="0">
              <a:solidFill>
                <a:srgbClr val="030DCD"/>
              </a:solidFill>
            </a:endParaRPr>
          </a:p>
          <a:p>
            <a:pPr marL="971550" lvl="1" algn="just"/>
            <a:r>
              <a:rPr lang="en-US" altLang="zh-CN" sz="1800" dirty="0" err="1">
                <a:solidFill>
                  <a:srgbClr val="030DCD"/>
                </a:solidFill>
              </a:rPr>
              <a:t>size_t</a:t>
            </a:r>
            <a:r>
              <a:rPr lang="en-US" altLang="zh-CN" sz="1800" dirty="0"/>
              <a:t> </a:t>
            </a:r>
            <a:r>
              <a:rPr lang="zh-CN" altLang="en-US" sz="1800" dirty="0"/>
              <a:t>的类型是 </a:t>
            </a:r>
            <a:r>
              <a:rPr lang="en-US" altLang="zh-CN" sz="1800" dirty="0">
                <a:solidFill>
                  <a:srgbClr val="030DCD"/>
                </a:solidFill>
              </a:rPr>
              <a:t>unsigned int</a:t>
            </a:r>
            <a:r>
              <a:rPr lang="zh-CN" altLang="en-US" sz="1800" dirty="0"/>
              <a:t>；</a:t>
            </a:r>
            <a:r>
              <a:rPr lang="en-US" altLang="zh-CN" sz="1800" dirty="0"/>
              <a:t> </a:t>
            </a:r>
          </a:p>
          <a:p>
            <a:pPr marL="971550" lvl="1" algn="just"/>
            <a:r>
              <a:rPr lang="en-US" altLang="zh-CN" sz="1800" dirty="0"/>
              <a:t>typedef unsigned int </a:t>
            </a:r>
            <a:r>
              <a:rPr lang="en-US" altLang="zh-CN" sz="1800" dirty="0" err="1"/>
              <a:t>size_t</a:t>
            </a:r>
            <a:r>
              <a:rPr lang="en-US" altLang="zh-CN" sz="1800" dirty="0"/>
              <a:t>;</a:t>
            </a:r>
          </a:p>
          <a:p>
            <a:pPr marL="971550" lvl="1" algn="just"/>
            <a:r>
              <a:rPr lang="zh-CN" altLang="en-US" sz="1800" dirty="0"/>
              <a:t>在头文件</a:t>
            </a:r>
            <a:r>
              <a:rPr lang="en-US" altLang="zh-CN" sz="1800" dirty="0" err="1"/>
              <a:t>stddef.h</a:t>
            </a:r>
            <a:r>
              <a:rPr lang="zh-CN" altLang="en-US" sz="1800" dirty="0"/>
              <a:t>中定义；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>
              <a:solidFill>
                <a:srgbClr val="FF33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405855" y="292018"/>
            <a:ext cx="723146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 smtClean="0">
                <a:solidFill>
                  <a:srgbClr val="1A93C8"/>
                </a:solidFill>
                <a:latin typeface="+mn-lt"/>
                <a:ea typeface="+mj-ea"/>
                <a:cs typeface="+mj-cs"/>
              </a:rPr>
              <a:t>计算字符串的</a:t>
            </a:r>
            <a:r>
              <a:rPr lang="zh-CN" altLang="en-US" sz="2800" b="1" dirty="0" smtClean="0">
                <a:solidFill>
                  <a:srgbClr val="7030A0"/>
                </a:solidFill>
                <a:latin typeface="+mn-lt"/>
                <a:ea typeface="+mj-ea"/>
                <a:cs typeface="+mj-cs"/>
              </a:rPr>
              <a:t>长度</a:t>
            </a:r>
            <a:r>
              <a:rPr lang="zh-CN" altLang="en-US" sz="2800" b="1" dirty="0" smtClean="0">
                <a:solidFill>
                  <a:srgbClr val="1A93C8"/>
                </a:solidFill>
                <a:latin typeface="+mn-lt"/>
                <a:ea typeface="+mj-ea"/>
                <a:cs typeface="+mj-cs"/>
              </a:rPr>
              <a:t>：</a:t>
            </a:r>
            <a:r>
              <a:rPr lang="en-US" altLang="zh-CN" sz="2800" b="1" dirty="0" err="1" smtClean="0">
                <a:solidFill>
                  <a:srgbClr val="1A93C8"/>
                </a:solidFill>
                <a:latin typeface="+mn-lt"/>
                <a:ea typeface="+mj-ea"/>
                <a:cs typeface="+mj-cs"/>
              </a:rPr>
              <a:t>strlen</a:t>
            </a:r>
            <a:r>
              <a:rPr lang="en-US" altLang="zh-CN" sz="2800" b="1" dirty="0">
                <a:solidFill>
                  <a:srgbClr val="1A93C8"/>
                </a:solidFill>
                <a:latin typeface="+mn-lt"/>
                <a:ea typeface="+mj-ea"/>
                <a:cs typeface="+mj-cs"/>
              </a:rPr>
              <a:t>()</a:t>
            </a:r>
            <a:r>
              <a:rPr lang="zh-CN" altLang="en-US" sz="2800" b="1" dirty="0">
                <a:solidFill>
                  <a:srgbClr val="1A93C8"/>
                </a:solidFill>
                <a:latin typeface="+mn-lt"/>
                <a:ea typeface="+mj-ea"/>
                <a:cs typeface="+mj-cs"/>
              </a:rPr>
              <a:t>函数</a:t>
            </a:r>
          </a:p>
        </p:txBody>
      </p:sp>
    </p:spTree>
    <p:extLst>
      <p:ext uri="{BB962C8B-B14F-4D97-AF65-F5344CB8AC3E}">
        <p14:creationId xmlns:p14="http://schemas.microsoft.com/office/powerpoint/2010/main" val="1489226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7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373063" y="992910"/>
            <a:ext cx="8251392" cy="5418281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000" dirty="0"/>
              <a:t>C</a:t>
            </a:r>
            <a:r>
              <a:rPr lang="zh-CN" altLang="en-US" sz="2000" dirty="0"/>
              <a:t>标准函数</a:t>
            </a:r>
            <a:r>
              <a:rPr lang="en-US" altLang="zh-CN" sz="2000" dirty="0" err="1">
                <a:solidFill>
                  <a:srgbClr val="C00000"/>
                </a:solidFill>
              </a:rPr>
              <a:t>strlen</a:t>
            </a:r>
            <a:r>
              <a:rPr lang="en-US" altLang="zh-CN" sz="2000" dirty="0">
                <a:solidFill>
                  <a:srgbClr val="C00000"/>
                </a:solidFill>
              </a:rPr>
              <a:t>(char *s)</a:t>
            </a:r>
            <a:r>
              <a:rPr lang="zh-CN" altLang="en-US" sz="2000" dirty="0"/>
              <a:t>返回字符串</a:t>
            </a:r>
            <a:r>
              <a:rPr lang="en-US" altLang="zh-CN" sz="2000" dirty="0"/>
              <a:t>s</a:t>
            </a:r>
            <a:r>
              <a:rPr lang="zh-CN" altLang="en-US" sz="2000" dirty="0"/>
              <a:t>的长度；</a:t>
            </a: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原型：</a:t>
            </a:r>
            <a:r>
              <a:rPr lang="zh-CN" altLang="en-US" sz="2000" b="1" dirty="0">
                <a:solidFill>
                  <a:srgbClr val="7030A0"/>
                </a:solidFill>
              </a:rPr>
              <a:t>头文件  </a:t>
            </a:r>
            <a:r>
              <a:rPr lang="en-US" altLang="zh-CN" sz="2000" b="1" dirty="0" err="1">
                <a:solidFill>
                  <a:srgbClr val="7030A0"/>
                </a:solidFill>
              </a:rPr>
              <a:t>string.h</a:t>
            </a:r>
            <a:endParaRPr lang="en-US" altLang="zh-CN" sz="2000" b="1" dirty="0">
              <a:solidFill>
                <a:srgbClr val="7030A0"/>
              </a:solidFill>
            </a:endParaRPr>
          </a:p>
          <a:p>
            <a:pPr marL="971550" lvl="1"/>
            <a:r>
              <a:rPr lang="en-US" altLang="zh-CN" sz="1800" dirty="0">
                <a:solidFill>
                  <a:srgbClr val="030DCD"/>
                </a:solidFill>
              </a:rPr>
              <a:t>unsigned int </a:t>
            </a:r>
            <a:r>
              <a:rPr lang="en-US" altLang="zh-CN" sz="1800" dirty="0" err="1">
                <a:solidFill>
                  <a:srgbClr val="C00000"/>
                </a:solidFill>
              </a:rPr>
              <a:t>strlen</a:t>
            </a:r>
            <a:r>
              <a:rPr lang="en-US" altLang="zh-CN" sz="1800" dirty="0">
                <a:solidFill>
                  <a:srgbClr val="030DCD"/>
                </a:solidFill>
              </a:rPr>
              <a:t> (char *s);</a:t>
            </a:r>
            <a:r>
              <a:rPr lang="en-US" altLang="zh-CN" sz="1800" dirty="0"/>
              <a:t>  s</a:t>
            </a:r>
            <a:r>
              <a:rPr lang="zh-CN" altLang="en-US" sz="1800" dirty="0"/>
              <a:t>为指定的字符串；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例如</a:t>
            </a:r>
            <a:endParaRPr lang="en-US" altLang="zh-CN" sz="2000" dirty="0"/>
          </a:p>
          <a:p>
            <a:pPr marL="971550" lvl="1"/>
            <a:r>
              <a:rPr lang="en-US" altLang="zh-CN" sz="1800" dirty="0"/>
              <a:t>char str[20]=“I am happy”;</a:t>
            </a:r>
          </a:p>
          <a:p>
            <a:pPr marL="971550" lvl="1"/>
            <a:r>
              <a:rPr lang="en-US" altLang="zh-CN" sz="1800" dirty="0"/>
              <a:t>unsigned </a:t>
            </a:r>
            <a:r>
              <a:rPr lang="en-US" altLang="zh-CN" sz="1800" b="1" dirty="0" err="1">
                <a:solidFill>
                  <a:srgbClr val="030DCD"/>
                </a:solidFill>
              </a:rPr>
              <a:t>len</a:t>
            </a:r>
            <a:r>
              <a:rPr lang="en-US" altLang="zh-CN" sz="1800" b="1" dirty="0">
                <a:solidFill>
                  <a:srgbClr val="030DCD"/>
                </a:solidFill>
              </a:rPr>
              <a:t>=</a:t>
            </a:r>
            <a:r>
              <a:rPr lang="en-US" altLang="zh-CN" sz="1800" b="1" dirty="0" err="1">
                <a:solidFill>
                  <a:srgbClr val="030DCD"/>
                </a:solidFill>
              </a:rPr>
              <a:t>strlen</a:t>
            </a:r>
            <a:r>
              <a:rPr lang="en-US" altLang="zh-CN" sz="1800" b="1" dirty="0">
                <a:solidFill>
                  <a:srgbClr val="030DCD"/>
                </a:solidFill>
              </a:rPr>
              <a:t>(str)</a:t>
            </a:r>
            <a:r>
              <a:rPr lang="en-US" altLang="zh-CN" sz="1800" dirty="0"/>
              <a:t>;  //</a:t>
            </a:r>
            <a:r>
              <a:rPr lang="en-US" altLang="zh-CN" sz="1800" dirty="0" err="1"/>
              <a:t>len</a:t>
            </a:r>
            <a:r>
              <a:rPr lang="zh-CN" altLang="en-US" sz="1800" dirty="0"/>
              <a:t>的值是</a:t>
            </a:r>
            <a:r>
              <a:rPr lang="en-US" altLang="zh-CN" sz="1800" dirty="0"/>
              <a:t>10</a:t>
            </a:r>
            <a:r>
              <a:rPr lang="zh-CN" altLang="en-US" sz="1800" dirty="0"/>
              <a:t>；</a:t>
            </a:r>
            <a:r>
              <a:rPr lang="en-US" altLang="zh-CN" sz="1800" dirty="0"/>
              <a:t>//</a:t>
            </a:r>
            <a:r>
              <a:rPr lang="zh-CN" altLang="en-US" sz="1800" b="1" dirty="0">
                <a:solidFill>
                  <a:srgbClr val="006600"/>
                </a:solidFill>
              </a:rPr>
              <a:t>数组名</a:t>
            </a:r>
            <a:r>
              <a:rPr lang="en-US" altLang="zh-CN" sz="1800" b="1" dirty="0">
                <a:solidFill>
                  <a:srgbClr val="006600"/>
                </a:solidFill>
              </a:rPr>
              <a:t>str</a:t>
            </a:r>
            <a:r>
              <a:rPr lang="zh-CN" altLang="en-US" sz="1800" b="1" dirty="0">
                <a:solidFill>
                  <a:srgbClr val="006600"/>
                </a:solidFill>
              </a:rPr>
              <a:t>是一个指针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若</a:t>
            </a:r>
            <a:endParaRPr lang="en-US" altLang="zh-CN" sz="2000" dirty="0"/>
          </a:p>
          <a:p>
            <a:pPr marL="971550" lvl="1"/>
            <a:r>
              <a:rPr lang="en-US" altLang="zh-CN" sz="1800" dirty="0"/>
              <a:t>char str[20]=“I am </a:t>
            </a:r>
            <a:r>
              <a:rPr lang="en-US" altLang="zh-CN" sz="1800" dirty="0">
                <a:solidFill>
                  <a:srgbClr val="C00000"/>
                </a:solidFill>
              </a:rPr>
              <a:t>\0</a:t>
            </a:r>
            <a:r>
              <a:rPr lang="en-US" altLang="zh-CN" sz="1800" dirty="0"/>
              <a:t>happy”;</a:t>
            </a:r>
          </a:p>
          <a:p>
            <a:pPr marL="971550" lvl="1"/>
            <a:r>
              <a:rPr lang="en-US" altLang="zh-CN" sz="1800" dirty="0"/>
              <a:t>unsigned </a:t>
            </a:r>
            <a:r>
              <a:rPr lang="en-US" altLang="zh-CN" sz="1800" b="1" dirty="0" err="1">
                <a:solidFill>
                  <a:srgbClr val="030DCD"/>
                </a:solidFill>
              </a:rPr>
              <a:t>len</a:t>
            </a:r>
            <a:r>
              <a:rPr lang="en-US" altLang="zh-CN" sz="1800" b="1" dirty="0">
                <a:solidFill>
                  <a:srgbClr val="030DCD"/>
                </a:solidFill>
              </a:rPr>
              <a:t>=</a:t>
            </a:r>
            <a:r>
              <a:rPr lang="en-US" altLang="zh-CN" sz="1800" b="1" dirty="0" err="1">
                <a:solidFill>
                  <a:srgbClr val="030DCD"/>
                </a:solidFill>
              </a:rPr>
              <a:t>strlen</a:t>
            </a:r>
            <a:r>
              <a:rPr lang="en-US" altLang="zh-CN" sz="1800" b="1" dirty="0">
                <a:solidFill>
                  <a:srgbClr val="030DCD"/>
                </a:solidFill>
              </a:rPr>
              <a:t>(str);  </a:t>
            </a:r>
            <a:r>
              <a:rPr lang="en-US" altLang="zh-CN" sz="1800" dirty="0"/>
              <a:t>//</a:t>
            </a:r>
            <a:r>
              <a:rPr lang="en-US" altLang="zh-CN" sz="1800" dirty="0" err="1"/>
              <a:t>len</a:t>
            </a:r>
            <a:r>
              <a:rPr lang="zh-CN" altLang="en-US" sz="1800" dirty="0"/>
              <a:t>的值是</a:t>
            </a:r>
            <a:r>
              <a:rPr lang="en-US" altLang="zh-CN" sz="1800" dirty="0"/>
              <a:t>5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</a:rPr>
              <a:t>字符串的结束符‘</a:t>
            </a:r>
            <a:r>
              <a:rPr lang="en-US" altLang="zh-CN" sz="2000" b="1" dirty="0">
                <a:solidFill>
                  <a:srgbClr val="C00000"/>
                </a:solidFill>
              </a:rPr>
              <a:t>\0</a:t>
            </a:r>
            <a:r>
              <a:rPr lang="zh-CN" altLang="en-US" sz="2000" b="1" dirty="0">
                <a:solidFill>
                  <a:srgbClr val="C00000"/>
                </a:solidFill>
              </a:rPr>
              <a:t>’不计算在字符串的长度之内；</a:t>
            </a:r>
            <a:endParaRPr lang="en-US" altLang="zh-CN" sz="2000" b="1" dirty="0">
              <a:solidFill>
                <a:srgbClr val="C0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>
              <a:solidFill>
                <a:srgbClr val="030DCD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sz="2000" dirty="0">
              <a:solidFill>
                <a:srgbClr val="030DCD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367443" y="282925"/>
            <a:ext cx="739456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800" dirty="0" smtClean="0">
                <a:solidFill>
                  <a:srgbClr val="7030A0"/>
                </a:solidFill>
                <a:latin typeface="+mj-lt"/>
                <a:ea typeface="+mj-ea"/>
                <a:cs typeface="+mj-cs"/>
              </a:rPr>
              <a:t>课后测试：</a:t>
            </a:r>
            <a:r>
              <a:rPr lang="zh-CN" altLang="en-US" sz="2800" dirty="0" smtClean="0">
                <a:solidFill>
                  <a:srgbClr val="1A93C8"/>
                </a:solidFill>
                <a:latin typeface="+mj-lt"/>
                <a:ea typeface="+mj-ea"/>
                <a:cs typeface="+mj-cs"/>
              </a:rPr>
              <a:t>字符串</a:t>
            </a:r>
            <a:r>
              <a:rPr lang="zh-CN" altLang="en-US" sz="2800" dirty="0">
                <a:solidFill>
                  <a:srgbClr val="1A93C8"/>
                </a:solidFill>
                <a:latin typeface="+mj-lt"/>
                <a:ea typeface="+mj-ea"/>
                <a:cs typeface="+mj-cs"/>
              </a:rPr>
              <a:t>的长度函数</a:t>
            </a:r>
          </a:p>
        </p:txBody>
      </p:sp>
    </p:spTree>
    <p:extLst>
      <p:ext uri="{BB962C8B-B14F-4D97-AF65-F5344CB8AC3E}">
        <p14:creationId xmlns:p14="http://schemas.microsoft.com/office/powerpoint/2010/main" val="3594345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181" y="1554480"/>
            <a:ext cx="7762494" cy="482337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>
                <a:latin typeface="宋体" panose="02010600030101010101" pitchFamily="2" charset="-122"/>
              </a:rPr>
              <a:t>字符串变量之间的</a:t>
            </a:r>
            <a:r>
              <a:rPr lang="zh-CN" altLang="en-US" b="1" dirty="0" smtClean="0">
                <a:solidFill>
                  <a:srgbClr val="7030A0"/>
                </a:solidFill>
                <a:latin typeface="宋体" panose="02010600030101010101" pitchFamily="2" charset="-122"/>
              </a:rPr>
              <a:t>赋值</a:t>
            </a:r>
            <a:r>
              <a:rPr lang="zh-CN" altLang="en-US" b="1" dirty="0" smtClean="0">
                <a:latin typeface="宋体" panose="02010600030101010101" pitchFamily="2" charset="-122"/>
              </a:rPr>
              <a:t>运算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089900" cy="419417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n"/>
            </a:pPr>
            <a:r>
              <a:rPr lang="zh-CN" altLang="en-US" sz="2000" dirty="0" smtClean="0"/>
              <a:t>考察下述程序段</a:t>
            </a:r>
            <a:endParaRPr lang="en-US" altLang="zh-CN" sz="2000" dirty="0" smtClean="0"/>
          </a:p>
        </p:txBody>
      </p:sp>
      <p:sp>
        <p:nvSpPr>
          <p:cNvPr id="8" name="圆角矩形标注 7"/>
          <p:cNvSpPr/>
          <p:nvPr/>
        </p:nvSpPr>
        <p:spPr bwMode="auto">
          <a:xfrm>
            <a:off x="4809744" y="1764010"/>
            <a:ext cx="3557016" cy="1344950"/>
          </a:xfrm>
          <a:prstGeom prst="wedgeRoundRectCallout">
            <a:avLst>
              <a:gd name="adj1" fmla="val -20833"/>
              <a:gd name="adj2" fmla="val 47893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利用字符指针变量定义的字符串，它们之间可以互相赋值。</a:t>
            </a:r>
            <a:endParaRPr kumimoji="0" lang="en-US" altLang="zh-CN" sz="1600" b="0" i="0" u="none" strike="noStrike" cap="none" normalizeH="0" baseline="0" dirty="0" smtClean="0">
              <a:ln>
                <a:noFill/>
              </a:ln>
              <a:solidFill>
                <a:srgbClr val="080808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字符数组之间不可互相整体赋值。</a:t>
            </a:r>
            <a:endParaRPr kumimoji="0" lang="en-US" altLang="zh-CN" sz="1600" b="0" i="0" u="none" strike="noStrike" cap="none" normalizeH="0" baseline="0" dirty="0" smtClean="0">
              <a:ln>
                <a:noFill/>
              </a:ln>
              <a:solidFill>
                <a:srgbClr val="080808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solidFill>
                  <a:srgbClr val="080808"/>
                </a:solidFill>
                <a:ea typeface="宋体" panose="02010600030101010101" pitchFamily="2" charset="-122"/>
              </a:rPr>
              <a:t>可以逐个元素复制，实现整体赋值的效果</a:t>
            </a:r>
            <a:endParaRPr lang="en-US" altLang="zh-CN" sz="1400" dirty="0">
              <a:solidFill>
                <a:srgbClr val="080808"/>
              </a:solidFill>
              <a:ea typeface="宋体" panose="02010600030101010101" pitchFamily="2" charset="-122"/>
            </a:endParaRPr>
          </a:p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rgbClr val="080808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流程图: 过程 6"/>
          <p:cNvSpPr/>
          <p:nvPr/>
        </p:nvSpPr>
        <p:spPr bwMode="auto">
          <a:xfrm>
            <a:off x="3163824" y="4108857"/>
            <a:ext cx="1938528" cy="533095"/>
          </a:xfrm>
          <a:prstGeom prst="flowChartProcess">
            <a:avLst/>
          </a:prstGeom>
          <a:noFill/>
          <a:ln w="28575" cap="flat" cmpd="sng" algn="ctr">
            <a:solidFill>
              <a:srgbClr val="0066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6926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>
                <a:latin typeface="宋体" panose="02010600030101010101" pitchFamily="2" charset="-122"/>
              </a:rPr>
              <a:t>字符串之间的</a:t>
            </a:r>
            <a:r>
              <a:rPr lang="zh-CN" altLang="en-US" b="1" dirty="0" smtClean="0">
                <a:solidFill>
                  <a:srgbClr val="7030A0"/>
                </a:solidFill>
                <a:latin typeface="宋体" panose="02010600030101010101" pitchFamily="2" charset="-122"/>
              </a:rPr>
              <a:t>复制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089900" cy="1306385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n"/>
            </a:pPr>
            <a:r>
              <a:rPr lang="zh-CN" altLang="en-US" sz="2000" dirty="0" smtClean="0"/>
              <a:t>利用</a:t>
            </a:r>
            <a:r>
              <a:rPr lang="en-US" altLang="zh-CN" sz="2000" dirty="0" smtClean="0"/>
              <a:t>C</a:t>
            </a:r>
            <a:r>
              <a:rPr lang="zh-CN" altLang="en-US" sz="2000" dirty="0" smtClean="0"/>
              <a:t>提供的函数</a:t>
            </a:r>
            <a:r>
              <a:rPr lang="en-US" altLang="zh-CN" sz="2000" dirty="0" err="1" smtClean="0">
                <a:solidFill>
                  <a:srgbClr val="FF0000"/>
                </a:solidFill>
              </a:rPr>
              <a:t>strcpy</a:t>
            </a:r>
            <a:r>
              <a:rPr lang="zh-CN" altLang="en-US" sz="2000" dirty="0"/>
              <a:t>实现字符串之间</a:t>
            </a:r>
            <a:r>
              <a:rPr lang="zh-CN" altLang="en-US" sz="2000" dirty="0" smtClean="0"/>
              <a:t>的</a:t>
            </a:r>
            <a:r>
              <a:rPr lang="zh-CN" altLang="en-US" sz="2000" dirty="0" smtClean="0">
                <a:solidFill>
                  <a:srgbClr val="FF0000"/>
                </a:solidFill>
              </a:rPr>
              <a:t>复制</a:t>
            </a:r>
            <a:endParaRPr lang="en-US" altLang="zh-CN" sz="2000" dirty="0" smtClean="0">
              <a:solidFill>
                <a:srgbClr val="FF0000"/>
              </a:solidFill>
            </a:endParaRP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n"/>
            </a:pPr>
            <a:r>
              <a:rPr lang="zh-CN" altLang="en-US" sz="2000" dirty="0" smtClean="0"/>
              <a:t>例如</a:t>
            </a:r>
            <a:endParaRPr lang="en-US" altLang="zh-CN" sz="2000" dirty="0" smtClean="0"/>
          </a:p>
          <a:p>
            <a:pPr marL="971550" lvl="1">
              <a:lnSpc>
                <a:spcPct val="100000"/>
              </a:lnSpc>
              <a:buFont typeface="Wingdings" panose="05000000000000000000" pitchFamily="2" charset="2"/>
              <a:buChar char="l"/>
            </a:pPr>
            <a:endParaRPr lang="en-US" altLang="zh-CN" sz="1600" dirty="0"/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l"/>
            </a:pPr>
            <a:endParaRPr lang="en-US" altLang="zh-CN" sz="2000" dirty="0" smtClean="0"/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l"/>
            </a:pPr>
            <a:endParaRPr lang="en-US" altLang="zh-CN" sz="2000" dirty="0" smtClean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597914"/>
            <a:ext cx="6638544" cy="440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319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宋体" panose="02010600030101010101" pitchFamily="2" charset="-122"/>
              </a:rPr>
              <a:t>字符串之间的</a:t>
            </a:r>
            <a:r>
              <a:rPr lang="zh-CN" altLang="en-US" b="1" dirty="0">
                <a:solidFill>
                  <a:srgbClr val="7030A0"/>
                </a:solidFill>
                <a:latin typeface="宋体" panose="02010600030101010101" pitchFamily="2" charset="-122"/>
              </a:rPr>
              <a:t>复制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089900" cy="894905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n"/>
            </a:pPr>
            <a:r>
              <a:rPr lang="zh-CN" altLang="en-US" sz="2000" dirty="0" smtClean="0"/>
              <a:t>字符串之间的复制，</a:t>
            </a:r>
            <a:r>
              <a:rPr lang="zh-CN" altLang="en-US" sz="2000" dirty="0" smtClean="0">
                <a:solidFill>
                  <a:srgbClr val="FF0000"/>
                </a:solidFill>
              </a:rPr>
              <a:t>目标字符串要有足够的空间</a:t>
            </a:r>
            <a:endParaRPr lang="en-US" altLang="zh-CN" sz="2000" dirty="0" smtClean="0">
              <a:solidFill>
                <a:srgbClr val="FF0000"/>
              </a:solidFill>
            </a:endParaRP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n"/>
            </a:pPr>
            <a:r>
              <a:rPr lang="zh-CN" altLang="en-US" sz="2000" dirty="0" smtClean="0"/>
              <a:t>例如</a:t>
            </a:r>
            <a:endParaRPr lang="en-US" altLang="zh-CN" sz="2000" dirty="0" smtClean="0"/>
          </a:p>
          <a:p>
            <a:pPr marL="971550" lvl="1">
              <a:lnSpc>
                <a:spcPct val="100000"/>
              </a:lnSpc>
              <a:buFont typeface="Wingdings" panose="05000000000000000000" pitchFamily="2" charset="2"/>
              <a:buChar char="l"/>
            </a:pPr>
            <a:endParaRPr lang="en-US" altLang="zh-CN" sz="1600" dirty="0"/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l"/>
            </a:pPr>
            <a:endParaRPr lang="en-US" altLang="zh-CN" sz="2000" dirty="0" smtClean="0"/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l"/>
            </a:pPr>
            <a:endParaRPr lang="en-US" altLang="zh-CN" sz="2000" dirty="0" smtClean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671" y="1582515"/>
            <a:ext cx="6812090" cy="4455414"/>
          </a:xfrm>
          <a:prstGeom prst="rect">
            <a:avLst/>
          </a:prstGeom>
        </p:spPr>
      </p:pic>
      <p:sp>
        <p:nvSpPr>
          <p:cNvPr id="6" name="圆角矩形标注 5"/>
          <p:cNvSpPr/>
          <p:nvPr/>
        </p:nvSpPr>
        <p:spPr bwMode="auto">
          <a:xfrm>
            <a:off x="6227064" y="2999232"/>
            <a:ext cx="1892808" cy="518382"/>
          </a:xfrm>
          <a:prstGeom prst="wedgeRoundRectCallout">
            <a:avLst>
              <a:gd name="adj1" fmla="val -70591"/>
              <a:gd name="adj2" fmla="val 119217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str2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的空间不足，运行出错</a:t>
            </a:r>
          </a:p>
        </p:txBody>
      </p:sp>
      <p:sp>
        <p:nvSpPr>
          <p:cNvPr id="7" name="圆角矩形标注 6"/>
          <p:cNvSpPr/>
          <p:nvPr/>
        </p:nvSpPr>
        <p:spPr bwMode="auto">
          <a:xfrm>
            <a:off x="5961888" y="3860212"/>
            <a:ext cx="2240279" cy="292608"/>
          </a:xfrm>
          <a:prstGeom prst="wedgeRoundRectCallout">
            <a:avLst>
              <a:gd name="adj1" fmla="val -28562"/>
              <a:gd name="adj2" fmla="val 49068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相当于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char</a:t>
            </a:r>
            <a:r>
              <a:rPr kumimoji="0" lang="en-US" altLang="zh-CN" sz="1400" b="0" i="0" u="none" strike="noStrike" cap="none" normalizeH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str2[5]=“Word”</a:t>
            </a:r>
            <a:endParaRPr kumimoji="0" lang="zh-CN" altLang="en-US" sz="1400" b="0" i="0" u="none" strike="noStrike" cap="none" normalizeH="0" baseline="0" dirty="0" smtClean="0">
              <a:ln>
                <a:noFill/>
              </a:ln>
              <a:solidFill>
                <a:srgbClr val="080808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043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395288" y="1028700"/>
            <a:ext cx="8316912" cy="5278582"/>
          </a:xfrm>
        </p:spPr>
        <p:txBody>
          <a:bodyPr/>
          <a:lstStyle/>
          <a:p>
            <a:pPr marL="342900" indent="-342900" algn="just"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头文件：</a:t>
            </a:r>
            <a:r>
              <a:rPr lang="en-US" altLang="zh-CN" sz="2000" dirty="0" err="1" smtClean="0"/>
              <a:t>string.h</a:t>
            </a:r>
            <a:endParaRPr lang="en-US" altLang="zh-CN" sz="2000" dirty="0" smtClean="0"/>
          </a:p>
          <a:p>
            <a:pPr marL="342900" indent="-342900" algn="just"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原型</a:t>
            </a:r>
            <a:r>
              <a:rPr lang="zh-CN" altLang="en-US" sz="2000" dirty="0"/>
              <a:t>声明：</a:t>
            </a:r>
            <a:r>
              <a:rPr lang="en-US" altLang="zh-CN" sz="2000" dirty="0"/>
              <a:t>char *</a:t>
            </a:r>
            <a:r>
              <a:rPr lang="en-US" altLang="zh-CN" sz="2000" dirty="0" err="1"/>
              <a:t>strcpy</a:t>
            </a:r>
            <a:r>
              <a:rPr lang="en-US" altLang="zh-CN" sz="2000" dirty="0"/>
              <a:t>(char* </a:t>
            </a:r>
            <a:r>
              <a:rPr lang="fr-FR" altLang="zh-CN" sz="2000" dirty="0"/>
              <a:t>destination</a:t>
            </a:r>
            <a:r>
              <a:rPr lang="en-US" altLang="zh-CN" sz="2000" dirty="0"/>
              <a:t>, const char *</a:t>
            </a:r>
            <a:r>
              <a:rPr lang="fr-FR" altLang="zh-CN" sz="2000" dirty="0"/>
              <a:t> source</a:t>
            </a:r>
            <a:r>
              <a:rPr lang="en-US" altLang="zh-CN" sz="2000" dirty="0"/>
              <a:t>);</a:t>
            </a:r>
          </a:p>
          <a:p>
            <a:pPr marL="342900" indent="-342900" algn="just">
              <a:buFont typeface="Wingdings" panose="05000000000000000000" pitchFamily="2" charset="2"/>
              <a:buChar char="l"/>
            </a:pPr>
            <a:r>
              <a:rPr lang="zh-CN" altLang="en-US" sz="2000" dirty="0"/>
              <a:t> 功能：</a:t>
            </a:r>
            <a:endParaRPr lang="en-US" altLang="zh-CN" sz="2000" dirty="0"/>
          </a:p>
          <a:p>
            <a:pPr marL="971550" lvl="1" algn="just"/>
            <a:r>
              <a:rPr lang="zh-CN" altLang="en-US" sz="1800" dirty="0"/>
              <a:t>把从</a:t>
            </a:r>
            <a:r>
              <a:rPr lang="fr-FR" altLang="zh-CN" sz="1800" dirty="0"/>
              <a:t>source</a:t>
            </a:r>
            <a:r>
              <a:rPr lang="zh-CN" altLang="en-US" sz="1800" dirty="0"/>
              <a:t>地址开始且含有</a:t>
            </a:r>
            <a:r>
              <a:rPr lang="en-US" altLang="zh-CN" sz="1800" dirty="0"/>
              <a:t>NULL</a:t>
            </a:r>
            <a:r>
              <a:rPr lang="zh-CN" altLang="en-US" sz="1800" dirty="0"/>
              <a:t>结束符的字符串复制到以</a:t>
            </a:r>
            <a:r>
              <a:rPr lang="fr-FR" altLang="zh-CN" sz="1800" dirty="0"/>
              <a:t>destination</a:t>
            </a:r>
            <a:r>
              <a:rPr lang="zh-CN" altLang="en-US" sz="1800" dirty="0"/>
              <a:t>开始的地址空间。</a:t>
            </a:r>
            <a:endParaRPr lang="en-US" altLang="zh-CN" sz="1800" dirty="0"/>
          </a:p>
          <a:p>
            <a:pPr marL="971550" lvl="1" algn="just"/>
            <a:r>
              <a:rPr lang="zh-CN" altLang="en-US" sz="1800" dirty="0"/>
              <a:t>返回指向</a:t>
            </a:r>
            <a:r>
              <a:rPr lang="fr-FR" altLang="zh-CN" sz="1800" dirty="0"/>
              <a:t>destination</a:t>
            </a:r>
            <a:r>
              <a:rPr lang="zh-CN" altLang="en-US" sz="1800" dirty="0"/>
              <a:t>的指针。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注：</a:t>
            </a:r>
            <a:endParaRPr lang="en-US" altLang="zh-CN" sz="2000" dirty="0"/>
          </a:p>
          <a:p>
            <a:pPr marL="971550" lvl="1"/>
            <a:r>
              <a:rPr lang="fr-FR" altLang="zh-CN" sz="1800" dirty="0"/>
              <a:t>source</a:t>
            </a:r>
            <a:r>
              <a:rPr lang="zh-CN" altLang="en-US" sz="1800" dirty="0"/>
              <a:t>和</a:t>
            </a:r>
            <a:r>
              <a:rPr lang="fr-FR" altLang="zh-CN" sz="1800" dirty="0"/>
              <a:t>destination</a:t>
            </a:r>
            <a:r>
              <a:rPr lang="zh-CN" altLang="en-US" sz="1800" dirty="0"/>
              <a:t>所指内存区域不可以重叠；</a:t>
            </a:r>
            <a:endParaRPr lang="en-US" altLang="zh-CN" sz="1800" dirty="0"/>
          </a:p>
          <a:p>
            <a:pPr marL="971550" lvl="1"/>
            <a:r>
              <a:rPr lang="fr-FR" altLang="zh-CN" sz="1800" dirty="0"/>
              <a:t>destination</a:t>
            </a:r>
            <a:r>
              <a:rPr lang="zh-CN" altLang="en-US" sz="1800" dirty="0"/>
              <a:t>必须有足够的空间来容纳</a:t>
            </a:r>
            <a:r>
              <a:rPr lang="fr-FR" altLang="zh-CN" sz="1800" dirty="0"/>
              <a:t>source</a:t>
            </a:r>
            <a:r>
              <a:rPr lang="zh-CN" altLang="en-US" sz="1800" dirty="0"/>
              <a:t>所指的字符串。</a:t>
            </a:r>
          </a:p>
          <a:p>
            <a:pPr marL="342900" indent="-342900" algn="just">
              <a:buFont typeface="Wingdings" panose="05000000000000000000" pitchFamily="2" charset="2"/>
              <a:buChar char="l"/>
            </a:pPr>
            <a:r>
              <a:rPr lang="zh-CN" altLang="en-US" sz="2000" dirty="0"/>
              <a:t>字符串（字符数组）</a:t>
            </a:r>
            <a:r>
              <a:rPr lang="zh-CN" altLang="en-US" sz="2000" dirty="0">
                <a:solidFill>
                  <a:srgbClr val="FF3300"/>
                </a:solidFill>
              </a:rPr>
              <a:t>之间不能赋值</a:t>
            </a:r>
            <a:r>
              <a:rPr lang="zh-CN" altLang="en-US" sz="2000" dirty="0"/>
              <a:t>，通过此函数，可以</a:t>
            </a:r>
            <a:r>
              <a:rPr lang="zh-CN" altLang="en-US" sz="2000" dirty="0">
                <a:solidFill>
                  <a:srgbClr val="FF3300"/>
                </a:solidFill>
              </a:rPr>
              <a:t>间接达到赋值</a:t>
            </a:r>
            <a:r>
              <a:rPr lang="zh-CN" altLang="en-US" sz="2000" dirty="0"/>
              <a:t>的效果</a:t>
            </a:r>
            <a:r>
              <a:rPr lang="en-US" altLang="zh-CN" sz="2000" dirty="0"/>
              <a:t>;</a:t>
            </a:r>
          </a:p>
        </p:txBody>
      </p:sp>
      <p:sp>
        <p:nvSpPr>
          <p:cNvPr id="15" name="矩形 14"/>
          <p:cNvSpPr/>
          <p:nvPr/>
        </p:nvSpPr>
        <p:spPr>
          <a:xfrm>
            <a:off x="405855" y="292018"/>
            <a:ext cx="723146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 smtClean="0">
                <a:solidFill>
                  <a:srgbClr val="1A93C8"/>
                </a:solidFill>
                <a:latin typeface="+mn-lt"/>
                <a:ea typeface="+mj-ea"/>
                <a:cs typeface="+mj-cs"/>
              </a:rPr>
              <a:t>字符串之间的复制</a:t>
            </a:r>
            <a:r>
              <a:rPr lang="en-US" altLang="zh-CN" sz="2800" b="1" dirty="0" err="1" smtClean="0">
                <a:solidFill>
                  <a:srgbClr val="1A93C8"/>
                </a:solidFill>
                <a:latin typeface="+mn-lt"/>
                <a:ea typeface="+mj-ea"/>
                <a:cs typeface="+mj-cs"/>
              </a:rPr>
              <a:t>strcpy</a:t>
            </a:r>
            <a:r>
              <a:rPr lang="en-US" altLang="zh-CN" sz="2800" b="1" dirty="0">
                <a:solidFill>
                  <a:srgbClr val="1A93C8"/>
                </a:solidFill>
                <a:latin typeface="+mn-lt"/>
                <a:ea typeface="+mj-ea"/>
                <a:cs typeface="+mj-cs"/>
              </a:rPr>
              <a:t>()</a:t>
            </a:r>
            <a:r>
              <a:rPr lang="zh-CN" altLang="en-US" sz="2800" b="1" dirty="0">
                <a:solidFill>
                  <a:srgbClr val="1A93C8"/>
                </a:solidFill>
                <a:latin typeface="+mn-lt"/>
                <a:ea typeface="+mj-ea"/>
                <a:cs typeface="+mj-cs"/>
              </a:rPr>
              <a:t>函数</a:t>
            </a:r>
          </a:p>
        </p:txBody>
      </p:sp>
    </p:spTree>
    <p:extLst>
      <p:ext uri="{BB962C8B-B14F-4D97-AF65-F5344CB8AC3E}">
        <p14:creationId xmlns:p14="http://schemas.microsoft.com/office/powerpoint/2010/main" val="1764021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>
                <a:latin typeface="宋体" panose="02010600030101010101" pitchFamily="2" charset="-122"/>
              </a:rPr>
              <a:t>字符串之间的</a:t>
            </a:r>
            <a:r>
              <a:rPr lang="zh-CN" altLang="en-US" b="1" dirty="0" smtClean="0">
                <a:solidFill>
                  <a:srgbClr val="7030A0"/>
                </a:solidFill>
                <a:latin typeface="宋体" panose="02010600030101010101" pitchFamily="2" charset="-122"/>
              </a:rPr>
              <a:t>比较</a:t>
            </a:r>
            <a:r>
              <a:rPr lang="zh-CN" altLang="en-US" b="1" dirty="0" smtClean="0">
                <a:latin typeface="宋体" panose="02010600030101010101" pitchFamily="2" charset="-122"/>
              </a:rPr>
              <a:t>运算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45324" y="987425"/>
            <a:ext cx="8089900" cy="419417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2000" dirty="0" smtClean="0"/>
              <a:t>考察下述程序段</a:t>
            </a:r>
            <a:endParaRPr lang="en-US" altLang="zh-CN" sz="2000" dirty="0" smtClean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374" y="1406842"/>
            <a:ext cx="6076950" cy="5665850"/>
          </a:xfrm>
          <a:prstGeom prst="rect">
            <a:avLst/>
          </a:prstGeom>
        </p:spPr>
      </p:pic>
      <p:sp>
        <p:nvSpPr>
          <p:cNvPr id="5" name="圆角矩形标注 4"/>
          <p:cNvSpPr/>
          <p:nvPr/>
        </p:nvSpPr>
        <p:spPr bwMode="auto">
          <a:xfrm>
            <a:off x="5624068" y="1389506"/>
            <a:ext cx="2990088" cy="1983106"/>
          </a:xfrm>
          <a:prstGeom prst="wedgeRoundRectCallout">
            <a:avLst>
              <a:gd name="adj1" fmla="val -20427"/>
              <a:gd name="adj2" fmla="val 49679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尽管所有字符串的值都是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“world”</a:t>
            </a: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，但利用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“==”</a:t>
            </a: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比较两字符串的值，</a:t>
            </a: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条件表达式的值几乎都为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“</a:t>
            </a: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假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”</a:t>
            </a: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；</a:t>
            </a:r>
            <a:endParaRPr kumimoji="0" lang="en-US" altLang="zh-CN" sz="1600" b="0" i="0" u="none" strike="noStrike" cap="none" normalizeH="0" baseline="0" dirty="0" smtClean="0">
              <a:ln>
                <a:noFill/>
              </a:ln>
              <a:solidFill>
                <a:srgbClr val="C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solidFill>
                  <a:srgbClr val="0000CC"/>
                </a:solidFill>
                <a:ea typeface="宋体" panose="02010600030101010101" pitchFamily="2" charset="-122"/>
              </a:rPr>
              <a:t>思考：为什么表达式</a:t>
            </a:r>
            <a:r>
              <a:rPr lang="en-US" altLang="zh-CN" sz="1600" dirty="0" smtClean="0">
                <a:solidFill>
                  <a:srgbClr val="0000CC"/>
                </a:solidFill>
                <a:ea typeface="宋体" panose="02010600030101010101" pitchFamily="2" charset="-122"/>
              </a:rPr>
              <a:t>str3==str4</a:t>
            </a:r>
            <a:r>
              <a:rPr lang="zh-CN" altLang="en-US" sz="1600" dirty="0" smtClean="0">
                <a:solidFill>
                  <a:srgbClr val="0000CC"/>
                </a:solidFill>
                <a:ea typeface="宋体" panose="02010600030101010101" pitchFamily="2" charset="-122"/>
              </a:rPr>
              <a:t>的值为</a:t>
            </a:r>
            <a:r>
              <a:rPr lang="en-US" altLang="zh-CN" sz="1600" dirty="0" smtClean="0">
                <a:solidFill>
                  <a:srgbClr val="0000CC"/>
                </a:solidFill>
                <a:ea typeface="宋体" panose="02010600030101010101" pitchFamily="2" charset="-122"/>
              </a:rPr>
              <a:t>“</a:t>
            </a:r>
            <a:r>
              <a:rPr lang="zh-CN" altLang="en-US" sz="1600" dirty="0" smtClean="0">
                <a:solidFill>
                  <a:srgbClr val="0000CC"/>
                </a:solidFill>
                <a:ea typeface="宋体" panose="02010600030101010101" pitchFamily="2" charset="-122"/>
              </a:rPr>
              <a:t>真</a:t>
            </a:r>
            <a:r>
              <a:rPr lang="en-US" altLang="zh-CN" sz="1600" dirty="0" smtClean="0">
                <a:solidFill>
                  <a:srgbClr val="0000CC"/>
                </a:solidFill>
                <a:ea typeface="宋体" panose="02010600030101010101" pitchFamily="2" charset="-122"/>
              </a:rPr>
              <a:t>”</a:t>
            </a:r>
            <a:r>
              <a:rPr lang="zh-CN" altLang="en-US" sz="1600" dirty="0" smtClean="0">
                <a:solidFill>
                  <a:srgbClr val="0000CC"/>
                </a:solidFill>
                <a:ea typeface="宋体" panose="02010600030101010101" pitchFamily="2" charset="-122"/>
              </a:rPr>
              <a:t>，其余为</a:t>
            </a:r>
            <a:r>
              <a:rPr lang="en-US" altLang="zh-CN" sz="1600" dirty="0" smtClean="0">
                <a:solidFill>
                  <a:srgbClr val="0000CC"/>
                </a:solidFill>
                <a:ea typeface="宋体" panose="02010600030101010101" pitchFamily="2" charset="-122"/>
              </a:rPr>
              <a:t>“</a:t>
            </a:r>
            <a:r>
              <a:rPr lang="zh-CN" altLang="en-US" sz="1600" dirty="0" smtClean="0">
                <a:solidFill>
                  <a:srgbClr val="0000CC"/>
                </a:solidFill>
                <a:ea typeface="宋体" panose="02010600030101010101" pitchFamily="2" charset="-122"/>
              </a:rPr>
              <a:t>假</a:t>
            </a:r>
            <a:r>
              <a:rPr lang="en-US" altLang="zh-CN" sz="1600" dirty="0" smtClean="0">
                <a:solidFill>
                  <a:srgbClr val="0000CC"/>
                </a:solidFill>
                <a:ea typeface="宋体" panose="02010600030101010101" pitchFamily="2" charset="-122"/>
              </a:rPr>
              <a:t>”</a:t>
            </a:r>
            <a:r>
              <a:rPr lang="zh-CN" altLang="en-US" sz="1600" dirty="0" smtClean="0">
                <a:solidFill>
                  <a:srgbClr val="0000CC"/>
                </a:solidFill>
                <a:ea typeface="宋体" panose="02010600030101010101" pitchFamily="2" charset="-122"/>
              </a:rPr>
              <a:t>？</a:t>
            </a:r>
            <a:endParaRPr lang="zh-CN" altLang="en-US" sz="1600" dirty="0">
              <a:solidFill>
                <a:srgbClr val="0000CC"/>
              </a:solidFill>
              <a:ea typeface="宋体" panose="02010600030101010101" pitchFamily="2" charset="-122"/>
            </a:endParaRPr>
          </a:p>
        </p:txBody>
      </p:sp>
      <p:sp>
        <p:nvSpPr>
          <p:cNvPr id="10" name="圆角矩形标注 9"/>
          <p:cNvSpPr/>
          <p:nvPr/>
        </p:nvSpPr>
        <p:spPr bwMode="auto">
          <a:xfrm>
            <a:off x="5669280" y="3457002"/>
            <a:ext cx="2990088" cy="2205231"/>
          </a:xfrm>
          <a:prstGeom prst="wedgeRoundRectCallout">
            <a:avLst>
              <a:gd name="adj1" fmla="val -20427"/>
              <a:gd name="adj2" fmla="val 49679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600" b="1" dirty="0" smtClean="0">
                <a:solidFill>
                  <a:srgbClr val="006600"/>
                </a:solidFill>
                <a:latin typeface="+mn-lt"/>
                <a:ea typeface="+mn-ea"/>
              </a:rPr>
              <a:t>str1</a:t>
            </a:r>
            <a:r>
              <a:rPr lang="zh-CN" altLang="en-US" sz="1600" b="1" dirty="0" smtClean="0">
                <a:solidFill>
                  <a:srgbClr val="006600"/>
                </a:solidFill>
                <a:latin typeface="+mn-lt"/>
                <a:ea typeface="+mn-ea"/>
              </a:rPr>
              <a:t>、</a:t>
            </a:r>
            <a:r>
              <a:rPr lang="en-US" altLang="zh-CN" sz="1600" b="1" dirty="0" smtClean="0">
                <a:solidFill>
                  <a:srgbClr val="006600"/>
                </a:solidFill>
                <a:latin typeface="+mn-lt"/>
                <a:ea typeface="+mn-ea"/>
              </a:rPr>
              <a:t>str2</a:t>
            </a:r>
            <a:r>
              <a:rPr lang="zh-CN" altLang="en-US" sz="1600" b="1" dirty="0" smtClean="0">
                <a:solidFill>
                  <a:srgbClr val="006600"/>
                </a:solidFill>
                <a:latin typeface="+mn-lt"/>
                <a:ea typeface="+mn-ea"/>
              </a:rPr>
              <a:t>、</a:t>
            </a:r>
            <a:r>
              <a:rPr lang="en-US" altLang="zh-CN" sz="1600" b="1" dirty="0" smtClean="0">
                <a:solidFill>
                  <a:srgbClr val="006600"/>
                </a:solidFill>
                <a:latin typeface="+mn-lt"/>
                <a:ea typeface="+mn-ea"/>
              </a:rPr>
              <a:t>str3</a:t>
            </a:r>
            <a:r>
              <a:rPr lang="zh-CN" altLang="en-US" sz="1600" b="1" dirty="0" smtClean="0">
                <a:solidFill>
                  <a:srgbClr val="006600"/>
                </a:solidFill>
                <a:latin typeface="+mn-lt"/>
                <a:ea typeface="+mn-ea"/>
              </a:rPr>
              <a:t>、</a:t>
            </a:r>
            <a:r>
              <a:rPr lang="en-US" altLang="zh-CN" sz="1600" b="1" dirty="0" smtClean="0">
                <a:solidFill>
                  <a:srgbClr val="006600"/>
                </a:solidFill>
                <a:latin typeface="+mn-lt"/>
                <a:ea typeface="+mn-ea"/>
              </a:rPr>
              <a:t>str4</a:t>
            </a:r>
            <a:r>
              <a:rPr lang="zh-CN" altLang="en-US" sz="1600" b="1" dirty="0" smtClean="0">
                <a:solidFill>
                  <a:srgbClr val="006600"/>
                </a:solidFill>
                <a:latin typeface="+mn-lt"/>
                <a:ea typeface="+mn-ea"/>
              </a:rPr>
              <a:t>都是指针，其内容都是地址</a:t>
            </a:r>
            <a:r>
              <a:rPr lang="zh-CN" altLang="en-US" sz="1600" dirty="0" smtClean="0">
                <a:solidFill>
                  <a:srgbClr val="080808"/>
                </a:solidFill>
                <a:latin typeface="+mn-lt"/>
                <a:ea typeface="+mn-ea"/>
              </a:rPr>
              <a:t>；</a:t>
            </a:r>
            <a:endParaRPr lang="en-US" altLang="zh-CN" sz="1600" dirty="0" smtClean="0">
              <a:solidFill>
                <a:srgbClr val="080808"/>
              </a:solidFill>
              <a:latin typeface="+mn-lt"/>
              <a:ea typeface="+mn-ea"/>
            </a:endParaRPr>
          </a:p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solidFill>
                  <a:srgbClr val="080808"/>
                </a:solidFill>
                <a:latin typeface="+mn-lt"/>
                <a:ea typeface="+mn-ea"/>
              </a:rPr>
              <a:t>该程序中所有的比较运算，都是</a:t>
            </a:r>
            <a:r>
              <a:rPr lang="zh-CN" altLang="en-US" sz="1600" b="1" dirty="0" smtClean="0">
                <a:solidFill>
                  <a:srgbClr val="C00000"/>
                </a:solidFill>
                <a:latin typeface="+mn-lt"/>
                <a:ea typeface="+mn-ea"/>
              </a:rPr>
              <a:t>地址之间的比较</a:t>
            </a:r>
            <a:r>
              <a:rPr lang="zh-CN" altLang="en-US" sz="1600" dirty="0" smtClean="0">
                <a:solidFill>
                  <a:srgbClr val="080808"/>
                </a:solidFill>
                <a:latin typeface="+mn-lt"/>
                <a:ea typeface="+mn-ea"/>
              </a:rPr>
              <a:t>，而</a:t>
            </a:r>
            <a:r>
              <a:rPr lang="zh-CN" altLang="en-US" sz="1600" b="1" dirty="0" smtClean="0">
                <a:solidFill>
                  <a:srgbClr val="0000CC"/>
                </a:solidFill>
                <a:latin typeface="+mn-lt"/>
                <a:ea typeface="+mn-ea"/>
              </a:rPr>
              <a:t>非它们所指内容之间的比较</a:t>
            </a:r>
            <a:r>
              <a:rPr lang="zh-CN" altLang="en-US" sz="1600" dirty="0" smtClean="0">
                <a:solidFill>
                  <a:srgbClr val="080808"/>
                </a:solidFill>
                <a:latin typeface="+mn-lt"/>
                <a:ea typeface="+mn-ea"/>
              </a:rPr>
              <a:t>。</a:t>
            </a:r>
            <a:endParaRPr lang="en-US" altLang="zh-CN" sz="1600" dirty="0" smtClean="0">
              <a:solidFill>
                <a:srgbClr val="080808"/>
              </a:solidFill>
              <a:latin typeface="+mn-lt"/>
              <a:ea typeface="+mn-ea"/>
            </a:endParaRPr>
          </a:p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solidFill>
                  <a:srgbClr val="080808"/>
                </a:solidFill>
                <a:latin typeface="+mn-lt"/>
                <a:ea typeface="+mn-ea"/>
              </a:rPr>
              <a:t>我们的目的是它们所指内容之间的比较。</a:t>
            </a:r>
            <a:endParaRPr lang="zh-CN" altLang="en-US" sz="1600" dirty="0">
              <a:solidFill>
                <a:srgbClr val="080808"/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00318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>
                <a:latin typeface="宋体" panose="02010600030101010101" pitchFamily="2" charset="-122"/>
              </a:rPr>
              <a:t>字符串之间的</a:t>
            </a:r>
            <a:r>
              <a:rPr lang="zh-CN" altLang="en-US" b="1" dirty="0" smtClean="0">
                <a:solidFill>
                  <a:srgbClr val="7030A0"/>
                </a:solidFill>
                <a:latin typeface="宋体" panose="02010600030101010101" pitchFamily="2" charset="-122"/>
              </a:rPr>
              <a:t>比较</a:t>
            </a:r>
            <a:r>
              <a:rPr lang="zh-CN" altLang="en-US" b="1" dirty="0" smtClean="0">
                <a:latin typeface="宋体" panose="02010600030101010101" pitchFamily="2" charset="-122"/>
              </a:rPr>
              <a:t>运算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45324" y="987425"/>
            <a:ext cx="8089900" cy="419417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2000" dirty="0" smtClean="0"/>
              <a:t>类比：考察下述语句</a:t>
            </a:r>
            <a:endParaRPr lang="en-US" altLang="zh-CN" sz="2000" dirty="0" smtClean="0"/>
          </a:p>
        </p:txBody>
      </p:sp>
      <p:sp>
        <p:nvSpPr>
          <p:cNvPr id="6" name="内容占位符 2"/>
          <p:cNvSpPr txBox="1">
            <a:spLocks/>
          </p:cNvSpPr>
          <p:nvPr/>
        </p:nvSpPr>
        <p:spPr bwMode="auto">
          <a:xfrm>
            <a:off x="445324" y="1479868"/>
            <a:ext cx="8130351" cy="487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sz="1800" dirty="0" smtClean="0">
                <a:solidFill>
                  <a:srgbClr val="080808"/>
                </a:solidFill>
              </a:rPr>
              <a:t>假设有如下定义</a:t>
            </a:r>
            <a:endParaRPr lang="en-US" altLang="zh-CN" sz="1800" dirty="0" smtClean="0">
              <a:solidFill>
                <a:srgbClr val="080808"/>
              </a:solidFill>
            </a:endParaRPr>
          </a:p>
          <a:p>
            <a:pPr lvl="2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1600" dirty="0" err="1" smtClean="0">
                <a:solidFill>
                  <a:srgbClr val="080808"/>
                </a:solidFill>
              </a:rPr>
              <a:t>int</a:t>
            </a:r>
            <a:r>
              <a:rPr lang="en-US" altLang="zh-CN" sz="1600" dirty="0" smtClean="0">
                <a:solidFill>
                  <a:srgbClr val="080808"/>
                </a:solidFill>
              </a:rPr>
              <a:t> a=3,*pa=&amp;a;</a:t>
            </a:r>
          </a:p>
          <a:p>
            <a:pPr lvl="2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1600" dirty="0" err="1">
                <a:solidFill>
                  <a:srgbClr val="080808"/>
                </a:solidFill>
              </a:rPr>
              <a:t>int</a:t>
            </a:r>
            <a:r>
              <a:rPr lang="en-US" altLang="zh-CN" sz="1600" dirty="0">
                <a:solidFill>
                  <a:srgbClr val="080808"/>
                </a:solidFill>
              </a:rPr>
              <a:t> </a:t>
            </a:r>
            <a:r>
              <a:rPr lang="en-US" altLang="zh-CN" sz="1600" dirty="0" smtClean="0">
                <a:solidFill>
                  <a:srgbClr val="080808"/>
                </a:solidFill>
              </a:rPr>
              <a:t>b=3</a:t>
            </a:r>
            <a:r>
              <a:rPr lang="en-US" altLang="zh-CN" sz="1600" dirty="0">
                <a:solidFill>
                  <a:srgbClr val="080808"/>
                </a:solidFill>
              </a:rPr>
              <a:t>,*</a:t>
            </a:r>
            <a:r>
              <a:rPr lang="en-US" altLang="zh-CN" sz="1600" dirty="0" err="1" smtClean="0">
                <a:solidFill>
                  <a:srgbClr val="080808"/>
                </a:solidFill>
              </a:rPr>
              <a:t>pb</a:t>
            </a:r>
            <a:r>
              <a:rPr lang="en-US" altLang="zh-CN" sz="1600" dirty="0" smtClean="0">
                <a:solidFill>
                  <a:srgbClr val="080808"/>
                </a:solidFill>
              </a:rPr>
              <a:t>=&amp;b;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sz="1800" dirty="0" smtClean="0">
                <a:solidFill>
                  <a:srgbClr val="080808"/>
                </a:solidFill>
              </a:rPr>
              <a:t>则</a:t>
            </a:r>
            <a:endParaRPr lang="en-US" altLang="zh-CN" sz="1800" dirty="0" smtClean="0">
              <a:solidFill>
                <a:srgbClr val="080808"/>
              </a:solidFill>
            </a:endParaRPr>
          </a:p>
          <a:p>
            <a:pPr marL="971550" lvl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080808"/>
                </a:solidFill>
              </a:rPr>
              <a:t>a</a:t>
            </a:r>
            <a:r>
              <a:rPr lang="en-US" altLang="zh-CN" sz="1600" dirty="0" smtClean="0">
                <a:solidFill>
                  <a:srgbClr val="080808"/>
                </a:solidFill>
              </a:rPr>
              <a:t>==b</a:t>
            </a:r>
            <a:r>
              <a:rPr lang="zh-CN" altLang="en-US" sz="1600" dirty="0" smtClean="0">
                <a:solidFill>
                  <a:srgbClr val="080808"/>
                </a:solidFill>
              </a:rPr>
              <a:t>的值为</a:t>
            </a:r>
            <a:r>
              <a:rPr lang="en-US" altLang="zh-CN" sz="1600" dirty="0" smtClean="0">
                <a:solidFill>
                  <a:srgbClr val="080808"/>
                </a:solidFill>
              </a:rPr>
              <a:t>“</a:t>
            </a:r>
            <a:r>
              <a:rPr lang="zh-CN" altLang="en-US" sz="1600" dirty="0" smtClean="0">
                <a:solidFill>
                  <a:srgbClr val="080808"/>
                </a:solidFill>
              </a:rPr>
              <a:t>真</a:t>
            </a:r>
            <a:r>
              <a:rPr lang="en-US" altLang="zh-CN" sz="1600" dirty="0" smtClean="0">
                <a:solidFill>
                  <a:srgbClr val="080808"/>
                </a:solidFill>
              </a:rPr>
              <a:t>”          //</a:t>
            </a:r>
            <a:r>
              <a:rPr lang="zh-CN" altLang="en-US" sz="1600" dirty="0" smtClean="0">
                <a:solidFill>
                  <a:srgbClr val="006600"/>
                </a:solidFill>
              </a:rPr>
              <a:t>内容</a:t>
            </a:r>
            <a:r>
              <a:rPr lang="zh-CN" altLang="en-US" sz="1600" dirty="0">
                <a:solidFill>
                  <a:srgbClr val="080808"/>
                </a:solidFill>
              </a:rPr>
              <a:t>比较</a:t>
            </a:r>
            <a:endParaRPr lang="en-US" altLang="zh-CN" sz="1600" dirty="0" smtClean="0">
              <a:solidFill>
                <a:srgbClr val="006600"/>
              </a:solidFill>
            </a:endParaRPr>
          </a:p>
          <a:p>
            <a:pPr marL="971550" lvl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solidFill>
                  <a:srgbClr val="080808"/>
                </a:solidFill>
              </a:rPr>
              <a:t>*</a:t>
            </a:r>
            <a:r>
              <a:rPr lang="en-US" altLang="zh-CN" sz="1600" dirty="0" smtClean="0">
                <a:solidFill>
                  <a:srgbClr val="080808"/>
                </a:solidFill>
              </a:rPr>
              <a:t>pa==</a:t>
            </a:r>
            <a:r>
              <a:rPr lang="zh-CN" altLang="en-US" sz="1600" dirty="0" smtClean="0">
                <a:solidFill>
                  <a:srgbClr val="080808"/>
                </a:solidFill>
              </a:rPr>
              <a:t>*</a:t>
            </a:r>
            <a:r>
              <a:rPr lang="en-US" altLang="zh-CN" sz="1600" dirty="0" err="1" smtClean="0">
                <a:solidFill>
                  <a:srgbClr val="080808"/>
                </a:solidFill>
              </a:rPr>
              <a:t>pb</a:t>
            </a:r>
            <a:r>
              <a:rPr lang="zh-CN" altLang="en-US" sz="1600" dirty="0" smtClean="0">
                <a:solidFill>
                  <a:srgbClr val="080808"/>
                </a:solidFill>
              </a:rPr>
              <a:t>的值为</a:t>
            </a:r>
            <a:r>
              <a:rPr lang="en-US" altLang="zh-CN" sz="1600" dirty="0" smtClean="0">
                <a:solidFill>
                  <a:srgbClr val="080808"/>
                </a:solidFill>
              </a:rPr>
              <a:t>“</a:t>
            </a:r>
            <a:r>
              <a:rPr lang="zh-CN" altLang="en-US" sz="1600" dirty="0" smtClean="0">
                <a:solidFill>
                  <a:srgbClr val="080808"/>
                </a:solidFill>
              </a:rPr>
              <a:t>真</a:t>
            </a:r>
            <a:r>
              <a:rPr lang="en-US" altLang="zh-CN" sz="1600" dirty="0" smtClean="0">
                <a:solidFill>
                  <a:srgbClr val="080808"/>
                </a:solidFill>
              </a:rPr>
              <a:t>”  //</a:t>
            </a:r>
            <a:r>
              <a:rPr lang="zh-CN" altLang="en-US" sz="1600" dirty="0" smtClean="0">
                <a:solidFill>
                  <a:srgbClr val="006600"/>
                </a:solidFill>
              </a:rPr>
              <a:t>内容</a:t>
            </a:r>
            <a:r>
              <a:rPr lang="zh-CN" altLang="en-US" sz="1600" dirty="0">
                <a:solidFill>
                  <a:srgbClr val="080808"/>
                </a:solidFill>
              </a:rPr>
              <a:t>比较</a:t>
            </a:r>
            <a:endParaRPr lang="en-US" altLang="zh-CN" sz="1600" dirty="0" smtClean="0">
              <a:solidFill>
                <a:srgbClr val="006600"/>
              </a:solidFill>
            </a:endParaRPr>
          </a:p>
          <a:p>
            <a:pPr marL="971550" lvl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1600" b="1" dirty="0" smtClean="0">
                <a:solidFill>
                  <a:srgbClr val="C00000"/>
                </a:solidFill>
              </a:rPr>
              <a:t>但</a:t>
            </a:r>
            <a:r>
              <a:rPr lang="en-US" altLang="zh-CN" sz="1600" b="1" dirty="0" smtClean="0">
                <a:solidFill>
                  <a:srgbClr val="C00000"/>
                </a:solidFill>
              </a:rPr>
              <a:t>pa==</a:t>
            </a:r>
            <a:r>
              <a:rPr lang="en-US" altLang="zh-CN" sz="1600" b="1" dirty="0" err="1" smtClean="0">
                <a:solidFill>
                  <a:srgbClr val="C00000"/>
                </a:solidFill>
              </a:rPr>
              <a:t>pb</a:t>
            </a:r>
            <a:r>
              <a:rPr lang="zh-CN" altLang="en-US" sz="1600" b="1" dirty="0" smtClean="0">
                <a:solidFill>
                  <a:srgbClr val="C00000"/>
                </a:solidFill>
              </a:rPr>
              <a:t>的值为</a:t>
            </a:r>
            <a:r>
              <a:rPr lang="en-US" altLang="zh-CN" sz="1600" b="1" dirty="0" smtClean="0">
                <a:solidFill>
                  <a:srgbClr val="C00000"/>
                </a:solidFill>
              </a:rPr>
              <a:t>“</a:t>
            </a:r>
            <a:r>
              <a:rPr lang="zh-CN" altLang="en-US" sz="1600" b="1" dirty="0" smtClean="0">
                <a:solidFill>
                  <a:srgbClr val="C00000"/>
                </a:solidFill>
              </a:rPr>
              <a:t>假</a:t>
            </a:r>
            <a:r>
              <a:rPr lang="en-US" altLang="zh-CN" sz="1600" b="1" dirty="0" smtClean="0">
                <a:solidFill>
                  <a:srgbClr val="C00000"/>
                </a:solidFill>
              </a:rPr>
              <a:t>”   //</a:t>
            </a:r>
            <a:r>
              <a:rPr lang="zh-CN" altLang="en-US" sz="1600" b="1" dirty="0" smtClean="0">
                <a:solidFill>
                  <a:srgbClr val="0000CC"/>
                </a:solidFill>
              </a:rPr>
              <a:t>地址</a:t>
            </a:r>
            <a:r>
              <a:rPr lang="zh-CN" altLang="en-US" sz="1600" b="1" dirty="0">
                <a:solidFill>
                  <a:srgbClr val="C00000"/>
                </a:solidFill>
              </a:rPr>
              <a:t>比较</a:t>
            </a:r>
            <a:endParaRPr lang="en-US" altLang="zh-CN" sz="1600" b="1" dirty="0" smtClean="0">
              <a:solidFill>
                <a:srgbClr val="0000CC"/>
              </a:solidFill>
            </a:endParaRP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sz="1800" dirty="0" smtClean="0">
                <a:solidFill>
                  <a:srgbClr val="080808"/>
                </a:solidFill>
              </a:rPr>
              <a:t>若有</a:t>
            </a:r>
            <a:endParaRPr lang="en-US" altLang="zh-CN" sz="1800" dirty="0" smtClean="0">
              <a:solidFill>
                <a:srgbClr val="080808"/>
              </a:solidFill>
            </a:endParaRPr>
          </a:p>
          <a:p>
            <a:pPr marL="971550" lvl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080808"/>
                </a:solidFill>
              </a:rPr>
              <a:t>c</a:t>
            </a:r>
            <a:r>
              <a:rPr lang="en-US" altLang="zh-CN" sz="1600" dirty="0" smtClean="0">
                <a:solidFill>
                  <a:srgbClr val="080808"/>
                </a:solidFill>
              </a:rPr>
              <a:t>har s1[]=“hello”, s2[]=“hello”;</a:t>
            </a:r>
          </a:p>
          <a:p>
            <a:pPr marL="971550" lvl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zh-CN" sz="1600" dirty="0" smtClean="0">
                <a:solidFill>
                  <a:srgbClr val="080808"/>
                </a:solidFill>
              </a:rPr>
              <a:t>char </a:t>
            </a:r>
            <a:r>
              <a:rPr lang="zh-CN" altLang="en-US" sz="1600" dirty="0" smtClean="0">
                <a:solidFill>
                  <a:srgbClr val="080808"/>
                </a:solidFill>
              </a:rPr>
              <a:t>*</a:t>
            </a:r>
            <a:r>
              <a:rPr lang="en-US" altLang="zh-CN" sz="1600" dirty="0" smtClean="0">
                <a:solidFill>
                  <a:srgbClr val="080808"/>
                </a:solidFill>
              </a:rPr>
              <a:t>str1=“hello”,  </a:t>
            </a:r>
            <a:r>
              <a:rPr lang="zh-CN" altLang="en-US" sz="1600" dirty="0" smtClean="0">
                <a:solidFill>
                  <a:srgbClr val="080808"/>
                </a:solidFill>
              </a:rPr>
              <a:t>*</a:t>
            </a:r>
            <a:r>
              <a:rPr lang="en-US" altLang="zh-CN" sz="1600" dirty="0" smtClean="0">
                <a:solidFill>
                  <a:srgbClr val="080808"/>
                </a:solidFill>
              </a:rPr>
              <a:t>str2=“hello”;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sz="1800" dirty="0" smtClean="0">
                <a:solidFill>
                  <a:srgbClr val="080808"/>
                </a:solidFill>
              </a:rPr>
              <a:t>则</a:t>
            </a:r>
            <a:endParaRPr lang="en-US" altLang="zh-CN" sz="1800" dirty="0">
              <a:solidFill>
                <a:srgbClr val="080808"/>
              </a:solidFill>
            </a:endParaRPr>
          </a:p>
          <a:p>
            <a:pPr marL="971550" lvl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zh-CN" sz="1600" dirty="0" smtClean="0">
                <a:solidFill>
                  <a:srgbClr val="C00000"/>
                </a:solidFill>
              </a:rPr>
              <a:t>s1==s2</a:t>
            </a:r>
            <a:r>
              <a:rPr lang="zh-CN" altLang="en-US" sz="1600" dirty="0" smtClean="0">
                <a:solidFill>
                  <a:srgbClr val="C00000"/>
                </a:solidFill>
              </a:rPr>
              <a:t>是比较两个地址是否相同</a:t>
            </a:r>
            <a:r>
              <a:rPr lang="zh-CN" altLang="en-US" sz="1600" dirty="0" smtClean="0">
                <a:solidFill>
                  <a:srgbClr val="080808"/>
                </a:solidFill>
              </a:rPr>
              <a:t>，结果自然为</a:t>
            </a:r>
            <a:r>
              <a:rPr lang="en-US" altLang="zh-CN" sz="1600" dirty="0" smtClean="0">
                <a:solidFill>
                  <a:srgbClr val="080808"/>
                </a:solidFill>
              </a:rPr>
              <a:t>“</a:t>
            </a:r>
            <a:r>
              <a:rPr lang="zh-CN" altLang="en-US" sz="1600" dirty="0" smtClean="0">
                <a:solidFill>
                  <a:srgbClr val="080808"/>
                </a:solidFill>
              </a:rPr>
              <a:t>假</a:t>
            </a:r>
            <a:r>
              <a:rPr lang="en-US" altLang="zh-CN" sz="1600" dirty="0" smtClean="0">
                <a:solidFill>
                  <a:srgbClr val="080808"/>
                </a:solidFill>
              </a:rPr>
              <a:t>”</a:t>
            </a:r>
            <a:r>
              <a:rPr lang="zh-CN" altLang="en-US" sz="1600" dirty="0" smtClean="0">
                <a:solidFill>
                  <a:srgbClr val="080808"/>
                </a:solidFill>
              </a:rPr>
              <a:t>；</a:t>
            </a:r>
            <a:endParaRPr lang="en-US" altLang="zh-CN" sz="1600" dirty="0" smtClean="0">
              <a:solidFill>
                <a:srgbClr val="080808"/>
              </a:solidFill>
            </a:endParaRPr>
          </a:p>
          <a:p>
            <a:pPr marL="971550" lvl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solidFill>
                  <a:srgbClr val="080808"/>
                </a:solidFill>
              </a:rPr>
              <a:t>同样，</a:t>
            </a:r>
            <a:r>
              <a:rPr lang="en-US" altLang="zh-CN" sz="1600" dirty="0" smtClean="0">
                <a:solidFill>
                  <a:srgbClr val="080808"/>
                </a:solidFill>
              </a:rPr>
              <a:t>s1==str1</a:t>
            </a:r>
            <a:r>
              <a:rPr lang="zh-CN" altLang="en-US" sz="1600" dirty="0" smtClean="0">
                <a:solidFill>
                  <a:srgbClr val="080808"/>
                </a:solidFill>
              </a:rPr>
              <a:t>也是比较两个地址，结果也是为</a:t>
            </a:r>
            <a:r>
              <a:rPr lang="en-US" altLang="zh-CN" sz="1600" dirty="0" smtClean="0">
                <a:solidFill>
                  <a:srgbClr val="080808"/>
                </a:solidFill>
              </a:rPr>
              <a:t>“</a:t>
            </a:r>
            <a:r>
              <a:rPr lang="zh-CN" altLang="en-US" sz="1600" dirty="0" smtClean="0">
                <a:solidFill>
                  <a:srgbClr val="080808"/>
                </a:solidFill>
              </a:rPr>
              <a:t>假</a:t>
            </a:r>
            <a:r>
              <a:rPr lang="en-US" altLang="zh-CN" sz="1600" dirty="0" smtClean="0">
                <a:solidFill>
                  <a:srgbClr val="080808"/>
                </a:solidFill>
              </a:rPr>
              <a:t>”</a:t>
            </a:r>
            <a:r>
              <a:rPr lang="zh-CN" altLang="en-US" sz="1600" dirty="0" smtClean="0">
                <a:solidFill>
                  <a:srgbClr val="080808"/>
                </a:solidFill>
              </a:rPr>
              <a:t>；</a:t>
            </a:r>
            <a:endParaRPr lang="en-US" altLang="zh-CN" sz="1600" dirty="0" smtClean="0">
              <a:solidFill>
                <a:srgbClr val="080808"/>
              </a:solidFill>
            </a:endParaRPr>
          </a:p>
          <a:p>
            <a:pPr marL="971550" lvl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solidFill>
                  <a:srgbClr val="0000CC"/>
                </a:solidFill>
              </a:rPr>
              <a:t>*</a:t>
            </a:r>
            <a:r>
              <a:rPr lang="en-US" altLang="zh-CN" sz="1600" dirty="0" smtClean="0">
                <a:solidFill>
                  <a:srgbClr val="0000CC"/>
                </a:solidFill>
              </a:rPr>
              <a:t>s1==*s2</a:t>
            </a:r>
            <a:r>
              <a:rPr lang="zh-CN" altLang="en-US" sz="1600" dirty="0" smtClean="0">
                <a:solidFill>
                  <a:srgbClr val="0000CC"/>
                </a:solidFill>
              </a:rPr>
              <a:t>仅比较</a:t>
            </a:r>
            <a:r>
              <a:rPr lang="en-US" altLang="zh-CN" sz="1600" dirty="0" smtClean="0">
                <a:solidFill>
                  <a:srgbClr val="0000CC"/>
                </a:solidFill>
              </a:rPr>
              <a:t>s[0]</a:t>
            </a:r>
            <a:r>
              <a:rPr lang="zh-CN" altLang="en-US" sz="1600" dirty="0" smtClean="0">
                <a:solidFill>
                  <a:srgbClr val="0000CC"/>
                </a:solidFill>
              </a:rPr>
              <a:t>与</a:t>
            </a:r>
            <a:r>
              <a:rPr lang="en-US" altLang="zh-CN" sz="1600" dirty="0" smtClean="0">
                <a:solidFill>
                  <a:srgbClr val="0000CC"/>
                </a:solidFill>
              </a:rPr>
              <a:t>s2[0]</a:t>
            </a:r>
            <a:r>
              <a:rPr lang="zh-CN" altLang="en-US" sz="1600" dirty="0" smtClean="0">
                <a:solidFill>
                  <a:srgbClr val="0000CC"/>
                </a:solidFill>
              </a:rPr>
              <a:t>两个元素的值是否相等；</a:t>
            </a:r>
            <a:endParaRPr lang="en-US" altLang="zh-CN" sz="1600" dirty="0" smtClean="0">
              <a:solidFill>
                <a:srgbClr val="0000CC"/>
              </a:solidFill>
            </a:endParaRPr>
          </a:p>
          <a:p>
            <a:pPr marL="971550" lvl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solidFill>
                  <a:srgbClr val="080808"/>
                </a:solidFill>
              </a:rPr>
              <a:t>*</a:t>
            </a:r>
            <a:r>
              <a:rPr lang="en-US" altLang="zh-CN" sz="1600" dirty="0" smtClean="0">
                <a:solidFill>
                  <a:srgbClr val="080808"/>
                </a:solidFill>
              </a:rPr>
              <a:t>str1==*str2</a:t>
            </a:r>
            <a:r>
              <a:rPr lang="zh-CN" altLang="en-US" sz="1600" dirty="0" smtClean="0">
                <a:solidFill>
                  <a:srgbClr val="080808"/>
                </a:solidFill>
              </a:rPr>
              <a:t>也是比较两字符串的首字符是否相等；</a:t>
            </a:r>
            <a:endParaRPr lang="en-US" altLang="zh-CN" sz="1600" dirty="0" smtClean="0">
              <a:solidFill>
                <a:srgbClr val="080808"/>
              </a:solidFill>
            </a:endParaRP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sz="1800" b="1" dirty="0" smtClean="0">
                <a:solidFill>
                  <a:srgbClr val="7030A0"/>
                </a:solidFill>
              </a:rPr>
              <a:t>为什么 </a:t>
            </a:r>
            <a:r>
              <a:rPr lang="en-US" altLang="zh-CN" sz="1800" b="1" dirty="0" smtClean="0">
                <a:solidFill>
                  <a:srgbClr val="7030A0"/>
                </a:solidFill>
              </a:rPr>
              <a:t>str1==str2</a:t>
            </a:r>
            <a:r>
              <a:rPr lang="zh-CN" altLang="en-US" sz="1800" b="1" dirty="0" smtClean="0">
                <a:solidFill>
                  <a:srgbClr val="7030A0"/>
                </a:solidFill>
              </a:rPr>
              <a:t>的值是</a:t>
            </a:r>
            <a:r>
              <a:rPr lang="en-US" altLang="zh-CN" sz="1800" b="1" dirty="0" smtClean="0">
                <a:solidFill>
                  <a:srgbClr val="7030A0"/>
                </a:solidFill>
              </a:rPr>
              <a:t>“</a:t>
            </a:r>
            <a:r>
              <a:rPr lang="zh-CN" altLang="en-US" sz="1800" b="1" dirty="0" smtClean="0">
                <a:solidFill>
                  <a:srgbClr val="7030A0"/>
                </a:solidFill>
              </a:rPr>
              <a:t>真</a:t>
            </a:r>
            <a:r>
              <a:rPr lang="en-US" altLang="zh-CN" sz="1800" b="1" dirty="0" smtClean="0">
                <a:solidFill>
                  <a:srgbClr val="7030A0"/>
                </a:solidFill>
              </a:rPr>
              <a:t>”</a:t>
            </a:r>
            <a:r>
              <a:rPr lang="zh-CN" altLang="en-US" sz="1800" b="1" dirty="0" smtClean="0">
                <a:solidFill>
                  <a:srgbClr val="7030A0"/>
                </a:solidFill>
              </a:rPr>
              <a:t>？</a:t>
            </a:r>
            <a:endParaRPr lang="en-US" altLang="zh-CN" sz="1800" b="1" dirty="0" smtClean="0">
              <a:solidFill>
                <a:srgbClr val="7030A0"/>
              </a:solidFill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sz="1800" dirty="0">
              <a:solidFill>
                <a:srgbClr val="080808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圆角矩形标注 6"/>
              <p:cNvSpPr/>
              <p:nvPr/>
            </p:nvSpPr>
            <p:spPr bwMode="auto">
              <a:xfrm>
                <a:off x="4716907" y="875633"/>
                <a:ext cx="4315967" cy="3575432"/>
              </a:xfrm>
              <a:prstGeom prst="wedgeRoundRectCallout">
                <a:avLst>
                  <a:gd name="adj1" fmla="val -20427"/>
                  <a:gd name="adj2" fmla="val 49679"/>
                  <a:gd name="adj3" fmla="val 16667"/>
                </a:avLst>
              </a:prstGeom>
              <a:solidFill>
                <a:srgbClr val="FFC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sz="1600" b="1" dirty="0">
                    <a:solidFill>
                      <a:srgbClr val="0000CC"/>
                    </a:solidFill>
                    <a:latin typeface="+mn-lt"/>
                    <a:ea typeface="+mn-ea"/>
                  </a:rPr>
                  <a:t>表达式 </a:t>
                </a:r>
                <a:r>
                  <a:rPr lang="en-US" altLang="zh-CN" sz="1600" b="1" dirty="0">
                    <a:solidFill>
                      <a:srgbClr val="0000CC"/>
                    </a:solidFill>
                    <a:latin typeface="+mn-lt"/>
                    <a:ea typeface="+mn-ea"/>
                  </a:rPr>
                  <a:t>str1==str2</a:t>
                </a:r>
                <a:r>
                  <a:rPr lang="zh-CN" altLang="en-US" sz="1600" b="1" dirty="0">
                    <a:solidFill>
                      <a:srgbClr val="0000CC"/>
                    </a:solidFill>
                    <a:latin typeface="+mn-lt"/>
                    <a:ea typeface="+mn-ea"/>
                  </a:rPr>
                  <a:t>的值是</a:t>
                </a:r>
                <a:r>
                  <a:rPr lang="en-US" altLang="zh-CN" sz="1600" b="1" dirty="0">
                    <a:solidFill>
                      <a:srgbClr val="0000CC"/>
                    </a:solidFill>
                    <a:latin typeface="+mn-lt"/>
                    <a:ea typeface="+mn-ea"/>
                  </a:rPr>
                  <a:t>“</a:t>
                </a:r>
                <a:r>
                  <a:rPr lang="zh-CN" altLang="en-US" sz="1600" b="1" dirty="0" smtClean="0">
                    <a:solidFill>
                      <a:srgbClr val="0000CC"/>
                    </a:solidFill>
                    <a:latin typeface="+mn-lt"/>
                    <a:ea typeface="+mn-ea"/>
                  </a:rPr>
                  <a:t>真</a:t>
                </a:r>
                <a:r>
                  <a:rPr lang="en-US" altLang="zh-CN" sz="1600" b="1" dirty="0" smtClean="0">
                    <a:solidFill>
                      <a:srgbClr val="0000CC"/>
                    </a:solidFill>
                    <a:latin typeface="+mn-lt"/>
                    <a:ea typeface="+mn-ea"/>
                  </a:rPr>
                  <a:t>”</a:t>
                </a:r>
                <a:r>
                  <a:rPr lang="zh-CN" altLang="en-US" sz="1600" b="1" dirty="0" smtClean="0">
                    <a:solidFill>
                      <a:srgbClr val="0000CC"/>
                    </a:solidFill>
                    <a:latin typeface="+mn-lt"/>
                    <a:ea typeface="+mn-ea"/>
                  </a:rPr>
                  <a:t>的语义：</a:t>
                </a:r>
                <a:endParaRPr lang="en-US" altLang="zh-CN" sz="1600" b="1" dirty="0">
                  <a:solidFill>
                    <a:srgbClr val="0000CC"/>
                  </a:solidFill>
                  <a:latin typeface="+mn-lt"/>
                  <a:ea typeface="+mn-ea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sz="1400" dirty="0">
                    <a:solidFill>
                      <a:srgbClr val="080808"/>
                    </a:solidFill>
                    <a:latin typeface="+mn-lt"/>
                    <a:ea typeface="+mn-ea"/>
                  </a:rPr>
                  <a:t>说明</a:t>
                </a:r>
                <a:r>
                  <a:rPr lang="en-US" altLang="zh-CN" sz="1400" dirty="0">
                    <a:solidFill>
                      <a:srgbClr val="080808"/>
                    </a:solidFill>
                    <a:latin typeface="+mn-lt"/>
                    <a:ea typeface="+mn-ea"/>
                  </a:rPr>
                  <a:t>str1</a:t>
                </a:r>
                <a:r>
                  <a:rPr lang="zh-CN" altLang="en-US" sz="1400" dirty="0">
                    <a:solidFill>
                      <a:srgbClr val="080808"/>
                    </a:solidFill>
                    <a:latin typeface="+mn-lt"/>
                    <a:ea typeface="+mn-ea"/>
                  </a:rPr>
                  <a:t>与</a:t>
                </a:r>
                <a:r>
                  <a:rPr lang="en-US" altLang="zh-CN" sz="1400" dirty="0">
                    <a:solidFill>
                      <a:srgbClr val="080808"/>
                    </a:solidFill>
                    <a:latin typeface="+mn-lt"/>
                    <a:ea typeface="+mn-ea"/>
                  </a:rPr>
                  <a:t>str2</a:t>
                </a:r>
                <a:r>
                  <a:rPr lang="zh-CN" altLang="en-US" sz="1400" dirty="0">
                    <a:solidFill>
                      <a:srgbClr val="080808"/>
                    </a:solidFill>
                    <a:latin typeface="+mn-lt"/>
                    <a:ea typeface="+mn-ea"/>
                  </a:rPr>
                  <a:t>指向了同一个地址单元，</a:t>
                </a:r>
                <a:r>
                  <a:rPr lang="zh-CN" altLang="en-US" sz="1400" b="1" dirty="0">
                    <a:solidFill>
                      <a:srgbClr val="C00000"/>
                    </a:solidFill>
                    <a:latin typeface="+mn-lt"/>
                    <a:ea typeface="+mn-ea"/>
                  </a:rPr>
                  <a:t>它们地址相同，而不是所指内容相同</a:t>
                </a:r>
                <a:endParaRPr lang="en-US" altLang="zh-CN" sz="1400" b="1" dirty="0">
                  <a:solidFill>
                    <a:srgbClr val="C00000"/>
                  </a:solidFill>
                  <a:latin typeface="+mn-lt"/>
                  <a:ea typeface="+mn-ea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sz="1400" dirty="0">
                    <a:solidFill>
                      <a:srgbClr val="080808"/>
                    </a:solidFill>
                    <a:latin typeface="+mn-lt"/>
                    <a:ea typeface="+mn-ea"/>
                  </a:rPr>
                  <a:t>由于</a:t>
                </a:r>
                <a:r>
                  <a:rPr lang="en-US" altLang="zh-CN" sz="1400" dirty="0">
                    <a:solidFill>
                      <a:srgbClr val="080808"/>
                    </a:solidFill>
                    <a:latin typeface="+mn-lt"/>
                    <a:ea typeface="+mn-ea"/>
                  </a:rPr>
                  <a:t>str1</a:t>
                </a:r>
                <a:r>
                  <a:rPr lang="zh-CN" altLang="en-US" sz="1400" dirty="0">
                    <a:solidFill>
                      <a:srgbClr val="080808"/>
                    </a:solidFill>
                    <a:latin typeface="+mn-lt"/>
                    <a:ea typeface="+mn-ea"/>
                  </a:rPr>
                  <a:t>与</a:t>
                </a:r>
                <a:r>
                  <a:rPr lang="en-US" altLang="zh-CN" sz="1400" dirty="0">
                    <a:solidFill>
                      <a:srgbClr val="080808"/>
                    </a:solidFill>
                    <a:latin typeface="+mn-lt"/>
                    <a:ea typeface="+mn-ea"/>
                  </a:rPr>
                  <a:t>str2</a:t>
                </a:r>
                <a:r>
                  <a:rPr lang="zh-CN" altLang="en-US" sz="1400" dirty="0">
                    <a:solidFill>
                      <a:srgbClr val="080808"/>
                    </a:solidFill>
                    <a:latin typeface="+mn-lt"/>
                    <a:ea typeface="+mn-ea"/>
                  </a:rPr>
                  <a:t>的这种定义方式，定义了</a:t>
                </a:r>
                <a:r>
                  <a:rPr lang="zh-CN" altLang="en-US" sz="1400" b="1" dirty="0">
                    <a:solidFill>
                      <a:srgbClr val="0070C0"/>
                    </a:solidFill>
                    <a:latin typeface="+mn-lt"/>
                    <a:ea typeface="+mn-ea"/>
                  </a:rPr>
                  <a:t>两个字符串</a:t>
                </a:r>
                <a:r>
                  <a:rPr lang="zh-CN" altLang="en-US" sz="1400" b="1" dirty="0" smtClean="0">
                    <a:solidFill>
                      <a:srgbClr val="0070C0"/>
                    </a:solidFill>
                    <a:latin typeface="+mn-lt"/>
                    <a:ea typeface="+mn-ea"/>
                  </a:rPr>
                  <a:t>常量</a:t>
                </a:r>
                <a:endParaRPr lang="en-US" altLang="zh-CN" sz="1400" b="1" dirty="0" smtClean="0">
                  <a:solidFill>
                    <a:srgbClr val="0070C0"/>
                  </a:solidFill>
                  <a:latin typeface="+mn-lt"/>
                  <a:ea typeface="+mn-ea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sz="1400" b="1" dirty="0">
                    <a:solidFill>
                      <a:srgbClr val="0000CC"/>
                    </a:solidFill>
                    <a:latin typeface="+mn-lt"/>
                    <a:ea typeface="+mn-ea"/>
                  </a:rPr>
                  <a:t>由于这两个字符串</a:t>
                </a:r>
                <a:r>
                  <a:rPr lang="zh-CN" altLang="en-US" sz="1400" b="1" dirty="0" smtClean="0">
                    <a:solidFill>
                      <a:srgbClr val="0000CC"/>
                    </a:solidFill>
                    <a:latin typeface="+mn-lt"/>
                    <a:ea typeface="+mn-ea"/>
                  </a:rPr>
                  <a:t>常量是同一个常量</a:t>
                </a:r>
                <a:r>
                  <a:rPr lang="zh-CN" altLang="en-US" sz="1400" dirty="0" smtClean="0">
                    <a:solidFill>
                      <a:srgbClr val="080808"/>
                    </a:solidFill>
                    <a:latin typeface="+mn-lt"/>
                    <a:ea typeface="+mn-ea"/>
                  </a:rPr>
                  <a:t>，</a:t>
                </a:r>
                <a:r>
                  <a:rPr lang="zh-CN" altLang="en-US" sz="1400" dirty="0">
                    <a:solidFill>
                      <a:srgbClr val="080808"/>
                    </a:solidFill>
                    <a:latin typeface="+mn-lt"/>
                    <a:ea typeface="+mn-ea"/>
                  </a:rPr>
                  <a:t>编译器对其进行了处理，在内存</a:t>
                </a:r>
                <a:r>
                  <a:rPr lang="zh-CN" altLang="en-US" sz="1400" dirty="0" smtClean="0">
                    <a:solidFill>
                      <a:srgbClr val="080808"/>
                    </a:solidFill>
                    <a:latin typeface="+mn-lt"/>
                    <a:ea typeface="+mn-ea"/>
                  </a:rPr>
                  <a:t>的常量区存储了一个</a:t>
                </a:r>
                <a:r>
                  <a:rPr lang="en-US" altLang="zh-CN" sz="1400" dirty="0" smtClean="0">
                    <a:solidFill>
                      <a:srgbClr val="080808"/>
                    </a:solidFill>
                    <a:latin typeface="+mn-lt"/>
                    <a:ea typeface="+mn-ea"/>
                  </a:rPr>
                  <a:t>“hello”</a:t>
                </a:r>
                <a:r>
                  <a:rPr lang="zh-CN" altLang="en-US" sz="1400" dirty="0" smtClean="0">
                    <a:solidFill>
                      <a:srgbClr val="080808"/>
                    </a:solidFill>
                    <a:latin typeface="+mn-lt"/>
                    <a:ea typeface="+mn-ea"/>
                  </a:rPr>
                  <a:t>，</a:t>
                </a:r>
                <a:r>
                  <a:rPr lang="en-US" altLang="zh-CN" sz="1400" dirty="0" smtClean="0">
                    <a:solidFill>
                      <a:srgbClr val="080808"/>
                    </a:solidFill>
                    <a:latin typeface="+mn-lt"/>
                    <a:ea typeface="+mn-ea"/>
                  </a:rPr>
                  <a:t>str1</a:t>
                </a:r>
                <a:r>
                  <a:rPr lang="zh-CN" altLang="en-US" sz="1400" dirty="0" smtClean="0">
                    <a:solidFill>
                      <a:srgbClr val="080808"/>
                    </a:solidFill>
                    <a:latin typeface="+mn-lt"/>
                    <a:ea typeface="+mn-ea"/>
                  </a:rPr>
                  <a:t>与</a:t>
                </a:r>
                <a:r>
                  <a:rPr lang="en-US" altLang="zh-CN" sz="1400" dirty="0" smtClean="0">
                    <a:solidFill>
                      <a:srgbClr val="080808"/>
                    </a:solidFill>
                    <a:latin typeface="+mn-lt"/>
                    <a:ea typeface="+mn-ea"/>
                  </a:rPr>
                  <a:t>str2</a:t>
                </a:r>
                <a:r>
                  <a:rPr lang="zh-CN" altLang="en-US" sz="1400" dirty="0" smtClean="0">
                    <a:solidFill>
                      <a:srgbClr val="080808"/>
                    </a:solidFill>
                    <a:latin typeface="+mn-lt"/>
                    <a:ea typeface="+mn-ea"/>
                  </a:rPr>
                  <a:t>都指向存储</a:t>
                </a:r>
                <a:r>
                  <a:rPr lang="en-US" altLang="zh-CN" sz="1400" dirty="0" smtClean="0">
                    <a:solidFill>
                      <a:srgbClr val="080808"/>
                    </a:solidFill>
                    <a:latin typeface="+mn-lt"/>
                    <a:ea typeface="+mn-ea"/>
                  </a:rPr>
                  <a:t>“hello”</a:t>
                </a:r>
                <a:r>
                  <a:rPr lang="zh-CN" altLang="en-US" sz="1400" dirty="0" smtClean="0">
                    <a:solidFill>
                      <a:srgbClr val="080808"/>
                    </a:solidFill>
                    <a:latin typeface="+mn-lt"/>
                    <a:ea typeface="+mn-ea"/>
                  </a:rPr>
                  <a:t>的内存单元，因此地址</a:t>
                </a:r>
                <a:r>
                  <a:rPr lang="en-US" altLang="zh-CN" sz="1400" dirty="0" smtClean="0">
                    <a:solidFill>
                      <a:srgbClr val="080808"/>
                    </a:solidFill>
                    <a:latin typeface="+mn-lt"/>
                    <a:ea typeface="+mn-ea"/>
                  </a:rPr>
                  <a:t>str1</a:t>
                </a:r>
                <a:r>
                  <a:rPr lang="zh-CN" altLang="en-US" sz="1400" dirty="0" smtClean="0">
                    <a:solidFill>
                      <a:srgbClr val="080808"/>
                    </a:solidFill>
                    <a:latin typeface="+mn-lt"/>
                    <a:ea typeface="+mn-ea"/>
                  </a:rPr>
                  <a:t>与</a:t>
                </a:r>
                <a:r>
                  <a:rPr lang="en-US" altLang="zh-CN" sz="1400" dirty="0" smtClean="0">
                    <a:solidFill>
                      <a:srgbClr val="080808"/>
                    </a:solidFill>
                    <a:latin typeface="+mn-lt"/>
                    <a:ea typeface="+mn-ea"/>
                  </a:rPr>
                  <a:t>str2</a:t>
                </a:r>
                <a:r>
                  <a:rPr lang="zh-CN" altLang="en-US" sz="1400" dirty="0" smtClean="0">
                    <a:solidFill>
                      <a:srgbClr val="080808"/>
                    </a:solidFill>
                    <a:latin typeface="+mn-lt"/>
                    <a:ea typeface="+mn-ea"/>
                  </a:rPr>
                  <a:t>相等；（</a:t>
                </a:r>
                <a:r>
                  <a:rPr lang="en-US" altLang="zh-CN" sz="1400" dirty="0" smtClean="0">
                    <a:solidFill>
                      <a:srgbClr val="080808"/>
                    </a:solidFill>
                    <a:latin typeface="+mn-lt"/>
                    <a:ea typeface="+mn-ea"/>
                  </a:rPr>
                  <a:t>str1==str2</a:t>
                </a:r>
                <a:r>
                  <a:rPr lang="zh-CN" altLang="en-US" sz="1400" dirty="0" smtClean="0">
                    <a:solidFill>
                      <a:srgbClr val="080808"/>
                    </a:solidFill>
                    <a:latin typeface="+mn-lt"/>
                    <a:ea typeface="+mn-ea"/>
                  </a:rPr>
                  <a:t>的值为</a:t>
                </a:r>
                <a:r>
                  <a:rPr lang="en-US" altLang="zh-CN" sz="1400" dirty="0" smtClean="0">
                    <a:solidFill>
                      <a:srgbClr val="080808"/>
                    </a:solidFill>
                    <a:latin typeface="+mn-lt"/>
                    <a:ea typeface="+mn-ea"/>
                  </a:rPr>
                  <a:t>“</a:t>
                </a:r>
                <a:r>
                  <a:rPr lang="zh-CN" altLang="en-US" sz="1400" dirty="0" smtClean="0">
                    <a:solidFill>
                      <a:srgbClr val="080808"/>
                    </a:solidFill>
                    <a:latin typeface="+mn-lt"/>
                    <a:ea typeface="+mn-ea"/>
                  </a:rPr>
                  <a:t>真</a:t>
                </a:r>
                <a:r>
                  <a:rPr lang="en-US" altLang="zh-CN" sz="1400" dirty="0" smtClean="0">
                    <a:solidFill>
                      <a:srgbClr val="080808"/>
                    </a:solidFill>
                    <a:latin typeface="+mn-lt"/>
                    <a:ea typeface="+mn-ea"/>
                  </a:rPr>
                  <a:t>”</a:t>
                </a:r>
                <a:r>
                  <a:rPr lang="zh-CN" altLang="en-US" sz="1400" dirty="0" smtClean="0">
                    <a:solidFill>
                      <a:srgbClr val="080808"/>
                    </a:solidFill>
                    <a:latin typeface="+mn-lt"/>
                    <a:ea typeface="+mn-ea"/>
                  </a:rPr>
                  <a:t>）</a:t>
                </a:r>
                <a:endParaRPr lang="en-US" altLang="zh-CN" sz="1400" dirty="0">
                  <a:solidFill>
                    <a:srgbClr val="080808"/>
                  </a:solidFill>
                  <a:latin typeface="+mn-lt"/>
                  <a:ea typeface="+mn-ea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sz="1400" dirty="0" smtClean="0">
                    <a:solidFill>
                      <a:srgbClr val="080808"/>
                    </a:solidFill>
                    <a:latin typeface="+mn-lt"/>
                    <a:ea typeface="+mn-ea"/>
                  </a:rPr>
                  <a:t>如果</a:t>
                </a:r>
                <a:r>
                  <a:rPr lang="en-US" altLang="zh-CN" sz="1400" dirty="0" err="1">
                    <a:solidFill>
                      <a:srgbClr val="080808"/>
                    </a:solidFill>
                    <a:latin typeface="+mn-lt"/>
                    <a:ea typeface="+mn-ea"/>
                  </a:rPr>
                  <a:t>const</a:t>
                </a:r>
                <a:r>
                  <a:rPr lang="en-US" altLang="zh-CN" sz="1400" dirty="0">
                    <a:solidFill>
                      <a:srgbClr val="080808"/>
                    </a:solidFill>
                    <a:latin typeface="+mn-lt"/>
                    <a:ea typeface="+mn-ea"/>
                  </a:rPr>
                  <a:t> char *str1</a:t>
                </a:r>
                <a:r>
                  <a:rPr lang="en-US" altLang="zh-CN" sz="1400" dirty="0" smtClean="0">
                    <a:solidFill>
                      <a:srgbClr val="080808"/>
                    </a:solidFill>
                    <a:latin typeface="+mn-lt"/>
                    <a:ea typeface="+mn-ea"/>
                  </a:rPr>
                  <a:t>=“</a:t>
                </a:r>
                <a:r>
                  <a:rPr lang="en-US" altLang="zh-CN" sz="1400" dirty="0" err="1" smtClean="0">
                    <a:solidFill>
                      <a:srgbClr val="080808"/>
                    </a:solidFill>
                    <a:latin typeface="+mn-lt"/>
                    <a:ea typeface="+mn-ea"/>
                  </a:rPr>
                  <a:t>h</a:t>
                </a:r>
                <a:r>
                  <a:rPr lang="en-US" altLang="zh-CN" sz="1400" dirty="0" err="1" smtClean="0">
                    <a:solidFill>
                      <a:srgbClr val="C00000"/>
                    </a:solidFill>
                    <a:latin typeface="+mn-lt"/>
                    <a:ea typeface="+mn-ea"/>
                  </a:rPr>
                  <a:t>h</a:t>
                </a:r>
                <a:r>
                  <a:rPr lang="en-US" altLang="zh-CN" sz="1400" dirty="0" err="1" smtClean="0">
                    <a:solidFill>
                      <a:srgbClr val="080808"/>
                    </a:solidFill>
                    <a:latin typeface="+mn-lt"/>
                    <a:ea typeface="+mn-ea"/>
                  </a:rPr>
                  <a:t>llo</a:t>
                </a:r>
                <a:r>
                  <a:rPr lang="en-US" altLang="zh-CN" sz="1400" dirty="0" smtClean="0">
                    <a:solidFill>
                      <a:srgbClr val="080808"/>
                    </a:solidFill>
                    <a:latin typeface="+mn-lt"/>
                    <a:ea typeface="+mn-ea"/>
                  </a:rPr>
                  <a:t>”, </a:t>
                </a:r>
                <a:r>
                  <a:rPr lang="en-US" altLang="zh-CN" sz="1400" dirty="0">
                    <a:solidFill>
                      <a:srgbClr val="080808"/>
                    </a:solidFill>
                    <a:latin typeface="+mn-lt"/>
                    <a:ea typeface="+mn-ea"/>
                  </a:rPr>
                  <a:t>*str2</a:t>
                </a:r>
                <a:r>
                  <a:rPr lang="en-US" altLang="zh-CN" sz="1400" dirty="0" smtClean="0">
                    <a:solidFill>
                      <a:srgbClr val="080808"/>
                    </a:solidFill>
                    <a:latin typeface="+mn-lt"/>
                    <a:ea typeface="+mn-ea"/>
                  </a:rPr>
                  <a:t>=“h</a:t>
                </a:r>
                <a:r>
                  <a:rPr lang="en-US" altLang="zh-CN" sz="1400" dirty="0" smtClean="0">
                    <a:solidFill>
                      <a:srgbClr val="C00000"/>
                    </a:solidFill>
                    <a:latin typeface="+mn-lt"/>
                    <a:ea typeface="+mn-ea"/>
                  </a:rPr>
                  <a:t>e</a:t>
                </a:r>
                <a:r>
                  <a:rPr lang="en-US" altLang="zh-CN" sz="1400" dirty="0" smtClean="0">
                    <a:solidFill>
                      <a:srgbClr val="080808"/>
                    </a:solidFill>
                    <a:latin typeface="+mn-lt"/>
                    <a:ea typeface="+mn-ea"/>
                  </a:rPr>
                  <a:t>llo”</a:t>
                </a:r>
                <a:r>
                  <a:rPr lang="zh-CN" altLang="en-US" sz="1400" dirty="0" smtClean="0">
                    <a:solidFill>
                      <a:srgbClr val="080808"/>
                    </a:solidFill>
                    <a:latin typeface="+mn-lt"/>
                    <a:ea typeface="+mn-ea"/>
                  </a:rPr>
                  <a:t>，则编译器为这两个字符串常量分配了不同的内存空间，</a:t>
                </a:r>
                <a:r>
                  <a:rPr lang="en-US" altLang="zh-CN" sz="1400" dirty="0" smtClean="0">
                    <a:solidFill>
                      <a:srgbClr val="080808"/>
                    </a:solidFill>
                    <a:latin typeface="+mn-lt"/>
                    <a:ea typeface="+mn-ea"/>
                  </a:rPr>
                  <a:t>str1</a:t>
                </a:r>
                <a:r>
                  <a:rPr lang="zh-CN" altLang="en-US" sz="1400" dirty="0" smtClean="0">
                    <a:solidFill>
                      <a:srgbClr val="080808"/>
                    </a:solidFill>
                    <a:latin typeface="+mn-lt"/>
                    <a:ea typeface="+mn-ea"/>
                  </a:rPr>
                  <a:t>与</a:t>
                </a:r>
                <a:r>
                  <a:rPr lang="en-US" altLang="zh-CN" sz="1400" dirty="0" smtClean="0">
                    <a:solidFill>
                      <a:srgbClr val="080808"/>
                    </a:solidFill>
                    <a:latin typeface="+mn-lt"/>
                    <a:ea typeface="+mn-ea"/>
                  </a:rPr>
                  <a:t>str2</a:t>
                </a:r>
                <a:r>
                  <a:rPr lang="zh-CN" altLang="en-US" sz="1400" dirty="0" smtClean="0">
                    <a:solidFill>
                      <a:srgbClr val="080808"/>
                    </a:solidFill>
                    <a:latin typeface="+mn-lt"/>
                    <a:ea typeface="+mn-ea"/>
                  </a:rPr>
                  <a:t>也就不会相等。</a:t>
                </a:r>
                <a:endParaRPr lang="en-US" altLang="zh-CN" sz="1400" dirty="0">
                  <a:solidFill>
                    <a:srgbClr val="080808"/>
                  </a:solidFill>
                  <a:latin typeface="+mn-lt"/>
                  <a:ea typeface="+mn-ea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1400" b="1" dirty="0" smtClean="0">
                    <a:solidFill>
                      <a:srgbClr val="006600"/>
                    </a:solidFill>
                    <a:latin typeface="+mn-lt"/>
                    <a:ea typeface="+mn-ea"/>
                  </a:rPr>
                  <a:t>S1</a:t>
                </a:r>
                <a:r>
                  <a:rPr lang="zh-CN" altLang="en-US" sz="1400" b="1" dirty="0" smtClean="0">
                    <a:solidFill>
                      <a:srgbClr val="006600"/>
                    </a:solidFill>
                    <a:latin typeface="+mn-lt"/>
                    <a:ea typeface="+mn-ea"/>
                  </a:rPr>
                  <a:t>与</a:t>
                </a:r>
                <a:r>
                  <a:rPr lang="en-US" altLang="zh-CN" sz="1400" b="1" dirty="0" smtClean="0">
                    <a:solidFill>
                      <a:srgbClr val="006600"/>
                    </a:solidFill>
                    <a:latin typeface="+mn-lt"/>
                    <a:ea typeface="+mn-ea"/>
                  </a:rPr>
                  <a:t>s2</a:t>
                </a:r>
                <a:r>
                  <a:rPr lang="zh-CN" altLang="en-US" sz="1400" b="1" dirty="0" smtClean="0">
                    <a:solidFill>
                      <a:srgbClr val="006600"/>
                    </a:solidFill>
                    <a:latin typeface="+mn-lt"/>
                    <a:ea typeface="+mn-ea"/>
                  </a:rPr>
                  <a:t>是两个数组，编译器为其分配的内存单元不同，故</a:t>
                </a:r>
                <a:r>
                  <a:rPr lang="en-US" altLang="zh-CN" sz="1400" b="1" dirty="0" smtClean="0">
                    <a:solidFill>
                      <a:srgbClr val="006600"/>
                    </a:solidFill>
                    <a:latin typeface="+mn-lt"/>
                    <a:ea typeface="+mn-ea"/>
                  </a:rPr>
                  <a:t>s1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altLang="zh-CN" sz="1400" b="1" dirty="0" smtClean="0">
                    <a:solidFill>
                      <a:srgbClr val="006600"/>
                    </a:solidFill>
                    <a:latin typeface="+mn-lt"/>
                    <a:ea typeface="+mn-ea"/>
                  </a:rPr>
                  <a:t>s2</a:t>
                </a:r>
                <a:endParaRPr lang="en-US" altLang="zh-CN" sz="1400" b="1" dirty="0">
                  <a:solidFill>
                    <a:srgbClr val="006600"/>
                  </a:solidFill>
                  <a:latin typeface="+mn-lt"/>
                  <a:ea typeface="+mn-ea"/>
                </a:endParaRPr>
              </a:p>
              <a:p>
                <a:pPr marL="285750" marR="0" indent="-28575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</a:pPr>
                <a:endParaRPr lang="zh-CN" altLang="en-US" sz="1400" dirty="0">
                  <a:solidFill>
                    <a:srgbClr val="080808"/>
                  </a:solidFill>
                  <a:latin typeface="+mn-lt"/>
                  <a:ea typeface="+mn-ea"/>
                </a:endParaRPr>
              </a:p>
            </p:txBody>
          </p:sp>
        </mc:Choice>
        <mc:Fallback xmlns="">
          <p:sp>
            <p:nvSpPr>
              <p:cNvPr id="7" name="圆角矩形标注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16907" y="875633"/>
                <a:ext cx="4315967" cy="3575432"/>
              </a:xfrm>
              <a:prstGeom prst="wedgeRoundRectCallout">
                <a:avLst>
                  <a:gd name="adj1" fmla="val -20427"/>
                  <a:gd name="adj2" fmla="val 49679"/>
                  <a:gd name="adj3" fmla="val 16667"/>
                </a:avLst>
              </a:prstGeom>
              <a:blipFill>
                <a:blip r:embed="rId2"/>
                <a:stretch>
                  <a:fillRect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1215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>
                <a:latin typeface="宋体" panose="02010600030101010101" pitchFamily="2" charset="-122"/>
              </a:rPr>
              <a:t>字符串之间的</a:t>
            </a:r>
            <a:r>
              <a:rPr lang="zh-CN" altLang="en-US" b="1" dirty="0" smtClean="0">
                <a:solidFill>
                  <a:srgbClr val="7030A0"/>
                </a:solidFill>
                <a:latin typeface="宋体" panose="02010600030101010101" pitchFamily="2" charset="-122"/>
              </a:rPr>
              <a:t>比较</a:t>
            </a:r>
            <a:r>
              <a:rPr lang="zh-CN" altLang="en-US" b="1" dirty="0" smtClean="0">
                <a:latin typeface="宋体" panose="02010600030101010101" pitchFamily="2" charset="-122"/>
              </a:rPr>
              <a:t>运算：</a:t>
            </a:r>
            <a:r>
              <a:rPr lang="en-US" altLang="zh-CN" b="1" dirty="0" err="1" smtClean="0">
                <a:latin typeface="宋体" panose="02010600030101010101" pitchFamily="2" charset="-122"/>
              </a:rPr>
              <a:t>strcmp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45324" y="987425"/>
            <a:ext cx="8089900" cy="419417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2000" dirty="0" smtClean="0"/>
              <a:t>考察下述程序段</a:t>
            </a:r>
            <a:endParaRPr lang="en-US" altLang="zh-CN" sz="2000" dirty="0" smtClean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340" y="1406842"/>
            <a:ext cx="6477000" cy="5217795"/>
          </a:xfrm>
          <a:prstGeom prst="rect">
            <a:avLst/>
          </a:prstGeom>
        </p:spPr>
      </p:pic>
      <p:sp>
        <p:nvSpPr>
          <p:cNvPr id="6" name="圆角矩形标注 5"/>
          <p:cNvSpPr/>
          <p:nvPr/>
        </p:nvSpPr>
        <p:spPr bwMode="auto">
          <a:xfrm>
            <a:off x="5630957" y="2090926"/>
            <a:ext cx="2990088" cy="1859281"/>
          </a:xfrm>
          <a:prstGeom prst="wedgeRoundRectCallout">
            <a:avLst>
              <a:gd name="adj1" fmla="val -20427"/>
              <a:gd name="adj2" fmla="val 49679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+mn-lt"/>
                <a:ea typeface="+mn-ea"/>
              </a:rPr>
              <a:t>利用字符串比较函数</a:t>
            </a:r>
            <a:r>
              <a:rPr kumimoji="0" lang="en-US" altLang="zh-CN" sz="1600" b="0" i="0" u="none" strike="noStrike" cap="none" normalizeH="0" baseline="0" dirty="0" err="1" smtClean="0">
                <a:ln>
                  <a:noFill/>
                </a:ln>
                <a:solidFill>
                  <a:srgbClr val="080808"/>
                </a:solidFill>
                <a:effectLst/>
                <a:latin typeface="+mn-lt"/>
                <a:ea typeface="+mn-ea"/>
              </a:rPr>
              <a:t>strcmp</a:t>
            </a: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+mn-lt"/>
                <a:ea typeface="+mn-ea"/>
              </a:rPr>
              <a:t>，比较两字符串的值，</a:t>
            </a: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+mn-lt"/>
                <a:ea typeface="+mn-ea"/>
              </a:rPr>
              <a:t>条件表达式的值都为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+mn-lt"/>
                <a:ea typeface="+mn-ea"/>
              </a:rPr>
              <a:t>“</a:t>
            </a: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+mn-lt"/>
                <a:ea typeface="+mn-ea"/>
              </a:rPr>
              <a:t>真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+mn-lt"/>
                <a:ea typeface="+mn-ea"/>
              </a:rPr>
              <a:t>”</a:t>
            </a: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+mn-lt"/>
                <a:ea typeface="+mn-ea"/>
              </a:rPr>
              <a:t>；</a:t>
            </a:r>
            <a:endParaRPr kumimoji="0" lang="en-US" altLang="zh-CN" sz="1600" b="0" i="0" u="none" strike="noStrike" cap="none" normalizeH="0" baseline="0" dirty="0" smtClean="0">
              <a:ln>
                <a:noFill/>
              </a:ln>
              <a:solidFill>
                <a:srgbClr val="C00000"/>
              </a:solidFill>
              <a:effectLst/>
              <a:latin typeface="+mn-lt"/>
              <a:ea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 err="1">
                <a:solidFill>
                  <a:srgbClr val="080808"/>
                </a:solidFill>
                <a:latin typeface="+mn-lt"/>
                <a:ea typeface="+mn-ea"/>
              </a:rPr>
              <a:t>s</a:t>
            </a:r>
            <a:r>
              <a:rPr lang="en-US" altLang="zh-CN" sz="1600" dirty="0" err="1" smtClean="0">
                <a:solidFill>
                  <a:srgbClr val="080808"/>
                </a:solidFill>
                <a:latin typeface="+mn-lt"/>
                <a:ea typeface="+mn-ea"/>
              </a:rPr>
              <a:t>trcmp</a:t>
            </a:r>
            <a:r>
              <a:rPr lang="zh-CN" altLang="en-US" sz="1600" dirty="0" smtClean="0">
                <a:solidFill>
                  <a:srgbClr val="080808"/>
                </a:solidFill>
                <a:latin typeface="+mn-lt"/>
                <a:ea typeface="+mn-ea"/>
              </a:rPr>
              <a:t>是比较两字符串的内容。</a:t>
            </a:r>
            <a:endParaRPr kumimoji="0" lang="zh-CN" altLang="en-US" sz="1600" i="0" u="none" strike="noStrike" cap="none" normalizeH="0" baseline="0" dirty="0" smtClean="0">
              <a:ln>
                <a:noFill/>
              </a:ln>
              <a:solidFill>
                <a:srgbClr val="C00000"/>
              </a:solidFill>
              <a:effectLst/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15280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483177" y="997526"/>
            <a:ext cx="7974013" cy="5361710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头文件：</a:t>
            </a:r>
            <a:r>
              <a:rPr lang="en-US" altLang="zh-CN" sz="2000" dirty="0" err="1"/>
              <a:t>string.h</a:t>
            </a: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原型</a:t>
            </a:r>
            <a:r>
              <a:rPr lang="zh-CN" altLang="en-US" sz="2000" dirty="0"/>
              <a:t>声明：</a:t>
            </a:r>
            <a:r>
              <a:rPr lang="en-US" altLang="zh-CN" sz="2000" dirty="0">
                <a:sym typeface="Wingdings" panose="05000000000000000000" pitchFamily="2" charset="2"/>
              </a:rPr>
              <a:t>int </a:t>
            </a:r>
            <a:r>
              <a:rPr lang="en-US" altLang="zh-CN" sz="2000" dirty="0" err="1">
                <a:sym typeface="Wingdings" panose="05000000000000000000" pitchFamily="2" charset="2"/>
              </a:rPr>
              <a:t>strcmp</a:t>
            </a:r>
            <a:r>
              <a:rPr lang="en-US" altLang="zh-CN" sz="2000" dirty="0">
                <a:sym typeface="Wingdings" panose="05000000000000000000" pitchFamily="2" charset="2"/>
              </a:rPr>
              <a:t>(const char *s1,const char *s2);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功能：比较两个字符串，并根据比较结果返回整数；</a:t>
            </a: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ym typeface="Wingdings" panose="05000000000000000000" pitchFamily="2" charset="2"/>
              </a:rPr>
              <a:t>比较规则</a:t>
            </a:r>
            <a:endParaRPr lang="en-US" altLang="zh-CN" sz="2000" dirty="0">
              <a:sym typeface="Wingdings" panose="05000000000000000000" pitchFamily="2" charset="2"/>
            </a:endParaRPr>
          </a:p>
          <a:p>
            <a:pPr marL="971550" lvl="1"/>
            <a:r>
              <a:rPr lang="zh-CN" altLang="en-US" sz="1800" dirty="0">
                <a:solidFill>
                  <a:srgbClr val="FF3300"/>
                </a:solidFill>
                <a:latin typeface=""/>
                <a:sym typeface="Wingdings" panose="05000000000000000000" pitchFamily="2" charset="2"/>
              </a:rPr>
              <a:t>逐个字符比较</a:t>
            </a:r>
            <a:r>
              <a:rPr lang="en-US" altLang="zh-CN" sz="1800" dirty="0">
                <a:solidFill>
                  <a:srgbClr val="FF3300"/>
                </a:solidFill>
                <a:latin typeface=""/>
                <a:sym typeface="Wingdings" panose="05000000000000000000" pitchFamily="2" charset="2"/>
              </a:rPr>
              <a:t>ASCII</a:t>
            </a:r>
            <a:r>
              <a:rPr lang="zh-CN" altLang="en-US" sz="1800" dirty="0">
                <a:solidFill>
                  <a:srgbClr val="FF3300"/>
                </a:solidFill>
                <a:latin typeface=""/>
                <a:sym typeface="Wingdings" panose="05000000000000000000" pitchFamily="2" charset="2"/>
              </a:rPr>
              <a:t>码</a:t>
            </a:r>
            <a:r>
              <a:rPr lang="zh-CN" altLang="en-US" sz="1800" dirty="0">
                <a:latin typeface=""/>
                <a:sym typeface="Wingdings" panose="05000000000000000000" pitchFamily="2" charset="2"/>
              </a:rPr>
              <a:t>，直到遇到</a:t>
            </a:r>
            <a:r>
              <a:rPr lang="zh-CN" altLang="en-US" sz="1800" dirty="0">
                <a:solidFill>
                  <a:srgbClr val="FF3300"/>
                </a:solidFill>
                <a:latin typeface=""/>
                <a:sym typeface="Wingdings" panose="05000000000000000000" pitchFamily="2" charset="2"/>
              </a:rPr>
              <a:t>不同字符或</a:t>
            </a:r>
            <a:r>
              <a:rPr lang="zh-CN" altLang="en-US" sz="1800" dirty="0">
                <a:solidFill>
                  <a:srgbClr val="FF3300"/>
                </a:solidFill>
                <a:sym typeface="Wingdings" panose="05000000000000000000" pitchFamily="2" charset="2"/>
              </a:rPr>
              <a:t>‘</a:t>
            </a:r>
            <a:r>
              <a:rPr lang="zh-CN" altLang="en-US" sz="1800" dirty="0">
                <a:solidFill>
                  <a:srgbClr val="FF3300"/>
                </a:solidFill>
                <a:latin typeface=""/>
                <a:sym typeface="Wingdings" panose="05000000000000000000" pitchFamily="2" charset="2"/>
              </a:rPr>
              <a:t>\0</a:t>
            </a:r>
            <a:r>
              <a:rPr lang="zh-CN" altLang="en-US" sz="1800" dirty="0">
                <a:solidFill>
                  <a:srgbClr val="FF3300"/>
                </a:solidFill>
                <a:sym typeface="Wingdings" panose="05000000000000000000" pitchFamily="2" charset="2"/>
              </a:rPr>
              <a:t>’</a:t>
            </a:r>
            <a:r>
              <a:rPr lang="zh-CN" altLang="en-US" sz="1800" dirty="0">
                <a:latin typeface=""/>
                <a:sym typeface="Wingdings" panose="05000000000000000000" pitchFamily="2" charset="2"/>
              </a:rPr>
              <a:t>为止；</a:t>
            </a:r>
            <a:endParaRPr lang="en-US" altLang="zh-CN" sz="1800" dirty="0">
              <a:latin typeface=""/>
              <a:sym typeface="Wingdings" panose="05000000000000000000" pitchFamily="2" charset="2"/>
            </a:endParaRPr>
          </a:p>
          <a:p>
            <a:pPr marL="971550" lvl="1"/>
            <a:r>
              <a:rPr lang="zh-CN" altLang="en-US" sz="1800" dirty="0"/>
              <a:t>若</a:t>
            </a:r>
            <a:r>
              <a:rPr lang="en-US" altLang="zh-CN" sz="1800" dirty="0" smtClean="0"/>
              <a:t>str1=str2</a:t>
            </a:r>
            <a:r>
              <a:rPr lang="zh-CN" altLang="en-US" sz="1800" dirty="0"/>
              <a:t>，则返回零</a:t>
            </a:r>
            <a:r>
              <a:rPr lang="zh-CN" altLang="en-US" sz="1800" dirty="0" smtClean="0"/>
              <a:t>；</a:t>
            </a:r>
            <a:r>
              <a:rPr lang="en-US" altLang="zh-CN" sz="1800" dirty="0" smtClean="0"/>
              <a:t>(0)</a:t>
            </a:r>
            <a:endParaRPr lang="en-US" altLang="zh-CN" sz="1800" dirty="0"/>
          </a:p>
          <a:p>
            <a:pPr marL="971550" lvl="1"/>
            <a:r>
              <a:rPr lang="zh-CN" altLang="en-US" sz="1800" dirty="0"/>
              <a:t>若</a:t>
            </a:r>
            <a:r>
              <a:rPr lang="en-US" altLang="zh-CN" sz="1800" dirty="0"/>
              <a:t>str1&lt;str2</a:t>
            </a:r>
            <a:r>
              <a:rPr lang="zh-CN" altLang="en-US" sz="1800" dirty="0"/>
              <a:t>，则返回负数</a:t>
            </a:r>
            <a:r>
              <a:rPr lang="zh-CN" altLang="en-US" sz="1800" dirty="0" smtClean="0"/>
              <a:t>；</a:t>
            </a:r>
            <a:r>
              <a:rPr lang="en-US" altLang="zh-CN" sz="1800" dirty="0" smtClean="0"/>
              <a:t>(-1)</a:t>
            </a:r>
            <a:endParaRPr lang="en-US" altLang="zh-CN" sz="1800" dirty="0"/>
          </a:p>
          <a:p>
            <a:pPr marL="971550" lvl="1"/>
            <a:r>
              <a:rPr lang="zh-CN" altLang="en-US" sz="1800" dirty="0"/>
              <a:t>若</a:t>
            </a:r>
            <a:r>
              <a:rPr lang="en-US" altLang="zh-CN" sz="1800" dirty="0"/>
              <a:t>str1&gt;str2</a:t>
            </a:r>
            <a:r>
              <a:rPr lang="zh-CN" altLang="en-US" sz="1800" dirty="0"/>
              <a:t>，则返回正数</a:t>
            </a:r>
            <a:r>
              <a:rPr lang="zh-CN" altLang="en-US" sz="1800" dirty="0" smtClean="0"/>
              <a:t>。</a:t>
            </a:r>
            <a:r>
              <a:rPr lang="en-US" altLang="zh-CN" sz="1800" dirty="0" smtClean="0"/>
              <a:t>(1)</a:t>
            </a: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ym typeface="Wingdings" panose="05000000000000000000" pitchFamily="2" charset="2"/>
              </a:rPr>
              <a:t>例</a:t>
            </a:r>
            <a:r>
              <a:rPr lang="en-US" altLang="zh-CN" sz="2000" dirty="0">
                <a:sym typeface="Wingdings" panose="05000000000000000000" pitchFamily="2" charset="2"/>
              </a:rPr>
              <a:t>:   </a:t>
            </a:r>
            <a:r>
              <a:rPr lang="en-US" altLang="zh-CN" sz="2000" dirty="0">
                <a:solidFill>
                  <a:srgbClr val="000000"/>
                </a:solidFill>
                <a:sym typeface="Wingdings" panose="05000000000000000000" pitchFamily="2" charset="2"/>
              </a:rPr>
              <a:t>const char *str1=“SDU”,  *str2=“QU”;</a:t>
            </a:r>
          </a:p>
          <a:p>
            <a:pPr marL="971550" lvl="1"/>
            <a:r>
              <a:rPr lang="en-US" altLang="zh-CN" sz="1800" dirty="0" err="1">
                <a:sym typeface="Wingdings" panose="05000000000000000000" pitchFamily="2" charset="2"/>
              </a:rPr>
              <a:t>strcmp</a:t>
            </a:r>
            <a:r>
              <a:rPr lang="en-US" altLang="zh-CN" sz="1800" dirty="0">
                <a:sym typeface="Wingdings" panose="05000000000000000000" pitchFamily="2" charset="2"/>
              </a:rPr>
              <a:t>(str1, “SDU”);  //</a:t>
            </a:r>
            <a:r>
              <a:rPr lang="zh-CN" altLang="en-US" sz="1800" dirty="0">
                <a:sym typeface="Wingdings" panose="05000000000000000000" pitchFamily="2" charset="2"/>
              </a:rPr>
              <a:t>返回</a:t>
            </a:r>
            <a:r>
              <a:rPr lang="en-US" altLang="zh-CN" sz="1800" dirty="0">
                <a:sym typeface="Wingdings" panose="05000000000000000000" pitchFamily="2" charset="2"/>
              </a:rPr>
              <a:t>0</a:t>
            </a:r>
            <a:r>
              <a:rPr lang="zh-CN" altLang="en-US" sz="1800" dirty="0">
                <a:sym typeface="Wingdings" panose="05000000000000000000" pitchFamily="2" charset="2"/>
              </a:rPr>
              <a:t>，两个串相等；</a:t>
            </a:r>
            <a:endParaRPr lang="en-US" altLang="zh-CN" sz="1800" dirty="0">
              <a:sym typeface="Wingdings" panose="05000000000000000000" pitchFamily="2" charset="2"/>
            </a:endParaRPr>
          </a:p>
          <a:p>
            <a:pPr marL="971550" lvl="1"/>
            <a:r>
              <a:rPr lang="en-US" altLang="zh-CN" sz="1800" dirty="0" err="1">
                <a:sym typeface="Wingdings" panose="05000000000000000000" pitchFamily="2" charset="2"/>
              </a:rPr>
              <a:t>strcmp</a:t>
            </a:r>
            <a:r>
              <a:rPr lang="en-US" altLang="zh-CN" sz="1800" dirty="0">
                <a:sym typeface="Wingdings" panose="05000000000000000000" pitchFamily="2" charset="2"/>
              </a:rPr>
              <a:t>(str1,str2);    //</a:t>
            </a:r>
            <a:r>
              <a:rPr lang="zh-CN" altLang="en-US" sz="1800" dirty="0">
                <a:sym typeface="Wingdings" panose="05000000000000000000" pitchFamily="2" charset="2"/>
              </a:rPr>
              <a:t>返回</a:t>
            </a:r>
            <a:r>
              <a:rPr lang="en-US" altLang="zh-CN" sz="1800" dirty="0">
                <a:sym typeface="Wingdings" panose="05000000000000000000" pitchFamily="2" charset="2"/>
              </a:rPr>
              <a:t>1</a:t>
            </a:r>
            <a:r>
              <a:rPr lang="zh-CN" altLang="en-US" sz="1800" dirty="0">
                <a:sym typeface="Wingdings" panose="05000000000000000000" pitchFamily="2" charset="2"/>
              </a:rPr>
              <a:t>；因为</a:t>
            </a:r>
            <a:r>
              <a:rPr lang="en-US" altLang="zh-CN" sz="1800" dirty="0">
                <a:sym typeface="Wingdings" panose="05000000000000000000" pitchFamily="2" charset="2"/>
              </a:rPr>
              <a:t> ‘S’&gt; ‘Q’</a:t>
            </a:r>
          </a:p>
          <a:p>
            <a:pPr marL="971550" lvl="1"/>
            <a:r>
              <a:rPr lang="en-US" altLang="zh-CN" sz="1800" dirty="0" err="1">
                <a:sym typeface="Wingdings" panose="05000000000000000000" pitchFamily="2" charset="2"/>
              </a:rPr>
              <a:t>strcmp</a:t>
            </a:r>
            <a:r>
              <a:rPr lang="en-US" altLang="zh-CN" sz="1800" dirty="0">
                <a:sym typeface="Wingdings" panose="05000000000000000000" pitchFamily="2" charset="2"/>
              </a:rPr>
              <a:t>(“China”, “Korea”);    //</a:t>
            </a:r>
            <a:r>
              <a:rPr lang="zh-CN" altLang="en-US" sz="1800" dirty="0">
                <a:sym typeface="Wingdings" panose="05000000000000000000" pitchFamily="2" charset="2"/>
              </a:rPr>
              <a:t>返回</a:t>
            </a:r>
            <a:r>
              <a:rPr lang="en-US" altLang="zh-CN" sz="1800" dirty="0">
                <a:sym typeface="Wingdings" panose="05000000000000000000" pitchFamily="2" charset="2"/>
              </a:rPr>
              <a:t>-1</a:t>
            </a:r>
            <a:r>
              <a:rPr lang="zh-CN" altLang="en-US" sz="1800" dirty="0">
                <a:sym typeface="Wingdings" panose="05000000000000000000" pitchFamily="2" charset="2"/>
              </a:rPr>
              <a:t>，因为 </a:t>
            </a:r>
            <a:r>
              <a:rPr lang="en-US" altLang="zh-CN" sz="1800" dirty="0">
                <a:sym typeface="Wingdings" panose="05000000000000000000" pitchFamily="2" charset="2"/>
              </a:rPr>
              <a:t>‘C’&lt;‘K’</a:t>
            </a:r>
          </a:p>
          <a:p>
            <a:pPr marL="971550" lvl="1"/>
            <a:r>
              <a:rPr lang="en-US" altLang="zh-CN" sz="1800" dirty="0" err="1">
                <a:sym typeface="Wingdings" panose="05000000000000000000" pitchFamily="2" charset="2"/>
              </a:rPr>
              <a:t>strcmp</a:t>
            </a:r>
            <a:r>
              <a:rPr lang="en-US" altLang="zh-CN" sz="1800" dirty="0">
                <a:sym typeface="Wingdings" panose="05000000000000000000" pitchFamily="2" charset="2"/>
              </a:rPr>
              <a:t>(str1, “Tsinghua”);      //</a:t>
            </a:r>
            <a:r>
              <a:rPr lang="zh-CN" altLang="en-US" sz="1800" dirty="0">
                <a:sym typeface="Wingdings" panose="05000000000000000000" pitchFamily="2" charset="2"/>
              </a:rPr>
              <a:t>返回</a:t>
            </a:r>
            <a:r>
              <a:rPr lang="en-US" altLang="zh-CN" sz="1800" dirty="0">
                <a:sym typeface="Wingdings" panose="05000000000000000000" pitchFamily="2" charset="2"/>
              </a:rPr>
              <a:t>-1</a:t>
            </a:r>
            <a:r>
              <a:rPr lang="zh-CN" altLang="en-US" sz="1800" dirty="0">
                <a:sym typeface="Wingdings" panose="05000000000000000000" pitchFamily="2" charset="2"/>
              </a:rPr>
              <a:t>，因为</a:t>
            </a:r>
            <a:r>
              <a:rPr lang="en-US" altLang="zh-CN" sz="1800" dirty="0">
                <a:sym typeface="Wingdings" panose="05000000000000000000" pitchFamily="2" charset="2"/>
              </a:rPr>
              <a:t>‘S’&lt; ‘Q’</a:t>
            </a:r>
          </a:p>
          <a:p>
            <a:pPr marL="971550" lvl="1"/>
            <a:endParaRPr lang="en-US" altLang="zh-CN" dirty="0">
              <a:sym typeface="Wingdings" panose="05000000000000000000" pitchFamily="2" charset="2"/>
            </a:endParaRPr>
          </a:p>
          <a:p>
            <a:endParaRPr lang="en-US" altLang="zh-CN" b="1" dirty="0">
              <a:latin typeface="宋体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05855" y="292018"/>
            <a:ext cx="723146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7030A0"/>
                </a:solidFill>
                <a:latin typeface="+mj-lt"/>
                <a:ea typeface="+mj-ea"/>
                <a:cs typeface="+mj-cs"/>
              </a:rPr>
              <a:t>自学与练习： </a:t>
            </a:r>
            <a:r>
              <a:rPr lang="en-US" altLang="zh-CN" sz="2800" b="1" dirty="0" err="1" smtClean="0">
                <a:solidFill>
                  <a:srgbClr val="1A93C8"/>
                </a:solidFill>
                <a:latin typeface="+mn-lt"/>
                <a:ea typeface="+mj-ea"/>
                <a:cs typeface="+mj-cs"/>
                <a:sym typeface="Wingdings" panose="05000000000000000000" pitchFamily="2" charset="2"/>
              </a:rPr>
              <a:t>strcmp</a:t>
            </a:r>
            <a:r>
              <a:rPr lang="en-US" altLang="zh-CN" sz="2800" b="1" dirty="0">
                <a:solidFill>
                  <a:srgbClr val="1A93C8"/>
                </a:solidFill>
                <a:latin typeface="+mn-lt"/>
                <a:ea typeface="+mj-ea"/>
                <a:cs typeface="+mj-cs"/>
              </a:rPr>
              <a:t>()</a:t>
            </a:r>
            <a:r>
              <a:rPr lang="zh-CN" altLang="en-US" sz="2800" b="1" dirty="0">
                <a:solidFill>
                  <a:srgbClr val="1A93C8"/>
                </a:solidFill>
                <a:latin typeface="+mn-lt"/>
                <a:ea typeface="+mj-ea"/>
                <a:cs typeface="+mj-cs"/>
              </a:rPr>
              <a:t>函数</a:t>
            </a:r>
          </a:p>
        </p:txBody>
      </p:sp>
    </p:spTree>
    <p:extLst>
      <p:ext uri="{BB962C8B-B14F-4D97-AF65-F5344CB8AC3E}">
        <p14:creationId xmlns:p14="http://schemas.microsoft.com/office/powerpoint/2010/main" val="1311325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>
                <a:latin typeface="宋体" panose="02010600030101010101" pitchFamily="2" charset="-122"/>
              </a:rPr>
              <a:t>字符串之间的</a:t>
            </a:r>
            <a:r>
              <a:rPr lang="zh-CN" altLang="en-US" b="1" dirty="0" smtClean="0">
                <a:solidFill>
                  <a:srgbClr val="7030A0"/>
                </a:solidFill>
                <a:latin typeface="宋体" panose="02010600030101010101" pitchFamily="2" charset="-122"/>
              </a:rPr>
              <a:t>连接</a:t>
            </a:r>
            <a:r>
              <a:rPr lang="zh-CN" altLang="en-US" b="1" dirty="0" smtClean="0">
                <a:latin typeface="宋体" panose="02010600030101010101" pitchFamily="2" charset="-122"/>
              </a:rPr>
              <a:t>运算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089900" cy="1306385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en-US" altLang="zh-CN" sz="2000" dirty="0" smtClean="0"/>
              <a:t>C</a:t>
            </a:r>
            <a:r>
              <a:rPr lang="zh-CN" altLang="en-US" sz="2000" dirty="0" smtClean="0"/>
              <a:t>提供的函数</a:t>
            </a:r>
            <a:r>
              <a:rPr lang="en-US" altLang="zh-CN" sz="2000" dirty="0" err="1" smtClean="0"/>
              <a:t>strcat</a:t>
            </a:r>
            <a:r>
              <a:rPr lang="zh-CN" altLang="en-US" sz="2000" dirty="0" smtClean="0"/>
              <a:t>实现两个字符串之间的连接；</a:t>
            </a:r>
            <a:endParaRPr lang="en-US" altLang="zh-CN" sz="2000" dirty="0" smtClean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2000" dirty="0" smtClean="0"/>
              <a:t>注意</a:t>
            </a:r>
            <a:r>
              <a:rPr lang="zh-CN" altLang="en-US" sz="2000" b="1" dirty="0" smtClean="0">
                <a:solidFill>
                  <a:srgbClr val="C00000"/>
                </a:solidFill>
              </a:rPr>
              <a:t>目标字符串要有足够的存储空间。</a:t>
            </a:r>
            <a:endParaRPr lang="en-US" altLang="zh-CN" sz="2000" b="1" dirty="0" smtClean="0">
              <a:solidFill>
                <a:srgbClr val="C00000"/>
              </a:solidFill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2000" dirty="0" smtClean="0"/>
              <a:t>例如</a:t>
            </a:r>
            <a:endParaRPr lang="en-US" altLang="zh-CN" sz="2000" dirty="0" smtClean="0"/>
          </a:p>
          <a:p>
            <a:pPr marL="971550" lvl="1">
              <a:lnSpc>
                <a:spcPct val="100000"/>
              </a:lnSpc>
              <a:buFont typeface="Wingdings" panose="05000000000000000000" pitchFamily="2" charset="2"/>
              <a:buChar char="l"/>
            </a:pPr>
            <a:endParaRPr lang="en-US" altLang="zh-CN" sz="1600" dirty="0"/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l"/>
            </a:pPr>
            <a:endParaRPr lang="en-US" altLang="zh-CN" sz="2000" dirty="0" smtClean="0"/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l"/>
            </a:pPr>
            <a:endParaRPr lang="en-US" altLang="zh-CN" sz="2000" dirty="0" smtClean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378" y="1943862"/>
            <a:ext cx="7071297" cy="4402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591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>
                <a:latin typeface="宋体" panose="02010600030101010101" pitchFamily="2" charset="-122"/>
              </a:rPr>
              <a:t>字符串之间的</a:t>
            </a:r>
            <a:r>
              <a:rPr lang="zh-CN" altLang="en-US" b="1" dirty="0" smtClean="0">
                <a:solidFill>
                  <a:srgbClr val="7030A0"/>
                </a:solidFill>
                <a:latin typeface="宋体" panose="02010600030101010101" pitchFamily="2" charset="-122"/>
              </a:rPr>
              <a:t>连接</a:t>
            </a:r>
            <a:r>
              <a:rPr lang="zh-CN" altLang="en-US" b="1" dirty="0" smtClean="0">
                <a:latin typeface="宋体" panose="02010600030101010101" pitchFamily="2" charset="-122"/>
              </a:rPr>
              <a:t>运算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089900" cy="1306385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en-US" altLang="zh-CN" sz="2000" dirty="0" smtClean="0"/>
              <a:t>C</a:t>
            </a:r>
            <a:r>
              <a:rPr lang="zh-CN" altLang="en-US" sz="2000" dirty="0" smtClean="0"/>
              <a:t>提供的函数</a:t>
            </a:r>
            <a:r>
              <a:rPr lang="en-US" altLang="zh-CN" sz="2000" dirty="0" err="1" smtClean="0"/>
              <a:t>strcat</a:t>
            </a:r>
            <a:r>
              <a:rPr lang="zh-CN" altLang="en-US" sz="2000" dirty="0" smtClean="0"/>
              <a:t>实现两个字符串之间的连接；</a:t>
            </a:r>
            <a:endParaRPr lang="en-US" altLang="zh-CN" sz="2000" dirty="0" smtClean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2000" dirty="0" smtClean="0"/>
              <a:t>注意</a:t>
            </a:r>
            <a:r>
              <a:rPr lang="zh-CN" altLang="en-US" sz="2000" dirty="0" smtClean="0">
                <a:solidFill>
                  <a:srgbClr val="C00000"/>
                </a:solidFill>
              </a:rPr>
              <a:t>目标字符串要有足够的存储空间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2000" dirty="0" smtClean="0"/>
              <a:t>例如</a:t>
            </a:r>
            <a:endParaRPr lang="en-US" altLang="zh-CN" sz="2000" dirty="0" smtClean="0"/>
          </a:p>
          <a:p>
            <a:pPr marL="971550" lvl="1">
              <a:lnSpc>
                <a:spcPct val="100000"/>
              </a:lnSpc>
              <a:buFont typeface="Wingdings" panose="05000000000000000000" pitchFamily="2" charset="2"/>
              <a:buChar char="l"/>
            </a:pPr>
            <a:endParaRPr lang="en-US" altLang="zh-CN" sz="1600" dirty="0"/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l"/>
            </a:pPr>
            <a:endParaRPr lang="en-US" altLang="zh-CN" sz="2000" dirty="0" smtClean="0"/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l"/>
            </a:pPr>
            <a:endParaRPr lang="en-US" altLang="zh-CN" sz="2000" dirty="0" smtClean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958" y="1922907"/>
            <a:ext cx="7006717" cy="436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98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912" y="1927515"/>
            <a:ext cx="6993763" cy="438603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>
                <a:latin typeface="宋体" panose="02010600030101010101" pitchFamily="2" charset="-122"/>
              </a:rPr>
              <a:t>字符串之间的</a:t>
            </a:r>
            <a:r>
              <a:rPr lang="zh-CN" altLang="en-US" b="1" dirty="0" smtClean="0">
                <a:solidFill>
                  <a:srgbClr val="7030A0"/>
                </a:solidFill>
                <a:latin typeface="宋体" panose="02010600030101010101" pitchFamily="2" charset="-122"/>
              </a:rPr>
              <a:t>连接</a:t>
            </a:r>
            <a:r>
              <a:rPr lang="zh-CN" altLang="en-US" b="1" dirty="0" smtClean="0">
                <a:latin typeface="宋体" panose="02010600030101010101" pitchFamily="2" charset="-122"/>
              </a:rPr>
              <a:t>运算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089900" cy="1306385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en-US" altLang="zh-CN" sz="2000" dirty="0" smtClean="0"/>
              <a:t>C</a:t>
            </a:r>
            <a:r>
              <a:rPr lang="zh-CN" altLang="en-US" sz="2000" dirty="0" smtClean="0"/>
              <a:t>提供的函数</a:t>
            </a:r>
            <a:r>
              <a:rPr lang="en-US" altLang="zh-CN" sz="2000" dirty="0" err="1" smtClean="0"/>
              <a:t>strcat</a:t>
            </a:r>
            <a:r>
              <a:rPr lang="zh-CN" altLang="en-US" sz="2000" dirty="0" smtClean="0"/>
              <a:t>实现两个字符串之间的连接；</a:t>
            </a:r>
            <a:endParaRPr lang="en-US" altLang="zh-CN" sz="2000" dirty="0" smtClean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2000" dirty="0" smtClean="0"/>
              <a:t>注意</a:t>
            </a:r>
            <a:r>
              <a:rPr lang="zh-CN" altLang="en-US" sz="2000" dirty="0" smtClean="0">
                <a:solidFill>
                  <a:srgbClr val="C00000"/>
                </a:solidFill>
              </a:rPr>
              <a:t>目标字符串要有足够的存储空间。</a:t>
            </a:r>
            <a:endParaRPr lang="en-US" altLang="zh-CN" sz="2000" dirty="0" smtClean="0">
              <a:solidFill>
                <a:srgbClr val="C00000"/>
              </a:solidFill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2000" dirty="0" smtClean="0"/>
              <a:t>例如</a:t>
            </a:r>
            <a:endParaRPr lang="en-US" altLang="zh-CN" sz="2000" dirty="0" smtClean="0"/>
          </a:p>
          <a:p>
            <a:pPr marL="971550" lvl="1">
              <a:lnSpc>
                <a:spcPct val="100000"/>
              </a:lnSpc>
              <a:buFont typeface="Wingdings" panose="05000000000000000000" pitchFamily="2" charset="2"/>
              <a:buChar char="l"/>
            </a:pPr>
            <a:endParaRPr lang="en-US" altLang="zh-CN" sz="1600" dirty="0"/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l"/>
            </a:pPr>
            <a:endParaRPr lang="en-US" altLang="zh-CN" sz="2000" dirty="0" smtClean="0"/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l"/>
            </a:pPr>
            <a:endParaRPr lang="en-US" altLang="zh-CN" sz="2000" dirty="0" smtClean="0"/>
          </a:p>
        </p:txBody>
      </p:sp>
      <p:sp>
        <p:nvSpPr>
          <p:cNvPr id="6" name="圆角矩形标注 5"/>
          <p:cNvSpPr/>
          <p:nvPr/>
        </p:nvSpPr>
        <p:spPr bwMode="auto">
          <a:xfrm>
            <a:off x="5852160" y="3127082"/>
            <a:ext cx="1892808" cy="612648"/>
          </a:xfrm>
          <a:prstGeom prst="wedgeRoundRectCallout">
            <a:avLst>
              <a:gd name="adj1" fmla="val -69142"/>
              <a:gd name="adj2" fmla="val 131157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str2</a:t>
            </a: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的空间不足，运行出错</a:t>
            </a:r>
          </a:p>
        </p:txBody>
      </p:sp>
    </p:spTree>
    <p:extLst>
      <p:ext uri="{BB962C8B-B14F-4D97-AF65-F5344CB8AC3E}">
        <p14:creationId xmlns:p14="http://schemas.microsoft.com/office/powerpoint/2010/main" val="298013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>
                <a:latin typeface="宋体" panose="02010600030101010101" pitchFamily="2" charset="-122"/>
              </a:rPr>
              <a:t>字符串之间的</a:t>
            </a:r>
            <a:r>
              <a:rPr lang="zh-CN" altLang="en-US" b="1" dirty="0" smtClean="0">
                <a:solidFill>
                  <a:srgbClr val="7030A0"/>
                </a:solidFill>
                <a:latin typeface="宋体" panose="02010600030101010101" pitchFamily="2" charset="-122"/>
              </a:rPr>
              <a:t>连接</a:t>
            </a:r>
            <a:r>
              <a:rPr lang="zh-CN" altLang="en-US" b="1" dirty="0" smtClean="0">
                <a:latin typeface="宋体" panose="02010600030101010101" pitchFamily="2" charset="-122"/>
              </a:rPr>
              <a:t>运算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089900" cy="858329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2000" dirty="0" smtClean="0"/>
              <a:t>也可以用</a:t>
            </a:r>
            <a:r>
              <a:rPr lang="en-US" altLang="zh-CN" sz="2000" dirty="0" err="1" smtClean="0"/>
              <a:t>sprintf</a:t>
            </a:r>
            <a:r>
              <a:rPr lang="zh-CN" altLang="en-US" sz="2000" dirty="0" smtClean="0"/>
              <a:t>函数将两个字符串连接起来；</a:t>
            </a:r>
            <a:endParaRPr lang="en-US" altLang="zh-CN" sz="2000" dirty="0" smtClean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2000" dirty="0" smtClean="0"/>
              <a:t>例如</a:t>
            </a:r>
            <a:endParaRPr lang="en-US" altLang="zh-CN" sz="2000" dirty="0" smtClean="0"/>
          </a:p>
          <a:p>
            <a:pPr marL="971550" lvl="1">
              <a:lnSpc>
                <a:spcPct val="100000"/>
              </a:lnSpc>
              <a:buFont typeface="Wingdings" panose="05000000000000000000" pitchFamily="2" charset="2"/>
              <a:buChar char="l"/>
            </a:pPr>
            <a:endParaRPr lang="en-US" altLang="zh-CN" sz="1600" dirty="0"/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l"/>
            </a:pPr>
            <a:endParaRPr lang="en-US" altLang="zh-CN" sz="2000" dirty="0" smtClean="0"/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l"/>
            </a:pPr>
            <a:endParaRPr lang="en-US" altLang="zh-CN" sz="2000" dirty="0" smtClean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0954" y="1704403"/>
            <a:ext cx="6848475" cy="370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032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7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581891" y="1184563"/>
            <a:ext cx="7928264" cy="4873337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头文件：</a:t>
            </a:r>
            <a:r>
              <a:rPr lang="en-US" altLang="zh-CN" sz="2000" dirty="0" err="1"/>
              <a:t>string.h</a:t>
            </a: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原型</a:t>
            </a:r>
            <a:r>
              <a:rPr lang="zh-CN" altLang="en-US" sz="2000" dirty="0"/>
              <a:t>声明：</a:t>
            </a:r>
            <a:r>
              <a:rPr lang="fr-FR" altLang="zh-CN" sz="2000" dirty="0"/>
              <a:t>char *strcat(char *dest, const char *src);</a:t>
            </a: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功能：</a:t>
            </a:r>
            <a:endParaRPr lang="en-US" altLang="zh-CN" sz="2000" dirty="0"/>
          </a:p>
          <a:p>
            <a:pPr marL="971550" lvl="1"/>
            <a:r>
              <a:rPr lang="zh-CN" altLang="en-US" sz="1800" dirty="0"/>
              <a:t>删除*</a:t>
            </a:r>
            <a:r>
              <a:rPr lang="en-US" altLang="zh-CN" sz="1800" dirty="0" err="1"/>
              <a:t>dest</a:t>
            </a:r>
            <a:r>
              <a:rPr lang="zh-CN" altLang="en-US" sz="1800" dirty="0"/>
              <a:t>原来末尾的</a:t>
            </a:r>
            <a:r>
              <a:rPr lang="en-US" altLang="zh-CN" sz="1800" dirty="0"/>
              <a:t>‘\0’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 marL="971550" lvl="1"/>
            <a:r>
              <a:rPr lang="zh-CN" altLang="en-US" sz="1800" dirty="0"/>
              <a:t>把</a:t>
            </a:r>
            <a:r>
              <a:rPr lang="en-US" altLang="zh-CN" sz="1800" dirty="0" err="1"/>
              <a:t>src</a:t>
            </a:r>
            <a:r>
              <a:rPr lang="zh-CN" altLang="en-US" sz="1800" dirty="0"/>
              <a:t>所指向的字符串（包括“</a:t>
            </a:r>
            <a:r>
              <a:rPr lang="en-US" altLang="zh-CN" sz="1800" dirty="0"/>
              <a:t>\0”</a:t>
            </a:r>
            <a:r>
              <a:rPr lang="zh-CN" altLang="en-US" sz="1800" dirty="0"/>
              <a:t>）追加到</a:t>
            </a:r>
            <a:r>
              <a:rPr lang="en-US" altLang="zh-CN" sz="1800" dirty="0" err="1"/>
              <a:t>dest</a:t>
            </a:r>
            <a:r>
              <a:rPr lang="zh-CN" altLang="en-US" sz="1800" dirty="0"/>
              <a:t>所指向的字符串之后；</a:t>
            </a:r>
            <a:endParaRPr lang="en-US" altLang="zh-CN" sz="1800" dirty="0"/>
          </a:p>
          <a:p>
            <a:pPr marL="971550" lvl="1"/>
            <a:r>
              <a:rPr lang="zh-CN" altLang="en-US" sz="1800" dirty="0"/>
              <a:t>*</a:t>
            </a:r>
            <a:r>
              <a:rPr lang="en-US" altLang="zh-CN" sz="1800" dirty="0" err="1"/>
              <a:t>src</a:t>
            </a:r>
            <a:r>
              <a:rPr lang="zh-CN" altLang="en-US" sz="1800" dirty="0"/>
              <a:t>中原有的字符不变；</a:t>
            </a:r>
            <a:endParaRPr lang="en-US" altLang="zh-CN" sz="1800" dirty="0"/>
          </a:p>
          <a:p>
            <a:pPr marL="971550" lvl="1"/>
            <a:r>
              <a:rPr lang="zh-CN" altLang="en-US" sz="1800" dirty="0"/>
              <a:t>返回指向</a:t>
            </a:r>
            <a:r>
              <a:rPr lang="en-US" altLang="zh-CN" sz="1800" dirty="0" err="1"/>
              <a:t>dest</a:t>
            </a:r>
            <a:r>
              <a:rPr lang="zh-CN" altLang="en-US" sz="1800" dirty="0"/>
              <a:t>的指针；</a:t>
            </a:r>
            <a:endParaRPr lang="en-US" altLang="zh-CN" sz="1800" dirty="0"/>
          </a:p>
          <a:p>
            <a:pPr marL="342900" indent="-342900">
              <a:lnSpc>
                <a:spcPct val="9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/>
              <a:t>注：</a:t>
            </a:r>
            <a:endParaRPr lang="en-US" altLang="zh-CN" sz="2000" dirty="0"/>
          </a:p>
          <a:p>
            <a:pPr marL="971550" lvl="1"/>
            <a:r>
              <a:rPr lang="zh-CN" altLang="en-US" sz="1800" dirty="0"/>
              <a:t>应保证*</a:t>
            </a:r>
            <a:r>
              <a:rPr lang="en-US" altLang="zh-CN" sz="1800" dirty="0" err="1"/>
              <a:t>dest</a:t>
            </a:r>
            <a:r>
              <a:rPr lang="zh-CN" altLang="en-US" sz="1800" dirty="0"/>
              <a:t>足够长，以容纳被复制进来的*</a:t>
            </a:r>
            <a:r>
              <a:rPr lang="en-US" altLang="zh-CN" sz="1800" dirty="0" err="1"/>
              <a:t>src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 marL="971550" lvl="1"/>
            <a:r>
              <a:rPr lang="fr-FR" altLang="zh-CN" sz="1800" dirty="0"/>
              <a:t>*src</a:t>
            </a:r>
            <a:r>
              <a:rPr lang="zh-CN" altLang="en-US" sz="1800" dirty="0"/>
              <a:t>可以是</a:t>
            </a:r>
            <a:r>
              <a:rPr lang="zh-CN" altLang="en-US" sz="1800" dirty="0">
                <a:solidFill>
                  <a:srgbClr val="FF3300"/>
                </a:solidFill>
              </a:rPr>
              <a:t>字符数组名</a:t>
            </a:r>
            <a:r>
              <a:rPr lang="zh-CN" altLang="en-US" sz="1800" dirty="0"/>
              <a:t>，</a:t>
            </a:r>
            <a:r>
              <a:rPr lang="zh-CN" altLang="en-US" sz="1800" dirty="0">
                <a:solidFill>
                  <a:srgbClr val="FF3300"/>
                </a:solidFill>
              </a:rPr>
              <a:t>字符串常量，</a:t>
            </a:r>
            <a:r>
              <a:rPr lang="zh-CN" altLang="en-US" sz="1800" dirty="0"/>
              <a:t>或指向字符串的</a:t>
            </a:r>
            <a:r>
              <a:rPr lang="zh-CN" altLang="en-US" sz="1800" dirty="0">
                <a:solidFill>
                  <a:srgbClr val="FF3300"/>
                </a:solidFill>
              </a:rPr>
              <a:t>字符指针</a:t>
            </a:r>
            <a:r>
              <a:rPr lang="en-US" altLang="zh-CN" sz="1800" dirty="0"/>
              <a:t>;</a:t>
            </a:r>
          </a:p>
          <a:p>
            <a:pPr marL="342900" indent="-342900">
              <a:lnSpc>
                <a:spcPct val="9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/>
              <a:t>不能利用加法运算合并两个字符串；</a:t>
            </a:r>
            <a:endParaRPr lang="en-US" altLang="zh-CN" sz="2000" dirty="0"/>
          </a:p>
          <a:p>
            <a:pPr marL="971550" lvl="1" algn="just">
              <a:lnSpc>
                <a:spcPct val="90000"/>
              </a:lnSpc>
              <a:spcBef>
                <a:spcPts val="1200"/>
              </a:spcBef>
            </a:pP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405855" y="292018"/>
            <a:ext cx="723146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 smtClean="0">
                <a:solidFill>
                  <a:srgbClr val="1A93C8"/>
                </a:solidFill>
                <a:latin typeface="+mn-lt"/>
                <a:ea typeface="+mj-ea"/>
                <a:cs typeface="+mj-cs"/>
              </a:rPr>
              <a:t>字符串连接 </a:t>
            </a:r>
            <a:r>
              <a:rPr lang="en-US" altLang="zh-CN" sz="2800" b="1" dirty="0" err="1" smtClean="0">
                <a:solidFill>
                  <a:srgbClr val="1A93C8"/>
                </a:solidFill>
                <a:latin typeface="+mn-lt"/>
                <a:ea typeface="+mj-ea"/>
                <a:cs typeface="+mj-cs"/>
              </a:rPr>
              <a:t>strcat</a:t>
            </a:r>
            <a:r>
              <a:rPr lang="en-US" altLang="zh-CN" sz="2800" b="1" dirty="0">
                <a:solidFill>
                  <a:srgbClr val="1A93C8"/>
                </a:solidFill>
                <a:latin typeface="+mn-lt"/>
                <a:ea typeface="+mj-ea"/>
                <a:cs typeface="+mj-cs"/>
              </a:rPr>
              <a:t>()</a:t>
            </a:r>
            <a:r>
              <a:rPr lang="zh-CN" altLang="en-US" sz="2800" b="1" dirty="0">
                <a:solidFill>
                  <a:srgbClr val="1A93C8"/>
                </a:solidFill>
                <a:latin typeface="+mn-lt"/>
                <a:ea typeface="+mj-ea"/>
                <a:cs typeface="+mj-cs"/>
              </a:rPr>
              <a:t>函数</a:t>
            </a:r>
          </a:p>
        </p:txBody>
      </p:sp>
    </p:spTree>
    <p:extLst>
      <p:ext uri="{BB962C8B-B14F-4D97-AF65-F5344CB8AC3E}">
        <p14:creationId xmlns:p14="http://schemas.microsoft.com/office/powerpoint/2010/main" val="164441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>
                <a:solidFill>
                  <a:srgbClr val="7030A0"/>
                </a:solidFill>
                <a:latin typeface="宋体" panose="02010600030101010101" pitchFamily="2" charset="-122"/>
              </a:rPr>
              <a:t>自学与练习：</a:t>
            </a:r>
            <a:r>
              <a:rPr lang="zh-CN" altLang="en-US" b="1" dirty="0" smtClean="0">
                <a:latin typeface="宋体" panose="02010600030101010101" pitchFamily="2" charset="-122"/>
              </a:rPr>
              <a:t>一些</a:t>
            </a:r>
            <a:r>
              <a:rPr lang="zh-CN" altLang="en-US" b="1" dirty="0">
                <a:latin typeface="宋体" panose="02010600030101010101" pitchFamily="2" charset="-122"/>
              </a:rPr>
              <a:t>常用的字符串处理函数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zh-CN" altLang="en-US" dirty="0"/>
              <a:t>在</a:t>
            </a:r>
            <a:r>
              <a:rPr lang="en-US" altLang="zh-CN" dirty="0"/>
              <a:t>C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FF3300"/>
                </a:solidFill>
              </a:rPr>
              <a:t>函数库</a:t>
            </a:r>
            <a:r>
              <a:rPr lang="zh-CN" altLang="en-US" dirty="0"/>
              <a:t>中，提供了一些字符串处理函数；</a:t>
            </a:r>
            <a:endParaRPr lang="en-US" altLang="zh-CN" dirty="0"/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en-US" altLang="zh-CN" dirty="0"/>
              <a:t> </a:t>
            </a:r>
            <a:r>
              <a:rPr lang="zh-CN" altLang="en-US" dirty="0"/>
              <a:t>字符串处理函数的头文件</a:t>
            </a:r>
            <a:r>
              <a:rPr lang="zh-CN" altLang="en-US" dirty="0">
                <a:solidFill>
                  <a:srgbClr val="030DCD"/>
                </a:solidFill>
              </a:rPr>
              <a:t>：  </a:t>
            </a:r>
            <a:r>
              <a:rPr lang="en-US" altLang="zh-CN" dirty="0">
                <a:solidFill>
                  <a:srgbClr val="030DCD"/>
                </a:solidFill>
              </a:rPr>
              <a:t>&lt;</a:t>
            </a:r>
            <a:r>
              <a:rPr lang="en-US" altLang="zh-CN" dirty="0" err="1">
                <a:solidFill>
                  <a:srgbClr val="030DCD"/>
                </a:solidFill>
              </a:rPr>
              <a:t>string.h</a:t>
            </a:r>
            <a:r>
              <a:rPr lang="en-US" altLang="zh-CN" dirty="0">
                <a:solidFill>
                  <a:srgbClr val="030DCD"/>
                </a:solidFill>
              </a:rPr>
              <a:t>&gt;</a:t>
            </a:r>
          </a:p>
          <a:p>
            <a:pPr lvl="2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altLang="zh-CN" dirty="0" err="1">
                <a:solidFill>
                  <a:srgbClr val="C00000"/>
                </a:solidFill>
              </a:rPr>
              <a:t>strlen</a:t>
            </a:r>
            <a:r>
              <a:rPr lang="en-US" altLang="zh-CN" dirty="0">
                <a:solidFill>
                  <a:srgbClr val="C00000"/>
                </a:solidFill>
              </a:rPr>
              <a:t>(), </a:t>
            </a:r>
            <a:r>
              <a:rPr lang="en-US" altLang="zh-CN" dirty="0" err="1">
                <a:solidFill>
                  <a:srgbClr val="C00000"/>
                </a:solidFill>
              </a:rPr>
              <a:t>strcat</a:t>
            </a:r>
            <a:r>
              <a:rPr lang="en-US" altLang="zh-CN" dirty="0">
                <a:solidFill>
                  <a:srgbClr val="C00000"/>
                </a:solidFill>
              </a:rPr>
              <a:t>(), </a:t>
            </a:r>
            <a:r>
              <a:rPr lang="en-US" altLang="zh-CN" dirty="0" err="1">
                <a:solidFill>
                  <a:srgbClr val="C00000"/>
                </a:solidFill>
              </a:rPr>
              <a:t>strcpy</a:t>
            </a:r>
            <a:r>
              <a:rPr lang="en-US" altLang="zh-CN" dirty="0">
                <a:solidFill>
                  <a:srgbClr val="C00000"/>
                </a:solidFill>
              </a:rPr>
              <a:t>(), </a:t>
            </a:r>
            <a:r>
              <a:rPr lang="en-US" altLang="zh-CN" dirty="0" err="1">
                <a:solidFill>
                  <a:srgbClr val="C00000"/>
                </a:solidFill>
              </a:rPr>
              <a:t>str</a:t>
            </a:r>
            <a:r>
              <a:rPr lang="en-US" altLang="zh-CN" dirty="0" err="1">
                <a:solidFill>
                  <a:srgbClr val="0000CC"/>
                </a:solidFill>
              </a:rPr>
              <a:t>n</a:t>
            </a:r>
            <a:r>
              <a:rPr lang="en-US" altLang="zh-CN" dirty="0" err="1">
                <a:solidFill>
                  <a:srgbClr val="C00000"/>
                </a:solidFill>
              </a:rPr>
              <a:t>cpy</a:t>
            </a:r>
            <a:r>
              <a:rPr lang="en-US" altLang="zh-CN" dirty="0">
                <a:solidFill>
                  <a:srgbClr val="C00000"/>
                </a:solidFill>
              </a:rPr>
              <a:t>(), </a:t>
            </a:r>
            <a:r>
              <a:rPr lang="en-US" altLang="zh-CN" dirty="0" err="1">
                <a:solidFill>
                  <a:srgbClr val="C00000"/>
                </a:solidFill>
              </a:rPr>
              <a:t>strcmp</a:t>
            </a:r>
            <a:r>
              <a:rPr lang="en-US" altLang="zh-CN" dirty="0">
                <a:solidFill>
                  <a:srgbClr val="C00000"/>
                </a:solidFill>
              </a:rPr>
              <a:t>(), </a:t>
            </a:r>
            <a:r>
              <a:rPr lang="en-US" altLang="zh-CN" dirty="0" err="1">
                <a:solidFill>
                  <a:srgbClr val="C00000"/>
                </a:solidFill>
              </a:rPr>
              <a:t>strncmp</a:t>
            </a:r>
            <a:r>
              <a:rPr lang="en-US" altLang="zh-CN" dirty="0" smtClean="0">
                <a:solidFill>
                  <a:srgbClr val="C00000"/>
                </a:solidFill>
              </a:rPr>
              <a:t>(), </a:t>
            </a:r>
            <a:r>
              <a:rPr lang="en-US" altLang="zh-CN" dirty="0" err="1" smtClean="0">
                <a:solidFill>
                  <a:srgbClr val="C00000"/>
                </a:solidFill>
              </a:rPr>
              <a:t>strchr</a:t>
            </a:r>
            <a:r>
              <a:rPr lang="en-US" altLang="zh-CN" dirty="0" smtClean="0">
                <a:solidFill>
                  <a:srgbClr val="C00000"/>
                </a:solidFill>
              </a:rPr>
              <a:t>(), </a:t>
            </a:r>
            <a:r>
              <a:rPr lang="en-US" altLang="zh-CN" dirty="0" err="1" smtClean="0">
                <a:solidFill>
                  <a:srgbClr val="C00000"/>
                </a:solidFill>
              </a:rPr>
              <a:t>strstr</a:t>
            </a:r>
            <a:r>
              <a:rPr lang="en-US" altLang="zh-CN" dirty="0" smtClean="0">
                <a:solidFill>
                  <a:srgbClr val="C00000"/>
                </a:solidFill>
              </a:rPr>
              <a:t>(), …</a:t>
            </a:r>
            <a:endParaRPr lang="en-US" altLang="zh-CN" dirty="0">
              <a:solidFill>
                <a:srgbClr val="C00000"/>
              </a:solidFill>
            </a:endParaRPr>
          </a:p>
          <a:p>
            <a:pPr lvl="2">
              <a:lnSpc>
                <a:spcPct val="100000"/>
              </a:lnSpc>
            </a:pPr>
            <a:r>
              <a:rPr lang="zh-CN" altLang="en-US" dirty="0" smtClean="0">
                <a:solidFill>
                  <a:srgbClr val="006600"/>
                </a:solidFill>
              </a:rPr>
              <a:t>可以参阅头文件</a:t>
            </a:r>
            <a:r>
              <a:rPr lang="en-US" altLang="zh-CN" dirty="0" err="1" smtClean="0">
                <a:solidFill>
                  <a:srgbClr val="006600"/>
                </a:solidFill>
              </a:rPr>
              <a:t>string.h</a:t>
            </a:r>
            <a:endParaRPr lang="en-US" altLang="zh-CN" dirty="0" smtClean="0">
              <a:solidFill>
                <a:srgbClr val="006600"/>
              </a:solidFill>
            </a:endParaRPr>
          </a:p>
          <a:p>
            <a:pPr lvl="3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zh-CN" altLang="en-US" sz="1800" dirty="0" smtClean="0">
                <a:solidFill>
                  <a:srgbClr val="0070C0"/>
                </a:solidFill>
              </a:rPr>
              <a:t>路径</a:t>
            </a:r>
            <a:r>
              <a:rPr lang="zh-CN" altLang="en-US" sz="1800" dirty="0">
                <a:solidFill>
                  <a:srgbClr val="0070C0"/>
                </a:solidFill>
              </a:rPr>
              <a:t>：</a:t>
            </a:r>
            <a:r>
              <a:rPr lang="en-US" altLang="zh-CN" sz="1800" dirty="0">
                <a:solidFill>
                  <a:srgbClr val="0070C0"/>
                </a:solidFill>
              </a:rPr>
              <a:t>Dev-</a:t>
            </a:r>
            <a:r>
              <a:rPr lang="en-US" altLang="zh-CN" sz="1800" dirty="0" err="1">
                <a:solidFill>
                  <a:srgbClr val="0070C0"/>
                </a:solidFill>
              </a:rPr>
              <a:t>Cpp</a:t>
            </a:r>
            <a:r>
              <a:rPr lang="en-US" altLang="zh-CN" sz="1800" dirty="0">
                <a:solidFill>
                  <a:srgbClr val="0070C0"/>
                </a:solidFill>
              </a:rPr>
              <a:t>\MinGW64\x86_64-w64-mingw32\include\</a:t>
            </a:r>
            <a:endParaRPr lang="zh-CN" altLang="en-US" sz="1800" dirty="0">
              <a:solidFill>
                <a:srgbClr val="0070C0"/>
              </a:solidFill>
            </a:endParaRP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30DCD"/>
                </a:solidFill>
              </a:rPr>
              <a:t>字符串函数具体</a:t>
            </a:r>
            <a:r>
              <a:rPr lang="zh-CN" altLang="en-US" dirty="0" smtClean="0">
                <a:solidFill>
                  <a:srgbClr val="030DCD"/>
                </a:solidFill>
              </a:rPr>
              <a:t>使用示例请参阅</a:t>
            </a:r>
          </a:p>
          <a:p>
            <a:pPr marL="971550" lvl="1">
              <a:lnSpc>
                <a:spcPct val="100000"/>
              </a:lnSpc>
            </a:pPr>
            <a:r>
              <a:rPr lang="en-US" altLang="zh-CN" dirty="0" smtClean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https://www.runoob.com/cprogramming/c-standard-library-string-h.html</a:t>
            </a:r>
          </a:p>
          <a:p>
            <a:pPr marL="971550" lvl="1">
              <a:lnSpc>
                <a:spcPct val="100000"/>
              </a:lnSpc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https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://baike.baidu.com/item/%E5%AD%97%E7%AC%A6%E4%B8%B2%E5%87%BD%E6%95%B0/2238378?fr=aladdin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 smtClean="0"/>
              <a:t>函数的实现</a:t>
            </a:r>
            <a:endParaRPr lang="en-US" altLang="zh-CN" dirty="0" smtClean="0"/>
          </a:p>
          <a:p>
            <a:pPr marL="971550" lvl="1"/>
            <a:r>
              <a:rPr lang="en-US" altLang="zh-CN" dirty="0"/>
              <a:t>https://opensource.apple.com/source/gcc/gcc-5575.11/libiberty/</a:t>
            </a:r>
          </a:p>
          <a:p>
            <a:pPr marL="971550" lvl="1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93886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483177" y="997526"/>
            <a:ext cx="7974013" cy="5361710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原型声明：</a:t>
            </a:r>
            <a:r>
              <a:rPr lang="en-US" altLang="zh-CN" sz="2000" dirty="0"/>
              <a:t>char *</a:t>
            </a:r>
            <a:r>
              <a:rPr lang="en-US" altLang="zh-CN" sz="2000" dirty="0" err="1"/>
              <a:t>strchr</a:t>
            </a:r>
            <a:r>
              <a:rPr lang="en-US" altLang="zh-CN" sz="2000" dirty="0"/>
              <a:t>(const char *str, int c)</a:t>
            </a:r>
            <a:r>
              <a:rPr lang="zh-CN" altLang="en-US" sz="2000" dirty="0"/>
              <a:t>；</a:t>
            </a: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功能：</a:t>
            </a:r>
            <a:endParaRPr lang="en-US" altLang="zh-CN" sz="2000" dirty="0"/>
          </a:p>
          <a:p>
            <a:pPr marL="971550" lvl="1"/>
            <a:r>
              <a:rPr lang="zh-CN" altLang="en-US" sz="1800" dirty="0"/>
              <a:t>在</a:t>
            </a:r>
            <a:r>
              <a:rPr lang="en-US" altLang="zh-CN" sz="1800" dirty="0"/>
              <a:t>str</a:t>
            </a:r>
            <a:r>
              <a:rPr lang="zh-CN" altLang="en-US" sz="1800" dirty="0"/>
              <a:t>所指向的字符串中搜索第一次出现字符</a:t>
            </a:r>
            <a:r>
              <a:rPr lang="en-US" altLang="zh-CN" sz="1800" dirty="0"/>
              <a:t>c</a:t>
            </a:r>
            <a:r>
              <a:rPr lang="zh-CN" altLang="en-US" sz="1800" dirty="0"/>
              <a:t>的位置</a:t>
            </a:r>
            <a:r>
              <a:rPr lang="en-US" altLang="zh-CN" sz="1800" dirty="0"/>
              <a:t>;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返回值</a:t>
            </a:r>
            <a:endParaRPr lang="en-US" altLang="zh-CN" sz="2000" dirty="0"/>
          </a:p>
          <a:p>
            <a:pPr marL="971550" lvl="1"/>
            <a:r>
              <a:rPr lang="zh-CN" altLang="en-US" sz="1800" dirty="0"/>
              <a:t>返回一个指向该字符串中第一次出现的字符的指针；</a:t>
            </a:r>
            <a:endParaRPr lang="en-US" altLang="zh-CN" sz="1800" dirty="0"/>
          </a:p>
          <a:p>
            <a:pPr marL="971550" lvl="1"/>
            <a:r>
              <a:rPr lang="zh-CN" altLang="en-US" sz="1800" dirty="0"/>
              <a:t>如果字符串中不包含该字符则返回空指针</a:t>
            </a:r>
            <a:r>
              <a:rPr lang="en-US" altLang="zh-CN" sz="1800" dirty="0"/>
              <a:t>NULL</a:t>
            </a:r>
            <a:r>
              <a:rPr lang="zh-CN" altLang="en-US" sz="1800" dirty="0" smtClean="0"/>
              <a:t>；</a:t>
            </a:r>
            <a:endParaRPr lang="en-US" altLang="zh-CN" sz="1800" dirty="0" smtClean="0"/>
          </a:p>
          <a:p>
            <a:pPr marL="971550" lvl="1"/>
            <a:endParaRPr lang="zh-CN" altLang="en-US" sz="1800" dirty="0"/>
          </a:p>
        </p:txBody>
      </p:sp>
      <p:sp>
        <p:nvSpPr>
          <p:cNvPr id="3" name="矩形 2"/>
          <p:cNvSpPr/>
          <p:nvPr/>
        </p:nvSpPr>
        <p:spPr>
          <a:xfrm>
            <a:off x="405855" y="292018"/>
            <a:ext cx="723146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7030A0"/>
                </a:solidFill>
                <a:latin typeface="+mj-lt"/>
                <a:ea typeface="+mj-ea"/>
                <a:cs typeface="+mj-cs"/>
              </a:rPr>
              <a:t>自学与练习： </a:t>
            </a:r>
            <a:r>
              <a:rPr lang="en-US" altLang="zh-CN" sz="2800" b="1" dirty="0" err="1" smtClean="0">
                <a:solidFill>
                  <a:srgbClr val="1A93C8"/>
                </a:solidFill>
                <a:latin typeface="+mn-lt"/>
                <a:ea typeface="+mj-ea"/>
                <a:cs typeface="+mj-cs"/>
              </a:rPr>
              <a:t>strchr</a:t>
            </a:r>
            <a:r>
              <a:rPr lang="en-US" altLang="zh-CN" sz="2800" b="1" dirty="0">
                <a:solidFill>
                  <a:srgbClr val="1A93C8"/>
                </a:solidFill>
                <a:latin typeface="+mn-lt"/>
                <a:ea typeface="+mj-ea"/>
                <a:cs typeface="+mj-cs"/>
              </a:rPr>
              <a:t>()</a:t>
            </a:r>
            <a:r>
              <a:rPr lang="zh-CN" altLang="en-US" sz="2800" b="1" dirty="0">
                <a:solidFill>
                  <a:srgbClr val="1A93C8"/>
                </a:solidFill>
                <a:latin typeface="+mn-lt"/>
                <a:ea typeface="+mj-ea"/>
                <a:cs typeface="+mj-cs"/>
              </a:rPr>
              <a:t>函数</a:t>
            </a:r>
          </a:p>
        </p:txBody>
      </p:sp>
    </p:spTree>
    <p:extLst>
      <p:ext uri="{BB962C8B-B14F-4D97-AF65-F5344CB8AC3E}">
        <p14:creationId xmlns:p14="http://schemas.microsoft.com/office/powerpoint/2010/main" val="3694681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483177" y="997526"/>
            <a:ext cx="7974013" cy="5361710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例</a:t>
            </a:r>
            <a:r>
              <a:rPr lang="zh-CN" altLang="en-US" sz="2000" dirty="0"/>
              <a:t>：分离一个字符串表示的浮点数的整数部分与小数部分</a:t>
            </a:r>
            <a:endParaRPr lang="en-US" altLang="zh-CN" sz="2000" dirty="0"/>
          </a:p>
          <a:p>
            <a:pPr lvl="1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800" dirty="0"/>
              <a:t>	</a:t>
            </a:r>
            <a:r>
              <a:rPr lang="en-US" altLang="zh-CN" sz="1800" dirty="0" smtClean="0"/>
              <a:t>char </a:t>
            </a:r>
            <a:r>
              <a:rPr lang="en-US" altLang="zh-CN" sz="1800" dirty="0" err="1" smtClean="0"/>
              <a:t>str</a:t>
            </a:r>
            <a:r>
              <a:rPr lang="en-US" altLang="zh-CN" sz="1800" dirty="0" smtClean="0"/>
              <a:t>[50]=“</a:t>
            </a:r>
            <a:r>
              <a:rPr lang="en-US" altLang="zh-CN" sz="1800" dirty="0"/>
              <a:t>1234.567”; </a:t>
            </a:r>
          </a:p>
          <a:p>
            <a:pPr lvl="1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800" dirty="0"/>
              <a:t> char </a:t>
            </a:r>
            <a:r>
              <a:rPr lang="en-US" altLang="zh-CN" sz="1800" dirty="0" err="1"/>
              <a:t>intPart</a:t>
            </a:r>
            <a:r>
              <a:rPr lang="en-US" altLang="zh-CN" sz="1800" dirty="0"/>
              <a:t>[10], </a:t>
            </a:r>
            <a:r>
              <a:rPr lang="en-US" altLang="zh-CN" sz="1800" dirty="0" err="1"/>
              <a:t>decPart</a:t>
            </a:r>
            <a:r>
              <a:rPr lang="en-US" altLang="zh-CN" sz="1800" dirty="0"/>
              <a:t>[10];</a:t>
            </a:r>
          </a:p>
          <a:p>
            <a:pPr lvl="1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800" dirty="0"/>
              <a:t> </a:t>
            </a:r>
            <a:r>
              <a:rPr lang="en-US" altLang="zh-CN" sz="1800" dirty="0">
                <a:solidFill>
                  <a:srgbClr val="030DCD"/>
                </a:solidFill>
              </a:rPr>
              <a:t>char *</a:t>
            </a:r>
            <a:r>
              <a:rPr lang="en-US" altLang="zh-CN" sz="1800" dirty="0" err="1">
                <a:solidFill>
                  <a:srgbClr val="030DCD"/>
                </a:solidFill>
              </a:rPr>
              <a:t>ptr</a:t>
            </a:r>
            <a:r>
              <a:rPr lang="en-US" altLang="zh-CN" sz="1800" dirty="0">
                <a:solidFill>
                  <a:srgbClr val="030DCD"/>
                </a:solidFill>
              </a:rPr>
              <a:t>=</a:t>
            </a:r>
            <a:r>
              <a:rPr lang="en-US" altLang="zh-CN" sz="1800" dirty="0" err="1">
                <a:solidFill>
                  <a:srgbClr val="030DCD"/>
                </a:solidFill>
              </a:rPr>
              <a:t>strchr</a:t>
            </a:r>
            <a:r>
              <a:rPr lang="en-US" altLang="zh-CN" sz="1800" dirty="0">
                <a:solidFill>
                  <a:srgbClr val="030DCD"/>
                </a:solidFill>
              </a:rPr>
              <a:t>(str,‘.’);  //</a:t>
            </a:r>
            <a:r>
              <a:rPr lang="zh-CN" altLang="en-US" sz="1800" dirty="0">
                <a:solidFill>
                  <a:srgbClr val="030DCD"/>
                </a:solidFill>
              </a:rPr>
              <a:t>查找小数点的位置；</a:t>
            </a:r>
            <a:endParaRPr lang="en-US" altLang="zh-CN" sz="1800" dirty="0">
              <a:solidFill>
                <a:srgbClr val="030DCD"/>
              </a:solidFill>
            </a:endParaRPr>
          </a:p>
          <a:p>
            <a:pPr lvl="1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7030A0"/>
                </a:solidFill>
              </a:rPr>
              <a:t>  </a:t>
            </a:r>
            <a:r>
              <a:rPr lang="en-US" altLang="zh-CN" sz="1600" dirty="0">
                <a:solidFill>
                  <a:srgbClr val="7030A0"/>
                </a:solidFill>
              </a:rPr>
              <a:t>//</a:t>
            </a:r>
            <a:r>
              <a:rPr lang="zh-CN" altLang="en-US" sz="1600" dirty="0">
                <a:solidFill>
                  <a:srgbClr val="7030A0"/>
                </a:solidFill>
              </a:rPr>
              <a:t>如果无小数点，</a:t>
            </a:r>
            <a:r>
              <a:rPr lang="en-US" altLang="zh-CN" sz="1600" dirty="0" err="1">
                <a:solidFill>
                  <a:srgbClr val="7030A0"/>
                </a:solidFill>
              </a:rPr>
              <a:t>ptr</a:t>
            </a:r>
            <a:r>
              <a:rPr lang="en-US" altLang="zh-CN" sz="1600" dirty="0">
                <a:solidFill>
                  <a:srgbClr val="7030A0"/>
                </a:solidFill>
              </a:rPr>
              <a:t>=NULL</a:t>
            </a:r>
            <a:r>
              <a:rPr lang="zh-CN" altLang="en-US" sz="1600" dirty="0">
                <a:solidFill>
                  <a:srgbClr val="7030A0"/>
                </a:solidFill>
              </a:rPr>
              <a:t>；否则，</a:t>
            </a:r>
            <a:r>
              <a:rPr lang="en-US" altLang="zh-CN" sz="1600" dirty="0" err="1">
                <a:solidFill>
                  <a:srgbClr val="7030A0"/>
                </a:solidFill>
              </a:rPr>
              <a:t>prt</a:t>
            </a:r>
            <a:r>
              <a:rPr lang="zh-CN" altLang="en-US" sz="1600" dirty="0">
                <a:solidFill>
                  <a:srgbClr val="7030A0"/>
                </a:solidFill>
              </a:rPr>
              <a:t>指向</a:t>
            </a:r>
            <a:r>
              <a:rPr lang="en-US" altLang="zh-CN" sz="1600" dirty="0">
                <a:solidFill>
                  <a:srgbClr val="7030A0"/>
                </a:solidFill>
              </a:rPr>
              <a:t>str</a:t>
            </a:r>
            <a:r>
              <a:rPr lang="zh-CN" altLang="en-US" sz="1600" dirty="0">
                <a:solidFill>
                  <a:srgbClr val="7030A0"/>
                </a:solidFill>
              </a:rPr>
              <a:t>中小数点的位置开始的子串；</a:t>
            </a:r>
            <a:endParaRPr lang="en-US" altLang="zh-CN" sz="1600" dirty="0">
              <a:solidFill>
                <a:srgbClr val="7030A0"/>
              </a:solidFill>
            </a:endParaRPr>
          </a:p>
          <a:p>
            <a:pPr lvl="1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zh-CN" altLang="en-US" sz="1800" dirty="0"/>
              <a:t>	 </a:t>
            </a:r>
            <a:r>
              <a:rPr lang="en-US" altLang="zh-CN" sz="1800" dirty="0"/>
              <a:t>if (</a:t>
            </a:r>
            <a:r>
              <a:rPr lang="en-US" altLang="zh-CN" sz="1800" dirty="0" err="1"/>
              <a:t>ptr</a:t>
            </a:r>
            <a:r>
              <a:rPr lang="en-US" altLang="zh-CN" sz="1800" dirty="0"/>
              <a:t>==NULL) </a:t>
            </a:r>
            <a:endParaRPr lang="en-US" altLang="zh-CN" sz="1800" dirty="0" smtClean="0"/>
          </a:p>
          <a:p>
            <a:pPr lvl="1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800" dirty="0" smtClean="0"/>
              <a:t> </a:t>
            </a:r>
            <a:r>
              <a:rPr lang="en-US" altLang="zh-CN" sz="1800" dirty="0"/>
              <a:t>{ </a:t>
            </a:r>
            <a:endParaRPr lang="en-US" altLang="zh-CN" sz="1800" dirty="0" smtClean="0"/>
          </a:p>
          <a:p>
            <a:pPr lvl="1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800" dirty="0"/>
              <a:t> </a:t>
            </a:r>
            <a:r>
              <a:rPr lang="en-US" altLang="zh-CN" sz="1800" dirty="0" smtClean="0"/>
              <a:t>      </a:t>
            </a:r>
            <a:r>
              <a:rPr lang="en-US" altLang="zh-CN" sz="1800" dirty="0" err="1" smtClean="0"/>
              <a:t>strcpy</a:t>
            </a:r>
            <a:r>
              <a:rPr lang="en-US" altLang="zh-CN" sz="1800" dirty="0" smtClean="0"/>
              <a:t>(</a:t>
            </a:r>
            <a:r>
              <a:rPr lang="en-US" altLang="zh-CN" sz="1800" dirty="0" err="1" smtClean="0"/>
              <a:t>intPart,str</a:t>
            </a:r>
            <a:r>
              <a:rPr lang="en-US" altLang="zh-CN" sz="1800" dirty="0"/>
              <a:t>); </a:t>
            </a:r>
            <a:endParaRPr lang="en-US" altLang="zh-CN" sz="1800" dirty="0" smtClean="0"/>
          </a:p>
          <a:p>
            <a:pPr lvl="1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800" dirty="0" smtClean="0"/>
              <a:t>       </a:t>
            </a:r>
            <a:r>
              <a:rPr lang="en-US" altLang="zh-CN" sz="1800" dirty="0" err="1" smtClean="0"/>
              <a:t>decPart</a:t>
            </a:r>
            <a:r>
              <a:rPr lang="en-US" altLang="zh-CN" sz="1800" dirty="0" smtClean="0"/>
              <a:t>[0</a:t>
            </a:r>
            <a:r>
              <a:rPr lang="en-US" altLang="zh-CN" sz="1800" dirty="0"/>
              <a:t>]=‘\0’; }  //</a:t>
            </a:r>
            <a:r>
              <a:rPr lang="zh-CN" altLang="en-US" sz="1800" dirty="0"/>
              <a:t>只有整数部分</a:t>
            </a:r>
            <a:r>
              <a:rPr lang="en-US" altLang="zh-CN" sz="1800" dirty="0"/>
              <a:t>	  </a:t>
            </a:r>
          </a:p>
          <a:p>
            <a:pPr lvl="1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800" dirty="0"/>
              <a:t>	</a:t>
            </a:r>
            <a:r>
              <a:rPr lang="en-US" altLang="zh-CN" sz="1800" dirty="0" smtClean="0"/>
              <a:t> else</a:t>
            </a:r>
          </a:p>
          <a:p>
            <a:pPr lvl="1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800" dirty="0" smtClean="0"/>
              <a:t>  { </a:t>
            </a:r>
          </a:p>
          <a:p>
            <a:pPr lvl="1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800" dirty="0"/>
              <a:t> </a:t>
            </a:r>
            <a:r>
              <a:rPr lang="en-US" altLang="zh-CN" sz="1800" dirty="0" smtClean="0"/>
              <a:t>      </a:t>
            </a:r>
            <a:r>
              <a:rPr lang="en-US" altLang="zh-CN" sz="1800" dirty="0" err="1"/>
              <a:t>strncpy</a:t>
            </a:r>
            <a:r>
              <a:rPr lang="en-US" altLang="zh-CN" sz="1800" dirty="0"/>
              <a:t>(</a:t>
            </a:r>
            <a:r>
              <a:rPr lang="en-US" altLang="zh-CN" sz="1800" dirty="0" err="1"/>
              <a:t>intPart,str,</a:t>
            </a:r>
            <a:r>
              <a:rPr lang="en-US" altLang="zh-CN" sz="1800" dirty="0" err="1">
                <a:solidFill>
                  <a:srgbClr val="C00000"/>
                </a:solidFill>
              </a:rPr>
              <a:t>ptr-str</a:t>
            </a:r>
            <a:r>
              <a:rPr lang="en-US" altLang="zh-CN" sz="1800" dirty="0" smtClean="0"/>
              <a:t>);</a:t>
            </a:r>
          </a:p>
          <a:p>
            <a:pPr lvl="1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800" dirty="0"/>
              <a:t> </a:t>
            </a:r>
            <a:r>
              <a:rPr lang="en-US" altLang="zh-CN" sz="1800" dirty="0" smtClean="0"/>
              <a:t>      </a:t>
            </a:r>
            <a:r>
              <a:rPr lang="en-US" altLang="zh-CN" sz="1800" dirty="0" err="1"/>
              <a:t>strcpy</a:t>
            </a:r>
            <a:r>
              <a:rPr lang="en-US" altLang="zh-CN" sz="1800" dirty="0"/>
              <a:t>(decPart,</a:t>
            </a:r>
            <a:r>
              <a:rPr lang="en-US" altLang="zh-CN" sz="1800" dirty="0">
                <a:solidFill>
                  <a:srgbClr val="C00000"/>
                </a:solidFill>
              </a:rPr>
              <a:t>ptr+1</a:t>
            </a:r>
            <a:r>
              <a:rPr lang="en-US" altLang="zh-CN" sz="1800" dirty="0" smtClean="0"/>
              <a:t>);</a:t>
            </a:r>
          </a:p>
          <a:p>
            <a:pPr lvl="1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800" dirty="0" smtClean="0"/>
              <a:t>  </a:t>
            </a:r>
            <a:r>
              <a:rPr lang="en-US" altLang="zh-CN" sz="1800" dirty="0"/>
              <a:t>} </a:t>
            </a:r>
            <a:endParaRPr lang="en-US" altLang="zh-CN" dirty="0"/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zh-CN" altLang="en-US" sz="1800" dirty="0"/>
          </a:p>
          <a:p>
            <a:endParaRPr lang="en-US" altLang="zh-CN" b="1" dirty="0">
              <a:latin typeface="宋体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05855" y="292018"/>
            <a:ext cx="723146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7030A0"/>
                </a:solidFill>
                <a:latin typeface="+mj-lt"/>
                <a:ea typeface="+mj-ea"/>
                <a:cs typeface="+mj-cs"/>
              </a:rPr>
              <a:t>自学与练习： </a:t>
            </a:r>
            <a:r>
              <a:rPr lang="en-US" altLang="zh-CN" sz="2800" b="1" dirty="0" err="1" smtClean="0">
                <a:solidFill>
                  <a:srgbClr val="1A93C8"/>
                </a:solidFill>
                <a:latin typeface="+mn-lt"/>
                <a:ea typeface="+mj-ea"/>
                <a:cs typeface="+mj-cs"/>
              </a:rPr>
              <a:t>strchr</a:t>
            </a:r>
            <a:r>
              <a:rPr lang="en-US" altLang="zh-CN" sz="2800" b="1" dirty="0">
                <a:solidFill>
                  <a:srgbClr val="1A93C8"/>
                </a:solidFill>
                <a:latin typeface="+mn-lt"/>
                <a:ea typeface="+mj-ea"/>
                <a:cs typeface="+mj-cs"/>
              </a:rPr>
              <a:t>()</a:t>
            </a:r>
            <a:r>
              <a:rPr lang="zh-CN" altLang="en-US" sz="2800" b="1" dirty="0" smtClean="0">
                <a:solidFill>
                  <a:srgbClr val="1A93C8"/>
                </a:solidFill>
                <a:latin typeface="+mn-lt"/>
                <a:ea typeface="+mj-ea"/>
                <a:cs typeface="+mj-cs"/>
              </a:rPr>
              <a:t>函数应用例</a:t>
            </a:r>
            <a:endParaRPr lang="zh-CN" altLang="en-US" sz="2800" b="1" dirty="0">
              <a:solidFill>
                <a:srgbClr val="1A93C8"/>
              </a:solidFill>
              <a:latin typeface="+mn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831633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7030A0"/>
                </a:solidFill>
              </a:rPr>
              <a:t>课后</a:t>
            </a:r>
            <a:r>
              <a:rPr lang="zh-CN" altLang="en-US" b="1" dirty="0" smtClean="0">
                <a:solidFill>
                  <a:srgbClr val="7030A0"/>
                </a:solidFill>
              </a:rPr>
              <a:t>练习：</a:t>
            </a:r>
            <a:r>
              <a:rPr lang="en-US" altLang="zh-CN" b="1" dirty="0" err="1" smtClean="0">
                <a:solidFill>
                  <a:srgbClr val="FF0000"/>
                </a:solidFill>
              </a:rPr>
              <a:t>sprintf</a:t>
            </a:r>
            <a:r>
              <a:rPr lang="en-US" altLang="zh-CN" b="1" dirty="0" smtClean="0">
                <a:solidFill>
                  <a:srgbClr val="FF0000"/>
                </a:solidFill>
              </a:rPr>
              <a:t>(): </a:t>
            </a:r>
            <a:r>
              <a:rPr lang="zh-CN" altLang="en-US" dirty="0"/>
              <a:t>将数</a:t>
            </a:r>
            <a:r>
              <a:rPr lang="zh-CN" altLang="en-US" dirty="0" smtClean="0"/>
              <a:t>值数据转换成字符串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61084" y="869258"/>
            <a:ext cx="8089900" cy="2613775"/>
          </a:xfrm>
        </p:spPr>
        <p:txBody>
          <a:bodyPr/>
          <a:lstStyle/>
          <a:p>
            <a:pPr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 smtClean="0"/>
              <a:t>函数原型   </a:t>
            </a:r>
            <a:r>
              <a:rPr lang="en-US" altLang="zh-CN" sz="1800" dirty="0" smtClean="0"/>
              <a:t>//</a:t>
            </a:r>
            <a:r>
              <a:rPr lang="en-US" altLang="zh-CN" sz="1800" dirty="0" err="1" smtClean="0"/>
              <a:t>stdio.h</a:t>
            </a:r>
            <a:endParaRPr lang="en-US" altLang="zh-CN" sz="1800" dirty="0" smtClean="0"/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600" dirty="0" err="1"/>
              <a:t>int</a:t>
            </a:r>
            <a:r>
              <a:rPr lang="en-US" altLang="zh-CN" sz="1600" dirty="0"/>
              <a:t> </a:t>
            </a:r>
            <a:r>
              <a:rPr lang="en-US" altLang="zh-CN" sz="1600" dirty="0" err="1"/>
              <a:t>sprintf</a:t>
            </a:r>
            <a:r>
              <a:rPr lang="en-US" altLang="zh-CN" sz="1600" dirty="0"/>
              <a:t>(char *</a:t>
            </a:r>
            <a:r>
              <a:rPr lang="en-US" altLang="zh-CN" sz="1600" dirty="0" err="1"/>
              <a:t>str</a:t>
            </a:r>
            <a:r>
              <a:rPr lang="en-US" altLang="zh-CN" sz="1600" dirty="0"/>
              <a:t>, </a:t>
            </a:r>
            <a:r>
              <a:rPr lang="en-US" altLang="zh-CN" sz="1600" dirty="0" err="1"/>
              <a:t>const</a:t>
            </a:r>
            <a:r>
              <a:rPr lang="en-US" altLang="zh-CN" sz="1600" dirty="0"/>
              <a:t> char *format, </a:t>
            </a:r>
            <a:r>
              <a:rPr lang="en-US" altLang="zh-CN" sz="1600" dirty="0" smtClean="0"/>
              <a:t>...)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 smtClean="0"/>
              <a:t>其中，</a:t>
            </a:r>
            <a:endParaRPr lang="en-US" altLang="zh-CN" sz="1600" dirty="0" smtClean="0"/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en-US" altLang="zh-CN" sz="1400" b="1" dirty="0" err="1"/>
              <a:t>str</a:t>
            </a:r>
            <a:r>
              <a:rPr lang="zh-CN" altLang="en-US" sz="1400" dirty="0"/>
              <a:t> </a:t>
            </a:r>
            <a:r>
              <a:rPr lang="en-US" altLang="zh-CN" sz="1400" dirty="0"/>
              <a:t>-- </a:t>
            </a:r>
            <a:r>
              <a:rPr lang="zh-CN" altLang="en-US" sz="1400" dirty="0" smtClean="0"/>
              <a:t>字符数组名，或指向字符数组首元素的指针</a:t>
            </a:r>
            <a:endParaRPr lang="en-US" altLang="zh-CN" sz="1400" dirty="0" smtClean="0"/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en-US" altLang="zh-CN" sz="1400" dirty="0" smtClean="0"/>
              <a:t>format</a:t>
            </a:r>
            <a:r>
              <a:rPr lang="zh-CN" altLang="en-US" sz="1400" dirty="0" smtClean="0"/>
              <a:t>：同</a:t>
            </a:r>
            <a:r>
              <a:rPr lang="en-US" altLang="zh-CN" sz="1400" dirty="0" err="1" smtClean="0"/>
              <a:t>printf</a:t>
            </a:r>
            <a:r>
              <a:rPr lang="en-US" altLang="zh-CN" sz="1400" dirty="0" smtClean="0"/>
              <a:t>()</a:t>
            </a:r>
            <a:r>
              <a:rPr lang="zh-CN" altLang="en-US" sz="1400" dirty="0" smtClean="0"/>
              <a:t>函数中格式</a:t>
            </a:r>
            <a:endParaRPr lang="zh-CN" altLang="en-US" sz="1400" dirty="0"/>
          </a:p>
          <a:p>
            <a:pPr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 smtClean="0"/>
              <a:t>功能：</a:t>
            </a:r>
            <a:endParaRPr lang="en-US" altLang="zh-CN" sz="1800" dirty="0" smtClean="0"/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 smtClean="0"/>
              <a:t>将数据按照</a:t>
            </a:r>
            <a:r>
              <a:rPr lang="en-US" altLang="zh-CN" sz="1600" dirty="0" smtClean="0"/>
              <a:t>format</a:t>
            </a:r>
            <a:r>
              <a:rPr lang="zh-CN" altLang="en-US" sz="1600" dirty="0" smtClean="0"/>
              <a:t>给定的格式，将一个数据格式化</a:t>
            </a:r>
            <a:r>
              <a:rPr lang="zh-CN" altLang="en-US" sz="1600" dirty="0"/>
              <a:t>输出到 </a:t>
            </a:r>
            <a:r>
              <a:rPr lang="en-US" altLang="zh-CN" sz="1600" b="1" dirty="0" err="1"/>
              <a:t>str</a:t>
            </a:r>
            <a:r>
              <a:rPr lang="zh-CN" altLang="en-US" sz="1600" dirty="0"/>
              <a:t> 所指向的</a:t>
            </a:r>
            <a:r>
              <a:rPr lang="zh-CN" altLang="en-US" sz="1600" dirty="0" smtClean="0"/>
              <a:t>字符串中</a:t>
            </a:r>
            <a:endParaRPr lang="en-US" altLang="zh-CN" sz="1600" dirty="0" smtClean="0"/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/>
              <a:t>如果没有相应的转换函数，或有时转换函数无法</a:t>
            </a:r>
            <a:r>
              <a:rPr lang="zh-CN" altLang="en-US" sz="1600" dirty="0" smtClean="0"/>
              <a:t>转换，可采用该方法</a:t>
            </a:r>
            <a:endParaRPr lang="en-US" altLang="zh-CN" sz="1600" dirty="0" smtClean="0"/>
          </a:p>
          <a:p>
            <a:pPr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 smtClean="0"/>
              <a:t>例如：</a:t>
            </a:r>
            <a:endParaRPr lang="zh-CN" altLang="en-US" sz="1800" dirty="0"/>
          </a:p>
        </p:txBody>
      </p:sp>
      <p:sp>
        <p:nvSpPr>
          <p:cNvPr id="5" name="内容占位符 2"/>
          <p:cNvSpPr txBox="1">
            <a:spLocks/>
          </p:cNvSpPr>
          <p:nvPr/>
        </p:nvSpPr>
        <p:spPr bwMode="auto">
          <a:xfrm>
            <a:off x="768408" y="3931919"/>
            <a:ext cx="4194289" cy="2069869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 err="1">
                <a:solidFill>
                  <a:srgbClr val="000000"/>
                </a:solidFill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</a:rPr>
              <a:t> main</a:t>
            </a:r>
            <a:r>
              <a:rPr lang="en-US" altLang="zh-CN" sz="1600" dirty="0" smtClean="0">
                <a:solidFill>
                  <a:srgbClr val="000000"/>
                </a:solidFill>
              </a:rPr>
              <a:t>()   </a:t>
            </a:r>
            <a:endParaRPr lang="en-US" altLang="zh-CN" sz="1600" dirty="0">
              <a:solidFill>
                <a:srgbClr val="0303DF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 smtClean="0">
                <a:solidFill>
                  <a:srgbClr val="000000"/>
                </a:solidFill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</a:rPr>
              <a:t> </a:t>
            </a:r>
            <a:r>
              <a:rPr lang="en-US" altLang="zh-CN" sz="1600" dirty="0" smtClean="0">
                <a:solidFill>
                  <a:srgbClr val="000000"/>
                </a:solidFill>
              </a:rPr>
              <a:t>   unsigned </a:t>
            </a:r>
            <a:r>
              <a:rPr lang="en-US" altLang="zh-CN" sz="1600" dirty="0" err="1" smtClean="0">
                <a:solidFill>
                  <a:srgbClr val="7030A0"/>
                </a:solidFill>
              </a:rPr>
              <a:t>uMax</a:t>
            </a:r>
            <a:r>
              <a:rPr lang="en-US" altLang="zh-CN" sz="1600" dirty="0" smtClean="0">
                <a:solidFill>
                  <a:srgbClr val="000000"/>
                </a:solidFill>
              </a:rPr>
              <a:t>=pow(2,32)-1;</a:t>
            </a:r>
            <a:endParaRPr lang="en-US" altLang="zh-CN" sz="1600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</a:rPr>
              <a:t>  </a:t>
            </a:r>
            <a:r>
              <a:rPr lang="en-US" altLang="zh-CN" sz="1600" dirty="0" smtClean="0">
                <a:solidFill>
                  <a:srgbClr val="000000"/>
                </a:solidFill>
              </a:rPr>
              <a:t>  </a:t>
            </a:r>
            <a:r>
              <a:rPr lang="en-US" altLang="zh-CN" sz="1600" dirty="0">
                <a:solidFill>
                  <a:srgbClr val="000000"/>
                </a:solidFill>
              </a:rPr>
              <a:t>char </a:t>
            </a:r>
            <a:r>
              <a:rPr lang="en-US" altLang="zh-CN" sz="1600" dirty="0" err="1">
                <a:solidFill>
                  <a:srgbClr val="000000"/>
                </a:solidFill>
              </a:rPr>
              <a:t>str</a:t>
            </a:r>
            <a:r>
              <a:rPr lang="en-US" altLang="zh-CN" sz="1600" dirty="0">
                <a:solidFill>
                  <a:srgbClr val="000000"/>
                </a:solidFill>
              </a:rPr>
              <a:t>[80</a:t>
            </a:r>
            <a:r>
              <a:rPr lang="en-US" altLang="zh-CN" sz="1600" dirty="0" smtClean="0">
                <a:solidFill>
                  <a:srgbClr val="000000"/>
                </a:solidFill>
              </a:rPr>
              <a:t>];</a:t>
            </a:r>
            <a:endParaRPr lang="en-US" altLang="zh-CN" sz="1600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</a:rPr>
              <a:t>   </a:t>
            </a:r>
            <a:r>
              <a:rPr lang="en-US" altLang="zh-CN" sz="1600" dirty="0" smtClean="0">
                <a:solidFill>
                  <a:srgbClr val="000000"/>
                </a:solidFill>
              </a:rPr>
              <a:t> </a:t>
            </a:r>
            <a:r>
              <a:rPr lang="en-US" altLang="zh-CN" sz="1600" dirty="0" err="1" smtClean="0">
                <a:solidFill>
                  <a:srgbClr val="C00000"/>
                </a:solidFill>
              </a:rPr>
              <a:t>sprintf</a:t>
            </a:r>
            <a:r>
              <a:rPr lang="en-US" altLang="zh-CN" sz="1600" dirty="0" smtClean="0">
                <a:solidFill>
                  <a:srgbClr val="C00000"/>
                </a:solidFill>
              </a:rPr>
              <a:t>(</a:t>
            </a:r>
            <a:r>
              <a:rPr lang="en-US" altLang="zh-CN" sz="1600" dirty="0" err="1" smtClean="0">
                <a:solidFill>
                  <a:srgbClr val="C00000"/>
                </a:solidFill>
              </a:rPr>
              <a:t>str</a:t>
            </a:r>
            <a:r>
              <a:rPr lang="en-US" altLang="zh-CN" sz="1600" dirty="0">
                <a:solidFill>
                  <a:srgbClr val="C00000"/>
                </a:solidFill>
              </a:rPr>
              <a:t>, </a:t>
            </a:r>
            <a:r>
              <a:rPr lang="en-US" altLang="zh-CN" sz="1600" dirty="0" smtClean="0">
                <a:solidFill>
                  <a:srgbClr val="C00000"/>
                </a:solidFill>
              </a:rPr>
              <a:t>"%u"</a:t>
            </a:r>
            <a:r>
              <a:rPr lang="en-US" altLang="zh-CN" sz="1600" dirty="0" smtClean="0">
                <a:solidFill>
                  <a:srgbClr val="7030A0"/>
                </a:solidFill>
              </a:rPr>
              <a:t>, </a:t>
            </a:r>
            <a:r>
              <a:rPr lang="en-US" altLang="zh-CN" sz="1600" dirty="0" err="1" smtClean="0">
                <a:solidFill>
                  <a:srgbClr val="7030A0"/>
                </a:solidFill>
              </a:rPr>
              <a:t>uMax</a:t>
            </a:r>
            <a:r>
              <a:rPr lang="en-US" altLang="zh-CN" sz="1600" dirty="0" smtClean="0">
                <a:solidFill>
                  <a:srgbClr val="C00000"/>
                </a:solidFill>
              </a:rPr>
              <a:t>);  </a:t>
            </a:r>
            <a:r>
              <a:rPr lang="en-US" altLang="zh-CN" sz="1600" dirty="0" smtClean="0">
                <a:solidFill>
                  <a:srgbClr val="030DCD"/>
                </a:solidFill>
              </a:rPr>
              <a:t>//</a:t>
            </a:r>
            <a:r>
              <a:rPr lang="en-US" altLang="zh-CN" sz="1600" dirty="0" err="1" smtClean="0">
                <a:solidFill>
                  <a:srgbClr val="030DCD"/>
                </a:solidFill>
              </a:rPr>
              <a:t>unsigned</a:t>
            </a:r>
            <a:r>
              <a:rPr lang="en-US" altLang="zh-CN" sz="1600" dirty="0" err="1" smtClean="0">
                <a:solidFill>
                  <a:srgbClr val="030DCD"/>
                </a:solidFill>
                <a:sym typeface="Wingdings" panose="05000000000000000000" pitchFamily="2" charset="2"/>
              </a:rPr>
              <a:t>char</a:t>
            </a:r>
            <a:r>
              <a:rPr lang="en-US" altLang="zh-CN" sz="1600" dirty="0" smtClean="0">
                <a:solidFill>
                  <a:srgbClr val="030DCD"/>
                </a:solidFill>
                <a:sym typeface="Wingdings" panose="05000000000000000000" pitchFamily="2" charset="2"/>
              </a:rPr>
              <a:t>*</a:t>
            </a:r>
            <a:endParaRPr lang="en-US" altLang="zh-CN" sz="1600" dirty="0">
              <a:solidFill>
                <a:srgbClr val="030DCD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</a:rPr>
              <a:t>   </a:t>
            </a:r>
            <a:r>
              <a:rPr lang="en-US" altLang="zh-CN" sz="1600" dirty="0" smtClean="0">
                <a:solidFill>
                  <a:srgbClr val="000000"/>
                </a:solidFill>
              </a:rPr>
              <a:t> puts(</a:t>
            </a:r>
            <a:r>
              <a:rPr lang="en-US" altLang="zh-CN" sz="1600" dirty="0" err="1" smtClean="0">
                <a:solidFill>
                  <a:srgbClr val="000000"/>
                </a:solidFill>
              </a:rPr>
              <a:t>str</a:t>
            </a:r>
            <a:r>
              <a:rPr lang="en-US" altLang="zh-CN" sz="1600" dirty="0" smtClean="0">
                <a:solidFill>
                  <a:srgbClr val="000000"/>
                </a:solidFill>
              </a:rPr>
              <a:t>);   </a:t>
            </a:r>
            <a:r>
              <a:rPr lang="en-US" altLang="zh-CN" sz="1600" dirty="0">
                <a:solidFill>
                  <a:srgbClr val="000000"/>
                </a:solidFill>
              </a:rPr>
              <a:t>//4294967295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</a:rPr>
              <a:t>   </a:t>
            </a:r>
            <a:r>
              <a:rPr lang="en-US" altLang="zh-CN" sz="1600" dirty="0" smtClean="0">
                <a:solidFill>
                  <a:srgbClr val="000000"/>
                </a:solidFill>
              </a:rPr>
              <a:t> return(0</a:t>
            </a:r>
            <a:r>
              <a:rPr lang="en-US" altLang="zh-CN" sz="1600" dirty="0">
                <a:solidFill>
                  <a:srgbClr val="000000"/>
                </a:solidFill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</a:rPr>
              <a:t>}</a:t>
            </a:r>
            <a:endParaRPr lang="zh-CN" altLang="en-US" sz="1600" dirty="0">
              <a:solidFill>
                <a:srgbClr val="000000"/>
              </a:solidFill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 bwMode="auto">
          <a:xfrm>
            <a:off x="5187720" y="3940231"/>
            <a:ext cx="3387955" cy="206986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 smtClean="0">
                <a:solidFill>
                  <a:srgbClr val="000000"/>
                </a:solidFill>
              </a:rPr>
              <a:t>#define  PI 3.14</a:t>
            </a:r>
            <a:endParaRPr lang="en-US" altLang="zh-CN" sz="1600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 err="1" smtClean="0">
                <a:solidFill>
                  <a:srgbClr val="000000"/>
                </a:solidFill>
              </a:rPr>
              <a:t>int</a:t>
            </a:r>
            <a:r>
              <a:rPr lang="en-US" altLang="zh-CN" sz="1600" dirty="0" smtClean="0">
                <a:solidFill>
                  <a:srgbClr val="000000"/>
                </a:solidFill>
              </a:rPr>
              <a:t> </a:t>
            </a:r>
            <a:r>
              <a:rPr lang="en-US" altLang="zh-CN" sz="1600" dirty="0">
                <a:solidFill>
                  <a:srgbClr val="000000"/>
                </a:solidFill>
              </a:rPr>
              <a:t>main</a:t>
            </a:r>
            <a:r>
              <a:rPr lang="en-US" altLang="zh-CN" sz="1600" dirty="0" smtClean="0">
                <a:solidFill>
                  <a:srgbClr val="000000"/>
                </a:solidFill>
              </a:rPr>
              <a:t>()   </a:t>
            </a:r>
            <a:r>
              <a:rPr lang="en-US" altLang="zh-CN" sz="1600" dirty="0" smtClean="0">
                <a:solidFill>
                  <a:srgbClr val="0303DF"/>
                </a:solidFill>
              </a:rPr>
              <a:t>//</a:t>
            </a:r>
            <a:r>
              <a:rPr lang="zh-CN" altLang="en-US" sz="1600" dirty="0" smtClean="0">
                <a:solidFill>
                  <a:srgbClr val="0303DF"/>
                </a:solidFill>
              </a:rPr>
              <a:t>标准库函数无</a:t>
            </a:r>
            <a:r>
              <a:rPr lang="en-US" altLang="zh-CN" sz="1600" dirty="0" err="1" smtClean="0">
                <a:solidFill>
                  <a:srgbClr val="0303DF"/>
                </a:solidFill>
              </a:rPr>
              <a:t>ftoa</a:t>
            </a:r>
            <a:r>
              <a:rPr lang="en-US" altLang="zh-CN" sz="1600" dirty="0" smtClean="0">
                <a:solidFill>
                  <a:srgbClr val="0303DF"/>
                </a:solidFill>
              </a:rPr>
              <a:t>()</a:t>
            </a:r>
            <a:endParaRPr lang="en-US" altLang="zh-CN" sz="1600" dirty="0">
              <a:solidFill>
                <a:srgbClr val="0303DF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 smtClean="0">
                <a:solidFill>
                  <a:srgbClr val="000000"/>
                </a:solidFill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 smtClean="0">
                <a:solidFill>
                  <a:srgbClr val="000000"/>
                </a:solidFill>
              </a:rPr>
              <a:t>     char </a:t>
            </a:r>
            <a:r>
              <a:rPr lang="en-US" altLang="zh-CN" sz="1600" dirty="0" err="1">
                <a:solidFill>
                  <a:srgbClr val="000000"/>
                </a:solidFill>
              </a:rPr>
              <a:t>str</a:t>
            </a:r>
            <a:r>
              <a:rPr lang="en-US" altLang="zh-CN" sz="1600" dirty="0">
                <a:solidFill>
                  <a:srgbClr val="000000"/>
                </a:solidFill>
              </a:rPr>
              <a:t>[80</a:t>
            </a:r>
            <a:r>
              <a:rPr lang="en-US" altLang="zh-CN" sz="1600" dirty="0" smtClean="0">
                <a:solidFill>
                  <a:srgbClr val="000000"/>
                </a:solidFill>
              </a:rPr>
              <a:t>];</a:t>
            </a:r>
            <a:endParaRPr lang="en-US" altLang="zh-CN" sz="1600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C00000"/>
                </a:solidFill>
              </a:rPr>
              <a:t>   </a:t>
            </a:r>
            <a:r>
              <a:rPr lang="en-US" altLang="zh-CN" sz="1600" dirty="0" smtClean="0">
                <a:solidFill>
                  <a:srgbClr val="C00000"/>
                </a:solidFill>
              </a:rPr>
              <a:t> </a:t>
            </a:r>
            <a:r>
              <a:rPr lang="en-US" altLang="zh-CN" sz="1600" dirty="0" err="1" smtClean="0">
                <a:solidFill>
                  <a:srgbClr val="C00000"/>
                </a:solidFill>
              </a:rPr>
              <a:t>sprintf</a:t>
            </a:r>
            <a:r>
              <a:rPr lang="en-US" altLang="zh-CN" sz="1600" dirty="0" smtClean="0">
                <a:solidFill>
                  <a:srgbClr val="C00000"/>
                </a:solidFill>
              </a:rPr>
              <a:t>(</a:t>
            </a:r>
            <a:r>
              <a:rPr lang="en-US" altLang="zh-CN" sz="1600" dirty="0" err="1" smtClean="0">
                <a:solidFill>
                  <a:srgbClr val="C00000"/>
                </a:solidFill>
              </a:rPr>
              <a:t>str</a:t>
            </a:r>
            <a:r>
              <a:rPr lang="en-US" altLang="zh-CN" sz="1600" dirty="0">
                <a:solidFill>
                  <a:srgbClr val="C00000"/>
                </a:solidFill>
              </a:rPr>
              <a:t>, </a:t>
            </a:r>
            <a:r>
              <a:rPr lang="en-US" altLang="zh-CN" sz="1600" dirty="0" smtClean="0">
                <a:solidFill>
                  <a:srgbClr val="C00000"/>
                </a:solidFill>
              </a:rPr>
              <a:t>"%</a:t>
            </a:r>
            <a:r>
              <a:rPr lang="en-US" altLang="zh-CN" sz="1600" dirty="0" err="1" smtClean="0">
                <a:solidFill>
                  <a:srgbClr val="C00000"/>
                </a:solidFill>
              </a:rPr>
              <a:t>f",PI</a:t>
            </a:r>
            <a:r>
              <a:rPr lang="en-US" altLang="zh-CN" sz="1600" dirty="0" smtClean="0">
                <a:solidFill>
                  <a:srgbClr val="C00000"/>
                </a:solidFill>
              </a:rPr>
              <a:t>);  </a:t>
            </a:r>
            <a:r>
              <a:rPr lang="en-US" altLang="zh-CN" sz="1600" dirty="0" smtClean="0">
                <a:solidFill>
                  <a:srgbClr val="7030A0"/>
                </a:solidFill>
              </a:rPr>
              <a:t>//</a:t>
            </a:r>
            <a:r>
              <a:rPr lang="en-US" altLang="zh-CN" sz="1600" dirty="0" err="1" smtClean="0">
                <a:solidFill>
                  <a:srgbClr val="7030A0"/>
                </a:solidFill>
              </a:rPr>
              <a:t>float</a:t>
            </a:r>
            <a:r>
              <a:rPr lang="en-US" altLang="zh-CN" sz="1600" dirty="0" err="1" smtClean="0">
                <a:solidFill>
                  <a:srgbClr val="7030A0"/>
                </a:solidFill>
                <a:sym typeface="Wingdings" panose="05000000000000000000" pitchFamily="2" charset="2"/>
              </a:rPr>
              <a:t>char</a:t>
            </a:r>
            <a:r>
              <a:rPr lang="en-US" altLang="zh-CN" sz="1600" dirty="0" smtClean="0">
                <a:solidFill>
                  <a:srgbClr val="7030A0"/>
                </a:solidFill>
                <a:sym typeface="Wingdings" panose="05000000000000000000" pitchFamily="2" charset="2"/>
              </a:rPr>
              <a:t>*</a:t>
            </a:r>
            <a:endParaRPr lang="en-US" altLang="zh-CN" sz="1600" dirty="0">
              <a:solidFill>
                <a:srgbClr val="7030A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</a:rPr>
              <a:t>   </a:t>
            </a:r>
            <a:r>
              <a:rPr lang="en-US" altLang="zh-CN" sz="1600" dirty="0" smtClean="0">
                <a:solidFill>
                  <a:srgbClr val="000000"/>
                </a:solidFill>
              </a:rPr>
              <a:t> puts(</a:t>
            </a:r>
            <a:r>
              <a:rPr lang="en-US" altLang="zh-CN" sz="1600" dirty="0" err="1" smtClean="0">
                <a:solidFill>
                  <a:srgbClr val="000000"/>
                </a:solidFill>
              </a:rPr>
              <a:t>str</a:t>
            </a:r>
            <a:r>
              <a:rPr lang="en-US" altLang="zh-CN" sz="1600" dirty="0" smtClean="0">
                <a:solidFill>
                  <a:srgbClr val="000000"/>
                </a:solidFill>
              </a:rPr>
              <a:t>);   </a:t>
            </a:r>
            <a:r>
              <a:rPr lang="en-US" altLang="zh-CN" sz="1600" dirty="0">
                <a:solidFill>
                  <a:srgbClr val="000000"/>
                </a:solidFill>
              </a:rPr>
              <a:t>//3.140000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</a:rPr>
              <a:t>   </a:t>
            </a:r>
            <a:r>
              <a:rPr lang="en-US" altLang="zh-CN" sz="1600" dirty="0" smtClean="0">
                <a:solidFill>
                  <a:srgbClr val="000000"/>
                </a:solidFill>
              </a:rPr>
              <a:t> return(0</a:t>
            </a:r>
            <a:r>
              <a:rPr lang="en-US" altLang="zh-CN" sz="1600" dirty="0">
                <a:solidFill>
                  <a:srgbClr val="000000"/>
                </a:solidFill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</a:rPr>
              <a:t>}</a:t>
            </a:r>
            <a:endParaRPr lang="zh-CN" altLang="en-US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5956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7030A0"/>
                </a:solidFill>
              </a:rPr>
              <a:t>课后</a:t>
            </a:r>
            <a:r>
              <a:rPr lang="zh-CN" altLang="en-US" b="1" dirty="0" smtClean="0">
                <a:solidFill>
                  <a:srgbClr val="7030A0"/>
                </a:solidFill>
              </a:rPr>
              <a:t>练习：</a:t>
            </a:r>
            <a:r>
              <a:rPr lang="en-US" altLang="zh-CN" b="1" dirty="0" err="1" smtClean="0">
                <a:solidFill>
                  <a:srgbClr val="FF0000"/>
                </a:solidFill>
              </a:rPr>
              <a:t>sprintf</a:t>
            </a:r>
            <a:r>
              <a:rPr lang="en-US" altLang="zh-CN" b="1" dirty="0" smtClean="0">
                <a:solidFill>
                  <a:srgbClr val="FF0000"/>
                </a:solidFill>
              </a:rPr>
              <a:t>(): </a:t>
            </a:r>
            <a:r>
              <a:rPr lang="zh-CN" altLang="en-US" dirty="0" smtClean="0"/>
              <a:t>将两个整数组合成一个字符串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485775" y="1135063"/>
            <a:ext cx="8089900" cy="529145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2000" dirty="0" smtClean="0"/>
              <a:t>例如</a:t>
            </a:r>
            <a:endParaRPr lang="zh-CN" altLang="en-US" sz="20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762" y="1664208"/>
            <a:ext cx="6848475" cy="3476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12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7030A0"/>
                </a:solidFill>
              </a:rPr>
              <a:t>自学与练习：</a:t>
            </a:r>
            <a:r>
              <a:rPr lang="zh-CN" altLang="en-US" dirty="0" smtClean="0"/>
              <a:t>标准</a:t>
            </a:r>
            <a:r>
              <a:rPr lang="zh-CN" altLang="en-US" dirty="0"/>
              <a:t>字符转换函数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dirty="0" smtClean="0"/>
              <a:t>#</a:t>
            </a:r>
            <a:r>
              <a:rPr lang="en-US" altLang="zh-CN" dirty="0"/>
              <a:t>include &lt;</a:t>
            </a:r>
            <a:r>
              <a:rPr lang="en-US" altLang="zh-CN" dirty="0" err="1">
                <a:solidFill>
                  <a:srgbClr val="7030A0"/>
                </a:solidFill>
              </a:rPr>
              <a:t>ctype.h</a:t>
            </a:r>
            <a:r>
              <a:rPr lang="en-US" altLang="zh-CN" dirty="0"/>
              <a:t>&gt;</a:t>
            </a:r>
          </a:p>
          <a:p>
            <a:pPr marL="971550" lvl="1"/>
            <a:r>
              <a:rPr lang="en-US" altLang="zh-CN" b="1" dirty="0"/>
              <a:t>char </a:t>
            </a:r>
            <a:r>
              <a:rPr lang="en-US" altLang="zh-CN" b="1" dirty="0" err="1">
                <a:solidFill>
                  <a:srgbClr val="C00000"/>
                </a:solidFill>
              </a:rPr>
              <a:t>toupper</a:t>
            </a:r>
            <a:r>
              <a:rPr lang="en-US" altLang="zh-CN" b="1" dirty="0"/>
              <a:t>(char c</a:t>
            </a:r>
            <a:r>
              <a:rPr lang="en-US" altLang="zh-CN" b="1" dirty="0" smtClean="0"/>
              <a:t>);    //</a:t>
            </a:r>
            <a:r>
              <a:rPr lang="zh-CN" altLang="en-US" b="1" dirty="0" smtClean="0"/>
              <a:t>小写字符</a:t>
            </a:r>
            <a:r>
              <a:rPr lang="en-US" altLang="zh-CN" b="1" dirty="0" smtClean="0">
                <a:sym typeface="Wingdings" panose="05000000000000000000" pitchFamily="2" charset="2"/>
              </a:rPr>
              <a:t></a:t>
            </a:r>
            <a:r>
              <a:rPr lang="zh-CN" altLang="en-US" b="1" dirty="0" smtClean="0">
                <a:sym typeface="Wingdings" panose="05000000000000000000" pitchFamily="2" charset="2"/>
              </a:rPr>
              <a:t>大写</a:t>
            </a:r>
            <a:endParaRPr lang="en-US" altLang="zh-CN" b="1" dirty="0"/>
          </a:p>
          <a:p>
            <a:pPr marL="971550" lvl="1"/>
            <a:r>
              <a:rPr lang="en-US" altLang="zh-CN" b="1" dirty="0"/>
              <a:t>char </a:t>
            </a:r>
            <a:r>
              <a:rPr lang="en-US" altLang="zh-CN" b="1" dirty="0" err="1">
                <a:solidFill>
                  <a:srgbClr val="C00000"/>
                </a:solidFill>
              </a:rPr>
              <a:t>tolower</a:t>
            </a:r>
            <a:r>
              <a:rPr lang="en-US" altLang="zh-CN" b="1" dirty="0"/>
              <a:t>(char c); </a:t>
            </a:r>
            <a:r>
              <a:rPr lang="en-US" altLang="zh-CN" b="1" dirty="0" smtClean="0"/>
              <a:t>    //</a:t>
            </a:r>
            <a:r>
              <a:rPr lang="zh-CN" altLang="en-US" b="1" dirty="0" smtClean="0"/>
              <a:t>大写</a:t>
            </a:r>
            <a:r>
              <a:rPr lang="zh-CN" altLang="en-US" b="1" dirty="0"/>
              <a:t>字符</a:t>
            </a:r>
            <a:r>
              <a:rPr lang="en-US" altLang="zh-CN" b="1" dirty="0" smtClean="0">
                <a:sym typeface="Wingdings" panose="05000000000000000000" pitchFamily="2" charset="2"/>
              </a:rPr>
              <a:t></a:t>
            </a:r>
            <a:r>
              <a:rPr lang="zh-CN" altLang="en-US" b="1" dirty="0" smtClean="0">
                <a:sym typeface="Wingdings" panose="05000000000000000000" pitchFamily="2" charset="2"/>
              </a:rPr>
              <a:t>小写</a:t>
            </a:r>
            <a:endParaRPr lang="en-US" altLang="zh-CN" b="1" dirty="0"/>
          </a:p>
          <a:p>
            <a:pPr marL="971550" lvl="1"/>
            <a:endParaRPr lang="en-US" altLang="zh-CN" b="1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 smtClean="0"/>
              <a:t>参见</a:t>
            </a:r>
            <a:endParaRPr lang="en-US" altLang="zh-CN" dirty="0" smtClean="0"/>
          </a:p>
          <a:p>
            <a:pPr marL="971550" lvl="1">
              <a:buFont typeface="Arial" panose="020B0604020202020204" pitchFamily="34" charset="0"/>
              <a:buChar char="•"/>
            </a:pPr>
            <a:r>
              <a:rPr lang="en-US" altLang="zh-CN" dirty="0" smtClean="0"/>
              <a:t>https</a:t>
            </a:r>
            <a:r>
              <a:rPr lang="en-US" altLang="zh-CN" dirty="0"/>
              <a:t>://www.runoob.com/cprogramming/c-standard-library-ctype-h.html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42448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7030A0"/>
                </a:solidFill>
              </a:rPr>
              <a:t>自学与练习</a:t>
            </a:r>
            <a:r>
              <a:rPr lang="zh-CN" altLang="en-US" b="1" dirty="0" smtClean="0">
                <a:solidFill>
                  <a:srgbClr val="7030A0"/>
                </a:solidFill>
              </a:rPr>
              <a:t>：</a:t>
            </a:r>
            <a:r>
              <a:rPr lang="zh-CN" altLang="en-US" dirty="0" smtClean="0"/>
              <a:t>字符检测函数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9935" y="1010372"/>
            <a:ext cx="8481580" cy="5345112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</a:rPr>
              <a:t>头文件 </a:t>
            </a:r>
            <a:r>
              <a:rPr lang="en-US" altLang="zh-CN" sz="2000" b="1" dirty="0" err="1">
                <a:solidFill>
                  <a:srgbClr val="C00000"/>
                </a:solidFill>
              </a:rPr>
              <a:t>ctype.h</a:t>
            </a:r>
            <a:endParaRPr lang="en-US" altLang="zh-CN" sz="2000" b="1" dirty="0">
              <a:solidFill>
                <a:srgbClr val="C00000"/>
              </a:solidFill>
            </a:endParaRPr>
          </a:p>
          <a:p>
            <a:pPr marL="971550" lvl="1"/>
            <a:r>
              <a:rPr lang="en-US" altLang="zh-CN" sz="1600" dirty="0" err="1"/>
              <a:t>isalpha</a:t>
            </a:r>
            <a:r>
              <a:rPr lang="en-US" altLang="zh-CN" sz="1600" dirty="0"/>
              <a:t>(char c);  //</a:t>
            </a:r>
            <a:r>
              <a:rPr lang="zh-CN" altLang="en-US" sz="1600" dirty="0"/>
              <a:t>检测一个字符是否是</a:t>
            </a:r>
            <a:r>
              <a:rPr lang="zh-CN" altLang="en-US" sz="1600" dirty="0">
                <a:solidFill>
                  <a:srgbClr val="030DCD"/>
                </a:solidFill>
              </a:rPr>
              <a:t>字母</a:t>
            </a:r>
            <a:r>
              <a:rPr lang="en-US" altLang="zh-CN" sz="1600" dirty="0"/>
              <a:t>;</a:t>
            </a:r>
          </a:p>
          <a:p>
            <a:pPr marL="971550" lvl="1"/>
            <a:r>
              <a:rPr lang="en-US" altLang="zh-CN" sz="1600" dirty="0" err="1"/>
              <a:t>isupper</a:t>
            </a:r>
            <a:r>
              <a:rPr lang="en-US" altLang="zh-CN" sz="1600" dirty="0"/>
              <a:t>(char c);  //</a:t>
            </a:r>
            <a:r>
              <a:rPr lang="zh-CN" altLang="en-US" sz="1600" dirty="0"/>
              <a:t>检测一个字符是否是</a:t>
            </a:r>
            <a:r>
              <a:rPr lang="zh-CN" altLang="en-US" sz="1600" dirty="0">
                <a:solidFill>
                  <a:srgbClr val="030DCD"/>
                </a:solidFill>
              </a:rPr>
              <a:t>大写字母</a:t>
            </a:r>
            <a:r>
              <a:rPr lang="zh-CN" altLang="en-US" sz="1600" dirty="0"/>
              <a:t>；</a:t>
            </a:r>
            <a:endParaRPr lang="en-US" altLang="zh-CN" sz="1600" dirty="0"/>
          </a:p>
          <a:p>
            <a:pPr marL="971550" lvl="1"/>
            <a:r>
              <a:rPr lang="en-US" altLang="zh-CN" sz="1600" dirty="0" err="1"/>
              <a:t>islower</a:t>
            </a:r>
            <a:r>
              <a:rPr lang="en-US" altLang="zh-CN" sz="1600" dirty="0"/>
              <a:t>(char c);  //</a:t>
            </a:r>
            <a:r>
              <a:rPr lang="zh-CN" altLang="en-US" sz="1600" dirty="0"/>
              <a:t>检测一个字符是否是</a:t>
            </a:r>
            <a:r>
              <a:rPr lang="zh-CN" altLang="en-US" sz="1600" dirty="0">
                <a:solidFill>
                  <a:srgbClr val="030DCD"/>
                </a:solidFill>
              </a:rPr>
              <a:t>小写字母</a:t>
            </a:r>
            <a:r>
              <a:rPr lang="zh-CN" altLang="en-US" sz="1600" dirty="0"/>
              <a:t>；</a:t>
            </a:r>
            <a:endParaRPr lang="en-US" altLang="zh-CN" sz="1600" dirty="0"/>
          </a:p>
          <a:p>
            <a:pPr marL="971550" lvl="1"/>
            <a:r>
              <a:rPr lang="en-US" altLang="zh-CN" sz="1600" dirty="0" err="1"/>
              <a:t>isdigit</a:t>
            </a:r>
            <a:r>
              <a:rPr lang="en-US" altLang="zh-CN" sz="1600" dirty="0"/>
              <a:t>(char c);    //</a:t>
            </a:r>
            <a:r>
              <a:rPr lang="zh-CN" altLang="en-US" sz="1600" dirty="0"/>
              <a:t>检测是否是</a:t>
            </a:r>
            <a:r>
              <a:rPr lang="zh-CN" altLang="en-US" sz="1600" dirty="0">
                <a:solidFill>
                  <a:srgbClr val="030DCD"/>
                </a:solidFill>
              </a:rPr>
              <a:t>十进制数字</a:t>
            </a:r>
            <a:r>
              <a:rPr lang="zh-CN" altLang="en-US" sz="1600" dirty="0"/>
              <a:t>；</a:t>
            </a:r>
            <a:endParaRPr lang="en-US" altLang="zh-CN" sz="1600" dirty="0"/>
          </a:p>
          <a:p>
            <a:pPr marL="971550" lvl="1"/>
            <a:r>
              <a:rPr lang="en-US" altLang="zh-CN" sz="1600" dirty="0" err="1"/>
              <a:t>isxdigit</a:t>
            </a:r>
            <a:r>
              <a:rPr lang="en-US" altLang="zh-CN" sz="1600" dirty="0"/>
              <a:t>(char c);  //</a:t>
            </a:r>
            <a:r>
              <a:rPr lang="zh-CN" altLang="en-US" sz="1600" dirty="0"/>
              <a:t>检测是否是</a:t>
            </a:r>
            <a:r>
              <a:rPr lang="en-US" altLang="zh-CN" sz="1600" dirty="0">
                <a:solidFill>
                  <a:srgbClr val="030DCD"/>
                </a:solidFill>
              </a:rPr>
              <a:t>16</a:t>
            </a:r>
            <a:r>
              <a:rPr lang="zh-CN" altLang="en-US" sz="1600" dirty="0">
                <a:solidFill>
                  <a:srgbClr val="030DCD"/>
                </a:solidFill>
              </a:rPr>
              <a:t>进制数字</a:t>
            </a:r>
            <a:r>
              <a:rPr lang="zh-CN" altLang="en-US" sz="1600" dirty="0"/>
              <a:t>；</a:t>
            </a:r>
            <a:endParaRPr lang="en-US" altLang="zh-CN" sz="1600" dirty="0"/>
          </a:p>
          <a:p>
            <a:pPr marL="971550" lvl="1"/>
            <a:r>
              <a:rPr lang="en-US" altLang="zh-CN" sz="1600" dirty="0" err="1"/>
              <a:t>isspace</a:t>
            </a:r>
            <a:r>
              <a:rPr lang="en-US" altLang="zh-CN" sz="1600" dirty="0"/>
              <a:t>(char c);  //</a:t>
            </a:r>
            <a:r>
              <a:rPr lang="zh-CN" altLang="en-US" sz="1600" dirty="0"/>
              <a:t>检测是否是</a:t>
            </a:r>
            <a:r>
              <a:rPr lang="zh-CN" altLang="en-US" sz="1600" dirty="0">
                <a:solidFill>
                  <a:srgbClr val="030DCD"/>
                </a:solidFill>
              </a:rPr>
              <a:t>空白符</a:t>
            </a:r>
            <a:r>
              <a:rPr lang="zh-CN" altLang="en-US" sz="1600" dirty="0"/>
              <a:t>；</a:t>
            </a:r>
            <a:r>
              <a:rPr lang="en-US" altLang="zh-CN" sz="1600" dirty="0"/>
              <a:t>//</a:t>
            </a:r>
            <a:r>
              <a:rPr lang="zh-CN" altLang="en-US" sz="1600" dirty="0"/>
              <a:t>不可显示的字符</a:t>
            </a:r>
            <a:endParaRPr lang="en-US" altLang="zh-CN" sz="1600" dirty="0"/>
          </a:p>
          <a:p>
            <a:pPr marL="1200150" lvl="2"/>
            <a:r>
              <a:rPr lang="zh-CN" altLang="en-US" sz="1600" dirty="0"/>
              <a:t>包括空格</a:t>
            </a:r>
            <a:r>
              <a:rPr lang="en-US" altLang="zh-CN" sz="1600" dirty="0"/>
              <a:t>‘ ’</a:t>
            </a:r>
            <a:r>
              <a:rPr lang="zh-CN" altLang="en-US" sz="1600" dirty="0"/>
              <a:t>、水平制表符</a:t>
            </a:r>
            <a:r>
              <a:rPr lang="en-US" altLang="zh-CN" sz="1600" dirty="0"/>
              <a:t>‘\t’</a:t>
            </a:r>
            <a:r>
              <a:rPr lang="zh-CN" altLang="en-US" sz="1600" dirty="0"/>
              <a:t>、换行符</a:t>
            </a:r>
            <a:r>
              <a:rPr lang="en-US" altLang="zh-CN" sz="1600" dirty="0"/>
              <a:t>‘\n’</a:t>
            </a:r>
            <a:r>
              <a:rPr lang="zh-CN" altLang="en-US" sz="1600" dirty="0"/>
              <a:t>、垂直制表符</a:t>
            </a:r>
            <a:r>
              <a:rPr lang="en-US" altLang="zh-CN" sz="1600" dirty="0"/>
              <a:t>‘\v’</a:t>
            </a:r>
            <a:r>
              <a:rPr lang="zh-CN" altLang="en-US" sz="1600" dirty="0"/>
              <a:t>、换页</a:t>
            </a:r>
            <a:r>
              <a:rPr lang="en-US" altLang="zh-CN" sz="1600" dirty="0"/>
              <a:t>‘\f’</a:t>
            </a:r>
            <a:r>
              <a:rPr lang="zh-CN" altLang="en-US" sz="1600" dirty="0"/>
              <a:t>以及回车</a:t>
            </a:r>
            <a:r>
              <a:rPr lang="en-US" altLang="zh-CN" sz="1600" dirty="0"/>
              <a:t>‘\r’</a:t>
            </a:r>
            <a:r>
              <a:rPr lang="zh-CN" altLang="en-US" sz="1600" dirty="0"/>
              <a:t>；</a:t>
            </a:r>
            <a:endParaRPr lang="en-US" altLang="zh-CN" sz="1600" dirty="0"/>
          </a:p>
          <a:p>
            <a:pPr marL="971550" lvl="1"/>
            <a:r>
              <a:rPr lang="en-US" altLang="zh-CN" sz="1600" dirty="0" err="1"/>
              <a:t>ispunct</a:t>
            </a:r>
            <a:r>
              <a:rPr lang="en-US" altLang="zh-CN" sz="1600" dirty="0"/>
              <a:t>(char c);   //</a:t>
            </a:r>
            <a:r>
              <a:rPr lang="zh-CN" altLang="en-US" sz="1600" dirty="0"/>
              <a:t>检测是否是</a:t>
            </a:r>
            <a:r>
              <a:rPr lang="zh-CN" altLang="en-US" sz="1600" dirty="0">
                <a:solidFill>
                  <a:srgbClr val="030DCD"/>
                </a:solidFill>
              </a:rPr>
              <a:t>标点符号</a:t>
            </a:r>
            <a:r>
              <a:rPr lang="zh-CN" altLang="en-US" sz="1600" dirty="0"/>
              <a:t>；</a:t>
            </a:r>
            <a:endParaRPr lang="en-US" altLang="zh-CN" sz="1600" dirty="0"/>
          </a:p>
          <a:p>
            <a:pPr marL="971550" lvl="1"/>
            <a:r>
              <a:rPr lang="en-US" altLang="zh-CN" sz="1600" dirty="0" err="1"/>
              <a:t>isalnum</a:t>
            </a:r>
            <a:r>
              <a:rPr lang="en-US" altLang="zh-CN" sz="1600" dirty="0"/>
              <a:t>(char c);  //</a:t>
            </a:r>
            <a:r>
              <a:rPr lang="zh-CN" altLang="en-US" sz="1600" dirty="0"/>
              <a:t>检测是否是</a:t>
            </a:r>
            <a:r>
              <a:rPr lang="zh-CN" altLang="en-US" sz="1600" dirty="0">
                <a:solidFill>
                  <a:srgbClr val="030DCD"/>
                </a:solidFill>
              </a:rPr>
              <a:t>字母或者十进制数字</a:t>
            </a:r>
            <a:endParaRPr lang="en-US" altLang="zh-CN" sz="1600" dirty="0">
              <a:solidFill>
                <a:srgbClr val="030DCD"/>
              </a:solidFill>
            </a:endParaRPr>
          </a:p>
          <a:p>
            <a:pPr marL="971550" lvl="1"/>
            <a:r>
              <a:rPr lang="en-US" altLang="zh-CN" sz="1600" dirty="0" err="1"/>
              <a:t>isprint</a:t>
            </a:r>
            <a:r>
              <a:rPr lang="en-US" altLang="zh-CN" sz="1600" dirty="0"/>
              <a:t>(char c);    //</a:t>
            </a:r>
            <a:r>
              <a:rPr lang="zh-CN" altLang="en-US" sz="1600" dirty="0"/>
              <a:t>检测是否</a:t>
            </a:r>
            <a:r>
              <a:rPr lang="zh-CN" altLang="en-US" sz="1600" dirty="0">
                <a:solidFill>
                  <a:srgbClr val="030DCD"/>
                </a:solidFill>
              </a:rPr>
              <a:t>可打印字符</a:t>
            </a:r>
            <a:r>
              <a:rPr lang="zh-CN" altLang="en-US" sz="1600" dirty="0"/>
              <a:t>；</a:t>
            </a:r>
            <a:endParaRPr lang="en-US" altLang="zh-CN" sz="1600" dirty="0"/>
          </a:p>
          <a:p>
            <a:pPr marL="971550" lvl="1"/>
            <a:r>
              <a:rPr lang="en-US" altLang="zh-CN" sz="1600" dirty="0" err="1"/>
              <a:t>isgraph</a:t>
            </a:r>
            <a:r>
              <a:rPr lang="en-US" altLang="zh-CN" sz="1600" dirty="0"/>
              <a:t>(char c);   //</a:t>
            </a:r>
            <a:r>
              <a:rPr lang="zh-CN" altLang="en-US" sz="1600" dirty="0"/>
              <a:t>检测字符是</a:t>
            </a:r>
            <a:r>
              <a:rPr lang="zh-CN" altLang="en-US" sz="1600" dirty="0">
                <a:solidFill>
                  <a:srgbClr val="030DCD"/>
                </a:solidFill>
              </a:rPr>
              <a:t>图形字符</a:t>
            </a:r>
            <a:r>
              <a:rPr lang="zh-CN" altLang="en-US" sz="1600" dirty="0"/>
              <a:t>，在显示器上能绘制出来，如字母、汉字等；</a:t>
            </a:r>
            <a:endParaRPr lang="en-US" altLang="zh-CN" sz="1600" dirty="0"/>
          </a:p>
          <a:p>
            <a:pPr marL="971550" lvl="1"/>
            <a:r>
              <a:rPr lang="en-US" altLang="zh-CN" sz="1600" dirty="0" err="1"/>
              <a:t>iscntrl</a:t>
            </a:r>
            <a:r>
              <a:rPr lang="en-US" altLang="zh-CN" sz="1600" dirty="0"/>
              <a:t>(char c);    //</a:t>
            </a:r>
            <a:r>
              <a:rPr lang="zh-CN" altLang="en-US" sz="1600" dirty="0"/>
              <a:t>检测是否是</a:t>
            </a:r>
            <a:r>
              <a:rPr lang="zh-CN" altLang="en-US" sz="1600" dirty="0">
                <a:solidFill>
                  <a:srgbClr val="030DCD"/>
                </a:solidFill>
              </a:rPr>
              <a:t>控制字符</a:t>
            </a:r>
            <a:r>
              <a:rPr lang="zh-CN" altLang="en-US" sz="1600" dirty="0"/>
              <a:t>；</a:t>
            </a:r>
            <a:endParaRPr lang="en-US" altLang="zh-CN" sz="1600" dirty="0"/>
          </a:p>
          <a:p>
            <a:pPr marL="1200150" lvl="2"/>
            <a:r>
              <a:rPr lang="zh-CN" altLang="en-US" sz="1600" dirty="0"/>
              <a:t>具有某种特殊功能、不会显示在屏幕上、不会占用字符位置的特殊字符；</a:t>
            </a:r>
            <a:endParaRPr lang="en-US" altLang="zh-CN" sz="1600" dirty="0"/>
          </a:p>
          <a:p>
            <a:pPr marL="1200150" lvl="2"/>
            <a:r>
              <a:rPr lang="zh-CN" altLang="en-US" sz="1600" dirty="0"/>
              <a:t>控制字符的范围是</a:t>
            </a:r>
            <a:r>
              <a:rPr lang="en-US" altLang="zh-CN" sz="1600" dirty="0"/>
              <a:t>0x00 (NUL) ~ 0x1f (US)</a:t>
            </a:r>
            <a:r>
              <a:rPr lang="zh-CN" altLang="en-US" sz="1600" dirty="0"/>
              <a:t>，再加上一个</a:t>
            </a:r>
            <a:r>
              <a:rPr lang="en-US" altLang="zh-CN" sz="1600" dirty="0"/>
              <a:t>0x7f (DEL)</a:t>
            </a:r>
            <a:r>
              <a:rPr lang="zh-CN" altLang="en-US" sz="1600" dirty="0"/>
              <a:t>字符；</a:t>
            </a:r>
            <a:endParaRPr lang="en-US" altLang="zh-CN" sz="16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 smtClean="0">
                <a:solidFill>
                  <a:srgbClr val="006600"/>
                </a:solidFill>
              </a:rPr>
              <a:t>参见：</a:t>
            </a:r>
            <a:r>
              <a:rPr lang="en-US" altLang="zh-CN" sz="1800" dirty="0" smtClean="0">
                <a:solidFill>
                  <a:srgbClr val="006600"/>
                </a:solidFill>
              </a:rPr>
              <a:t>https</a:t>
            </a:r>
            <a:r>
              <a:rPr lang="en-US" altLang="zh-CN" sz="1800" dirty="0">
                <a:solidFill>
                  <a:srgbClr val="006600"/>
                </a:solidFill>
              </a:rPr>
              <a:t>://www.runoob.com/cprogramming/c-standard-library-ctype-h.html</a:t>
            </a:r>
            <a:endParaRPr lang="zh-CN" altLang="en-US" sz="1800" dirty="0">
              <a:solidFill>
                <a:srgbClr val="0066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971550" lvl="1"/>
            <a:endParaRPr lang="en-US" altLang="zh-CN" dirty="0"/>
          </a:p>
          <a:p>
            <a:pPr marL="971550"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38127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7030A0"/>
                </a:solidFill>
              </a:rPr>
              <a:t>自学与练习：</a:t>
            </a:r>
            <a:r>
              <a:rPr lang="zh-CN" altLang="en-US" dirty="0" smtClean="0"/>
              <a:t>字符串</a:t>
            </a:r>
            <a:r>
              <a:rPr lang="zh-CN" altLang="en-US" dirty="0"/>
              <a:t>与数值之间的转换函数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C00000"/>
                </a:solidFill>
              </a:rPr>
              <a:t>#include &lt;</a:t>
            </a:r>
            <a:r>
              <a:rPr lang="en-US" altLang="zh-CN" sz="2000" b="1" dirty="0" err="1">
                <a:solidFill>
                  <a:srgbClr val="C00000"/>
                </a:solidFill>
              </a:rPr>
              <a:t>stdlib.h</a:t>
            </a:r>
            <a:r>
              <a:rPr lang="en-US" altLang="zh-CN" sz="2000" b="1" dirty="0" smtClean="0">
                <a:solidFill>
                  <a:srgbClr val="C00000"/>
                </a:solidFill>
              </a:rPr>
              <a:t>&gt;  </a:t>
            </a:r>
            <a:r>
              <a:rPr lang="en-US" altLang="zh-CN" sz="1800" dirty="0" smtClean="0">
                <a:solidFill>
                  <a:srgbClr val="080808"/>
                </a:solidFill>
              </a:rPr>
              <a:t>//</a:t>
            </a:r>
            <a:r>
              <a:rPr lang="zh-CN" altLang="en-US" sz="1800" dirty="0" smtClean="0">
                <a:solidFill>
                  <a:srgbClr val="080808"/>
                </a:solidFill>
              </a:rPr>
              <a:t>有些函数</a:t>
            </a:r>
            <a:r>
              <a:rPr lang="en-US" altLang="zh-CN" sz="1800" dirty="0" smtClean="0">
                <a:solidFill>
                  <a:srgbClr val="080808"/>
                </a:solidFill>
              </a:rPr>
              <a:t>Windows</a:t>
            </a:r>
            <a:r>
              <a:rPr lang="zh-CN" altLang="en-US" sz="1800" dirty="0" smtClean="0">
                <a:solidFill>
                  <a:srgbClr val="080808"/>
                </a:solidFill>
              </a:rPr>
              <a:t>提供，</a:t>
            </a:r>
            <a:r>
              <a:rPr lang="en-US" altLang="zh-CN" sz="1800" dirty="0" smtClean="0">
                <a:solidFill>
                  <a:srgbClr val="080808"/>
                </a:solidFill>
              </a:rPr>
              <a:t>Linux</a:t>
            </a:r>
            <a:r>
              <a:rPr lang="zh-CN" altLang="en-US" sz="1800" dirty="0" smtClean="0">
                <a:solidFill>
                  <a:srgbClr val="080808"/>
                </a:solidFill>
              </a:rPr>
              <a:t>不提供</a:t>
            </a:r>
            <a:endParaRPr lang="en-US" altLang="zh-CN" sz="2000" i="1" dirty="0">
              <a:solidFill>
                <a:srgbClr val="080808"/>
              </a:solidFill>
            </a:endParaRPr>
          </a:p>
          <a:p>
            <a:pPr marL="971550" lvl="1"/>
            <a:r>
              <a:rPr lang="en-US" altLang="zh-CN" sz="1800" i="1" dirty="0">
                <a:solidFill>
                  <a:srgbClr val="030DCD"/>
                </a:solidFill>
              </a:rPr>
              <a:t>char *</a:t>
            </a:r>
            <a:r>
              <a:rPr lang="en-US" altLang="zh-CN" sz="1800" i="1" dirty="0" err="1">
                <a:solidFill>
                  <a:srgbClr val="030DCD"/>
                </a:solidFill>
              </a:rPr>
              <a:t>itoa</a:t>
            </a:r>
            <a:r>
              <a:rPr lang="en-US" altLang="zh-CN" sz="1800" i="1" dirty="0">
                <a:solidFill>
                  <a:srgbClr val="030DCD"/>
                </a:solidFill>
              </a:rPr>
              <a:t>( int value, char *string, </a:t>
            </a:r>
            <a:r>
              <a:rPr lang="en-US" altLang="zh-CN" sz="1800" i="1" dirty="0">
                <a:solidFill>
                  <a:srgbClr val="C00000"/>
                </a:solidFill>
              </a:rPr>
              <a:t>int radix</a:t>
            </a:r>
            <a:r>
              <a:rPr lang="en-US" altLang="zh-CN" sz="1800" i="1" dirty="0">
                <a:solidFill>
                  <a:srgbClr val="030DCD"/>
                </a:solidFill>
              </a:rPr>
              <a:t>);  </a:t>
            </a:r>
            <a:r>
              <a:rPr lang="en-US" altLang="zh-CN" sz="1800" i="1" dirty="0"/>
              <a:t>//</a:t>
            </a:r>
            <a:r>
              <a:rPr lang="en-US" altLang="zh-CN" sz="1800" i="1" dirty="0" err="1"/>
              <a:t>int</a:t>
            </a:r>
            <a:r>
              <a:rPr lang="en-US" altLang="zh-CN" sz="1800" i="1" dirty="0" err="1">
                <a:sym typeface="Wingdings" panose="05000000000000000000" pitchFamily="2" charset="2"/>
              </a:rPr>
              <a:t>string</a:t>
            </a:r>
            <a:r>
              <a:rPr lang="en-US" altLang="zh-CN" sz="1800" i="1" dirty="0">
                <a:sym typeface="Wingdings" panose="05000000000000000000" pitchFamily="2" charset="2"/>
              </a:rPr>
              <a:t>, </a:t>
            </a:r>
            <a:r>
              <a:rPr lang="zh-CN" altLang="en-US" sz="1800" i="1" dirty="0">
                <a:sym typeface="Wingdings" panose="05000000000000000000" pitchFamily="2" charset="2"/>
              </a:rPr>
              <a:t>进制为</a:t>
            </a:r>
            <a:r>
              <a:rPr lang="en-US" altLang="zh-CN" sz="1800" i="1" dirty="0">
                <a:sym typeface="Wingdings" panose="05000000000000000000" pitchFamily="2" charset="2"/>
              </a:rPr>
              <a:t>radix</a:t>
            </a:r>
            <a:endParaRPr lang="en-US" altLang="zh-CN" sz="1800" i="1" dirty="0"/>
          </a:p>
          <a:p>
            <a:pPr marL="971550" lvl="1"/>
            <a:r>
              <a:rPr lang="en-US" altLang="zh-CN" sz="1800" i="1" dirty="0">
                <a:solidFill>
                  <a:srgbClr val="030DCD"/>
                </a:solidFill>
              </a:rPr>
              <a:t>char *</a:t>
            </a:r>
            <a:r>
              <a:rPr lang="en-US" altLang="zh-CN" sz="1800" i="1" dirty="0" err="1">
                <a:solidFill>
                  <a:srgbClr val="030DCD"/>
                </a:solidFill>
              </a:rPr>
              <a:t>ltoa</a:t>
            </a:r>
            <a:r>
              <a:rPr lang="en-US" altLang="zh-CN" sz="1800" i="1" dirty="0">
                <a:solidFill>
                  <a:srgbClr val="030DCD"/>
                </a:solidFill>
              </a:rPr>
              <a:t>( long value, char *string, </a:t>
            </a:r>
            <a:r>
              <a:rPr lang="en-US" altLang="zh-CN" sz="1800" i="1" dirty="0">
                <a:solidFill>
                  <a:srgbClr val="C00000"/>
                </a:solidFill>
              </a:rPr>
              <a:t>int radix</a:t>
            </a:r>
            <a:r>
              <a:rPr lang="en-US" altLang="zh-CN" sz="1800" i="1" dirty="0">
                <a:solidFill>
                  <a:srgbClr val="030DCD"/>
                </a:solidFill>
              </a:rPr>
              <a:t>)  </a:t>
            </a:r>
            <a:r>
              <a:rPr lang="en-US" altLang="zh-CN" sz="1800" i="1" dirty="0"/>
              <a:t>//</a:t>
            </a:r>
            <a:r>
              <a:rPr lang="en-US" altLang="zh-CN" sz="1800" i="1" dirty="0" err="1"/>
              <a:t>long</a:t>
            </a:r>
            <a:r>
              <a:rPr lang="en-US" altLang="zh-CN" sz="1800" i="1" dirty="0" err="1">
                <a:sym typeface="Wingdings" panose="05000000000000000000" pitchFamily="2" charset="2"/>
              </a:rPr>
              <a:t></a:t>
            </a:r>
            <a:r>
              <a:rPr lang="en-US" altLang="zh-CN" sz="1800" i="1" dirty="0" err="1" smtClean="0">
                <a:sym typeface="Wingdings" panose="05000000000000000000" pitchFamily="2" charset="2"/>
              </a:rPr>
              <a:t>string</a:t>
            </a:r>
            <a:endParaRPr lang="en-US" altLang="zh-CN" sz="1800" i="1" dirty="0" smtClean="0">
              <a:sym typeface="Wingdings" panose="05000000000000000000" pitchFamily="2" charset="2"/>
            </a:endParaRPr>
          </a:p>
          <a:p>
            <a:pPr marL="971550" lvl="1"/>
            <a:r>
              <a:rPr lang="en-US" altLang="zh-CN" sz="1800" i="1" strike="sngStrike" dirty="0">
                <a:solidFill>
                  <a:srgbClr val="030DCD"/>
                </a:solidFill>
              </a:rPr>
              <a:t>char *</a:t>
            </a:r>
            <a:r>
              <a:rPr lang="en-US" altLang="zh-CN" sz="1800" i="1" strike="sngStrike" dirty="0" err="1">
                <a:solidFill>
                  <a:srgbClr val="030DCD"/>
                </a:solidFill>
              </a:rPr>
              <a:t>ultoa</a:t>
            </a:r>
            <a:r>
              <a:rPr lang="en-US" altLang="zh-CN" sz="1800" i="1" strike="sngStrike" dirty="0">
                <a:solidFill>
                  <a:srgbClr val="030DCD"/>
                </a:solidFill>
              </a:rPr>
              <a:t>( unsigned long value, char *string, </a:t>
            </a:r>
            <a:r>
              <a:rPr lang="en-US" altLang="zh-CN" sz="1800" i="1" strike="sngStrike" dirty="0" err="1">
                <a:solidFill>
                  <a:srgbClr val="C00000"/>
                </a:solidFill>
              </a:rPr>
              <a:t>int</a:t>
            </a:r>
            <a:r>
              <a:rPr lang="en-US" altLang="zh-CN" sz="1800" i="1" strike="sngStrike" dirty="0">
                <a:solidFill>
                  <a:srgbClr val="C00000"/>
                </a:solidFill>
              </a:rPr>
              <a:t> radix</a:t>
            </a:r>
            <a:r>
              <a:rPr lang="en-US" altLang="zh-CN" sz="1800" i="1" strike="sngStrike" dirty="0">
                <a:solidFill>
                  <a:srgbClr val="030DCD"/>
                </a:solidFill>
              </a:rPr>
              <a:t>)</a:t>
            </a:r>
          </a:p>
          <a:p>
            <a:pPr marL="971550" lvl="1"/>
            <a:r>
              <a:rPr lang="en-US" altLang="zh-CN" sz="1800" i="1" dirty="0" smtClean="0">
                <a:solidFill>
                  <a:srgbClr val="030DCD"/>
                </a:solidFill>
              </a:rPr>
              <a:t>char </a:t>
            </a:r>
            <a:r>
              <a:rPr lang="en-US" altLang="zh-CN" sz="1800" i="1" dirty="0">
                <a:solidFill>
                  <a:srgbClr val="030DCD"/>
                </a:solidFill>
              </a:rPr>
              <a:t>*</a:t>
            </a:r>
            <a:r>
              <a:rPr lang="en-US" altLang="zh-CN" sz="1800" i="1" dirty="0" err="1">
                <a:solidFill>
                  <a:srgbClr val="030DCD"/>
                </a:solidFill>
              </a:rPr>
              <a:t>lltoa</a:t>
            </a:r>
            <a:r>
              <a:rPr lang="en-US" altLang="zh-CN" sz="1800" i="1" dirty="0">
                <a:solidFill>
                  <a:srgbClr val="030DCD"/>
                </a:solidFill>
              </a:rPr>
              <a:t>( long </a:t>
            </a:r>
            <a:r>
              <a:rPr lang="en-US" altLang="zh-CN" sz="1800" i="1" dirty="0" err="1">
                <a:solidFill>
                  <a:srgbClr val="030DCD"/>
                </a:solidFill>
              </a:rPr>
              <a:t>long</a:t>
            </a:r>
            <a:r>
              <a:rPr lang="en-US" altLang="zh-CN" sz="1800" i="1" dirty="0">
                <a:solidFill>
                  <a:srgbClr val="030DCD"/>
                </a:solidFill>
              </a:rPr>
              <a:t> value, char *string, </a:t>
            </a:r>
            <a:r>
              <a:rPr lang="en-US" altLang="zh-CN" sz="1800" i="1" dirty="0">
                <a:solidFill>
                  <a:srgbClr val="C00000"/>
                </a:solidFill>
              </a:rPr>
              <a:t>int radix</a:t>
            </a:r>
            <a:r>
              <a:rPr lang="en-US" altLang="zh-CN" sz="1800" i="1" dirty="0">
                <a:solidFill>
                  <a:srgbClr val="030DCD"/>
                </a:solidFill>
              </a:rPr>
              <a:t>)   </a:t>
            </a:r>
            <a:endParaRPr lang="en-US" altLang="zh-CN" sz="1800" i="1" dirty="0" smtClean="0">
              <a:solidFill>
                <a:srgbClr val="030DCD"/>
              </a:solidFill>
            </a:endParaRPr>
          </a:p>
          <a:p>
            <a:pPr marL="971550" lvl="1"/>
            <a:r>
              <a:rPr lang="en-US" altLang="zh-CN" sz="1800" i="1" dirty="0">
                <a:solidFill>
                  <a:srgbClr val="030DCD"/>
                </a:solidFill>
              </a:rPr>
              <a:t>char </a:t>
            </a:r>
            <a:r>
              <a:rPr lang="en-US" altLang="zh-CN" sz="1800" i="1" dirty="0" smtClean="0">
                <a:solidFill>
                  <a:srgbClr val="030DCD"/>
                </a:solidFill>
              </a:rPr>
              <a:t>*</a:t>
            </a:r>
            <a:r>
              <a:rPr lang="en-US" altLang="zh-CN" sz="1800" i="1" dirty="0" err="1" smtClean="0">
                <a:solidFill>
                  <a:srgbClr val="030DCD"/>
                </a:solidFill>
              </a:rPr>
              <a:t>ulltoa</a:t>
            </a:r>
            <a:r>
              <a:rPr lang="en-US" altLang="zh-CN" sz="1800" i="1" dirty="0">
                <a:solidFill>
                  <a:srgbClr val="030DCD"/>
                </a:solidFill>
              </a:rPr>
              <a:t>( </a:t>
            </a:r>
            <a:r>
              <a:rPr lang="en-US" altLang="zh-CN" sz="1800" i="1" dirty="0" smtClean="0">
                <a:solidFill>
                  <a:srgbClr val="030DCD"/>
                </a:solidFill>
              </a:rPr>
              <a:t>unsigned long </a:t>
            </a:r>
            <a:r>
              <a:rPr lang="en-US" altLang="zh-CN" sz="1800" i="1" dirty="0">
                <a:solidFill>
                  <a:srgbClr val="030DCD"/>
                </a:solidFill>
              </a:rPr>
              <a:t>long value, char *string, </a:t>
            </a:r>
            <a:r>
              <a:rPr lang="en-US" altLang="zh-CN" sz="1800" i="1" dirty="0" err="1">
                <a:solidFill>
                  <a:srgbClr val="C00000"/>
                </a:solidFill>
              </a:rPr>
              <a:t>int</a:t>
            </a:r>
            <a:r>
              <a:rPr lang="en-US" altLang="zh-CN" sz="1800" i="1" dirty="0">
                <a:solidFill>
                  <a:srgbClr val="C00000"/>
                </a:solidFill>
              </a:rPr>
              <a:t> radix</a:t>
            </a:r>
            <a:r>
              <a:rPr lang="en-US" altLang="zh-CN" sz="1800" i="1" dirty="0">
                <a:solidFill>
                  <a:srgbClr val="030DCD"/>
                </a:solidFill>
              </a:rPr>
              <a:t>)   </a:t>
            </a:r>
          </a:p>
          <a:p>
            <a:pPr marL="971550" lvl="1"/>
            <a:r>
              <a:rPr lang="en-US" altLang="zh-CN" sz="1800" i="1" dirty="0" err="1" smtClean="0">
                <a:solidFill>
                  <a:srgbClr val="006600"/>
                </a:solidFill>
              </a:rPr>
              <a:t>int</a:t>
            </a:r>
            <a:r>
              <a:rPr lang="en-US" altLang="zh-CN" sz="1800" i="1" dirty="0" smtClean="0">
                <a:solidFill>
                  <a:srgbClr val="006600"/>
                </a:solidFill>
              </a:rPr>
              <a:t> </a:t>
            </a:r>
            <a:r>
              <a:rPr lang="en-US" altLang="zh-CN" sz="1800" i="1" dirty="0" err="1">
                <a:solidFill>
                  <a:srgbClr val="006600"/>
                </a:solidFill>
              </a:rPr>
              <a:t>atoi</a:t>
            </a:r>
            <a:r>
              <a:rPr lang="en-US" altLang="zh-CN" sz="1800" i="1" dirty="0">
                <a:solidFill>
                  <a:srgbClr val="006600"/>
                </a:solidFill>
              </a:rPr>
              <a:t>(char *</a:t>
            </a:r>
            <a:r>
              <a:rPr lang="en-US" altLang="zh-CN" sz="1800" i="1" dirty="0" err="1">
                <a:solidFill>
                  <a:srgbClr val="006600"/>
                </a:solidFill>
              </a:rPr>
              <a:t>nptr</a:t>
            </a:r>
            <a:r>
              <a:rPr lang="en-US" altLang="zh-CN" sz="1800" i="1" dirty="0">
                <a:solidFill>
                  <a:srgbClr val="006600"/>
                </a:solidFill>
              </a:rPr>
              <a:t>)   //</a:t>
            </a:r>
            <a:r>
              <a:rPr lang="en-US" altLang="zh-CN" sz="1800" i="1" dirty="0"/>
              <a:t> //</a:t>
            </a:r>
            <a:r>
              <a:rPr lang="en-US" altLang="zh-CN" sz="1800" i="1" dirty="0" err="1">
                <a:sym typeface="Wingdings" panose="05000000000000000000" pitchFamily="2" charset="2"/>
              </a:rPr>
              <a:t>stringint</a:t>
            </a:r>
            <a:endParaRPr lang="en-US" altLang="zh-CN" sz="1800" i="1" dirty="0">
              <a:solidFill>
                <a:srgbClr val="006600"/>
              </a:solidFill>
            </a:endParaRPr>
          </a:p>
          <a:p>
            <a:pPr marL="971550" lvl="1"/>
            <a:r>
              <a:rPr lang="en-US" altLang="zh-CN" sz="1800" i="1" dirty="0">
                <a:solidFill>
                  <a:srgbClr val="006600"/>
                </a:solidFill>
              </a:rPr>
              <a:t>long </a:t>
            </a:r>
            <a:r>
              <a:rPr lang="en-US" altLang="zh-CN" sz="1800" i="1" dirty="0" err="1">
                <a:solidFill>
                  <a:srgbClr val="006600"/>
                </a:solidFill>
              </a:rPr>
              <a:t>atol</a:t>
            </a:r>
            <a:r>
              <a:rPr lang="en-US" altLang="zh-CN" sz="1800" i="1" dirty="0">
                <a:solidFill>
                  <a:srgbClr val="006600"/>
                </a:solidFill>
              </a:rPr>
              <a:t>(char *</a:t>
            </a:r>
            <a:r>
              <a:rPr lang="en-US" altLang="zh-CN" sz="1800" i="1" dirty="0" err="1">
                <a:solidFill>
                  <a:srgbClr val="006600"/>
                </a:solidFill>
              </a:rPr>
              <a:t>nptr</a:t>
            </a:r>
            <a:r>
              <a:rPr lang="en-US" altLang="zh-CN" sz="1800" i="1" dirty="0">
                <a:solidFill>
                  <a:srgbClr val="006600"/>
                </a:solidFill>
              </a:rPr>
              <a:t>) </a:t>
            </a:r>
          </a:p>
          <a:p>
            <a:pPr marL="971550" lvl="1"/>
            <a:r>
              <a:rPr lang="en-US" altLang="zh-CN" sz="1800" i="1" dirty="0">
                <a:solidFill>
                  <a:srgbClr val="006600"/>
                </a:solidFill>
              </a:rPr>
              <a:t>long </a:t>
            </a:r>
            <a:r>
              <a:rPr lang="en-US" altLang="zh-CN" sz="1800" i="1" dirty="0" err="1">
                <a:solidFill>
                  <a:srgbClr val="006600"/>
                </a:solidFill>
              </a:rPr>
              <a:t>long</a:t>
            </a:r>
            <a:r>
              <a:rPr lang="en-US" altLang="zh-CN" sz="1800" i="1" dirty="0">
                <a:solidFill>
                  <a:srgbClr val="006600"/>
                </a:solidFill>
              </a:rPr>
              <a:t> atoll(char *</a:t>
            </a:r>
            <a:r>
              <a:rPr lang="en-US" altLang="zh-CN" sz="1800" i="1" dirty="0" err="1">
                <a:solidFill>
                  <a:srgbClr val="006600"/>
                </a:solidFill>
              </a:rPr>
              <a:t>nptr</a:t>
            </a:r>
            <a:r>
              <a:rPr lang="en-US" altLang="zh-CN" sz="1800" i="1" dirty="0">
                <a:solidFill>
                  <a:srgbClr val="006600"/>
                </a:solidFill>
              </a:rPr>
              <a:t>) </a:t>
            </a:r>
          </a:p>
          <a:p>
            <a:pPr marL="971550" lvl="1"/>
            <a:r>
              <a:rPr lang="en-US" altLang="zh-CN" sz="1800" i="1" dirty="0">
                <a:solidFill>
                  <a:srgbClr val="006600"/>
                </a:solidFill>
              </a:rPr>
              <a:t>double </a:t>
            </a:r>
            <a:r>
              <a:rPr lang="en-US" altLang="zh-CN" sz="1800" i="1" dirty="0" err="1">
                <a:solidFill>
                  <a:srgbClr val="006600"/>
                </a:solidFill>
              </a:rPr>
              <a:t>atof</a:t>
            </a:r>
            <a:r>
              <a:rPr lang="en-US" altLang="zh-CN" sz="1800" i="1" dirty="0">
                <a:solidFill>
                  <a:srgbClr val="006600"/>
                </a:solidFill>
              </a:rPr>
              <a:t>(char *</a:t>
            </a:r>
            <a:r>
              <a:rPr lang="en-US" altLang="zh-CN" sz="1800" i="1" dirty="0" err="1">
                <a:solidFill>
                  <a:srgbClr val="006600"/>
                </a:solidFill>
              </a:rPr>
              <a:t>nptr</a:t>
            </a:r>
            <a:r>
              <a:rPr lang="en-US" altLang="zh-CN" sz="1800" i="1" dirty="0">
                <a:solidFill>
                  <a:srgbClr val="006600"/>
                </a:solidFill>
              </a:rPr>
              <a:t>)  //</a:t>
            </a:r>
            <a:r>
              <a:rPr lang="zh-CN" altLang="en-US" sz="1800" i="1" dirty="0">
                <a:solidFill>
                  <a:srgbClr val="006600"/>
                </a:solidFill>
              </a:rPr>
              <a:t>同 </a:t>
            </a:r>
            <a:r>
              <a:rPr lang="en-US" altLang="zh-CN" sz="1800" dirty="0">
                <a:solidFill>
                  <a:srgbClr val="006600"/>
                </a:solidFill>
              </a:rPr>
              <a:t>strtod(</a:t>
            </a:r>
            <a:r>
              <a:rPr lang="en-US" altLang="zh-CN" sz="1800" dirty="0" err="1">
                <a:solidFill>
                  <a:srgbClr val="006600"/>
                </a:solidFill>
              </a:rPr>
              <a:t>nptr</a:t>
            </a:r>
            <a:r>
              <a:rPr lang="en-US" altLang="zh-CN" sz="1800" dirty="0">
                <a:solidFill>
                  <a:srgbClr val="006600"/>
                </a:solidFill>
              </a:rPr>
              <a:t>,(char**)NULL)</a:t>
            </a:r>
            <a:endParaRPr lang="en-US" altLang="zh-CN" sz="1800" i="1" dirty="0">
              <a:solidFill>
                <a:srgbClr val="006600"/>
              </a:solidFill>
            </a:endParaRPr>
          </a:p>
          <a:p>
            <a:pPr marL="971550" lvl="1"/>
            <a:r>
              <a:rPr lang="en-US" altLang="zh-CN" sz="1800" i="1" dirty="0">
                <a:solidFill>
                  <a:srgbClr val="006600"/>
                </a:solidFill>
              </a:rPr>
              <a:t>double strtod(char *</a:t>
            </a:r>
            <a:r>
              <a:rPr lang="en-US" altLang="zh-CN" sz="1800" i="1" dirty="0" err="1">
                <a:solidFill>
                  <a:srgbClr val="006600"/>
                </a:solidFill>
              </a:rPr>
              <a:t>str</a:t>
            </a:r>
            <a:r>
              <a:rPr lang="en-US" altLang="zh-CN" sz="1800" i="1" dirty="0" smtClean="0">
                <a:solidFill>
                  <a:srgbClr val="006600"/>
                </a:solidFill>
              </a:rPr>
              <a:t>, char </a:t>
            </a:r>
            <a:r>
              <a:rPr lang="en-US" altLang="zh-CN" sz="1800" i="1" dirty="0">
                <a:solidFill>
                  <a:srgbClr val="006600"/>
                </a:solidFill>
              </a:rPr>
              <a:t>**</a:t>
            </a:r>
            <a:r>
              <a:rPr lang="en-US" altLang="zh-CN" sz="1800" i="1" dirty="0" err="1">
                <a:solidFill>
                  <a:srgbClr val="006600"/>
                </a:solidFill>
              </a:rPr>
              <a:t>endptr</a:t>
            </a:r>
            <a:r>
              <a:rPr lang="en-US" altLang="zh-CN" sz="1800" i="1" dirty="0">
                <a:solidFill>
                  <a:srgbClr val="006600"/>
                </a:solidFill>
              </a:rPr>
              <a:t>)  </a:t>
            </a:r>
          </a:p>
          <a:p>
            <a:pPr marL="971550" lvl="1"/>
            <a:r>
              <a:rPr lang="en-US" altLang="zh-CN" sz="1800" i="1" dirty="0">
                <a:solidFill>
                  <a:srgbClr val="006600"/>
                </a:solidFill>
              </a:rPr>
              <a:t>long </a:t>
            </a:r>
            <a:r>
              <a:rPr lang="en-US" altLang="zh-CN" sz="1800" i="1" dirty="0" err="1">
                <a:solidFill>
                  <a:srgbClr val="006600"/>
                </a:solidFill>
              </a:rPr>
              <a:t>strtol</a:t>
            </a:r>
            <a:r>
              <a:rPr lang="en-US" altLang="zh-CN" sz="1800" i="1" dirty="0">
                <a:solidFill>
                  <a:srgbClr val="006600"/>
                </a:solidFill>
              </a:rPr>
              <a:t>(char *</a:t>
            </a:r>
            <a:r>
              <a:rPr lang="en-US" altLang="zh-CN" sz="1800" i="1" dirty="0" err="1">
                <a:solidFill>
                  <a:srgbClr val="006600"/>
                </a:solidFill>
              </a:rPr>
              <a:t>str,char</a:t>
            </a:r>
            <a:r>
              <a:rPr lang="en-US" altLang="zh-CN" sz="1800" i="1" dirty="0">
                <a:solidFill>
                  <a:srgbClr val="006600"/>
                </a:solidFill>
              </a:rPr>
              <a:t> **</a:t>
            </a:r>
            <a:r>
              <a:rPr lang="en-US" altLang="zh-CN" sz="1800" i="1" dirty="0" err="1">
                <a:solidFill>
                  <a:srgbClr val="006600"/>
                </a:solidFill>
              </a:rPr>
              <a:t>endptr,int</a:t>
            </a:r>
            <a:r>
              <a:rPr lang="en-US" altLang="zh-CN" sz="1800" i="1" dirty="0">
                <a:solidFill>
                  <a:srgbClr val="006600"/>
                </a:solidFill>
              </a:rPr>
              <a:t> base) </a:t>
            </a:r>
            <a:endParaRPr lang="en-US" altLang="zh-CN" dirty="0">
              <a:solidFill>
                <a:srgbClr val="0066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 smtClean="0">
                <a:solidFill>
                  <a:srgbClr val="030DCD"/>
                </a:solidFill>
              </a:rPr>
              <a:t>参见 </a:t>
            </a:r>
            <a:r>
              <a:rPr lang="en-US" altLang="zh-CN" sz="1800" dirty="0" smtClean="0">
                <a:solidFill>
                  <a:srgbClr val="030DCD"/>
                </a:solidFill>
              </a:rPr>
              <a:t>https</a:t>
            </a:r>
            <a:r>
              <a:rPr lang="en-US" altLang="zh-CN" sz="1800" dirty="0">
                <a:solidFill>
                  <a:srgbClr val="030DCD"/>
                </a:solidFill>
              </a:rPr>
              <a:t>://www.runoob.com/cprogramming/c-standard-library-stdlib-h.html</a:t>
            </a:r>
            <a:endParaRPr lang="en-US" altLang="zh-CN" sz="2000" dirty="0"/>
          </a:p>
          <a:p>
            <a:pPr marL="971550"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89415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>
                <a:solidFill>
                  <a:srgbClr val="7030A0"/>
                </a:solidFill>
              </a:rPr>
              <a:t>课后练习</a:t>
            </a:r>
            <a:r>
              <a:rPr lang="zh-CN" altLang="en-US" b="1" dirty="0">
                <a:solidFill>
                  <a:srgbClr val="7030A0"/>
                </a:solidFill>
              </a:rPr>
              <a:t>： </a:t>
            </a:r>
            <a:r>
              <a:rPr lang="en-US" altLang="zh-CN" i="1" dirty="0" err="1" smtClean="0"/>
              <a:t>int</a:t>
            </a:r>
            <a:r>
              <a:rPr lang="en-US" altLang="zh-CN" i="1" dirty="0" smtClean="0"/>
              <a:t> </a:t>
            </a:r>
            <a:r>
              <a:rPr lang="en-US" altLang="zh-CN" i="1" dirty="0" err="1"/>
              <a:t>atoi</a:t>
            </a:r>
            <a:r>
              <a:rPr lang="en-US" altLang="zh-CN" i="1" dirty="0"/>
              <a:t>(char *</a:t>
            </a:r>
            <a:r>
              <a:rPr lang="en-US" altLang="zh-CN" i="1" dirty="0" err="1"/>
              <a:t>nptr</a:t>
            </a:r>
            <a:r>
              <a:rPr lang="en-US" altLang="zh-CN" i="1" dirty="0"/>
              <a:t>)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5220" y="1135063"/>
            <a:ext cx="6070889" cy="5345112"/>
          </a:xfrm>
          <a:ln>
            <a:solidFill>
              <a:srgbClr val="003300"/>
            </a:solidFill>
          </a:ln>
        </p:spPr>
        <p:txBody>
          <a:bodyPr/>
          <a:lstStyle/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#include &lt;</a:t>
            </a:r>
            <a:r>
              <a:rPr lang="en-US" altLang="zh-CN" sz="1800" dirty="0" err="1"/>
              <a:t>stdio.h</a:t>
            </a:r>
            <a:r>
              <a:rPr lang="en-US" altLang="zh-CN" sz="1800" dirty="0"/>
              <a:t>&gt;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#include &lt;</a:t>
            </a:r>
            <a:r>
              <a:rPr lang="en-US" altLang="zh-CN" sz="1800" dirty="0" err="1"/>
              <a:t>stdlib.h</a:t>
            </a:r>
            <a:r>
              <a:rPr lang="en-US" altLang="zh-CN" sz="1800" dirty="0"/>
              <a:t>&gt;  //</a:t>
            </a:r>
            <a:r>
              <a:rPr lang="zh-CN" altLang="en-US" sz="1800" dirty="0"/>
              <a:t>数值转换函数</a:t>
            </a:r>
            <a:endParaRPr lang="en-US" altLang="zh-CN" sz="1800" dirty="0"/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 err="1"/>
              <a:t>int</a:t>
            </a:r>
            <a:r>
              <a:rPr lang="en-US" altLang="zh-CN" sz="1800" dirty="0"/>
              <a:t> main (){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   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</a:t>
            </a:r>
            <a:r>
              <a:rPr lang="en-US" altLang="zh-CN" sz="1800" dirty="0" err="1"/>
              <a:t>i</a:t>
            </a:r>
            <a:r>
              <a:rPr lang="en-US" altLang="zh-CN" sz="1800" dirty="0"/>
              <a:t>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    </a:t>
            </a:r>
            <a:r>
              <a:rPr lang="en-US" altLang="zh-CN" sz="1800" dirty="0">
                <a:solidFill>
                  <a:srgbClr val="030DCD"/>
                </a:solidFill>
              </a:rPr>
              <a:t>char buffer[33];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b="1" dirty="0">
                <a:solidFill>
                  <a:srgbClr val="006600"/>
                </a:solidFill>
              </a:rPr>
              <a:t>    </a:t>
            </a:r>
            <a:r>
              <a:rPr lang="en-US" altLang="zh-CN" sz="1800" b="1" dirty="0" err="1">
                <a:solidFill>
                  <a:srgbClr val="006600"/>
                </a:solidFill>
              </a:rPr>
              <a:t>printf</a:t>
            </a:r>
            <a:r>
              <a:rPr lang="en-US" altLang="zh-CN" sz="1800" b="1" dirty="0">
                <a:solidFill>
                  <a:srgbClr val="006600"/>
                </a:solidFill>
              </a:rPr>
              <a:t> ("Enter a number: ");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b="1" dirty="0">
                <a:solidFill>
                  <a:srgbClr val="006600"/>
                </a:solidFill>
              </a:rPr>
              <a:t>    </a:t>
            </a:r>
            <a:r>
              <a:rPr lang="en-US" altLang="zh-CN" sz="1800" b="1" dirty="0" err="1">
                <a:solidFill>
                  <a:srgbClr val="006600"/>
                </a:solidFill>
              </a:rPr>
              <a:t>scanf</a:t>
            </a:r>
            <a:r>
              <a:rPr lang="en-US" altLang="zh-CN" sz="1800" b="1" dirty="0">
                <a:solidFill>
                  <a:srgbClr val="006600"/>
                </a:solidFill>
              </a:rPr>
              <a:t> ("%d",&amp;</a:t>
            </a:r>
            <a:r>
              <a:rPr lang="en-US" altLang="zh-CN" sz="1800" b="1" dirty="0" err="1">
                <a:solidFill>
                  <a:srgbClr val="006600"/>
                </a:solidFill>
              </a:rPr>
              <a:t>i</a:t>
            </a:r>
            <a:r>
              <a:rPr lang="en-US" altLang="zh-CN" sz="1800" b="1" dirty="0">
                <a:solidFill>
                  <a:srgbClr val="006600"/>
                </a:solidFill>
              </a:rPr>
              <a:t>);    //</a:t>
            </a:r>
            <a:r>
              <a:rPr lang="zh-CN" altLang="en-US" sz="1800" b="1" dirty="0">
                <a:solidFill>
                  <a:srgbClr val="006600"/>
                </a:solidFill>
              </a:rPr>
              <a:t>输入整数</a:t>
            </a:r>
            <a:r>
              <a:rPr lang="en-US" altLang="zh-CN" sz="1800" b="1" dirty="0" err="1">
                <a:solidFill>
                  <a:srgbClr val="006600"/>
                </a:solidFill>
              </a:rPr>
              <a:t>i</a:t>
            </a:r>
            <a:endParaRPr lang="en-US" altLang="zh-CN" sz="1800" b="1" dirty="0">
              <a:solidFill>
                <a:srgbClr val="006600"/>
              </a:solidFill>
            </a:endParaRP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b="1" dirty="0">
                <a:solidFill>
                  <a:srgbClr val="C00000"/>
                </a:solidFill>
              </a:rPr>
              <a:t>    </a:t>
            </a:r>
            <a:r>
              <a:rPr lang="en-US" altLang="zh-CN" sz="1800" b="1" dirty="0" err="1">
                <a:solidFill>
                  <a:srgbClr val="C00000"/>
                </a:solidFill>
              </a:rPr>
              <a:t>itoa</a:t>
            </a:r>
            <a:r>
              <a:rPr lang="en-US" altLang="zh-CN" sz="1800" b="1" dirty="0">
                <a:solidFill>
                  <a:srgbClr val="C00000"/>
                </a:solidFill>
              </a:rPr>
              <a:t> </a:t>
            </a:r>
            <a:r>
              <a:rPr lang="en-US" altLang="zh-CN" sz="1800" b="1" dirty="0" smtClean="0">
                <a:solidFill>
                  <a:srgbClr val="C00000"/>
                </a:solidFill>
              </a:rPr>
              <a:t>(i,buffer,</a:t>
            </a:r>
            <a:r>
              <a:rPr lang="en-US" altLang="zh-CN" sz="1800" b="1" dirty="0" smtClean="0">
                <a:solidFill>
                  <a:srgbClr val="0303DF"/>
                </a:solidFill>
              </a:rPr>
              <a:t>10</a:t>
            </a:r>
            <a:r>
              <a:rPr lang="en-US" altLang="zh-CN" sz="1800" b="1" dirty="0" smtClean="0">
                <a:solidFill>
                  <a:srgbClr val="C00000"/>
                </a:solidFill>
              </a:rPr>
              <a:t>); </a:t>
            </a:r>
            <a:r>
              <a:rPr lang="en-US" altLang="zh-CN" sz="1800" dirty="0" smtClean="0">
                <a:solidFill>
                  <a:srgbClr val="030DCD"/>
                </a:solidFill>
              </a:rPr>
              <a:t>   </a:t>
            </a:r>
            <a:r>
              <a:rPr lang="en-US" altLang="zh-CN" sz="1600" dirty="0" smtClean="0"/>
              <a:t>//</a:t>
            </a:r>
            <a:r>
              <a:rPr lang="zh-CN" altLang="en-US" sz="1600" dirty="0"/>
              <a:t>将</a:t>
            </a:r>
            <a:r>
              <a:rPr lang="en-US" altLang="zh-CN" sz="1600" dirty="0" err="1"/>
              <a:t>i</a:t>
            </a:r>
            <a:r>
              <a:rPr lang="zh-CN" altLang="en-US" sz="1600" dirty="0"/>
              <a:t>转化为</a:t>
            </a:r>
            <a:r>
              <a:rPr lang="en-US" altLang="zh-CN" sz="1600" dirty="0"/>
              <a:t>10</a:t>
            </a:r>
            <a:r>
              <a:rPr lang="zh-CN" altLang="en-US" sz="1600" dirty="0"/>
              <a:t>进制数，存到</a:t>
            </a:r>
            <a:r>
              <a:rPr lang="en-US" altLang="zh-CN" sz="1600" dirty="0"/>
              <a:t>buffer</a:t>
            </a:r>
            <a:r>
              <a:rPr lang="zh-CN" altLang="en-US" sz="1600" dirty="0"/>
              <a:t>中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zh-CN" altLang="en-US" sz="1800" dirty="0"/>
              <a:t>    </a:t>
            </a:r>
            <a:r>
              <a:rPr lang="en-US" altLang="zh-CN" sz="1800" dirty="0" err="1"/>
              <a:t>printf</a:t>
            </a:r>
            <a:r>
              <a:rPr lang="en-US" altLang="zh-CN" sz="1800" dirty="0"/>
              <a:t> ("decimal: </a:t>
            </a:r>
            <a:r>
              <a:rPr lang="en-US" altLang="zh-CN" sz="1800" dirty="0" smtClean="0"/>
              <a:t>%</a:t>
            </a:r>
            <a:r>
              <a:rPr lang="en-US" altLang="zh-CN" sz="1800" dirty="0"/>
              <a:t>s\</a:t>
            </a:r>
            <a:r>
              <a:rPr lang="en-US" altLang="zh-CN" sz="1800" dirty="0" err="1"/>
              <a:t>n",buffer</a:t>
            </a:r>
            <a:r>
              <a:rPr lang="en-US" altLang="zh-CN" sz="1800" dirty="0"/>
              <a:t>);    </a:t>
            </a:r>
            <a:endParaRPr lang="en-US" altLang="zh-CN" sz="1600" dirty="0"/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>
                <a:solidFill>
                  <a:srgbClr val="030DCD"/>
                </a:solidFill>
              </a:rPr>
              <a:t>    </a:t>
            </a:r>
            <a:r>
              <a:rPr lang="en-US" altLang="zh-CN" sz="1800" b="1" dirty="0" err="1">
                <a:solidFill>
                  <a:srgbClr val="C00000"/>
                </a:solidFill>
              </a:rPr>
              <a:t>itoa</a:t>
            </a:r>
            <a:r>
              <a:rPr lang="en-US" altLang="zh-CN" sz="1800" b="1" dirty="0">
                <a:solidFill>
                  <a:srgbClr val="C00000"/>
                </a:solidFill>
              </a:rPr>
              <a:t> (i,buffer,</a:t>
            </a:r>
            <a:r>
              <a:rPr lang="en-US" altLang="zh-CN" sz="1800" b="1" dirty="0">
                <a:solidFill>
                  <a:srgbClr val="0303DF"/>
                </a:solidFill>
              </a:rPr>
              <a:t>16</a:t>
            </a:r>
            <a:r>
              <a:rPr lang="en-US" altLang="zh-CN" sz="1800" b="1" dirty="0">
                <a:solidFill>
                  <a:srgbClr val="C00000"/>
                </a:solidFill>
              </a:rPr>
              <a:t>);    </a:t>
            </a:r>
            <a:r>
              <a:rPr lang="en-US" altLang="zh-CN" sz="1600" dirty="0"/>
              <a:t>//</a:t>
            </a:r>
            <a:r>
              <a:rPr lang="zh-CN" altLang="en-US" sz="1600" dirty="0"/>
              <a:t>将</a:t>
            </a:r>
            <a:r>
              <a:rPr lang="en-US" altLang="zh-CN" sz="1600" dirty="0" err="1"/>
              <a:t>i</a:t>
            </a:r>
            <a:r>
              <a:rPr lang="zh-CN" altLang="en-US" sz="1600" dirty="0"/>
              <a:t>转化为</a:t>
            </a:r>
            <a:r>
              <a:rPr lang="en-US" altLang="zh-CN" sz="1600" dirty="0"/>
              <a:t>16</a:t>
            </a:r>
            <a:r>
              <a:rPr lang="zh-CN" altLang="en-US" sz="1600" dirty="0"/>
              <a:t>进制数，存到</a:t>
            </a:r>
            <a:r>
              <a:rPr lang="en-US" altLang="zh-CN" sz="1600" dirty="0"/>
              <a:t>buffer</a:t>
            </a:r>
            <a:r>
              <a:rPr lang="zh-CN" altLang="en-US" sz="1600" dirty="0"/>
              <a:t>中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zh-CN" altLang="en-US" sz="1800" dirty="0"/>
              <a:t>    </a:t>
            </a:r>
            <a:r>
              <a:rPr lang="en-US" altLang="zh-CN" sz="1800" dirty="0" err="1"/>
              <a:t>printf</a:t>
            </a:r>
            <a:r>
              <a:rPr lang="en-US" altLang="zh-CN" sz="1800" dirty="0"/>
              <a:t> ("hexadecimal: %s\</a:t>
            </a:r>
            <a:r>
              <a:rPr lang="en-US" altLang="zh-CN" sz="1800" dirty="0" err="1"/>
              <a:t>n",buffer</a:t>
            </a:r>
            <a:r>
              <a:rPr lang="en-US" altLang="zh-CN" sz="1800" dirty="0"/>
              <a:t>);    </a:t>
            </a:r>
            <a:endParaRPr lang="en-US" altLang="zh-CN" sz="1600" dirty="0"/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>
                <a:solidFill>
                  <a:srgbClr val="030DCD"/>
                </a:solidFill>
              </a:rPr>
              <a:t>    </a:t>
            </a:r>
            <a:r>
              <a:rPr lang="en-US" altLang="zh-CN" sz="1800" b="1" dirty="0" err="1">
                <a:solidFill>
                  <a:srgbClr val="C00000"/>
                </a:solidFill>
              </a:rPr>
              <a:t>itoa</a:t>
            </a:r>
            <a:r>
              <a:rPr lang="en-US" altLang="zh-CN" sz="1800" b="1" dirty="0">
                <a:solidFill>
                  <a:srgbClr val="C00000"/>
                </a:solidFill>
              </a:rPr>
              <a:t> (i,buffer,</a:t>
            </a:r>
            <a:r>
              <a:rPr lang="en-US" altLang="zh-CN" sz="1800" b="1" dirty="0">
                <a:solidFill>
                  <a:srgbClr val="0303DF"/>
                </a:solidFill>
              </a:rPr>
              <a:t>2</a:t>
            </a:r>
            <a:r>
              <a:rPr lang="en-US" altLang="zh-CN" sz="1800" b="1" dirty="0">
                <a:solidFill>
                  <a:srgbClr val="C00000"/>
                </a:solidFill>
              </a:rPr>
              <a:t>);</a:t>
            </a:r>
            <a:r>
              <a:rPr lang="en-US" altLang="zh-CN" sz="1800" dirty="0">
                <a:solidFill>
                  <a:srgbClr val="030DCD"/>
                </a:solidFill>
              </a:rPr>
              <a:t>    </a:t>
            </a:r>
            <a:r>
              <a:rPr lang="en-US" altLang="zh-CN" sz="1800" dirty="0"/>
              <a:t>//</a:t>
            </a:r>
            <a:r>
              <a:rPr lang="zh-CN" altLang="en-US" sz="1800" dirty="0"/>
              <a:t>将</a:t>
            </a:r>
            <a:r>
              <a:rPr lang="en-US" altLang="zh-CN" sz="1800" dirty="0" err="1"/>
              <a:t>i</a:t>
            </a:r>
            <a:r>
              <a:rPr lang="zh-CN" altLang="en-US" sz="1800" dirty="0"/>
              <a:t>转化为</a:t>
            </a:r>
            <a:r>
              <a:rPr lang="en-US" altLang="zh-CN" sz="1800" dirty="0"/>
              <a:t>2</a:t>
            </a:r>
            <a:r>
              <a:rPr lang="zh-CN" altLang="en-US" sz="1800" dirty="0"/>
              <a:t>进制数，存到</a:t>
            </a:r>
            <a:r>
              <a:rPr lang="en-US" altLang="zh-CN" sz="1800" dirty="0"/>
              <a:t>buffer</a:t>
            </a:r>
            <a:r>
              <a:rPr lang="zh-CN" altLang="en-US" sz="1800" dirty="0"/>
              <a:t>中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zh-CN" altLang="en-US" sz="1800" dirty="0"/>
              <a:t>    </a:t>
            </a:r>
            <a:r>
              <a:rPr lang="en-US" altLang="zh-CN" sz="1800" dirty="0" err="1"/>
              <a:t>printf</a:t>
            </a:r>
            <a:r>
              <a:rPr lang="en-US" altLang="zh-CN" sz="1800" dirty="0"/>
              <a:t> ("binary: %s\</a:t>
            </a:r>
            <a:r>
              <a:rPr lang="en-US" altLang="zh-CN" sz="1800" dirty="0" err="1"/>
              <a:t>n",buffer</a:t>
            </a:r>
            <a:r>
              <a:rPr lang="en-US" altLang="zh-CN" sz="1800" dirty="0"/>
              <a:t>);    //</a:t>
            </a:r>
            <a:r>
              <a:rPr lang="zh-CN" altLang="en-US" sz="1800" dirty="0"/>
              <a:t>输出打印</a:t>
            </a:r>
            <a:r>
              <a:rPr lang="en-US" altLang="zh-CN" sz="1800" dirty="0"/>
              <a:t>buffer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    return 0;}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6450158" y="1135063"/>
            <a:ext cx="2506806" cy="53451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1" indent="0">
              <a:buFont typeface="Wingdings" panose="05000000000000000000" pitchFamily="2" charset="2"/>
              <a:buNone/>
            </a:pPr>
            <a:r>
              <a:rPr lang="en-US" altLang="zh-CN" sz="1800" dirty="0"/>
              <a:t>OUTPUT:</a:t>
            </a:r>
          </a:p>
          <a:p>
            <a:pPr marL="285750" lvl="1" indent="0">
              <a:buFont typeface="Wingdings" panose="05000000000000000000" pitchFamily="2" charset="2"/>
              <a:buNone/>
            </a:pPr>
            <a:r>
              <a:rPr lang="en-US" altLang="zh-CN" sz="1800" dirty="0"/>
              <a:t>Enter a number: 1750</a:t>
            </a:r>
          </a:p>
          <a:p>
            <a:pPr marL="285750" lvl="1" indent="0">
              <a:buFont typeface="Wingdings" panose="05000000000000000000" pitchFamily="2" charset="2"/>
              <a:buNone/>
            </a:pPr>
            <a:r>
              <a:rPr lang="en-US" altLang="zh-CN" sz="1800" dirty="0"/>
              <a:t>decimal: 1750</a:t>
            </a:r>
          </a:p>
          <a:p>
            <a:pPr marL="285750" lvl="1" indent="0">
              <a:buFont typeface="Wingdings" panose="05000000000000000000" pitchFamily="2" charset="2"/>
              <a:buNone/>
            </a:pPr>
            <a:r>
              <a:rPr lang="en-US" altLang="zh-CN" sz="1800" dirty="0"/>
              <a:t>hexadecimal: 6d6</a:t>
            </a:r>
          </a:p>
          <a:p>
            <a:pPr marL="285750" lvl="1" indent="0">
              <a:buFont typeface="Wingdings" panose="05000000000000000000" pitchFamily="2" charset="2"/>
              <a:buNone/>
            </a:pPr>
            <a:r>
              <a:rPr lang="en-US" altLang="zh-CN" sz="1800" dirty="0"/>
              <a:t>binary: 11011010110</a:t>
            </a: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742268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7030A0"/>
                </a:solidFill>
              </a:rPr>
              <a:t>课后练习： </a:t>
            </a:r>
            <a:r>
              <a:rPr lang="en-US" altLang="zh-CN" i="1" dirty="0" smtClean="0"/>
              <a:t>double </a:t>
            </a:r>
            <a:r>
              <a:rPr lang="en-US" altLang="zh-CN" i="1" dirty="0" err="1"/>
              <a:t>atof</a:t>
            </a:r>
            <a:r>
              <a:rPr lang="en-US" altLang="zh-CN" i="1" dirty="0"/>
              <a:t>(char *</a:t>
            </a:r>
            <a:r>
              <a:rPr lang="en-US" altLang="zh-CN" i="1" dirty="0" err="1"/>
              <a:t>nptr</a:t>
            </a:r>
            <a:r>
              <a:rPr lang="en-US" altLang="zh-CN" i="1" dirty="0"/>
              <a:t>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lvl="1" indent="0">
              <a:buNone/>
            </a:pPr>
            <a:r>
              <a:rPr lang="en-US" altLang="zh-CN" dirty="0"/>
              <a:t>#include&lt;</a:t>
            </a:r>
            <a:r>
              <a:rPr lang="en-US" altLang="zh-CN" dirty="0" err="1"/>
              <a:t>stdlib.h</a:t>
            </a:r>
            <a:r>
              <a:rPr lang="en-US" altLang="zh-CN" dirty="0"/>
              <a:t>&gt;</a:t>
            </a:r>
          </a:p>
          <a:p>
            <a:pPr marL="285750" lvl="1" indent="0">
              <a:buNone/>
            </a:pPr>
            <a:r>
              <a:rPr lang="en-US" altLang="zh-CN" dirty="0" err="1"/>
              <a:t>int</a:t>
            </a:r>
            <a:r>
              <a:rPr lang="en-US" altLang="zh-CN" dirty="0"/>
              <a:t> main()</a:t>
            </a:r>
          </a:p>
          <a:p>
            <a:pPr marL="285750" lvl="1" indent="0">
              <a:buNone/>
            </a:pPr>
            <a:r>
              <a:rPr lang="en-US" altLang="zh-CN" dirty="0"/>
              <a:t>{</a:t>
            </a:r>
          </a:p>
          <a:p>
            <a:pPr marL="514350" lvl="2" indent="0">
              <a:buNone/>
            </a:pPr>
            <a:r>
              <a:rPr lang="en-US" altLang="zh-CN" dirty="0">
                <a:solidFill>
                  <a:srgbClr val="030DCD"/>
                </a:solidFill>
              </a:rPr>
              <a:t>char *a="-100.23";</a:t>
            </a:r>
          </a:p>
          <a:p>
            <a:pPr marL="514350" lvl="2" indent="0">
              <a:buNone/>
            </a:pPr>
            <a:r>
              <a:rPr lang="en-US" altLang="zh-CN" dirty="0">
                <a:solidFill>
                  <a:srgbClr val="030DCD"/>
                </a:solidFill>
              </a:rPr>
              <a:t>char *b="200e-2";</a:t>
            </a:r>
          </a:p>
          <a:p>
            <a:pPr marL="514350" lvl="2" indent="0">
              <a:buNone/>
            </a:pPr>
            <a:r>
              <a:rPr lang="en-US" altLang="zh-CN" dirty="0"/>
              <a:t>double c;</a:t>
            </a:r>
          </a:p>
          <a:p>
            <a:pPr marL="514350" lvl="2" indent="0">
              <a:buNone/>
            </a:pPr>
            <a:r>
              <a:rPr lang="en-US" altLang="zh-CN" b="1" dirty="0">
                <a:solidFill>
                  <a:srgbClr val="C00000"/>
                </a:solidFill>
              </a:rPr>
              <a:t>c=</a:t>
            </a:r>
            <a:r>
              <a:rPr lang="en-US" altLang="zh-CN" b="1" dirty="0" err="1">
                <a:solidFill>
                  <a:srgbClr val="C00000"/>
                </a:solidFill>
              </a:rPr>
              <a:t>atof</a:t>
            </a:r>
            <a:r>
              <a:rPr lang="en-US" altLang="zh-CN" b="1" dirty="0">
                <a:solidFill>
                  <a:srgbClr val="C00000"/>
                </a:solidFill>
              </a:rPr>
              <a:t>(a)+</a:t>
            </a:r>
            <a:r>
              <a:rPr lang="en-US" altLang="zh-CN" b="1" dirty="0" err="1">
                <a:solidFill>
                  <a:srgbClr val="C00000"/>
                </a:solidFill>
              </a:rPr>
              <a:t>atof</a:t>
            </a:r>
            <a:r>
              <a:rPr lang="en-US" altLang="zh-CN" b="1" dirty="0">
                <a:solidFill>
                  <a:srgbClr val="C00000"/>
                </a:solidFill>
              </a:rPr>
              <a:t>(b);</a:t>
            </a:r>
          </a:p>
          <a:p>
            <a:pPr marL="514350" lvl="2" indent="0">
              <a:buNone/>
            </a:pPr>
            <a:r>
              <a:rPr lang="en-US" altLang="zh-CN" dirty="0" err="1"/>
              <a:t>printf</a:t>
            </a:r>
            <a:r>
              <a:rPr lang="en-US" altLang="zh-CN" dirty="0"/>
              <a:t>(“c=%.2lf\</a:t>
            </a:r>
            <a:r>
              <a:rPr lang="en-US" altLang="zh-CN" dirty="0" err="1"/>
              <a:t>n”,c</a:t>
            </a:r>
            <a:r>
              <a:rPr lang="en-US" altLang="zh-CN" dirty="0"/>
              <a:t>);</a:t>
            </a:r>
          </a:p>
          <a:p>
            <a:pPr marL="514350" lvl="2" indent="0">
              <a:buNone/>
            </a:pPr>
            <a:r>
              <a:rPr lang="en-US" altLang="zh-CN" dirty="0"/>
              <a:t>return 0;</a:t>
            </a:r>
          </a:p>
          <a:p>
            <a:pPr marL="285750" lvl="1" indent="0">
              <a:buNone/>
            </a:pPr>
            <a:r>
              <a:rPr lang="en-US" altLang="zh-CN" dirty="0"/>
              <a:t>}</a:t>
            </a:r>
          </a:p>
          <a:p>
            <a:pPr marL="285750" lvl="1" indent="0">
              <a:buNone/>
            </a:pPr>
            <a:endParaRPr lang="en-US" altLang="zh-CN" dirty="0"/>
          </a:p>
          <a:p>
            <a:pPr marL="285750" lvl="1" indent="0">
              <a:buNone/>
            </a:pPr>
            <a:r>
              <a:rPr lang="zh-CN" altLang="en-US" dirty="0"/>
              <a:t>执行结果 </a:t>
            </a:r>
            <a:r>
              <a:rPr lang="en-US" altLang="zh-CN" dirty="0"/>
              <a:t>c= -98.23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80777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7030A0"/>
                </a:solidFill>
              </a:rPr>
              <a:t>课后练习： </a:t>
            </a:r>
            <a:r>
              <a:rPr lang="en-US" altLang="zh-CN" i="1" dirty="0" smtClean="0"/>
              <a:t>double </a:t>
            </a:r>
            <a:r>
              <a:rPr lang="en-US" altLang="zh-CN" i="1" dirty="0"/>
              <a:t>strtod(char *</a:t>
            </a:r>
            <a:r>
              <a:rPr lang="en-US" altLang="zh-CN" i="1" dirty="0" err="1"/>
              <a:t>str,char</a:t>
            </a:r>
            <a:r>
              <a:rPr lang="en-US" altLang="zh-CN" i="1" dirty="0"/>
              <a:t> **</a:t>
            </a:r>
            <a:r>
              <a:rPr lang="en-US" altLang="zh-CN" i="1" dirty="0" err="1"/>
              <a:t>endptr</a:t>
            </a:r>
            <a:r>
              <a:rPr lang="en-US" altLang="zh-CN" i="1" dirty="0"/>
              <a:t>)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4688898" cy="5345112"/>
          </a:xfrm>
          <a:ln>
            <a:solidFill>
              <a:srgbClr val="000000"/>
            </a:solidFill>
          </a:ln>
        </p:spPr>
        <p:txBody>
          <a:bodyPr/>
          <a:lstStyle/>
          <a:p>
            <a:pPr marL="28575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dirty="0"/>
              <a:t>#include&lt;</a:t>
            </a:r>
            <a:r>
              <a:rPr lang="en-US" altLang="zh-CN" dirty="0" err="1"/>
              <a:t>stdlib.h</a:t>
            </a:r>
            <a:r>
              <a:rPr lang="en-US" altLang="zh-CN" dirty="0"/>
              <a:t>&gt;</a:t>
            </a:r>
          </a:p>
          <a:p>
            <a:pPr marL="28575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dirty="0"/>
              <a:t>#include&lt;</a:t>
            </a:r>
            <a:r>
              <a:rPr lang="en-US" altLang="zh-CN" dirty="0" err="1"/>
              <a:t>stdio.h</a:t>
            </a:r>
            <a:r>
              <a:rPr lang="en-US" altLang="zh-CN" dirty="0"/>
              <a:t>&gt;</a:t>
            </a:r>
          </a:p>
          <a:p>
            <a:pPr marL="28575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dirty="0"/>
              <a:t>void main()</a:t>
            </a:r>
          </a:p>
          <a:p>
            <a:pPr marL="28575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dirty="0"/>
              <a:t>{</a:t>
            </a:r>
          </a:p>
          <a:p>
            <a:pPr marL="28575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dirty="0"/>
              <a:t>    char *</a:t>
            </a:r>
            <a:r>
              <a:rPr lang="en-US" altLang="zh-CN" dirty="0" err="1"/>
              <a:t>endptr</a:t>
            </a:r>
            <a:r>
              <a:rPr lang="en-US" altLang="zh-CN" dirty="0"/>
              <a:t>;</a:t>
            </a:r>
          </a:p>
          <a:p>
            <a:pPr marL="28575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rgbClr val="030DCD"/>
                </a:solidFill>
              </a:rPr>
              <a:t>    char a[] = "12345.6789";</a:t>
            </a:r>
          </a:p>
          <a:p>
            <a:pPr marL="28575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rgbClr val="030DCD"/>
                </a:solidFill>
              </a:rPr>
              <a:t>    char b[] = "1234.567</a:t>
            </a:r>
            <a:r>
              <a:rPr lang="en-US" altLang="zh-CN" dirty="0">
                <a:solidFill>
                  <a:srgbClr val="C00000"/>
                </a:solidFill>
              </a:rPr>
              <a:t>qwer</a:t>
            </a:r>
            <a:r>
              <a:rPr lang="en-US" altLang="zh-CN" dirty="0">
                <a:solidFill>
                  <a:srgbClr val="030DCD"/>
                </a:solidFill>
              </a:rPr>
              <a:t>";</a:t>
            </a:r>
          </a:p>
          <a:p>
            <a:pPr marL="28575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rgbClr val="030DCD"/>
                </a:solidFill>
              </a:rPr>
              <a:t>    char c[] = "-232.23e4";</a:t>
            </a:r>
          </a:p>
          <a:p>
            <a:pPr marL="28575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printf</a:t>
            </a:r>
            <a:r>
              <a:rPr lang="en-US" altLang="zh-CN" dirty="0"/>
              <a:t>( "a=%lf\n", strtod(</a:t>
            </a:r>
            <a:r>
              <a:rPr lang="en-US" altLang="zh-CN" dirty="0" err="1"/>
              <a:t>a,NULL</a:t>
            </a:r>
            <a:r>
              <a:rPr lang="en-US" altLang="zh-CN" dirty="0"/>
              <a:t>) );</a:t>
            </a:r>
          </a:p>
          <a:p>
            <a:pPr marL="28575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printf</a:t>
            </a:r>
            <a:r>
              <a:rPr lang="en-US" altLang="zh-CN" dirty="0"/>
              <a:t>( "b=%lf\n", strtod(b,&amp;</a:t>
            </a:r>
            <a:r>
              <a:rPr lang="en-US" altLang="zh-CN" dirty="0" err="1"/>
              <a:t>endptr</a:t>
            </a:r>
            <a:r>
              <a:rPr lang="en-US" altLang="zh-CN" dirty="0"/>
              <a:t>) );</a:t>
            </a:r>
          </a:p>
          <a:p>
            <a:pPr marL="28575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printf</a:t>
            </a:r>
            <a:r>
              <a:rPr lang="en-US" altLang="zh-CN" dirty="0"/>
              <a:t>( "</a:t>
            </a:r>
            <a:r>
              <a:rPr lang="en-US" altLang="zh-CN" dirty="0" err="1"/>
              <a:t>endptr</a:t>
            </a:r>
            <a:r>
              <a:rPr lang="en-US" altLang="zh-CN" dirty="0"/>
              <a:t>=%s\n", </a:t>
            </a:r>
            <a:r>
              <a:rPr lang="en-US" altLang="zh-CN" dirty="0" err="1"/>
              <a:t>endptr</a:t>
            </a:r>
            <a:r>
              <a:rPr lang="en-US" altLang="zh-CN" dirty="0"/>
              <a:t> );</a:t>
            </a:r>
          </a:p>
          <a:p>
            <a:pPr marL="28575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printf</a:t>
            </a:r>
            <a:r>
              <a:rPr lang="en-US" altLang="zh-CN" dirty="0"/>
              <a:t>( "c=%lf\n", strtod(</a:t>
            </a:r>
            <a:r>
              <a:rPr lang="en-US" altLang="zh-CN" dirty="0" err="1"/>
              <a:t>c,NULL</a:t>
            </a:r>
            <a:r>
              <a:rPr lang="en-US" altLang="zh-CN" dirty="0"/>
              <a:t>) );</a:t>
            </a:r>
          </a:p>
          <a:p>
            <a:pPr marL="28575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5" name="内容占位符 2"/>
          <p:cNvSpPr txBox="1">
            <a:spLocks/>
          </p:cNvSpPr>
          <p:nvPr/>
        </p:nvSpPr>
        <p:spPr bwMode="auto">
          <a:xfrm>
            <a:off x="5275984" y="1135063"/>
            <a:ext cx="3109480" cy="53451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dirty="0"/>
              <a:t>运行结果</a:t>
            </a:r>
            <a:endParaRPr lang="en-US" altLang="zh-CN" dirty="0"/>
          </a:p>
          <a:p>
            <a:pPr marL="285750" lvl="1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dirty="0"/>
              <a:t>a=12345.678900</a:t>
            </a:r>
          </a:p>
          <a:p>
            <a:pPr marL="285750" lvl="1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dirty="0"/>
              <a:t>b=1234.567000</a:t>
            </a:r>
          </a:p>
          <a:p>
            <a:pPr marL="285750" lvl="1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dirty="0" err="1"/>
              <a:t>endptr</a:t>
            </a:r>
            <a:r>
              <a:rPr lang="en-US" altLang="zh-CN" dirty="0"/>
              <a:t>=</a:t>
            </a:r>
            <a:r>
              <a:rPr lang="en-US" altLang="zh-CN" dirty="0" err="1">
                <a:solidFill>
                  <a:srgbClr val="C00000"/>
                </a:solidFill>
              </a:rPr>
              <a:t>qwer</a:t>
            </a:r>
            <a:endParaRPr lang="en-US" altLang="zh-CN" dirty="0">
              <a:solidFill>
                <a:srgbClr val="C00000"/>
              </a:solidFill>
            </a:endParaRPr>
          </a:p>
          <a:p>
            <a:pPr marL="285750" lvl="1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dirty="0"/>
              <a:t>c=-2322300.000000</a:t>
            </a:r>
          </a:p>
          <a:p>
            <a:pPr marL="285750" lvl="1" indent="0">
              <a:lnSpc>
                <a:spcPct val="100000"/>
              </a:lnSpc>
              <a:spcBef>
                <a:spcPts val="600"/>
              </a:spcBef>
              <a:buNone/>
            </a:pPr>
            <a:endParaRPr lang="en-US" altLang="zh-CN" dirty="0"/>
          </a:p>
          <a:p>
            <a:pPr marL="285750" lvl="1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dirty="0"/>
              <a:t>//</a:t>
            </a:r>
            <a:r>
              <a:rPr lang="zh-CN" altLang="en-US" dirty="0"/>
              <a:t>将可转换的内容进行转换；</a:t>
            </a:r>
          </a:p>
        </p:txBody>
      </p:sp>
    </p:spTree>
    <p:extLst>
      <p:ext uri="{BB962C8B-B14F-4D97-AF65-F5344CB8AC3E}">
        <p14:creationId xmlns:p14="http://schemas.microsoft.com/office/powerpoint/2010/main" val="3406574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3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405855" y="1106776"/>
            <a:ext cx="7772400" cy="5273242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输入三个字符串，并找出其中最大者。</a:t>
            </a:r>
          </a:p>
          <a:p>
            <a:pPr marL="971550" lvl="1"/>
            <a:r>
              <a:rPr lang="zh-CN" altLang="en-US" dirty="0"/>
              <a:t>分析：用</a:t>
            </a:r>
            <a:r>
              <a:rPr lang="en-US" altLang="zh-CN" dirty="0" err="1">
                <a:solidFill>
                  <a:srgbClr val="FF3300"/>
                </a:solidFill>
              </a:rPr>
              <a:t>strcmp</a:t>
            </a:r>
            <a:r>
              <a:rPr lang="en-US" altLang="zh-CN" dirty="0">
                <a:solidFill>
                  <a:srgbClr val="FF3300"/>
                </a:solidFill>
              </a:rPr>
              <a:t>()</a:t>
            </a:r>
            <a:r>
              <a:rPr lang="zh-CN" altLang="en-US" dirty="0">
                <a:solidFill>
                  <a:srgbClr val="FF3300"/>
                </a:solidFill>
              </a:rPr>
              <a:t>函数</a:t>
            </a:r>
            <a:r>
              <a:rPr lang="zh-CN" altLang="en-US" dirty="0"/>
              <a:t>比较字符串的大小。</a:t>
            </a:r>
            <a:endParaRPr lang="en-US" altLang="zh-CN" dirty="0"/>
          </a:p>
          <a:p>
            <a:pPr marL="971550" lvl="1"/>
            <a:r>
              <a:rPr lang="zh-CN" altLang="en-US" dirty="0"/>
              <a:t>首先比较前两个，把</a:t>
            </a:r>
            <a:r>
              <a:rPr lang="zh-CN" altLang="en-US" dirty="0">
                <a:solidFill>
                  <a:srgbClr val="FF3300"/>
                </a:solidFill>
              </a:rPr>
              <a:t>较大者拷贝给字符数组变量</a:t>
            </a:r>
            <a:r>
              <a:rPr lang="en-US" altLang="zh-CN" dirty="0">
                <a:solidFill>
                  <a:srgbClr val="FF3300"/>
                </a:solidFill>
              </a:rPr>
              <a:t>string（</a:t>
            </a:r>
            <a:r>
              <a:rPr lang="zh-CN" altLang="en-US" dirty="0"/>
              <a:t>用</a:t>
            </a:r>
            <a:r>
              <a:rPr lang="en-US" altLang="zh-CN" dirty="0" err="1"/>
              <a:t>strcpy</a:t>
            </a:r>
            <a:r>
              <a:rPr lang="en-US" altLang="zh-CN" dirty="0"/>
              <a:t>()</a:t>
            </a:r>
            <a:r>
              <a:rPr lang="zh-CN" altLang="en-US" dirty="0"/>
              <a:t>函数拷贝），再比较</a:t>
            </a:r>
            <a:r>
              <a:rPr lang="en-US" altLang="zh-CN" dirty="0"/>
              <a:t>string</a:t>
            </a:r>
            <a:r>
              <a:rPr lang="zh-CN" altLang="en-US" dirty="0"/>
              <a:t>和第三个字符串。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编程实现：</a:t>
            </a:r>
            <a:r>
              <a:rPr lang="zh-CN" altLang="en-US" dirty="0" smtClean="0"/>
              <a:t>输入整数</a:t>
            </a:r>
            <a:r>
              <a:rPr lang="en-US" altLang="zh-CN" dirty="0" smtClean="0"/>
              <a:t>12345678</a:t>
            </a:r>
            <a:r>
              <a:rPr lang="zh-CN" altLang="en-US" dirty="0"/>
              <a:t>，输出：</a:t>
            </a:r>
            <a:r>
              <a:rPr lang="en-US" altLang="zh-CN" dirty="0"/>
              <a:t>12,345,678;</a:t>
            </a:r>
          </a:p>
        </p:txBody>
      </p:sp>
      <p:sp>
        <p:nvSpPr>
          <p:cNvPr id="3" name="矩形 2"/>
          <p:cNvSpPr/>
          <p:nvPr/>
        </p:nvSpPr>
        <p:spPr>
          <a:xfrm>
            <a:off x="405855" y="292018"/>
            <a:ext cx="723146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7030A0"/>
                </a:solidFill>
                <a:latin typeface="+mj-lt"/>
                <a:ea typeface="+mj-ea"/>
                <a:cs typeface="+mj-cs"/>
              </a:rPr>
              <a:t>自学与练习：</a:t>
            </a:r>
          </a:p>
        </p:txBody>
      </p:sp>
    </p:spTree>
    <p:extLst>
      <p:ext uri="{BB962C8B-B14F-4D97-AF65-F5344CB8AC3E}">
        <p14:creationId xmlns:p14="http://schemas.microsoft.com/office/powerpoint/2010/main" val="651134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402359" y="1091046"/>
            <a:ext cx="8274050" cy="5193002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将一个不含</a:t>
            </a:r>
            <a:r>
              <a:rPr lang="zh-CN" altLang="en-US" sz="2000" dirty="0">
                <a:solidFill>
                  <a:srgbClr val="FF0000"/>
                </a:solidFill>
              </a:rPr>
              <a:t>‘</a:t>
            </a:r>
            <a:r>
              <a:rPr lang="en-US" altLang="zh-CN" sz="2000" dirty="0">
                <a:solidFill>
                  <a:srgbClr val="FF0000"/>
                </a:solidFill>
              </a:rPr>
              <a:t>\0</a:t>
            </a:r>
            <a:r>
              <a:rPr lang="zh-CN" altLang="en-US" sz="2000" dirty="0">
                <a:solidFill>
                  <a:srgbClr val="FF0000"/>
                </a:solidFill>
              </a:rPr>
              <a:t>’</a:t>
            </a:r>
            <a:r>
              <a:rPr lang="zh-CN" altLang="en-US" sz="2000" dirty="0"/>
              <a:t>的</a:t>
            </a:r>
            <a:r>
              <a:rPr lang="zh-CN" altLang="en-US" sz="2000" dirty="0">
                <a:solidFill>
                  <a:srgbClr val="030DCD"/>
                </a:solidFill>
              </a:rPr>
              <a:t>字符数组</a:t>
            </a:r>
            <a:r>
              <a:rPr lang="zh-CN" altLang="en-US" sz="2000" dirty="0"/>
              <a:t>作为</a:t>
            </a:r>
            <a:r>
              <a:rPr lang="zh-CN" altLang="en-US" sz="2000" dirty="0">
                <a:solidFill>
                  <a:srgbClr val="030DCD"/>
                </a:solidFill>
              </a:rPr>
              <a:t>字符串整体</a:t>
            </a:r>
            <a:r>
              <a:rPr lang="zh-CN" altLang="en-US" sz="2000" dirty="0"/>
              <a:t>输出，</a:t>
            </a:r>
            <a:r>
              <a:rPr lang="zh-CN" altLang="en-US" sz="2000" dirty="0">
                <a:solidFill>
                  <a:srgbClr val="030DCD"/>
                </a:solidFill>
              </a:rPr>
              <a:t>可能</a:t>
            </a:r>
            <a:r>
              <a:rPr lang="zh-CN" altLang="en-US" sz="2000" dirty="0"/>
              <a:t>得不到预期的结果</a:t>
            </a:r>
            <a:r>
              <a:rPr lang="zh-CN" altLang="en-US" sz="2000" dirty="0" smtClean="0"/>
              <a:t>；</a:t>
            </a:r>
            <a:endParaRPr lang="en-US" altLang="zh-CN" sz="2000" dirty="0" smtClean="0"/>
          </a:p>
          <a:p>
            <a:pPr marL="971550" lvl="1"/>
            <a:r>
              <a:rPr lang="zh-CN" altLang="en-US" sz="1800" b="1" dirty="0">
                <a:solidFill>
                  <a:srgbClr val="006600"/>
                </a:solidFill>
              </a:rPr>
              <a:t>若按字符串输出一个不含</a:t>
            </a:r>
            <a:r>
              <a:rPr lang="zh-CN" altLang="en-US" sz="1800" dirty="0">
                <a:solidFill>
                  <a:srgbClr val="FF0000"/>
                </a:solidFill>
              </a:rPr>
              <a:t>‘</a:t>
            </a:r>
            <a:r>
              <a:rPr lang="en-US" altLang="zh-CN" sz="1800" dirty="0">
                <a:solidFill>
                  <a:srgbClr val="FF0000"/>
                </a:solidFill>
              </a:rPr>
              <a:t>\0</a:t>
            </a:r>
            <a:r>
              <a:rPr lang="zh-CN" altLang="en-US" sz="1800" dirty="0">
                <a:solidFill>
                  <a:srgbClr val="FF0000"/>
                </a:solidFill>
              </a:rPr>
              <a:t>’</a:t>
            </a:r>
            <a:r>
              <a:rPr lang="zh-CN" altLang="en-US" sz="1800" b="1" dirty="0">
                <a:solidFill>
                  <a:srgbClr val="006600"/>
                </a:solidFill>
              </a:rPr>
              <a:t>字符数组时，系统会输出数组元素的内容，以及之后的存储单元的内容，</a:t>
            </a:r>
            <a:r>
              <a:rPr lang="zh-CN" altLang="en-US" sz="1800" b="1" dirty="0">
                <a:solidFill>
                  <a:srgbClr val="FF0000"/>
                </a:solidFill>
              </a:rPr>
              <a:t>直到遇到</a:t>
            </a:r>
            <a:r>
              <a:rPr lang="en-US" altLang="zh-CN" sz="1800" b="1" dirty="0">
                <a:solidFill>
                  <a:srgbClr val="FF0000"/>
                </a:solidFill>
              </a:rPr>
              <a:t>’\0’</a:t>
            </a:r>
            <a:r>
              <a:rPr lang="zh-CN" altLang="en-US" sz="1800" b="1" dirty="0">
                <a:solidFill>
                  <a:srgbClr val="FF0000"/>
                </a:solidFill>
              </a:rPr>
              <a:t>为止</a:t>
            </a:r>
            <a:r>
              <a:rPr lang="en-US" altLang="zh-CN" sz="1800" b="1" dirty="0">
                <a:solidFill>
                  <a:srgbClr val="FF0000"/>
                </a:solidFill>
              </a:rPr>
              <a:t>;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如：</a:t>
            </a:r>
            <a:endParaRPr lang="en-US" altLang="zh-CN" sz="2000" dirty="0" smtClean="0"/>
          </a:p>
          <a:p>
            <a:pPr marL="971550" lvl="1"/>
            <a:r>
              <a:rPr lang="zh-CN" altLang="en-US" sz="1800" dirty="0"/>
              <a:t>如：</a:t>
            </a:r>
            <a:r>
              <a:rPr lang="zh-CN" altLang="en-US" sz="1800" b="1" dirty="0">
                <a:solidFill>
                  <a:srgbClr val="7030A0"/>
                </a:solidFill>
              </a:rPr>
              <a:t>在</a:t>
            </a:r>
            <a:r>
              <a:rPr lang="en-US" altLang="zh-CN" sz="1800" b="1" dirty="0" err="1">
                <a:solidFill>
                  <a:srgbClr val="7030A0"/>
                </a:solidFill>
              </a:rPr>
              <a:t>CodeBlocks</a:t>
            </a:r>
            <a:r>
              <a:rPr lang="zh-CN" altLang="en-US" sz="1800" b="1" dirty="0">
                <a:solidFill>
                  <a:srgbClr val="7030A0"/>
                </a:solidFill>
              </a:rPr>
              <a:t>中执行下述程序段</a:t>
            </a:r>
            <a:endParaRPr lang="en-US" altLang="zh-CN" sz="1800" b="1" dirty="0">
              <a:solidFill>
                <a:srgbClr val="7030A0"/>
              </a:solidFill>
            </a:endParaRPr>
          </a:p>
          <a:p>
            <a:pPr marL="1028700" lvl="2" indent="0">
              <a:buNone/>
            </a:pPr>
            <a:r>
              <a:rPr lang="en-US" altLang="zh-CN" sz="1600" dirty="0" err="1"/>
              <a:t>i</a:t>
            </a:r>
            <a:r>
              <a:rPr lang="en-US" altLang="zh-CN" sz="1600" dirty="0" err="1" smtClean="0"/>
              <a:t>nt</a:t>
            </a:r>
            <a:r>
              <a:rPr lang="en-US" altLang="zh-CN" sz="1600" dirty="0" smtClean="0"/>
              <a:t> main() {</a:t>
            </a:r>
          </a:p>
          <a:p>
            <a:pPr marL="1028700" lvl="2" indent="0">
              <a:buNone/>
            </a:pPr>
            <a:r>
              <a:rPr lang="en-US" altLang="zh-CN" sz="1600" dirty="0" smtClean="0"/>
              <a:t>    char </a:t>
            </a:r>
            <a:r>
              <a:rPr lang="en-US" altLang="zh-CN" sz="1600" dirty="0"/>
              <a:t>a[13]="Hello World</a:t>
            </a:r>
            <a:r>
              <a:rPr lang="en-US" altLang="zh-CN" sz="1600" dirty="0" smtClean="0"/>
              <a:t>!</a:t>
            </a:r>
            <a:r>
              <a:rPr lang="en-US" altLang="zh-CN" sz="1600" dirty="0"/>
              <a:t> "</a:t>
            </a:r>
            <a:r>
              <a:rPr lang="en-US" altLang="zh-CN" sz="1600" dirty="0" smtClean="0"/>
              <a:t>;   </a:t>
            </a:r>
            <a:r>
              <a:rPr lang="en-US" altLang="zh-CN" sz="1600" dirty="0"/>
              <a:t>// </a:t>
            </a:r>
            <a:r>
              <a:rPr lang="en-US" altLang="zh-CN" sz="1600" dirty="0" smtClean="0"/>
              <a:t>“Hello </a:t>
            </a:r>
            <a:r>
              <a:rPr lang="en-US" altLang="zh-CN" sz="1600" dirty="0"/>
              <a:t>World</a:t>
            </a:r>
            <a:r>
              <a:rPr lang="en-US" altLang="zh-CN" sz="1600" dirty="0" smtClean="0"/>
              <a:t>!”</a:t>
            </a:r>
            <a:r>
              <a:rPr lang="zh-CN" altLang="en-US" sz="1600" dirty="0" smtClean="0"/>
              <a:t>有</a:t>
            </a:r>
            <a:r>
              <a:rPr lang="en-US" altLang="zh-CN" sz="1600" dirty="0" smtClean="0"/>
              <a:t>12</a:t>
            </a:r>
            <a:r>
              <a:rPr lang="zh-CN" altLang="en-US" sz="1600" dirty="0" smtClean="0"/>
              <a:t>个字符</a:t>
            </a:r>
            <a:endParaRPr lang="en-US" altLang="zh-CN" sz="1600" dirty="0"/>
          </a:p>
          <a:p>
            <a:pPr marL="800100" lvl="1" indent="0">
              <a:buNone/>
            </a:pPr>
            <a:r>
              <a:rPr lang="en-US" altLang="zh-CN" sz="1600" dirty="0"/>
              <a:t>    </a:t>
            </a:r>
            <a:r>
              <a:rPr lang="en-US" altLang="zh-CN" sz="1600" dirty="0" smtClean="0"/>
              <a:t>    char </a:t>
            </a:r>
            <a:r>
              <a:rPr lang="en-US" altLang="zh-CN" sz="1600" dirty="0"/>
              <a:t>b[10]="</a:t>
            </a:r>
            <a:r>
              <a:rPr lang="en-US" altLang="zh-CN" sz="1600" dirty="0" err="1"/>
              <a:t>Hi,there</a:t>
            </a:r>
            <a:r>
              <a:rPr lang="en-US" altLang="zh-CN" sz="1600" dirty="0"/>
              <a:t>!";</a:t>
            </a:r>
          </a:p>
          <a:p>
            <a:pPr marL="800100" lvl="1" indent="0">
              <a:buNone/>
            </a:pPr>
            <a:r>
              <a:rPr lang="en-US" altLang="zh-CN" sz="1600" dirty="0"/>
              <a:t>    </a:t>
            </a:r>
            <a:r>
              <a:rPr lang="en-US" altLang="zh-CN" sz="1600" dirty="0" smtClean="0"/>
              <a:t>    char c[] </a:t>
            </a:r>
            <a:r>
              <a:rPr lang="en-US" altLang="zh-CN" sz="1600" dirty="0"/>
              <a:t>= </a:t>
            </a:r>
            <a:r>
              <a:rPr lang="en-US" altLang="zh-CN" sz="1600" dirty="0" smtClean="0"/>
              <a:t>{‘C’,‘h’,‘</a:t>
            </a:r>
            <a:r>
              <a:rPr lang="en-US" altLang="zh-CN" sz="1600" dirty="0" err="1" smtClean="0"/>
              <a:t>i</a:t>
            </a:r>
            <a:r>
              <a:rPr lang="en-US" altLang="zh-CN" sz="1600" dirty="0" smtClean="0"/>
              <a:t>’,‘</a:t>
            </a:r>
            <a:r>
              <a:rPr lang="en-US" altLang="zh-CN" sz="1600" dirty="0" err="1" smtClean="0"/>
              <a:t>n’,‘a</a:t>
            </a:r>
            <a:r>
              <a:rPr lang="en-US" altLang="zh-CN" sz="1600" dirty="0"/>
              <a:t>’};  </a:t>
            </a:r>
            <a:r>
              <a:rPr lang="en-US" altLang="zh-CN" sz="1600" dirty="0" smtClean="0"/>
              <a:t>//</a:t>
            </a:r>
            <a:r>
              <a:rPr lang="zh-CN" altLang="en-US" sz="1600" dirty="0" smtClean="0">
                <a:solidFill>
                  <a:srgbClr val="030DCD"/>
                </a:solidFill>
              </a:rPr>
              <a:t>相当于</a:t>
            </a:r>
            <a:r>
              <a:rPr lang="en-US" altLang="zh-CN" sz="1600" dirty="0" smtClean="0"/>
              <a:t>char c[5]= {'C','h','</a:t>
            </a:r>
            <a:r>
              <a:rPr lang="en-US" altLang="zh-CN" sz="1600" dirty="0" err="1" smtClean="0"/>
              <a:t>i</a:t>
            </a:r>
            <a:r>
              <a:rPr lang="en-US" altLang="zh-CN" sz="1600" dirty="0" smtClean="0"/>
              <a:t>','</a:t>
            </a:r>
            <a:r>
              <a:rPr lang="en-US" altLang="zh-CN" sz="1600" dirty="0" err="1" smtClean="0"/>
              <a:t>n','a</a:t>
            </a:r>
            <a:r>
              <a:rPr lang="en-US" altLang="zh-CN" sz="1600" dirty="0" smtClean="0"/>
              <a:t>’};  //</a:t>
            </a:r>
            <a:r>
              <a:rPr lang="zh-CN" altLang="en-US" sz="1600" dirty="0" smtClean="0"/>
              <a:t>无</a:t>
            </a:r>
            <a:r>
              <a:rPr lang="zh-CN" altLang="en-US" sz="1600" b="1" dirty="0">
                <a:solidFill>
                  <a:srgbClr val="FF3300"/>
                </a:solidFill>
              </a:rPr>
              <a:t>‘</a:t>
            </a:r>
            <a:r>
              <a:rPr lang="en-US" altLang="zh-CN" sz="1600" b="1" dirty="0">
                <a:solidFill>
                  <a:srgbClr val="FF3300"/>
                </a:solidFill>
              </a:rPr>
              <a:t>\0</a:t>
            </a:r>
            <a:r>
              <a:rPr lang="zh-CN" altLang="en-US" sz="1600" b="1" dirty="0">
                <a:solidFill>
                  <a:srgbClr val="FF3300"/>
                </a:solidFill>
              </a:rPr>
              <a:t>’</a:t>
            </a:r>
            <a:endParaRPr lang="en-US" altLang="zh-CN" sz="1600" dirty="0" smtClean="0"/>
          </a:p>
          <a:p>
            <a:pPr marL="800100" lvl="1" indent="0">
              <a:buNone/>
            </a:pPr>
            <a:r>
              <a:rPr lang="en-US" altLang="zh-CN" sz="1600" dirty="0" smtClean="0"/>
              <a:t>        char d[2] = “I am happy";</a:t>
            </a:r>
          </a:p>
          <a:p>
            <a:pPr marL="800100" lvl="1" indent="0">
              <a:buNone/>
            </a:pPr>
            <a:r>
              <a:rPr lang="en-US" altLang="zh-CN" sz="1600" dirty="0" smtClean="0"/>
              <a:t>        </a:t>
            </a:r>
            <a:r>
              <a:rPr lang="en-US" altLang="zh-CN" sz="1600" dirty="0" err="1" smtClean="0"/>
              <a:t>printf</a:t>
            </a:r>
            <a:r>
              <a:rPr lang="en-US" altLang="zh-CN" sz="1600" dirty="0"/>
              <a:t>("c=</a:t>
            </a:r>
            <a:r>
              <a:rPr lang="en-US" altLang="zh-CN" sz="1600" dirty="0">
                <a:solidFill>
                  <a:srgbClr val="C00000"/>
                </a:solidFill>
              </a:rPr>
              <a:t>%</a:t>
            </a:r>
            <a:r>
              <a:rPr lang="en-US" altLang="zh-CN" sz="1600" dirty="0" err="1">
                <a:solidFill>
                  <a:srgbClr val="C00000"/>
                </a:solidFill>
              </a:rPr>
              <a:t>s</a:t>
            </a:r>
            <a:r>
              <a:rPr lang="en-US" altLang="zh-CN" sz="1600" dirty="0" err="1"/>
              <a:t>",c</a:t>
            </a:r>
            <a:r>
              <a:rPr lang="en-US" altLang="zh-CN" sz="1600" dirty="0" smtClean="0"/>
              <a:t>);  }</a:t>
            </a:r>
            <a:endParaRPr lang="en-US" altLang="zh-CN" sz="1600" dirty="0"/>
          </a:p>
          <a:p>
            <a:pPr marL="1028700" lvl="2" indent="0">
              <a:buNone/>
            </a:pPr>
            <a:r>
              <a:rPr lang="zh-CN" altLang="en-US" sz="1600" dirty="0">
                <a:solidFill>
                  <a:srgbClr val="030DCD"/>
                </a:solidFill>
              </a:rPr>
              <a:t>屏幕输出：</a:t>
            </a:r>
            <a:r>
              <a:rPr lang="en-US" altLang="zh-CN" sz="1600" b="1" dirty="0">
                <a:solidFill>
                  <a:srgbClr val="C00000"/>
                </a:solidFill>
              </a:rPr>
              <a:t>c=</a:t>
            </a:r>
            <a:r>
              <a:rPr lang="en-US" altLang="zh-CN" sz="1600" b="1" dirty="0" err="1">
                <a:solidFill>
                  <a:srgbClr val="C00000"/>
                </a:solidFill>
              </a:rPr>
              <a:t>ChinaHi,there</a:t>
            </a:r>
            <a:r>
              <a:rPr lang="en-US" altLang="zh-CN" sz="1600" b="1" dirty="0">
                <a:solidFill>
                  <a:srgbClr val="C00000"/>
                </a:solidFill>
              </a:rPr>
              <a:t>!   </a:t>
            </a:r>
            <a:r>
              <a:rPr lang="en-US" altLang="zh-CN" sz="1600" dirty="0"/>
              <a:t>//</a:t>
            </a:r>
            <a:r>
              <a:rPr lang="zh-CN" altLang="en-US" sz="1600" dirty="0"/>
              <a:t>逐个元素初始化</a:t>
            </a:r>
            <a:r>
              <a:rPr lang="en-US" altLang="zh-CN" sz="1600" dirty="0"/>
              <a:t>char[]</a:t>
            </a:r>
            <a:r>
              <a:rPr lang="zh-CN" altLang="en-US" sz="1600" dirty="0"/>
              <a:t>时最后没有自动</a:t>
            </a:r>
            <a:r>
              <a:rPr lang="zh-CN" altLang="en-US" sz="1600" dirty="0" smtClean="0"/>
              <a:t>加</a:t>
            </a:r>
            <a:r>
              <a:rPr lang="zh-CN" altLang="en-US" sz="1600" b="1" dirty="0">
                <a:solidFill>
                  <a:srgbClr val="FF3300"/>
                </a:solidFill>
              </a:rPr>
              <a:t>‘</a:t>
            </a:r>
            <a:r>
              <a:rPr lang="en-US" altLang="zh-CN" sz="1600" b="1" dirty="0" smtClean="0">
                <a:solidFill>
                  <a:srgbClr val="FF3300"/>
                </a:solidFill>
              </a:rPr>
              <a:t>\0</a:t>
            </a:r>
            <a:r>
              <a:rPr lang="zh-CN" altLang="en-US" sz="1600" b="1" dirty="0" smtClean="0">
                <a:solidFill>
                  <a:srgbClr val="FF3300"/>
                </a:solidFill>
              </a:rPr>
              <a:t>’</a:t>
            </a:r>
            <a:endParaRPr lang="en-US" altLang="zh-CN" sz="1800" dirty="0"/>
          </a:p>
          <a:p>
            <a:pPr marL="971550" lvl="1"/>
            <a:r>
              <a:rPr lang="zh-CN" altLang="en-US" sz="1800" dirty="0" smtClean="0"/>
              <a:t>根据输出结果，思考</a:t>
            </a:r>
            <a:r>
              <a:rPr lang="en-US" altLang="zh-CN" sz="1800" dirty="0" err="1" smtClean="0"/>
              <a:t>CodeBlocks</a:t>
            </a:r>
            <a:r>
              <a:rPr lang="zh-CN" altLang="en-US" sz="1800" dirty="0" smtClean="0"/>
              <a:t>使用的编译器对变量的存储方法</a:t>
            </a:r>
            <a:endParaRPr lang="en-US" altLang="zh-CN" sz="1800" dirty="0" smtClean="0"/>
          </a:p>
          <a:p>
            <a:pPr marL="971550" lvl="1"/>
            <a:r>
              <a:rPr lang="zh-CN" altLang="en-US" sz="1800" dirty="0" smtClean="0"/>
              <a:t>在</a:t>
            </a:r>
            <a:r>
              <a:rPr lang="en-US" altLang="zh-CN" sz="1800" dirty="0" err="1"/>
              <a:t>DevCpp</a:t>
            </a:r>
            <a:r>
              <a:rPr lang="zh-CN" altLang="en-US" sz="1800" dirty="0"/>
              <a:t>中运行，</a:t>
            </a:r>
            <a:r>
              <a:rPr lang="zh-CN" altLang="en-US" sz="1800" dirty="0" smtClean="0"/>
              <a:t>结果可能有所不同</a:t>
            </a:r>
            <a:r>
              <a:rPr lang="zh-CN" altLang="en-US" sz="1800" dirty="0"/>
              <a:t>；</a:t>
            </a:r>
            <a:r>
              <a:rPr lang="en-US" altLang="zh-CN" sz="1800" dirty="0"/>
              <a:t>(</a:t>
            </a:r>
            <a:r>
              <a:rPr lang="zh-CN" altLang="en-US" sz="1800" dirty="0"/>
              <a:t>不同的编译器有不同的实现</a:t>
            </a:r>
            <a:r>
              <a:rPr lang="en-US" altLang="zh-CN" sz="1800" dirty="0"/>
              <a:t>)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 smtClean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  <a:p>
            <a:pPr marL="971550" lvl="1"/>
            <a:endParaRPr lang="en-US" altLang="zh-CN" dirty="0"/>
          </a:p>
        </p:txBody>
      </p:sp>
      <p:sp>
        <p:nvSpPr>
          <p:cNvPr id="5" name="矩形 4"/>
          <p:cNvSpPr/>
          <p:nvPr/>
        </p:nvSpPr>
        <p:spPr>
          <a:xfrm>
            <a:off x="367443" y="282925"/>
            <a:ext cx="830896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800" dirty="0" smtClean="0">
                <a:solidFill>
                  <a:srgbClr val="1A93C8"/>
                </a:solidFill>
                <a:latin typeface="+mj-lt"/>
                <a:ea typeface="+mj-ea"/>
                <a:cs typeface="+mj-cs"/>
              </a:rPr>
              <a:t>注：不能整体输出</a:t>
            </a:r>
            <a:r>
              <a:rPr lang="zh-CN" altLang="en-US" sz="2800" dirty="0">
                <a:solidFill>
                  <a:srgbClr val="1A93C8"/>
                </a:solidFill>
                <a:latin typeface="+mj-lt"/>
                <a:ea typeface="+mj-ea"/>
                <a:cs typeface="+mj-cs"/>
              </a:rPr>
              <a:t>一</a:t>
            </a:r>
            <a:r>
              <a:rPr lang="zh-CN" altLang="en-US" sz="2800" dirty="0" smtClean="0">
                <a:solidFill>
                  <a:srgbClr val="1A93C8"/>
                </a:solidFill>
                <a:latin typeface="+mj-lt"/>
                <a:ea typeface="+mj-ea"/>
                <a:cs typeface="+mj-cs"/>
              </a:rPr>
              <a:t>个不</a:t>
            </a:r>
            <a:r>
              <a:rPr lang="zh-CN" altLang="en-US" sz="2800" dirty="0">
                <a:solidFill>
                  <a:srgbClr val="1A93C8"/>
                </a:solidFill>
                <a:latin typeface="+mj-lt"/>
                <a:ea typeface="+mj-ea"/>
                <a:cs typeface="+mj-cs"/>
              </a:rPr>
              <a:t>含</a:t>
            </a:r>
            <a:r>
              <a:rPr lang="zh-CN" altLang="en-US" sz="28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‘</a:t>
            </a:r>
            <a:r>
              <a:rPr lang="en-US" altLang="zh-CN" sz="28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\0</a:t>
            </a:r>
            <a:r>
              <a:rPr lang="zh-CN" altLang="en-US" sz="28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’</a:t>
            </a:r>
            <a:r>
              <a:rPr lang="zh-CN" altLang="en-US" sz="2800" dirty="0" smtClean="0">
                <a:solidFill>
                  <a:srgbClr val="7030A0"/>
                </a:solidFill>
                <a:latin typeface="+mj-lt"/>
                <a:ea typeface="+mj-ea"/>
                <a:cs typeface="+mj-cs"/>
              </a:rPr>
              <a:t>字符数组</a:t>
            </a:r>
            <a:endParaRPr lang="zh-CN" altLang="en-US" sz="2800" dirty="0">
              <a:solidFill>
                <a:srgbClr val="7030A0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690098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462396" y="1129867"/>
            <a:ext cx="7772400" cy="4990378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b="1" dirty="0">
                <a:solidFill>
                  <a:srgbClr val="C00000"/>
                </a:solidFill>
              </a:rPr>
              <a:t>函数</a:t>
            </a:r>
            <a:r>
              <a:rPr lang="en-US" altLang="zh-CN" sz="1800" b="1" dirty="0">
                <a:solidFill>
                  <a:srgbClr val="C00000"/>
                </a:solidFill>
              </a:rPr>
              <a:t>char *gets(char *</a:t>
            </a:r>
            <a:r>
              <a:rPr lang="en-US" altLang="zh-CN" sz="1800" b="1" dirty="0" err="1">
                <a:solidFill>
                  <a:srgbClr val="C00000"/>
                </a:solidFill>
              </a:rPr>
              <a:t>str</a:t>
            </a:r>
            <a:r>
              <a:rPr lang="en-US" altLang="zh-CN" sz="1800" b="1" dirty="0">
                <a:solidFill>
                  <a:srgbClr val="C00000"/>
                </a:solidFill>
              </a:rPr>
              <a:t>)</a:t>
            </a:r>
            <a:r>
              <a:rPr lang="zh-CN" altLang="en-US" sz="1800" b="1" dirty="0">
                <a:solidFill>
                  <a:srgbClr val="C00000"/>
                </a:solidFill>
              </a:rPr>
              <a:t>可以</a:t>
            </a:r>
            <a:r>
              <a:rPr lang="zh-CN" altLang="en-US" sz="1800" b="1" dirty="0" smtClean="0">
                <a:solidFill>
                  <a:srgbClr val="C00000"/>
                </a:solidFill>
              </a:rPr>
              <a:t>输入带有空格的字符串</a:t>
            </a:r>
            <a:endParaRPr lang="en-US" altLang="zh-CN" sz="1800" b="1" dirty="0">
              <a:solidFill>
                <a:srgbClr val="C0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 smtClean="0"/>
              <a:t>如果利用</a:t>
            </a:r>
            <a:r>
              <a:rPr lang="en-US" altLang="zh-CN" sz="1800" dirty="0" err="1">
                <a:solidFill>
                  <a:srgbClr val="030DCD"/>
                </a:solidFill>
              </a:rPr>
              <a:t>scanf</a:t>
            </a:r>
            <a:r>
              <a:rPr lang="en-US" altLang="zh-CN" sz="1800" dirty="0">
                <a:solidFill>
                  <a:srgbClr val="030DCD"/>
                </a:solidFill>
              </a:rPr>
              <a:t>(“</a:t>
            </a:r>
            <a:r>
              <a:rPr lang="en-US" altLang="zh-CN" sz="1800" dirty="0">
                <a:solidFill>
                  <a:srgbClr val="7030A0"/>
                </a:solidFill>
              </a:rPr>
              <a:t>%s</a:t>
            </a:r>
            <a:r>
              <a:rPr lang="en-US" altLang="zh-CN" sz="1800" dirty="0">
                <a:solidFill>
                  <a:srgbClr val="030DCD"/>
                </a:solidFill>
              </a:rPr>
              <a:t>”,</a:t>
            </a:r>
            <a:r>
              <a:rPr lang="zh-CN" altLang="en-US" sz="1800" dirty="0">
                <a:solidFill>
                  <a:srgbClr val="030DCD"/>
                </a:solidFill>
              </a:rPr>
              <a:t>字符</a:t>
            </a:r>
            <a:r>
              <a:rPr lang="zh-CN" altLang="en-US" sz="1800" dirty="0" smtClean="0">
                <a:solidFill>
                  <a:srgbClr val="030DCD"/>
                </a:solidFill>
              </a:rPr>
              <a:t>数组名</a:t>
            </a:r>
            <a:r>
              <a:rPr lang="en-US" altLang="zh-CN" sz="1800" dirty="0" smtClean="0">
                <a:solidFill>
                  <a:srgbClr val="030DCD"/>
                </a:solidFill>
              </a:rPr>
              <a:t>) </a:t>
            </a:r>
            <a:r>
              <a:rPr lang="zh-CN" altLang="en-US" sz="1800" dirty="0" smtClean="0"/>
              <a:t>输入</a:t>
            </a:r>
            <a:r>
              <a:rPr lang="zh-CN" altLang="en-US" sz="1800" dirty="0"/>
              <a:t>字符串</a:t>
            </a:r>
            <a:endParaRPr lang="en-US" altLang="zh-CN" sz="1800" dirty="0"/>
          </a:p>
          <a:p>
            <a:pPr marL="971550" lvl="1"/>
            <a:r>
              <a:rPr lang="zh-CN" altLang="en-US" sz="1600" dirty="0"/>
              <a:t>遇</a:t>
            </a:r>
            <a:r>
              <a:rPr lang="zh-CN" altLang="en-US" sz="1600" dirty="0">
                <a:solidFill>
                  <a:srgbClr val="FF3300"/>
                </a:solidFill>
              </a:rPr>
              <a:t>回车键</a:t>
            </a:r>
            <a:r>
              <a:rPr lang="zh-CN" altLang="en-US" sz="1600" dirty="0" smtClean="0"/>
              <a:t>结束输入，</a:t>
            </a:r>
            <a:r>
              <a:rPr lang="zh-CN" altLang="en-US" sz="1600" dirty="0"/>
              <a:t>但获得的</a:t>
            </a:r>
            <a:r>
              <a:rPr lang="zh-CN" altLang="en-US" sz="1600" dirty="0" smtClean="0"/>
              <a:t>字符串中</a:t>
            </a:r>
            <a:r>
              <a:rPr lang="zh-CN" altLang="en-US" sz="1600" dirty="0">
                <a:solidFill>
                  <a:srgbClr val="FF3300"/>
                </a:solidFill>
              </a:rPr>
              <a:t>不包含回车键</a:t>
            </a:r>
            <a:r>
              <a:rPr lang="zh-CN" altLang="en-US" sz="1600" dirty="0"/>
              <a:t>本身</a:t>
            </a:r>
            <a:r>
              <a:rPr lang="en-US" altLang="zh-CN" sz="1600" dirty="0" smtClean="0"/>
              <a:t>，</a:t>
            </a:r>
            <a:r>
              <a:rPr lang="zh-CN" altLang="en-US" sz="1600" dirty="0" smtClean="0"/>
              <a:t>但在</a:t>
            </a:r>
            <a:r>
              <a:rPr lang="zh-CN" altLang="en-US" sz="1600" dirty="0"/>
              <a:t>字符串</a:t>
            </a:r>
            <a:r>
              <a:rPr lang="zh-CN" altLang="en-US" sz="1600" dirty="0" smtClean="0"/>
              <a:t>末尾自动</a:t>
            </a:r>
            <a:r>
              <a:rPr lang="zh-CN" altLang="en-US" sz="1600" dirty="0" smtClean="0">
                <a:solidFill>
                  <a:srgbClr val="FF3300"/>
                </a:solidFill>
              </a:rPr>
              <a:t>添加‘\0’</a:t>
            </a:r>
            <a:r>
              <a:rPr lang="zh-CN" altLang="en-US" sz="1600" dirty="0"/>
              <a:t>；</a:t>
            </a:r>
            <a:endParaRPr lang="en-US" altLang="zh-CN" sz="1600" dirty="0"/>
          </a:p>
          <a:p>
            <a:pPr marL="971550" lvl="1"/>
            <a:r>
              <a:rPr lang="zh-CN" altLang="en-US" sz="1600" dirty="0" smtClean="0"/>
              <a:t>将一个字符数组理解为一个字符串时，定义</a:t>
            </a:r>
            <a:r>
              <a:rPr lang="zh-CN" altLang="en-US" sz="1600" dirty="0"/>
              <a:t>的字符数组必须有足够的长度，以容纳所输入的</a:t>
            </a:r>
            <a:r>
              <a:rPr lang="zh-CN" altLang="en-US" sz="1600" dirty="0" smtClean="0"/>
              <a:t>字符，以及最后的结尾符</a:t>
            </a:r>
            <a:r>
              <a:rPr lang="zh-CN" altLang="en-US" sz="1600" dirty="0">
                <a:solidFill>
                  <a:srgbClr val="FF3300"/>
                </a:solidFill>
              </a:rPr>
              <a:t>\0’</a:t>
            </a:r>
            <a:r>
              <a:rPr lang="zh-CN" altLang="en-US" sz="1600" dirty="0" smtClean="0"/>
              <a:t>；</a:t>
            </a:r>
            <a:endParaRPr lang="en-US" altLang="zh-CN" sz="1600" dirty="0"/>
          </a:p>
          <a:p>
            <a:pPr marL="1314450" lvl="2" indent="-285750">
              <a:buFont typeface="Arial" panose="020B0604020202020204" pitchFamily="34" charset="0"/>
              <a:buChar char="•"/>
            </a:pPr>
            <a:r>
              <a:rPr lang="zh-CN" altLang="en-US" sz="1400" dirty="0"/>
              <a:t>如</a:t>
            </a:r>
            <a:r>
              <a:rPr lang="en-US" altLang="zh-CN" sz="1400" dirty="0"/>
              <a:t>: </a:t>
            </a:r>
            <a:r>
              <a:rPr lang="zh-CN" altLang="en-US" sz="1400" b="1" dirty="0">
                <a:solidFill>
                  <a:srgbClr val="030DCD"/>
                </a:solidFill>
              </a:rPr>
              <a:t>若输入5个字符，定义的字符数组至少应有6个元素。</a:t>
            </a:r>
            <a:endParaRPr lang="en-US" altLang="zh-CN" sz="1400" b="1" dirty="0">
              <a:solidFill>
                <a:srgbClr val="030DCD"/>
              </a:solidFill>
            </a:endParaRPr>
          </a:p>
          <a:p>
            <a:pPr marL="971550" lvl="1"/>
            <a:r>
              <a:rPr lang="zh-CN" altLang="en-US" sz="1600" b="1" u="sng" dirty="0"/>
              <a:t>一个</a:t>
            </a:r>
            <a:r>
              <a:rPr lang="en-US" altLang="zh-CN" sz="1600" b="1" u="sng" dirty="0" err="1"/>
              <a:t>scanf</a:t>
            </a:r>
            <a:r>
              <a:rPr lang="en-US" altLang="zh-CN" sz="1600" b="1" u="sng" dirty="0"/>
              <a:t>()</a:t>
            </a:r>
            <a:r>
              <a:rPr lang="zh-CN" altLang="en-US" sz="1600" b="1" u="sng" dirty="0"/>
              <a:t>函数可以输入多个字符串，输入时</a:t>
            </a:r>
            <a:r>
              <a:rPr lang="zh-CN" altLang="en-US" sz="1600" b="1" u="sng" dirty="0">
                <a:solidFill>
                  <a:srgbClr val="006600"/>
                </a:solidFill>
              </a:rPr>
              <a:t>以</a:t>
            </a:r>
            <a:r>
              <a:rPr lang="zh-CN" altLang="en-US" sz="1600" b="1" u="sng" dirty="0" smtClean="0">
                <a:solidFill>
                  <a:srgbClr val="7030A0"/>
                </a:solidFill>
              </a:rPr>
              <a:t>“空格”、</a:t>
            </a:r>
            <a:r>
              <a:rPr lang="en-US" altLang="zh-CN" sz="1600" b="1" u="sng" dirty="0" smtClean="0">
                <a:solidFill>
                  <a:srgbClr val="7030A0"/>
                </a:solidFill>
              </a:rPr>
              <a:t>tab</a:t>
            </a:r>
            <a:r>
              <a:rPr lang="zh-CN" altLang="en-US" sz="1600" b="1" u="sng" dirty="0" smtClean="0">
                <a:solidFill>
                  <a:srgbClr val="7030A0"/>
                </a:solidFill>
              </a:rPr>
              <a:t>、“回车”</a:t>
            </a:r>
            <a:r>
              <a:rPr lang="zh-CN" altLang="en-US" sz="1600" b="1" u="sng" dirty="0" smtClean="0">
                <a:solidFill>
                  <a:srgbClr val="006600"/>
                </a:solidFill>
              </a:rPr>
              <a:t>键</a:t>
            </a:r>
            <a:r>
              <a:rPr lang="zh-CN" altLang="en-US" sz="1600" b="1" u="sng" dirty="0">
                <a:solidFill>
                  <a:srgbClr val="006600"/>
                </a:solidFill>
              </a:rPr>
              <a:t>作为字符串之间的分隔</a:t>
            </a:r>
            <a:r>
              <a:rPr lang="zh-CN" altLang="en-US" sz="1600" b="1" u="sng" dirty="0"/>
              <a:t>；</a:t>
            </a:r>
            <a:endParaRPr lang="en-US" altLang="zh-CN" sz="1600" b="1" u="sng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/>
              <a:t>如：</a:t>
            </a:r>
            <a:endParaRPr lang="en-US" altLang="zh-CN" sz="1800" dirty="0"/>
          </a:p>
          <a:p>
            <a:pPr marL="971550" lvl="1"/>
            <a:r>
              <a:rPr lang="en-US" altLang="zh-CN" sz="1600" dirty="0"/>
              <a:t>char </a:t>
            </a:r>
            <a:r>
              <a:rPr lang="en-US" altLang="zh-CN" sz="1600" dirty="0" err="1"/>
              <a:t>str</a:t>
            </a:r>
            <a:r>
              <a:rPr lang="en-US" altLang="zh-CN" sz="1600" dirty="0"/>
              <a:t>[13];</a:t>
            </a:r>
          </a:p>
          <a:p>
            <a:pPr marL="971550" lvl="1"/>
            <a:r>
              <a:rPr lang="en-US" altLang="zh-CN" sz="1600" dirty="0" err="1"/>
              <a:t>scanf</a:t>
            </a:r>
            <a:r>
              <a:rPr lang="en-US" altLang="zh-CN" sz="1600" dirty="0"/>
              <a:t>(“%s”,</a:t>
            </a:r>
            <a:r>
              <a:rPr lang="en-US" altLang="zh-CN" sz="1600" dirty="0" err="1"/>
              <a:t>str</a:t>
            </a:r>
            <a:r>
              <a:rPr lang="en-US" altLang="zh-CN" sz="1600" dirty="0"/>
              <a:t>);  </a:t>
            </a:r>
          </a:p>
          <a:p>
            <a:pPr lvl="1" indent="0">
              <a:buNone/>
            </a:pPr>
            <a:r>
              <a:rPr lang="en-US" altLang="zh-CN" sz="1600" dirty="0">
                <a:solidFill>
                  <a:srgbClr val="030DCD"/>
                </a:solidFill>
              </a:rPr>
              <a:t>     //</a:t>
            </a:r>
            <a:r>
              <a:rPr lang="zh-CN" altLang="en-US" sz="1600" dirty="0">
                <a:solidFill>
                  <a:srgbClr val="030DCD"/>
                </a:solidFill>
                <a:latin typeface="宋体" panose="02010600030101010101" pitchFamily="2" charset="-122"/>
              </a:rPr>
              <a:t>数组名代表该数组的起始地址</a:t>
            </a:r>
            <a:r>
              <a:rPr lang="en-US" altLang="zh-CN" sz="1600" dirty="0">
                <a:solidFill>
                  <a:srgbClr val="030DCD"/>
                </a:solidFill>
                <a:latin typeface="宋体" panose="02010600030101010101" pitchFamily="2" charset="-122"/>
              </a:rPr>
              <a:t>,</a:t>
            </a:r>
            <a:r>
              <a:rPr lang="zh-CN" altLang="en-US" sz="1600" dirty="0">
                <a:solidFill>
                  <a:srgbClr val="030DCD"/>
                </a:solidFill>
                <a:latin typeface="宋体" panose="02010600030101010101" pitchFamily="2" charset="-122"/>
              </a:rPr>
              <a:t>不需要</a:t>
            </a:r>
            <a:r>
              <a:rPr lang="en-US" altLang="zh-CN" sz="1600" dirty="0" err="1">
                <a:solidFill>
                  <a:srgbClr val="030DCD"/>
                </a:solidFill>
              </a:rPr>
              <a:t>scanf</a:t>
            </a:r>
            <a:r>
              <a:rPr lang="en-US" altLang="zh-CN" sz="1600" dirty="0">
                <a:solidFill>
                  <a:srgbClr val="030DCD"/>
                </a:solidFill>
              </a:rPr>
              <a:t>(“%</a:t>
            </a:r>
            <a:r>
              <a:rPr lang="en-US" altLang="zh-CN" sz="1600" dirty="0" err="1">
                <a:solidFill>
                  <a:srgbClr val="030DCD"/>
                </a:solidFill>
              </a:rPr>
              <a:t>s”,</a:t>
            </a:r>
            <a:r>
              <a:rPr lang="en-US" altLang="zh-CN" sz="1600" dirty="0" err="1">
                <a:solidFill>
                  <a:srgbClr val="C00000"/>
                </a:solidFill>
              </a:rPr>
              <a:t>&amp;</a:t>
            </a:r>
            <a:r>
              <a:rPr lang="en-US" altLang="zh-CN" sz="1600" dirty="0" err="1">
                <a:solidFill>
                  <a:srgbClr val="030DCD"/>
                </a:solidFill>
              </a:rPr>
              <a:t>str</a:t>
            </a:r>
            <a:r>
              <a:rPr lang="en-US" altLang="zh-CN" sz="1600" dirty="0">
                <a:solidFill>
                  <a:srgbClr val="030DCD"/>
                </a:solidFill>
              </a:rPr>
              <a:t>); //</a:t>
            </a:r>
            <a:r>
              <a:rPr lang="zh-CN" altLang="en-US" sz="1600" dirty="0">
                <a:solidFill>
                  <a:srgbClr val="C00000"/>
                </a:solidFill>
              </a:rPr>
              <a:t>错误</a:t>
            </a:r>
            <a:endParaRPr lang="en-US" altLang="zh-CN" sz="1600" dirty="0">
              <a:solidFill>
                <a:srgbClr val="C00000"/>
              </a:solidFill>
            </a:endParaRPr>
          </a:p>
          <a:p>
            <a:pPr marL="971550" lvl="1"/>
            <a:r>
              <a:rPr lang="zh-CN" altLang="en-US" sz="1600" dirty="0">
                <a:solidFill>
                  <a:srgbClr val="006600"/>
                </a:solidFill>
              </a:rPr>
              <a:t>输入：</a:t>
            </a:r>
            <a:r>
              <a:rPr lang="en-US" altLang="zh-CN" sz="1600" b="1" dirty="0">
                <a:solidFill>
                  <a:srgbClr val="006600"/>
                </a:solidFill>
              </a:rPr>
              <a:t>How are you?</a:t>
            </a:r>
          </a:p>
          <a:p>
            <a:pPr marL="971550" lvl="1"/>
            <a:r>
              <a:rPr lang="zh-CN" altLang="en-US" sz="1600" b="1" dirty="0">
                <a:solidFill>
                  <a:srgbClr val="C00000"/>
                </a:solidFill>
              </a:rPr>
              <a:t>仅</a:t>
            </a:r>
            <a:r>
              <a:rPr lang="en-US" altLang="zh-CN" sz="1600" b="1" dirty="0">
                <a:solidFill>
                  <a:srgbClr val="C00000"/>
                </a:solidFill>
              </a:rPr>
              <a:t>”How”</a:t>
            </a:r>
            <a:r>
              <a:rPr lang="zh-CN" altLang="en-US" sz="1600" b="1" dirty="0" smtClean="0">
                <a:solidFill>
                  <a:srgbClr val="C00000"/>
                </a:solidFill>
              </a:rPr>
              <a:t>被数组</a:t>
            </a:r>
            <a:r>
              <a:rPr lang="en-US" altLang="zh-CN" sz="1600" b="1" dirty="0" err="1" smtClean="0">
                <a:solidFill>
                  <a:srgbClr val="C00000"/>
                </a:solidFill>
              </a:rPr>
              <a:t>str</a:t>
            </a:r>
            <a:r>
              <a:rPr lang="zh-CN" altLang="en-US" sz="1600" b="1" dirty="0" smtClean="0">
                <a:solidFill>
                  <a:srgbClr val="C00000"/>
                </a:solidFill>
              </a:rPr>
              <a:t>接收，其余的字符残留；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 marL="971550" lvl="1"/>
            <a:endParaRPr lang="en-US" altLang="zh-CN" sz="1800" dirty="0"/>
          </a:p>
          <a:p>
            <a:pPr>
              <a:buFont typeface="Wingdings" panose="05000000000000000000" pitchFamily="2" charset="2"/>
              <a:buNone/>
            </a:pPr>
            <a:endParaRPr lang="zh-CN" altLang="en-US" b="1" dirty="0">
              <a:latin typeface="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367443" y="282925"/>
            <a:ext cx="800763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800" dirty="0" err="1">
                <a:solidFill>
                  <a:srgbClr val="1A93C8"/>
                </a:solidFill>
                <a:latin typeface="+mj-lt"/>
                <a:ea typeface="+mj-ea"/>
                <a:cs typeface="+mj-cs"/>
              </a:rPr>
              <a:t>scanf</a:t>
            </a:r>
            <a:r>
              <a:rPr lang="en-US" altLang="zh-CN" sz="2800" dirty="0">
                <a:solidFill>
                  <a:srgbClr val="1A93C8"/>
                </a:solidFill>
                <a:latin typeface="+mj-lt"/>
                <a:ea typeface="+mj-ea"/>
                <a:cs typeface="+mj-cs"/>
              </a:rPr>
              <a:t>(“%s”)—</a:t>
            </a:r>
            <a:r>
              <a:rPr lang="zh-CN" altLang="en-US" sz="2800" dirty="0">
                <a:solidFill>
                  <a:srgbClr val="030DCD"/>
                </a:solidFill>
                <a:latin typeface="+mj-lt"/>
                <a:ea typeface="+mj-ea"/>
                <a:cs typeface="+mj-cs"/>
              </a:rPr>
              <a:t>如何</a:t>
            </a:r>
            <a:r>
              <a:rPr lang="zh-CN" altLang="en-US" sz="2800" u="sng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输入</a:t>
            </a:r>
            <a:r>
              <a:rPr lang="zh-CN" altLang="en-US" sz="2800" dirty="0">
                <a:solidFill>
                  <a:srgbClr val="030DCD"/>
                </a:solidFill>
                <a:latin typeface="+mj-lt"/>
                <a:ea typeface="+mj-ea"/>
                <a:cs typeface="+mj-cs"/>
              </a:rPr>
              <a:t>一个</a:t>
            </a:r>
            <a:r>
              <a:rPr lang="zh-CN" altLang="en-US" sz="2800" dirty="0">
                <a:solidFill>
                  <a:srgbClr val="7030A0"/>
                </a:solidFill>
                <a:latin typeface="+mj-lt"/>
                <a:ea typeface="+mj-ea"/>
                <a:cs typeface="+mj-cs"/>
              </a:rPr>
              <a:t>带有空格</a:t>
            </a:r>
            <a:r>
              <a:rPr lang="zh-CN" altLang="en-US" sz="2800" dirty="0">
                <a:solidFill>
                  <a:srgbClr val="030DCD"/>
                </a:solidFill>
                <a:latin typeface="+mj-lt"/>
                <a:ea typeface="+mj-ea"/>
                <a:cs typeface="+mj-cs"/>
              </a:rPr>
              <a:t>的字符串</a:t>
            </a:r>
          </a:p>
        </p:txBody>
      </p:sp>
    </p:spTree>
    <p:extLst>
      <p:ext uri="{BB962C8B-B14F-4D97-AF65-F5344CB8AC3E}">
        <p14:creationId xmlns:p14="http://schemas.microsoft.com/office/powerpoint/2010/main" val="1508608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462396" y="1129867"/>
            <a:ext cx="7772400" cy="4990378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再如：</a:t>
            </a:r>
            <a:endParaRPr lang="en-US" altLang="zh-CN" dirty="0"/>
          </a:p>
          <a:p>
            <a:pPr marL="971550" lvl="1"/>
            <a:r>
              <a:rPr lang="en-US" altLang="zh-CN" dirty="0"/>
              <a:t>char str1[5], str2[5], str3[5];</a:t>
            </a:r>
          </a:p>
          <a:p>
            <a:pPr marL="971550" lvl="1"/>
            <a:r>
              <a:rPr lang="en-US" altLang="zh-CN" dirty="0" err="1">
                <a:solidFill>
                  <a:srgbClr val="006600"/>
                </a:solidFill>
              </a:rPr>
              <a:t>scanf</a:t>
            </a:r>
            <a:r>
              <a:rPr lang="en-US" altLang="zh-CN" dirty="0">
                <a:solidFill>
                  <a:srgbClr val="006600"/>
                </a:solidFill>
              </a:rPr>
              <a:t>("%s%s%s",str1,str2,str3);</a:t>
            </a:r>
          </a:p>
          <a:p>
            <a:pPr marL="971550" lvl="1"/>
            <a:r>
              <a:rPr lang="zh-CN" altLang="en-US" dirty="0"/>
              <a:t>输入数据：</a:t>
            </a:r>
            <a:r>
              <a:rPr lang="en-US" altLang="zh-CN" dirty="0">
                <a:solidFill>
                  <a:srgbClr val="7030A0"/>
                </a:solidFill>
              </a:rPr>
              <a:t>How are you?</a:t>
            </a:r>
          </a:p>
          <a:p>
            <a:pPr marL="971550" lvl="1"/>
            <a:r>
              <a:rPr lang="en-US" altLang="zh-CN" dirty="0"/>
              <a:t>str1、str2、str3</a:t>
            </a:r>
            <a:r>
              <a:rPr lang="zh-CN" altLang="en-US" dirty="0"/>
              <a:t>获得的数据如图所示；</a:t>
            </a:r>
            <a:endParaRPr lang="en-US" altLang="zh-CN" dirty="0"/>
          </a:p>
          <a:p>
            <a:pPr marL="971550" lvl="1"/>
            <a:endParaRPr lang="en-US" altLang="zh-CN" sz="1800" dirty="0"/>
          </a:p>
          <a:p>
            <a:pPr>
              <a:buFont typeface="Wingdings" panose="05000000000000000000" pitchFamily="2" charset="2"/>
              <a:buNone/>
            </a:pPr>
            <a:endParaRPr lang="zh-CN" altLang="en-US" b="1" dirty="0">
              <a:latin typeface="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367443" y="282925"/>
            <a:ext cx="739456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 err="1">
                <a:solidFill>
                  <a:srgbClr val="1A93C8"/>
                </a:solidFill>
                <a:latin typeface="+mj-lt"/>
                <a:ea typeface="+mj-ea"/>
                <a:cs typeface="+mj-cs"/>
              </a:rPr>
              <a:t>scanf</a:t>
            </a:r>
            <a:r>
              <a:rPr lang="en-US" altLang="zh-CN" sz="2800" dirty="0">
                <a:solidFill>
                  <a:srgbClr val="1A93C8"/>
                </a:solidFill>
                <a:latin typeface="+mj-lt"/>
                <a:ea typeface="+mj-ea"/>
                <a:cs typeface="+mj-cs"/>
              </a:rPr>
              <a:t>(“%s”) —</a:t>
            </a:r>
            <a:r>
              <a:rPr lang="zh-CN" altLang="en-US" sz="2800" dirty="0">
                <a:solidFill>
                  <a:srgbClr val="1A93C8"/>
                </a:solidFill>
                <a:latin typeface="+mj-lt"/>
                <a:ea typeface="+mj-ea"/>
                <a:cs typeface="+mj-cs"/>
              </a:rPr>
              <a:t>“空格”作为字符串之间的分隔</a:t>
            </a:r>
          </a:p>
        </p:txBody>
      </p:sp>
      <p:pic>
        <p:nvPicPr>
          <p:cNvPr id="4" name="Picture 4" descr="fig6_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6951" y="3068103"/>
            <a:ext cx="3505994" cy="1364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7575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367443" y="1025958"/>
            <a:ext cx="8063493" cy="5343669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例如</a:t>
            </a:r>
            <a:endParaRPr lang="en-US" altLang="zh-CN" dirty="0"/>
          </a:p>
          <a:p>
            <a:pPr marL="971550" lvl="1"/>
            <a:r>
              <a:rPr lang="en-US" altLang="zh-CN" sz="1800" b="1" dirty="0">
                <a:solidFill>
                  <a:srgbClr val="030DCD"/>
                </a:solidFill>
              </a:rPr>
              <a:t>char </a:t>
            </a:r>
            <a:r>
              <a:rPr lang="en-US" altLang="zh-CN" sz="1800" b="1" dirty="0" err="1">
                <a:solidFill>
                  <a:srgbClr val="030DCD"/>
                </a:solidFill>
              </a:rPr>
              <a:t>str</a:t>
            </a:r>
            <a:r>
              <a:rPr lang="en-US" altLang="zh-CN" sz="1800" b="1" dirty="0">
                <a:solidFill>
                  <a:srgbClr val="030DCD"/>
                </a:solidFill>
              </a:rPr>
              <a:t>[20]; </a:t>
            </a:r>
          </a:p>
          <a:p>
            <a:pPr marL="971550" lvl="1"/>
            <a:r>
              <a:rPr lang="en-US" altLang="zh-CN" sz="1800" b="1" dirty="0" err="1"/>
              <a:t>scanf</a:t>
            </a:r>
            <a:r>
              <a:rPr lang="en-US" altLang="zh-CN" sz="1800" b="1" dirty="0"/>
              <a:t>(“</a:t>
            </a:r>
            <a:r>
              <a:rPr lang="en-US" altLang="zh-CN" sz="1800" b="1" dirty="0">
                <a:solidFill>
                  <a:srgbClr val="7030A0"/>
                </a:solidFill>
              </a:rPr>
              <a:t>%[</a:t>
            </a:r>
            <a:r>
              <a:rPr lang="en-US" altLang="zh-CN" sz="1800" b="1" dirty="0" err="1">
                <a:solidFill>
                  <a:srgbClr val="7030A0"/>
                </a:solidFill>
              </a:rPr>
              <a:t>abc</a:t>
            </a:r>
            <a:r>
              <a:rPr lang="en-US" altLang="zh-CN" sz="1800" b="1" dirty="0">
                <a:solidFill>
                  <a:srgbClr val="7030A0"/>
                </a:solidFill>
              </a:rPr>
              <a:t>]</a:t>
            </a:r>
            <a:r>
              <a:rPr lang="en-US" altLang="zh-CN" sz="1800" b="1" dirty="0"/>
              <a:t>”,str);     </a:t>
            </a:r>
            <a:r>
              <a:rPr lang="en-US" altLang="zh-CN" sz="1800" dirty="0"/>
              <a:t>//</a:t>
            </a:r>
            <a:r>
              <a:rPr lang="zh-CN" altLang="en-US" sz="1800" dirty="0"/>
              <a:t>只接收</a:t>
            </a:r>
            <a:r>
              <a:rPr lang="zh-CN" altLang="en-US" sz="1800" b="1" dirty="0">
                <a:solidFill>
                  <a:srgbClr val="7030A0"/>
                </a:solidFill>
              </a:rPr>
              <a:t>由字符</a:t>
            </a:r>
            <a:r>
              <a:rPr lang="en-US" altLang="zh-CN" sz="1800" b="1" dirty="0" err="1">
                <a:solidFill>
                  <a:srgbClr val="7030A0"/>
                </a:solidFill>
              </a:rPr>
              <a:t>a,b,c</a:t>
            </a:r>
            <a:r>
              <a:rPr lang="zh-CN" altLang="en-US" sz="1800" b="1" dirty="0">
                <a:solidFill>
                  <a:srgbClr val="7030A0"/>
                </a:solidFill>
              </a:rPr>
              <a:t>组成的字符串</a:t>
            </a:r>
            <a:r>
              <a:rPr lang="zh-CN" altLang="en-US" sz="1800" dirty="0"/>
              <a:t>到</a:t>
            </a:r>
            <a:r>
              <a:rPr lang="en-US" altLang="zh-CN" sz="1800" dirty="0" err="1"/>
              <a:t>str</a:t>
            </a:r>
            <a:r>
              <a:rPr lang="zh-CN" altLang="en-US" sz="1800" dirty="0"/>
              <a:t>中；</a:t>
            </a:r>
            <a:endParaRPr lang="en-US" altLang="zh-CN" sz="1800" dirty="0"/>
          </a:p>
          <a:p>
            <a:pPr marL="1200150" lvl="2"/>
            <a:r>
              <a:rPr lang="zh-CN" altLang="en-US" sz="1600" b="1" dirty="0">
                <a:solidFill>
                  <a:srgbClr val="030DCD"/>
                </a:solidFill>
              </a:rPr>
              <a:t>如果输入的字符串</a:t>
            </a:r>
            <a:r>
              <a:rPr lang="zh-CN" altLang="en-US" sz="1600" b="1" dirty="0">
                <a:solidFill>
                  <a:srgbClr val="C00000"/>
                </a:solidFill>
              </a:rPr>
              <a:t>含有字符</a:t>
            </a:r>
            <a:r>
              <a:rPr lang="en-US" altLang="zh-CN" sz="1600" b="1" dirty="0" err="1">
                <a:solidFill>
                  <a:srgbClr val="C00000"/>
                </a:solidFill>
              </a:rPr>
              <a:t>abc</a:t>
            </a:r>
            <a:r>
              <a:rPr lang="zh-CN" altLang="en-US" sz="1600" b="1" dirty="0">
                <a:solidFill>
                  <a:srgbClr val="C00000"/>
                </a:solidFill>
              </a:rPr>
              <a:t>之外的字符</a:t>
            </a:r>
            <a:r>
              <a:rPr lang="zh-CN" altLang="en-US" sz="1600" b="1" dirty="0">
                <a:solidFill>
                  <a:srgbClr val="030DCD"/>
                </a:solidFill>
              </a:rPr>
              <a:t>，则丢弃</a:t>
            </a:r>
            <a:r>
              <a:rPr lang="zh-CN" altLang="en-US" sz="1600" b="1" u="sng" dirty="0">
                <a:solidFill>
                  <a:srgbClr val="030DCD"/>
                </a:solidFill>
              </a:rPr>
              <a:t>该字符及其以后的字符</a:t>
            </a:r>
            <a:r>
              <a:rPr lang="en-US" altLang="zh-CN" sz="1600" b="1" dirty="0">
                <a:solidFill>
                  <a:srgbClr val="030DCD"/>
                </a:solidFill>
              </a:rPr>
              <a:t>;</a:t>
            </a:r>
            <a:endParaRPr lang="en-US" altLang="zh-CN" sz="1600" b="1" dirty="0">
              <a:solidFill>
                <a:srgbClr val="006600"/>
              </a:solidFill>
            </a:endParaRPr>
          </a:p>
          <a:p>
            <a:pPr marL="1200150" lvl="2"/>
            <a:r>
              <a:rPr lang="zh-CN" altLang="en-US" sz="1600" b="1" dirty="0">
                <a:solidFill>
                  <a:srgbClr val="006600"/>
                </a:solidFill>
              </a:rPr>
              <a:t>若输入</a:t>
            </a:r>
            <a:r>
              <a:rPr lang="en-US" altLang="zh-CN" sz="1600" b="1" dirty="0" err="1">
                <a:solidFill>
                  <a:srgbClr val="006600"/>
                </a:solidFill>
              </a:rPr>
              <a:t>abca</a:t>
            </a:r>
            <a:r>
              <a:rPr lang="en-US" altLang="zh-CN" sz="1600" b="1" dirty="0" err="1">
                <a:solidFill>
                  <a:srgbClr val="C00000"/>
                </a:solidFill>
              </a:rPr>
              <a:t>gab</a:t>
            </a:r>
            <a:r>
              <a:rPr lang="zh-CN" altLang="en-US" sz="1600" b="1" dirty="0">
                <a:solidFill>
                  <a:srgbClr val="006600"/>
                </a:solidFill>
              </a:rPr>
              <a:t>，则</a:t>
            </a:r>
            <a:r>
              <a:rPr lang="en-US" altLang="zh-CN" sz="1600" b="1" dirty="0">
                <a:solidFill>
                  <a:srgbClr val="006600"/>
                </a:solidFill>
              </a:rPr>
              <a:t>str=“</a:t>
            </a:r>
            <a:r>
              <a:rPr lang="en-US" altLang="zh-CN" sz="1600" b="1" dirty="0" err="1">
                <a:solidFill>
                  <a:srgbClr val="006600"/>
                </a:solidFill>
              </a:rPr>
              <a:t>abca</a:t>
            </a:r>
            <a:r>
              <a:rPr lang="en-US" altLang="zh-CN" sz="1600" b="1" dirty="0">
                <a:solidFill>
                  <a:srgbClr val="006600"/>
                </a:solidFill>
              </a:rPr>
              <a:t>”</a:t>
            </a:r>
            <a:r>
              <a:rPr lang="zh-CN" altLang="en-US" sz="1600" b="1" dirty="0">
                <a:solidFill>
                  <a:srgbClr val="006600"/>
                </a:solidFill>
              </a:rPr>
              <a:t>，</a:t>
            </a:r>
            <a:r>
              <a:rPr lang="zh-CN" altLang="en-US" sz="1600" b="1" dirty="0">
                <a:solidFill>
                  <a:srgbClr val="7030A0"/>
                </a:solidFill>
              </a:rPr>
              <a:t>丢弃</a:t>
            </a:r>
            <a:r>
              <a:rPr lang="en-US" altLang="zh-CN" sz="1600" b="1" dirty="0" smtClean="0">
                <a:solidFill>
                  <a:srgbClr val="C00000"/>
                </a:solidFill>
              </a:rPr>
              <a:t>gab</a:t>
            </a:r>
            <a:r>
              <a:rPr lang="zh-CN" altLang="en-US" sz="1600" b="1" dirty="0" smtClean="0">
                <a:solidFill>
                  <a:srgbClr val="7030A0"/>
                </a:solidFill>
              </a:rPr>
              <a:t>（</a:t>
            </a:r>
            <a:r>
              <a:rPr lang="zh-CN" altLang="en-US" sz="1600" b="1" dirty="0">
                <a:solidFill>
                  <a:srgbClr val="7030A0"/>
                </a:solidFill>
              </a:rPr>
              <a:t>残留在输入缓冲区）</a:t>
            </a:r>
            <a:endParaRPr lang="en-US" altLang="zh-CN" sz="1600" b="1" dirty="0">
              <a:solidFill>
                <a:srgbClr val="7030A0"/>
              </a:solidFill>
            </a:endParaRPr>
          </a:p>
          <a:p>
            <a:pPr marL="1200150" lvl="2"/>
            <a:r>
              <a:rPr lang="zh-CN" altLang="en-US" sz="1600" b="1" dirty="0">
                <a:solidFill>
                  <a:srgbClr val="006600"/>
                </a:solidFill>
              </a:rPr>
              <a:t>若输入</a:t>
            </a:r>
            <a:r>
              <a:rPr lang="en-US" altLang="zh-CN" sz="1600" b="1" dirty="0" err="1">
                <a:solidFill>
                  <a:srgbClr val="C00000"/>
                </a:solidFill>
              </a:rPr>
              <a:t>g</a:t>
            </a:r>
            <a:r>
              <a:rPr lang="en-US" altLang="zh-CN" sz="1600" b="1" dirty="0" err="1">
                <a:solidFill>
                  <a:srgbClr val="006600"/>
                </a:solidFill>
              </a:rPr>
              <a:t>abc</a:t>
            </a:r>
            <a:r>
              <a:rPr lang="zh-CN" altLang="en-US" sz="1600" b="1" dirty="0">
                <a:solidFill>
                  <a:srgbClr val="006600"/>
                </a:solidFill>
              </a:rPr>
              <a:t>，则</a:t>
            </a:r>
            <a:r>
              <a:rPr lang="en-US" altLang="zh-CN" sz="1600" b="1" dirty="0">
                <a:solidFill>
                  <a:srgbClr val="006600"/>
                </a:solidFill>
              </a:rPr>
              <a:t>str=“”; </a:t>
            </a:r>
            <a:r>
              <a:rPr lang="en-US" altLang="zh-CN" sz="1600" b="1" dirty="0" smtClean="0">
                <a:solidFill>
                  <a:srgbClr val="006600"/>
                </a:solidFill>
              </a:rPr>
              <a:t>  //</a:t>
            </a:r>
            <a:r>
              <a:rPr lang="en-US" altLang="zh-CN" sz="1600" b="1" dirty="0" err="1" smtClean="0">
                <a:solidFill>
                  <a:srgbClr val="006600"/>
                </a:solidFill>
              </a:rPr>
              <a:t>str</a:t>
            </a:r>
            <a:r>
              <a:rPr lang="en-US" altLang="zh-CN" sz="1600" b="1" dirty="0" smtClean="0">
                <a:solidFill>
                  <a:srgbClr val="006600"/>
                </a:solidFill>
              </a:rPr>
              <a:t>[0]=‘\0’</a:t>
            </a:r>
            <a:endParaRPr lang="en-US" altLang="zh-CN" sz="1600" b="1" dirty="0">
              <a:solidFill>
                <a:srgbClr val="006600"/>
              </a:solidFill>
            </a:endParaRPr>
          </a:p>
          <a:p>
            <a:pPr marL="971550" lvl="1"/>
            <a:r>
              <a:rPr lang="en-US" altLang="zh-CN" sz="1800" b="1" dirty="0" err="1"/>
              <a:t>scanf</a:t>
            </a:r>
            <a:r>
              <a:rPr lang="en-US" altLang="zh-CN" sz="1800" b="1" dirty="0">
                <a:solidFill>
                  <a:srgbClr val="030DCD"/>
                </a:solidFill>
              </a:rPr>
              <a:t>(“</a:t>
            </a:r>
            <a:r>
              <a:rPr lang="en-US" altLang="zh-CN" sz="1800" b="1" dirty="0">
                <a:solidFill>
                  <a:srgbClr val="7030A0"/>
                </a:solidFill>
              </a:rPr>
              <a:t>%[a-z]</a:t>
            </a:r>
            <a:r>
              <a:rPr lang="en-US" altLang="zh-CN" sz="1800" b="1" dirty="0">
                <a:solidFill>
                  <a:srgbClr val="030DCD"/>
                </a:solidFill>
              </a:rPr>
              <a:t>”,</a:t>
            </a:r>
            <a:r>
              <a:rPr lang="en-US" altLang="zh-CN" sz="1800" b="1" dirty="0"/>
              <a:t>str);     </a:t>
            </a:r>
            <a:r>
              <a:rPr lang="en-US" altLang="zh-CN" sz="1800" dirty="0"/>
              <a:t>//</a:t>
            </a:r>
            <a:r>
              <a:rPr lang="zh-CN" altLang="en-US" sz="1800" dirty="0"/>
              <a:t>只接收由小写字符</a:t>
            </a:r>
            <a:r>
              <a:rPr lang="en-US" altLang="zh-CN" sz="1800" dirty="0"/>
              <a:t>a-z</a:t>
            </a:r>
            <a:r>
              <a:rPr lang="zh-CN" altLang="en-US" sz="1800" dirty="0"/>
              <a:t>组成的字符串到</a:t>
            </a:r>
            <a:r>
              <a:rPr lang="en-US" altLang="zh-CN" sz="1800" dirty="0" err="1"/>
              <a:t>str</a:t>
            </a:r>
            <a:r>
              <a:rPr lang="zh-CN" altLang="en-US" sz="1800" dirty="0"/>
              <a:t>中；</a:t>
            </a:r>
            <a:endParaRPr lang="en-US" altLang="zh-CN" sz="1800" dirty="0"/>
          </a:p>
          <a:p>
            <a:pPr marL="1200150" lvl="2"/>
            <a:r>
              <a:rPr lang="zh-CN" altLang="en-US" sz="1600" b="1" dirty="0">
                <a:solidFill>
                  <a:srgbClr val="030DCD"/>
                </a:solidFill>
              </a:rPr>
              <a:t>如果输入的字符串</a:t>
            </a:r>
            <a:r>
              <a:rPr lang="zh-CN" altLang="en-US" sz="1600" b="1" dirty="0">
                <a:solidFill>
                  <a:srgbClr val="C00000"/>
                </a:solidFill>
              </a:rPr>
              <a:t>含有字符</a:t>
            </a:r>
            <a:r>
              <a:rPr lang="en-US" altLang="zh-CN" sz="1600" b="1" dirty="0">
                <a:solidFill>
                  <a:srgbClr val="C00000"/>
                </a:solidFill>
              </a:rPr>
              <a:t>a-z</a:t>
            </a:r>
            <a:r>
              <a:rPr lang="zh-CN" altLang="en-US" sz="1600" b="1" dirty="0">
                <a:solidFill>
                  <a:srgbClr val="C00000"/>
                </a:solidFill>
              </a:rPr>
              <a:t>之外的字符</a:t>
            </a:r>
            <a:r>
              <a:rPr lang="zh-CN" altLang="en-US" sz="1600" b="1" dirty="0">
                <a:solidFill>
                  <a:srgbClr val="030DCD"/>
                </a:solidFill>
              </a:rPr>
              <a:t>，则丢弃该字符及其以后的字符</a:t>
            </a:r>
            <a:r>
              <a:rPr lang="en-US" altLang="zh-CN" sz="1600" b="1" dirty="0">
                <a:solidFill>
                  <a:srgbClr val="030DCD"/>
                </a:solidFill>
              </a:rPr>
              <a:t>;</a:t>
            </a:r>
            <a:endParaRPr lang="en-US" altLang="zh-CN" sz="1600" b="1" dirty="0">
              <a:solidFill>
                <a:srgbClr val="006600"/>
              </a:solidFill>
            </a:endParaRPr>
          </a:p>
          <a:p>
            <a:pPr marL="1200150" lvl="2"/>
            <a:r>
              <a:rPr lang="zh-CN" altLang="en-US" sz="1600" b="1" dirty="0">
                <a:solidFill>
                  <a:srgbClr val="006600"/>
                </a:solidFill>
              </a:rPr>
              <a:t>若输入</a:t>
            </a:r>
            <a:r>
              <a:rPr lang="en-US" altLang="zh-CN" sz="1600" b="1" dirty="0">
                <a:solidFill>
                  <a:srgbClr val="006600"/>
                </a:solidFill>
              </a:rPr>
              <a:t>abcdxyz</a:t>
            </a:r>
            <a:r>
              <a:rPr lang="en-US" altLang="zh-CN" sz="1600" b="1" dirty="0">
                <a:solidFill>
                  <a:srgbClr val="C00000"/>
                </a:solidFill>
              </a:rPr>
              <a:t>8</a:t>
            </a:r>
            <a:r>
              <a:rPr lang="en-US" altLang="zh-CN" sz="1600" b="1" dirty="0">
                <a:solidFill>
                  <a:srgbClr val="006600"/>
                </a:solidFill>
              </a:rPr>
              <a:t>mn</a:t>
            </a:r>
            <a:r>
              <a:rPr lang="zh-CN" altLang="en-US" sz="1600" b="1" dirty="0">
                <a:solidFill>
                  <a:srgbClr val="006600"/>
                </a:solidFill>
              </a:rPr>
              <a:t>，则</a:t>
            </a:r>
            <a:r>
              <a:rPr lang="en-US" altLang="zh-CN" sz="1600" b="1" dirty="0">
                <a:solidFill>
                  <a:srgbClr val="006600"/>
                </a:solidFill>
              </a:rPr>
              <a:t>str=“</a:t>
            </a:r>
            <a:r>
              <a:rPr lang="en-US" altLang="zh-CN" sz="1600" b="1" dirty="0" err="1">
                <a:solidFill>
                  <a:srgbClr val="006600"/>
                </a:solidFill>
              </a:rPr>
              <a:t>abcdxyz</a:t>
            </a:r>
            <a:r>
              <a:rPr lang="en-US" altLang="zh-CN" sz="1600" b="1" dirty="0">
                <a:solidFill>
                  <a:srgbClr val="006600"/>
                </a:solidFill>
              </a:rPr>
              <a:t>”</a:t>
            </a:r>
            <a:r>
              <a:rPr lang="zh-CN" altLang="en-US" sz="1600" b="1" dirty="0">
                <a:solidFill>
                  <a:srgbClr val="006600"/>
                </a:solidFill>
              </a:rPr>
              <a:t>，</a:t>
            </a:r>
            <a:r>
              <a:rPr lang="en-US" altLang="zh-CN" sz="1600" b="1" dirty="0">
                <a:solidFill>
                  <a:srgbClr val="C00000"/>
                </a:solidFill>
              </a:rPr>
              <a:t>8</a:t>
            </a:r>
            <a:r>
              <a:rPr lang="zh-CN" altLang="en-US" sz="1600" b="1" dirty="0">
                <a:solidFill>
                  <a:srgbClr val="006600"/>
                </a:solidFill>
              </a:rPr>
              <a:t>及以后的丢弃（残留）</a:t>
            </a:r>
            <a:endParaRPr lang="en-US" altLang="zh-CN" sz="1600" b="1" dirty="0">
              <a:solidFill>
                <a:srgbClr val="006600"/>
              </a:solidFill>
            </a:endParaRPr>
          </a:p>
          <a:p>
            <a:pPr marL="1200150" lvl="2"/>
            <a:r>
              <a:rPr lang="zh-CN" altLang="en-US" sz="1600" b="1" dirty="0">
                <a:solidFill>
                  <a:srgbClr val="006600"/>
                </a:solidFill>
              </a:rPr>
              <a:t>若输入</a:t>
            </a:r>
            <a:r>
              <a:rPr lang="en-US" altLang="zh-CN" sz="1600" b="1" dirty="0" err="1">
                <a:solidFill>
                  <a:srgbClr val="C00000"/>
                </a:solidFill>
              </a:rPr>
              <a:t>G</a:t>
            </a:r>
            <a:r>
              <a:rPr lang="en-US" altLang="zh-CN" sz="1600" b="1" dirty="0" err="1">
                <a:solidFill>
                  <a:srgbClr val="006600"/>
                </a:solidFill>
              </a:rPr>
              <a:t>abc</a:t>
            </a:r>
            <a:r>
              <a:rPr lang="zh-CN" altLang="en-US" sz="1600" b="1" dirty="0">
                <a:solidFill>
                  <a:srgbClr val="006600"/>
                </a:solidFill>
              </a:rPr>
              <a:t>，则</a:t>
            </a:r>
            <a:r>
              <a:rPr lang="en-US" altLang="zh-CN" sz="1600" b="1" dirty="0">
                <a:solidFill>
                  <a:srgbClr val="006600"/>
                </a:solidFill>
              </a:rPr>
              <a:t>str=“”; </a:t>
            </a:r>
            <a:endParaRPr lang="en-US" altLang="zh-CN" sz="1600" dirty="0"/>
          </a:p>
          <a:p>
            <a:pPr marL="914400" lvl="1" indent="-285750"/>
            <a:r>
              <a:rPr lang="en-US" altLang="zh-CN" sz="1800" b="1" dirty="0" err="1"/>
              <a:t>scanf</a:t>
            </a:r>
            <a:r>
              <a:rPr lang="en-US" altLang="zh-CN" sz="1800" b="1" dirty="0">
                <a:solidFill>
                  <a:srgbClr val="030DCD"/>
                </a:solidFill>
              </a:rPr>
              <a:t>(“</a:t>
            </a:r>
            <a:r>
              <a:rPr lang="en-US" altLang="zh-CN" sz="1800" b="1" dirty="0">
                <a:solidFill>
                  <a:srgbClr val="7030A0"/>
                </a:solidFill>
              </a:rPr>
              <a:t>%[^a-z]</a:t>
            </a:r>
            <a:r>
              <a:rPr lang="en-US" altLang="zh-CN" sz="1800" b="1" dirty="0">
                <a:solidFill>
                  <a:srgbClr val="030DCD"/>
                </a:solidFill>
              </a:rPr>
              <a:t>”,</a:t>
            </a:r>
            <a:r>
              <a:rPr lang="en-US" altLang="zh-CN" sz="1800" b="1" dirty="0"/>
              <a:t>str);    </a:t>
            </a:r>
            <a:r>
              <a:rPr lang="en-US" altLang="zh-CN" sz="1800" dirty="0"/>
              <a:t>//</a:t>
            </a:r>
            <a:r>
              <a:rPr lang="zh-CN" altLang="en-US" sz="1800" dirty="0"/>
              <a:t>只接收</a:t>
            </a:r>
            <a:r>
              <a:rPr lang="en-US" altLang="zh-CN" sz="1800" dirty="0"/>
              <a:t>a-z</a:t>
            </a:r>
            <a:r>
              <a:rPr lang="zh-CN" altLang="en-US" sz="1800" dirty="0"/>
              <a:t>之外的字符组成的字符串到</a:t>
            </a:r>
            <a:r>
              <a:rPr lang="en-US" altLang="zh-CN" sz="1800" dirty="0" err="1"/>
              <a:t>str</a:t>
            </a:r>
            <a:r>
              <a:rPr lang="zh-CN" altLang="en-US" sz="1800" dirty="0"/>
              <a:t>中；</a:t>
            </a:r>
            <a:endParaRPr lang="en-US" altLang="zh-CN" sz="1800" dirty="0"/>
          </a:p>
          <a:p>
            <a:pPr marL="1143000" lvl="2" indent="-285750"/>
            <a:r>
              <a:rPr lang="zh-CN" altLang="en-US" sz="1600" b="1" dirty="0">
                <a:solidFill>
                  <a:srgbClr val="030DCD"/>
                </a:solidFill>
              </a:rPr>
              <a:t>如果输入的字符串</a:t>
            </a:r>
            <a:r>
              <a:rPr lang="zh-CN" altLang="en-US" sz="1600" b="1" dirty="0">
                <a:solidFill>
                  <a:srgbClr val="C00000"/>
                </a:solidFill>
              </a:rPr>
              <a:t>含有字符</a:t>
            </a:r>
            <a:r>
              <a:rPr lang="en-US" altLang="zh-CN" sz="1600" b="1" dirty="0">
                <a:solidFill>
                  <a:srgbClr val="C00000"/>
                </a:solidFill>
              </a:rPr>
              <a:t>a-z</a:t>
            </a:r>
            <a:r>
              <a:rPr lang="zh-CN" altLang="en-US" sz="1600" b="1" dirty="0">
                <a:solidFill>
                  <a:srgbClr val="030DCD"/>
                </a:solidFill>
              </a:rPr>
              <a:t>，则丢弃字符</a:t>
            </a:r>
            <a:r>
              <a:rPr lang="en-US" altLang="zh-CN" sz="1600" b="1" dirty="0">
                <a:solidFill>
                  <a:srgbClr val="030DCD"/>
                </a:solidFill>
              </a:rPr>
              <a:t>a-z</a:t>
            </a:r>
            <a:r>
              <a:rPr lang="zh-CN" altLang="en-US" sz="1600" b="1" dirty="0">
                <a:solidFill>
                  <a:srgbClr val="030DCD"/>
                </a:solidFill>
              </a:rPr>
              <a:t>及其以后的字符；</a:t>
            </a:r>
            <a:endParaRPr lang="en-US" altLang="zh-CN" sz="1600" b="1" dirty="0">
              <a:solidFill>
                <a:srgbClr val="030DCD"/>
              </a:solidFill>
            </a:endParaRPr>
          </a:p>
          <a:p>
            <a:pPr marL="1143000" lvl="2" indent="-285750"/>
            <a:r>
              <a:rPr lang="zh-CN" altLang="en-US" sz="1600" b="1" dirty="0">
                <a:solidFill>
                  <a:srgbClr val="006600"/>
                </a:solidFill>
              </a:rPr>
              <a:t>若输入</a:t>
            </a:r>
            <a:r>
              <a:rPr lang="en-US" altLang="zh-CN" sz="1600" b="1" dirty="0">
                <a:solidFill>
                  <a:srgbClr val="006600"/>
                </a:solidFill>
              </a:rPr>
              <a:t>34GZ_=</a:t>
            </a:r>
            <a:r>
              <a:rPr lang="en-US" altLang="zh-CN" sz="1600" b="1" dirty="0" err="1">
                <a:solidFill>
                  <a:srgbClr val="006600"/>
                </a:solidFill>
              </a:rPr>
              <a:t>FD</a:t>
            </a:r>
            <a:r>
              <a:rPr lang="en-US" altLang="zh-CN" sz="1600" b="1" dirty="0" err="1">
                <a:solidFill>
                  <a:srgbClr val="C00000"/>
                </a:solidFill>
              </a:rPr>
              <a:t>m</a:t>
            </a:r>
            <a:r>
              <a:rPr lang="en-US" altLang="zh-CN" sz="1600" b="1" dirty="0" err="1">
                <a:solidFill>
                  <a:srgbClr val="006600"/>
                </a:solidFill>
              </a:rPr>
              <a:t>bHM</a:t>
            </a:r>
            <a:r>
              <a:rPr lang="zh-CN" altLang="en-US" sz="1600" b="1" dirty="0">
                <a:solidFill>
                  <a:srgbClr val="006600"/>
                </a:solidFill>
              </a:rPr>
              <a:t>，则</a:t>
            </a:r>
            <a:r>
              <a:rPr lang="en-US" altLang="zh-CN" sz="1600" b="1" dirty="0">
                <a:solidFill>
                  <a:srgbClr val="006600"/>
                </a:solidFill>
              </a:rPr>
              <a:t>str=“34GZ_=FD”</a:t>
            </a:r>
            <a:r>
              <a:rPr lang="zh-CN" altLang="en-US" sz="1600" b="1" dirty="0">
                <a:solidFill>
                  <a:srgbClr val="006600"/>
                </a:solidFill>
              </a:rPr>
              <a:t>，</a:t>
            </a:r>
            <a:r>
              <a:rPr lang="en-US" altLang="zh-CN" sz="1600" b="1" dirty="0">
                <a:solidFill>
                  <a:srgbClr val="C00000"/>
                </a:solidFill>
              </a:rPr>
              <a:t>m</a:t>
            </a:r>
            <a:r>
              <a:rPr lang="zh-CN" altLang="en-US" sz="1600" b="1" dirty="0">
                <a:solidFill>
                  <a:srgbClr val="006600"/>
                </a:solidFill>
              </a:rPr>
              <a:t>及以后的丢弃（残留）</a:t>
            </a:r>
            <a:endParaRPr lang="en-US" altLang="zh-CN" sz="1600" b="1" dirty="0">
              <a:solidFill>
                <a:srgbClr val="006600"/>
              </a:solidFill>
            </a:endParaRPr>
          </a:p>
          <a:p>
            <a:pPr marL="1143000" lvl="2" indent="-285750"/>
            <a:endParaRPr lang="en-US" altLang="zh-CN" sz="1600" b="1" dirty="0">
              <a:solidFill>
                <a:srgbClr val="030DCD"/>
              </a:solidFill>
            </a:endParaRPr>
          </a:p>
          <a:p>
            <a:pPr marL="1143000" lvl="2" indent="-285750"/>
            <a:endParaRPr lang="zh-CN" altLang="en-US" sz="1600" dirty="0"/>
          </a:p>
        </p:txBody>
      </p:sp>
      <p:sp>
        <p:nvSpPr>
          <p:cNvPr id="3" name="矩形 2"/>
          <p:cNvSpPr/>
          <p:nvPr/>
        </p:nvSpPr>
        <p:spPr>
          <a:xfrm>
            <a:off x="367443" y="282925"/>
            <a:ext cx="848561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 err="1">
                <a:solidFill>
                  <a:srgbClr val="1A93C8"/>
                </a:solidFill>
                <a:latin typeface="+mn-lt"/>
                <a:ea typeface="+mj-ea"/>
                <a:cs typeface="+mj-cs"/>
              </a:rPr>
              <a:t>scanf</a:t>
            </a:r>
            <a:r>
              <a:rPr lang="en-US" altLang="zh-CN" sz="2800" b="1" dirty="0" smtClean="0">
                <a:solidFill>
                  <a:srgbClr val="1A93C8"/>
                </a:solidFill>
                <a:latin typeface="+mn-lt"/>
                <a:ea typeface="+mj-ea"/>
                <a:cs typeface="+mj-cs"/>
              </a:rPr>
              <a:t>(“%[…]”)—</a:t>
            </a:r>
            <a:r>
              <a:rPr lang="zh-CN" altLang="en-US" sz="2800" b="1" dirty="0" smtClean="0">
                <a:solidFill>
                  <a:srgbClr val="1A93C8"/>
                </a:solidFill>
                <a:latin typeface="+mn-lt"/>
                <a:ea typeface="+mj-ea"/>
                <a:cs typeface="+mj-cs"/>
              </a:rPr>
              <a:t>只</a:t>
            </a:r>
            <a:r>
              <a:rPr lang="zh-CN" altLang="en-US" sz="2800" b="1" dirty="0">
                <a:solidFill>
                  <a:srgbClr val="1A93C8"/>
                </a:solidFill>
                <a:latin typeface="+mn-lt"/>
                <a:ea typeface="+mj-ea"/>
                <a:cs typeface="+mj-cs"/>
              </a:rPr>
              <a:t>接收规定的字符组成的字符串</a:t>
            </a:r>
          </a:p>
        </p:txBody>
      </p:sp>
    </p:spTree>
    <p:extLst>
      <p:ext uri="{BB962C8B-B14F-4D97-AF65-F5344CB8AC3E}">
        <p14:creationId xmlns:p14="http://schemas.microsoft.com/office/powerpoint/2010/main" val="812835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367443" y="1025958"/>
            <a:ext cx="8063493" cy="5343669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例如</a:t>
            </a:r>
            <a:endParaRPr lang="en-US" altLang="zh-CN" dirty="0"/>
          </a:p>
          <a:p>
            <a:pPr marL="971550" lvl="1"/>
            <a:r>
              <a:rPr lang="en-US" altLang="zh-CN" sz="1800" b="1" dirty="0">
                <a:solidFill>
                  <a:srgbClr val="030DCD"/>
                </a:solidFill>
              </a:rPr>
              <a:t>char </a:t>
            </a:r>
            <a:r>
              <a:rPr lang="en-US" altLang="zh-CN" sz="1800" b="1" dirty="0" err="1">
                <a:solidFill>
                  <a:srgbClr val="030DCD"/>
                </a:solidFill>
              </a:rPr>
              <a:t>str</a:t>
            </a:r>
            <a:r>
              <a:rPr lang="en-US" altLang="zh-CN" sz="1800" b="1" dirty="0">
                <a:solidFill>
                  <a:srgbClr val="030DCD"/>
                </a:solidFill>
              </a:rPr>
              <a:t>[20]; </a:t>
            </a:r>
          </a:p>
          <a:p>
            <a:pPr marL="971550" lvl="1"/>
            <a:r>
              <a:rPr lang="en-US" altLang="zh-CN" sz="1800" b="1" dirty="0" err="1"/>
              <a:t>scanf</a:t>
            </a:r>
            <a:r>
              <a:rPr lang="en-US" altLang="zh-CN" sz="1800" b="1" dirty="0"/>
              <a:t>(“</a:t>
            </a:r>
            <a:r>
              <a:rPr lang="en-US" altLang="zh-CN" sz="1800" b="1" dirty="0">
                <a:solidFill>
                  <a:srgbClr val="030DCD"/>
                </a:solidFill>
              </a:rPr>
              <a:t>%[^=]</a:t>
            </a:r>
            <a:r>
              <a:rPr lang="en-US" altLang="zh-CN" sz="1800" b="1" dirty="0"/>
              <a:t>”,str);</a:t>
            </a:r>
            <a:r>
              <a:rPr lang="zh-CN" altLang="en-US" sz="1800" b="1" dirty="0"/>
              <a:t>   </a:t>
            </a:r>
            <a:r>
              <a:rPr lang="en-US" altLang="zh-CN" sz="1800" dirty="0"/>
              <a:t>//</a:t>
            </a:r>
            <a:r>
              <a:rPr lang="zh-CN" altLang="en-US" sz="1800" dirty="0"/>
              <a:t>获取</a:t>
            </a:r>
            <a:r>
              <a:rPr lang="zh-CN" altLang="en-US" sz="1800" b="1" dirty="0">
                <a:solidFill>
                  <a:srgbClr val="C00000"/>
                </a:solidFill>
              </a:rPr>
              <a:t>字符‘</a:t>
            </a:r>
            <a:r>
              <a:rPr lang="en-US" altLang="zh-CN" sz="1800" b="1" dirty="0">
                <a:solidFill>
                  <a:srgbClr val="C00000"/>
                </a:solidFill>
              </a:rPr>
              <a:t>=</a:t>
            </a:r>
            <a:r>
              <a:rPr lang="zh-CN" altLang="en-US" sz="1800" b="1" dirty="0">
                <a:solidFill>
                  <a:srgbClr val="C00000"/>
                </a:solidFill>
              </a:rPr>
              <a:t>’之前</a:t>
            </a:r>
            <a:r>
              <a:rPr lang="zh-CN" altLang="en-US" sz="1800" dirty="0"/>
              <a:t>输入的所有字符串到</a:t>
            </a:r>
            <a:r>
              <a:rPr lang="en-US" altLang="zh-CN" sz="1800" dirty="0"/>
              <a:t>str</a:t>
            </a:r>
            <a:r>
              <a:rPr lang="zh-CN" altLang="en-US" sz="1800" dirty="0"/>
              <a:t>中；</a:t>
            </a:r>
            <a:endParaRPr lang="en-US" altLang="zh-CN" sz="1800" dirty="0"/>
          </a:p>
          <a:p>
            <a:pPr lvl="1" indent="0">
              <a:buNone/>
            </a:pPr>
            <a:r>
              <a:rPr lang="en-US" altLang="zh-CN" sz="1800" dirty="0"/>
              <a:t>                                        //</a:t>
            </a:r>
            <a:r>
              <a:rPr lang="zh-CN" altLang="en-US" sz="1800" dirty="0"/>
              <a:t>字符串中可以含有空格，换行等字符；</a:t>
            </a:r>
            <a:endParaRPr lang="en-US" altLang="zh-CN" sz="1800" dirty="0"/>
          </a:p>
          <a:p>
            <a:pPr marL="1143000" lvl="2" indent="-285750"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rgbClr val="006600"/>
                </a:solidFill>
              </a:rPr>
              <a:t>若输入</a:t>
            </a:r>
            <a:r>
              <a:rPr lang="en-US" altLang="zh-CN" sz="1600" b="1" dirty="0">
                <a:solidFill>
                  <a:srgbClr val="006600"/>
                </a:solidFill>
              </a:rPr>
              <a:t>ab-+cd </a:t>
            </a:r>
            <a:r>
              <a:rPr lang="en-US" altLang="zh-CN" sz="1600" b="1" dirty="0" err="1">
                <a:solidFill>
                  <a:srgbClr val="006600"/>
                </a:solidFill>
              </a:rPr>
              <a:t>xMyz</a:t>
            </a:r>
            <a:r>
              <a:rPr lang="en-US" altLang="zh-CN" sz="1600" b="1" dirty="0">
                <a:solidFill>
                  <a:srgbClr val="C00000"/>
                </a:solidFill>
              </a:rPr>
              <a:t>=</a:t>
            </a:r>
            <a:r>
              <a:rPr lang="en-US" altLang="zh-CN" sz="1600" b="1" dirty="0" err="1">
                <a:solidFill>
                  <a:srgbClr val="006600"/>
                </a:solidFill>
              </a:rPr>
              <a:t>mn</a:t>
            </a:r>
            <a:r>
              <a:rPr lang="zh-CN" altLang="en-US" sz="1600" b="1" dirty="0">
                <a:solidFill>
                  <a:srgbClr val="006600"/>
                </a:solidFill>
              </a:rPr>
              <a:t>，则</a:t>
            </a:r>
            <a:r>
              <a:rPr lang="en-US" altLang="zh-CN" sz="1600" b="1" dirty="0">
                <a:solidFill>
                  <a:srgbClr val="006600"/>
                </a:solidFill>
              </a:rPr>
              <a:t>str=“ab-+cd </a:t>
            </a:r>
            <a:r>
              <a:rPr lang="en-US" altLang="zh-CN" sz="1600" b="1" dirty="0" err="1">
                <a:solidFill>
                  <a:srgbClr val="006600"/>
                </a:solidFill>
              </a:rPr>
              <a:t>xMyz</a:t>
            </a:r>
            <a:r>
              <a:rPr lang="en-US" altLang="zh-CN" sz="1600" b="1" dirty="0">
                <a:solidFill>
                  <a:srgbClr val="006600"/>
                </a:solidFill>
              </a:rPr>
              <a:t>”</a:t>
            </a:r>
            <a:r>
              <a:rPr lang="zh-CN" altLang="en-US" sz="1600" b="1" dirty="0">
                <a:solidFill>
                  <a:srgbClr val="006600"/>
                </a:solidFill>
              </a:rPr>
              <a:t>，</a:t>
            </a:r>
            <a:r>
              <a:rPr lang="en-US" altLang="zh-CN" sz="1600" b="1" dirty="0">
                <a:solidFill>
                  <a:srgbClr val="C00000"/>
                </a:solidFill>
              </a:rPr>
              <a:t>=</a:t>
            </a:r>
            <a:r>
              <a:rPr lang="zh-CN" altLang="en-US" sz="1600" b="1" dirty="0">
                <a:solidFill>
                  <a:srgbClr val="006600"/>
                </a:solidFill>
              </a:rPr>
              <a:t>及以后的丢弃（残留）</a:t>
            </a:r>
            <a:endParaRPr lang="en-US" altLang="zh-CN" sz="1600" b="1" dirty="0">
              <a:solidFill>
                <a:srgbClr val="006600"/>
              </a:solidFill>
            </a:endParaRPr>
          </a:p>
          <a:p>
            <a:pPr marL="1143000" lvl="2" indent="-285750"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rgbClr val="006600"/>
                </a:solidFill>
              </a:rPr>
              <a:t>若输入</a:t>
            </a:r>
            <a:r>
              <a:rPr lang="en-US" altLang="zh-CN" sz="1600" b="1" dirty="0" err="1">
                <a:solidFill>
                  <a:srgbClr val="006600"/>
                </a:solidFill>
              </a:rPr>
              <a:t>abcd</a:t>
            </a:r>
            <a:endParaRPr lang="en-US" altLang="zh-CN" sz="1600" b="1" dirty="0">
              <a:solidFill>
                <a:srgbClr val="006600"/>
              </a:solidFill>
            </a:endParaRPr>
          </a:p>
          <a:p>
            <a:pPr lvl="2" indent="0">
              <a:buNone/>
            </a:pPr>
            <a:r>
              <a:rPr lang="en-US" altLang="zh-CN" sz="1600" b="1" dirty="0">
                <a:solidFill>
                  <a:srgbClr val="006600"/>
                </a:solidFill>
              </a:rPr>
              <a:t>                  </a:t>
            </a:r>
            <a:r>
              <a:rPr lang="en-US" altLang="zh-CN" sz="1600" b="1" dirty="0" err="1">
                <a:solidFill>
                  <a:srgbClr val="006600"/>
                </a:solidFill>
              </a:rPr>
              <a:t>xMyz</a:t>
            </a:r>
            <a:r>
              <a:rPr lang="en-US" altLang="zh-CN" sz="1600" b="1" dirty="0">
                <a:solidFill>
                  <a:srgbClr val="C00000"/>
                </a:solidFill>
              </a:rPr>
              <a:t>=</a:t>
            </a:r>
            <a:r>
              <a:rPr lang="en-US" altLang="zh-CN" sz="1600" b="1" dirty="0" err="1">
                <a:solidFill>
                  <a:srgbClr val="006600"/>
                </a:solidFill>
              </a:rPr>
              <a:t>mn</a:t>
            </a:r>
            <a:r>
              <a:rPr lang="zh-CN" altLang="en-US" sz="1600" b="1" dirty="0">
                <a:solidFill>
                  <a:srgbClr val="006600"/>
                </a:solidFill>
              </a:rPr>
              <a:t>，则</a:t>
            </a:r>
            <a:r>
              <a:rPr lang="en-US" altLang="zh-CN" sz="1600" b="1" dirty="0">
                <a:solidFill>
                  <a:srgbClr val="006600"/>
                </a:solidFill>
              </a:rPr>
              <a:t>str=“</a:t>
            </a:r>
            <a:r>
              <a:rPr lang="en-US" altLang="zh-CN" sz="1600" b="1" dirty="0" err="1">
                <a:solidFill>
                  <a:srgbClr val="006600"/>
                </a:solidFill>
              </a:rPr>
              <a:t>abcd</a:t>
            </a:r>
            <a:endParaRPr lang="en-US" altLang="zh-CN" sz="1600" b="1" dirty="0">
              <a:solidFill>
                <a:srgbClr val="006600"/>
              </a:solidFill>
            </a:endParaRPr>
          </a:p>
          <a:p>
            <a:pPr lvl="2" indent="0">
              <a:buNone/>
            </a:pPr>
            <a:r>
              <a:rPr lang="en-US" altLang="zh-CN" sz="1600" b="1" dirty="0">
                <a:solidFill>
                  <a:srgbClr val="006600"/>
                </a:solidFill>
              </a:rPr>
              <a:t>                                                     </a:t>
            </a:r>
            <a:r>
              <a:rPr lang="en-US" altLang="zh-CN" sz="1600" b="1" dirty="0" err="1">
                <a:solidFill>
                  <a:srgbClr val="006600"/>
                </a:solidFill>
              </a:rPr>
              <a:t>xMyz</a:t>
            </a:r>
            <a:r>
              <a:rPr lang="en-US" altLang="zh-CN" sz="1600" b="1" dirty="0">
                <a:solidFill>
                  <a:srgbClr val="006600"/>
                </a:solidFill>
              </a:rPr>
              <a:t>”</a:t>
            </a:r>
            <a:r>
              <a:rPr lang="zh-CN" altLang="en-US" sz="1600" b="1" dirty="0">
                <a:solidFill>
                  <a:srgbClr val="006600"/>
                </a:solidFill>
              </a:rPr>
              <a:t>，</a:t>
            </a:r>
            <a:r>
              <a:rPr lang="en-US" altLang="zh-CN" sz="1600" b="1" dirty="0">
                <a:solidFill>
                  <a:srgbClr val="C00000"/>
                </a:solidFill>
              </a:rPr>
              <a:t>=</a:t>
            </a:r>
            <a:r>
              <a:rPr lang="zh-CN" altLang="en-US" sz="1600" b="1" dirty="0">
                <a:solidFill>
                  <a:srgbClr val="006600"/>
                </a:solidFill>
              </a:rPr>
              <a:t>及以后的丢弃（残留）</a:t>
            </a:r>
            <a:endParaRPr lang="en-US" altLang="zh-CN" sz="1600" b="1" dirty="0">
              <a:solidFill>
                <a:srgbClr val="006600"/>
              </a:solidFill>
            </a:endParaRPr>
          </a:p>
          <a:p>
            <a:pPr marL="1143000" lvl="2" indent="-285750">
              <a:buFont typeface="Arial" panose="020B0604020202020204" pitchFamily="34" charset="0"/>
              <a:buChar char="•"/>
            </a:pP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367443" y="282925"/>
            <a:ext cx="835260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 err="1">
                <a:solidFill>
                  <a:srgbClr val="1A93C8"/>
                </a:solidFill>
                <a:latin typeface="+mn-lt"/>
                <a:ea typeface="+mj-ea"/>
                <a:cs typeface="+mj-cs"/>
              </a:rPr>
              <a:t>scanf</a:t>
            </a:r>
            <a:r>
              <a:rPr lang="en-US" altLang="zh-CN" sz="2800" b="1" dirty="0">
                <a:solidFill>
                  <a:srgbClr val="1A93C8"/>
                </a:solidFill>
                <a:latin typeface="+mn-lt"/>
                <a:ea typeface="+mj-ea"/>
                <a:cs typeface="+mj-cs"/>
              </a:rPr>
              <a:t>(“%[…]”)—</a:t>
            </a:r>
            <a:r>
              <a:rPr lang="zh-CN" altLang="en-US" sz="2800" b="1" dirty="0">
                <a:solidFill>
                  <a:srgbClr val="1A93C8"/>
                </a:solidFill>
                <a:latin typeface="+mn-lt"/>
                <a:ea typeface="+mj-ea"/>
                <a:cs typeface="+mj-cs"/>
              </a:rPr>
              <a:t>只接收规定的字符组成的字符串</a:t>
            </a:r>
          </a:p>
        </p:txBody>
      </p:sp>
    </p:spTree>
    <p:extLst>
      <p:ext uri="{BB962C8B-B14F-4D97-AF65-F5344CB8AC3E}">
        <p14:creationId xmlns:p14="http://schemas.microsoft.com/office/powerpoint/2010/main" val="61080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367443" y="1025958"/>
            <a:ext cx="8063493" cy="5343669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000" b="1" dirty="0" err="1"/>
              <a:t>scanf</a:t>
            </a:r>
            <a:r>
              <a:rPr lang="en-US" altLang="zh-CN" sz="2000" b="1" dirty="0">
                <a:solidFill>
                  <a:srgbClr val="030DCD"/>
                </a:solidFill>
              </a:rPr>
              <a:t>(“%[^\n]%c</a:t>
            </a:r>
            <a:r>
              <a:rPr lang="en-US" altLang="zh-CN" sz="2000" b="1" dirty="0"/>
              <a:t>”,</a:t>
            </a:r>
            <a:r>
              <a:rPr lang="en-US" altLang="zh-CN" sz="2000" b="1" dirty="0" err="1"/>
              <a:t>str</a:t>
            </a:r>
            <a:r>
              <a:rPr lang="en-US" altLang="zh-CN" sz="2000" b="1" dirty="0" smtClean="0"/>
              <a:t>)</a:t>
            </a:r>
            <a:endParaRPr lang="en-US" altLang="zh-CN" sz="2000" dirty="0" smtClean="0">
              <a:solidFill>
                <a:srgbClr val="C00000"/>
              </a:solidFill>
            </a:endParaRPr>
          </a:p>
          <a:p>
            <a:pPr marL="971550" lvl="1"/>
            <a:r>
              <a:rPr lang="zh-CN" altLang="en-US" sz="1800" dirty="0" smtClean="0"/>
              <a:t>获取</a:t>
            </a:r>
            <a:r>
              <a:rPr lang="zh-CN" altLang="en-US" sz="1800" b="1" dirty="0">
                <a:solidFill>
                  <a:srgbClr val="C00000"/>
                </a:solidFill>
              </a:rPr>
              <a:t>回车</a:t>
            </a:r>
            <a:r>
              <a:rPr lang="en-US" altLang="zh-CN" sz="1800" dirty="0" smtClean="0"/>
              <a:t>(</a:t>
            </a:r>
            <a:r>
              <a:rPr lang="zh-CN" altLang="en-US" sz="1800" b="1" dirty="0" smtClean="0">
                <a:solidFill>
                  <a:srgbClr val="7030A0"/>
                </a:solidFill>
              </a:rPr>
              <a:t>换行</a:t>
            </a:r>
            <a:r>
              <a:rPr lang="en-US" altLang="zh-CN" sz="1800" b="1" dirty="0" smtClean="0">
                <a:solidFill>
                  <a:srgbClr val="C00000"/>
                </a:solidFill>
              </a:rPr>
              <a:t>)</a:t>
            </a:r>
            <a:r>
              <a:rPr lang="zh-CN" altLang="en-US" sz="1800" b="1" dirty="0" smtClean="0">
                <a:solidFill>
                  <a:srgbClr val="C00000"/>
                </a:solidFill>
              </a:rPr>
              <a:t>之前</a:t>
            </a:r>
            <a:r>
              <a:rPr lang="zh-CN" altLang="en-US" sz="1800" dirty="0"/>
              <a:t>输入的字符串到</a:t>
            </a:r>
            <a:r>
              <a:rPr lang="en-US" altLang="zh-CN" sz="1800" dirty="0" err="1"/>
              <a:t>str</a:t>
            </a:r>
            <a:r>
              <a:rPr lang="zh-CN" altLang="en-US" sz="1800" dirty="0" smtClean="0"/>
              <a:t>中；</a:t>
            </a:r>
            <a:endParaRPr lang="en-US" altLang="zh-CN" sz="1800" dirty="0" smtClean="0"/>
          </a:p>
          <a:p>
            <a:pPr marL="971550" lvl="1"/>
            <a:r>
              <a:rPr lang="zh-CN" altLang="en-US" sz="1800" dirty="0" smtClean="0"/>
              <a:t>可以</a:t>
            </a:r>
            <a:r>
              <a:rPr lang="zh-CN" altLang="en-US" sz="1800" dirty="0"/>
              <a:t>是</a:t>
            </a:r>
            <a:r>
              <a:rPr lang="zh-CN" altLang="en-US" sz="1800" dirty="0" smtClean="0"/>
              <a:t>换行符之外</a:t>
            </a:r>
            <a:r>
              <a:rPr lang="zh-CN" altLang="en-US" sz="1800" dirty="0"/>
              <a:t>的任何</a:t>
            </a:r>
            <a:r>
              <a:rPr lang="zh-CN" altLang="en-US" sz="1800" dirty="0" smtClean="0"/>
              <a:t>字符，</a:t>
            </a:r>
            <a:r>
              <a:rPr lang="zh-CN" altLang="en-US" sz="1800" b="1" dirty="0">
                <a:solidFill>
                  <a:srgbClr val="7030A0"/>
                </a:solidFill>
              </a:rPr>
              <a:t>自然也包括空格；</a:t>
            </a:r>
            <a:endParaRPr lang="en-US" altLang="zh-CN" sz="1800" b="1" dirty="0">
              <a:solidFill>
                <a:srgbClr val="7030A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如：</a:t>
            </a:r>
            <a:endParaRPr lang="en-US" altLang="zh-CN" sz="2000" dirty="0" smtClean="0"/>
          </a:p>
          <a:p>
            <a:pPr lvl="1" indent="0">
              <a:lnSpc>
                <a:spcPct val="120000"/>
              </a:lnSpc>
              <a:buNone/>
            </a:pPr>
            <a:r>
              <a:rPr lang="en-US" altLang="zh-CN" sz="1600" dirty="0"/>
              <a:t>#include &lt;</a:t>
            </a:r>
            <a:r>
              <a:rPr lang="en-US" altLang="zh-CN" sz="1600" dirty="0" err="1"/>
              <a:t>stdio.h</a:t>
            </a:r>
            <a:r>
              <a:rPr lang="en-US" altLang="zh-CN" sz="1600" dirty="0"/>
              <a:t>&gt;</a:t>
            </a:r>
          </a:p>
          <a:p>
            <a:pPr lvl="1" indent="0">
              <a:lnSpc>
                <a:spcPct val="120000"/>
              </a:lnSpc>
              <a:buNone/>
            </a:pPr>
            <a:r>
              <a:rPr lang="en-US" altLang="zh-CN" sz="1600" dirty="0" err="1"/>
              <a:t>int</a:t>
            </a:r>
            <a:r>
              <a:rPr lang="en-US" altLang="zh-CN" sz="1600" dirty="0"/>
              <a:t> main()</a:t>
            </a:r>
          </a:p>
          <a:p>
            <a:pPr lvl="1" indent="0">
              <a:lnSpc>
                <a:spcPct val="120000"/>
              </a:lnSpc>
              <a:buNone/>
            </a:pPr>
            <a:r>
              <a:rPr lang="en-US" altLang="zh-CN" sz="1600" dirty="0"/>
              <a:t>{</a:t>
            </a:r>
          </a:p>
          <a:p>
            <a:pPr lvl="1" indent="0">
              <a:lnSpc>
                <a:spcPct val="120000"/>
              </a:lnSpc>
              <a:buNone/>
            </a:pPr>
            <a:r>
              <a:rPr lang="en-US" altLang="zh-CN" sz="1600" dirty="0"/>
              <a:t>	</a:t>
            </a:r>
            <a:r>
              <a:rPr lang="en-US" altLang="zh-CN" sz="1600" dirty="0" smtClean="0"/>
              <a:t>     char </a:t>
            </a:r>
            <a:r>
              <a:rPr lang="en-US" altLang="zh-CN" sz="1600" dirty="0" err="1"/>
              <a:t>str</a:t>
            </a:r>
            <a:r>
              <a:rPr lang="en-US" altLang="zh-CN" sz="1600" dirty="0"/>
              <a:t>[20];</a:t>
            </a:r>
          </a:p>
          <a:p>
            <a:pPr lvl="1" indent="0">
              <a:lnSpc>
                <a:spcPct val="120000"/>
              </a:lnSpc>
              <a:buNone/>
            </a:pPr>
            <a:r>
              <a:rPr lang="en-US" altLang="zh-CN" sz="1600" dirty="0" smtClean="0"/>
              <a:t>      </a:t>
            </a:r>
            <a:r>
              <a:rPr lang="en-US" altLang="zh-CN" sz="1600" dirty="0" err="1" smtClean="0"/>
              <a:t>scanf</a:t>
            </a:r>
            <a:r>
              <a:rPr lang="en-US" altLang="zh-CN" sz="1600" dirty="0" smtClean="0"/>
              <a:t>(“%[^\</a:t>
            </a:r>
            <a:r>
              <a:rPr lang="en-US" altLang="zh-CN" sz="1600" dirty="0"/>
              <a:t>n]%</a:t>
            </a:r>
            <a:r>
              <a:rPr lang="en-US" altLang="zh-CN" sz="1600" dirty="0" smtClean="0"/>
              <a:t>c”,</a:t>
            </a:r>
            <a:r>
              <a:rPr lang="en-US" altLang="zh-CN" sz="1600" dirty="0" err="1"/>
              <a:t>str</a:t>
            </a:r>
            <a:r>
              <a:rPr lang="en-US" altLang="zh-CN" sz="1600" dirty="0" smtClean="0"/>
              <a:t>);   //</a:t>
            </a:r>
            <a:r>
              <a:rPr lang="zh-CN" altLang="en-US" sz="1600" dirty="0" smtClean="0"/>
              <a:t>输入：</a:t>
            </a:r>
            <a:r>
              <a:rPr lang="en-US" altLang="zh-CN" sz="1600" dirty="0" smtClean="0">
                <a:solidFill>
                  <a:srgbClr val="030DCD"/>
                </a:solidFill>
              </a:rPr>
              <a:t>How are you</a:t>
            </a:r>
            <a:r>
              <a:rPr lang="en-US" altLang="zh-CN" sz="1600" dirty="0" smtClean="0"/>
              <a:t>.   //</a:t>
            </a:r>
            <a:r>
              <a:rPr lang="zh-CN" altLang="en-US" sz="1600" dirty="0" smtClean="0"/>
              <a:t>所有字符被</a:t>
            </a:r>
            <a:r>
              <a:rPr lang="en-US" altLang="zh-CN" sz="1600" dirty="0" err="1" smtClean="0"/>
              <a:t>str</a:t>
            </a:r>
            <a:r>
              <a:rPr lang="zh-CN" altLang="en-US" sz="1600" dirty="0" smtClean="0"/>
              <a:t>接收，包括空格</a:t>
            </a:r>
            <a:endParaRPr lang="en-US" altLang="zh-CN" sz="1600" dirty="0"/>
          </a:p>
          <a:p>
            <a:pPr lvl="1" indent="0">
              <a:lnSpc>
                <a:spcPct val="120000"/>
              </a:lnSpc>
              <a:buNone/>
            </a:pPr>
            <a:r>
              <a:rPr lang="en-US" altLang="zh-CN" sz="1600" dirty="0"/>
              <a:t>    </a:t>
            </a:r>
            <a:r>
              <a:rPr lang="en-US" altLang="zh-CN" sz="1600" dirty="0" smtClean="0"/>
              <a:t>   </a:t>
            </a:r>
            <a:r>
              <a:rPr lang="en-US" altLang="zh-CN" sz="1600" dirty="0" err="1" smtClean="0"/>
              <a:t>printf</a:t>
            </a:r>
            <a:r>
              <a:rPr lang="en-US" altLang="zh-CN" sz="1600" dirty="0" smtClean="0"/>
              <a:t>(“</a:t>
            </a:r>
            <a:r>
              <a:rPr lang="en-US" altLang="zh-CN" sz="1600" dirty="0" err="1" smtClean="0"/>
              <a:t>str</a:t>
            </a:r>
            <a:r>
              <a:rPr lang="en-US" altLang="zh-CN" sz="1600" dirty="0"/>
              <a:t>=%</a:t>
            </a:r>
            <a:r>
              <a:rPr lang="en-US" altLang="zh-CN" sz="1600" dirty="0" smtClean="0"/>
              <a:t>s\n”,</a:t>
            </a:r>
            <a:r>
              <a:rPr lang="en-US" altLang="zh-CN" sz="1600" dirty="0" err="1"/>
              <a:t>str</a:t>
            </a:r>
            <a:r>
              <a:rPr lang="en-US" altLang="zh-CN" sz="1600" dirty="0" smtClean="0"/>
              <a:t>);    //</a:t>
            </a:r>
            <a:r>
              <a:rPr lang="zh-CN" altLang="en-US" sz="1600" dirty="0" smtClean="0"/>
              <a:t>输出：</a:t>
            </a:r>
            <a:r>
              <a:rPr lang="en-US" altLang="zh-CN" sz="1600" dirty="0">
                <a:solidFill>
                  <a:srgbClr val="030DCD"/>
                </a:solidFill>
              </a:rPr>
              <a:t>How are you.</a:t>
            </a:r>
            <a:r>
              <a:rPr lang="en-US" altLang="zh-CN" sz="1600" dirty="0"/>
              <a:t> </a:t>
            </a:r>
          </a:p>
          <a:p>
            <a:pPr lvl="1" indent="0">
              <a:lnSpc>
                <a:spcPct val="120000"/>
              </a:lnSpc>
              <a:buNone/>
            </a:pPr>
            <a:r>
              <a:rPr lang="en-US" altLang="zh-CN" sz="1600" dirty="0"/>
              <a:t> </a:t>
            </a:r>
            <a:r>
              <a:rPr lang="en-US" altLang="zh-CN" sz="1600" dirty="0" smtClean="0"/>
              <a:t>}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注意</a:t>
            </a:r>
            <a:endParaRPr lang="en-US" altLang="zh-CN" sz="2000" dirty="0"/>
          </a:p>
          <a:p>
            <a:pPr marL="971550" lvl="1"/>
            <a:r>
              <a:rPr lang="zh-CN" altLang="en-US" sz="1800" b="1" dirty="0" smtClean="0">
                <a:solidFill>
                  <a:srgbClr val="C00000"/>
                </a:solidFill>
              </a:rPr>
              <a:t>换行符（</a:t>
            </a:r>
            <a:r>
              <a:rPr lang="en-US" altLang="zh-CN" sz="1800" b="1" dirty="0" smtClean="0">
                <a:solidFill>
                  <a:srgbClr val="C00000"/>
                </a:solidFill>
              </a:rPr>
              <a:t>\n</a:t>
            </a:r>
            <a:r>
              <a:rPr lang="zh-CN" altLang="en-US" sz="1800" b="1" dirty="0" smtClean="0">
                <a:solidFill>
                  <a:srgbClr val="C00000"/>
                </a:solidFill>
              </a:rPr>
              <a:t>）会</a:t>
            </a:r>
            <a:r>
              <a:rPr lang="zh-CN" altLang="en-US" sz="1800" b="1" dirty="0">
                <a:solidFill>
                  <a:srgbClr val="C00000"/>
                </a:solidFill>
              </a:rPr>
              <a:t>残留缓冲区中；</a:t>
            </a:r>
            <a:endParaRPr lang="en-US" altLang="zh-CN" sz="1800" b="1" dirty="0">
              <a:solidFill>
                <a:srgbClr val="C00000"/>
              </a:solidFill>
            </a:endParaRPr>
          </a:p>
          <a:p>
            <a:pPr marL="971550" lvl="1"/>
            <a:r>
              <a:rPr lang="zh-CN" altLang="en-US" sz="1800" b="1" dirty="0">
                <a:solidFill>
                  <a:srgbClr val="006600"/>
                </a:solidFill>
              </a:rPr>
              <a:t>注意使用</a:t>
            </a:r>
            <a:r>
              <a:rPr lang="en-US" altLang="zh-CN" sz="1800" b="1" dirty="0" err="1">
                <a:solidFill>
                  <a:srgbClr val="C00000"/>
                </a:solidFill>
              </a:rPr>
              <a:t>fflush</a:t>
            </a:r>
            <a:r>
              <a:rPr lang="en-US" altLang="zh-CN" sz="1800" b="1" dirty="0">
                <a:solidFill>
                  <a:srgbClr val="C00000"/>
                </a:solidFill>
              </a:rPr>
              <a:t>(</a:t>
            </a:r>
            <a:r>
              <a:rPr lang="en-US" altLang="zh-CN" sz="1800" b="1" dirty="0" err="1">
                <a:solidFill>
                  <a:srgbClr val="C00000"/>
                </a:solidFill>
              </a:rPr>
              <a:t>stdin</a:t>
            </a:r>
            <a:r>
              <a:rPr lang="en-US" altLang="zh-CN" sz="1800" b="1" dirty="0">
                <a:solidFill>
                  <a:srgbClr val="C00000"/>
                </a:solidFill>
              </a:rPr>
              <a:t>)</a:t>
            </a:r>
            <a:r>
              <a:rPr lang="zh-CN" altLang="en-US" sz="1800" b="1" dirty="0">
                <a:solidFill>
                  <a:srgbClr val="006600"/>
                </a:solidFill>
              </a:rPr>
              <a:t>消除输入缓冲区数据残留带来的副作用；</a:t>
            </a:r>
            <a:endParaRPr lang="en-US" altLang="zh-CN" sz="1800" b="1" dirty="0">
              <a:solidFill>
                <a:srgbClr val="0066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 smtClean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 smtClean="0"/>
          </a:p>
          <a:p>
            <a:pPr marL="971550" lvl="1"/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367443" y="282925"/>
            <a:ext cx="739456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 err="1">
                <a:solidFill>
                  <a:srgbClr val="1A93C8"/>
                </a:solidFill>
                <a:latin typeface="+mn-lt"/>
                <a:ea typeface="+mj-ea"/>
                <a:cs typeface="+mj-cs"/>
              </a:rPr>
              <a:t>scanf</a:t>
            </a:r>
            <a:r>
              <a:rPr lang="en-US" altLang="zh-CN" sz="2800" b="1" dirty="0" smtClean="0">
                <a:solidFill>
                  <a:srgbClr val="1A93C8"/>
                </a:solidFill>
                <a:latin typeface="+mn-lt"/>
                <a:ea typeface="+mj-ea"/>
                <a:cs typeface="+mj-cs"/>
              </a:rPr>
              <a:t>()—</a:t>
            </a:r>
            <a:r>
              <a:rPr lang="zh-CN" altLang="en-US" sz="2800" b="1" dirty="0" smtClean="0">
                <a:solidFill>
                  <a:srgbClr val="7030A0"/>
                </a:solidFill>
                <a:latin typeface="+mn-lt"/>
                <a:ea typeface="+mj-ea"/>
                <a:cs typeface="+mj-cs"/>
              </a:rPr>
              <a:t>输入带空格的字符串</a:t>
            </a:r>
            <a:endParaRPr lang="zh-CN" altLang="en-US" sz="2800" b="1" dirty="0">
              <a:solidFill>
                <a:srgbClr val="7030A0"/>
              </a:solidFill>
              <a:latin typeface="+mn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833821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367443" y="1025958"/>
            <a:ext cx="7772400" cy="5343669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如</a:t>
            </a:r>
            <a:endParaRPr lang="en-US" altLang="zh-CN" sz="2000" dirty="0"/>
          </a:p>
          <a:p>
            <a:pPr lvl="1" indent="0">
              <a:buNone/>
            </a:pPr>
            <a:r>
              <a:rPr lang="en-US" altLang="zh-CN" sz="1800" dirty="0"/>
              <a:t>char str1[20],str2[20];</a:t>
            </a:r>
          </a:p>
          <a:p>
            <a:pPr lvl="1" indent="0">
              <a:buNone/>
            </a:pPr>
            <a:r>
              <a:rPr lang="en-US" altLang="zh-CN" sz="1800" dirty="0" err="1"/>
              <a:t>scanf</a:t>
            </a:r>
            <a:r>
              <a:rPr lang="en-US" altLang="zh-CN" sz="1800" dirty="0">
                <a:solidFill>
                  <a:srgbClr val="FF0000"/>
                </a:solidFill>
              </a:rPr>
              <a:t>(“%[^\n]</a:t>
            </a:r>
            <a:r>
              <a:rPr lang="en-US" altLang="zh-CN" sz="1800" dirty="0"/>
              <a:t>”,str1)</a:t>
            </a:r>
            <a:r>
              <a:rPr lang="zh-CN" altLang="en-US" sz="1800" dirty="0"/>
              <a:t>；</a:t>
            </a:r>
            <a:r>
              <a:rPr lang="en-US" altLang="zh-CN" sz="1800" dirty="0"/>
              <a:t> </a:t>
            </a:r>
          </a:p>
          <a:p>
            <a:pPr lvl="1" indent="0">
              <a:buNone/>
            </a:pPr>
            <a:r>
              <a:rPr lang="en-US" altLang="zh-CN" sz="1800" dirty="0" err="1"/>
              <a:t>scanf</a:t>
            </a:r>
            <a:r>
              <a:rPr lang="en-US" altLang="zh-CN" sz="1800" dirty="0">
                <a:solidFill>
                  <a:srgbClr val="FF0000"/>
                </a:solidFill>
              </a:rPr>
              <a:t>(“%[^\n]</a:t>
            </a:r>
            <a:r>
              <a:rPr lang="en-US" altLang="zh-CN" sz="1800" dirty="0"/>
              <a:t>”,str2)</a:t>
            </a:r>
            <a:r>
              <a:rPr lang="zh-CN" altLang="en-US" sz="1800" dirty="0"/>
              <a:t>；</a:t>
            </a:r>
            <a:endParaRPr lang="en-US" altLang="zh-CN" sz="16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000" dirty="0" err="1">
                <a:solidFill>
                  <a:srgbClr val="030DCD"/>
                </a:solidFill>
              </a:rPr>
              <a:t>scanf</a:t>
            </a:r>
            <a:r>
              <a:rPr lang="en-US" altLang="zh-CN" sz="2000" dirty="0">
                <a:solidFill>
                  <a:srgbClr val="030DCD"/>
                </a:solidFill>
              </a:rPr>
              <a:t>(“%[^\n]”,str1)</a:t>
            </a:r>
            <a:r>
              <a:rPr lang="zh-CN" altLang="en-US" sz="2000" dirty="0">
                <a:solidFill>
                  <a:srgbClr val="030DCD"/>
                </a:solidFill>
              </a:rPr>
              <a:t>是获取回车之前输入的字符串到</a:t>
            </a:r>
            <a:r>
              <a:rPr lang="en-US" altLang="zh-CN" sz="2000" dirty="0">
                <a:solidFill>
                  <a:srgbClr val="030DCD"/>
                </a:solidFill>
              </a:rPr>
              <a:t>str1</a:t>
            </a:r>
            <a:r>
              <a:rPr lang="zh-CN" altLang="en-US" sz="2000" dirty="0">
                <a:solidFill>
                  <a:srgbClr val="030DCD"/>
                </a:solidFill>
              </a:rPr>
              <a:t>中；</a:t>
            </a:r>
            <a:endParaRPr lang="en-US" altLang="zh-CN" sz="2000" dirty="0">
              <a:solidFill>
                <a:srgbClr val="030DCD"/>
              </a:solidFill>
            </a:endParaRPr>
          </a:p>
          <a:p>
            <a:pPr marL="971550" lvl="1"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006600"/>
                </a:solidFill>
              </a:rPr>
              <a:t>利用回车结束输入字符串后，字符串被</a:t>
            </a:r>
            <a:r>
              <a:rPr lang="en-US" altLang="zh-CN" sz="1800" dirty="0">
                <a:solidFill>
                  <a:srgbClr val="006600"/>
                </a:solidFill>
              </a:rPr>
              <a:t>str1</a:t>
            </a:r>
            <a:r>
              <a:rPr lang="zh-CN" altLang="en-US" sz="1800" dirty="0">
                <a:solidFill>
                  <a:srgbClr val="006600"/>
                </a:solidFill>
              </a:rPr>
              <a:t>取走，但换行符</a:t>
            </a:r>
            <a:r>
              <a:rPr lang="en-US" altLang="zh-CN" sz="1800" dirty="0">
                <a:solidFill>
                  <a:srgbClr val="FF0000"/>
                </a:solidFill>
              </a:rPr>
              <a:t>’\n’</a:t>
            </a:r>
            <a:r>
              <a:rPr lang="zh-CN" altLang="en-US" sz="1800" dirty="0">
                <a:solidFill>
                  <a:srgbClr val="006600"/>
                </a:solidFill>
              </a:rPr>
              <a:t>尚保留在输入缓存中</a:t>
            </a:r>
            <a:r>
              <a:rPr lang="zh-CN" altLang="en-US" sz="1600" dirty="0">
                <a:solidFill>
                  <a:srgbClr val="006600"/>
                </a:solidFill>
              </a:rPr>
              <a:t>；</a:t>
            </a:r>
            <a:endParaRPr lang="en-US" altLang="zh-CN" sz="1600" dirty="0">
              <a:solidFill>
                <a:srgbClr val="0066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30DCD"/>
                </a:solidFill>
              </a:rPr>
              <a:t>继续执行语句</a:t>
            </a:r>
            <a:r>
              <a:rPr lang="en-US" altLang="zh-CN" sz="2000" dirty="0" err="1">
                <a:solidFill>
                  <a:srgbClr val="030DCD"/>
                </a:solidFill>
              </a:rPr>
              <a:t>scanf</a:t>
            </a:r>
            <a:r>
              <a:rPr lang="en-US" altLang="zh-CN" sz="2000" dirty="0">
                <a:solidFill>
                  <a:srgbClr val="030DCD"/>
                </a:solidFill>
              </a:rPr>
              <a:t>(“%[^\n]”,str2)</a:t>
            </a:r>
            <a:r>
              <a:rPr lang="zh-CN" altLang="en-US" sz="2000" dirty="0">
                <a:solidFill>
                  <a:srgbClr val="030DCD"/>
                </a:solidFill>
              </a:rPr>
              <a:t>时，</a:t>
            </a:r>
            <a:r>
              <a:rPr lang="en-US" altLang="zh-CN" sz="2000" dirty="0">
                <a:solidFill>
                  <a:srgbClr val="030DCD"/>
                </a:solidFill>
              </a:rPr>
              <a:t>str2</a:t>
            </a:r>
            <a:r>
              <a:rPr lang="zh-CN" altLang="en-US" sz="2000" dirty="0">
                <a:solidFill>
                  <a:srgbClr val="030DCD"/>
                </a:solidFill>
              </a:rPr>
              <a:t>就读取输入缓存中残留的</a:t>
            </a:r>
            <a:r>
              <a:rPr lang="en-US" altLang="zh-CN" sz="2000" dirty="0">
                <a:solidFill>
                  <a:srgbClr val="030DCD"/>
                </a:solidFill>
              </a:rPr>
              <a:t>’\n’</a:t>
            </a:r>
            <a:r>
              <a:rPr lang="zh-CN" altLang="en-US" sz="2000" dirty="0">
                <a:solidFill>
                  <a:srgbClr val="030DCD"/>
                </a:solidFill>
              </a:rPr>
              <a:t>，保持原值不变；</a:t>
            </a:r>
            <a:endParaRPr lang="en-US" altLang="zh-CN" sz="2000" dirty="0">
              <a:solidFill>
                <a:srgbClr val="030DCD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000" dirty="0"/>
              <a:t>Solution</a:t>
            </a:r>
          </a:p>
          <a:p>
            <a:pPr marL="971550" lvl="1"/>
            <a:r>
              <a:rPr lang="en-US" altLang="zh-CN" sz="1800" dirty="0" err="1"/>
              <a:t>scanf</a:t>
            </a:r>
            <a:r>
              <a:rPr lang="en-US" altLang="zh-CN" sz="1800" dirty="0"/>
              <a:t>(“%[^\n]%c”,</a:t>
            </a:r>
            <a:r>
              <a:rPr lang="en-US" altLang="zh-CN" sz="1800" dirty="0" err="1"/>
              <a:t>str</a:t>
            </a:r>
            <a:r>
              <a:rPr lang="en-US" altLang="zh-CN" sz="1800" dirty="0"/>
              <a:t>);  </a:t>
            </a:r>
            <a:r>
              <a:rPr lang="en-US" altLang="zh-CN" sz="1800" dirty="0">
                <a:solidFill>
                  <a:srgbClr val="030DCD"/>
                </a:solidFill>
              </a:rPr>
              <a:t>//%c</a:t>
            </a:r>
            <a:r>
              <a:rPr lang="zh-CN" altLang="en-US" sz="1800" dirty="0">
                <a:solidFill>
                  <a:srgbClr val="030DCD"/>
                </a:solidFill>
              </a:rPr>
              <a:t>将回车符</a:t>
            </a:r>
            <a:r>
              <a:rPr lang="en-US" altLang="zh-CN" sz="1800" dirty="0">
                <a:solidFill>
                  <a:srgbClr val="030DCD"/>
                </a:solidFill>
              </a:rPr>
              <a:t>’\n’</a:t>
            </a:r>
            <a:r>
              <a:rPr lang="zh-CN" altLang="en-US" sz="1800" dirty="0">
                <a:solidFill>
                  <a:srgbClr val="030DCD"/>
                </a:solidFill>
              </a:rPr>
              <a:t>读走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 marL="971550" lvl="1"/>
            <a:r>
              <a:rPr lang="zh-CN" altLang="en-US" sz="1800" dirty="0"/>
              <a:t>在两个</a:t>
            </a:r>
            <a:r>
              <a:rPr lang="en-US" altLang="zh-CN" sz="1800" dirty="0" err="1"/>
              <a:t>scanf</a:t>
            </a:r>
            <a:r>
              <a:rPr lang="en-US" altLang="zh-CN" sz="1800" dirty="0"/>
              <a:t>()</a:t>
            </a:r>
            <a:r>
              <a:rPr lang="zh-CN" altLang="en-US" sz="1800" dirty="0"/>
              <a:t>语句之间添加</a:t>
            </a:r>
            <a:r>
              <a:rPr lang="en-US" altLang="zh-CN" sz="1800" b="1" i="1" u="sng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fflush</a:t>
            </a:r>
            <a:r>
              <a:rPr lang="en-US" altLang="zh-CN" sz="18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zh-CN" sz="1800" b="1" i="1" u="sng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stdin</a:t>
            </a:r>
            <a:r>
              <a:rPr lang="en-US" altLang="zh-CN" sz="18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r>
              <a:rPr lang="zh-CN" altLang="en-US" sz="1800" dirty="0"/>
              <a:t>初始化输入缓存，即</a:t>
            </a:r>
            <a:endParaRPr lang="en-US" altLang="zh-CN" sz="1800" dirty="0"/>
          </a:p>
          <a:p>
            <a:pPr lvl="1" indent="0">
              <a:buNone/>
            </a:pPr>
            <a:r>
              <a:rPr lang="en-US" altLang="zh-CN" sz="1800" dirty="0"/>
              <a:t>       </a:t>
            </a:r>
            <a:r>
              <a:rPr lang="en-US" altLang="zh-CN" sz="1800" dirty="0" err="1"/>
              <a:t>scanf</a:t>
            </a:r>
            <a:r>
              <a:rPr lang="en-US" altLang="zh-CN" sz="1800" dirty="0"/>
              <a:t>(“%[^\n]”,str1)</a:t>
            </a:r>
            <a:r>
              <a:rPr lang="zh-CN" altLang="en-US" sz="1800" dirty="0"/>
              <a:t>；</a:t>
            </a:r>
            <a:r>
              <a:rPr lang="en-US" altLang="zh-CN" sz="1800" dirty="0" err="1">
                <a:solidFill>
                  <a:srgbClr val="C00000"/>
                </a:solidFill>
              </a:rPr>
              <a:t>fflush</a:t>
            </a:r>
            <a:r>
              <a:rPr lang="en-US" altLang="zh-CN" sz="1800" dirty="0">
                <a:solidFill>
                  <a:srgbClr val="C00000"/>
                </a:solidFill>
              </a:rPr>
              <a:t>(</a:t>
            </a:r>
            <a:r>
              <a:rPr lang="en-US" altLang="zh-CN" sz="1800" dirty="0" err="1">
                <a:solidFill>
                  <a:srgbClr val="C00000"/>
                </a:solidFill>
              </a:rPr>
              <a:t>stdin</a:t>
            </a:r>
            <a:r>
              <a:rPr lang="en-US" altLang="zh-CN" sz="1800" dirty="0">
                <a:solidFill>
                  <a:srgbClr val="C00000"/>
                </a:solidFill>
              </a:rPr>
              <a:t>);  </a:t>
            </a:r>
            <a:r>
              <a:rPr lang="en-US" altLang="zh-CN" sz="1800" dirty="0" err="1"/>
              <a:t>scanf</a:t>
            </a:r>
            <a:r>
              <a:rPr lang="en-US" altLang="zh-CN" sz="1800" dirty="0"/>
              <a:t>(“%[^\n]”,str2)</a:t>
            </a:r>
            <a:r>
              <a:rPr lang="zh-CN" altLang="en-US" sz="1800" dirty="0"/>
              <a:t>；</a:t>
            </a:r>
            <a:endParaRPr lang="en-US" altLang="zh-CN" sz="1600" dirty="0"/>
          </a:p>
          <a:p>
            <a:pPr marL="971550" lvl="1"/>
            <a:endParaRPr lang="en-US" altLang="zh-CN" sz="1800" dirty="0"/>
          </a:p>
          <a:p>
            <a:pPr marL="971550" lvl="1"/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marL="971550" lvl="1"/>
            <a:endParaRPr lang="en-US" altLang="zh-CN" dirty="0"/>
          </a:p>
          <a:p>
            <a:pPr marL="971550" lvl="1"/>
            <a:endParaRPr lang="en-US" altLang="zh-CN" dirty="0"/>
          </a:p>
          <a:p>
            <a:pPr>
              <a:buFont typeface="Wingdings" panose="05000000000000000000" pitchFamily="2" charset="2"/>
              <a:buNone/>
            </a:pPr>
            <a:endParaRPr lang="zh-CN" altLang="en-US" b="1" dirty="0">
              <a:latin typeface="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367443" y="282925"/>
            <a:ext cx="851678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1A93C8"/>
                </a:solidFill>
                <a:latin typeface="+mj-lt"/>
                <a:ea typeface="+mj-ea"/>
                <a:cs typeface="+mj-cs"/>
              </a:rPr>
              <a:t>关于</a:t>
            </a:r>
            <a:r>
              <a:rPr lang="en-US" altLang="zh-CN" sz="2800" dirty="0">
                <a:solidFill>
                  <a:srgbClr val="1A93C8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altLang="zh-CN" sz="2800" dirty="0" err="1">
                <a:solidFill>
                  <a:srgbClr val="1A93C8"/>
                </a:solidFill>
                <a:latin typeface="+mj-lt"/>
                <a:ea typeface="+mj-ea"/>
                <a:cs typeface="+mj-cs"/>
              </a:rPr>
              <a:t>scanf</a:t>
            </a:r>
            <a:r>
              <a:rPr lang="en-US" altLang="zh-CN" sz="2800" dirty="0">
                <a:solidFill>
                  <a:srgbClr val="1A93C8"/>
                </a:solidFill>
                <a:latin typeface="+mj-lt"/>
                <a:ea typeface="+mj-ea"/>
                <a:cs typeface="+mj-cs"/>
              </a:rPr>
              <a:t>(“%[^\n]”,</a:t>
            </a:r>
            <a:r>
              <a:rPr lang="en-US" altLang="zh-CN" sz="2800" dirty="0" err="1">
                <a:solidFill>
                  <a:srgbClr val="1A93C8"/>
                </a:solidFill>
                <a:latin typeface="+mj-lt"/>
                <a:ea typeface="+mj-ea"/>
                <a:cs typeface="+mj-cs"/>
              </a:rPr>
              <a:t>str</a:t>
            </a:r>
            <a:r>
              <a:rPr lang="en-US" altLang="zh-CN" sz="2800" dirty="0">
                <a:solidFill>
                  <a:srgbClr val="1A93C8"/>
                </a:solidFill>
                <a:latin typeface="+mj-lt"/>
                <a:ea typeface="+mj-ea"/>
                <a:cs typeface="+mj-cs"/>
              </a:rPr>
              <a:t>)</a:t>
            </a:r>
            <a:r>
              <a:rPr lang="zh-CN" altLang="en-US" sz="2800" dirty="0">
                <a:solidFill>
                  <a:srgbClr val="1A93C8"/>
                </a:solidFill>
                <a:latin typeface="+mj-lt"/>
                <a:ea typeface="+mj-ea"/>
                <a:cs typeface="+mj-cs"/>
              </a:rPr>
              <a:t>的使用</a:t>
            </a:r>
            <a:r>
              <a:rPr lang="en-US" altLang="zh-CN" sz="2800" dirty="0">
                <a:solidFill>
                  <a:srgbClr val="1A93C8"/>
                </a:solidFill>
                <a:latin typeface="+mj-lt"/>
                <a:ea typeface="+mj-ea"/>
                <a:cs typeface="+mj-cs"/>
              </a:rPr>
              <a:t>—</a:t>
            </a:r>
            <a:r>
              <a:rPr lang="zh-CN" altLang="en-US" sz="2800" dirty="0">
                <a:solidFill>
                  <a:srgbClr val="1A93C8"/>
                </a:solidFill>
                <a:latin typeface="+mj-lt"/>
                <a:ea typeface="+mj-ea"/>
                <a:cs typeface="+mj-cs"/>
              </a:rPr>
              <a:t>缓冲区数据残留</a:t>
            </a:r>
            <a:endParaRPr lang="en-US" altLang="zh-CN" sz="2800" dirty="0">
              <a:solidFill>
                <a:srgbClr val="1A93C8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802055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A7A1DD-9212-4DCF-A1A4-1462A9A50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字符型</a:t>
            </a:r>
            <a:r>
              <a:rPr lang="zh-CN" altLang="en-US" dirty="0">
                <a:solidFill>
                  <a:srgbClr val="030DCD"/>
                </a:solidFill>
              </a:rPr>
              <a:t>指针</a:t>
            </a:r>
            <a:r>
              <a:rPr lang="zh-CN" altLang="en-US" dirty="0" smtClean="0">
                <a:solidFill>
                  <a:srgbClr val="030DCD"/>
                </a:solidFill>
              </a:rPr>
              <a:t>数组</a:t>
            </a: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5B76CF-D343-49EC-BFD3-87B3CE2315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775" y="1135063"/>
            <a:ext cx="8467032" cy="5345112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000" dirty="0" smtClean="0"/>
              <a:t>char </a:t>
            </a:r>
            <a:r>
              <a:rPr lang="zh-CN" altLang="en-US" sz="2000" dirty="0" smtClean="0"/>
              <a:t>*</a:t>
            </a:r>
            <a:r>
              <a:rPr lang="en-US" altLang="zh-CN" sz="2000" dirty="0" err="1" smtClean="0"/>
              <a:t>str</a:t>
            </a:r>
            <a:r>
              <a:rPr lang="en-US" altLang="zh-CN" sz="2000" dirty="0" smtClean="0"/>
              <a:t>[10]; </a:t>
            </a:r>
          </a:p>
          <a:p>
            <a:pPr marL="971550" lvl="1"/>
            <a:r>
              <a:rPr lang="en-US" altLang="zh-CN" sz="1800" dirty="0" smtClean="0"/>
              <a:t> </a:t>
            </a:r>
            <a:r>
              <a:rPr lang="zh-CN" altLang="en-US" sz="1800" dirty="0" smtClean="0"/>
              <a:t>声明一个数组，</a:t>
            </a:r>
            <a:r>
              <a:rPr lang="zh-CN" altLang="en-US" sz="1800" dirty="0" smtClean="0">
                <a:solidFill>
                  <a:srgbClr val="7030A0"/>
                </a:solidFill>
              </a:rPr>
              <a:t>数组元素是字符指针</a:t>
            </a:r>
            <a:r>
              <a:rPr lang="zh-CN" altLang="en-US" sz="1800" dirty="0" smtClean="0"/>
              <a:t>；</a:t>
            </a:r>
            <a:endParaRPr lang="en-US" altLang="zh-CN" sz="1800" dirty="0" smtClean="0"/>
          </a:p>
          <a:p>
            <a:pPr marL="971550" lvl="1"/>
            <a:r>
              <a:rPr lang="zh-CN" altLang="en-US" sz="1800" dirty="0" smtClean="0"/>
              <a:t>每个数组元素可以指向一个字符，</a:t>
            </a:r>
            <a:r>
              <a:rPr lang="zh-CN" altLang="en-US" sz="1800" dirty="0" smtClean="0">
                <a:solidFill>
                  <a:srgbClr val="030DCD"/>
                </a:solidFill>
              </a:rPr>
              <a:t>也可以认为指向一个字符串的首字母</a:t>
            </a:r>
            <a:r>
              <a:rPr lang="zh-CN" altLang="en-US" sz="1800" dirty="0" smtClean="0"/>
              <a:t>；</a:t>
            </a:r>
            <a:r>
              <a:rPr lang="en-US" altLang="zh-CN" sz="1800" dirty="0" smtClean="0"/>
              <a:t> 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例如，利用</a:t>
            </a:r>
            <a:r>
              <a:rPr lang="zh-CN" altLang="en-US" sz="2000" dirty="0">
                <a:solidFill>
                  <a:srgbClr val="C00000"/>
                </a:solidFill>
              </a:rPr>
              <a:t>字符指针数组</a:t>
            </a:r>
            <a:r>
              <a:rPr lang="zh-CN" altLang="en-US" sz="2000" dirty="0"/>
              <a:t>存储字符串；</a:t>
            </a:r>
            <a:endParaRPr lang="en-US" altLang="zh-CN" sz="2000" dirty="0"/>
          </a:p>
          <a:p>
            <a:pPr marL="971550" lvl="1"/>
            <a:r>
              <a:rPr lang="en-US" altLang="zh-CN" sz="1600" dirty="0"/>
              <a:t>const char *binary[16]  = {"0000","0001","0010","0011","0100","0101","0110","0111","1000","1001","1010","1011","1100","1101","1110","1111"}; </a:t>
            </a:r>
          </a:p>
          <a:p>
            <a:pPr marL="971550" lvl="1"/>
            <a:r>
              <a:rPr lang="en-US" altLang="zh-CN" sz="1600" dirty="0"/>
              <a:t>binary[0]</a:t>
            </a:r>
            <a:r>
              <a:rPr lang="zh-CN" altLang="en-US" sz="1600" dirty="0"/>
              <a:t>的值是</a:t>
            </a:r>
            <a:r>
              <a:rPr lang="zh-CN" altLang="en-US" sz="1600" dirty="0">
                <a:solidFill>
                  <a:srgbClr val="030DCD"/>
                </a:solidFill>
              </a:rPr>
              <a:t>字符串</a:t>
            </a:r>
            <a:r>
              <a:rPr lang="zh-CN" altLang="en-US" sz="1600" dirty="0"/>
              <a:t>“</a:t>
            </a:r>
            <a:r>
              <a:rPr lang="en-US" altLang="zh-CN" sz="1600" dirty="0"/>
              <a:t>0000</a:t>
            </a:r>
            <a:r>
              <a:rPr lang="zh-CN" altLang="en-US" sz="1600" dirty="0"/>
              <a:t>”；</a:t>
            </a:r>
            <a:endParaRPr lang="en-US" altLang="zh-CN" sz="1600" dirty="0"/>
          </a:p>
          <a:p>
            <a:pPr marL="971550" lvl="1"/>
            <a:r>
              <a:rPr lang="en-US" altLang="zh-CN" sz="1600" dirty="0"/>
              <a:t>binary[0xA]</a:t>
            </a:r>
            <a:r>
              <a:rPr lang="zh-CN" altLang="en-US" sz="1600" dirty="0"/>
              <a:t>的值是</a:t>
            </a:r>
            <a:r>
              <a:rPr lang="zh-CN" altLang="en-US" sz="1600" dirty="0">
                <a:solidFill>
                  <a:srgbClr val="030DCD"/>
                </a:solidFill>
              </a:rPr>
              <a:t>字符串</a:t>
            </a:r>
            <a:r>
              <a:rPr lang="zh-CN" altLang="en-US" sz="1600" dirty="0"/>
              <a:t>“</a:t>
            </a:r>
            <a:r>
              <a:rPr lang="en-US" altLang="zh-CN" sz="1600" dirty="0"/>
              <a:t>1010</a:t>
            </a:r>
            <a:r>
              <a:rPr lang="zh-CN" altLang="en-US" sz="1600" dirty="0"/>
              <a:t>”；</a:t>
            </a:r>
            <a:endParaRPr lang="en-US" altLang="zh-CN" sz="1600" dirty="0"/>
          </a:p>
          <a:p>
            <a:pPr marL="971550" lvl="1"/>
            <a:r>
              <a:rPr lang="en-US" altLang="zh-CN" sz="1600" dirty="0"/>
              <a:t>binary[0xF]</a:t>
            </a:r>
            <a:r>
              <a:rPr lang="zh-CN" altLang="en-US" sz="1600" dirty="0"/>
              <a:t>的值是</a:t>
            </a:r>
            <a:r>
              <a:rPr lang="zh-CN" altLang="en-US" sz="1600" dirty="0">
                <a:solidFill>
                  <a:srgbClr val="030DCD"/>
                </a:solidFill>
              </a:rPr>
              <a:t>字符串</a:t>
            </a:r>
            <a:r>
              <a:rPr lang="zh-CN" altLang="en-US" sz="1600" dirty="0"/>
              <a:t>“</a:t>
            </a:r>
            <a:r>
              <a:rPr lang="en-US" altLang="zh-CN" sz="1600" dirty="0"/>
              <a:t>1111</a:t>
            </a:r>
            <a:r>
              <a:rPr lang="zh-CN" altLang="en-US" sz="1600" dirty="0"/>
              <a:t>”；</a:t>
            </a:r>
            <a:endParaRPr lang="en-US" altLang="zh-CN" sz="16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思考：</a:t>
            </a:r>
            <a:r>
              <a:rPr lang="zh-CN" altLang="en-US" sz="2000" dirty="0" smtClean="0"/>
              <a:t>应用场景？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266326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A7A1DD-9212-4DCF-A1A4-1462A9A50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字符型</a:t>
            </a:r>
            <a:r>
              <a:rPr lang="zh-CN" altLang="en-US" dirty="0">
                <a:solidFill>
                  <a:srgbClr val="030DCD"/>
                </a:solidFill>
              </a:rPr>
              <a:t>指针</a:t>
            </a:r>
            <a:r>
              <a:rPr lang="zh-CN" altLang="en-US" dirty="0" smtClean="0">
                <a:solidFill>
                  <a:srgbClr val="030DCD"/>
                </a:solidFill>
              </a:rPr>
              <a:t>数组</a:t>
            </a: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5B76CF-D343-49EC-BFD3-87B3CE2315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775" y="1135063"/>
            <a:ext cx="8467032" cy="5345112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考察下述程序段</a:t>
            </a:r>
            <a:endParaRPr lang="en-US" altLang="zh-CN" sz="2000" dirty="0" smtClean="0"/>
          </a:p>
          <a:p>
            <a:pPr lvl="1" indent="0">
              <a:buNone/>
            </a:pPr>
            <a:r>
              <a:rPr lang="en-US" altLang="zh-CN" sz="1800" dirty="0" smtClean="0"/>
              <a:t>char </a:t>
            </a:r>
            <a:r>
              <a:rPr lang="zh-CN" altLang="en-US" sz="1800" dirty="0" smtClean="0"/>
              <a:t>*</a:t>
            </a:r>
            <a:r>
              <a:rPr lang="en-US" altLang="zh-CN" sz="1800" dirty="0" err="1" smtClean="0"/>
              <a:t>str</a:t>
            </a:r>
            <a:r>
              <a:rPr lang="en-US" altLang="zh-CN" sz="1800" dirty="0" smtClean="0"/>
              <a:t>[10];   </a:t>
            </a:r>
            <a:r>
              <a:rPr lang="en-US" altLang="zh-CN" sz="1800" dirty="0" smtClean="0">
                <a:solidFill>
                  <a:srgbClr val="C00000"/>
                </a:solidFill>
              </a:rPr>
              <a:t>//</a:t>
            </a:r>
            <a:r>
              <a:rPr lang="zh-CN" altLang="en-US" sz="1800" dirty="0" smtClean="0">
                <a:solidFill>
                  <a:srgbClr val="C00000"/>
                </a:solidFill>
              </a:rPr>
              <a:t>定义</a:t>
            </a:r>
            <a:r>
              <a:rPr lang="en-US" altLang="zh-CN" sz="1800" dirty="0" smtClean="0">
                <a:solidFill>
                  <a:srgbClr val="C00000"/>
                </a:solidFill>
              </a:rPr>
              <a:t>10</a:t>
            </a:r>
            <a:r>
              <a:rPr lang="zh-CN" altLang="en-US" sz="1800" dirty="0" smtClean="0">
                <a:solidFill>
                  <a:srgbClr val="C00000"/>
                </a:solidFill>
              </a:rPr>
              <a:t>个字符串指针变量</a:t>
            </a:r>
            <a:endParaRPr lang="en-US" altLang="zh-CN" sz="1800" dirty="0" smtClean="0">
              <a:solidFill>
                <a:srgbClr val="C00000"/>
              </a:solidFill>
            </a:endParaRPr>
          </a:p>
          <a:p>
            <a:pPr lvl="1" indent="0">
              <a:buNone/>
            </a:pPr>
            <a:r>
              <a:rPr lang="en-US" altLang="zh-CN" sz="1800" dirty="0"/>
              <a:t>f</a:t>
            </a:r>
            <a:r>
              <a:rPr lang="en-US" altLang="zh-CN" sz="1800" dirty="0" smtClean="0"/>
              <a:t>or (</a:t>
            </a:r>
            <a:r>
              <a:rPr lang="en-US" altLang="zh-CN" sz="1800" dirty="0" err="1" smtClean="0"/>
              <a:t>int</a:t>
            </a:r>
            <a:r>
              <a:rPr lang="en-US" altLang="zh-CN" sz="1800" dirty="0" smtClean="0"/>
              <a:t> </a:t>
            </a:r>
            <a:r>
              <a:rPr lang="en-US" altLang="zh-CN" sz="1800" dirty="0" err="1" smtClean="0"/>
              <a:t>i</a:t>
            </a:r>
            <a:r>
              <a:rPr lang="en-US" altLang="zh-CN" sz="1800" dirty="0" smtClean="0"/>
              <a:t>=0;i&lt;10;i++)</a:t>
            </a:r>
          </a:p>
          <a:p>
            <a:pPr lvl="1" indent="0">
              <a:buNone/>
            </a:pPr>
            <a:r>
              <a:rPr lang="en-US" altLang="zh-CN" sz="1800" dirty="0" smtClean="0"/>
              <a:t>{</a:t>
            </a:r>
          </a:p>
          <a:p>
            <a:pPr lvl="1" indent="0">
              <a:buNone/>
            </a:pPr>
            <a:r>
              <a:rPr lang="en-US" altLang="zh-CN" sz="1800" dirty="0"/>
              <a:t> </a:t>
            </a:r>
            <a:r>
              <a:rPr lang="en-US" altLang="zh-CN" sz="1800" dirty="0" smtClean="0"/>
              <a:t>   </a:t>
            </a:r>
            <a:r>
              <a:rPr lang="en-US" altLang="zh-CN" sz="1800" dirty="0" err="1" smtClean="0"/>
              <a:t>scanf</a:t>
            </a:r>
            <a:r>
              <a:rPr lang="en-US" altLang="zh-CN" sz="1800" dirty="0" smtClean="0"/>
              <a:t>(“%s”,</a:t>
            </a:r>
            <a:r>
              <a:rPr lang="en-US" altLang="zh-CN" sz="1800" dirty="0" err="1" smtClean="0"/>
              <a:t>str</a:t>
            </a:r>
            <a:r>
              <a:rPr lang="en-US" altLang="zh-CN" sz="1800" dirty="0" smtClean="0"/>
              <a:t>[</a:t>
            </a:r>
            <a:r>
              <a:rPr lang="en-US" altLang="zh-CN" sz="1800" dirty="0" err="1" smtClean="0"/>
              <a:t>i</a:t>
            </a:r>
            <a:r>
              <a:rPr lang="en-US" altLang="zh-CN" sz="1800" dirty="0" smtClean="0"/>
              <a:t>]);</a:t>
            </a:r>
          </a:p>
          <a:p>
            <a:pPr lvl="1" indent="0">
              <a:buNone/>
            </a:pPr>
            <a:r>
              <a:rPr lang="en-US" altLang="zh-CN" sz="1800" dirty="0" smtClean="0"/>
              <a:t>    </a:t>
            </a:r>
            <a:r>
              <a:rPr lang="en-US" altLang="zh-CN" sz="1800" dirty="0" err="1" smtClean="0"/>
              <a:t>printf</a:t>
            </a:r>
            <a:r>
              <a:rPr lang="en-US" altLang="zh-CN" sz="1800" dirty="0" smtClean="0"/>
              <a:t>(“</a:t>
            </a:r>
            <a:r>
              <a:rPr lang="en-US" altLang="zh-CN" sz="1800" dirty="0" err="1" smtClean="0"/>
              <a:t>str</a:t>
            </a:r>
            <a:r>
              <a:rPr lang="en-US" altLang="zh-CN" sz="1800" dirty="0" smtClean="0"/>
              <a:t>[%d]=%s\n”,</a:t>
            </a:r>
            <a:r>
              <a:rPr lang="en-US" altLang="zh-CN" sz="1800" dirty="0" err="1"/>
              <a:t>i</a:t>
            </a:r>
            <a:r>
              <a:rPr lang="en-US" altLang="zh-CN" sz="1800" dirty="0" err="1" smtClean="0"/>
              <a:t>,str</a:t>
            </a:r>
            <a:r>
              <a:rPr lang="en-US" altLang="zh-CN" sz="1800" dirty="0" smtClean="0"/>
              <a:t>[</a:t>
            </a:r>
            <a:r>
              <a:rPr lang="en-US" altLang="zh-CN" sz="1800" dirty="0" err="1" smtClean="0"/>
              <a:t>i</a:t>
            </a:r>
            <a:r>
              <a:rPr lang="en-US" altLang="zh-CN" sz="1800" dirty="0" smtClean="0"/>
              <a:t>]);</a:t>
            </a:r>
          </a:p>
          <a:p>
            <a:pPr lvl="1" indent="0">
              <a:buNone/>
            </a:pPr>
            <a:r>
              <a:rPr lang="en-US" altLang="zh-CN" sz="1800" dirty="0"/>
              <a:t>}</a:t>
            </a:r>
            <a:r>
              <a:rPr lang="en-US" altLang="zh-CN" sz="1800" dirty="0" smtClean="0"/>
              <a:t> 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该程序是否能够正常运行？如果不能正常运行，原因是什么？如何解决？</a:t>
            </a: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000" dirty="0" err="1">
                <a:solidFill>
                  <a:srgbClr val="7030A0"/>
                </a:solidFill>
              </a:rPr>
              <a:t>str</a:t>
            </a:r>
            <a:r>
              <a:rPr lang="en-US" altLang="zh-CN" sz="2000" dirty="0">
                <a:solidFill>
                  <a:srgbClr val="7030A0"/>
                </a:solidFill>
              </a:rPr>
              <a:t>[</a:t>
            </a:r>
            <a:r>
              <a:rPr lang="en-US" altLang="zh-CN" sz="2000" dirty="0" err="1">
                <a:solidFill>
                  <a:srgbClr val="7030A0"/>
                </a:solidFill>
              </a:rPr>
              <a:t>i</a:t>
            </a:r>
            <a:r>
              <a:rPr lang="en-US" altLang="zh-CN" sz="2000" dirty="0" smtClean="0">
                <a:solidFill>
                  <a:srgbClr val="7030A0"/>
                </a:solidFill>
              </a:rPr>
              <a:t>]</a:t>
            </a:r>
            <a:r>
              <a:rPr lang="zh-CN" altLang="en-US" sz="2000" dirty="0" smtClean="0">
                <a:solidFill>
                  <a:srgbClr val="7030A0"/>
                </a:solidFill>
              </a:rPr>
              <a:t>是</a:t>
            </a:r>
            <a:r>
              <a:rPr lang="zh-CN" altLang="en-US" sz="2000" dirty="0">
                <a:solidFill>
                  <a:srgbClr val="7030A0"/>
                </a:solidFill>
              </a:rPr>
              <a:t>一个</a:t>
            </a:r>
            <a:r>
              <a:rPr lang="zh-CN" altLang="en-US" sz="2000" dirty="0" smtClean="0">
                <a:solidFill>
                  <a:srgbClr val="7030A0"/>
                </a:solidFill>
              </a:rPr>
              <a:t>“野指针”</a:t>
            </a:r>
            <a:endParaRPr lang="en-US" altLang="zh-CN" sz="2000" dirty="0" smtClean="0">
              <a:solidFill>
                <a:srgbClr val="7030A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 smtClean="0">
                <a:solidFill>
                  <a:srgbClr val="C00000"/>
                </a:solidFill>
              </a:rPr>
              <a:t>如何解决？</a:t>
            </a:r>
            <a:endParaRPr lang="en-US" altLang="zh-CN" sz="2000" dirty="0" smtClean="0">
              <a:solidFill>
                <a:srgbClr val="C0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 smtClean="0"/>
          </a:p>
        </p:txBody>
      </p:sp>
    </p:spTree>
    <p:extLst>
      <p:ext uri="{BB962C8B-B14F-4D97-AF65-F5344CB8AC3E}">
        <p14:creationId xmlns:p14="http://schemas.microsoft.com/office/powerpoint/2010/main" val="3391306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A7A1DD-9212-4DCF-A1A4-1462A9A50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字符型</a:t>
            </a:r>
            <a:r>
              <a:rPr lang="zh-CN" altLang="en-US" dirty="0">
                <a:solidFill>
                  <a:srgbClr val="030DCD"/>
                </a:solidFill>
              </a:rPr>
              <a:t>指针</a:t>
            </a:r>
            <a:r>
              <a:rPr lang="zh-CN" altLang="en-US" dirty="0" smtClean="0">
                <a:solidFill>
                  <a:srgbClr val="030DCD"/>
                </a:solidFill>
              </a:rPr>
              <a:t>数组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5B76CF-D343-49EC-BFD3-87B3CE2315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961" y="902307"/>
            <a:ext cx="8467032" cy="1374549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 smtClean="0"/>
              <a:t>原因：</a:t>
            </a:r>
            <a:endParaRPr lang="en-US" altLang="zh-CN" sz="1800" dirty="0" smtClean="0"/>
          </a:p>
          <a:p>
            <a:pPr marL="971550" lvl="1"/>
            <a:r>
              <a:rPr lang="en-US" altLang="zh-CN" sz="1600" dirty="0" err="1" smtClean="0"/>
              <a:t>str</a:t>
            </a:r>
            <a:r>
              <a:rPr lang="en-US" altLang="zh-CN" sz="1600" dirty="0" smtClean="0"/>
              <a:t>[</a:t>
            </a:r>
            <a:r>
              <a:rPr lang="en-US" altLang="zh-CN" sz="1600" dirty="0" err="1" smtClean="0"/>
              <a:t>i</a:t>
            </a:r>
            <a:r>
              <a:rPr lang="en-US" altLang="zh-CN" sz="1600" dirty="0" smtClean="0"/>
              <a:t>]</a:t>
            </a:r>
            <a:r>
              <a:rPr lang="zh-CN" altLang="en-US" sz="1600" dirty="0" smtClean="0"/>
              <a:t>是一个字符指针，应该指向一个具体的字符，或字符串的首字符；</a:t>
            </a:r>
            <a:endParaRPr lang="en-US" altLang="zh-CN" sz="1600" dirty="0" smtClean="0"/>
          </a:p>
          <a:p>
            <a:pPr marL="971550" lvl="1"/>
            <a:r>
              <a:rPr lang="zh-CN" altLang="en-US" sz="1600" dirty="0" smtClean="0"/>
              <a:t>否则，</a:t>
            </a:r>
            <a:r>
              <a:rPr lang="en-US" altLang="zh-CN" sz="1600" dirty="0" err="1" smtClean="0"/>
              <a:t>str</a:t>
            </a:r>
            <a:r>
              <a:rPr lang="en-US" altLang="zh-CN" sz="1600" dirty="0" smtClean="0"/>
              <a:t>[</a:t>
            </a:r>
            <a:r>
              <a:rPr lang="en-US" altLang="zh-CN" sz="1600" dirty="0" err="1" smtClean="0"/>
              <a:t>i</a:t>
            </a:r>
            <a:r>
              <a:rPr lang="en-US" altLang="zh-CN" sz="1600" dirty="0" smtClean="0"/>
              <a:t>]</a:t>
            </a:r>
            <a:r>
              <a:rPr lang="zh-CN" altLang="en-US" sz="1600" dirty="0" smtClean="0"/>
              <a:t>就是一个“野指针”；</a:t>
            </a:r>
            <a:endParaRPr lang="en-US" altLang="zh-CN" sz="1600" dirty="0" smtClean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/>
              <a:t>参考程序段：</a:t>
            </a:r>
            <a:endParaRPr lang="en-US" altLang="zh-CN" sz="1800" dirty="0"/>
          </a:p>
          <a:p>
            <a:pPr marL="971550" lvl="1"/>
            <a:endParaRPr lang="en-US" altLang="zh-CN" sz="1800" dirty="0" smtClean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 smtClean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 smtClean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C5B76CF-D343-49EC-BFD3-87B3CE23153A}"/>
              </a:ext>
            </a:extLst>
          </p:cNvPr>
          <p:cNvSpPr txBox="1">
            <a:spLocks/>
          </p:cNvSpPr>
          <p:nvPr/>
        </p:nvSpPr>
        <p:spPr bwMode="auto">
          <a:xfrm>
            <a:off x="485774" y="2339375"/>
            <a:ext cx="7350633" cy="391179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1600" dirty="0" smtClean="0"/>
              <a:t>#include &lt;</a:t>
            </a:r>
            <a:r>
              <a:rPr lang="en-US" altLang="zh-CN" sz="1600" dirty="0" err="1" smtClean="0"/>
              <a:t>stdio.h</a:t>
            </a:r>
            <a:r>
              <a:rPr lang="en-US" altLang="zh-CN" sz="1600" dirty="0" smtClean="0"/>
              <a:t>&gt;</a:t>
            </a:r>
          </a:p>
          <a:p>
            <a:pPr marL="0" lvl="1" indent="0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1600" dirty="0" smtClean="0"/>
              <a:t>#include &lt;</a:t>
            </a:r>
            <a:r>
              <a:rPr lang="en-US" altLang="zh-CN" sz="1600" dirty="0" err="1" smtClean="0"/>
              <a:t>string.h</a:t>
            </a:r>
            <a:r>
              <a:rPr lang="en-US" altLang="zh-CN" sz="1600" dirty="0" smtClean="0"/>
              <a:t>&gt;</a:t>
            </a:r>
          </a:p>
          <a:p>
            <a:pPr marL="0" lvl="1" indent="0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1600" dirty="0" err="1"/>
              <a:t>i</a:t>
            </a:r>
            <a:r>
              <a:rPr lang="en-US" altLang="zh-CN" sz="1600" dirty="0" err="1" smtClean="0"/>
              <a:t>nt</a:t>
            </a:r>
            <a:r>
              <a:rPr lang="en-US" altLang="zh-CN" sz="1600" dirty="0" smtClean="0"/>
              <a:t> main() {  </a:t>
            </a:r>
          </a:p>
          <a:p>
            <a:pPr marL="0" lvl="1" indent="0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1600" dirty="0"/>
              <a:t> </a:t>
            </a:r>
            <a:r>
              <a:rPr lang="en-US" altLang="zh-CN" sz="1600" dirty="0" smtClean="0"/>
              <a:t>   </a:t>
            </a:r>
            <a:r>
              <a:rPr lang="en-US" altLang="zh-CN" sz="1600" dirty="0" err="1" smtClean="0"/>
              <a:t>int</a:t>
            </a:r>
            <a:r>
              <a:rPr lang="en-US" altLang="zh-CN" sz="1600" dirty="0" smtClean="0"/>
              <a:t> I;</a:t>
            </a:r>
          </a:p>
          <a:p>
            <a:pPr marL="0" lvl="1" indent="0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1600" dirty="0"/>
              <a:t> </a:t>
            </a:r>
            <a:r>
              <a:rPr lang="en-US" altLang="zh-CN" sz="1600" dirty="0" smtClean="0"/>
              <a:t>    char </a:t>
            </a:r>
            <a:r>
              <a:rPr lang="zh-CN" altLang="en-US" sz="1600" dirty="0" smtClean="0"/>
              <a:t>*</a:t>
            </a:r>
            <a:r>
              <a:rPr lang="en-US" altLang="zh-CN" sz="1600" dirty="0" err="1" smtClean="0"/>
              <a:t>str</a:t>
            </a:r>
            <a:r>
              <a:rPr lang="en-US" altLang="zh-CN" sz="1600" dirty="0" smtClean="0"/>
              <a:t>[10];   </a:t>
            </a:r>
            <a:r>
              <a:rPr lang="en-US" altLang="zh-CN" sz="1600" dirty="0" smtClean="0">
                <a:solidFill>
                  <a:srgbClr val="C00000"/>
                </a:solidFill>
              </a:rPr>
              <a:t>//</a:t>
            </a:r>
            <a:r>
              <a:rPr lang="en-US" altLang="zh-CN" sz="1600" dirty="0" err="1" smtClean="0">
                <a:solidFill>
                  <a:srgbClr val="C00000"/>
                </a:solidFill>
              </a:rPr>
              <a:t>str</a:t>
            </a:r>
            <a:r>
              <a:rPr lang="en-US" altLang="zh-CN" sz="1600" dirty="0" smtClean="0">
                <a:solidFill>
                  <a:srgbClr val="C00000"/>
                </a:solidFill>
              </a:rPr>
              <a:t>[</a:t>
            </a:r>
            <a:r>
              <a:rPr lang="en-US" altLang="zh-CN" sz="1600" dirty="0" err="1" smtClean="0">
                <a:solidFill>
                  <a:srgbClr val="C00000"/>
                </a:solidFill>
              </a:rPr>
              <a:t>i</a:t>
            </a:r>
            <a:r>
              <a:rPr lang="en-US" altLang="zh-CN" sz="1600" dirty="0" smtClean="0">
                <a:solidFill>
                  <a:srgbClr val="C00000"/>
                </a:solidFill>
              </a:rPr>
              <a:t>]</a:t>
            </a:r>
            <a:r>
              <a:rPr lang="zh-CN" altLang="en-US" sz="1600" dirty="0" smtClean="0">
                <a:solidFill>
                  <a:srgbClr val="C00000"/>
                </a:solidFill>
              </a:rPr>
              <a:t>是一个野指针</a:t>
            </a:r>
            <a:endParaRPr lang="en-US" altLang="zh-CN" sz="1600" dirty="0" smtClean="0">
              <a:solidFill>
                <a:srgbClr val="C00000"/>
              </a:solidFill>
            </a:endParaRPr>
          </a:p>
          <a:p>
            <a:pPr marL="0" lvl="1" indent="0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1600" dirty="0" smtClean="0"/>
              <a:t>     for (</a:t>
            </a:r>
            <a:r>
              <a:rPr lang="en-US" altLang="zh-CN" sz="1600" dirty="0" err="1" smtClean="0"/>
              <a:t>i</a:t>
            </a:r>
            <a:r>
              <a:rPr lang="en-US" altLang="zh-CN" sz="1600" dirty="0" smtClean="0"/>
              <a:t>=0;i&lt;=9;i++)     {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sz="1600" dirty="0">
                <a:solidFill>
                  <a:srgbClr val="C00000"/>
                </a:solidFill>
              </a:rPr>
              <a:t>    </a:t>
            </a:r>
            <a:r>
              <a:rPr lang="en-US" altLang="zh-CN" sz="1600" dirty="0" smtClean="0">
                <a:solidFill>
                  <a:srgbClr val="C00000"/>
                </a:solidFill>
              </a:rPr>
              <a:t>      </a:t>
            </a:r>
            <a:r>
              <a:rPr lang="en-US" altLang="zh-CN" sz="1600" dirty="0" err="1" smtClean="0">
                <a:solidFill>
                  <a:srgbClr val="C00000"/>
                </a:solidFill>
              </a:rPr>
              <a:t>str</a:t>
            </a:r>
            <a:r>
              <a:rPr lang="en-US" altLang="zh-CN" sz="1600" dirty="0" smtClean="0">
                <a:solidFill>
                  <a:srgbClr val="C00000"/>
                </a:solidFill>
              </a:rPr>
              <a:t>[</a:t>
            </a:r>
            <a:r>
              <a:rPr lang="en-US" altLang="zh-CN" sz="1600" dirty="0" err="1" smtClean="0">
                <a:solidFill>
                  <a:srgbClr val="C00000"/>
                </a:solidFill>
              </a:rPr>
              <a:t>i</a:t>
            </a:r>
            <a:r>
              <a:rPr lang="en-US" altLang="zh-CN" sz="1600" dirty="0" smtClean="0">
                <a:solidFill>
                  <a:srgbClr val="C00000"/>
                </a:solidFill>
              </a:rPr>
              <a:t>]= </a:t>
            </a:r>
            <a:r>
              <a:rPr lang="en-US" altLang="zh-CN" sz="1600" dirty="0">
                <a:solidFill>
                  <a:srgbClr val="C00000"/>
                </a:solidFill>
              </a:rPr>
              <a:t>(char *) </a:t>
            </a:r>
            <a:r>
              <a:rPr lang="en-US" altLang="zh-CN" sz="1600" dirty="0" err="1">
                <a:solidFill>
                  <a:srgbClr val="C00000"/>
                </a:solidFill>
              </a:rPr>
              <a:t>malloc</a:t>
            </a:r>
            <a:r>
              <a:rPr lang="en-US" altLang="zh-CN" sz="1600" dirty="0">
                <a:solidFill>
                  <a:srgbClr val="C00000"/>
                </a:solidFill>
              </a:rPr>
              <a:t>(15</a:t>
            </a:r>
            <a:r>
              <a:rPr lang="en-US" altLang="zh-CN" sz="1600" dirty="0" smtClean="0">
                <a:solidFill>
                  <a:srgbClr val="C00000"/>
                </a:solidFill>
              </a:rPr>
              <a:t>); </a:t>
            </a:r>
            <a:r>
              <a:rPr lang="en-US" altLang="zh-CN" sz="1600" dirty="0" smtClean="0">
                <a:solidFill>
                  <a:srgbClr val="0303DF"/>
                </a:solidFill>
              </a:rPr>
              <a:t>//</a:t>
            </a:r>
            <a:r>
              <a:rPr lang="zh-CN" altLang="en-US" sz="1600" dirty="0" smtClean="0">
                <a:solidFill>
                  <a:srgbClr val="0303DF"/>
                </a:solidFill>
              </a:rPr>
              <a:t>为字符串</a:t>
            </a:r>
            <a:r>
              <a:rPr lang="en-US" altLang="zh-CN" sz="1600" dirty="0" err="1" smtClean="0">
                <a:solidFill>
                  <a:srgbClr val="0303DF"/>
                </a:solidFill>
              </a:rPr>
              <a:t>str</a:t>
            </a:r>
            <a:r>
              <a:rPr lang="en-US" altLang="zh-CN" sz="1600" dirty="0" smtClean="0">
                <a:solidFill>
                  <a:srgbClr val="0303DF"/>
                </a:solidFill>
              </a:rPr>
              <a:t>[</a:t>
            </a:r>
            <a:r>
              <a:rPr lang="en-US" altLang="zh-CN" sz="1600" dirty="0" err="1" smtClean="0">
                <a:solidFill>
                  <a:srgbClr val="0303DF"/>
                </a:solidFill>
              </a:rPr>
              <a:t>i</a:t>
            </a:r>
            <a:r>
              <a:rPr lang="en-US" altLang="zh-CN" sz="1600" dirty="0" smtClean="0">
                <a:solidFill>
                  <a:srgbClr val="0303DF"/>
                </a:solidFill>
              </a:rPr>
              <a:t>]</a:t>
            </a:r>
            <a:r>
              <a:rPr lang="zh-CN" altLang="en-US" sz="1600" dirty="0" smtClean="0">
                <a:solidFill>
                  <a:srgbClr val="0303DF"/>
                </a:solidFill>
              </a:rPr>
              <a:t>分配</a:t>
            </a:r>
            <a:r>
              <a:rPr lang="en-US" altLang="zh-CN" sz="1600" dirty="0" smtClean="0">
                <a:solidFill>
                  <a:srgbClr val="0303DF"/>
                </a:solidFill>
              </a:rPr>
              <a:t>15</a:t>
            </a:r>
            <a:r>
              <a:rPr lang="zh-CN" altLang="en-US" sz="1600" dirty="0" smtClean="0">
                <a:solidFill>
                  <a:srgbClr val="0303DF"/>
                </a:solidFill>
              </a:rPr>
              <a:t>个字节的存储空间</a:t>
            </a:r>
            <a:r>
              <a:rPr lang="en-US" altLang="zh-CN" sz="1600" dirty="0" smtClean="0">
                <a:solidFill>
                  <a:srgbClr val="0303DF"/>
                </a:solidFill>
              </a:rPr>
              <a:t> </a:t>
            </a:r>
            <a:endParaRPr lang="en-US" altLang="zh-CN" sz="1600" dirty="0">
              <a:solidFill>
                <a:srgbClr val="0303DF"/>
              </a:solidFill>
            </a:endParaRPr>
          </a:p>
          <a:p>
            <a:pPr marL="0" lvl="1" indent="0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1600" dirty="0" smtClean="0">
                <a:solidFill>
                  <a:srgbClr val="000099"/>
                </a:solidFill>
              </a:rPr>
              <a:t>          </a:t>
            </a:r>
            <a:r>
              <a:rPr lang="en-US" altLang="zh-CN" sz="1600" dirty="0" err="1" smtClean="0">
                <a:solidFill>
                  <a:srgbClr val="006600"/>
                </a:solidFill>
              </a:rPr>
              <a:t>scanf</a:t>
            </a:r>
            <a:r>
              <a:rPr lang="en-US" altLang="zh-CN" sz="1600" dirty="0" smtClean="0">
                <a:solidFill>
                  <a:srgbClr val="006600"/>
                </a:solidFill>
              </a:rPr>
              <a:t>(“%s”,</a:t>
            </a:r>
            <a:r>
              <a:rPr lang="en-US" altLang="zh-CN" sz="1600" dirty="0" err="1" smtClean="0">
                <a:solidFill>
                  <a:srgbClr val="006600"/>
                </a:solidFill>
              </a:rPr>
              <a:t>str</a:t>
            </a:r>
            <a:r>
              <a:rPr lang="en-US" altLang="zh-CN" sz="1600" dirty="0" smtClean="0">
                <a:solidFill>
                  <a:srgbClr val="006600"/>
                </a:solidFill>
              </a:rPr>
              <a:t>[</a:t>
            </a:r>
            <a:r>
              <a:rPr lang="en-US" altLang="zh-CN" sz="1600" dirty="0" err="1" smtClean="0">
                <a:solidFill>
                  <a:srgbClr val="006600"/>
                </a:solidFill>
              </a:rPr>
              <a:t>i</a:t>
            </a:r>
            <a:r>
              <a:rPr lang="en-US" altLang="zh-CN" sz="1600" dirty="0" smtClean="0">
                <a:solidFill>
                  <a:srgbClr val="006600"/>
                </a:solidFill>
              </a:rPr>
              <a:t>]);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sz="1600" dirty="0" smtClean="0"/>
              <a:t>          </a:t>
            </a:r>
            <a:r>
              <a:rPr lang="en-US" altLang="zh-CN" sz="1600" dirty="0" err="1" smtClean="0"/>
              <a:t>printf</a:t>
            </a:r>
            <a:r>
              <a:rPr lang="en-US" altLang="zh-CN" sz="1600" dirty="0" smtClean="0"/>
              <a:t>(“</a:t>
            </a:r>
            <a:r>
              <a:rPr lang="en-US" altLang="zh-CN" sz="1600" dirty="0" err="1" smtClean="0"/>
              <a:t>str</a:t>
            </a:r>
            <a:r>
              <a:rPr lang="en-US" altLang="zh-CN" sz="1600" dirty="0" smtClean="0"/>
              <a:t>[%d]=%s\n”,</a:t>
            </a:r>
            <a:r>
              <a:rPr lang="en-US" altLang="zh-CN" sz="1600" dirty="0" err="1" smtClean="0"/>
              <a:t>i,str</a:t>
            </a:r>
            <a:r>
              <a:rPr lang="en-US" altLang="zh-CN" sz="1600" dirty="0" smtClean="0"/>
              <a:t>[</a:t>
            </a:r>
            <a:r>
              <a:rPr lang="en-US" altLang="zh-CN" sz="1600" dirty="0" err="1" smtClean="0"/>
              <a:t>i</a:t>
            </a:r>
            <a:r>
              <a:rPr lang="en-US" altLang="zh-CN" sz="1600" dirty="0" smtClean="0"/>
              <a:t>]);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sz="1600" dirty="0" smtClean="0">
                <a:solidFill>
                  <a:srgbClr val="0070C0"/>
                </a:solidFill>
              </a:rPr>
              <a:t>          if </a:t>
            </a:r>
            <a:r>
              <a:rPr lang="en-US" altLang="zh-CN" sz="1600" dirty="0">
                <a:solidFill>
                  <a:srgbClr val="0070C0"/>
                </a:solidFill>
              </a:rPr>
              <a:t>(</a:t>
            </a:r>
            <a:r>
              <a:rPr lang="en-US" altLang="zh-CN" sz="1600" dirty="0" err="1">
                <a:solidFill>
                  <a:srgbClr val="0070C0"/>
                </a:solidFill>
              </a:rPr>
              <a:t>strcmp</a:t>
            </a:r>
            <a:r>
              <a:rPr lang="en-US" altLang="zh-CN" sz="1600" dirty="0">
                <a:solidFill>
                  <a:srgbClr val="0070C0"/>
                </a:solidFill>
              </a:rPr>
              <a:t>(</a:t>
            </a:r>
            <a:r>
              <a:rPr lang="en-US" altLang="zh-CN" sz="1600" dirty="0" err="1">
                <a:solidFill>
                  <a:srgbClr val="0070C0"/>
                </a:solidFill>
              </a:rPr>
              <a:t>str</a:t>
            </a:r>
            <a:r>
              <a:rPr lang="en-US" altLang="zh-CN" sz="1600" dirty="0">
                <a:solidFill>
                  <a:srgbClr val="0070C0"/>
                </a:solidFill>
              </a:rPr>
              <a:t>[</a:t>
            </a:r>
            <a:r>
              <a:rPr lang="en-US" altLang="zh-CN" sz="1600" dirty="0" err="1">
                <a:solidFill>
                  <a:srgbClr val="0070C0"/>
                </a:solidFill>
              </a:rPr>
              <a:t>i</a:t>
            </a:r>
            <a:r>
              <a:rPr lang="en-US" altLang="zh-CN" sz="1600" dirty="0" smtClean="0">
                <a:solidFill>
                  <a:srgbClr val="0070C0"/>
                </a:solidFill>
              </a:rPr>
              <a:t>],“exit”)==</a:t>
            </a:r>
            <a:r>
              <a:rPr lang="en-US" altLang="zh-CN" sz="1600" dirty="0">
                <a:solidFill>
                  <a:srgbClr val="0070C0"/>
                </a:solidFill>
              </a:rPr>
              <a:t>0</a:t>
            </a:r>
            <a:r>
              <a:rPr lang="en-US" altLang="zh-CN" sz="1600" dirty="0" smtClean="0">
                <a:solidFill>
                  <a:srgbClr val="0070C0"/>
                </a:solidFill>
              </a:rPr>
              <a:t>)  </a:t>
            </a:r>
            <a:r>
              <a:rPr lang="en-US" altLang="zh-CN" sz="1600" dirty="0" smtClean="0"/>
              <a:t>//</a:t>
            </a:r>
            <a:r>
              <a:rPr lang="zh-CN" altLang="en-US" sz="1600" dirty="0" smtClean="0"/>
              <a:t>如果输入字符串</a:t>
            </a:r>
            <a:r>
              <a:rPr lang="en-US" altLang="zh-CN" sz="1600" dirty="0" smtClean="0"/>
              <a:t>”exit”</a:t>
            </a:r>
            <a:r>
              <a:rPr lang="zh-CN" altLang="en-US" sz="1600" dirty="0" smtClean="0"/>
              <a:t>，退出</a:t>
            </a:r>
            <a:endParaRPr lang="en-US" altLang="zh-CN" sz="1600" dirty="0"/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sz="1600" dirty="0"/>
              <a:t>    </a:t>
            </a:r>
            <a:r>
              <a:rPr lang="en-US" altLang="zh-CN" sz="1600" dirty="0" smtClean="0"/>
              <a:t>          </a:t>
            </a:r>
            <a:r>
              <a:rPr lang="en-US" altLang="zh-CN" sz="1600" dirty="0"/>
              <a:t>break</a:t>
            </a:r>
            <a:r>
              <a:rPr lang="en-US" altLang="zh-CN" sz="1600" dirty="0" smtClean="0"/>
              <a:t>;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sz="1600" dirty="0"/>
              <a:t> </a:t>
            </a:r>
            <a:r>
              <a:rPr lang="en-US" altLang="zh-CN" sz="1600" dirty="0" smtClean="0"/>
              <a:t>         </a:t>
            </a:r>
            <a:r>
              <a:rPr lang="en-US" altLang="zh-CN" sz="1600" dirty="0" smtClean="0">
                <a:solidFill>
                  <a:srgbClr val="C00000"/>
                </a:solidFill>
              </a:rPr>
              <a:t>free(</a:t>
            </a:r>
            <a:r>
              <a:rPr lang="en-US" altLang="zh-CN" sz="1600" dirty="0" err="1" smtClean="0">
                <a:solidFill>
                  <a:srgbClr val="C00000"/>
                </a:solidFill>
              </a:rPr>
              <a:t>str</a:t>
            </a:r>
            <a:r>
              <a:rPr lang="en-US" altLang="zh-CN" sz="1600" dirty="0" smtClean="0">
                <a:solidFill>
                  <a:srgbClr val="C00000"/>
                </a:solidFill>
              </a:rPr>
              <a:t>[</a:t>
            </a:r>
            <a:r>
              <a:rPr lang="en-US" altLang="zh-CN" sz="1600" dirty="0" err="1" smtClean="0">
                <a:solidFill>
                  <a:srgbClr val="C00000"/>
                </a:solidFill>
              </a:rPr>
              <a:t>i</a:t>
            </a:r>
            <a:r>
              <a:rPr lang="en-US" altLang="zh-CN" sz="1600" dirty="0" smtClean="0">
                <a:solidFill>
                  <a:srgbClr val="C00000"/>
                </a:solidFill>
              </a:rPr>
              <a:t>]);</a:t>
            </a:r>
            <a:endParaRPr lang="en-US" altLang="zh-CN" sz="1600" dirty="0">
              <a:solidFill>
                <a:srgbClr val="C00000"/>
              </a:solidFill>
            </a:endParaRPr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sz="1600" dirty="0" smtClean="0"/>
              <a:t>     }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sz="1600" smtClean="0"/>
              <a:t>     return </a:t>
            </a:r>
            <a:r>
              <a:rPr lang="en-US" altLang="zh-CN" sz="1600" dirty="0" smtClean="0"/>
              <a:t>0;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sz="1600" dirty="0"/>
              <a:t>}</a:t>
            </a:r>
            <a:endParaRPr lang="en-US" altLang="zh-CN" sz="1600" dirty="0" smtClean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1600" dirty="0" smtClean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1600" dirty="0" smtClean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1600" dirty="0" smtClean="0"/>
          </a:p>
        </p:txBody>
      </p:sp>
    </p:spTree>
    <p:extLst>
      <p:ext uri="{BB962C8B-B14F-4D97-AF65-F5344CB8AC3E}">
        <p14:creationId xmlns:p14="http://schemas.microsoft.com/office/powerpoint/2010/main" val="3605805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A7A1DD-9212-4DCF-A1A4-1462A9A50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字符型</a:t>
            </a:r>
            <a:r>
              <a:rPr lang="zh-CN" altLang="en-US" dirty="0">
                <a:solidFill>
                  <a:srgbClr val="030DCD"/>
                </a:solidFill>
              </a:rPr>
              <a:t>指针数组</a:t>
            </a:r>
            <a:r>
              <a:rPr lang="zh-CN" altLang="en-US" dirty="0"/>
              <a:t>与字符串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5B76CF-D343-49EC-BFD3-87B3CE2315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961" y="902307"/>
            <a:ext cx="8467032" cy="1533322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原因：</a:t>
            </a:r>
            <a:endParaRPr lang="en-US" altLang="zh-CN" sz="2000" dirty="0" smtClean="0"/>
          </a:p>
          <a:p>
            <a:pPr marL="971550" lvl="1"/>
            <a:r>
              <a:rPr lang="en-US" altLang="zh-CN" sz="1800" dirty="0" err="1" smtClean="0"/>
              <a:t>str</a:t>
            </a:r>
            <a:r>
              <a:rPr lang="en-US" altLang="zh-CN" sz="1800" dirty="0" smtClean="0"/>
              <a:t>[</a:t>
            </a:r>
            <a:r>
              <a:rPr lang="en-US" altLang="zh-CN" sz="1800" dirty="0" err="1" smtClean="0"/>
              <a:t>i</a:t>
            </a:r>
            <a:r>
              <a:rPr lang="en-US" altLang="zh-CN" sz="1800" dirty="0" smtClean="0"/>
              <a:t>]</a:t>
            </a:r>
            <a:r>
              <a:rPr lang="zh-CN" altLang="en-US" sz="1800" dirty="0" smtClean="0"/>
              <a:t>是一个字符指针，应该指向一个具体的字符，或字符串的首字符；</a:t>
            </a:r>
            <a:endParaRPr lang="en-US" altLang="zh-CN" sz="1800" dirty="0" smtClean="0"/>
          </a:p>
          <a:p>
            <a:pPr marL="971550" lvl="1"/>
            <a:r>
              <a:rPr lang="zh-CN" altLang="en-US" sz="1800" dirty="0" smtClean="0"/>
              <a:t>否则，</a:t>
            </a:r>
            <a:r>
              <a:rPr lang="en-US" altLang="zh-CN" sz="1800" dirty="0" err="1" smtClean="0"/>
              <a:t>str</a:t>
            </a:r>
            <a:r>
              <a:rPr lang="en-US" altLang="zh-CN" sz="1800" dirty="0" smtClean="0"/>
              <a:t>[</a:t>
            </a:r>
            <a:r>
              <a:rPr lang="en-US" altLang="zh-CN" sz="1800" dirty="0" err="1" smtClean="0"/>
              <a:t>i</a:t>
            </a:r>
            <a:r>
              <a:rPr lang="en-US" altLang="zh-CN" sz="1800" dirty="0" smtClean="0"/>
              <a:t>]</a:t>
            </a:r>
            <a:r>
              <a:rPr lang="zh-CN" altLang="en-US" sz="1800" dirty="0" smtClean="0"/>
              <a:t>就是一个“野指针”；</a:t>
            </a:r>
            <a:endParaRPr lang="en-US" altLang="zh-CN" sz="1800" dirty="0" smtClean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参考程序段：</a:t>
            </a:r>
            <a:endParaRPr lang="en-US" altLang="zh-CN" sz="2000" dirty="0"/>
          </a:p>
          <a:p>
            <a:pPr marL="971550" lvl="1"/>
            <a:endParaRPr lang="en-US" altLang="zh-CN" sz="1800" dirty="0" smtClean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 smtClean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 smtClean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2C5B76CF-D343-49EC-BFD3-87B3CE23153A}"/>
              </a:ext>
            </a:extLst>
          </p:cNvPr>
          <p:cNvSpPr txBox="1">
            <a:spLocks/>
          </p:cNvSpPr>
          <p:nvPr/>
        </p:nvSpPr>
        <p:spPr bwMode="auto">
          <a:xfrm>
            <a:off x="972046" y="2498148"/>
            <a:ext cx="7603629" cy="36326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Font typeface="Wingdings" panose="05000000000000000000" pitchFamily="2" charset="2"/>
              <a:buNone/>
            </a:pPr>
            <a:r>
              <a:rPr lang="en-US" altLang="zh-CN" sz="1600" dirty="0" smtClean="0">
                <a:solidFill>
                  <a:srgbClr val="000099"/>
                </a:solidFill>
              </a:rPr>
              <a:t>char s[10][20]; </a:t>
            </a:r>
          </a:p>
          <a:p>
            <a:pPr marL="0" lvl="1" indent="0">
              <a:buNone/>
            </a:pPr>
            <a:r>
              <a:rPr lang="en-US" altLang="zh-CN" sz="1600" dirty="0" smtClean="0">
                <a:solidFill>
                  <a:srgbClr val="C00000"/>
                </a:solidFill>
              </a:rPr>
              <a:t>char </a:t>
            </a:r>
            <a:r>
              <a:rPr lang="zh-CN" altLang="en-US" sz="1600" dirty="0" smtClean="0">
                <a:solidFill>
                  <a:srgbClr val="C00000"/>
                </a:solidFill>
              </a:rPr>
              <a:t>*</a:t>
            </a:r>
            <a:r>
              <a:rPr lang="en-US" altLang="zh-CN" sz="1600" dirty="0" err="1" smtClean="0">
                <a:solidFill>
                  <a:srgbClr val="C00000"/>
                </a:solidFill>
              </a:rPr>
              <a:t>str</a:t>
            </a:r>
            <a:r>
              <a:rPr lang="en-US" altLang="zh-CN" sz="1600" dirty="0" smtClean="0">
                <a:solidFill>
                  <a:srgbClr val="C00000"/>
                </a:solidFill>
              </a:rPr>
              <a:t>[10]; </a:t>
            </a:r>
          </a:p>
          <a:p>
            <a:pPr marL="0" lvl="1" indent="0">
              <a:buNone/>
            </a:pPr>
            <a:r>
              <a:rPr lang="en-US" altLang="zh-CN" sz="1600" dirty="0" smtClean="0"/>
              <a:t>for (</a:t>
            </a:r>
            <a:r>
              <a:rPr lang="en-US" altLang="zh-CN" sz="1600" dirty="0" err="1" smtClean="0"/>
              <a:t>int</a:t>
            </a:r>
            <a:r>
              <a:rPr lang="en-US" altLang="zh-CN" sz="1600" dirty="0" smtClean="0"/>
              <a:t> </a:t>
            </a:r>
            <a:r>
              <a:rPr lang="en-US" altLang="zh-CN" sz="1600" dirty="0" err="1" smtClean="0"/>
              <a:t>i</a:t>
            </a:r>
            <a:r>
              <a:rPr lang="en-US" altLang="zh-CN" sz="1600" dirty="0" smtClean="0"/>
              <a:t>=0;i&lt;10;i++)</a:t>
            </a:r>
          </a:p>
          <a:p>
            <a:pPr marL="0" lvl="1" indent="0">
              <a:buFont typeface="Wingdings" panose="05000000000000000000" pitchFamily="2" charset="2"/>
              <a:buNone/>
            </a:pPr>
            <a:r>
              <a:rPr lang="en-US" altLang="zh-CN" sz="1600" dirty="0" smtClean="0"/>
              <a:t>{</a:t>
            </a:r>
          </a:p>
          <a:p>
            <a:pPr marL="0" lvl="1" indent="0">
              <a:buNone/>
            </a:pPr>
            <a:r>
              <a:rPr lang="en-US" altLang="zh-CN" sz="1600" dirty="0" smtClean="0">
                <a:solidFill>
                  <a:srgbClr val="C00000"/>
                </a:solidFill>
              </a:rPr>
              <a:t>      </a:t>
            </a:r>
            <a:r>
              <a:rPr lang="en-US" altLang="zh-CN" sz="1600" dirty="0" err="1" smtClean="0">
                <a:solidFill>
                  <a:srgbClr val="C00000"/>
                </a:solidFill>
              </a:rPr>
              <a:t>str</a:t>
            </a:r>
            <a:r>
              <a:rPr lang="en-US" altLang="zh-CN" sz="1600" dirty="0" smtClean="0">
                <a:solidFill>
                  <a:srgbClr val="C00000"/>
                </a:solidFill>
              </a:rPr>
              <a:t>[</a:t>
            </a:r>
            <a:r>
              <a:rPr lang="en-US" altLang="zh-CN" sz="1600" dirty="0" err="1" smtClean="0">
                <a:solidFill>
                  <a:srgbClr val="C00000"/>
                </a:solidFill>
              </a:rPr>
              <a:t>i</a:t>
            </a:r>
            <a:r>
              <a:rPr lang="en-US" altLang="zh-CN" sz="1600" dirty="0" smtClean="0">
                <a:solidFill>
                  <a:srgbClr val="C00000"/>
                </a:solidFill>
              </a:rPr>
              <a:t>]=s[</a:t>
            </a:r>
            <a:r>
              <a:rPr lang="en-US" altLang="zh-CN" sz="1600" dirty="0" err="1" smtClean="0">
                <a:solidFill>
                  <a:srgbClr val="C00000"/>
                </a:solidFill>
              </a:rPr>
              <a:t>i</a:t>
            </a:r>
            <a:r>
              <a:rPr lang="en-US" altLang="zh-CN" sz="1600" dirty="0" smtClean="0">
                <a:solidFill>
                  <a:srgbClr val="C00000"/>
                </a:solidFill>
              </a:rPr>
              <a:t>]; </a:t>
            </a:r>
            <a:r>
              <a:rPr lang="en-US" altLang="zh-CN" sz="1600" dirty="0">
                <a:solidFill>
                  <a:srgbClr val="7030A0"/>
                </a:solidFill>
              </a:rPr>
              <a:t>//</a:t>
            </a:r>
            <a:r>
              <a:rPr lang="en-US" altLang="zh-CN" sz="1600" dirty="0" err="1">
                <a:solidFill>
                  <a:srgbClr val="7030A0"/>
                </a:solidFill>
              </a:rPr>
              <a:t>str</a:t>
            </a:r>
            <a:r>
              <a:rPr lang="en-US" altLang="zh-CN" sz="1600" dirty="0">
                <a:solidFill>
                  <a:srgbClr val="7030A0"/>
                </a:solidFill>
              </a:rPr>
              <a:t>[</a:t>
            </a:r>
            <a:r>
              <a:rPr lang="en-US" altLang="zh-CN" sz="1600" dirty="0" err="1">
                <a:solidFill>
                  <a:srgbClr val="7030A0"/>
                </a:solidFill>
              </a:rPr>
              <a:t>i</a:t>
            </a:r>
            <a:r>
              <a:rPr lang="en-US" altLang="zh-CN" sz="1600" dirty="0">
                <a:solidFill>
                  <a:srgbClr val="7030A0"/>
                </a:solidFill>
              </a:rPr>
              <a:t>]</a:t>
            </a:r>
            <a:r>
              <a:rPr lang="zh-CN" altLang="en-US" sz="1600" dirty="0">
                <a:solidFill>
                  <a:srgbClr val="7030A0"/>
                </a:solidFill>
              </a:rPr>
              <a:t>指向一个长度为</a:t>
            </a:r>
            <a:r>
              <a:rPr lang="en-US" altLang="zh-CN" sz="1600" dirty="0">
                <a:solidFill>
                  <a:srgbClr val="7030A0"/>
                </a:solidFill>
              </a:rPr>
              <a:t>20</a:t>
            </a:r>
            <a:r>
              <a:rPr lang="zh-CN" altLang="en-US" sz="1600" dirty="0">
                <a:solidFill>
                  <a:srgbClr val="7030A0"/>
                </a:solidFill>
              </a:rPr>
              <a:t>的字符</a:t>
            </a:r>
            <a:r>
              <a:rPr lang="zh-CN" altLang="en-US" sz="1600" dirty="0" smtClean="0">
                <a:solidFill>
                  <a:srgbClr val="7030A0"/>
                </a:solidFill>
              </a:rPr>
              <a:t>数组</a:t>
            </a:r>
            <a:endParaRPr lang="en-US" altLang="zh-CN" sz="1600" dirty="0" smtClean="0"/>
          </a:p>
          <a:p>
            <a:pPr marL="0" lvl="1" indent="0">
              <a:buNone/>
            </a:pPr>
            <a:r>
              <a:rPr lang="en-US" altLang="zh-CN" sz="1600" dirty="0">
                <a:solidFill>
                  <a:srgbClr val="C00000"/>
                </a:solidFill>
              </a:rPr>
              <a:t> </a:t>
            </a:r>
            <a:r>
              <a:rPr lang="en-US" altLang="zh-CN" sz="1600" dirty="0" smtClean="0">
                <a:solidFill>
                  <a:srgbClr val="C00000"/>
                </a:solidFill>
              </a:rPr>
              <a:t>     </a:t>
            </a:r>
            <a:r>
              <a:rPr lang="en-US" altLang="zh-CN" sz="1600" dirty="0" err="1" smtClean="0">
                <a:solidFill>
                  <a:srgbClr val="C00000"/>
                </a:solidFill>
              </a:rPr>
              <a:t>scanf</a:t>
            </a:r>
            <a:r>
              <a:rPr lang="en-US" altLang="zh-CN" sz="1600" dirty="0" smtClean="0">
                <a:solidFill>
                  <a:srgbClr val="C00000"/>
                </a:solidFill>
              </a:rPr>
              <a:t>(“%s”,</a:t>
            </a:r>
            <a:r>
              <a:rPr lang="en-US" altLang="zh-CN" sz="1600" dirty="0" err="1" smtClean="0">
                <a:solidFill>
                  <a:srgbClr val="C00000"/>
                </a:solidFill>
              </a:rPr>
              <a:t>str</a:t>
            </a:r>
            <a:r>
              <a:rPr lang="en-US" altLang="zh-CN" sz="1600" dirty="0" smtClean="0">
                <a:solidFill>
                  <a:srgbClr val="C00000"/>
                </a:solidFill>
              </a:rPr>
              <a:t>[</a:t>
            </a:r>
            <a:r>
              <a:rPr lang="en-US" altLang="zh-CN" sz="1600" dirty="0" err="1" smtClean="0">
                <a:solidFill>
                  <a:srgbClr val="C00000"/>
                </a:solidFill>
              </a:rPr>
              <a:t>i</a:t>
            </a:r>
            <a:r>
              <a:rPr lang="en-US" altLang="zh-CN" sz="1600" dirty="0" smtClean="0">
                <a:solidFill>
                  <a:srgbClr val="C00000"/>
                </a:solidFill>
              </a:rPr>
              <a:t>]);</a:t>
            </a:r>
          </a:p>
          <a:p>
            <a:pPr marL="0" lvl="1" indent="0">
              <a:buFont typeface="Wingdings" panose="05000000000000000000" pitchFamily="2" charset="2"/>
              <a:buNone/>
            </a:pPr>
            <a:r>
              <a:rPr lang="en-US" altLang="zh-CN" sz="1600" dirty="0" smtClean="0"/>
              <a:t>      </a:t>
            </a:r>
            <a:r>
              <a:rPr lang="en-US" altLang="zh-CN" sz="1600" dirty="0" err="1" smtClean="0"/>
              <a:t>printf</a:t>
            </a:r>
            <a:r>
              <a:rPr lang="en-US" altLang="zh-CN" sz="1600" dirty="0" smtClean="0"/>
              <a:t>(“</a:t>
            </a:r>
            <a:r>
              <a:rPr lang="en-US" altLang="zh-CN" sz="1600" dirty="0" err="1" smtClean="0"/>
              <a:t>str</a:t>
            </a:r>
            <a:r>
              <a:rPr lang="en-US" altLang="zh-CN" sz="1600" dirty="0" smtClean="0"/>
              <a:t>[%d]=%s\n”,</a:t>
            </a:r>
            <a:r>
              <a:rPr lang="en-US" altLang="zh-CN" sz="1600" dirty="0" err="1" smtClean="0"/>
              <a:t>i,str</a:t>
            </a:r>
            <a:r>
              <a:rPr lang="en-US" altLang="zh-CN" sz="1600" dirty="0" smtClean="0"/>
              <a:t>[</a:t>
            </a:r>
            <a:r>
              <a:rPr lang="en-US" altLang="zh-CN" sz="1600" dirty="0" err="1" smtClean="0"/>
              <a:t>i</a:t>
            </a:r>
            <a:r>
              <a:rPr lang="en-US" altLang="zh-CN" sz="1600" dirty="0" smtClean="0"/>
              <a:t>]);</a:t>
            </a:r>
          </a:p>
          <a:p>
            <a:pPr marL="0" lvl="1" indent="0">
              <a:buNone/>
            </a:pPr>
            <a:r>
              <a:rPr lang="en-US" altLang="zh-CN" sz="1600" dirty="0"/>
              <a:t> </a:t>
            </a:r>
            <a:r>
              <a:rPr lang="en-US" altLang="zh-CN" sz="1600" dirty="0" smtClean="0"/>
              <a:t>     if </a:t>
            </a:r>
            <a:r>
              <a:rPr lang="en-US" altLang="zh-CN" sz="1600" dirty="0"/>
              <a:t>(</a:t>
            </a:r>
            <a:r>
              <a:rPr lang="en-US" altLang="zh-CN" sz="1600" dirty="0" err="1"/>
              <a:t>strcmp</a:t>
            </a:r>
            <a:r>
              <a:rPr lang="en-US" altLang="zh-CN" sz="1600" dirty="0"/>
              <a:t>(</a:t>
            </a:r>
            <a:r>
              <a:rPr lang="en-US" altLang="zh-CN" sz="1600" dirty="0" err="1"/>
              <a:t>str</a:t>
            </a:r>
            <a:r>
              <a:rPr lang="en-US" altLang="zh-CN" sz="1600" dirty="0"/>
              <a:t>[</a:t>
            </a:r>
            <a:r>
              <a:rPr lang="en-US" altLang="zh-CN" sz="1600" dirty="0" err="1"/>
              <a:t>i</a:t>
            </a:r>
            <a:r>
              <a:rPr lang="en-US" altLang="zh-CN" sz="1600" dirty="0"/>
              <a:t>],"</a:t>
            </a:r>
            <a:r>
              <a:rPr lang="en-US" altLang="zh-CN" sz="1600" dirty="0">
                <a:solidFill>
                  <a:srgbClr val="006600"/>
                </a:solidFill>
              </a:rPr>
              <a:t>exit</a:t>
            </a:r>
            <a:r>
              <a:rPr lang="en-US" altLang="zh-CN" sz="1600" dirty="0"/>
              <a:t>")==0)</a:t>
            </a:r>
          </a:p>
          <a:p>
            <a:pPr marL="0" lvl="1" indent="0">
              <a:buNone/>
            </a:pPr>
            <a:r>
              <a:rPr lang="en-US" altLang="zh-CN" sz="1600" dirty="0"/>
              <a:t>       </a:t>
            </a:r>
            <a:r>
              <a:rPr lang="en-US" altLang="zh-CN" sz="1600" dirty="0" smtClean="0"/>
              <a:t>    </a:t>
            </a:r>
            <a:r>
              <a:rPr lang="en-US" altLang="zh-CN" sz="1600" dirty="0"/>
              <a:t>break;</a:t>
            </a:r>
            <a:endParaRPr lang="en-US" altLang="zh-CN" sz="1600" dirty="0" smtClean="0"/>
          </a:p>
          <a:p>
            <a:pPr marL="0" lvl="1" indent="0">
              <a:buFont typeface="Wingdings" panose="05000000000000000000" pitchFamily="2" charset="2"/>
              <a:buNone/>
            </a:pPr>
            <a:r>
              <a:rPr lang="en-US" altLang="zh-CN" sz="1600" dirty="0" smtClean="0"/>
              <a:t>} 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1600" dirty="0" smtClean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1600" dirty="0" smtClean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1600" dirty="0" smtClean="0"/>
          </a:p>
        </p:txBody>
      </p:sp>
    </p:spTree>
    <p:extLst>
      <p:ext uri="{BB962C8B-B14F-4D97-AF65-F5344CB8AC3E}">
        <p14:creationId xmlns:p14="http://schemas.microsoft.com/office/powerpoint/2010/main" val="3936484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7030A0"/>
                </a:solidFill>
              </a:rPr>
              <a:t>课后练习：</a:t>
            </a:r>
            <a:r>
              <a:rPr lang="en-US" altLang="zh-CN" dirty="0" smtClean="0"/>
              <a:t>6.7.4 </a:t>
            </a:r>
            <a:r>
              <a:rPr lang="zh-CN" altLang="en-US" dirty="0"/>
              <a:t>编程实例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4"/>
            <a:ext cx="8089900" cy="1337972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/>
              <a:t>例</a:t>
            </a:r>
            <a:r>
              <a:rPr lang="en-US" altLang="zh-CN" sz="1800" dirty="0"/>
              <a:t>1</a:t>
            </a:r>
            <a:r>
              <a:rPr lang="zh-CN" altLang="en-US" sz="1800" dirty="0" smtClean="0"/>
              <a:t>：自己编程实现</a:t>
            </a:r>
            <a:r>
              <a:rPr lang="en-US" altLang="zh-CN" sz="1800" dirty="0" smtClean="0"/>
              <a:t>C</a:t>
            </a:r>
            <a:r>
              <a:rPr lang="zh-CN" altLang="en-US" sz="1800" dirty="0" smtClean="0"/>
              <a:t>标准函数</a:t>
            </a:r>
            <a:r>
              <a:rPr lang="en-US" altLang="zh-CN" sz="1800" dirty="0" smtClean="0">
                <a:solidFill>
                  <a:srgbClr val="7030A0"/>
                </a:solidFill>
              </a:rPr>
              <a:t>unsigned </a:t>
            </a:r>
            <a:r>
              <a:rPr lang="en-US" altLang="zh-CN" sz="1800" dirty="0" err="1" smtClean="0">
                <a:solidFill>
                  <a:srgbClr val="7030A0"/>
                </a:solidFill>
              </a:rPr>
              <a:t>int</a:t>
            </a:r>
            <a:r>
              <a:rPr lang="en-US" altLang="zh-CN" sz="1800" dirty="0" smtClean="0">
                <a:solidFill>
                  <a:srgbClr val="7030A0"/>
                </a:solidFill>
              </a:rPr>
              <a:t> </a:t>
            </a:r>
            <a:r>
              <a:rPr lang="en-US" altLang="zh-CN" sz="1800" dirty="0" err="1" smtClean="0">
                <a:solidFill>
                  <a:srgbClr val="7030A0"/>
                </a:solidFill>
              </a:rPr>
              <a:t>strlen</a:t>
            </a:r>
            <a:r>
              <a:rPr lang="en-US" altLang="zh-CN" sz="1800" dirty="0" smtClean="0">
                <a:solidFill>
                  <a:srgbClr val="7030A0"/>
                </a:solidFill>
              </a:rPr>
              <a:t>(char *)</a:t>
            </a:r>
            <a:r>
              <a:rPr lang="zh-CN" altLang="en-US" sz="1800" dirty="0" smtClean="0"/>
              <a:t>的功能</a:t>
            </a:r>
            <a:endParaRPr lang="en-US" altLang="zh-CN" sz="1800" dirty="0" smtClean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 smtClean="0">
                <a:solidFill>
                  <a:srgbClr val="030DCD"/>
                </a:solidFill>
              </a:rPr>
              <a:t>例如，编写函数 </a:t>
            </a:r>
            <a:r>
              <a:rPr lang="en-US" altLang="zh-CN" sz="1800" dirty="0" smtClean="0">
                <a:solidFill>
                  <a:srgbClr val="030DCD"/>
                </a:solidFill>
              </a:rPr>
              <a:t>unsigned  </a:t>
            </a:r>
            <a:r>
              <a:rPr lang="en-US" altLang="zh-CN" sz="1800" dirty="0" err="1">
                <a:solidFill>
                  <a:srgbClr val="030DCD"/>
                </a:solidFill>
              </a:rPr>
              <a:t>getStrlen</a:t>
            </a:r>
            <a:r>
              <a:rPr lang="en-US" altLang="zh-CN" sz="1800" dirty="0">
                <a:solidFill>
                  <a:srgbClr val="030DCD"/>
                </a:solidFill>
              </a:rPr>
              <a:t>(char *</a:t>
            </a:r>
            <a:r>
              <a:rPr lang="en-US" altLang="zh-CN" sz="1800" dirty="0" err="1" smtClean="0">
                <a:solidFill>
                  <a:srgbClr val="030DCD"/>
                </a:solidFill>
              </a:rPr>
              <a:t>str</a:t>
            </a:r>
            <a:r>
              <a:rPr lang="en-US" altLang="zh-CN" sz="1800" dirty="0" smtClean="0">
                <a:solidFill>
                  <a:srgbClr val="030DCD"/>
                </a:solidFill>
              </a:rPr>
              <a:t>)</a:t>
            </a:r>
            <a:r>
              <a:rPr lang="zh-CN" altLang="en-US" sz="1800" dirty="0" smtClean="0">
                <a:solidFill>
                  <a:srgbClr val="030DCD"/>
                </a:solidFill>
              </a:rPr>
              <a:t>计算字符串</a:t>
            </a:r>
            <a:r>
              <a:rPr lang="en-US" altLang="zh-CN" sz="1800" dirty="0" err="1" smtClean="0">
                <a:solidFill>
                  <a:srgbClr val="030DCD"/>
                </a:solidFill>
              </a:rPr>
              <a:t>str</a:t>
            </a:r>
            <a:r>
              <a:rPr lang="zh-CN" altLang="en-US" sz="1800" dirty="0" smtClean="0">
                <a:solidFill>
                  <a:srgbClr val="030DCD"/>
                </a:solidFill>
              </a:rPr>
              <a:t>的长度</a:t>
            </a:r>
            <a:endParaRPr lang="en-US" altLang="zh-CN" sz="1800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/>
              <a:t>如：</a:t>
            </a:r>
            <a:r>
              <a:rPr lang="en-US" altLang="zh-CN" sz="1800" dirty="0" err="1" smtClean="0">
                <a:solidFill>
                  <a:srgbClr val="C00000"/>
                </a:solidFill>
              </a:rPr>
              <a:t>const</a:t>
            </a:r>
            <a:r>
              <a:rPr lang="en-US" altLang="zh-CN" sz="1800" dirty="0" smtClean="0">
                <a:solidFill>
                  <a:srgbClr val="C00000"/>
                </a:solidFill>
              </a:rPr>
              <a:t> char </a:t>
            </a:r>
            <a:r>
              <a:rPr lang="en-US" altLang="zh-CN" sz="1800" dirty="0">
                <a:solidFill>
                  <a:srgbClr val="C00000"/>
                </a:solidFill>
              </a:rPr>
              <a:t>*str</a:t>
            </a:r>
            <a:r>
              <a:rPr lang="en-US" altLang="zh-CN" sz="1800" dirty="0">
                <a:solidFill>
                  <a:srgbClr val="000000"/>
                </a:solidFill>
              </a:rPr>
              <a:t>=“Hello World!”  ;</a:t>
            </a:r>
            <a:r>
              <a:rPr lang="zh-CN" altLang="en-US" sz="1800" dirty="0">
                <a:solidFill>
                  <a:srgbClr val="000000"/>
                </a:solidFill>
              </a:rPr>
              <a:t>  </a:t>
            </a:r>
            <a:r>
              <a:rPr lang="en-US" altLang="zh-CN" sz="1800" dirty="0" err="1">
                <a:solidFill>
                  <a:srgbClr val="006600"/>
                </a:solidFill>
              </a:rPr>
              <a:t>int</a:t>
            </a:r>
            <a:r>
              <a:rPr lang="en-US" altLang="zh-CN" sz="1800" dirty="0">
                <a:solidFill>
                  <a:srgbClr val="006600"/>
                </a:solidFill>
              </a:rPr>
              <a:t>  </a:t>
            </a:r>
            <a:r>
              <a:rPr lang="en-US" altLang="zh-CN" sz="1800" dirty="0" err="1" smtClean="0">
                <a:solidFill>
                  <a:srgbClr val="006600"/>
                </a:solidFill>
              </a:rPr>
              <a:t>len</a:t>
            </a:r>
            <a:r>
              <a:rPr lang="en-US" altLang="zh-CN" sz="1800" dirty="0">
                <a:solidFill>
                  <a:srgbClr val="006600"/>
                </a:solidFill>
              </a:rPr>
              <a:t>=</a:t>
            </a:r>
            <a:r>
              <a:rPr lang="en-US" altLang="zh-CN" sz="1800" dirty="0"/>
              <a:t> </a:t>
            </a:r>
            <a:r>
              <a:rPr lang="en-US" altLang="zh-CN" sz="1800" dirty="0" err="1">
                <a:solidFill>
                  <a:srgbClr val="030DCD"/>
                </a:solidFill>
              </a:rPr>
              <a:t>getStrlen</a:t>
            </a:r>
            <a:r>
              <a:rPr lang="en-US" altLang="zh-CN" sz="1800" dirty="0">
                <a:solidFill>
                  <a:srgbClr val="006600"/>
                </a:solidFill>
              </a:rPr>
              <a:t>(str); 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b="1" dirty="0">
                <a:solidFill>
                  <a:srgbClr val="C00000"/>
                </a:solidFill>
              </a:rPr>
              <a:t>要点：一个字符串需要有</a:t>
            </a:r>
            <a:r>
              <a:rPr lang="en-US" altLang="zh-CN" sz="1800" b="1" dirty="0">
                <a:solidFill>
                  <a:srgbClr val="C00000"/>
                </a:solidFill>
              </a:rPr>
              <a:t>’\0’</a:t>
            </a:r>
            <a:r>
              <a:rPr lang="zh-CN" altLang="en-US" sz="1800" b="1" dirty="0">
                <a:solidFill>
                  <a:srgbClr val="C00000"/>
                </a:solidFill>
              </a:rPr>
              <a:t>作为结束符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353291" y="2620963"/>
            <a:ext cx="4197927" cy="379022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rgbClr val="0000CC"/>
                </a:solidFill>
              </a:rPr>
              <a:t>利用</a:t>
            </a:r>
            <a:r>
              <a:rPr lang="zh-CN" altLang="en-US" sz="1600" dirty="0">
                <a:solidFill>
                  <a:srgbClr val="006600"/>
                </a:solidFill>
              </a:rPr>
              <a:t>字符数组</a:t>
            </a:r>
            <a:r>
              <a:rPr lang="zh-CN" altLang="en-US" sz="1600" dirty="0">
                <a:solidFill>
                  <a:srgbClr val="0000CC"/>
                </a:solidFill>
              </a:rPr>
              <a:t>编程求字符串长度</a:t>
            </a:r>
            <a:endParaRPr lang="en-US" altLang="zh-CN" sz="1600" dirty="0">
              <a:solidFill>
                <a:srgbClr val="0000CC"/>
              </a:solidFill>
            </a:endParaRPr>
          </a:p>
          <a:p>
            <a:pPr lvl="1" indent="0">
              <a:buNone/>
            </a:pPr>
            <a:r>
              <a:rPr lang="en-US" altLang="zh-CN" sz="1600" dirty="0" smtClean="0"/>
              <a:t>unsigned  </a:t>
            </a:r>
            <a:r>
              <a:rPr lang="en-US" altLang="zh-CN" sz="1600" dirty="0" err="1"/>
              <a:t>getStrlen</a:t>
            </a:r>
            <a:r>
              <a:rPr lang="en-US" altLang="zh-CN" sz="1600" dirty="0"/>
              <a:t>(char </a:t>
            </a:r>
            <a:r>
              <a:rPr lang="en-US" altLang="zh-CN" sz="1600" dirty="0" err="1">
                <a:solidFill>
                  <a:srgbClr val="C00000"/>
                </a:solidFill>
              </a:rPr>
              <a:t>str</a:t>
            </a:r>
            <a:r>
              <a:rPr lang="en-US" altLang="zh-CN" sz="1600" dirty="0">
                <a:solidFill>
                  <a:srgbClr val="C00000"/>
                </a:solidFill>
              </a:rPr>
              <a:t>[])</a:t>
            </a:r>
          </a:p>
          <a:p>
            <a:pPr lvl="1" indent="0">
              <a:buNone/>
            </a:pPr>
            <a:r>
              <a:rPr lang="en-US" altLang="zh-CN" sz="1600" dirty="0"/>
              <a:t>{</a:t>
            </a:r>
          </a:p>
          <a:p>
            <a:pPr lvl="1" indent="0">
              <a:buNone/>
            </a:pPr>
            <a:r>
              <a:rPr lang="en-US" altLang="zh-CN" sz="1600" dirty="0"/>
              <a:t>	    char *p=</a:t>
            </a:r>
            <a:r>
              <a:rPr lang="en-US" altLang="zh-CN" sz="1600" dirty="0" err="1"/>
              <a:t>str</a:t>
            </a:r>
            <a:r>
              <a:rPr lang="en-US" altLang="zh-CN" sz="1600" dirty="0"/>
              <a:t>;   //</a:t>
            </a:r>
            <a:r>
              <a:rPr lang="en-US" altLang="zh-CN" sz="1600" dirty="0">
                <a:solidFill>
                  <a:srgbClr val="006600"/>
                </a:solidFill>
              </a:rPr>
              <a:t>p=&amp;</a:t>
            </a:r>
            <a:r>
              <a:rPr lang="en-US" altLang="zh-CN" sz="1600" dirty="0" err="1">
                <a:solidFill>
                  <a:srgbClr val="006600"/>
                </a:solidFill>
              </a:rPr>
              <a:t>str</a:t>
            </a:r>
            <a:r>
              <a:rPr lang="en-US" altLang="zh-CN" sz="1600" dirty="0">
                <a:solidFill>
                  <a:srgbClr val="006600"/>
                </a:solidFill>
              </a:rPr>
              <a:t>[0];</a:t>
            </a:r>
          </a:p>
          <a:p>
            <a:pPr lvl="1" indent="0">
              <a:buNone/>
            </a:pPr>
            <a:r>
              <a:rPr lang="en-US" altLang="zh-CN" sz="1600" dirty="0"/>
              <a:t>     while </a:t>
            </a:r>
            <a:r>
              <a:rPr lang="en-US" altLang="zh-CN" sz="1600" b="1" dirty="0">
                <a:solidFill>
                  <a:srgbClr val="C00000"/>
                </a:solidFill>
              </a:rPr>
              <a:t>(*p !='\0')</a:t>
            </a:r>
          </a:p>
          <a:p>
            <a:pPr lvl="1" indent="0">
              <a:buNone/>
            </a:pPr>
            <a:r>
              <a:rPr lang="en-US" altLang="zh-CN" sz="1600" dirty="0"/>
              <a:t>	</a:t>
            </a:r>
            <a:r>
              <a:rPr lang="en-US" altLang="zh-CN" sz="1600" b="1" dirty="0">
                <a:solidFill>
                  <a:srgbClr val="030DCD"/>
                </a:solidFill>
              </a:rPr>
              <a:t>         p++;</a:t>
            </a:r>
          </a:p>
          <a:p>
            <a:pPr lvl="1" indent="0">
              <a:buNone/>
            </a:pPr>
            <a:r>
              <a:rPr lang="en-US" altLang="zh-CN" sz="1600" dirty="0"/>
              <a:t>	</a:t>
            </a:r>
            <a:r>
              <a:rPr lang="en-US" altLang="zh-CN" sz="1600" b="1" dirty="0">
                <a:solidFill>
                  <a:srgbClr val="006600"/>
                </a:solidFill>
              </a:rPr>
              <a:t>    return (p-</a:t>
            </a:r>
            <a:r>
              <a:rPr lang="en-US" altLang="zh-CN" sz="1600" b="1" dirty="0" err="1">
                <a:solidFill>
                  <a:srgbClr val="006600"/>
                </a:solidFill>
              </a:rPr>
              <a:t>str</a:t>
            </a:r>
            <a:r>
              <a:rPr lang="en-US" altLang="zh-CN" sz="1600" b="1" dirty="0">
                <a:solidFill>
                  <a:srgbClr val="006600"/>
                </a:solidFill>
              </a:rPr>
              <a:t>);</a:t>
            </a:r>
          </a:p>
          <a:p>
            <a:pPr lvl="1" indent="0">
              <a:buNone/>
            </a:pPr>
            <a:r>
              <a:rPr lang="en-US" altLang="zh-CN" sz="1600" dirty="0" smtClean="0"/>
              <a:t>}</a:t>
            </a:r>
          </a:p>
          <a:p>
            <a:pPr lvl="1" indent="0">
              <a:buNone/>
            </a:pPr>
            <a:r>
              <a:rPr lang="en-US" altLang="zh-CN" sz="1600" dirty="0" smtClean="0"/>
              <a:t>//</a:t>
            </a:r>
            <a:r>
              <a:rPr lang="zh-CN" altLang="en-US" sz="1600" dirty="0" smtClean="0"/>
              <a:t>也可以利用一个无符号数类型的计数</a:t>
            </a:r>
            <a:r>
              <a:rPr lang="en-US" altLang="zh-CN" sz="1600" dirty="0" smtClean="0"/>
              <a:t>//</a:t>
            </a:r>
            <a:r>
              <a:rPr lang="zh-CN" altLang="en-US" sz="1600" dirty="0" smtClean="0"/>
              <a:t>器累计字符个数，然后返回该值</a:t>
            </a:r>
            <a:endParaRPr lang="en-US" altLang="zh-CN" sz="1600" dirty="0"/>
          </a:p>
        </p:txBody>
      </p:sp>
      <p:sp>
        <p:nvSpPr>
          <p:cNvPr id="5" name="内容占位符 2"/>
          <p:cNvSpPr txBox="1">
            <a:spLocks/>
          </p:cNvSpPr>
          <p:nvPr/>
        </p:nvSpPr>
        <p:spPr bwMode="auto">
          <a:xfrm>
            <a:off x="4634922" y="2620963"/>
            <a:ext cx="4145396" cy="379022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rgbClr val="0000CC"/>
                </a:solidFill>
              </a:rPr>
              <a:t>利用</a:t>
            </a:r>
            <a:r>
              <a:rPr lang="zh-CN" altLang="en-US" sz="1600" dirty="0">
                <a:solidFill>
                  <a:srgbClr val="006600"/>
                </a:solidFill>
              </a:rPr>
              <a:t>字符指针</a:t>
            </a:r>
            <a:r>
              <a:rPr lang="zh-CN" altLang="en-US" sz="1600" dirty="0">
                <a:solidFill>
                  <a:srgbClr val="0000CC"/>
                </a:solidFill>
              </a:rPr>
              <a:t>编程求字符串长度</a:t>
            </a:r>
            <a:endParaRPr lang="en-US" altLang="zh-CN" sz="1600" dirty="0">
              <a:solidFill>
                <a:srgbClr val="0000CC"/>
              </a:solidFill>
            </a:endParaRPr>
          </a:p>
          <a:p>
            <a:pPr lvl="1" indent="0">
              <a:buNone/>
            </a:pPr>
            <a:r>
              <a:rPr lang="en-US" altLang="zh-CN" sz="1600" dirty="0"/>
              <a:t>unsigned </a:t>
            </a:r>
            <a:r>
              <a:rPr lang="en-US" altLang="zh-CN" sz="1600" dirty="0" err="1"/>
              <a:t>getStrlen</a:t>
            </a:r>
            <a:r>
              <a:rPr lang="en-US" altLang="zh-CN" sz="1600" dirty="0"/>
              <a:t>(char </a:t>
            </a:r>
            <a:r>
              <a:rPr lang="en-US" altLang="zh-CN" sz="1600" dirty="0">
                <a:solidFill>
                  <a:srgbClr val="C00000"/>
                </a:solidFill>
              </a:rPr>
              <a:t>*</a:t>
            </a:r>
            <a:r>
              <a:rPr lang="en-US" altLang="zh-CN" sz="1600" dirty="0" err="1">
                <a:solidFill>
                  <a:srgbClr val="C00000"/>
                </a:solidFill>
              </a:rPr>
              <a:t>str</a:t>
            </a:r>
            <a:r>
              <a:rPr lang="en-US" altLang="zh-CN" sz="1600" dirty="0"/>
              <a:t>)</a:t>
            </a:r>
          </a:p>
          <a:p>
            <a:pPr lvl="1" indent="0">
              <a:buNone/>
            </a:pPr>
            <a:r>
              <a:rPr lang="en-US" altLang="zh-CN" sz="1600" dirty="0"/>
              <a:t>{</a:t>
            </a:r>
          </a:p>
          <a:p>
            <a:pPr lvl="1" indent="0">
              <a:buNone/>
            </a:pPr>
            <a:r>
              <a:rPr lang="en-US" altLang="zh-CN" sz="1600" dirty="0"/>
              <a:t>	     char *p=</a:t>
            </a:r>
            <a:r>
              <a:rPr lang="en-US" altLang="zh-CN" sz="1600" dirty="0" err="1"/>
              <a:t>str</a:t>
            </a:r>
            <a:r>
              <a:rPr lang="en-US" altLang="zh-CN" sz="1600" dirty="0"/>
              <a:t>;  //</a:t>
            </a:r>
            <a:r>
              <a:rPr lang="en-US" altLang="zh-CN" sz="1600" dirty="0">
                <a:solidFill>
                  <a:srgbClr val="006600"/>
                </a:solidFill>
              </a:rPr>
              <a:t>p=&amp;</a:t>
            </a:r>
            <a:r>
              <a:rPr lang="en-US" altLang="zh-CN" sz="1600" dirty="0" err="1">
                <a:solidFill>
                  <a:srgbClr val="006600"/>
                </a:solidFill>
              </a:rPr>
              <a:t>str</a:t>
            </a:r>
            <a:r>
              <a:rPr lang="en-US" altLang="zh-CN" sz="1600" dirty="0">
                <a:solidFill>
                  <a:srgbClr val="006600"/>
                </a:solidFill>
              </a:rPr>
              <a:t>[0];</a:t>
            </a:r>
          </a:p>
          <a:p>
            <a:pPr lvl="1" indent="0">
              <a:buNone/>
            </a:pPr>
            <a:r>
              <a:rPr lang="en-US" altLang="zh-CN" sz="1600" dirty="0"/>
              <a:t>	     while </a:t>
            </a:r>
            <a:r>
              <a:rPr lang="en-US" altLang="zh-CN" sz="1600" b="1" dirty="0">
                <a:solidFill>
                  <a:srgbClr val="C00000"/>
                </a:solidFill>
              </a:rPr>
              <a:t>(*p!='\0')</a:t>
            </a:r>
          </a:p>
          <a:p>
            <a:pPr lvl="1" indent="0">
              <a:buNone/>
            </a:pPr>
            <a:r>
              <a:rPr lang="en-US" altLang="zh-CN" sz="1600" dirty="0"/>
              <a:t>	</a:t>
            </a:r>
            <a:r>
              <a:rPr lang="en-US" altLang="zh-CN" sz="1600" b="1" dirty="0">
                <a:solidFill>
                  <a:srgbClr val="030DCD"/>
                </a:solidFill>
              </a:rPr>
              <a:t>         p++;</a:t>
            </a:r>
          </a:p>
          <a:p>
            <a:pPr lvl="1" indent="0">
              <a:buNone/>
            </a:pPr>
            <a:r>
              <a:rPr lang="en-US" altLang="zh-CN" sz="1600" dirty="0"/>
              <a:t>	     </a:t>
            </a:r>
            <a:r>
              <a:rPr lang="en-US" altLang="zh-CN" sz="1600" b="1" dirty="0">
                <a:solidFill>
                  <a:srgbClr val="006600"/>
                </a:solidFill>
              </a:rPr>
              <a:t>return (p-</a:t>
            </a:r>
            <a:r>
              <a:rPr lang="en-US" altLang="zh-CN" sz="1600" b="1" dirty="0" err="1">
                <a:solidFill>
                  <a:srgbClr val="006600"/>
                </a:solidFill>
              </a:rPr>
              <a:t>str</a:t>
            </a:r>
            <a:r>
              <a:rPr lang="en-US" altLang="zh-CN" sz="1600" b="1" dirty="0">
                <a:solidFill>
                  <a:srgbClr val="006600"/>
                </a:solidFill>
              </a:rPr>
              <a:t>);</a:t>
            </a:r>
          </a:p>
          <a:p>
            <a:pPr lvl="1" indent="0">
              <a:buNone/>
            </a:pPr>
            <a:r>
              <a:rPr lang="en-US" altLang="zh-CN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18079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7030A0"/>
                </a:solidFill>
              </a:rPr>
              <a:t>课后练习：</a:t>
            </a:r>
            <a:r>
              <a:rPr lang="en-US" altLang="zh-CN" dirty="0" smtClean="0"/>
              <a:t> </a:t>
            </a:r>
            <a:r>
              <a:rPr lang="zh-CN" altLang="en-US" dirty="0"/>
              <a:t>编程实例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4"/>
            <a:ext cx="8089900" cy="1337972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/>
              <a:t>例</a:t>
            </a:r>
            <a:r>
              <a:rPr lang="en-US" altLang="zh-CN" sz="1800" dirty="0"/>
              <a:t>1</a:t>
            </a:r>
            <a:r>
              <a:rPr lang="zh-CN" altLang="en-US" sz="1800" dirty="0" smtClean="0"/>
              <a:t>：自己编程实现</a:t>
            </a:r>
            <a:r>
              <a:rPr lang="en-US" altLang="zh-CN" sz="1800" dirty="0" smtClean="0"/>
              <a:t>C</a:t>
            </a:r>
            <a:r>
              <a:rPr lang="zh-CN" altLang="en-US" sz="1800" dirty="0" smtClean="0"/>
              <a:t>标准函数</a:t>
            </a:r>
            <a:r>
              <a:rPr lang="en-US" altLang="zh-CN" sz="1800" dirty="0" smtClean="0">
                <a:solidFill>
                  <a:srgbClr val="7030A0"/>
                </a:solidFill>
              </a:rPr>
              <a:t>unsigned </a:t>
            </a:r>
            <a:r>
              <a:rPr lang="en-US" altLang="zh-CN" sz="1800" dirty="0" err="1" smtClean="0">
                <a:solidFill>
                  <a:srgbClr val="7030A0"/>
                </a:solidFill>
              </a:rPr>
              <a:t>int</a:t>
            </a:r>
            <a:r>
              <a:rPr lang="en-US" altLang="zh-CN" sz="1800" dirty="0" smtClean="0">
                <a:solidFill>
                  <a:srgbClr val="7030A0"/>
                </a:solidFill>
              </a:rPr>
              <a:t> </a:t>
            </a:r>
            <a:r>
              <a:rPr lang="en-US" altLang="zh-CN" sz="1800" dirty="0" err="1" smtClean="0">
                <a:solidFill>
                  <a:srgbClr val="7030A0"/>
                </a:solidFill>
              </a:rPr>
              <a:t>strlen</a:t>
            </a:r>
            <a:r>
              <a:rPr lang="en-US" altLang="zh-CN" sz="1800" dirty="0" smtClean="0">
                <a:solidFill>
                  <a:srgbClr val="7030A0"/>
                </a:solidFill>
              </a:rPr>
              <a:t>(char *)</a:t>
            </a:r>
            <a:r>
              <a:rPr lang="zh-CN" altLang="en-US" sz="1800" dirty="0" smtClean="0"/>
              <a:t>的功能</a:t>
            </a:r>
            <a:endParaRPr lang="en-US" altLang="zh-CN" sz="1800" dirty="0" smtClean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 smtClean="0">
                <a:solidFill>
                  <a:srgbClr val="030DCD"/>
                </a:solidFill>
              </a:rPr>
              <a:t>例如，编写函数 </a:t>
            </a:r>
            <a:r>
              <a:rPr lang="en-US" altLang="zh-CN" sz="1800" dirty="0" smtClean="0">
                <a:solidFill>
                  <a:srgbClr val="030DCD"/>
                </a:solidFill>
              </a:rPr>
              <a:t>unsigned  </a:t>
            </a:r>
            <a:r>
              <a:rPr lang="en-US" altLang="zh-CN" sz="1800" dirty="0" err="1">
                <a:solidFill>
                  <a:srgbClr val="030DCD"/>
                </a:solidFill>
              </a:rPr>
              <a:t>getStrlen</a:t>
            </a:r>
            <a:r>
              <a:rPr lang="en-US" altLang="zh-CN" sz="1800" dirty="0">
                <a:solidFill>
                  <a:srgbClr val="030DCD"/>
                </a:solidFill>
              </a:rPr>
              <a:t>(char *</a:t>
            </a:r>
            <a:r>
              <a:rPr lang="en-US" altLang="zh-CN" sz="1800" dirty="0" err="1" smtClean="0">
                <a:solidFill>
                  <a:srgbClr val="030DCD"/>
                </a:solidFill>
              </a:rPr>
              <a:t>str</a:t>
            </a:r>
            <a:r>
              <a:rPr lang="en-US" altLang="zh-CN" sz="1800" dirty="0" smtClean="0">
                <a:solidFill>
                  <a:srgbClr val="030DCD"/>
                </a:solidFill>
              </a:rPr>
              <a:t>)</a:t>
            </a:r>
            <a:r>
              <a:rPr lang="zh-CN" altLang="en-US" sz="1800" dirty="0" smtClean="0">
                <a:solidFill>
                  <a:srgbClr val="030DCD"/>
                </a:solidFill>
              </a:rPr>
              <a:t>计算字符串</a:t>
            </a:r>
            <a:r>
              <a:rPr lang="en-US" altLang="zh-CN" sz="1800" dirty="0" err="1" smtClean="0">
                <a:solidFill>
                  <a:srgbClr val="030DCD"/>
                </a:solidFill>
              </a:rPr>
              <a:t>str</a:t>
            </a:r>
            <a:r>
              <a:rPr lang="zh-CN" altLang="en-US" sz="1800" dirty="0" smtClean="0">
                <a:solidFill>
                  <a:srgbClr val="030DCD"/>
                </a:solidFill>
              </a:rPr>
              <a:t>的长度</a:t>
            </a:r>
            <a:endParaRPr lang="en-US" altLang="zh-CN" sz="1800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/>
              <a:t>如：</a:t>
            </a:r>
            <a:r>
              <a:rPr lang="en-US" altLang="zh-CN" sz="1800" dirty="0" err="1" smtClean="0">
                <a:solidFill>
                  <a:srgbClr val="C00000"/>
                </a:solidFill>
              </a:rPr>
              <a:t>const</a:t>
            </a:r>
            <a:r>
              <a:rPr lang="en-US" altLang="zh-CN" sz="1800" dirty="0" smtClean="0">
                <a:solidFill>
                  <a:srgbClr val="C00000"/>
                </a:solidFill>
              </a:rPr>
              <a:t> char </a:t>
            </a:r>
            <a:r>
              <a:rPr lang="en-US" altLang="zh-CN" sz="1800" dirty="0">
                <a:solidFill>
                  <a:srgbClr val="C00000"/>
                </a:solidFill>
              </a:rPr>
              <a:t>*str</a:t>
            </a:r>
            <a:r>
              <a:rPr lang="en-US" altLang="zh-CN" sz="1800" dirty="0">
                <a:solidFill>
                  <a:srgbClr val="000000"/>
                </a:solidFill>
              </a:rPr>
              <a:t>=“Hello World!”  ;</a:t>
            </a:r>
            <a:r>
              <a:rPr lang="zh-CN" altLang="en-US" sz="1800" dirty="0">
                <a:solidFill>
                  <a:srgbClr val="000000"/>
                </a:solidFill>
              </a:rPr>
              <a:t>  </a:t>
            </a:r>
            <a:r>
              <a:rPr lang="en-US" altLang="zh-CN" sz="1800" dirty="0" err="1">
                <a:solidFill>
                  <a:srgbClr val="006600"/>
                </a:solidFill>
              </a:rPr>
              <a:t>int</a:t>
            </a:r>
            <a:r>
              <a:rPr lang="en-US" altLang="zh-CN" sz="1800" dirty="0">
                <a:solidFill>
                  <a:srgbClr val="006600"/>
                </a:solidFill>
              </a:rPr>
              <a:t>  </a:t>
            </a:r>
            <a:r>
              <a:rPr lang="en-US" altLang="zh-CN" sz="1800" dirty="0" err="1" smtClean="0">
                <a:solidFill>
                  <a:srgbClr val="006600"/>
                </a:solidFill>
              </a:rPr>
              <a:t>len</a:t>
            </a:r>
            <a:r>
              <a:rPr lang="en-US" altLang="zh-CN" sz="1800" dirty="0">
                <a:solidFill>
                  <a:srgbClr val="006600"/>
                </a:solidFill>
              </a:rPr>
              <a:t>=</a:t>
            </a:r>
            <a:r>
              <a:rPr lang="en-US" altLang="zh-CN" sz="1800" dirty="0"/>
              <a:t> </a:t>
            </a:r>
            <a:r>
              <a:rPr lang="en-US" altLang="zh-CN" sz="1800" dirty="0" err="1">
                <a:solidFill>
                  <a:srgbClr val="030DCD"/>
                </a:solidFill>
              </a:rPr>
              <a:t>getStrlen</a:t>
            </a:r>
            <a:r>
              <a:rPr lang="en-US" altLang="zh-CN" sz="1800" dirty="0">
                <a:solidFill>
                  <a:srgbClr val="006600"/>
                </a:solidFill>
              </a:rPr>
              <a:t>(str); 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b="1" dirty="0">
                <a:solidFill>
                  <a:srgbClr val="C00000"/>
                </a:solidFill>
              </a:rPr>
              <a:t>要点：一个字符串需要有</a:t>
            </a:r>
            <a:r>
              <a:rPr lang="en-US" altLang="zh-CN" sz="1800" b="1" dirty="0">
                <a:solidFill>
                  <a:srgbClr val="C00000"/>
                </a:solidFill>
              </a:rPr>
              <a:t>’\0’</a:t>
            </a:r>
            <a:r>
              <a:rPr lang="zh-CN" altLang="en-US" sz="1800" b="1" dirty="0">
                <a:solidFill>
                  <a:srgbClr val="C00000"/>
                </a:solidFill>
              </a:rPr>
              <a:t>作为结束符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353291" y="2620963"/>
            <a:ext cx="4197927" cy="379022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rgbClr val="0000CC"/>
                </a:solidFill>
              </a:rPr>
              <a:t>利用</a:t>
            </a:r>
            <a:r>
              <a:rPr lang="zh-CN" altLang="en-US" sz="1600" dirty="0">
                <a:solidFill>
                  <a:srgbClr val="006600"/>
                </a:solidFill>
              </a:rPr>
              <a:t>字符数组</a:t>
            </a:r>
            <a:r>
              <a:rPr lang="zh-CN" altLang="en-US" sz="1600" dirty="0">
                <a:solidFill>
                  <a:srgbClr val="0000CC"/>
                </a:solidFill>
              </a:rPr>
              <a:t>编程求字符串长度</a:t>
            </a:r>
            <a:endParaRPr lang="en-US" altLang="zh-CN" sz="1600" dirty="0">
              <a:solidFill>
                <a:srgbClr val="0000CC"/>
              </a:solidFill>
            </a:endParaRPr>
          </a:p>
          <a:p>
            <a:pPr lvl="1" indent="0">
              <a:buNone/>
            </a:pPr>
            <a:r>
              <a:rPr lang="en-US" altLang="zh-CN" sz="1600" dirty="0" smtClean="0"/>
              <a:t>unsigned  </a:t>
            </a:r>
            <a:r>
              <a:rPr lang="en-US" altLang="zh-CN" sz="1600" dirty="0" err="1"/>
              <a:t>getStrlen</a:t>
            </a:r>
            <a:r>
              <a:rPr lang="en-US" altLang="zh-CN" sz="1600" dirty="0"/>
              <a:t>(char </a:t>
            </a:r>
            <a:r>
              <a:rPr lang="en-US" altLang="zh-CN" sz="1600" dirty="0" err="1">
                <a:solidFill>
                  <a:srgbClr val="C00000"/>
                </a:solidFill>
              </a:rPr>
              <a:t>str</a:t>
            </a:r>
            <a:r>
              <a:rPr lang="en-US" altLang="zh-CN" sz="1600" dirty="0">
                <a:solidFill>
                  <a:srgbClr val="C00000"/>
                </a:solidFill>
              </a:rPr>
              <a:t>[])</a:t>
            </a:r>
          </a:p>
          <a:p>
            <a:pPr lvl="1" indent="0">
              <a:buNone/>
            </a:pPr>
            <a:r>
              <a:rPr lang="en-US" altLang="zh-CN" sz="1600" dirty="0" smtClean="0"/>
              <a:t>{</a:t>
            </a:r>
          </a:p>
          <a:p>
            <a:pPr lvl="1" indent="0">
              <a:buNone/>
            </a:pPr>
            <a:r>
              <a:rPr lang="en-US" altLang="zh-CN" sz="1600" dirty="0"/>
              <a:t> </a:t>
            </a:r>
            <a:r>
              <a:rPr lang="en-US" altLang="zh-CN" sz="1600" dirty="0" smtClean="0"/>
              <a:t>    unsigned </a:t>
            </a:r>
            <a:r>
              <a:rPr lang="en-US" altLang="zh-CN" sz="1600" dirty="0" err="1" smtClean="0"/>
              <a:t>len</a:t>
            </a:r>
            <a:r>
              <a:rPr lang="en-US" altLang="zh-CN" sz="1600" dirty="0" smtClean="0"/>
              <a:t>=0;   </a:t>
            </a:r>
            <a:endParaRPr lang="en-US" altLang="zh-CN" sz="1600" dirty="0"/>
          </a:p>
          <a:p>
            <a:pPr lvl="1" indent="0">
              <a:buNone/>
            </a:pPr>
            <a:r>
              <a:rPr lang="en-US" altLang="zh-CN" sz="1600" dirty="0"/>
              <a:t>	    char *p=</a:t>
            </a:r>
            <a:r>
              <a:rPr lang="en-US" altLang="zh-CN" sz="1600" dirty="0" err="1"/>
              <a:t>str</a:t>
            </a:r>
            <a:r>
              <a:rPr lang="en-US" altLang="zh-CN" sz="1600" dirty="0"/>
              <a:t>;   //</a:t>
            </a:r>
            <a:r>
              <a:rPr lang="en-US" altLang="zh-CN" sz="1600" dirty="0">
                <a:solidFill>
                  <a:srgbClr val="006600"/>
                </a:solidFill>
              </a:rPr>
              <a:t>p=&amp;</a:t>
            </a:r>
            <a:r>
              <a:rPr lang="en-US" altLang="zh-CN" sz="1600" dirty="0" err="1">
                <a:solidFill>
                  <a:srgbClr val="006600"/>
                </a:solidFill>
              </a:rPr>
              <a:t>str</a:t>
            </a:r>
            <a:r>
              <a:rPr lang="en-US" altLang="zh-CN" sz="1600" dirty="0">
                <a:solidFill>
                  <a:srgbClr val="006600"/>
                </a:solidFill>
              </a:rPr>
              <a:t>[0];</a:t>
            </a:r>
          </a:p>
          <a:p>
            <a:pPr lvl="1" indent="0">
              <a:buNone/>
            </a:pPr>
            <a:r>
              <a:rPr lang="en-US" altLang="zh-CN" sz="1600" dirty="0"/>
              <a:t>     while </a:t>
            </a:r>
            <a:r>
              <a:rPr lang="en-US" altLang="zh-CN" sz="1600" b="1" dirty="0">
                <a:solidFill>
                  <a:srgbClr val="C00000"/>
                </a:solidFill>
              </a:rPr>
              <a:t>(*p !='\0')</a:t>
            </a:r>
          </a:p>
          <a:p>
            <a:pPr lvl="1" indent="0">
              <a:buNone/>
            </a:pPr>
            <a:r>
              <a:rPr lang="en-US" altLang="zh-CN" sz="1600" dirty="0"/>
              <a:t>	</a:t>
            </a:r>
            <a:r>
              <a:rPr lang="en-US" altLang="zh-CN" sz="1600" b="1" dirty="0">
                <a:solidFill>
                  <a:srgbClr val="030DCD"/>
                </a:solidFill>
              </a:rPr>
              <a:t> </a:t>
            </a:r>
            <a:r>
              <a:rPr lang="en-US" altLang="zh-CN" sz="1600" b="1" dirty="0" smtClean="0">
                <a:solidFill>
                  <a:srgbClr val="030DCD"/>
                </a:solidFill>
              </a:rPr>
              <a:t>       </a:t>
            </a:r>
            <a:r>
              <a:rPr lang="en-US" altLang="zh-CN" sz="1600" dirty="0" err="1" smtClean="0"/>
              <a:t>len</a:t>
            </a:r>
            <a:r>
              <a:rPr lang="en-US" altLang="zh-CN" sz="1600" dirty="0" smtClean="0"/>
              <a:t>=len+1</a:t>
            </a:r>
            <a:r>
              <a:rPr lang="en-US" altLang="zh-CN" sz="1600" b="1" dirty="0" smtClean="0">
                <a:solidFill>
                  <a:srgbClr val="030DCD"/>
                </a:solidFill>
              </a:rPr>
              <a:t> ;</a:t>
            </a:r>
            <a:endParaRPr lang="en-US" altLang="zh-CN" sz="1600" b="1" dirty="0">
              <a:solidFill>
                <a:srgbClr val="030DCD"/>
              </a:solidFill>
            </a:endParaRPr>
          </a:p>
          <a:p>
            <a:pPr lvl="1" indent="0">
              <a:buNone/>
            </a:pPr>
            <a:r>
              <a:rPr lang="en-US" altLang="zh-CN" sz="1600" dirty="0"/>
              <a:t>	</a:t>
            </a:r>
            <a:r>
              <a:rPr lang="en-US" altLang="zh-CN" sz="1600" b="1" dirty="0">
                <a:solidFill>
                  <a:srgbClr val="006600"/>
                </a:solidFill>
              </a:rPr>
              <a:t>    return </a:t>
            </a:r>
            <a:r>
              <a:rPr lang="en-US" altLang="zh-CN" sz="1600" b="1" dirty="0" err="1" smtClean="0">
                <a:solidFill>
                  <a:srgbClr val="006600"/>
                </a:solidFill>
              </a:rPr>
              <a:t>len</a:t>
            </a:r>
            <a:r>
              <a:rPr lang="en-US" altLang="zh-CN" sz="1600" b="1" dirty="0" smtClean="0">
                <a:solidFill>
                  <a:srgbClr val="006600"/>
                </a:solidFill>
              </a:rPr>
              <a:t>;</a:t>
            </a:r>
            <a:endParaRPr lang="en-US" altLang="zh-CN" sz="1600" b="1" dirty="0">
              <a:solidFill>
                <a:srgbClr val="006600"/>
              </a:solidFill>
            </a:endParaRPr>
          </a:p>
          <a:p>
            <a:pPr lvl="1" indent="0">
              <a:buNone/>
            </a:pPr>
            <a:r>
              <a:rPr lang="en-US" altLang="zh-CN" sz="1600" dirty="0" smtClean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30858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7030A0"/>
                </a:solidFill>
              </a:rPr>
              <a:t>课后练习：</a:t>
            </a:r>
            <a:r>
              <a:rPr lang="zh-CN" altLang="en-US" dirty="0" smtClean="0"/>
              <a:t>利用</a:t>
            </a:r>
            <a:r>
              <a:rPr lang="zh-CN" altLang="en-US" dirty="0"/>
              <a:t>字符指针求字符串长度</a:t>
            </a:r>
            <a:r>
              <a:rPr lang="en-US" altLang="zh-CN" dirty="0"/>
              <a:t>—</a:t>
            </a:r>
            <a:r>
              <a:rPr lang="zh-CN" altLang="en-US" dirty="0"/>
              <a:t>主函数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309419" y="1259755"/>
            <a:ext cx="4148281" cy="451759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利用字符数组编程求字符串长度</a:t>
            </a:r>
            <a:endParaRPr lang="en-US" altLang="zh-CN" sz="2000" dirty="0"/>
          </a:p>
          <a:p>
            <a:pPr lvl="1" indent="0">
              <a:buNone/>
            </a:pPr>
            <a:r>
              <a:rPr lang="en-US" altLang="zh-CN" sz="1800" dirty="0"/>
              <a:t>int </a:t>
            </a:r>
            <a:r>
              <a:rPr lang="en-US" altLang="zh-CN" sz="1800" dirty="0" err="1"/>
              <a:t>getStrlen</a:t>
            </a:r>
            <a:r>
              <a:rPr lang="en-US" altLang="zh-CN" sz="1800" dirty="0"/>
              <a:t>(char []);</a:t>
            </a:r>
          </a:p>
          <a:p>
            <a:pPr lvl="1" indent="0">
              <a:buNone/>
            </a:pPr>
            <a:r>
              <a:rPr lang="en-US" altLang="zh-CN" sz="1800" dirty="0"/>
              <a:t>int main() </a:t>
            </a:r>
          </a:p>
          <a:p>
            <a:pPr lvl="1" indent="0">
              <a:buNone/>
            </a:pPr>
            <a:r>
              <a:rPr lang="en-US" altLang="zh-CN" sz="1800" dirty="0"/>
              <a:t>{</a:t>
            </a:r>
          </a:p>
          <a:p>
            <a:pPr lvl="1" indent="0">
              <a:buNone/>
            </a:pPr>
            <a:r>
              <a:rPr lang="en-US" altLang="zh-CN" sz="1800" dirty="0"/>
              <a:t>     </a:t>
            </a:r>
            <a:r>
              <a:rPr lang="en-US" altLang="zh-CN" sz="1800" dirty="0">
                <a:solidFill>
                  <a:srgbClr val="C00000"/>
                </a:solidFill>
              </a:rPr>
              <a:t>char str[]=“12345678”;  </a:t>
            </a:r>
            <a:r>
              <a:rPr lang="en-US" altLang="zh-CN" sz="1800" dirty="0">
                <a:solidFill>
                  <a:srgbClr val="030DCD"/>
                </a:solidFill>
              </a:rPr>
              <a:t>//</a:t>
            </a:r>
            <a:r>
              <a:rPr lang="zh-CN" altLang="en-US" sz="1800" dirty="0">
                <a:solidFill>
                  <a:srgbClr val="030DCD"/>
                </a:solidFill>
              </a:rPr>
              <a:t>或</a:t>
            </a:r>
            <a:endParaRPr lang="en-US" altLang="zh-CN" sz="1800" dirty="0">
              <a:solidFill>
                <a:srgbClr val="030DCD"/>
              </a:solidFill>
            </a:endParaRPr>
          </a:p>
          <a:p>
            <a:pPr lvl="1" indent="0">
              <a:buNone/>
            </a:pPr>
            <a:r>
              <a:rPr lang="en-US" altLang="zh-CN" sz="1800" dirty="0">
                <a:solidFill>
                  <a:srgbClr val="C00000"/>
                </a:solidFill>
              </a:rPr>
              <a:t>     </a:t>
            </a:r>
            <a:r>
              <a:rPr lang="en-US" altLang="zh-CN" sz="1800" dirty="0">
                <a:solidFill>
                  <a:srgbClr val="030DCD"/>
                </a:solidFill>
              </a:rPr>
              <a:t>//char *str=“12345678”;</a:t>
            </a:r>
          </a:p>
          <a:p>
            <a:pPr lvl="1" indent="0">
              <a:buNone/>
            </a:pPr>
            <a:r>
              <a:rPr lang="en-US" altLang="zh-CN" sz="1800" dirty="0">
                <a:solidFill>
                  <a:srgbClr val="030DCD"/>
                </a:solidFill>
              </a:rPr>
              <a:t>     </a:t>
            </a:r>
            <a:r>
              <a:rPr lang="en-US" altLang="zh-CN" sz="1800" dirty="0"/>
              <a:t>int </a:t>
            </a:r>
            <a:r>
              <a:rPr lang="en-US" altLang="zh-CN" sz="1800" dirty="0" err="1"/>
              <a:t>len</a:t>
            </a:r>
            <a:r>
              <a:rPr lang="en-US" altLang="zh-CN" sz="1800" dirty="0"/>
              <a:t>=</a:t>
            </a:r>
            <a:r>
              <a:rPr lang="en-US" altLang="zh-CN" sz="1800" dirty="0" err="1"/>
              <a:t>getStrlen</a:t>
            </a:r>
            <a:r>
              <a:rPr lang="en-US" altLang="zh-CN" sz="1800" dirty="0"/>
              <a:t>(str);</a:t>
            </a:r>
          </a:p>
          <a:p>
            <a:pPr lvl="1" indent="0">
              <a:buNone/>
            </a:pPr>
            <a:r>
              <a:rPr lang="en-US" altLang="zh-CN" sz="1800" dirty="0"/>
              <a:t>      </a:t>
            </a:r>
            <a:r>
              <a:rPr lang="en-US" altLang="zh-CN" sz="1800" dirty="0" err="1"/>
              <a:t>printf</a:t>
            </a:r>
            <a:r>
              <a:rPr lang="en-US" altLang="zh-CN" sz="1800" dirty="0"/>
              <a:t>(“Length of \”%s\” is: </a:t>
            </a:r>
            <a:r>
              <a:rPr lang="en-US" altLang="zh-CN" sz="1800" dirty="0" smtClean="0"/>
              <a:t>%</a:t>
            </a:r>
            <a:r>
              <a:rPr lang="en-US" altLang="zh-CN" sz="1800" dirty="0"/>
              <a:t>d\n”,</a:t>
            </a:r>
            <a:r>
              <a:rPr lang="en-US" altLang="zh-CN" sz="1800" dirty="0" err="1"/>
              <a:t>str</a:t>
            </a:r>
            <a:r>
              <a:rPr lang="en-US" altLang="zh-CN" sz="1800" dirty="0"/>
              <a:t>, </a:t>
            </a:r>
            <a:r>
              <a:rPr lang="en-US" altLang="zh-CN" sz="1800" dirty="0" err="1"/>
              <a:t>len</a:t>
            </a:r>
            <a:r>
              <a:rPr lang="en-US" altLang="zh-CN" sz="1800" dirty="0"/>
              <a:t>);</a:t>
            </a:r>
          </a:p>
          <a:p>
            <a:pPr lvl="1" indent="0">
              <a:buNone/>
            </a:pPr>
            <a:r>
              <a:rPr lang="en-US" altLang="zh-CN" sz="1800" dirty="0"/>
              <a:t>     return 0;</a:t>
            </a:r>
          </a:p>
          <a:p>
            <a:pPr lvl="1" indent="0">
              <a:buNone/>
            </a:pPr>
            <a:r>
              <a:rPr lang="en-US" altLang="zh-CN" sz="1800" dirty="0"/>
              <a:t>}</a:t>
            </a:r>
          </a:p>
        </p:txBody>
      </p:sp>
      <p:sp>
        <p:nvSpPr>
          <p:cNvPr id="5" name="内容占位符 2"/>
          <p:cNvSpPr txBox="1">
            <a:spLocks/>
          </p:cNvSpPr>
          <p:nvPr/>
        </p:nvSpPr>
        <p:spPr bwMode="auto">
          <a:xfrm>
            <a:off x="4544868" y="1280536"/>
            <a:ext cx="4289713" cy="447603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利用字符指针编程求字符串长度</a:t>
            </a:r>
            <a:endParaRPr lang="en-US" altLang="zh-CN" sz="2000" dirty="0"/>
          </a:p>
          <a:p>
            <a:pPr lvl="1" indent="0">
              <a:buNone/>
            </a:pPr>
            <a:r>
              <a:rPr lang="en-US" altLang="zh-CN" sz="1800" dirty="0"/>
              <a:t>int </a:t>
            </a:r>
            <a:r>
              <a:rPr lang="en-US" altLang="zh-CN" sz="1800" dirty="0" err="1"/>
              <a:t>getStrlen</a:t>
            </a:r>
            <a:r>
              <a:rPr lang="en-US" altLang="zh-CN" sz="1800" dirty="0"/>
              <a:t>(char *str)</a:t>
            </a:r>
            <a:r>
              <a:rPr lang="zh-CN" altLang="en-US" sz="1800" dirty="0"/>
              <a:t>；</a:t>
            </a:r>
            <a:endParaRPr lang="en-US" altLang="zh-CN" sz="1800" dirty="0">
              <a:solidFill>
                <a:srgbClr val="006600"/>
              </a:solidFill>
            </a:endParaRPr>
          </a:p>
          <a:p>
            <a:pPr lvl="1" indent="0">
              <a:buNone/>
            </a:pPr>
            <a:r>
              <a:rPr lang="en-US" altLang="zh-CN" sz="1800" dirty="0"/>
              <a:t>int main()</a:t>
            </a:r>
          </a:p>
          <a:p>
            <a:pPr lvl="1" indent="0">
              <a:buNone/>
            </a:pPr>
            <a:r>
              <a:rPr lang="en-US" altLang="zh-CN" sz="1800" dirty="0"/>
              <a:t>{</a:t>
            </a:r>
          </a:p>
          <a:p>
            <a:pPr lvl="1" indent="0">
              <a:buNone/>
            </a:pPr>
            <a:r>
              <a:rPr lang="en-US" altLang="zh-CN" sz="1800" dirty="0"/>
              <a:t>	    </a:t>
            </a:r>
            <a:r>
              <a:rPr lang="en-US" altLang="zh-CN" sz="1800" dirty="0">
                <a:solidFill>
                  <a:srgbClr val="C00000"/>
                </a:solidFill>
              </a:rPr>
              <a:t>char *str=“12345678”;  </a:t>
            </a:r>
            <a:r>
              <a:rPr lang="en-US" altLang="zh-CN" sz="1800" dirty="0">
                <a:solidFill>
                  <a:srgbClr val="030DCD"/>
                </a:solidFill>
              </a:rPr>
              <a:t>//</a:t>
            </a:r>
            <a:r>
              <a:rPr lang="zh-CN" altLang="en-US" sz="1800" dirty="0">
                <a:solidFill>
                  <a:srgbClr val="030DCD"/>
                </a:solidFill>
              </a:rPr>
              <a:t>警告</a:t>
            </a:r>
            <a:endParaRPr lang="en-US" altLang="zh-CN" sz="1800" dirty="0">
              <a:solidFill>
                <a:srgbClr val="030DCD"/>
              </a:solidFill>
            </a:endParaRPr>
          </a:p>
          <a:p>
            <a:pPr lvl="1" indent="0">
              <a:buNone/>
            </a:pPr>
            <a:r>
              <a:rPr lang="en-US" altLang="zh-CN" sz="1800" dirty="0">
                <a:solidFill>
                  <a:srgbClr val="030DCD"/>
                </a:solidFill>
              </a:rPr>
              <a:t>     //</a:t>
            </a:r>
            <a:r>
              <a:rPr lang="zh-CN" altLang="en-US" sz="1800" dirty="0">
                <a:solidFill>
                  <a:srgbClr val="030DCD"/>
                </a:solidFill>
              </a:rPr>
              <a:t>或</a:t>
            </a:r>
            <a:r>
              <a:rPr lang="en-US" altLang="zh-CN" sz="1800" dirty="0">
                <a:solidFill>
                  <a:srgbClr val="030DCD"/>
                </a:solidFill>
              </a:rPr>
              <a:t>char str[]=“12345678”;</a:t>
            </a:r>
          </a:p>
          <a:p>
            <a:pPr lvl="1" indent="0">
              <a:buNone/>
            </a:pPr>
            <a:r>
              <a:rPr lang="en-US" altLang="zh-CN" sz="1800" dirty="0">
                <a:solidFill>
                  <a:srgbClr val="C00000"/>
                </a:solidFill>
              </a:rPr>
              <a:t>     </a:t>
            </a:r>
            <a:r>
              <a:rPr lang="en-US" altLang="zh-CN" sz="1800" dirty="0"/>
              <a:t> int </a:t>
            </a:r>
            <a:r>
              <a:rPr lang="en-US" altLang="zh-CN" sz="1800" dirty="0" err="1"/>
              <a:t>len</a:t>
            </a:r>
            <a:r>
              <a:rPr lang="en-US" altLang="zh-CN" sz="1800" dirty="0"/>
              <a:t>=</a:t>
            </a:r>
            <a:r>
              <a:rPr lang="en-US" altLang="zh-CN" sz="1800" dirty="0" err="1"/>
              <a:t>getStrlen</a:t>
            </a:r>
            <a:r>
              <a:rPr lang="en-US" altLang="zh-CN" sz="1800" dirty="0"/>
              <a:t>(str);</a:t>
            </a:r>
          </a:p>
          <a:p>
            <a:pPr lvl="1" indent="0">
              <a:buNone/>
            </a:pPr>
            <a:r>
              <a:rPr lang="en-US" altLang="zh-CN" sz="1800" dirty="0"/>
              <a:t>      </a:t>
            </a:r>
            <a:r>
              <a:rPr lang="en-US" altLang="zh-CN" sz="1800" dirty="0" err="1"/>
              <a:t>printf</a:t>
            </a:r>
            <a:r>
              <a:rPr lang="en-US" altLang="zh-CN" sz="1800" dirty="0"/>
              <a:t>(“Length of \”%s\” is: %d\n”,</a:t>
            </a:r>
            <a:r>
              <a:rPr lang="en-US" altLang="zh-CN" sz="1800" dirty="0" err="1"/>
              <a:t>str</a:t>
            </a:r>
            <a:r>
              <a:rPr lang="en-US" altLang="zh-CN" sz="1800" dirty="0"/>
              <a:t>, </a:t>
            </a:r>
            <a:r>
              <a:rPr lang="en-US" altLang="zh-CN" sz="1800" dirty="0" err="1"/>
              <a:t>len</a:t>
            </a:r>
            <a:r>
              <a:rPr lang="en-US" altLang="zh-CN" sz="1800" dirty="0"/>
              <a:t>);</a:t>
            </a:r>
          </a:p>
          <a:p>
            <a:pPr lvl="1" indent="0">
              <a:buNone/>
            </a:pPr>
            <a:r>
              <a:rPr lang="en-US" altLang="zh-CN" sz="1800" dirty="0"/>
              <a:t>      return 0;</a:t>
            </a:r>
          </a:p>
          <a:p>
            <a:pPr lvl="1" indent="0">
              <a:buNone/>
            </a:pPr>
            <a:r>
              <a:rPr lang="en-US" altLang="zh-CN" sz="18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16000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7030A0"/>
                </a:solidFill>
              </a:rPr>
              <a:t>课后练习：</a:t>
            </a:r>
            <a:r>
              <a:rPr lang="zh-CN" altLang="en-US" dirty="0" smtClean="0"/>
              <a:t>编程</a:t>
            </a:r>
            <a:r>
              <a:rPr lang="zh-CN" altLang="en-US" dirty="0"/>
              <a:t>实例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例</a:t>
            </a:r>
            <a:r>
              <a:rPr lang="en-US" altLang="zh-CN" dirty="0"/>
              <a:t>2 </a:t>
            </a:r>
            <a:r>
              <a:rPr lang="zh-CN" altLang="en-US" dirty="0"/>
              <a:t>利用字符指针</a:t>
            </a:r>
            <a:r>
              <a:rPr lang="zh-CN" altLang="en-US" dirty="0" smtClean="0"/>
              <a:t>将字符数组</a:t>
            </a:r>
            <a:r>
              <a:rPr lang="zh-CN" altLang="en-US" dirty="0"/>
              <a:t>元素逆序输出；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例</a:t>
            </a:r>
            <a:r>
              <a:rPr lang="en-US" altLang="zh-CN" dirty="0"/>
              <a:t>3  </a:t>
            </a:r>
            <a:r>
              <a:rPr lang="zh-CN" altLang="en-US" dirty="0"/>
              <a:t>利用</a:t>
            </a:r>
            <a:r>
              <a:rPr lang="zh-CN" altLang="en-US" dirty="0">
                <a:solidFill>
                  <a:srgbClr val="C00000"/>
                </a:solidFill>
              </a:rPr>
              <a:t>字符数组</a:t>
            </a:r>
            <a:r>
              <a:rPr lang="zh-CN" altLang="en-US" dirty="0"/>
              <a:t>与</a:t>
            </a:r>
            <a:r>
              <a:rPr lang="zh-CN" altLang="en-US" dirty="0">
                <a:solidFill>
                  <a:srgbClr val="C00000"/>
                </a:solidFill>
              </a:rPr>
              <a:t>字符指针</a:t>
            </a:r>
            <a:r>
              <a:rPr lang="zh-CN" altLang="en-US" b="1" dirty="0">
                <a:solidFill>
                  <a:srgbClr val="030DCD"/>
                </a:solidFill>
              </a:rPr>
              <a:t>两种方式</a:t>
            </a:r>
            <a:r>
              <a:rPr lang="zh-CN" altLang="en-US" dirty="0"/>
              <a:t>访问</a:t>
            </a:r>
            <a:r>
              <a:rPr lang="zh-CN" altLang="en-US" dirty="0">
                <a:solidFill>
                  <a:srgbClr val="C00000"/>
                </a:solidFill>
              </a:rPr>
              <a:t>字符串</a:t>
            </a:r>
            <a:endParaRPr lang="en-US" altLang="zh-CN" dirty="0">
              <a:solidFill>
                <a:srgbClr val="C00000"/>
              </a:solidFill>
            </a:endParaRPr>
          </a:p>
          <a:p>
            <a:pPr lvl="1" indent="0">
              <a:buNone/>
            </a:pPr>
            <a:r>
              <a:rPr lang="en-US" altLang="zh-CN" sz="1800" dirty="0" err="1">
                <a:solidFill>
                  <a:srgbClr val="030DCD"/>
                </a:solidFill>
              </a:rPr>
              <a:t>const</a:t>
            </a:r>
            <a:r>
              <a:rPr lang="en-US" altLang="zh-CN" sz="1800" dirty="0">
                <a:solidFill>
                  <a:srgbClr val="030DCD"/>
                </a:solidFill>
              </a:rPr>
              <a:t> char *p=“Computer”;</a:t>
            </a:r>
          </a:p>
          <a:p>
            <a:pPr lvl="1" indent="0">
              <a:buNone/>
            </a:pPr>
            <a:r>
              <a:rPr lang="en-US" altLang="zh-CN" sz="1800" dirty="0"/>
              <a:t>for (int i=0;i&lt;</a:t>
            </a:r>
            <a:r>
              <a:rPr lang="en-US" altLang="zh-CN" sz="1800" dirty="0" err="1"/>
              <a:t>strlen</a:t>
            </a:r>
            <a:r>
              <a:rPr lang="en-US" altLang="zh-CN" sz="1800" dirty="0"/>
              <a:t>(p);i++) </a:t>
            </a:r>
          </a:p>
          <a:p>
            <a:pPr lvl="1" indent="0">
              <a:buNone/>
            </a:pPr>
            <a:r>
              <a:rPr lang="en-US" altLang="zh-CN" sz="1800" dirty="0"/>
              <a:t>{</a:t>
            </a:r>
          </a:p>
          <a:p>
            <a:pPr lvl="1" indent="0">
              <a:buNone/>
            </a:pPr>
            <a:r>
              <a:rPr lang="en-US" altLang="zh-CN" sz="1800" dirty="0"/>
              <a:t>     </a:t>
            </a:r>
            <a:r>
              <a:rPr lang="en-US" altLang="zh-CN" sz="1800" dirty="0" err="1"/>
              <a:t>printf</a:t>
            </a:r>
            <a:r>
              <a:rPr lang="en-US" altLang="zh-CN" sz="1800" dirty="0"/>
              <a:t>(“%</a:t>
            </a:r>
            <a:r>
              <a:rPr lang="en-US" altLang="zh-CN" sz="1800" dirty="0" err="1">
                <a:solidFill>
                  <a:srgbClr val="FF0000"/>
                </a:solidFill>
              </a:rPr>
              <a:t>c</a:t>
            </a:r>
            <a:r>
              <a:rPr lang="en-US" altLang="zh-CN" sz="1800" dirty="0" err="1"/>
              <a:t>”,</a:t>
            </a:r>
            <a:r>
              <a:rPr lang="en-US" altLang="zh-CN" sz="1800" b="1" dirty="0" err="1">
                <a:solidFill>
                  <a:srgbClr val="7030A0"/>
                </a:solidFill>
              </a:rPr>
              <a:t>p</a:t>
            </a:r>
            <a:r>
              <a:rPr lang="en-US" altLang="zh-CN" sz="1800" b="1" dirty="0">
                <a:solidFill>
                  <a:srgbClr val="7030A0"/>
                </a:solidFill>
              </a:rPr>
              <a:t>[i]</a:t>
            </a:r>
            <a:r>
              <a:rPr lang="en-US" altLang="zh-CN" sz="1800" dirty="0"/>
              <a:t>);</a:t>
            </a:r>
          </a:p>
          <a:p>
            <a:pPr lvl="1" indent="0">
              <a:buNone/>
            </a:pPr>
            <a:r>
              <a:rPr lang="en-US" altLang="zh-CN" sz="1800" dirty="0"/>
              <a:t>}</a:t>
            </a:r>
          </a:p>
          <a:p>
            <a:pPr lvl="1" indent="0">
              <a:buNone/>
            </a:pPr>
            <a:endParaRPr lang="zh-CN" altLang="en-US" sz="1800" dirty="0"/>
          </a:p>
          <a:p>
            <a:pPr lvl="1" indent="0">
              <a:buNone/>
            </a:pPr>
            <a:r>
              <a:rPr lang="en-US" altLang="zh-CN" sz="1800" dirty="0" err="1">
                <a:solidFill>
                  <a:srgbClr val="030DCD"/>
                </a:solidFill>
              </a:rPr>
              <a:t>const</a:t>
            </a:r>
            <a:r>
              <a:rPr lang="en-US" altLang="zh-CN" sz="1800" dirty="0">
                <a:solidFill>
                  <a:srgbClr val="030DCD"/>
                </a:solidFill>
              </a:rPr>
              <a:t> char *p=“Computer”;</a:t>
            </a:r>
          </a:p>
          <a:p>
            <a:pPr lvl="1" indent="0">
              <a:buNone/>
            </a:pPr>
            <a:r>
              <a:rPr lang="en-US" altLang="zh-CN" sz="1800" dirty="0"/>
              <a:t>while (*p)  // while (*p!=‘\0’) </a:t>
            </a:r>
          </a:p>
          <a:p>
            <a:pPr lvl="1" indent="0">
              <a:buNone/>
            </a:pPr>
            <a:r>
              <a:rPr lang="en-US" altLang="zh-CN" sz="1800" dirty="0"/>
              <a:t>{</a:t>
            </a:r>
          </a:p>
          <a:p>
            <a:pPr lvl="1" indent="0">
              <a:buNone/>
            </a:pPr>
            <a:r>
              <a:rPr lang="en-US" altLang="zh-CN" sz="1800" dirty="0"/>
              <a:t>     </a:t>
            </a:r>
            <a:r>
              <a:rPr lang="en-US" altLang="zh-CN" sz="1800" dirty="0" err="1"/>
              <a:t>printf</a:t>
            </a:r>
            <a:r>
              <a:rPr lang="en-US" altLang="zh-CN" sz="1800" dirty="0"/>
              <a:t>(“%</a:t>
            </a:r>
            <a:r>
              <a:rPr lang="en-US" altLang="zh-CN" sz="1800" dirty="0">
                <a:solidFill>
                  <a:srgbClr val="FF0000"/>
                </a:solidFill>
              </a:rPr>
              <a:t>c</a:t>
            </a:r>
            <a:r>
              <a:rPr lang="en-US" altLang="zh-CN" sz="1800" dirty="0"/>
              <a:t>”,</a:t>
            </a:r>
            <a:r>
              <a:rPr lang="en-US" altLang="zh-CN" sz="1800" dirty="0">
                <a:solidFill>
                  <a:srgbClr val="7030A0"/>
                </a:solidFill>
              </a:rPr>
              <a:t>*</a:t>
            </a:r>
            <a:r>
              <a:rPr lang="en-US" altLang="zh-CN" sz="1800" dirty="0" smtClean="0">
                <a:solidFill>
                  <a:srgbClr val="7030A0"/>
                </a:solidFill>
              </a:rPr>
              <a:t>p++</a:t>
            </a:r>
            <a:r>
              <a:rPr lang="en-US" altLang="zh-CN" sz="1800" dirty="0" smtClean="0"/>
              <a:t>);     </a:t>
            </a:r>
            <a:r>
              <a:rPr lang="en-US" altLang="zh-CN" sz="1800" dirty="0"/>
              <a:t>//</a:t>
            </a:r>
            <a:r>
              <a:rPr lang="zh-CN" altLang="en-US" sz="1800" dirty="0" smtClean="0"/>
              <a:t>或</a:t>
            </a:r>
            <a:r>
              <a:rPr lang="en-US" altLang="zh-CN" sz="1800" dirty="0" err="1" smtClean="0"/>
              <a:t>printf</a:t>
            </a:r>
            <a:r>
              <a:rPr lang="en-US" altLang="zh-CN" sz="1800" dirty="0"/>
              <a:t>(“%</a:t>
            </a:r>
            <a:r>
              <a:rPr lang="en-US" altLang="zh-CN" sz="1800" dirty="0">
                <a:solidFill>
                  <a:srgbClr val="FF0000"/>
                </a:solidFill>
              </a:rPr>
              <a:t>c</a:t>
            </a:r>
            <a:r>
              <a:rPr lang="en-US" altLang="zh-CN" sz="1800" dirty="0"/>
              <a:t>”,</a:t>
            </a:r>
            <a:r>
              <a:rPr lang="en-US" altLang="zh-CN" sz="1800" dirty="0">
                <a:solidFill>
                  <a:srgbClr val="0000CC"/>
                </a:solidFill>
              </a:rPr>
              <a:t>*</a:t>
            </a:r>
            <a:r>
              <a:rPr lang="en-US" altLang="zh-CN" sz="1800" dirty="0" smtClean="0">
                <a:solidFill>
                  <a:srgbClr val="0000CC"/>
                </a:solidFill>
              </a:rPr>
              <a:t>p</a:t>
            </a:r>
            <a:r>
              <a:rPr lang="en-US" altLang="zh-CN" sz="1800" dirty="0" smtClean="0"/>
              <a:t>); p++;  </a:t>
            </a:r>
            <a:endParaRPr lang="en-US" altLang="zh-CN" sz="1800" dirty="0"/>
          </a:p>
          <a:p>
            <a:pPr lvl="1" indent="0">
              <a:buNone/>
            </a:pPr>
            <a:r>
              <a:rPr lang="en-US" altLang="zh-CN" sz="1800" dirty="0"/>
              <a:t>}</a:t>
            </a:r>
            <a:endParaRPr lang="zh-CN" altLang="en-US" sz="1800" dirty="0"/>
          </a:p>
          <a:p>
            <a:pPr marL="971550" lvl="1"/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6600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7030A0"/>
                </a:solidFill>
              </a:rPr>
              <a:t>课后练习：</a:t>
            </a:r>
            <a:r>
              <a:rPr lang="zh-CN" altLang="en-US" dirty="0" smtClean="0"/>
              <a:t>子</a:t>
            </a:r>
            <a:r>
              <a:rPr lang="zh-CN" altLang="en-US" dirty="0"/>
              <a:t>字符串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342900" indent="-342900">
                  <a:buFont typeface="Wingdings" panose="05000000000000000000" pitchFamily="2" charset="2"/>
                  <a:buChar char="l"/>
                </a:pPr>
                <a:r>
                  <a:rPr lang="zh-CN" altLang="en-US" dirty="0"/>
                  <a:t>例</a:t>
                </a:r>
                <a:r>
                  <a:rPr lang="en-US" altLang="zh-CN" dirty="0"/>
                  <a:t>4 </a:t>
                </a:r>
                <a:r>
                  <a:rPr lang="zh-CN" altLang="en-US" dirty="0"/>
                  <a:t>字符串匹配</a:t>
                </a:r>
                <a:endParaRPr lang="en-US" altLang="zh-CN" dirty="0"/>
              </a:p>
              <a:p>
                <a:pPr marL="971550" lvl="1"/>
                <a:r>
                  <a:rPr lang="zh-CN" altLang="en-US" sz="1800" dirty="0"/>
                  <a:t>设</a:t>
                </a:r>
                <a:r>
                  <a:rPr lang="en-US" altLang="zh-CN" sz="1800" i="1" dirty="0"/>
                  <a:t>a</a:t>
                </a:r>
                <a:r>
                  <a:rPr lang="zh-CN" altLang="en-US" sz="1800" i="1" dirty="0"/>
                  <a:t>、</a:t>
                </a:r>
                <a:r>
                  <a:rPr lang="en-US" altLang="zh-CN" sz="1800" i="1" dirty="0"/>
                  <a:t>b</a:t>
                </a:r>
                <a:r>
                  <a:rPr lang="zh-CN" altLang="en-US" sz="1800" dirty="0"/>
                  <a:t>是两个字符串，其长度分别是</a:t>
                </a:r>
                <a:r>
                  <a:rPr lang="en-US" altLang="zh-CN" sz="1800" i="1" dirty="0"/>
                  <a:t>la</a:t>
                </a:r>
                <a:r>
                  <a:rPr lang="zh-CN" altLang="en-US" sz="1800" dirty="0"/>
                  <a:t>与</a:t>
                </a:r>
                <a:r>
                  <a:rPr lang="en-US" altLang="zh-CN" sz="1800" i="1" dirty="0" err="1"/>
                  <a:t>lb</a:t>
                </a:r>
                <a:r>
                  <a:rPr lang="zh-CN" altLang="en-US" sz="1800" dirty="0"/>
                  <a:t>，且</a:t>
                </a:r>
                <a14:m>
                  <m:oMath xmlns:m="http://schemas.openxmlformats.org/officeDocument/2006/math">
                    <m:r>
                      <a:rPr lang="en-US" altLang="zh-CN" sz="1800" i="1" dirty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zh-CN" sz="1800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1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1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𝑙𝑏</m:t>
                    </m:r>
                    <m:r>
                      <a:rPr lang="zh-CN" altLang="en-US" sz="1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；</m:t>
                    </m:r>
                  </m:oMath>
                </a14:m>
                <a:endParaRPr lang="en-US" altLang="zh-CN" sz="1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971550" lvl="1"/>
                <a:r>
                  <a:rPr lang="zh-CN" altLang="en-US" sz="1800" dirty="0"/>
                  <a:t>如果存在一个正整数</a:t>
                </a:r>
                <a:r>
                  <a:rPr lang="en-US" altLang="zh-CN" sz="1800" i="1" dirty="0"/>
                  <a:t>i</a:t>
                </a:r>
                <a:r>
                  <a:rPr lang="zh-CN" altLang="en-US" sz="1800" dirty="0"/>
                  <a:t>，使得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+2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 ……,</m:t>
                    </m:r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𝑙𝑎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𝑙𝑎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 sz="1800" dirty="0"/>
                  <a:t> </a:t>
                </a:r>
                <a:r>
                  <a:rPr lang="zh-CN" altLang="en-US" sz="1800" dirty="0"/>
                  <a:t>其中，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d>
                      <m:d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𝑙𝑏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𝑙𝑎</m:t>
                        </m:r>
                      </m:e>
                    </m:d>
                  </m:oMath>
                </a14:m>
                <a:r>
                  <a:rPr lang="zh-CN" altLang="en-US" sz="1800" dirty="0"/>
                  <a:t>；</a:t>
                </a:r>
                <a:endParaRPr lang="en-US" altLang="zh-CN" sz="1800" dirty="0"/>
              </a:p>
              <a:p>
                <a:pPr marL="971550" lvl="1"/>
                <a:r>
                  <a:rPr lang="zh-CN" altLang="en-US" sz="1800" dirty="0"/>
                  <a:t>则称</a:t>
                </a:r>
                <a:r>
                  <a:rPr lang="en-US" altLang="zh-CN" sz="1800" i="1" dirty="0"/>
                  <a:t>a</a:t>
                </a:r>
                <a:r>
                  <a:rPr lang="zh-CN" altLang="en-US" sz="1800" dirty="0"/>
                  <a:t>是</a:t>
                </a:r>
                <a:r>
                  <a:rPr lang="en-US" altLang="zh-CN" sz="1800" i="1" dirty="0"/>
                  <a:t>b</a:t>
                </a:r>
                <a:r>
                  <a:rPr lang="zh-CN" altLang="en-US" sz="1800" dirty="0"/>
                  <a:t>的一个子串</a:t>
                </a:r>
                <a:r>
                  <a:rPr lang="zh-CN" altLang="en-US" sz="1800" dirty="0" smtClean="0"/>
                  <a:t>；</a:t>
                </a:r>
                <a:endParaRPr lang="en-US" altLang="zh-CN" sz="1800" dirty="0" smtClean="0"/>
              </a:p>
              <a:p>
                <a:pPr marL="971550" lvl="1"/>
                <a:r>
                  <a:rPr lang="zh-CN" altLang="en-US" sz="1800" dirty="0" smtClean="0"/>
                  <a:t>如：</a:t>
                </a:r>
                <a:r>
                  <a:rPr lang="zh-CN" altLang="en-US" sz="1800" dirty="0" smtClean="0">
                    <a:solidFill>
                      <a:srgbClr val="0303DF"/>
                    </a:solidFill>
                  </a:rPr>
                  <a:t>字符串“</a:t>
                </a:r>
                <a:r>
                  <a:rPr lang="en-US" altLang="zh-CN" sz="1800" dirty="0" smtClean="0">
                    <a:solidFill>
                      <a:srgbClr val="0303DF"/>
                    </a:solidFill>
                  </a:rPr>
                  <a:t>word</a:t>
                </a:r>
                <a:r>
                  <a:rPr lang="zh-CN" altLang="en-US" sz="1800" dirty="0" smtClean="0">
                    <a:solidFill>
                      <a:srgbClr val="0303DF"/>
                    </a:solidFill>
                  </a:rPr>
                  <a:t>”是字符串“</a:t>
                </a:r>
                <a:r>
                  <a:rPr lang="en-US" altLang="zh-CN" sz="1800" dirty="0" smtClean="0">
                    <a:solidFill>
                      <a:srgbClr val="0303DF"/>
                    </a:solidFill>
                  </a:rPr>
                  <a:t>Hello world</a:t>
                </a:r>
                <a:r>
                  <a:rPr lang="zh-CN" altLang="en-US" sz="1800" dirty="0" smtClean="0">
                    <a:solidFill>
                      <a:srgbClr val="0303DF"/>
                    </a:solidFill>
                  </a:rPr>
                  <a:t>”的一个子串</a:t>
                </a:r>
                <a:endParaRPr lang="en-US" altLang="zh-CN" sz="1800" dirty="0" smtClean="0">
                  <a:solidFill>
                    <a:srgbClr val="0303DF"/>
                  </a:solidFill>
                </a:endParaRPr>
              </a:p>
              <a:p>
                <a:pPr marL="971550" lvl="1"/>
                <a:endParaRPr lang="en-US" altLang="zh-CN" dirty="0"/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r>
                  <a:rPr lang="zh-CN" altLang="en-US" dirty="0"/>
                  <a:t>编程实现</a:t>
                </a:r>
                <a:endParaRPr lang="en-US" altLang="zh-CN" dirty="0"/>
              </a:p>
              <a:p>
                <a:pPr marL="971550" lvl="1"/>
                <a:r>
                  <a:rPr lang="zh-CN" altLang="en-US" dirty="0"/>
                  <a:t>输出一个串在另一个串中出现的次数；</a:t>
                </a:r>
                <a:endParaRPr lang="en-US" altLang="zh-CN" dirty="0"/>
              </a:p>
              <a:p>
                <a:pPr marL="1200150" lvl="2"/>
                <a:r>
                  <a:rPr lang="en-US" altLang="zh-CN" sz="1800" dirty="0"/>
                  <a:t>int </a:t>
                </a:r>
                <a:r>
                  <a:rPr lang="en-US" altLang="zh-CN" sz="1800" dirty="0" err="1"/>
                  <a:t>getSubstrCount</a:t>
                </a:r>
                <a:r>
                  <a:rPr lang="en-US" altLang="zh-CN" sz="1800" dirty="0"/>
                  <a:t>(char *a, </a:t>
                </a:r>
                <a:r>
                  <a:rPr lang="en-US" altLang="zh-CN" sz="1800" dirty="0" smtClean="0"/>
                  <a:t>char </a:t>
                </a:r>
                <a:r>
                  <a:rPr lang="en-US" altLang="zh-CN" sz="1800" dirty="0"/>
                  <a:t>*b); </a:t>
                </a:r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1" t="-19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6703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7030A0"/>
                </a:solidFill>
              </a:rPr>
              <a:t>课后练习</a:t>
            </a:r>
            <a:r>
              <a:rPr lang="zh-CN" altLang="en-US" dirty="0" smtClean="0">
                <a:solidFill>
                  <a:srgbClr val="7030A0"/>
                </a:solidFill>
              </a:rPr>
              <a:t>：</a:t>
            </a:r>
            <a:r>
              <a:rPr lang="zh-CN" altLang="en-US" dirty="0" smtClean="0"/>
              <a:t>子</a:t>
            </a:r>
            <a:r>
              <a:rPr lang="zh-CN" altLang="en-US" dirty="0"/>
              <a:t>字符串操作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自己练习编程实现</a:t>
            </a:r>
            <a:r>
              <a:rPr lang="en-US" altLang="zh-CN" sz="2000" dirty="0"/>
              <a:t>—</a:t>
            </a:r>
            <a:r>
              <a:rPr lang="zh-CN" altLang="en-US" sz="2000" dirty="0"/>
              <a:t>编写相应的函数</a:t>
            </a:r>
            <a:endParaRPr lang="en-US" altLang="zh-CN" sz="2000" dirty="0"/>
          </a:p>
          <a:p>
            <a:pPr marL="971550" lvl="1"/>
            <a:r>
              <a:rPr lang="zh-CN" altLang="en-US" sz="1800" dirty="0">
                <a:solidFill>
                  <a:srgbClr val="0000CC"/>
                </a:solidFill>
              </a:rPr>
              <a:t>统计子串出现的次数</a:t>
            </a:r>
            <a:r>
              <a:rPr lang="zh-CN" altLang="en-US" sz="1800" dirty="0"/>
              <a:t>：输出一个串在另一个串中出现的次数；</a:t>
            </a:r>
            <a:endParaRPr lang="en-US" altLang="zh-CN" sz="1800" dirty="0"/>
          </a:p>
          <a:p>
            <a:pPr marL="1200150" lvl="2"/>
            <a:r>
              <a:rPr lang="en-US" altLang="zh-CN" sz="1800" dirty="0"/>
              <a:t>int </a:t>
            </a:r>
            <a:r>
              <a:rPr lang="en-US" altLang="zh-CN" sz="1800" dirty="0" err="1"/>
              <a:t>getSubstrCount</a:t>
            </a:r>
            <a:r>
              <a:rPr lang="en-US" altLang="zh-CN" sz="1800" dirty="0"/>
              <a:t>(char *a, cha *b); </a:t>
            </a:r>
          </a:p>
          <a:p>
            <a:pPr marL="971550" lvl="1"/>
            <a:r>
              <a:rPr lang="zh-CN" altLang="en-US" sz="1800" dirty="0">
                <a:solidFill>
                  <a:srgbClr val="0000CC"/>
                </a:solidFill>
              </a:rPr>
              <a:t>检测一个串是否是另一个串的子串</a:t>
            </a:r>
            <a:r>
              <a:rPr lang="zh-CN" altLang="en-US" sz="1800" dirty="0"/>
              <a:t>：如果串</a:t>
            </a:r>
            <a:r>
              <a:rPr lang="en-US" altLang="zh-CN" sz="1800" dirty="0"/>
              <a:t>a</a:t>
            </a:r>
            <a:r>
              <a:rPr lang="zh-CN" altLang="en-US" sz="1800" dirty="0"/>
              <a:t>是</a:t>
            </a:r>
            <a:r>
              <a:rPr lang="en-US" altLang="zh-CN" sz="1800" dirty="0"/>
              <a:t>b</a:t>
            </a:r>
            <a:r>
              <a:rPr lang="zh-CN" altLang="en-US" sz="1800" dirty="0"/>
              <a:t>的子串，输出</a:t>
            </a:r>
            <a:r>
              <a:rPr lang="en-US" altLang="zh-CN" sz="1800" dirty="0"/>
              <a:t>a</a:t>
            </a:r>
            <a:r>
              <a:rPr lang="zh-CN" altLang="en-US" sz="1800" dirty="0"/>
              <a:t>在</a:t>
            </a:r>
            <a:r>
              <a:rPr lang="en-US" altLang="zh-CN" sz="1800" dirty="0"/>
              <a:t>b</a:t>
            </a:r>
            <a:r>
              <a:rPr lang="zh-CN" altLang="en-US" sz="1800" dirty="0"/>
              <a:t>中首次出现的位置，否则输出</a:t>
            </a:r>
            <a:r>
              <a:rPr lang="en-US" altLang="zh-CN" sz="1800" dirty="0"/>
              <a:t>-1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 marL="1200150" lvl="2"/>
            <a:r>
              <a:rPr lang="en-US" altLang="zh-CN" sz="1800" dirty="0"/>
              <a:t>int </a:t>
            </a:r>
            <a:r>
              <a:rPr lang="en-US" altLang="zh-CN" sz="1800" dirty="0" err="1"/>
              <a:t>Substr</a:t>
            </a:r>
            <a:r>
              <a:rPr lang="en-US" altLang="zh-CN" sz="1800" dirty="0"/>
              <a:t>(char *a, cha *b); </a:t>
            </a:r>
          </a:p>
          <a:p>
            <a:pPr marL="971550" lvl="1"/>
            <a:r>
              <a:rPr lang="zh-CN" altLang="en-US" sz="1800" dirty="0">
                <a:solidFill>
                  <a:srgbClr val="0000CC"/>
                </a:solidFill>
              </a:rPr>
              <a:t>取子串</a:t>
            </a:r>
            <a:r>
              <a:rPr lang="zh-CN" altLang="en-US" sz="1800" dirty="0"/>
              <a:t>：根据子串的起始位置及子串长度，输出一个串的子串；</a:t>
            </a:r>
            <a:endParaRPr lang="en-US" altLang="zh-CN" sz="1800" dirty="0"/>
          </a:p>
          <a:p>
            <a:pPr marL="1200150" lvl="2"/>
            <a:r>
              <a:rPr lang="en-US" altLang="zh-CN" sz="1800" dirty="0"/>
              <a:t>char* </a:t>
            </a:r>
            <a:r>
              <a:rPr lang="en-US" altLang="zh-CN" sz="1800" dirty="0" err="1"/>
              <a:t>getSubstr</a:t>
            </a:r>
            <a:r>
              <a:rPr lang="en-US" altLang="zh-CN" sz="1800" dirty="0"/>
              <a:t>(char *a, int </a:t>
            </a:r>
            <a:r>
              <a:rPr lang="en-US" altLang="zh-CN" sz="1800" dirty="0">
                <a:solidFill>
                  <a:srgbClr val="0000CC"/>
                </a:solidFill>
              </a:rPr>
              <a:t>start</a:t>
            </a:r>
            <a:r>
              <a:rPr lang="en-US" altLang="zh-CN" sz="1800" dirty="0"/>
              <a:t>, int </a:t>
            </a:r>
            <a:r>
              <a:rPr lang="en-US" altLang="zh-CN" sz="1800" dirty="0">
                <a:solidFill>
                  <a:srgbClr val="0000CC"/>
                </a:solidFill>
              </a:rPr>
              <a:t>length</a:t>
            </a:r>
            <a:r>
              <a:rPr lang="en-US" altLang="zh-CN" sz="1800" dirty="0"/>
              <a:t>);</a:t>
            </a:r>
          </a:p>
          <a:p>
            <a:pPr marL="971550" lvl="1"/>
            <a:r>
              <a:rPr lang="zh-CN" altLang="en-US" sz="1800" dirty="0">
                <a:solidFill>
                  <a:srgbClr val="0000CC"/>
                </a:solidFill>
              </a:rPr>
              <a:t>子串插入</a:t>
            </a:r>
            <a:r>
              <a:rPr lang="zh-CN" altLang="en-US" sz="1800" dirty="0"/>
              <a:t>：将目标字符串插入到源字符串的指定位置；</a:t>
            </a:r>
            <a:endParaRPr lang="en-US" altLang="zh-CN" sz="1800" dirty="0"/>
          </a:p>
          <a:p>
            <a:pPr marL="1200150" lvl="2"/>
            <a:r>
              <a:rPr lang="en-US" altLang="zh-CN" sz="1800" dirty="0"/>
              <a:t>char* </a:t>
            </a:r>
            <a:r>
              <a:rPr lang="en-US" altLang="zh-CN" sz="1800" dirty="0" err="1"/>
              <a:t>insertSubstr</a:t>
            </a:r>
            <a:r>
              <a:rPr lang="en-US" altLang="zh-CN" sz="1800" dirty="0"/>
              <a:t>(char *source, char * </a:t>
            </a:r>
            <a:r>
              <a:rPr lang="en-US" altLang="zh-CN" sz="1800" dirty="0" err="1"/>
              <a:t>dest</a:t>
            </a:r>
            <a:r>
              <a:rPr lang="en-US" altLang="zh-CN" sz="1800" dirty="0"/>
              <a:t>, int </a:t>
            </a:r>
            <a:r>
              <a:rPr lang="en-US" altLang="zh-CN" sz="1800" dirty="0">
                <a:solidFill>
                  <a:srgbClr val="0000CC"/>
                </a:solidFill>
              </a:rPr>
              <a:t>position</a:t>
            </a:r>
            <a:r>
              <a:rPr lang="en-US" altLang="zh-CN" sz="1800" dirty="0"/>
              <a:t>);</a:t>
            </a:r>
          </a:p>
          <a:p>
            <a:pPr marL="971550" lvl="1"/>
            <a:r>
              <a:rPr lang="zh-CN" altLang="en-US" sz="1800" dirty="0">
                <a:solidFill>
                  <a:srgbClr val="0000CC"/>
                </a:solidFill>
              </a:rPr>
              <a:t>子串删除</a:t>
            </a:r>
            <a:r>
              <a:rPr lang="zh-CN" altLang="en-US" sz="1800" dirty="0"/>
              <a:t>：根据子串的起始位置及子串长度，删除一个串的子串；</a:t>
            </a:r>
            <a:endParaRPr lang="en-US" altLang="zh-CN" sz="1800" dirty="0"/>
          </a:p>
          <a:p>
            <a:pPr marL="1200150" lvl="2"/>
            <a:r>
              <a:rPr lang="en-US" altLang="zh-CN" sz="1800" dirty="0"/>
              <a:t>char* </a:t>
            </a:r>
            <a:r>
              <a:rPr lang="en-US" altLang="zh-CN" sz="1800" dirty="0" err="1"/>
              <a:t>deleteSubstr</a:t>
            </a:r>
            <a:r>
              <a:rPr lang="en-US" altLang="zh-CN" sz="1800" dirty="0"/>
              <a:t>(char *a, int </a:t>
            </a:r>
            <a:r>
              <a:rPr lang="en-US" altLang="zh-CN" sz="1800" dirty="0">
                <a:solidFill>
                  <a:srgbClr val="0000CC"/>
                </a:solidFill>
              </a:rPr>
              <a:t>start</a:t>
            </a:r>
            <a:r>
              <a:rPr lang="en-US" altLang="zh-CN" sz="1800" dirty="0"/>
              <a:t>, int </a:t>
            </a:r>
            <a:r>
              <a:rPr lang="en-US" altLang="zh-CN" sz="1800" dirty="0">
                <a:solidFill>
                  <a:srgbClr val="0000CC"/>
                </a:solidFill>
              </a:rPr>
              <a:t>length</a:t>
            </a:r>
            <a:r>
              <a:rPr lang="en-US" altLang="zh-CN" sz="1800" dirty="0"/>
              <a:t>);</a:t>
            </a:r>
          </a:p>
          <a:p>
            <a:pPr marL="971550" lvl="1"/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94352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>
                <a:solidFill>
                  <a:srgbClr val="7030A0"/>
                </a:solidFill>
                <a:latin typeface="宋体" panose="02010600030101010101" pitchFamily="2" charset="-122"/>
              </a:rPr>
              <a:t>课后练习：</a:t>
            </a:r>
            <a:r>
              <a:rPr lang="zh-CN" altLang="en-US" dirty="0" smtClean="0"/>
              <a:t>去掉字符串的</a:t>
            </a:r>
            <a:r>
              <a:rPr lang="zh-CN" altLang="en-US" dirty="0" smtClean="0">
                <a:solidFill>
                  <a:srgbClr val="0303DF"/>
                </a:solidFill>
              </a:rPr>
              <a:t>前导与尾随空格</a:t>
            </a:r>
            <a:endParaRPr lang="zh-CN" altLang="en-US" dirty="0">
              <a:solidFill>
                <a:srgbClr val="0303DF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dirty="0"/>
              <a:t>c</a:t>
            </a:r>
            <a:r>
              <a:rPr lang="en-US" altLang="zh-CN" dirty="0" smtClean="0"/>
              <a:t>har *</a:t>
            </a:r>
            <a:r>
              <a:rPr lang="en-US" altLang="zh-CN" dirty="0" err="1" smtClean="0"/>
              <a:t>L</a:t>
            </a:r>
            <a:r>
              <a:rPr lang="en-US" altLang="zh-CN" dirty="0" err="1"/>
              <a:t>T</a:t>
            </a:r>
            <a:r>
              <a:rPr lang="en-US" altLang="zh-CN" dirty="0" err="1" smtClean="0"/>
              <a:t>rim</a:t>
            </a:r>
            <a:r>
              <a:rPr lang="en-US" altLang="zh-CN" dirty="0" smtClean="0"/>
              <a:t>(*</a:t>
            </a:r>
            <a:r>
              <a:rPr lang="en-US" altLang="zh-CN" dirty="0" err="1" smtClean="0"/>
              <a:t>str</a:t>
            </a:r>
            <a:r>
              <a:rPr lang="en-US" altLang="zh-CN" dirty="0" smtClean="0"/>
              <a:t>)   //</a:t>
            </a:r>
            <a:r>
              <a:rPr lang="zh-CN" altLang="en-US" dirty="0" smtClean="0"/>
              <a:t>去掉字符串</a:t>
            </a:r>
            <a:r>
              <a:rPr lang="en-US" altLang="zh-CN" dirty="0" err="1" smtClean="0"/>
              <a:t>str</a:t>
            </a:r>
            <a:r>
              <a:rPr lang="zh-CN" altLang="en-US" dirty="0" smtClean="0"/>
              <a:t>的前导空格</a:t>
            </a:r>
            <a:endParaRPr lang="en-US" altLang="zh-CN" dirty="0" smtClean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dirty="0"/>
              <a:t>char </a:t>
            </a:r>
            <a:r>
              <a:rPr lang="en-US" altLang="zh-CN" dirty="0" smtClean="0"/>
              <a:t>*</a:t>
            </a:r>
            <a:r>
              <a:rPr lang="en-US" altLang="zh-CN" dirty="0" err="1" smtClean="0"/>
              <a:t>RTrim</a:t>
            </a:r>
            <a:r>
              <a:rPr lang="en-US" altLang="zh-CN" dirty="0"/>
              <a:t>(*</a:t>
            </a:r>
            <a:r>
              <a:rPr lang="en-US" altLang="zh-CN" dirty="0" err="1"/>
              <a:t>str</a:t>
            </a:r>
            <a:r>
              <a:rPr lang="en-US" altLang="zh-CN" dirty="0" smtClean="0"/>
              <a:t>)   //</a:t>
            </a:r>
            <a:r>
              <a:rPr lang="zh-CN" altLang="en-US" dirty="0"/>
              <a:t>去掉字符串</a:t>
            </a:r>
            <a:r>
              <a:rPr lang="en-US" altLang="zh-CN" dirty="0" err="1"/>
              <a:t>str</a:t>
            </a:r>
            <a:r>
              <a:rPr lang="zh-CN" altLang="en-US" dirty="0" smtClean="0"/>
              <a:t>的尾随空格</a:t>
            </a:r>
            <a:endParaRPr lang="zh-CN" altLang="en-US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dirty="0"/>
              <a:t>char *</a:t>
            </a:r>
            <a:r>
              <a:rPr lang="en-US" altLang="zh-CN" dirty="0" err="1" smtClean="0"/>
              <a:t>LRTrim</a:t>
            </a:r>
            <a:r>
              <a:rPr lang="en-US" altLang="zh-CN" dirty="0"/>
              <a:t>(*</a:t>
            </a:r>
            <a:r>
              <a:rPr lang="en-US" altLang="zh-CN" dirty="0" err="1"/>
              <a:t>str</a:t>
            </a:r>
            <a:r>
              <a:rPr lang="en-US" altLang="zh-CN" dirty="0" smtClean="0"/>
              <a:t>)  //</a:t>
            </a:r>
            <a:r>
              <a:rPr lang="zh-CN" altLang="en-US" dirty="0" smtClean="0"/>
              <a:t>去掉</a:t>
            </a:r>
            <a:r>
              <a:rPr lang="en-US" altLang="zh-CN" dirty="0" err="1" smtClean="0"/>
              <a:t>str</a:t>
            </a:r>
            <a:r>
              <a:rPr lang="zh-CN" altLang="en-US" dirty="0" smtClean="0"/>
              <a:t>的前导与尾随空格</a:t>
            </a:r>
            <a:endParaRPr lang="zh-CN" altLang="en-US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20047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>
                <a:solidFill>
                  <a:srgbClr val="7030A0"/>
                </a:solidFill>
                <a:latin typeface="宋体" panose="02010600030101010101" pitchFamily="2" charset="-122"/>
              </a:rPr>
              <a:t>课后练习：</a:t>
            </a:r>
            <a:r>
              <a:rPr lang="zh-CN" altLang="en-US" dirty="0"/>
              <a:t>两个大整数加法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4342257" cy="5345112"/>
          </a:xfrm>
          <a:ln>
            <a:solidFill>
              <a:srgbClr val="080808"/>
            </a:solidFill>
          </a:ln>
        </p:spPr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en-US" altLang="zh-CN" sz="1400" dirty="0">
                <a:solidFill>
                  <a:srgbClr val="080808"/>
                </a:solidFill>
              </a:rPr>
              <a:t>#include &lt;</a:t>
            </a:r>
            <a:r>
              <a:rPr lang="en-US" altLang="zh-CN" sz="1400" dirty="0" err="1">
                <a:solidFill>
                  <a:srgbClr val="080808"/>
                </a:solidFill>
              </a:rPr>
              <a:t>stdio.h</a:t>
            </a:r>
            <a:r>
              <a:rPr lang="en-US" altLang="zh-CN" sz="1400" dirty="0">
                <a:solidFill>
                  <a:srgbClr val="080808"/>
                </a:solidFill>
              </a:rPr>
              <a:t>&gt;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400" dirty="0">
                <a:solidFill>
                  <a:srgbClr val="080808"/>
                </a:solidFill>
              </a:rPr>
              <a:t>#include &lt;</a:t>
            </a:r>
            <a:r>
              <a:rPr lang="en-US" altLang="zh-CN" sz="1400" dirty="0" err="1">
                <a:solidFill>
                  <a:srgbClr val="080808"/>
                </a:solidFill>
              </a:rPr>
              <a:t>string.h</a:t>
            </a:r>
            <a:r>
              <a:rPr lang="en-US" altLang="zh-CN" sz="1400" dirty="0">
                <a:solidFill>
                  <a:srgbClr val="080808"/>
                </a:solidFill>
              </a:rPr>
              <a:t>&gt;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400" dirty="0">
                <a:solidFill>
                  <a:srgbClr val="080808"/>
                </a:solidFill>
              </a:rPr>
              <a:t>#define N </a:t>
            </a:r>
            <a:r>
              <a:rPr lang="en-US" altLang="zh-CN" sz="1400" dirty="0" smtClean="0">
                <a:solidFill>
                  <a:srgbClr val="080808"/>
                </a:solidFill>
              </a:rPr>
              <a:t>50</a:t>
            </a:r>
            <a:endParaRPr lang="en-US" altLang="zh-CN" sz="1400" dirty="0">
              <a:solidFill>
                <a:srgbClr val="080808"/>
              </a:solidFill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1400" dirty="0" err="1">
                <a:solidFill>
                  <a:srgbClr val="080808"/>
                </a:solidFill>
              </a:rPr>
              <a:t>int</a:t>
            </a:r>
            <a:r>
              <a:rPr lang="en-US" altLang="zh-CN" sz="1400" dirty="0">
                <a:solidFill>
                  <a:srgbClr val="080808"/>
                </a:solidFill>
              </a:rPr>
              <a:t> main()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400" dirty="0">
                <a:solidFill>
                  <a:srgbClr val="080808"/>
                </a:solidFill>
              </a:rPr>
              <a:t>{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400" b="1" dirty="0" smtClean="0">
                <a:solidFill>
                  <a:srgbClr val="006600"/>
                </a:solidFill>
              </a:rPr>
              <a:t>      </a:t>
            </a:r>
            <a:r>
              <a:rPr lang="en-US" altLang="zh-CN" sz="1400" b="1" dirty="0" err="1" smtClean="0">
                <a:solidFill>
                  <a:srgbClr val="006600"/>
                </a:solidFill>
              </a:rPr>
              <a:t>const</a:t>
            </a:r>
            <a:r>
              <a:rPr lang="en-US" altLang="zh-CN" sz="1400" b="1" dirty="0" smtClean="0">
                <a:solidFill>
                  <a:srgbClr val="006600"/>
                </a:solidFill>
              </a:rPr>
              <a:t> </a:t>
            </a:r>
            <a:r>
              <a:rPr lang="en-US" altLang="zh-CN" sz="1400" b="1" dirty="0">
                <a:solidFill>
                  <a:srgbClr val="006600"/>
                </a:solidFill>
              </a:rPr>
              <a:t>char *num1="1234567898765432123456789";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400" b="1" dirty="0" smtClean="0">
                <a:solidFill>
                  <a:srgbClr val="006600"/>
                </a:solidFill>
              </a:rPr>
              <a:t>      </a:t>
            </a:r>
            <a:r>
              <a:rPr lang="en-US" altLang="zh-CN" sz="1400" b="1" dirty="0" err="1" smtClean="0">
                <a:solidFill>
                  <a:srgbClr val="006600"/>
                </a:solidFill>
              </a:rPr>
              <a:t>const</a:t>
            </a:r>
            <a:r>
              <a:rPr lang="en-US" altLang="zh-CN" sz="1400" b="1" dirty="0" smtClean="0">
                <a:solidFill>
                  <a:srgbClr val="006600"/>
                </a:solidFill>
              </a:rPr>
              <a:t> </a:t>
            </a:r>
            <a:r>
              <a:rPr lang="en-US" altLang="zh-CN" sz="1400" b="1" dirty="0">
                <a:solidFill>
                  <a:srgbClr val="006600"/>
                </a:solidFill>
              </a:rPr>
              <a:t>char *num2="98765432123456789";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400" dirty="0" smtClean="0">
                <a:solidFill>
                  <a:srgbClr val="080808"/>
                </a:solidFill>
              </a:rPr>
              <a:t>      </a:t>
            </a:r>
            <a:r>
              <a:rPr lang="en-US" altLang="zh-CN" sz="1400" dirty="0" err="1" smtClean="0">
                <a:solidFill>
                  <a:srgbClr val="080808"/>
                </a:solidFill>
              </a:rPr>
              <a:t>int</a:t>
            </a:r>
            <a:r>
              <a:rPr lang="en-US" altLang="zh-CN" sz="1400" dirty="0" smtClean="0">
                <a:solidFill>
                  <a:srgbClr val="080808"/>
                </a:solidFill>
              </a:rPr>
              <a:t> </a:t>
            </a:r>
            <a:r>
              <a:rPr lang="en-US" altLang="zh-CN" sz="1400" dirty="0">
                <a:solidFill>
                  <a:srgbClr val="080808"/>
                </a:solidFill>
              </a:rPr>
              <a:t>len_Num1=</a:t>
            </a:r>
            <a:r>
              <a:rPr lang="en-US" altLang="zh-CN" sz="1400" dirty="0" err="1">
                <a:solidFill>
                  <a:srgbClr val="080808"/>
                </a:solidFill>
              </a:rPr>
              <a:t>strlen</a:t>
            </a:r>
            <a:r>
              <a:rPr lang="en-US" altLang="zh-CN" sz="1400" dirty="0">
                <a:solidFill>
                  <a:srgbClr val="080808"/>
                </a:solidFill>
              </a:rPr>
              <a:t>(num1);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400" dirty="0" smtClean="0">
                <a:solidFill>
                  <a:srgbClr val="080808"/>
                </a:solidFill>
              </a:rPr>
              <a:t>      </a:t>
            </a:r>
            <a:r>
              <a:rPr lang="en-US" altLang="zh-CN" sz="1400" dirty="0" err="1" smtClean="0">
                <a:solidFill>
                  <a:srgbClr val="080808"/>
                </a:solidFill>
              </a:rPr>
              <a:t>int</a:t>
            </a:r>
            <a:r>
              <a:rPr lang="en-US" altLang="zh-CN" sz="1400" dirty="0" smtClean="0">
                <a:solidFill>
                  <a:srgbClr val="080808"/>
                </a:solidFill>
              </a:rPr>
              <a:t> </a:t>
            </a:r>
            <a:r>
              <a:rPr lang="en-US" altLang="zh-CN" sz="1400" dirty="0">
                <a:solidFill>
                  <a:srgbClr val="080808"/>
                </a:solidFill>
              </a:rPr>
              <a:t>len_Num2=</a:t>
            </a:r>
            <a:r>
              <a:rPr lang="en-US" altLang="zh-CN" sz="1400" dirty="0" err="1">
                <a:solidFill>
                  <a:srgbClr val="080808"/>
                </a:solidFill>
              </a:rPr>
              <a:t>strlen</a:t>
            </a:r>
            <a:r>
              <a:rPr lang="en-US" altLang="zh-CN" sz="1400" dirty="0">
                <a:solidFill>
                  <a:srgbClr val="080808"/>
                </a:solidFill>
              </a:rPr>
              <a:t>(num2);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400" dirty="0" smtClean="0">
                <a:solidFill>
                  <a:srgbClr val="080808"/>
                </a:solidFill>
              </a:rPr>
              <a:t>      </a:t>
            </a:r>
            <a:r>
              <a:rPr lang="en-US" altLang="zh-CN" sz="1400" dirty="0" err="1" smtClean="0">
                <a:solidFill>
                  <a:srgbClr val="080808"/>
                </a:solidFill>
              </a:rPr>
              <a:t>int</a:t>
            </a:r>
            <a:r>
              <a:rPr lang="en-US" altLang="zh-CN" sz="1400" dirty="0" smtClean="0">
                <a:solidFill>
                  <a:srgbClr val="080808"/>
                </a:solidFill>
              </a:rPr>
              <a:t> a[N],  </a:t>
            </a:r>
            <a:r>
              <a:rPr lang="en-US" altLang="zh-CN" sz="1400" dirty="0">
                <a:solidFill>
                  <a:srgbClr val="080808"/>
                </a:solidFill>
              </a:rPr>
              <a:t>b[N</a:t>
            </a:r>
            <a:r>
              <a:rPr lang="en-US" altLang="zh-CN" sz="1400" dirty="0" smtClean="0">
                <a:solidFill>
                  <a:srgbClr val="080808"/>
                </a:solidFill>
              </a:rPr>
              <a:t>],  </a:t>
            </a:r>
            <a:r>
              <a:rPr lang="en-US" altLang="zh-CN" sz="1400" dirty="0" err="1" smtClean="0">
                <a:solidFill>
                  <a:srgbClr val="080808"/>
                </a:solidFill>
              </a:rPr>
              <a:t>int</a:t>
            </a:r>
            <a:r>
              <a:rPr lang="en-US" altLang="zh-CN" sz="1400" dirty="0" smtClean="0">
                <a:solidFill>
                  <a:srgbClr val="080808"/>
                </a:solidFill>
              </a:rPr>
              <a:t> </a:t>
            </a:r>
            <a:r>
              <a:rPr lang="en-US" altLang="zh-CN" sz="1400" dirty="0">
                <a:solidFill>
                  <a:srgbClr val="080808"/>
                </a:solidFill>
              </a:rPr>
              <a:t>c[N+1</a:t>
            </a:r>
            <a:r>
              <a:rPr lang="en-US" altLang="zh-CN" sz="1400" dirty="0" smtClean="0">
                <a:solidFill>
                  <a:srgbClr val="080808"/>
                </a:solidFill>
              </a:rPr>
              <a:t>]; //</a:t>
            </a:r>
            <a:r>
              <a:rPr lang="zh-CN" altLang="en-US" sz="1400" dirty="0" smtClean="0">
                <a:solidFill>
                  <a:srgbClr val="080808"/>
                </a:solidFill>
              </a:rPr>
              <a:t>存放两个数据与计算和</a:t>
            </a:r>
            <a:endParaRPr lang="en-US" altLang="zh-CN" sz="1400" dirty="0">
              <a:solidFill>
                <a:srgbClr val="080808"/>
              </a:solidFill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1400" dirty="0">
                <a:solidFill>
                  <a:srgbClr val="080808"/>
                </a:solidFill>
              </a:rPr>
              <a:t>    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400" dirty="0">
                <a:solidFill>
                  <a:srgbClr val="080808"/>
                </a:solidFill>
              </a:rPr>
              <a:t>    for (</a:t>
            </a:r>
            <a:r>
              <a:rPr lang="en-US" altLang="zh-CN" sz="1400" dirty="0" err="1">
                <a:solidFill>
                  <a:srgbClr val="080808"/>
                </a:solidFill>
              </a:rPr>
              <a:t>int</a:t>
            </a:r>
            <a:r>
              <a:rPr lang="en-US" altLang="zh-CN" sz="1400" dirty="0">
                <a:solidFill>
                  <a:srgbClr val="080808"/>
                </a:solidFill>
              </a:rPr>
              <a:t> </a:t>
            </a:r>
            <a:r>
              <a:rPr lang="en-US" altLang="zh-CN" sz="1400" dirty="0" err="1">
                <a:solidFill>
                  <a:srgbClr val="080808"/>
                </a:solidFill>
              </a:rPr>
              <a:t>i</a:t>
            </a:r>
            <a:r>
              <a:rPr lang="en-US" altLang="zh-CN" sz="1400" dirty="0">
                <a:solidFill>
                  <a:srgbClr val="080808"/>
                </a:solidFill>
              </a:rPr>
              <a:t>=0;i&lt;=N-1;i</a:t>
            </a:r>
            <a:r>
              <a:rPr lang="en-US" altLang="zh-CN" sz="1400" dirty="0" smtClean="0">
                <a:solidFill>
                  <a:srgbClr val="080808"/>
                </a:solidFill>
              </a:rPr>
              <a:t>++)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400" dirty="0">
                <a:solidFill>
                  <a:srgbClr val="080808"/>
                </a:solidFill>
              </a:rPr>
              <a:t> </a:t>
            </a:r>
            <a:r>
              <a:rPr lang="en-US" altLang="zh-CN" sz="1400" dirty="0" smtClean="0">
                <a:solidFill>
                  <a:srgbClr val="080808"/>
                </a:solidFill>
              </a:rPr>
              <a:t>        a[</a:t>
            </a:r>
            <a:r>
              <a:rPr lang="en-US" altLang="zh-CN" sz="1400" dirty="0" err="1" smtClean="0">
                <a:solidFill>
                  <a:srgbClr val="080808"/>
                </a:solidFill>
              </a:rPr>
              <a:t>i</a:t>
            </a:r>
            <a:r>
              <a:rPr lang="en-US" altLang="zh-CN" sz="1400" dirty="0">
                <a:solidFill>
                  <a:srgbClr val="080808"/>
                </a:solidFill>
              </a:rPr>
              <a:t>]=0,b[</a:t>
            </a:r>
            <a:r>
              <a:rPr lang="en-US" altLang="zh-CN" sz="1400" dirty="0" err="1">
                <a:solidFill>
                  <a:srgbClr val="080808"/>
                </a:solidFill>
              </a:rPr>
              <a:t>i</a:t>
            </a:r>
            <a:r>
              <a:rPr lang="en-US" altLang="zh-CN" sz="1400" dirty="0">
                <a:solidFill>
                  <a:srgbClr val="080808"/>
                </a:solidFill>
              </a:rPr>
              <a:t>]=0;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400" dirty="0" smtClean="0">
                <a:solidFill>
                  <a:srgbClr val="0000CC"/>
                </a:solidFill>
              </a:rPr>
              <a:t>    // </a:t>
            </a:r>
            <a:r>
              <a:rPr lang="zh-CN" altLang="en-US" sz="1400" dirty="0" smtClean="0">
                <a:solidFill>
                  <a:srgbClr val="0000CC"/>
                </a:solidFill>
              </a:rPr>
              <a:t>两个整数末尾对齐，短的前面补</a:t>
            </a:r>
            <a:r>
              <a:rPr lang="en-US" altLang="zh-CN" sz="1400" dirty="0" smtClean="0">
                <a:solidFill>
                  <a:srgbClr val="0000CC"/>
                </a:solidFill>
              </a:rPr>
              <a:t>0</a:t>
            </a:r>
            <a:endParaRPr lang="en-US" altLang="zh-CN" sz="1400" dirty="0">
              <a:solidFill>
                <a:srgbClr val="0000CC"/>
              </a:solidFill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1400" dirty="0">
                <a:solidFill>
                  <a:srgbClr val="080808"/>
                </a:solidFill>
              </a:rPr>
              <a:t>    </a:t>
            </a:r>
            <a:r>
              <a:rPr lang="en-US" altLang="zh-CN" sz="1400" dirty="0" err="1">
                <a:solidFill>
                  <a:srgbClr val="080808"/>
                </a:solidFill>
              </a:rPr>
              <a:t>int</a:t>
            </a:r>
            <a:r>
              <a:rPr lang="en-US" altLang="zh-CN" sz="1400" dirty="0">
                <a:solidFill>
                  <a:srgbClr val="080808"/>
                </a:solidFill>
              </a:rPr>
              <a:t> </a:t>
            </a:r>
            <a:r>
              <a:rPr lang="en-US" altLang="zh-CN" sz="1400" dirty="0" err="1">
                <a:solidFill>
                  <a:srgbClr val="080808"/>
                </a:solidFill>
              </a:rPr>
              <a:t>startA</a:t>
            </a:r>
            <a:r>
              <a:rPr lang="en-US" altLang="zh-CN" sz="1400" dirty="0">
                <a:solidFill>
                  <a:srgbClr val="080808"/>
                </a:solidFill>
              </a:rPr>
              <a:t>=0, </a:t>
            </a:r>
            <a:r>
              <a:rPr lang="en-US" altLang="zh-CN" sz="1400" dirty="0" err="1">
                <a:solidFill>
                  <a:srgbClr val="080808"/>
                </a:solidFill>
              </a:rPr>
              <a:t>startB</a:t>
            </a:r>
            <a:r>
              <a:rPr lang="en-US" altLang="zh-CN" sz="1400" dirty="0">
                <a:solidFill>
                  <a:srgbClr val="080808"/>
                </a:solidFill>
              </a:rPr>
              <a:t>=0;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400" dirty="0">
                <a:solidFill>
                  <a:srgbClr val="080808"/>
                </a:solidFill>
              </a:rPr>
              <a:t>    </a:t>
            </a:r>
            <a:r>
              <a:rPr lang="en-US" altLang="zh-CN" sz="1400" dirty="0" err="1">
                <a:solidFill>
                  <a:srgbClr val="080808"/>
                </a:solidFill>
              </a:rPr>
              <a:t>int</a:t>
            </a:r>
            <a:r>
              <a:rPr lang="en-US" altLang="zh-CN" sz="1400" dirty="0">
                <a:solidFill>
                  <a:srgbClr val="080808"/>
                </a:solidFill>
              </a:rPr>
              <a:t> </a:t>
            </a:r>
            <a:r>
              <a:rPr lang="en-US" altLang="zh-CN" sz="1400" dirty="0" err="1">
                <a:solidFill>
                  <a:srgbClr val="080808"/>
                </a:solidFill>
              </a:rPr>
              <a:t>differenceValue</a:t>
            </a:r>
            <a:r>
              <a:rPr lang="en-US" altLang="zh-CN" sz="1400" dirty="0">
                <a:solidFill>
                  <a:srgbClr val="080808"/>
                </a:solidFill>
              </a:rPr>
              <a:t> = len_Num1 - len_Num2;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400" dirty="0">
                <a:solidFill>
                  <a:srgbClr val="080808"/>
                </a:solidFill>
              </a:rPr>
              <a:t>    </a:t>
            </a:r>
            <a:r>
              <a:rPr lang="en-US" altLang="zh-CN" sz="1400" dirty="0" err="1">
                <a:solidFill>
                  <a:srgbClr val="080808"/>
                </a:solidFill>
              </a:rPr>
              <a:t>int</a:t>
            </a:r>
            <a:r>
              <a:rPr lang="en-US" altLang="zh-CN" sz="1400" dirty="0">
                <a:solidFill>
                  <a:srgbClr val="080808"/>
                </a:solidFill>
              </a:rPr>
              <a:t> m=len_Num1;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400" dirty="0">
                <a:solidFill>
                  <a:srgbClr val="080808"/>
                </a:solidFill>
              </a:rPr>
              <a:t>    if (</a:t>
            </a:r>
            <a:r>
              <a:rPr lang="en-US" altLang="zh-CN" sz="1400" dirty="0" err="1">
                <a:solidFill>
                  <a:srgbClr val="080808"/>
                </a:solidFill>
              </a:rPr>
              <a:t>differenceValue</a:t>
            </a:r>
            <a:r>
              <a:rPr lang="en-US" altLang="zh-CN" sz="1400" dirty="0">
                <a:solidFill>
                  <a:srgbClr val="080808"/>
                </a:solidFill>
              </a:rPr>
              <a:t>&gt;0</a:t>
            </a:r>
            <a:r>
              <a:rPr lang="en-US" altLang="zh-CN" sz="1400" dirty="0" smtClean="0">
                <a:solidFill>
                  <a:srgbClr val="080808"/>
                </a:solidFill>
              </a:rPr>
              <a:t>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400" dirty="0">
                <a:solidFill>
                  <a:srgbClr val="080808"/>
                </a:solidFill>
              </a:rPr>
              <a:t> </a:t>
            </a:r>
            <a:r>
              <a:rPr lang="en-US" altLang="zh-CN" sz="1400" dirty="0" smtClean="0">
                <a:solidFill>
                  <a:srgbClr val="080808"/>
                </a:solidFill>
              </a:rPr>
              <a:t>  {</a:t>
            </a:r>
            <a:endParaRPr lang="en-US" altLang="zh-CN" sz="1400" dirty="0">
              <a:solidFill>
                <a:srgbClr val="080808"/>
              </a:solidFill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1400" dirty="0">
                <a:solidFill>
                  <a:srgbClr val="080808"/>
                </a:solidFill>
              </a:rPr>
              <a:t>     </a:t>
            </a:r>
            <a:r>
              <a:rPr lang="en-US" altLang="zh-CN" sz="1400" dirty="0" smtClean="0">
                <a:solidFill>
                  <a:srgbClr val="080808"/>
                </a:solidFill>
              </a:rPr>
              <a:t>  </a:t>
            </a:r>
            <a:r>
              <a:rPr lang="en-US" altLang="zh-CN" sz="1400" dirty="0" err="1" smtClean="0">
                <a:solidFill>
                  <a:srgbClr val="080808"/>
                </a:solidFill>
              </a:rPr>
              <a:t>startB</a:t>
            </a:r>
            <a:r>
              <a:rPr lang="en-US" altLang="zh-CN" sz="1400" dirty="0" smtClean="0">
                <a:solidFill>
                  <a:srgbClr val="080808"/>
                </a:solidFill>
              </a:rPr>
              <a:t>=</a:t>
            </a:r>
            <a:r>
              <a:rPr lang="en-US" altLang="zh-CN" sz="1400" dirty="0" err="1" smtClean="0">
                <a:solidFill>
                  <a:srgbClr val="080808"/>
                </a:solidFill>
              </a:rPr>
              <a:t>differenceValue</a:t>
            </a:r>
            <a:r>
              <a:rPr lang="en-US" altLang="zh-CN" sz="1400" dirty="0">
                <a:solidFill>
                  <a:srgbClr val="080808"/>
                </a:solidFill>
              </a:rPr>
              <a:t>;</a:t>
            </a:r>
            <a:endParaRPr lang="en-US" altLang="zh-CN" sz="1400" dirty="0" smtClean="0">
              <a:solidFill>
                <a:srgbClr val="080808"/>
              </a:solidFill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1400" dirty="0">
                <a:solidFill>
                  <a:srgbClr val="080808"/>
                </a:solidFill>
              </a:rPr>
              <a:t> </a:t>
            </a:r>
            <a:r>
              <a:rPr lang="en-US" altLang="zh-CN" sz="1400" dirty="0" smtClean="0">
                <a:solidFill>
                  <a:srgbClr val="080808"/>
                </a:solidFill>
              </a:rPr>
              <a:t>      m=len_Num1;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400" dirty="0">
                <a:solidFill>
                  <a:srgbClr val="080808"/>
                </a:solidFill>
              </a:rPr>
              <a:t> </a:t>
            </a:r>
            <a:r>
              <a:rPr lang="en-US" altLang="zh-CN" sz="1400" dirty="0" smtClean="0">
                <a:solidFill>
                  <a:srgbClr val="080808"/>
                </a:solidFill>
              </a:rPr>
              <a:t>  }</a:t>
            </a:r>
            <a:endParaRPr lang="en-US" altLang="zh-CN" sz="1400" dirty="0">
              <a:solidFill>
                <a:srgbClr val="080808"/>
              </a:solidFill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1400" dirty="0">
                <a:solidFill>
                  <a:srgbClr val="080808"/>
                </a:solidFill>
              </a:rPr>
              <a:t>    else if (</a:t>
            </a:r>
            <a:r>
              <a:rPr lang="en-US" altLang="zh-CN" sz="1400" dirty="0" err="1">
                <a:solidFill>
                  <a:srgbClr val="080808"/>
                </a:solidFill>
              </a:rPr>
              <a:t>differenceValue</a:t>
            </a:r>
            <a:r>
              <a:rPr lang="en-US" altLang="zh-CN" sz="1400" dirty="0">
                <a:solidFill>
                  <a:srgbClr val="080808"/>
                </a:solidFill>
              </a:rPr>
              <a:t>&lt;0)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400" dirty="0">
                <a:solidFill>
                  <a:srgbClr val="080808"/>
                </a:solidFill>
              </a:rPr>
              <a:t>   </a:t>
            </a:r>
            <a:r>
              <a:rPr lang="en-US" altLang="zh-CN" sz="1400" dirty="0" smtClean="0">
                <a:solidFill>
                  <a:srgbClr val="080808"/>
                </a:solidFill>
              </a:rPr>
              <a:t>{  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400" dirty="0">
                <a:solidFill>
                  <a:srgbClr val="080808"/>
                </a:solidFill>
              </a:rPr>
              <a:t> </a:t>
            </a:r>
            <a:r>
              <a:rPr lang="en-US" altLang="zh-CN" sz="1400" dirty="0" smtClean="0">
                <a:solidFill>
                  <a:srgbClr val="080808"/>
                </a:solidFill>
              </a:rPr>
              <a:t>      </a:t>
            </a:r>
            <a:r>
              <a:rPr lang="en-US" altLang="zh-CN" sz="1400" dirty="0" err="1" smtClean="0">
                <a:solidFill>
                  <a:srgbClr val="080808"/>
                </a:solidFill>
              </a:rPr>
              <a:t>startA</a:t>
            </a:r>
            <a:r>
              <a:rPr lang="en-US" altLang="zh-CN" sz="1400" dirty="0" smtClean="0">
                <a:solidFill>
                  <a:srgbClr val="080808"/>
                </a:solidFill>
              </a:rPr>
              <a:t> </a:t>
            </a:r>
            <a:r>
              <a:rPr lang="en-US" altLang="zh-CN" sz="1400" dirty="0">
                <a:solidFill>
                  <a:srgbClr val="080808"/>
                </a:solidFill>
              </a:rPr>
              <a:t>=-</a:t>
            </a:r>
            <a:r>
              <a:rPr lang="en-US" altLang="zh-CN" sz="1400" dirty="0" err="1" smtClean="0">
                <a:solidFill>
                  <a:srgbClr val="080808"/>
                </a:solidFill>
              </a:rPr>
              <a:t>differenceValue</a:t>
            </a:r>
            <a:r>
              <a:rPr lang="en-US" altLang="zh-CN" sz="1400" dirty="0" smtClean="0">
                <a:solidFill>
                  <a:srgbClr val="080808"/>
                </a:solidFill>
              </a:rPr>
              <a:t>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400" dirty="0">
                <a:solidFill>
                  <a:srgbClr val="080808"/>
                </a:solidFill>
              </a:rPr>
              <a:t> </a:t>
            </a:r>
            <a:r>
              <a:rPr lang="en-US" altLang="zh-CN" sz="1400" dirty="0" smtClean="0">
                <a:solidFill>
                  <a:srgbClr val="080808"/>
                </a:solidFill>
              </a:rPr>
              <a:t>      m=len_Num2</a:t>
            </a:r>
            <a:r>
              <a:rPr lang="en-US" altLang="zh-CN" sz="1400" dirty="0" smtClean="0"/>
              <a:t>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400" dirty="0">
                <a:solidFill>
                  <a:srgbClr val="080808"/>
                </a:solidFill>
              </a:rPr>
              <a:t>   }</a:t>
            </a:r>
            <a:endParaRPr lang="zh-CN" altLang="en-US" sz="1400" dirty="0">
              <a:solidFill>
                <a:srgbClr val="080808"/>
              </a:solidFill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5021199" y="1061911"/>
            <a:ext cx="4698873" cy="5345112"/>
          </a:xfrm>
          <a:prstGeom prst="rect">
            <a:avLst/>
          </a:prstGeom>
          <a:noFill/>
          <a:ln>
            <a:solidFill>
              <a:srgbClr val="080808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None/>
            </a:pPr>
            <a:r>
              <a:rPr lang="nn-NO" altLang="zh-CN" sz="1400" dirty="0" smtClean="0">
                <a:solidFill>
                  <a:srgbClr val="080808"/>
                </a:solidFill>
              </a:rPr>
              <a:t>     for </a:t>
            </a:r>
            <a:r>
              <a:rPr lang="nn-NO" altLang="zh-CN" sz="1400" dirty="0">
                <a:solidFill>
                  <a:srgbClr val="080808"/>
                </a:solidFill>
              </a:rPr>
              <a:t>(int i=startA;i&lt;=len_Num1-1;i++)</a:t>
            </a:r>
          </a:p>
          <a:p>
            <a:pPr>
              <a:spcBef>
                <a:spcPts val="0"/>
              </a:spcBef>
              <a:buNone/>
            </a:pPr>
            <a:r>
              <a:rPr lang="nn-NO" altLang="zh-CN" sz="1400" dirty="0" smtClean="0">
                <a:solidFill>
                  <a:srgbClr val="080808"/>
                </a:solidFill>
              </a:rPr>
              <a:t>           </a:t>
            </a:r>
            <a:r>
              <a:rPr lang="nn-NO" altLang="zh-CN" sz="1400" dirty="0">
                <a:solidFill>
                  <a:srgbClr val="080808"/>
                </a:solidFill>
              </a:rPr>
              <a:t>a[i]=num1[i]-0x30;</a:t>
            </a:r>
          </a:p>
          <a:p>
            <a:pPr>
              <a:spcBef>
                <a:spcPts val="0"/>
              </a:spcBef>
              <a:buNone/>
            </a:pPr>
            <a:r>
              <a:rPr lang="nn-NO" altLang="zh-CN" sz="1400" dirty="0" smtClean="0">
                <a:solidFill>
                  <a:srgbClr val="080808"/>
                </a:solidFill>
              </a:rPr>
              <a:t>     for </a:t>
            </a:r>
            <a:r>
              <a:rPr lang="nn-NO" altLang="zh-CN" sz="1400" dirty="0">
                <a:solidFill>
                  <a:srgbClr val="080808"/>
                </a:solidFill>
              </a:rPr>
              <a:t>(int i=startB;i&lt;=len_Num1-1;i++)</a:t>
            </a:r>
          </a:p>
          <a:p>
            <a:pPr>
              <a:spcBef>
                <a:spcPts val="0"/>
              </a:spcBef>
              <a:buNone/>
            </a:pPr>
            <a:r>
              <a:rPr lang="nn-NO" altLang="zh-CN" sz="1400" dirty="0" smtClean="0">
                <a:solidFill>
                  <a:srgbClr val="080808"/>
                </a:solidFill>
              </a:rPr>
              <a:t>            </a:t>
            </a:r>
            <a:r>
              <a:rPr lang="nn-NO" altLang="zh-CN" sz="1400" dirty="0">
                <a:solidFill>
                  <a:srgbClr val="080808"/>
                </a:solidFill>
              </a:rPr>
              <a:t>b[i]=num1[i]-0x30</a:t>
            </a:r>
            <a:r>
              <a:rPr lang="nn-NO" altLang="zh-CN" sz="1400" dirty="0" smtClean="0">
                <a:solidFill>
                  <a:srgbClr val="080808"/>
                </a:solidFill>
              </a:rPr>
              <a:t>;</a:t>
            </a:r>
          </a:p>
          <a:p>
            <a:pPr>
              <a:spcBef>
                <a:spcPts val="0"/>
              </a:spcBef>
              <a:buNone/>
            </a:pPr>
            <a:r>
              <a:rPr lang="nn-NO" altLang="zh-CN" sz="1400" dirty="0" smtClean="0">
                <a:solidFill>
                  <a:srgbClr val="080808"/>
                </a:solidFill>
              </a:rPr>
              <a:t>     </a:t>
            </a:r>
          </a:p>
          <a:p>
            <a:pPr>
              <a:spcBef>
                <a:spcPts val="0"/>
              </a:spcBef>
              <a:buNone/>
            </a:pPr>
            <a:r>
              <a:rPr lang="nn-NO" altLang="zh-CN" sz="1400" dirty="0">
                <a:solidFill>
                  <a:srgbClr val="080808"/>
                </a:solidFill>
              </a:rPr>
              <a:t> </a:t>
            </a:r>
            <a:r>
              <a:rPr lang="nn-NO" altLang="zh-CN" sz="1400" dirty="0" smtClean="0">
                <a:solidFill>
                  <a:srgbClr val="080808"/>
                </a:solidFill>
              </a:rPr>
              <a:t>   </a:t>
            </a:r>
            <a:r>
              <a:rPr lang="en-US" altLang="zh-CN" sz="1400" dirty="0" smtClean="0">
                <a:solidFill>
                  <a:srgbClr val="0000CC"/>
                </a:solidFill>
              </a:rPr>
              <a:t>//</a:t>
            </a:r>
            <a:r>
              <a:rPr lang="zh-CN" altLang="en-US" sz="1400" dirty="0" smtClean="0">
                <a:solidFill>
                  <a:srgbClr val="0000CC"/>
                </a:solidFill>
              </a:rPr>
              <a:t>查看字符串数据是否转换到数组中</a:t>
            </a:r>
            <a:endParaRPr lang="nn-NO" altLang="zh-CN" sz="1400" dirty="0" smtClean="0">
              <a:solidFill>
                <a:srgbClr val="0000CC"/>
              </a:solidFill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1400" dirty="0">
                <a:solidFill>
                  <a:srgbClr val="080808"/>
                </a:solidFill>
              </a:rPr>
              <a:t>     for (</a:t>
            </a:r>
            <a:r>
              <a:rPr lang="en-US" altLang="zh-CN" sz="1400" dirty="0" err="1">
                <a:solidFill>
                  <a:srgbClr val="080808"/>
                </a:solidFill>
              </a:rPr>
              <a:t>int</a:t>
            </a:r>
            <a:r>
              <a:rPr lang="en-US" altLang="zh-CN" sz="1400" dirty="0">
                <a:solidFill>
                  <a:srgbClr val="080808"/>
                </a:solidFill>
              </a:rPr>
              <a:t> </a:t>
            </a:r>
            <a:r>
              <a:rPr lang="en-US" altLang="zh-CN" sz="1400" dirty="0" err="1">
                <a:solidFill>
                  <a:srgbClr val="080808"/>
                </a:solidFill>
              </a:rPr>
              <a:t>i</a:t>
            </a:r>
            <a:r>
              <a:rPr lang="en-US" altLang="zh-CN" sz="1400" dirty="0">
                <a:solidFill>
                  <a:srgbClr val="080808"/>
                </a:solidFill>
              </a:rPr>
              <a:t>=0;i&lt;=len_Num1-1;i++)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400" dirty="0" smtClean="0">
                <a:solidFill>
                  <a:srgbClr val="080808"/>
                </a:solidFill>
              </a:rPr>
              <a:t>          </a:t>
            </a:r>
            <a:r>
              <a:rPr lang="en-US" altLang="zh-CN" sz="1400" dirty="0" err="1">
                <a:solidFill>
                  <a:srgbClr val="080808"/>
                </a:solidFill>
              </a:rPr>
              <a:t>printf</a:t>
            </a:r>
            <a:r>
              <a:rPr lang="en-US" altLang="zh-CN" sz="1400" dirty="0">
                <a:solidFill>
                  <a:srgbClr val="080808"/>
                </a:solidFill>
              </a:rPr>
              <a:t>("%d ",a[</a:t>
            </a:r>
            <a:r>
              <a:rPr lang="en-US" altLang="zh-CN" sz="1400" dirty="0" err="1">
                <a:solidFill>
                  <a:srgbClr val="080808"/>
                </a:solidFill>
              </a:rPr>
              <a:t>i</a:t>
            </a:r>
            <a:r>
              <a:rPr lang="en-US" altLang="zh-CN" sz="1400" dirty="0" smtClean="0">
                <a:solidFill>
                  <a:srgbClr val="080808"/>
                </a:solidFill>
              </a:rPr>
              <a:t>]);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400" dirty="0">
                <a:solidFill>
                  <a:srgbClr val="080808"/>
                </a:solidFill>
              </a:rPr>
              <a:t> </a:t>
            </a:r>
            <a:r>
              <a:rPr lang="en-US" altLang="zh-CN" sz="1400" dirty="0" smtClean="0">
                <a:solidFill>
                  <a:srgbClr val="080808"/>
                </a:solidFill>
              </a:rPr>
              <a:t>    </a:t>
            </a:r>
            <a:r>
              <a:rPr lang="en-US" altLang="zh-CN" sz="1400" dirty="0" err="1">
                <a:solidFill>
                  <a:srgbClr val="080808"/>
                </a:solidFill>
              </a:rPr>
              <a:t>printf</a:t>
            </a:r>
            <a:r>
              <a:rPr lang="en-US" altLang="zh-CN" sz="1400" dirty="0">
                <a:solidFill>
                  <a:srgbClr val="080808"/>
                </a:solidFill>
              </a:rPr>
              <a:t>("\n");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400" dirty="0" smtClean="0">
                <a:solidFill>
                  <a:srgbClr val="080808"/>
                </a:solidFill>
              </a:rPr>
              <a:t>     for </a:t>
            </a:r>
            <a:r>
              <a:rPr lang="en-US" altLang="zh-CN" sz="1400" dirty="0">
                <a:solidFill>
                  <a:srgbClr val="080808"/>
                </a:solidFill>
              </a:rPr>
              <a:t>(</a:t>
            </a:r>
            <a:r>
              <a:rPr lang="en-US" altLang="zh-CN" sz="1400" dirty="0" err="1">
                <a:solidFill>
                  <a:srgbClr val="080808"/>
                </a:solidFill>
              </a:rPr>
              <a:t>int</a:t>
            </a:r>
            <a:r>
              <a:rPr lang="en-US" altLang="zh-CN" sz="1400" dirty="0">
                <a:solidFill>
                  <a:srgbClr val="080808"/>
                </a:solidFill>
              </a:rPr>
              <a:t> </a:t>
            </a:r>
            <a:r>
              <a:rPr lang="en-US" altLang="zh-CN" sz="1400" dirty="0" err="1">
                <a:solidFill>
                  <a:srgbClr val="080808"/>
                </a:solidFill>
              </a:rPr>
              <a:t>i</a:t>
            </a:r>
            <a:r>
              <a:rPr lang="en-US" altLang="zh-CN" sz="1400" dirty="0">
                <a:solidFill>
                  <a:srgbClr val="080808"/>
                </a:solidFill>
              </a:rPr>
              <a:t>=0;i</a:t>
            </a:r>
            <a:r>
              <a:rPr lang="en-US" altLang="zh-CN" sz="1400">
                <a:solidFill>
                  <a:srgbClr val="080808"/>
                </a:solidFill>
              </a:rPr>
              <a:t>&lt;=</a:t>
            </a:r>
            <a:r>
              <a:rPr lang="en-US" altLang="zh-CN" sz="1400" smtClean="0">
                <a:solidFill>
                  <a:srgbClr val="080808"/>
                </a:solidFill>
              </a:rPr>
              <a:t>len_Num2-1;i</a:t>
            </a:r>
            <a:r>
              <a:rPr lang="en-US" altLang="zh-CN" sz="1400" dirty="0">
                <a:solidFill>
                  <a:srgbClr val="080808"/>
                </a:solidFill>
              </a:rPr>
              <a:t>++)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400" dirty="0" smtClean="0">
                <a:solidFill>
                  <a:srgbClr val="080808"/>
                </a:solidFill>
              </a:rPr>
              <a:t>          </a:t>
            </a:r>
            <a:r>
              <a:rPr lang="en-US" altLang="zh-CN" sz="1400" dirty="0" err="1">
                <a:solidFill>
                  <a:srgbClr val="080808"/>
                </a:solidFill>
              </a:rPr>
              <a:t>printf</a:t>
            </a:r>
            <a:r>
              <a:rPr lang="en-US" altLang="zh-CN" sz="1400" dirty="0">
                <a:solidFill>
                  <a:srgbClr val="080808"/>
                </a:solidFill>
              </a:rPr>
              <a:t>("%d ",b[</a:t>
            </a:r>
            <a:r>
              <a:rPr lang="en-US" altLang="zh-CN" sz="1400" dirty="0" err="1">
                <a:solidFill>
                  <a:srgbClr val="080808"/>
                </a:solidFill>
              </a:rPr>
              <a:t>i</a:t>
            </a:r>
            <a:r>
              <a:rPr lang="en-US" altLang="zh-CN" sz="1400" dirty="0">
                <a:solidFill>
                  <a:srgbClr val="080808"/>
                </a:solidFill>
              </a:rPr>
              <a:t>]);</a:t>
            </a:r>
            <a:endParaRPr lang="en-US" altLang="zh-CN" sz="1400" dirty="0" smtClean="0">
              <a:solidFill>
                <a:srgbClr val="080808"/>
              </a:solidFill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1400" dirty="0" smtClean="0">
                <a:solidFill>
                  <a:srgbClr val="080808"/>
                </a:solidFill>
              </a:rPr>
              <a:t>      </a:t>
            </a:r>
            <a:r>
              <a:rPr lang="en-US" altLang="zh-CN" sz="1400" dirty="0">
                <a:solidFill>
                  <a:srgbClr val="0000CC"/>
                </a:solidFill>
              </a:rPr>
              <a:t>//</a:t>
            </a:r>
            <a:r>
              <a:rPr lang="zh-CN" altLang="en-US" sz="1400" dirty="0">
                <a:solidFill>
                  <a:srgbClr val="0000CC"/>
                </a:solidFill>
              </a:rPr>
              <a:t>从个位数开始逐位计算两个整型数组之和</a:t>
            </a:r>
            <a:endParaRPr lang="en-US" altLang="zh-CN" sz="1400" dirty="0">
              <a:solidFill>
                <a:srgbClr val="0000CC"/>
              </a:solidFill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1400" dirty="0" smtClean="0">
                <a:solidFill>
                  <a:srgbClr val="080808"/>
                </a:solidFill>
              </a:rPr>
              <a:t>      </a:t>
            </a:r>
            <a:r>
              <a:rPr lang="en-US" altLang="zh-CN" sz="1400" dirty="0" err="1" smtClean="0">
                <a:solidFill>
                  <a:srgbClr val="080808"/>
                </a:solidFill>
              </a:rPr>
              <a:t>int</a:t>
            </a:r>
            <a:r>
              <a:rPr lang="en-US" altLang="zh-CN" sz="1400" dirty="0" smtClean="0">
                <a:solidFill>
                  <a:srgbClr val="080808"/>
                </a:solidFill>
              </a:rPr>
              <a:t> </a:t>
            </a:r>
            <a:r>
              <a:rPr lang="en-US" altLang="zh-CN" sz="1400" dirty="0">
                <a:solidFill>
                  <a:srgbClr val="080808"/>
                </a:solidFill>
              </a:rPr>
              <a:t>carry=0;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400" dirty="0" smtClean="0">
                <a:solidFill>
                  <a:srgbClr val="080808"/>
                </a:solidFill>
              </a:rPr>
              <a:t>      for </a:t>
            </a:r>
            <a:r>
              <a:rPr lang="en-US" altLang="zh-CN" sz="1400" dirty="0">
                <a:solidFill>
                  <a:srgbClr val="080808"/>
                </a:solidFill>
              </a:rPr>
              <a:t>(</a:t>
            </a:r>
            <a:r>
              <a:rPr lang="en-US" altLang="zh-CN" sz="1400" dirty="0" err="1">
                <a:solidFill>
                  <a:srgbClr val="080808"/>
                </a:solidFill>
              </a:rPr>
              <a:t>int</a:t>
            </a:r>
            <a:r>
              <a:rPr lang="en-US" altLang="zh-CN" sz="1400" dirty="0">
                <a:solidFill>
                  <a:srgbClr val="080808"/>
                </a:solidFill>
              </a:rPr>
              <a:t> </a:t>
            </a:r>
            <a:r>
              <a:rPr lang="en-US" altLang="zh-CN" sz="1400" dirty="0" err="1">
                <a:solidFill>
                  <a:srgbClr val="080808"/>
                </a:solidFill>
              </a:rPr>
              <a:t>i</a:t>
            </a:r>
            <a:r>
              <a:rPr lang="en-US" altLang="zh-CN" sz="1400" dirty="0">
                <a:solidFill>
                  <a:srgbClr val="080808"/>
                </a:solidFill>
              </a:rPr>
              <a:t>=m-1;i&gt;=0;i--)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400" dirty="0" smtClean="0">
                <a:solidFill>
                  <a:srgbClr val="080808"/>
                </a:solidFill>
              </a:rPr>
              <a:t>      {</a:t>
            </a:r>
            <a:endParaRPr lang="en-US" altLang="zh-CN" sz="1400" dirty="0">
              <a:solidFill>
                <a:srgbClr val="080808"/>
              </a:solidFill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1400" dirty="0" smtClean="0">
                <a:solidFill>
                  <a:srgbClr val="080808"/>
                </a:solidFill>
              </a:rPr>
              <a:t>            </a:t>
            </a:r>
            <a:r>
              <a:rPr lang="en-US" altLang="zh-CN" sz="1400" dirty="0" err="1" smtClean="0">
                <a:solidFill>
                  <a:srgbClr val="080808"/>
                </a:solidFill>
              </a:rPr>
              <a:t>int</a:t>
            </a:r>
            <a:r>
              <a:rPr lang="en-US" altLang="zh-CN" sz="1400" dirty="0" smtClean="0">
                <a:solidFill>
                  <a:srgbClr val="080808"/>
                </a:solidFill>
              </a:rPr>
              <a:t> </a:t>
            </a:r>
            <a:r>
              <a:rPr lang="en-US" altLang="zh-CN" sz="1400" dirty="0" err="1">
                <a:solidFill>
                  <a:srgbClr val="080808"/>
                </a:solidFill>
              </a:rPr>
              <a:t>tmp</a:t>
            </a:r>
            <a:r>
              <a:rPr lang="en-US" altLang="zh-CN" sz="1400" dirty="0">
                <a:solidFill>
                  <a:srgbClr val="080808"/>
                </a:solidFill>
              </a:rPr>
              <a:t>=a[</a:t>
            </a:r>
            <a:r>
              <a:rPr lang="en-US" altLang="zh-CN" sz="1400" dirty="0" err="1">
                <a:solidFill>
                  <a:srgbClr val="080808"/>
                </a:solidFill>
              </a:rPr>
              <a:t>i</a:t>
            </a:r>
            <a:r>
              <a:rPr lang="en-US" altLang="zh-CN" sz="1400" dirty="0">
                <a:solidFill>
                  <a:srgbClr val="080808"/>
                </a:solidFill>
              </a:rPr>
              <a:t>]+b[</a:t>
            </a:r>
            <a:r>
              <a:rPr lang="en-US" altLang="zh-CN" sz="1400" dirty="0" err="1">
                <a:solidFill>
                  <a:srgbClr val="080808"/>
                </a:solidFill>
              </a:rPr>
              <a:t>i</a:t>
            </a:r>
            <a:r>
              <a:rPr lang="en-US" altLang="zh-CN" sz="1400" dirty="0">
                <a:solidFill>
                  <a:srgbClr val="080808"/>
                </a:solidFill>
              </a:rPr>
              <a:t>]+carry;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400" dirty="0" smtClean="0">
                <a:solidFill>
                  <a:srgbClr val="080808"/>
                </a:solidFill>
              </a:rPr>
              <a:t>            c[i+1</a:t>
            </a:r>
            <a:r>
              <a:rPr lang="en-US" altLang="zh-CN" sz="1400" dirty="0">
                <a:solidFill>
                  <a:srgbClr val="080808"/>
                </a:solidFill>
              </a:rPr>
              <a:t>]=tmp%10;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400" dirty="0" smtClean="0">
                <a:solidFill>
                  <a:srgbClr val="080808"/>
                </a:solidFill>
              </a:rPr>
              <a:t>            carry=</a:t>
            </a:r>
            <a:r>
              <a:rPr lang="en-US" altLang="zh-CN" sz="1400" dirty="0" err="1" smtClean="0">
                <a:solidFill>
                  <a:srgbClr val="080808"/>
                </a:solidFill>
              </a:rPr>
              <a:t>tmp</a:t>
            </a:r>
            <a:r>
              <a:rPr lang="en-US" altLang="zh-CN" sz="1400" dirty="0" smtClean="0">
                <a:solidFill>
                  <a:srgbClr val="080808"/>
                </a:solidFill>
              </a:rPr>
              <a:t>/10</a:t>
            </a:r>
            <a:r>
              <a:rPr lang="en-US" altLang="zh-CN" sz="1400" dirty="0">
                <a:solidFill>
                  <a:srgbClr val="080808"/>
                </a:solidFill>
              </a:rPr>
              <a:t>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400" dirty="0" smtClean="0">
                <a:solidFill>
                  <a:srgbClr val="080808"/>
                </a:solidFill>
              </a:rPr>
              <a:t>       }</a:t>
            </a:r>
            <a:endParaRPr lang="en-US" altLang="zh-CN" sz="1400" dirty="0">
              <a:solidFill>
                <a:srgbClr val="080808"/>
              </a:solidFill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1400" dirty="0" smtClean="0">
                <a:solidFill>
                  <a:srgbClr val="080808"/>
                </a:solidFill>
              </a:rPr>
              <a:t>        c[0</a:t>
            </a:r>
            <a:r>
              <a:rPr lang="en-US" altLang="zh-CN" sz="1400" dirty="0">
                <a:solidFill>
                  <a:srgbClr val="080808"/>
                </a:solidFill>
              </a:rPr>
              <a:t>]=carry;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400" dirty="0">
                <a:solidFill>
                  <a:srgbClr val="080808"/>
                </a:solidFill>
              </a:rPr>
              <a:t>	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400" dirty="0" smtClean="0">
                <a:solidFill>
                  <a:srgbClr val="080808"/>
                </a:solidFill>
              </a:rPr>
              <a:t>        </a:t>
            </a:r>
            <a:r>
              <a:rPr lang="en-US" altLang="zh-CN" sz="1400" dirty="0" err="1" smtClean="0">
                <a:solidFill>
                  <a:srgbClr val="080808"/>
                </a:solidFill>
              </a:rPr>
              <a:t>printf</a:t>
            </a:r>
            <a:r>
              <a:rPr lang="en-US" altLang="zh-CN" sz="1400" dirty="0" smtClean="0">
                <a:solidFill>
                  <a:srgbClr val="080808"/>
                </a:solidFill>
              </a:rPr>
              <a:t>("\n");  </a:t>
            </a:r>
            <a:endParaRPr lang="en-US" altLang="zh-CN" sz="1400" dirty="0">
              <a:solidFill>
                <a:srgbClr val="080808"/>
              </a:solidFill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1400" dirty="0" smtClean="0">
                <a:solidFill>
                  <a:srgbClr val="080808"/>
                </a:solidFill>
              </a:rPr>
              <a:t>        for </a:t>
            </a:r>
            <a:r>
              <a:rPr lang="en-US" altLang="zh-CN" sz="1400" dirty="0">
                <a:solidFill>
                  <a:srgbClr val="080808"/>
                </a:solidFill>
              </a:rPr>
              <a:t>(</a:t>
            </a:r>
            <a:r>
              <a:rPr lang="en-US" altLang="zh-CN" sz="1400" dirty="0" err="1">
                <a:solidFill>
                  <a:srgbClr val="080808"/>
                </a:solidFill>
              </a:rPr>
              <a:t>int</a:t>
            </a:r>
            <a:r>
              <a:rPr lang="en-US" altLang="zh-CN" sz="1400" dirty="0">
                <a:solidFill>
                  <a:srgbClr val="080808"/>
                </a:solidFill>
              </a:rPr>
              <a:t> </a:t>
            </a:r>
            <a:r>
              <a:rPr lang="en-US" altLang="zh-CN" sz="1400" dirty="0" err="1">
                <a:solidFill>
                  <a:srgbClr val="080808"/>
                </a:solidFill>
              </a:rPr>
              <a:t>i</a:t>
            </a:r>
            <a:r>
              <a:rPr lang="en-US" altLang="zh-CN" sz="1400" dirty="0">
                <a:solidFill>
                  <a:srgbClr val="080808"/>
                </a:solidFill>
              </a:rPr>
              <a:t>=0;i&lt;=</a:t>
            </a:r>
            <a:r>
              <a:rPr lang="en-US" altLang="zh-CN" sz="1400" dirty="0" err="1">
                <a:solidFill>
                  <a:srgbClr val="080808"/>
                </a:solidFill>
              </a:rPr>
              <a:t>m;i</a:t>
            </a:r>
            <a:r>
              <a:rPr lang="en-US" altLang="zh-CN" sz="1400" dirty="0" smtClean="0">
                <a:solidFill>
                  <a:srgbClr val="080808"/>
                </a:solidFill>
              </a:rPr>
              <a:t>++) </a:t>
            </a:r>
            <a:r>
              <a:rPr lang="en-US" altLang="zh-CN" sz="1400" dirty="0" smtClean="0">
                <a:solidFill>
                  <a:srgbClr val="0000CC"/>
                </a:solidFill>
              </a:rPr>
              <a:t>//</a:t>
            </a:r>
            <a:r>
              <a:rPr lang="zh-CN" altLang="en-US" sz="1400" dirty="0" smtClean="0">
                <a:solidFill>
                  <a:srgbClr val="0000CC"/>
                </a:solidFill>
              </a:rPr>
              <a:t>输出计算和</a:t>
            </a:r>
            <a:endParaRPr lang="en-US" altLang="zh-CN" sz="1400" dirty="0">
              <a:solidFill>
                <a:srgbClr val="0000CC"/>
              </a:solidFill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1400" dirty="0" smtClean="0">
                <a:solidFill>
                  <a:srgbClr val="080808"/>
                </a:solidFill>
              </a:rPr>
              <a:t>             </a:t>
            </a:r>
            <a:r>
              <a:rPr lang="en-US" altLang="zh-CN" sz="1400" dirty="0" err="1">
                <a:solidFill>
                  <a:srgbClr val="080808"/>
                </a:solidFill>
              </a:rPr>
              <a:t>printf</a:t>
            </a:r>
            <a:r>
              <a:rPr lang="en-US" altLang="zh-CN" sz="1400" dirty="0">
                <a:solidFill>
                  <a:srgbClr val="080808"/>
                </a:solidFill>
              </a:rPr>
              <a:t>("%d ",c[</a:t>
            </a:r>
            <a:r>
              <a:rPr lang="en-US" altLang="zh-CN" sz="1400" dirty="0" err="1">
                <a:solidFill>
                  <a:srgbClr val="080808"/>
                </a:solidFill>
              </a:rPr>
              <a:t>i</a:t>
            </a:r>
            <a:r>
              <a:rPr lang="en-US" altLang="zh-CN" sz="1400" dirty="0">
                <a:solidFill>
                  <a:srgbClr val="080808"/>
                </a:solidFill>
              </a:rPr>
              <a:t>]);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400" dirty="0">
                <a:solidFill>
                  <a:srgbClr val="080808"/>
                </a:solidFill>
              </a:rPr>
              <a:t> } </a:t>
            </a:r>
            <a:endParaRPr lang="zh-CN" altLang="en-US" sz="1400" dirty="0">
              <a:solidFill>
                <a:srgbClr val="08080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4378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517669" y="1029999"/>
            <a:ext cx="7772400" cy="5048683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栈是一个先进后出</a:t>
            </a:r>
            <a:r>
              <a:rPr lang="zh-CN" altLang="en-US" sz="2000" dirty="0" smtClean="0"/>
              <a:t>的数据结构；</a:t>
            </a:r>
            <a:endParaRPr lang="en-US" altLang="zh-CN" sz="2000" dirty="0" smtClean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栈的操作主要有两个，这两个操作只在栈的一个端完成</a:t>
            </a:r>
            <a:endParaRPr lang="en-US" altLang="zh-CN" sz="2000" dirty="0" smtClean="0"/>
          </a:p>
          <a:p>
            <a:pPr marL="971550" lvl="1">
              <a:buFont typeface="Arial" panose="020B0604020202020204" pitchFamily="34" charset="0"/>
              <a:buChar char="•"/>
            </a:pPr>
            <a:r>
              <a:rPr lang="en-US" altLang="zh-CN" sz="1600" dirty="0" smtClean="0"/>
              <a:t>Push</a:t>
            </a:r>
            <a:r>
              <a:rPr lang="zh-CN" altLang="en-US" sz="1600" dirty="0" smtClean="0"/>
              <a:t>：入栈、进栈、压栈</a:t>
            </a:r>
            <a:endParaRPr lang="en-US" altLang="zh-CN" sz="1600" dirty="0" smtClean="0"/>
          </a:p>
          <a:p>
            <a:pPr marL="971550" lvl="1">
              <a:buFont typeface="Arial" panose="020B0604020202020204" pitchFamily="34" charset="0"/>
              <a:buChar char="•"/>
            </a:pPr>
            <a:r>
              <a:rPr lang="en-US" altLang="zh-CN" sz="1600" dirty="0" smtClean="0"/>
              <a:t>Pop</a:t>
            </a:r>
            <a:r>
              <a:rPr lang="zh-CN" altLang="en-US" sz="1600" dirty="0" smtClean="0"/>
              <a:t>：出栈，弹出</a:t>
            </a:r>
            <a:endParaRPr lang="en-US" altLang="zh-CN" sz="16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sz="2000" dirty="0"/>
          </a:p>
        </p:txBody>
      </p:sp>
      <p:sp>
        <p:nvSpPr>
          <p:cNvPr id="3" name="矩形 2"/>
          <p:cNvSpPr/>
          <p:nvPr/>
        </p:nvSpPr>
        <p:spPr>
          <a:xfrm>
            <a:off x="412357" y="324488"/>
            <a:ext cx="838874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7030A0"/>
                </a:solidFill>
                <a:latin typeface="+mj-lt"/>
                <a:ea typeface="+mj-ea"/>
                <a:cs typeface="+mj-cs"/>
              </a:rPr>
              <a:t>课后练习</a:t>
            </a:r>
            <a:r>
              <a:rPr lang="zh-CN" altLang="en-US" sz="2800" dirty="0" smtClean="0">
                <a:solidFill>
                  <a:srgbClr val="7030A0"/>
                </a:solidFill>
                <a:latin typeface="+mj-lt"/>
                <a:ea typeface="+mj-ea"/>
                <a:cs typeface="+mj-cs"/>
              </a:rPr>
              <a:t>：</a:t>
            </a:r>
            <a:r>
              <a:rPr lang="zh-CN" altLang="en-US" sz="2800" dirty="0" smtClean="0">
                <a:solidFill>
                  <a:srgbClr val="1A93C8"/>
                </a:solidFill>
                <a:latin typeface="+mj-lt"/>
                <a:ea typeface="+mj-ea"/>
                <a:cs typeface="+mj-cs"/>
              </a:rPr>
              <a:t>栈与栈的应用</a:t>
            </a:r>
            <a:endParaRPr lang="zh-CN" altLang="en-US" sz="2800" dirty="0">
              <a:solidFill>
                <a:srgbClr val="1A93C8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026" name="Picture 2" descr="在这里插入图片描述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3215" y="2347277"/>
            <a:ext cx="3429000" cy="3409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5575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517669" y="1029999"/>
            <a:ext cx="7772400" cy="5048683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可以利用一维数组实现栈</a:t>
            </a:r>
            <a:endParaRPr lang="en-US" altLang="zh-CN" sz="2000" dirty="0" smtClean="0"/>
          </a:p>
          <a:p>
            <a:pPr marL="971550" lvl="1">
              <a:buFont typeface="Arial" panose="020B0604020202020204" pitchFamily="34" charset="0"/>
              <a:buChar char="•"/>
            </a:pPr>
            <a:r>
              <a:rPr lang="en-US" altLang="zh-CN" sz="1800" dirty="0"/>
              <a:t>c</a:t>
            </a:r>
            <a:r>
              <a:rPr lang="en-US" altLang="zh-CN" sz="1800" dirty="0" smtClean="0"/>
              <a:t>har stack[100];</a:t>
            </a:r>
          </a:p>
          <a:p>
            <a:pPr marL="971550" lvl="1">
              <a:buFont typeface="Arial" panose="020B0604020202020204" pitchFamily="34" charset="0"/>
              <a:buChar char="•"/>
            </a:pPr>
            <a:r>
              <a:rPr lang="en-US" altLang="zh-CN" sz="1800" dirty="0" smtClean="0"/>
              <a:t>char </a:t>
            </a:r>
            <a:r>
              <a:rPr lang="zh-CN" altLang="en-US" sz="1800" dirty="0" smtClean="0"/>
              <a:t>*</a:t>
            </a:r>
            <a:r>
              <a:rPr lang="en-US" altLang="zh-CN" sz="1800" dirty="0" err="1" smtClean="0"/>
              <a:t>sp</a:t>
            </a:r>
            <a:r>
              <a:rPr lang="en-US" altLang="zh-CN" sz="1800" dirty="0" smtClean="0"/>
              <a:t>=stack; //</a:t>
            </a:r>
            <a:r>
              <a:rPr lang="zh-CN" altLang="en-US" sz="1800" dirty="0" smtClean="0"/>
              <a:t>栈指针</a:t>
            </a:r>
            <a:endParaRPr lang="en-US" altLang="zh-CN" sz="1800" dirty="0" smtClean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例如，利用栈结构判断小</a:t>
            </a:r>
            <a:r>
              <a:rPr lang="en-US" altLang="zh-CN" sz="2000" dirty="0" smtClean="0"/>
              <a:t>(</a:t>
            </a:r>
            <a:r>
              <a:rPr lang="zh-CN" altLang="en-US" sz="2000" dirty="0" smtClean="0"/>
              <a:t>大</a:t>
            </a:r>
            <a:r>
              <a:rPr lang="en-US" altLang="zh-CN" sz="2000" dirty="0" smtClean="0"/>
              <a:t>)</a:t>
            </a:r>
            <a:r>
              <a:rPr lang="zh-CN" altLang="en-US" sz="2000" dirty="0" smtClean="0"/>
              <a:t>括号是否匹配</a:t>
            </a:r>
            <a:endParaRPr lang="en-US" altLang="zh-CN" sz="2000" dirty="0" smtClean="0"/>
          </a:p>
          <a:p>
            <a:pPr marL="971550" lvl="1">
              <a:buFont typeface="Arial" panose="020B0604020202020204" pitchFamily="34" charset="0"/>
              <a:buChar char="•"/>
            </a:pPr>
            <a:r>
              <a:rPr lang="zh-CN" altLang="en-US" sz="1800" dirty="0" smtClean="0"/>
              <a:t>输入一个仅包含小括号的字符串，判断字符串中的括号是否匹配；</a:t>
            </a:r>
            <a:endParaRPr lang="en-US" altLang="zh-CN" sz="1800" dirty="0" smtClean="0"/>
          </a:p>
          <a:p>
            <a:pPr marL="971550" lvl="1">
              <a:buFont typeface="Arial" panose="020B0604020202020204" pitchFamily="34" charset="0"/>
              <a:buChar char="•"/>
            </a:pPr>
            <a:r>
              <a:rPr lang="zh-CN" altLang="en-US" sz="1800" dirty="0" smtClean="0"/>
              <a:t>如果匹配，输出</a:t>
            </a:r>
            <a:r>
              <a:rPr lang="en-US" altLang="zh-CN" sz="1800" dirty="0" smtClean="0"/>
              <a:t>yes</a:t>
            </a:r>
            <a:r>
              <a:rPr lang="zh-CN" altLang="en-US" sz="1800" dirty="0" smtClean="0"/>
              <a:t>，否则，输出</a:t>
            </a:r>
            <a:r>
              <a:rPr lang="en-US" altLang="zh-CN" sz="1800" dirty="0" smtClean="0"/>
              <a:t>no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参考代码见下页。</a:t>
            </a:r>
            <a:endParaRPr lang="en-US" altLang="zh-CN" sz="2000" dirty="0" smtClean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编译程序匹配括号使用的就是栈结构。</a:t>
            </a: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sz="2000" dirty="0"/>
          </a:p>
        </p:txBody>
      </p:sp>
      <p:sp>
        <p:nvSpPr>
          <p:cNvPr id="3" name="矩形 2"/>
          <p:cNvSpPr/>
          <p:nvPr/>
        </p:nvSpPr>
        <p:spPr>
          <a:xfrm>
            <a:off x="412357" y="324488"/>
            <a:ext cx="838874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7030A0"/>
                </a:solidFill>
                <a:latin typeface="+mj-lt"/>
                <a:ea typeface="+mj-ea"/>
                <a:cs typeface="+mj-cs"/>
              </a:rPr>
              <a:t>课后练习</a:t>
            </a:r>
            <a:r>
              <a:rPr lang="zh-CN" altLang="en-US" sz="2800" dirty="0" smtClean="0">
                <a:solidFill>
                  <a:srgbClr val="7030A0"/>
                </a:solidFill>
                <a:latin typeface="+mj-lt"/>
                <a:ea typeface="+mj-ea"/>
                <a:cs typeface="+mj-cs"/>
              </a:rPr>
              <a:t>：</a:t>
            </a:r>
            <a:r>
              <a:rPr lang="zh-CN" altLang="en-US" sz="2800" dirty="0" smtClean="0">
                <a:solidFill>
                  <a:srgbClr val="1A93C8"/>
                </a:solidFill>
                <a:latin typeface="+mj-lt"/>
                <a:ea typeface="+mj-ea"/>
                <a:cs typeface="+mj-cs"/>
              </a:rPr>
              <a:t>栈与栈的应用（</a:t>
            </a:r>
            <a:r>
              <a:rPr lang="en-US" altLang="zh-CN" sz="2800" dirty="0" smtClean="0">
                <a:solidFill>
                  <a:srgbClr val="1A93C8"/>
                </a:solidFill>
                <a:latin typeface="+mj-lt"/>
                <a:ea typeface="+mj-ea"/>
                <a:cs typeface="+mj-cs"/>
              </a:rPr>
              <a:t>Cont.</a:t>
            </a:r>
            <a:r>
              <a:rPr lang="zh-CN" altLang="en-US" sz="2800" dirty="0" smtClean="0">
                <a:solidFill>
                  <a:srgbClr val="1A93C8"/>
                </a:solidFill>
                <a:latin typeface="+mj-lt"/>
                <a:ea typeface="+mj-ea"/>
                <a:cs typeface="+mj-cs"/>
              </a:rPr>
              <a:t>）</a:t>
            </a:r>
            <a:endParaRPr lang="zh-CN" altLang="en-US" sz="2800" dirty="0">
              <a:solidFill>
                <a:srgbClr val="1A93C8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30772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12357" y="324488"/>
            <a:ext cx="838874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7030A0"/>
                </a:solidFill>
                <a:latin typeface="+mj-lt"/>
                <a:ea typeface="+mj-ea"/>
                <a:cs typeface="+mj-cs"/>
              </a:rPr>
              <a:t>课后练习</a:t>
            </a:r>
            <a:r>
              <a:rPr lang="zh-CN" altLang="en-US" sz="2800" dirty="0" smtClean="0">
                <a:solidFill>
                  <a:srgbClr val="7030A0"/>
                </a:solidFill>
                <a:latin typeface="+mj-lt"/>
                <a:ea typeface="+mj-ea"/>
                <a:cs typeface="+mj-cs"/>
              </a:rPr>
              <a:t>：</a:t>
            </a:r>
            <a:r>
              <a:rPr lang="zh-CN" altLang="en-US" sz="2800" dirty="0" smtClean="0">
                <a:solidFill>
                  <a:srgbClr val="1A93C8"/>
                </a:solidFill>
                <a:latin typeface="+mj-lt"/>
                <a:ea typeface="+mj-ea"/>
                <a:cs typeface="+mj-cs"/>
              </a:rPr>
              <a:t>栈与栈的应用（</a:t>
            </a:r>
            <a:r>
              <a:rPr lang="en-US" altLang="zh-CN" sz="2800" dirty="0" smtClean="0">
                <a:solidFill>
                  <a:srgbClr val="1A93C8"/>
                </a:solidFill>
                <a:latin typeface="+mj-lt"/>
                <a:ea typeface="+mj-ea"/>
                <a:cs typeface="+mj-cs"/>
              </a:rPr>
              <a:t>Cont.</a:t>
            </a:r>
            <a:r>
              <a:rPr lang="zh-CN" altLang="en-US" sz="2800" dirty="0" smtClean="0">
                <a:solidFill>
                  <a:srgbClr val="1A93C8"/>
                </a:solidFill>
                <a:latin typeface="+mj-lt"/>
                <a:ea typeface="+mj-ea"/>
                <a:cs typeface="+mj-cs"/>
              </a:rPr>
              <a:t>）</a:t>
            </a:r>
            <a:endParaRPr lang="zh-CN" altLang="en-US" sz="2800" dirty="0">
              <a:solidFill>
                <a:srgbClr val="1A93C8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357" y="950976"/>
            <a:ext cx="5592861" cy="5537072"/>
          </a:xfrm>
          <a:prstGeom prst="rect">
            <a:avLst/>
          </a:prstGeom>
        </p:spPr>
      </p:pic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3510835"/>
              </p:ext>
            </p:extLst>
          </p:nvPr>
        </p:nvGraphicFramePr>
        <p:xfrm>
          <a:off x="6135624" y="1865312"/>
          <a:ext cx="2450592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6384">
                  <a:extLst>
                    <a:ext uri="{9D8B030D-6E8A-4147-A177-3AD203B41FA5}">
                      <a16:colId xmlns:a16="http://schemas.microsoft.com/office/drawing/2014/main" val="179834388"/>
                    </a:ext>
                  </a:extLst>
                </a:gridCol>
                <a:gridCol w="676656">
                  <a:extLst>
                    <a:ext uri="{9D8B030D-6E8A-4147-A177-3AD203B41FA5}">
                      <a16:colId xmlns:a16="http://schemas.microsoft.com/office/drawing/2014/main" val="2286556385"/>
                    </a:ext>
                  </a:extLst>
                </a:gridCol>
                <a:gridCol w="987552">
                  <a:extLst>
                    <a:ext uri="{9D8B030D-6E8A-4147-A177-3AD203B41FA5}">
                      <a16:colId xmlns:a16="http://schemas.microsoft.com/office/drawing/2014/main" val="37597047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080808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080808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080808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69066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080808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080808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080808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54028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080808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080808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080808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0759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080808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080808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080808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38527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080808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080808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080808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3331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080808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080808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080808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7228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080808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080808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rgbClr val="080808"/>
                          </a:solidFill>
                        </a:rPr>
                        <a:t>…</a:t>
                      </a:r>
                      <a:endParaRPr lang="zh-CN" altLang="en-US" dirty="0">
                        <a:solidFill>
                          <a:srgbClr val="080808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6479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080808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080808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>
                          <a:solidFill>
                            <a:srgbClr val="080808"/>
                          </a:solidFill>
                        </a:rPr>
                        <a:t>stack[2]</a:t>
                      </a:r>
                      <a:endParaRPr lang="zh-CN" altLang="en-US" dirty="0" smtClean="0">
                        <a:solidFill>
                          <a:srgbClr val="080808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6383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080808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080808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>
                          <a:solidFill>
                            <a:srgbClr val="080808"/>
                          </a:solidFill>
                        </a:rPr>
                        <a:t>stack[1]</a:t>
                      </a:r>
                      <a:endParaRPr lang="zh-CN" altLang="en-US" dirty="0" smtClean="0">
                        <a:solidFill>
                          <a:srgbClr val="080808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32081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 smtClean="0">
                          <a:solidFill>
                            <a:srgbClr val="080808"/>
                          </a:solidFill>
                        </a:rPr>
                        <a:t>sp</a:t>
                      </a:r>
                      <a:endParaRPr lang="zh-CN" altLang="en-US" dirty="0">
                        <a:solidFill>
                          <a:srgbClr val="080808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rgbClr val="080808"/>
                          </a:solidFill>
                        </a:rPr>
                        <a:t>A</a:t>
                      </a:r>
                      <a:endParaRPr lang="zh-CN" altLang="en-US" dirty="0">
                        <a:solidFill>
                          <a:srgbClr val="080808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rgbClr val="080808"/>
                          </a:solidFill>
                        </a:rPr>
                        <a:t>stack[0]</a:t>
                      </a:r>
                      <a:endParaRPr lang="zh-CN" altLang="en-US" dirty="0">
                        <a:solidFill>
                          <a:srgbClr val="080808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4495713"/>
                  </a:ext>
                </a:extLst>
              </a:tr>
            </a:tbl>
          </a:graphicData>
        </a:graphic>
      </p:graphicFrame>
      <p:cxnSp>
        <p:nvCxnSpPr>
          <p:cNvPr id="8" name="直接箭头连接符 7"/>
          <p:cNvCxnSpPr/>
          <p:nvPr/>
        </p:nvCxnSpPr>
        <p:spPr bwMode="auto">
          <a:xfrm>
            <a:off x="6528816" y="5413248"/>
            <a:ext cx="292608" cy="914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</p:spPr>
      </p:cxnSp>
    </p:spTree>
    <p:extLst>
      <p:ext uri="{BB962C8B-B14F-4D97-AF65-F5344CB8AC3E}">
        <p14:creationId xmlns:p14="http://schemas.microsoft.com/office/powerpoint/2010/main" val="1478322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用</a:t>
            </a:r>
            <a:r>
              <a:rPr lang="en-US" altLang="zh-CN" dirty="0" err="1"/>
              <a:t>typedef</a:t>
            </a:r>
            <a:r>
              <a:rPr lang="zh-CN" altLang="en-US" dirty="0"/>
              <a:t>定义类型定义字符串类型</a:t>
            </a:r>
            <a:r>
              <a:rPr lang="en-US" altLang="zh-CN" dirty="0"/>
              <a:t>—*STRING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先按定义字符串变量形式书写：</a:t>
            </a:r>
            <a:r>
              <a:rPr lang="en-US" altLang="zh-CN" dirty="0">
                <a:solidFill>
                  <a:srgbClr val="006600"/>
                </a:solidFill>
              </a:rPr>
              <a:t>const char *str</a:t>
            </a:r>
            <a:r>
              <a:rPr lang="zh-CN" altLang="en-US" dirty="0">
                <a:solidFill>
                  <a:srgbClr val="006600"/>
                </a:solidFill>
              </a:rPr>
              <a:t>；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将变量名</a:t>
            </a:r>
            <a:r>
              <a:rPr lang="en-US" altLang="zh-CN" dirty="0" err="1">
                <a:solidFill>
                  <a:srgbClr val="030DCD"/>
                </a:solidFill>
              </a:rPr>
              <a:t>str</a:t>
            </a:r>
            <a:r>
              <a:rPr lang="zh-CN" altLang="en-US" dirty="0"/>
              <a:t>换成自己指定的类型名，如</a:t>
            </a:r>
            <a:r>
              <a:rPr lang="en-US" altLang="zh-CN" dirty="0">
                <a:solidFill>
                  <a:srgbClr val="030DCD"/>
                </a:solidFill>
              </a:rPr>
              <a:t>STRING</a:t>
            </a:r>
            <a:r>
              <a:rPr lang="zh-CN" altLang="en-US" dirty="0"/>
              <a:t>：</a:t>
            </a:r>
          </a:p>
          <a:p>
            <a:pPr marL="971550" lvl="1"/>
            <a:r>
              <a:rPr lang="zh-CN" altLang="en-US" dirty="0"/>
              <a:t> </a:t>
            </a:r>
            <a:r>
              <a:rPr lang="en-US" altLang="zh-CN" dirty="0">
                <a:solidFill>
                  <a:srgbClr val="006600"/>
                </a:solidFill>
              </a:rPr>
              <a:t>const char  </a:t>
            </a:r>
            <a:r>
              <a:rPr lang="en-US" altLang="zh-CN" dirty="0" smtClean="0">
                <a:solidFill>
                  <a:srgbClr val="006600"/>
                </a:solidFill>
              </a:rPr>
              <a:t>*</a:t>
            </a:r>
            <a:r>
              <a:rPr lang="en-US" altLang="zh-CN" dirty="0" smtClean="0">
                <a:solidFill>
                  <a:srgbClr val="030DCD"/>
                </a:solidFill>
              </a:rPr>
              <a:t>STRING</a:t>
            </a:r>
            <a:r>
              <a:rPr lang="en-US" altLang="zh-CN" dirty="0">
                <a:solidFill>
                  <a:srgbClr val="030DCD"/>
                </a:solidFill>
              </a:rPr>
              <a:t>;</a:t>
            </a:r>
            <a:endParaRPr lang="zh-CN" altLang="en-US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在前面加上</a:t>
            </a:r>
            <a:r>
              <a:rPr lang="en-US" altLang="zh-CN" dirty="0" err="1">
                <a:solidFill>
                  <a:srgbClr val="C00000"/>
                </a:solidFill>
              </a:rPr>
              <a:t>typedef</a:t>
            </a:r>
            <a:r>
              <a:rPr lang="zh-CN" altLang="en-US" dirty="0"/>
              <a:t>，得到</a:t>
            </a:r>
          </a:p>
          <a:p>
            <a:pPr marL="971550" lvl="1"/>
            <a:r>
              <a:rPr lang="zh-CN" altLang="en-US" dirty="0"/>
              <a:t>  </a:t>
            </a:r>
            <a:r>
              <a:rPr lang="en-US" altLang="zh-CN" dirty="0">
                <a:solidFill>
                  <a:srgbClr val="C00000"/>
                </a:solidFill>
              </a:rPr>
              <a:t>typedef </a:t>
            </a:r>
            <a:r>
              <a:rPr lang="en-US" altLang="zh-CN" dirty="0">
                <a:solidFill>
                  <a:srgbClr val="006600"/>
                </a:solidFill>
              </a:rPr>
              <a:t>const char  </a:t>
            </a:r>
            <a:r>
              <a:rPr lang="en-US" altLang="zh-CN" dirty="0" smtClean="0">
                <a:solidFill>
                  <a:srgbClr val="006600"/>
                </a:solidFill>
              </a:rPr>
              <a:t>*</a:t>
            </a:r>
            <a:r>
              <a:rPr lang="en-US" altLang="zh-CN" dirty="0" smtClean="0">
                <a:solidFill>
                  <a:srgbClr val="030DCD"/>
                </a:solidFill>
              </a:rPr>
              <a:t>STRING</a:t>
            </a:r>
            <a:r>
              <a:rPr lang="zh-CN" altLang="en-US" dirty="0" smtClean="0"/>
              <a:t>；</a:t>
            </a:r>
            <a:endParaRPr lang="en-US" altLang="zh-CN" dirty="0" smtClean="0"/>
          </a:p>
          <a:p>
            <a:pPr marL="971550" lvl="1"/>
            <a:r>
              <a:rPr lang="en-US" altLang="zh-CN" dirty="0" smtClean="0">
                <a:solidFill>
                  <a:srgbClr val="7030A0"/>
                </a:solidFill>
              </a:rPr>
              <a:t>STRING</a:t>
            </a:r>
            <a:r>
              <a:rPr lang="en-US" altLang="zh-CN" dirty="0" smtClean="0">
                <a:solidFill>
                  <a:srgbClr val="030DCD"/>
                </a:solidFill>
              </a:rPr>
              <a:t> </a:t>
            </a:r>
            <a:r>
              <a:rPr lang="zh-CN" altLang="en-US" dirty="0" smtClean="0"/>
              <a:t>就是</a:t>
            </a:r>
            <a:r>
              <a:rPr lang="en-US" altLang="zh-CN" dirty="0" err="1">
                <a:solidFill>
                  <a:srgbClr val="7030A0"/>
                </a:solidFill>
              </a:rPr>
              <a:t>const</a:t>
            </a:r>
            <a:r>
              <a:rPr lang="en-US" altLang="zh-CN" dirty="0">
                <a:solidFill>
                  <a:srgbClr val="7030A0"/>
                </a:solidFill>
              </a:rPr>
              <a:t> char  *</a:t>
            </a:r>
            <a:endParaRPr lang="zh-CN" altLang="en-US" dirty="0">
              <a:solidFill>
                <a:srgbClr val="7030A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 利用</a:t>
            </a:r>
            <a:r>
              <a:rPr lang="en-US" altLang="zh-CN" dirty="0">
                <a:solidFill>
                  <a:srgbClr val="030DCD"/>
                </a:solidFill>
              </a:rPr>
              <a:t>STRING</a:t>
            </a:r>
            <a:r>
              <a:rPr lang="zh-CN" altLang="en-US" dirty="0"/>
              <a:t>作为数据类型定义变量</a:t>
            </a:r>
            <a:endParaRPr lang="en-US" altLang="zh-CN" dirty="0"/>
          </a:p>
          <a:p>
            <a:pPr marL="971550" lvl="1"/>
            <a:r>
              <a:rPr lang="en-US" altLang="zh-CN" dirty="0">
                <a:solidFill>
                  <a:srgbClr val="030DCD"/>
                </a:solidFill>
              </a:rPr>
              <a:t>STRING </a:t>
            </a:r>
            <a:r>
              <a:rPr lang="en-US" altLang="zh-CN" dirty="0"/>
              <a:t>str</a:t>
            </a:r>
            <a:r>
              <a:rPr lang="zh-CN" altLang="en-US" dirty="0"/>
              <a:t>； </a:t>
            </a:r>
            <a:r>
              <a:rPr lang="en-US" altLang="zh-CN" dirty="0"/>
              <a:t>//</a:t>
            </a:r>
            <a:r>
              <a:rPr lang="zh-CN" altLang="en-US" dirty="0"/>
              <a:t>与</a:t>
            </a:r>
            <a:r>
              <a:rPr lang="en-US" altLang="zh-CN" dirty="0">
                <a:solidFill>
                  <a:srgbClr val="006600"/>
                </a:solidFill>
              </a:rPr>
              <a:t>const char *str</a:t>
            </a:r>
            <a:r>
              <a:rPr lang="zh-CN" altLang="en-US" dirty="0"/>
              <a:t>等价；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57310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7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684213" y="908050"/>
            <a:ext cx="8188325" cy="5430405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"/>
              </a:rPr>
              <a:t>数组元素在内存中的</a:t>
            </a:r>
            <a:r>
              <a:rPr lang="zh-CN" altLang="en-US" sz="2000" dirty="0">
                <a:solidFill>
                  <a:srgbClr val="FF3300"/>
                </a:solidFill>
                <a:latin typeface=""/>
              </a:rPr>
              <a:t>存储顺序</a:t>
            </a:r>
            <a:r>
              <a:rPr lang="zh-CN" altLang="en-US" sz="2000" dirty="0">
                <a:latin typeface=""/>
              </a:rPr>
              <a:t>：</a:t>
            </a:r>
            <a:r>
              <a:rPr lang="zh-CN" altLang="en-US" sz="2000" dirty="0">
                <a:solidFill>
                  <a:srgbClr val="006600"/>
                </a:solidFill>
                <a:latin typeface=""/>
              </a:rPr>
              <a:t>按行存储在内存的连续空间中</a:t>
            </a:r>
            <a:r>
              <a:rPr lang="zh-CN" altLang="en-US" sz="2000" dirty="0">
                <a:latin typeface=""/>
              </a:rPr>
              <a:t>；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"/>
              </a:rPr>
              <a:t>利用字符数组处理字符串的特点</a:t>
            </a:r>
            <a:endParaRPr lang="en-US" altLang="zh-CN" sz="2000" dirty="0">
              <a:latin typeface=""/>
            </a:endParaRPr>
          </a:p>
          <a:p>
            <a:pPr marL="971550" lvl="1"/>
            <a:r>
              <a:rPr lang="zh-CN" altLang="en-US" sz="1800" dirty="0">
                <a:solidFill>
                  <a:srgbClr val="FF3300"/>
                </a:solidFill>
                <a:latin typeface=""/>
              </a:rPr>
              <a:t>字符串作为字符数组</a:t>
            </a:r>
            <a:r>
              <a:rPr lang="zh-CN" altLang="en-US" sz="1800" dirty="0">
                <a:latin typeface=""/>
              </a:rPr>
              <a:t>处理、最后一字节加</a:t>
            </a:r>
            <a:r>
              <a:rPr lang="zh-CN" altLang="en-US" sz="1800" dirty="0">
                <a:solidFill>
                  <a:srgbClr val="FF3300"/>
                </a:solidFill>
                <a:latin typeface=""/>
              </a:rPr>
              <a:t>‘\0’；</a:t>
            </a:r>
            <a:endParaRPr lang="zh-CN" altLang="en-US" sz="1800" dirty="0">
              <a:latin typeface="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字符数组与字符串</a:t>
            </a:r>
            <a:endParaRPr lang="en-US" altLang="zh-CN" sz="2000" dirty="0"/>
          </a:p>
          <a:p>
            <a:pPr marL="971550" lvl="1"/>
            <a:r>
              <a:rPr lang="zh-CN" altLang="en-US" sz="1800" dirty="0">
                <a:solidFill>
                  <a:srgbClr val="0000CC"/>
                </a:solidFill>
              </a:rPr>
              <a:t>通常将一个字符数组视为一个字符串，并利用字符指针访问字符数组所代表的字符串；</a:t>
            </a:r>
            <a:endParaRPr lang="en-US" altLang="zh-CN" sz="1800" dirty="0">
              <a:solidFill>
                <a:srgbClr val="0000CC"/>
              </a:solidFill>
            </a:endParaRPr>
          </a:p>
          <a:p>
            <a:pPr marL="971550" lvl="1"/>
            <a:r>
              <a:rPr lang="en-US" altLang="zh-CN" sz="1800" dirty="0"/>
              <a:t>char </a:t>
            </a:r>
            <a:r>
              <a:rPr lang="en-US" altLang="zh-CN" sz="1800" dirty="0" err="1"/>
              <a:t>str</a:t>
            </a:r>
            <a:r>
              <a:rPr lang="en-US" altLang="zh-CN" sz="1800" dirty="0"/>
              <a:t>[20], *p=</a:t>
            </a:r>
            <a:r>
              <a:rPr lang="en-US" altLang="zh-CN" sz="1800" dirty="0" err="1"/>
              <a:t>str</a:t>
            </a:r>
            <a:r>
              <a:rPr lang="en-US" altLang="zh-CN" sz="1800" dirty="0"/>
              <a:t>;      </a:t>
            </a:r>
          </a:p>
          <a:p>
            <a:pPr marL="1200150" lvl="2"/>
            <a:r>
              <a:rPr lang="en-US" altLang="zh-CN" sz="1600" dirty="0"/>
              <a:t>  p++, p--, *p</a:t>
            </a:r>
            <a:r>
              <a:rPr lang="zh-CN" altLang="en-US" sz="1600" dirty="0"/>
              <a:t>的含义；   </a:t>
            </a:r>
            <a:r>
              <a:rPr lang="en-US" altLang="zh-CN" sz="1600" dirty="0"/>
              <a:t>//</a:t>
            </a:r>
            <a:r>
              <a:rPr lang="zh-CN" altLang="en-US" sz="1600" dirty="0"/>
              <a:t>视字符数组为一个字符串；</a:t>
            </a:r>
            <a:endParaRPr lang="en-US" altLang="zh-CN" sz="1600" dirty="0"/>
          </a:p>
          <a:p>
            <a:pPr marL="971550" lvl="1"/>
            <a:r>
              <a:rPr lang="en-US" altLang="zh-CN" sz="1800" dirty="0" err="1">
                <a:solidFill>
                  <a:srgbClr val="C00000"/>
                </a:solidFill>
              </a:rPr>
              <a:t>const</a:t>
            </a:r>
            <a:r>
              <a:rPr lang="en-US" altLang="zh-CN" sz="1800" dirty="0">
                <a:solidFill>
                  <a:srgbClr val="C00000"/>
                </a:solidFill>
              </a:rPr>
              <a:t> char  *p=“…..”; </a:t>
            </a:r>
          </a:p>
          <a:p>
            <a:pPr marL="1200150" lvl="2"/>
            <a:r>
              <a:rPr lang="zh-CN" altLang="en-US" sz="1600" dirty="0">
                <a:solidFill>
                  <a:srgbClr val="C00000"/>
                </a:solidFill>
              </a:rPr>
              <a:t>定义一个字符串常量</a:t>
            </a:r>
            <a:endParaRPr lang="en-US" altLang="zh-CN" sz="1600" dirty="0"/>
          </a:p>
          <a:p>
            <a:pPr marL="1200150" lvl="2"/>
            <a:r>
              <a:rPr lang="en-US" altLang="zh-CN" sz="1600" dirty="0"/>
              <a:t>p++, p--, *p</a:t>
            </a:r>
            <a:r>
              <a:rPr lang="zh-CN" altLang="en-US" sz="1600" dirty="0"/>
              <a:t>，</a:t>
            </a:r>
            <a:r>
              <a:rPr lang="en-US" altLang="zh-CN" sz="1600" dirty="0"/>
              <a:t>p[0], p[1],…</a:t>
            </a:r>
            <a:r>
              <a:rPr lang="zh-CN" altLang="en-US" sz="1600" dirty="0"/>
              <a:t>的含义； </a:t>
            </a:r>
            <a:endParaRPr lang="en-US" altLang="zh-CN" sz="16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注意</a:t>
            </a:r>
            <a:r>
              <a:rPr lang="en-US" altLang="zh-CN" sz="2000" dirty="0">
                <a:solidFill>
                  <a:srgbClr val="C00000"/>
                </a:solidFill>
              </a:rPr>
              <a:t>char  *p</a:t>
            </a:r>
            <a:r>
              <a:rPr lang="zh-CN" altLang="en-US" sz="2000" dirty="0"/>
              <a:t>与</a:t>
            </a:r>
            <a:r>
              <a:rPr lang="en-US" altLang="zh-CN" sz="2000" dirty="0" err="1">
                <a:solidFill>
                  <a:srgbClr val="C00000"/>
                </a:solidFill>
              </a:rPr>
              <a:t>const</a:t>
            </a:r>
            <a:r>
              <a:rPr lang="en-US" altLang="zh-CN" sz="2000" dirty="0">
                <a:solidFill>
                  <a:srgbClr val="C00000"/>
                </a:solidFill>
              </a:rPr>
              <a:t> char  *p</a:t>
            </a:r>
            <a:r>
              <a:rPr lang="zh-CN" altLang="en-US" sz="2000" dirty="0">
                <a:solidFill>
                  <a:srgbClr val="0000CC"/>
                </a:solidFill>
              </a:rPr>
              <a:t>在处理</a:t>
            </a:r>
            <a:r>
              <a:rPr lang="zh-CN" altLang="en-US" sz="2000" b="1" dirty="0">
                <a:solidFill>
                  <a:srgbClr val="006600"/>
                </a:solidFill>
              </a:rPr>
              <a:t>字符数组</a:t>
            </a:r>
            <a:r>
              <a:rPr lang="zh-CN" altLang="en-US" sz="2000" dirty="0">
                <a:solidFill>
                  <a:srgbClr val="0000CC"/>
                </a:solidFill>
              </a:rPr>
              <a:t>时的区别</a:t>
            </a:r>
            <a:r>
              <a:rPr lang="zh-CN" altLang="en-US" sz="2000" dirty="0">
                <a:solidFill>
                  <a:srgbClr val="C00000"/>
                </a:solidFill>
              </a:rPr>
              <a:t>；</a:t>
            </a: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"/>
              </a:rPr>
              <a:t>字符串处理函数的应用。</a:t>
            </a:r>
          </a:p>
          <a:p>
            <a:pPr marL="342900" indent="-342900">
              <a:lnSpc>
                <a:spcPct val="90000"/>
              </a:lnSpc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495301" y="337761"/>
            <a:ext cx="7453743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2800" b="1" dirty="0">
                <a:solidFill>
                  <a:srgbClr val="1A93C8"/>
                </a:solidFill>
                <a:latin typeface="+mn-lt"/>
                <a:ea typeface="+mj-ea"/>
                <a:cs typeface="+mj-cs"/>
              </a:rPr>
              <a:t>主要内容</a:t>
            </a:r>
          </a:p>
        </p:txBody>
      </p:sp>
    </p:spTree>
    <p:extLst>
      <p:ext uri="{BB962C8B-B14F-4D97-AF65-F5344CB8AC3E}">
        <p14:creationId xmlns:p14="http://schemas.microsoft.com/office/powerpoint/2010/main" val="2723702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/>
          <p:cNvSpPr>
            <a:spLocks noChangeArrowheads="1"/>
          </p:cNvSpPr>
          <p:nvPr/>
        </p:nvSpPr>
        <p:spPr bwMode="auto">
          <a:xfrm>
            <a:off x="6511925" y="56769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C0107C6E-6428-484D-8BFF-2A38D99BDED2}" type="slidenum">
              <a:rPr lang="en-US" altLang="zh-CN" sz="1400"/>
              <a:pPr algn="r"/>
              <a:t>73</a:t>
            </a:fld>
            <a:endParaRPr lang="en-US" altLang="zh-CN" sz="1400"/>
          </a:p>
        </p:txBody>
      </p:sp>
      <p:pic>
        <p:nvPicPr>
          <p:cNvPr id="19459" name="Picture 3" descr="sdu01_0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12125" y="3317875"/>
            <a:ext cx="990600" cy="963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0" name="Picture 4" descr="sdu03_01s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045325" y="4384675"/>
            <a:ext cx="9906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1" name="Picture 5" descr="sdu04_05s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112125" y="4384675"/>
            <a:ext cx="990600" cy="911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2" name="Picture 6" descr="sdu06_03s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045325" y="5375275"/>
            <a:ext cx="9906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3" name="Picture 7" descr="sdu01_16s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8112125" y="5370513"/>
            <a:ext cx="990600" cy="919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4" name="Picture 8" descr="sdu05_04s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940425" y="5375275"/>
            <a:ext cx="10287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465" name="Rectangle 10"/>
          <p:cNvSpPr>
            <a:spLocks noGrp="1" noChangeArrowheads="1"/>
          </p:cNvSpPr>
          <p:nvPr>
            <p:ph type="title"/>
          </p:nvPr>
        </p:nvSpPr>
        <p:spPr>
          <a:xfrm>
            <a:off x="1052802" y="1579419"/>
            <a:ext cx="7327900" cy="830695"/>
          </a:xfrm>
        </p:spPr>
        <p:txBody>
          <a:bodyPr/>
          <a:lstStyle/>
          <a:p>
            <a:pPr eaLnBrk="1" hangingPunct="1"/>
            <a:r>
              <a:rPr lang="en-US" altLang="zh-CN" sz="4800" dirty="0"/>
              <a:t>Any  Question ?</a:t>
            </a:r>
            <a:endParaRPr lang="zh-CN" altLang="en-US" sz="48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623" y="3169163"/>
            <a:ext cx="5204012" cy="32916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49986860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53cd865050490">
  <a:themeElements>
    <a:clrScheme name="53cd865050490 1">
      <a:dk1>
        <a:srgbClr val="3D3F41"/>
      </a:dk1>
      <a:lt1>
        <a:srgbClr val="FFFFFF"/>
      </a:lt1>
      <a:dk2>
        <a:srgbClr val="3D3F41"/>
      </a:dk2>
      <a:lt2>
        <a:srgbClr val="EAF5FC"/>
      </a:lt2>
      <a:accent1>
        <a:srgbClr val="47B6E7"/>
      </a:accent1>
      <a:accent2>
        <a:srgbClr val="628EE3"/>
      </a:accent2>
      <a:accent3>
        <a:srgbClr val="FFFFFF"/>
      </a:accent3>
      <a:accent4>
        <a:srgbClr val="333436"/>
      </a:accent4>
      <a:accent5>
        <a:srgbClr val="B1D7F1"/>
      </a:accent5>
      <a:accent6>
        <a:srgbClr val="5880CE"/>
      </a:accent6>
      <a:hlink>
        <a:srgbClr val="00B0F0"/>
      </a:hlink>
      <a:folHlink>
        <a:srgbClr val="AFB2B4"/>
      </a:folHlink>
    </a:clrScheme>
    <a:fontScheme name="53cd865050490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53cd865050490 1">
        <a:dk1>
          <a:srgbClr val="3D3F41"/>
        </a:dk1>
        <a:lt1>
          <a:srgbClr val="FFFFFF"/>
        </a:lt1>
        <a:dk2>
          <a:srgbClr val="3D3F41"/>
        </a:dk2>
        <a:lt2>
          <a:srgbClr val="EAF5FC"/>
        </a:lt2>
        <a:accent1>
          <a:srgbClr val="47B6E7"/>
        </a:accent1>
        <a:accent2>
          <a:srgbClr val="628EE3"/>
        </a:accent2>
        <a:accent3>
          <a:srgbClr val="FFFFFF"/>
        </a:accent3>
        <a:accent4>
          <a:srgbClr val="333436"/>
        </a:accent4>
        <a:accent5>
          <a:srgbClr val="B1D7F1"/>
        </a:accent5>
        <a:accent6>
          <a:srgbClr val="5880CE"/>
        </a:accent6>
        <a:hlink>
          <a:srgbClr val="00B0F0"/>
        </a:hlink>
        <a:folHlink>
          <a:srgbClr val="AFB2B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A000120150601A08PWBG">
  <a:themeElements>
    <a:clrScheme name="A000120150601A08PWBG 1">
      <a:dk1>
        <a:srgbClr val="4D4D4D"/>
      </a:dk1>
      <a:lt1>
        <a:srgbClr val="FFFFFF"/>
      </a:lt1>
      <a:dk2>
        <a:srgbClr val="4D4D4D"/>
      </a:dk2>
      <a:lt2>
        <a:srgbClr val="FFFFFF"/>
      </a:lt2>
      <a:accent1>
        <a:srgbClr val="B8650A"/>
      </a:accent1>
      <a:accent2>
        <a:srgbClr val="D37051"/>
      </a:accent2>
      <a:accent3>
        <a:srgbClr val="FFFFFF"/>
      </a:accent3>
      <a:accent4>
        <a:srgbClr val="404040"/>
      </a:accent4>
      <a:accent5>
        <a:srgbClr val="D8B8AA"/>
      </a:accent5>
      <a:accent6>
        <a:srgbClr val="BF6549"/>
      </a:accent6>
      <a:hlink>
        <a:srgbClr val="92D050"/>
      </a:hlink>
      <a:folHlink>
        <a:srgbClr val="AFB2B4"/>
      </a:folHlink>
    </a:clrScheme>
    <a:fontScheme name="A000120150601A08PWBG">
      <a:majorFont>
        <a:latin typeface="华文中宋"/>
        <a:ea typeface="华文中宋"/>
        <a:cs typeface=""/>
      </a:majorFont>
      <a:minorFont>
        <a:latin typeface="幼圆"/>
        <a:ea typeface="幼圆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A000120150601A08PWBG 1">
        <a:dk1>
          <a:srgbClr val="4D4D4D"/>
        </a:dk1>
        <a:lt1>
          <a:srgbClr val="FFFFFF"/>
        </a:lt1>
        <a:dk2>
          <a:srgbClr val="4D4D4D"/>
        </a:dk2>
        <a:lt2>
          <a:srgbClr val="FFFFFF"/>
        </a:lt2>
        <a:accent1>
          <a:srgbClr val="B8650A"/>
        </a:accent1>
        <a:accent2>
          <a:srgbClr val="D37051"/>
        </a:accent2>
        <a:accent3>
          <a:srgbClr val="FFFFFF"/>
        </a:accent3>
        <a:accent4>
          <a:srgbClr val="404040"/>
        </a:accent4>
        <a:accent5>
          <a:srgbClr val="D8B8AA"/>
        </a:accent5>
        <a:accent6>
          <a:srgbClr val="BF6549"/>
        </a:accent6>
        <a:hlink>
          <a:srgbClr val="92D050"/>
        </a:hlink>
        <a:folHlink>
          <a:srgbClr val="AFB2B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A000120150204A05PWBG">
  <a:themeElements>
    <a:clrScheme name="A000120150204A05PWBG 1">
      <a:dk1>
        <a:srgbClr val="5F5F5F"/>
      </a:dk1>
      <a:lt1>
        <a:srgbClr val="FFFFFF"/>
      </a:lt1>
      <a:dk2>
        <a:srgbClr val="5F5F5F"/>
      </a:dk2>
      <a:lt2>
        <a:srgbClr val="FFFFFF"/>
      </a:lt2>
      <a:accent1>
        <a:srgbClr val="FFB549"/>
      </a:accent1>
      <a:accent2>
        <a:srgbClr val="ED8E2F"/>
      </a:accent2>
      <a:accent3>
        <a:srgbClr val="B6B6B6"/>
      </a:accent3>
      <a:accent4>
        <a:srgbClr val="DADADA"/>
      </a:accent4>
      <a:accent5>
        <a:srgbClr val="FFD7B1"/>
      </a:accent5>
      <a:accent6>
        <a:srgbClr val="D7802A"/>
      </a:accent6>
      <a:hlink>
        <a:srgbClr val="00B0F0"/>
      </a:hlink>
      <a:folHlink>
        <a:srgbClr val="AFB2B4"/>
      </a:folHlink>
    </a:clrScheme>
    <a:fontScheme name="A000120150204A05PWBG">
      <a:majorFont>
        <a:latin typeface="Arial"/>
        <a:ea typeface="华文中宋"/>
        <a:cs typeface=""/>
      </a:majorFont>
      <a:minorFont>
        <a:latin typeface="Arial"/>
        <a:ea typeface="华文中宋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A000120150204A05PWBG 1">
        <a:dk1>
          <a:srgbClr val="5F5F5F"/>
        </a:dk1>
        <a:lt1>
          <a:srgbClr val="FFFFFF"/>
        </a:lt1>
        <a:dk2>
          <a:srgbClr val="5F5F5F"/>
        </a:dk2>
        <a:lt2>
          <a:srgbClr val="FFFFFF"/>
        </a:lt2>
        <a:accent1>
          <a:srgbClr val="FFB549"/>
        </a:accent1>
        <a:accent2>
          <a:srgbClr val="ED8E2F"/>
        </a:accent2>
        <a:accent3>
          <a:srgbClr val="B6B6B6"/>
        </a:accent3>
        <a:accent4>
          <a:srgbClr val="DADADA"/>
        </a:accent4>
        <a:accent5>
          <a:srgbClr val="FFD7B1"/>
        </a:accent5>
        <a:accent6>
          <a:srgbClr val="D7802A"/>
        </a:accent6>
        <a:hlink>
          <a:srgbClr val="00B0F0"/>
        </a:hlink>
        <a:folHlink>
          <a:srgbClr val="AFB2B4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A000120150306A04PWBG">
  <a:themeElements>
    <a:clrScheme name="A000120150306A04PWBG 1">
      <a:dk1>
        <a:srgbClr val="5F5F5F"/>
      </a:dk1>
      <a:lt1>
        <a:srgbClr val="FFFFFF"/>
      </a:lt1>
      <a:dk2>
        <a:srgbClr val="5F5F5F"/>
      </a:dk2>
      <a:lt2>
        <a:srgbClr val="FFFFFF"/>
      </a:lt2>
      <a:accent1>
        <a:srgbClr val="47B6E7"/>
      </a:accent1>
      <a:accent2>
        <a:srgbClr val="628EE3"/>
      </a:accent2>
      <a:accent3>
        <a:srgbClr val="FFFFFF"/>
      </a:accent3>
      <a:accent4>
        <a:srgbClr val="505050"/>
      </a:accent4>
      <a:accent5>
        <a:srgbClr val="B1D7F1"/>
      </a:accent5>
      <a:accent6>
        <a:srgbClr val="5880CE"/>
      </a:accent6>
      <a:hlink>
        <a:srgbClr val="00B0F0"/>
      </a:hlink>
      <a:folHlink>
        <a:srgbClr val="AFB2B4"/>
      </a:folHlink>
    </a:clrScheme>
    <a:fontScheme name="A000120150306A04PWBG">
      <a:majorFont>
        <a:latin typeface="Times New Roman"/>
        <a:ea typeface="华文中宋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A000120150306A04PWBG 1">
        <a:dk1>
          <a:srgbClr val="5F5F5F"/>
        </a:dk1>
        <a:lt1>
          <a:srgbClr val="FFFFFF"/>
        </a:lt1>
        <a:dk2>
          <a:srgbClr val="5F5F5F"/>
        </a:dk2>
        <a:lt2>
          <a:srgbClr val="FFFFFF"/>
        </a:lt2>
        <a:accent1>
          <a:srgbClr val="47B6E7"/>
        </a:accent1>
        <a:accent2>
          <a:srgbClr val="628EE3"/>
        </a:accent2>
        <a:accent3>
          <a:srgbClr val="FFFFFF"/>
        </a:accent3>
        <a:accent4>
          <a:srgbClr val="505050"/>
        </a:accent4>
        <a:accent5>
          <a:srgbClr val="B1D7F1"/>
        </a:accent5>
        <a:accent6>
          <a:srgbClr val="5880CE"/>
        </a:accent6>
        <a:hlink>
          <a:srgbClr val="00B0F0"/>
        </a:hlink>
        <a:folHlink>
          <a:srgbClr val="AFB2B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默认设计模板">
  <a:themeElements>
    <a:clrScheme name="1_默认设计模板 9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99"/>
      </a:hlink>
      <a:folHlink>
        <a:srgbClr val="336699"/>
      </a:folHlink>
    </a:clrScheme>
    <a:fontScheme name="1_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gradFill flip="none" rotWithShape="1">
          <a:gsLst>
            <a:gs pos="0">
              <a:srgbClr val="00B0F0">
                <a:tint val="66000"/>
                <a:satMod val="160000"/>
              </a:srgbClr>
            </a:gs>
            <a:gs pos="50000">
              <a:srgbClr val="00B0F0">
                <a:tint val="44500"/>
                <a:satMod val="160000"/>
              </a:srgbClr>
            </a:gs>
            <a:gs pos="100000">
              <a:srgbClr val="00B0F0">
                <a:tint val="23500"/>
                <a:satMod val="160000"/>
              </a:srgbClr>
            </a:gs>
          </a:gsLst>
          <a:lin ang="13500000" scaled="1"/>
          <a:tileRect/>
        </a:gradFill>
      </a:spPr>
      <a:bodyPr wrap="square" rtlCol="0">
        <a:spAutoFit/>
      </a:bodyPr>
      <a:lstStyle>
        <a:defPPr>
          <a:defRPr dirty="0"/>
        </a:defPPr>
      </a:lstStyle>
    </a:txDef>
  </a:objectDefaults>
  <a:extraClrSchemeLst>
    <a:extraClrScheme>
      <a:clrScheme name="1_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99"/>
        </a:hlink>
        <a:folHlink>
          <a:srgbClr val="3366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16173</TotalTime>
  <Words>7792</Words>
  <Application>Microsoft Office PowerPoint</Application>
  <PresentationFormat>全屏显示(4:3)</PresentationFormat>
  <Paragraphs>908</Paragraphs>
  <Slides>73</Slides>
  <Notes>1</Notes>
  <HiddenSlides>14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73</vt:i4>
      </vt:variant>
    </vt:vector>
  </HeadingPairs>
  <TitlesOfParts>
    <vt:vector size="92" baseType="lpstr">
      <vt:lpstr>Monotype Sorts</vt:lpstr>
      <vt:lpstr>华文中宋</vt:lpstr>
      <vt:lpstr>楷体_GB2312</vt:lpstr>
      <vt:lpstr>宋体</vt:lpstr>
      <vt:lpstr>微软雅黑</vt:lpstr>
      <vt:lpstr>幼圆</vt:lpstr>
      <vt:lpstr>Arial</vt:lpstr>
      <vt:lpstr>Arial Black</vt:lpstr>
      <vt:lpstr>Calibri</vt:lpstr>
      <vt:lpstr>Cambria Math</vt:lpstr>
      <vt:lpstr>Courier New</vt:lpstr>
      <vt:lpstr>Times New Roman</vt:lpstr>
      <vt:lpstr>Wingdings</vt:lpstr>
      <vt:lpstr>Wingdings 2</vt:lpstr>
      <vt:lpstr>53cd865050490</vt:lpstr>
      <vt:lpstr>A000120150601A08PWBG</vt:lpstr>
      <vt:lpstr>A000120150204A05PWBG</vt:lpstr>
      <vt:lpstr>A000120150306A04PWBG</vt:lpstr>
      <vt:lpstr>1_默认设计模板</vt:lpstr>
      <vt:lpstr>计算导论与程序设计</vt:lpstr>
      <vt:lpstr>6.7 字符数组</vt:lpstr>
      <vt:lpstr>PowerPoint 演示文稿</vt:lpstr>
      <vt:lpstr>PowerPoint 演示文稿</vt:lpstr>
      <vt:lpstr>PowerPoint 演示文稿</vt:lpstr>
      <vt:lpstr>课后练习：利用memset 函数对字符数组的初始化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字符串变量之间的赋值运算</vt:lpstr>
      <vt:lpstr>字符串之间的复制</vt:lpstr>
      <vt:lpstr>字符串之间的复制</vt:lpstr>
      <vt:lpstr>PowerPoint 演示文稿</vt:lpstr>
      <vt:lpstr>字符串之间的比较运算</vt:lpstr>
      <vt:lpstr>字符串之间的比较运算</vt:lpstr>
      <vt:lpstr>字符串之间的比较运算：strcmp</vt:lpstr>
      <vt:lpstr>PowerPoint 演示文稿</vt:lpstr>
      <vt:lpstr>字符串之间的连接运算</vt:lpstr>
      <vt:lpstr>字符串之间的连接运算</vt:lpstr>
      <vt:lpstr>字符串之间的连接运算</vt:lpstr>
      <vt:lpstr>字符串之间的连接运算</vt:lpstr>
      <vt:lpstr>PowerPoint 演示文稿</vt:lpstr>
      <vt:lpstr>自学与练习：一些常用的字符串处理函数</vt:lpstr>
      <vt:lpstr>PowerPoint 演示文稿</vt:lpstr>
      <vt:lpstr>PowerPoint 演示文稿</vt:lpstr>
      <vt:lpstr>课后练习：sprintf(): 将数值数据转换成字符串</vt:lpstr>
      <vt:lpstr>课后练习：sprintf(): 将两个整数组合成一个字符串</vt:lpstr>
      <vt:lpstr>自学与练习：标准字符转换函数</vt:lpstr>
      <vt:lpstr>自学与练习：字符检测函数</vt:lpstr>
      <vt:lpstr>自学与练习：字符串与数值之间的转换函数</vt:lpstr>
      <vt:lpstr>课后练习： int atoi(char *nptr) </vt:lpstr>
      <vt:lpstr>课后练习： double atof(char *nptr)</vt:lpstr>
      <vt:lpstr>课后练习： double strtod(char *str,char **endptr) 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字符型指针数组</vt:lpstr>
      <vt:lpstr>字符型指针数组</vt:lpstr>
      <vt:lpstr>字符型指针数组</vt:lpstr>
      <vt:lpstr>字符型指针数组与字符串</vt:lpstr>
      <vt:lpstr>课后练习：6.7.4 编程实例</vt:lpstr>
      <vt:lpstr>课后练习： 编程实例</vt:lpstr>
      <vt:lpstr>课后练习：利用字符指针求字符串长度—主函数</vt:lpstr>
      <vt:lpstr>课后练习：编程实例</vt:lpstr>
      <vt:lpstr>课后练习：子字符串</vt:lpstr>
      <vt:lpstr>课后练习：子字符串操作</vt:lpstr>
      <vt:lpstr>课后练习：去掉字符串的前导与尾随空格</vt:lpstr>
      <vt:lpstr>课后练习：两个大整数加法</vt:lpstr>
      <vt:lpstr>PowerPoint 演示文稿</vt:lpstr>
      <vt:lpstr>PowerPoint 演示文稿</vt:lpstr>
      <vt:lpstr>PowerPoint 演示文稿</vt:lpstr>
      <vt:lpstr>用typedef定义类型定义字符串类型—*STRING</vt:lpstr>
      <vt:lpstr>PowerPoint 演示文稿</vt:lpstr>
      <vt:lpstr>Any  Question 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han</cp:lastModifiedBy>
  <cp:revision>2768</cp:revision>
  <dcterms:created xsi:type="dcterms:W3CDTF">2013-01-25T01:44:00Z</dcterms:created>
  <dcterms:modified xsi:type="dcterms:W3CDTF">2023-02-18T12:29:33Z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2052-10.1.0.6065</vt:lpwstr>
  </property>
</Properties>
</file>