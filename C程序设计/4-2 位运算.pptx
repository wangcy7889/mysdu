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38"/>
  </p:notesMasterIdLst>
  <p:sldIdLst>
    <p:sldId id="256" r:id="rId6"/>
    <p:sldId id="458" r:id="rId7"/>
    <p:sldId id="438" r:id="rId8"/>
    <p:sldId id="440" r:id="rId9"/>
    <p:sldId id="460" r:id="rId10"/>
    <p:sldId id="465" r:id="rId11"/>
    <p:sldId id="466" r:id="rId12"/>
    <p:sldId id="441" r:id="rId13"/>
    <p:sldId id="461" r:id="rId14"/>
    <p:sldId id="442" r:id="rId15"/>
    <p:sldId id="462" r:id="rId16"/>
    <p:sldId id="463" r:id="rId17"/>
    <p:sldId id="469" r:id="rId18"/>
    <p:sldId id="445" r:id="rId19"/>
    <p:sldId id="473" r:id="rId20"/>
    <p:sldId id="446" r:id="rId21"/>
    <p:sldId id="447" r:id="rId22"/>
    <p:sldId id="464" r:id="rId23"/>
    <p:sldId id="471" r:id="rId24"/>
    <p:sldId id="448" r:id="rId25"/>
    <p:sldId id="472" r:id="rId26"/>
    <p:sldId id="474" r:id="rId27"/>
    <p:sldId id="470" r:id="rId28"/>
    <p:sldId id="450" r:id="rId29"/>
    <p:sldId id="449" r:id="rId30"/>
    <p:sldId id="453" r:id="rId31"/>
    <p:sldId id="454" r:id="rId32"/>
    <p:sldId id="451" r:id="rId33"/>
    <p:sldId id="457" r:id="rId34"/>
    <p:sldId id="443" r:id="rId35"/>
    <p:sldId id="459" r:id="rId36"/>
    <p:sldId id="439" r:id="rId3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0">
          <p15:clr>
            <a:srgbClr val="A4A3A4"/>
          </p15:clr>
        </p15:guide>
        <p15:guide id="2" pos="285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08"/>
    <a:srgbClr val="0000CC"/>
    <a:srgbClr val="006600"/>
    <a:srgbClr val="000000"/>
    <a:srgbClr val="030DCD"/>
    <a:srgbClr val="003300"/>
    <a:srgbClr val="99CC00"/>
    <a:srgbClr val="7FE41A"/>
    <a:srgbClr val="6AD565"/>
    <a:srgbClr val="9DEB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 autoAdjust="0"/>
  </p:normalViewPr>
  <p:slideViewPr>
    <p:cSldViewPr snapToGrid="0" snapToObjects="1">
      <p:cViewPr varScale="1">
        <p:scale>
          <a:sx n="105" d="100"/>
          <a:sy n="105" d="100"/>
        </p:scale>
        <p:origin x="1632" y="102"/>
      </p:cViewPr>
      <p:guideLst>
        <p:guide orient="horz" pos="2170"/>
        <p:guide pos="2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1999" cy="71999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presProps" Target="pres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7AA068-423C-4043-8EE2-1CC6D935DDF0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0516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/>
          <a:p>
            <a:fld id="{D3360855-BA1B-49D5-B0CD-B5E0CC13AAD6}" type="datetime1">
              <a:rPr lang="zh-CN" altLang="en-US" smtClean="0">
                <a:latin typeface="Arial" charset="0"/>
                <a:ea typeface="宋体" charset="-122"/>
              </a:rPr>
              <a:pPr/>
              <a:t>2022/12/8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DCAF334-A9C0-438B-84BC-4E279211E2CD}" type="slidenum">
              <a:rPr lang="en-US" altLang="zh-CN" smtClean="0">
                <a:latin typeface="Arial" charset="0"/>
                <a:ea typeface="宋体" charset="-122"/>
              </a:rPr>
              <a:pPr/>
              <a:t>32</a:t>
            </a:fld>
            <a:endParaRPr lang="en-US" altLang="zh-CN">
              <a:latin typeface="Arial" charset="0"/>
              <a:ea typeface="宋体" charset="-122"/>
            </a:endParaRPr>
          </a:p>
        </p:txBody>
      </p:sp>
      <p:sp>
        <p:nvSpPr>
          <p:cNvPr id="225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27125" y="701675"/>
            <a:ext cx="4587875" cy="3440113"/>
          </a:xfrm>
          <a:ln/>
        </p:spPr>
      </p:sp>
      <p:sp>
        <p:nvSpPr>
          <p:cNvPr id="2253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23925" y="4352925"/>
            <a:ext cx="4995863" cy="4140200"/>
          </a:xfrm>
          <a:noFill/>
          <a:ln/>
        </p:spPr>
        <p:txBody>
          <a:bodyPr/>
          <a:lstStyle/>
          <a:p>
            <a:pPr eaLnBrk="1" hangingPunct="1"/>
            <a:endParaRPr lang="zh-CN" altLang="zh-CN"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7411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KSO_BT1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69875" y="2066925"/>
            <a:ext cx="5592763" cy="1384300"/>
          </a:xfrm>
        </p:spPr>
        <p:txBody>
          <a:bodyPr/>
          <a:lstStyle>
            <a:lvl1pPr algn="ctr">
              <a:defRPr sz="4200">
                <a:solidFill>
                  <a:srgbClr val="14729C"/>
                </a:solidFill>
              </a:defRPr>
            </a:lvl1pPr>
          </a:lstStyle>
          <a:p>
            <a:pPr lvl="0"/>
            <a:r>
              <a:rPr lang="zh-CN" noProof="0"/>
              <a:t>单击此处</a:t>
            </a:r>
            <a:br>
              <a:rPr lang="zh-CN" noProof="0"/>
            </a:br>
            <a:r>
              <a:rPr lang="zh-CN" noProof="0"/>
              <a:t>编辑母版标题样式</a:t>
            </a:r>
          </a:p>
        </p:txBody>
      </p:sp>
      <p:sp>
        <p:nvSpPr>
          <p:cNvPr id="205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69875" y="3651250"/>
            <a:ext cx="5588000" cy="547688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>
                <a:solidFill>
                  <a:schemeClr val="folHlink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BDE14-8C80-49E0-8281-DD5E56F6F558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4443EEA-FBC3-4E9A-9C70-438B835BD66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6F85F4-ED83-48A5-8EDD-7FC59D04590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FBF970-60AF-4DAF-9E35-50708D19D96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54100"/>
            <a:ext cx="3811588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243388" y="1054100"/>
            <a:ext cx="3811587" cy="540702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BDED28-B741-4EF3-8A85-476A8059E05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2022/12/8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03127B-0938-4893-96C2-5BF3E99308B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2022/12/8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C73F5A-A092-4D93-92E7-775B571A6B0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2022/12/8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A47056-C575-41A5-9FC0-1A2A3B26D7C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6A6E2-01AE-4F33-B1C1-84244AF65CD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40B0EB-A491-48EF-BEE0-B90804C1504C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14B56-E0FF-497B-B381-78CDFF87AB4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111875" y="196850"/>
            <a:ext cx="1943100" cy="62642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79400" y="196850"/>
            <a:ext cx="5680075" cy="62642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B9AB2-7367-4ECF-93B6-6B5F052EDA1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5" descr="未标题-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2" name="KSO_BC1"/>
          <p:cNvSpPr>
            <a:spLocks noGrp="1" noChangeArrowheads="1"/>
          </p:cNvSpPr>
          <p:nvPr>
            <p:ph type="subTitle" idx="1"/>
          </p:nvPr>
        </p:nvSpPr>
        <p:spPr>
          <a:xfrm>
            <a:off x="2790825" y="2152650"/>
            <a:ext cx="5870575" cy="496888"/>
          </a:xfrm>
        </p:spPr>
        <p:txBody>
          <a:bodyPr/>
          <a:lstStyle>
            <a:lvl1pPr marL="0" indent="0" algn="r">
              <a:buFont typeface="Wingdings" panose="05000000000000000000" pitchFamily="2" charset="2"/>
              <a:buNone/>
              <a:defRPr sz="2000">
                <a:solidFill>
                  <a:srgbClr val="6C6F72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4103" name="KSO_BT1"/>
          <p:cNvSpPr>
            <a:spLocks noGrp="1" noChangeArrowheads="1"/>
          </p:cNvSpPr>
          <p:nvPr>
            <p:ph type="ctrTitle"/>
          </p:nvPr>
        </p:nvSpPr>
        <p:spPr>
          <a:xfrm>
            <a:off x="2787650" y="1258888"/>
            <a:ext cx="5884863" cy="863600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5EB33F-0483-43C6-847F-6D3BDF8997C4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A24BC01-715A-404A-AF8C-083EFE472DA9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92F74B-3F9D-4EC0-BB27-2C8E829D834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6C4A8C-293A-4006-9D11-27F066922CD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47675" y="1133475"/>
            <a:ext cx="4030663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30738" y="1133475"/>
            <a:ext cx="4032250" cy="510063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B30462-3FE9-4AC9-87A4-B13B8F51DDE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2022/12/8</a:t>
            </a:fld>
            <a:endParaRPr lang="en-US"/>
          </a:p>
        </p:txBody>
      </p:sp>
      <p:sp>
        <p:nvSpPr>
          <p:cNvPr id="8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D057C7-BE4D-4CC7-9A6F-784CBE1E440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2022/12/8</a:t>
            </a:fld>
            <a:endParaRPr lang="en-US"/>
          </a:p>
        </p:txBody>
      </p:sp>
      <p:sp>
        <p:nvSpPr>
          <p:cNvPr id="4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3111F1-C7D5-4B5F-82C4-FED058A43FE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2022/12/8</a:t>
            </a:fld>
            <a:endParaRPr lang="en-US"/>
          </a:p>
        </p:txBody>
      </p:sp>
      <p:sp>
        <p:nvSpPr>
          <p:cNvPr id="3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CF258-373D-47B5-9224-E86B2421108D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98A255-05C8-4069-A9CB-54077EFAD0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91975-133D-44B7-B5F6-02DDCE1C6857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20D0EE-11E1-4E01-A713-4C0B0435826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10350" y="214313"/>
            <a:ext cx="2052638" cy="60198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47675" y="214313"/>
            <a:ext cx="6010275" cy="60198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KSO_FD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KSO_FT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KSO_FN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E740C7-CC37-4ABD-A9FF-809B75CEBA0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3" r="117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流程图: 数据 4"/>
          <p:cNvSpPr>
            <a:spLocks noChangeArrowheads="1"/>
          </p:cNvSpPr>
          <p:nvPr/>
        </p:nvSpPr>
        <p:spPr bwMode="auto">
          <a:xfrm>
            <a:off x="2857500" y="0"/>
            <a:ext cx="6286500" cy="6858000"/>
          </a:xfrm>
          <a:prstGeom prst="flowChartInputOutput">
            <a:avLst/>
          </a:prstGeom>
          <a:solidFill>
            <a:srgbClr val="FDD762">
              <a:alpha val="5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endParaRPr lang="zh-CN" altLang="en-US" sz="1300">
              <a:solidFill>
                <a:srgbClr val="5F5F5F"/>
              </a:solidFill>
            </a:endParaRPr>
          </a:p>
        </p:txBody>
      </p:sp>
      <p:pic>
        <p:nvPicPr>
          <p:cNvPr id="6" name="图片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9875" y="1300163"/>
            <a:ext cx="4070350" cy="226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417888" y="5014913"/>
            <a:ext cx="4735512" cy="547687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>
                <a:solidFill>
                  <a:srgbClr val="FFFFFF"/>
                </a:solidFill>
              </a:defRPr>
            </a:lvl1pPr>
          </a:lstStyle>
          <a:p>
            <a:pPr lvl="0"/>
            <a:r>
              <a:rPr lang="zh-CN" noProof="0"/>
              <a:t>单击此处编辑母版副标题样式</a:t>
            </a:r>
          </a:p>
        </p:txBody>
      </p:sp>
      <p:sp>
        <p:nvSpPr>
          <p:cNvPr id="615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3408363" y="3463925"/>
            <a:ext cx="4737100" cy="1470025"/>
          </a:xfrm>
        </p:spPr>
        <p:txBody>
          <a:bodyPr/>
          <a:lstStyle>
            <a:lvl1pPr algn="ctr">
              <a:defRPr sz="3200"/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30493455-07EA-47DB-90C0-E7E423CB59B6}" type="datetime1">
              <a:rPr lang="zh-CN" altLang="en-US"/>
              <a:t>2022/12/8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338A0BD-2BD5-4CDD-949A-399040E1F361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4C3199-1AFA-4954-9CC4-12638459641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4791B2-E5C4-4716-B26B-E0118C8D48EA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476375"/>
            <a:ext cx="3927475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6613" y="1476375"/>
            <a:ext cx="3929062" cy="4879975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A6133-FFB4-4B05-84EA-663E62FDFBC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2022/12/8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227019-1451-45BD-B61C-7AF55C70AA4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2022/12/8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6A8A5-509F-4FF4-914B-DE7911A9FDC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2022/12/8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40D63B-70E4-448C-A960-B7BCA42D54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3BC4C-21CF-455E-B095-424B494E974E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D8D181-3281-4E13-887C-32993C8F81F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F84EC5-1729-4024-A363-B97A4567CA7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68300"/>
            <a:ext cx="2001837" cy="59880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68300"/>
            <a:ext cx="5854700" cy="59880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A0E7CA-17FA-457E-94D8-9BF9C6220184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矩形 12"/>
          <p:cNvGrpSpPr/>
          <p:nvPr userDrawn="1"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5" name="矩形 12"/>
            <p:cNvPicPr>
              <a:picLocks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grpSp>
        <p:nvGrpSpPr>
          <p:cNvPr id="7" name="组合 13"/>
          <p:cNvGrpSpPr/>
          <p:nvPr userDrawn="1"/>
        </p:nvGrpSpPr>
        <p:grpSpPr bwMode="auto">
          <a:xfrm>
            <a:off x="0" y="263525"/>
            <a:ext cx="9144000" cy="4676775"/>
            <a:chOff x="0" y="0"/>
            <a:chExt cx="12192000" cy="4677534"/>
          </a:xfrm>
        </p:grpSpPr>
        <p:grpSp>
          <p:nvGrpSpPr>
            <p:cNvPr id="8" name="Freeform 5"/>
            <p:cNvGrpSpPr/>
            <p:nvPr userDrawn="1"/>
          </p:nvGrpSpPr>
          <p:grpSpPr bwMode="auto">
            <a:xfrm>
              <a:off x="0" y="-1059"/>
              <a:ext cx="12200128" cy="2353056"/>
              <a:chOff x="0" y="0"/>
              <a:chExt cx="9150096" cy="2353056"/>
            </a:xfrm>
          </p:grpSpPr>
          <p:pic>
            <p:nvPicPr>
              <p:cNvPr id="17" name="Freeform 5"/>
              <p:cNvPicPr>
                <a:picLocks noEditPoints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9150096" cy="23530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" name="Text Box 8"/>
              <p:cNvSpPr txBox="1">
                <a:spLocks noChangeArrowheads="1"/>
              </p:cNvSpPr>
              <p:nvPr/>
            </p:nvSpPr>
            <p:spPr bwMode="auto">
              <a:xfrm>
                <a:off x="0" y="1059"/>
                <a:ext cx="9144000" cy="23530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121920" tIns="60960" rIns="121920" bIns="60960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zh-CN" altLang="en-US"/>
              </a:p>
            </p:txBody>
          </p:sp>
        </p:grpSp>
        <p:sp>
          <p:nvSpPr>
            <p:cNvPr id="9" name="矩形 15"/>
            <p:cNvSpPr>
              <a:spLocks noChangeArrowheads="1"/>
            </p:cNvSpPr>
            <p:nvPr/>
          </p:nvSpPr>
          <p:spPr bwMode="auto">
            <a:xfrm>
              <a:off x="0" y="2362583"/>
              <a:ext cx="12192000" cy="1714778"/>
            </a:xfrm>
            <a:prstGeom prst="rect">
              <a:avLst/>
            </a:prstGeom>
            <a:solidFill>
              <a:srgbClr val="28A9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121920" tIns="60960" rIns="121920" bIns="6096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  <p:cxnSp>
          <p:nvCxnSpPr>
            <p:cNvPr id="10" name="直接连接符 16"/>
            <p:cNvCxnSpPr>
              <a:cxnSpLocks noChangeShapeType="1"/>
            </p:cNvCxnSpPr>
            <p:nvPr/>
          </p:nvCxnSpPr>
          <p:spPr bwMode="auto">
            <a:xfrm>
              <a:off x="0" y="4110425"/>
              <a:ext cx="12192000" cy="0"/>
            </a:xfrm>
            <a:prstGeom prst="line">
              <a:avLst/>
            </a:prstGeom>
            <a:noFill/>
            <a:ln w="19050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" name="直接连接符 17"/>
            <p:cNvCxnSpPr>
              <a:cxnSpLocks noChangeShapeType="1"/>
            </p:cNvCxnSpPr>
            <p:nvPr/>
          </p:nvCxnSpPr>
          <p:spPr bwMode="auto">
            <a:xfrm>
              <a:off x="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2" name="直接连接符 18"/>
            <p:cNvCxnSpPr>
              <a:cxnSpLocks noChangeShapeType="1"/>
            </p:cNvCxnSpPr>
            <p:nvPr/>
          </p:nvCxnSpPr>
          <p:spPr bwMode="auto">
            <a:xfrm>
              <a:off x="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3" name="直接连接符 19"/>
            <p:cNvCxnSpPr>
              <a:cxnSpLocks noChangeShapeType="1"/>
            </p:cNvCxnSpPr>
            <p:nvPr/>
          </p:nvCxnSpPr>
          <p:spPr bwMode="auto">
            <a:xfrm>
              <a:off x="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4" name="直接连接符 20"/>
            <p:cNvCxnSpPr>
              <a:cxnSpLocks noChangeShapeType="1"/>
            </p:cNvCxnSpPr>
            <p:nvPr/>
          </p:nvCxnSpPr>
          <p:spPr bwMode="auto">
            <a:xfrm>
              <a:off x="7872000" y="4532288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5" name="直接连接符 21"/>
            <p:cNvCxnSpPr>
              <a:cxnSpLocks noChangeShapeType="1"/>
            </p:cNvCxnSpPr>
            <p:nvPr/>
          </p:nvCxnSpPr>
          <p:spPr bwMode="auto">
            <a:xfrm>
              <a:off x="7872000" y="4598574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6" name="直接连接符 22"/>
            <p:cNvCxnSpPr>
              <a:cxnSpLocks noChangeShapeType="1"/>
            </p:cNvCxnSpPr>
            <p:nvPr/>
          </p:nvCxnSpPr>
          <p:spPr bwMode="auto">
            <a:xfrm>
              <a:off x="7872000" y="4664860"/>
              <a:ext cx="4320000" cy="12674"/>
            </a:xfrm>
            <a:prstGeom prst="line">
              <a:avLst/>
            </a:prstGeom>
            <a:noFill/>
            <a:ln w="3175">
              <a:solidFill>
                <a:srgbClr val="28A9D6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8209" name="Text Placeholder 2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95825"/>
            <a:ext cx="2628900" cy="466725"/>
          </a:xfrm>
        </p:spPr>
        <p:txBody>
          <a:bodyPr/>
          <a:lstStyle>
            <a:lvl1pPr algn="ctr">
              <a:buFont typeface="Wingdings 2" panose="05020102010507070707" pitchFamily="18" charset="2"/>
              <a:buNone/>
              <a:defRPr sz="1600"/>
            </a:lvl1pPr>
          </a:lstStyle>
          <a:p>
            <a:pPr lvl="0"/>
            <a:r>
              <a:rPr lang="zh-CN" noProof="0">
                <a:sym typeface="Arial" panose="020B0604020202020204" pitchFamily="34" charset="0"/>
              </a:rPr>
              <a:t>单击此处编辑母版副标题样式</a:t>
            </a:r>
          </a:p>
        </p:txBody>
      </p:sp>
      <p:sp>
        <p:nvSpPr>
          <p:cNvPr id="8213" name="Title Placeholder 1"/>
          <p:cNvSpPr>
            <a:spLocks noGrp="1" noChangeArrowheads="1"/>
          </p:cNvSpPr>
          <p:nvPr>
            <p:ph type="ctrTitle"/>
          </p:nvPr>
        </p:nvSpPr>
        <p:spPr>
          <a:xfrm>
            <a:off x="714375" y="3140075"/>
            <a:ext cx="7772400" cy="717550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noProof="0"/>
              <a:t>单击此处编辑母版标题样式</a:t>
            </a:r>
          </a:p>
        </p:txBody>
      </p:sp>
      <p:sp>
        <p:nvSpPr>
          <p:cNvPr id="19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9B9122-6204-415B-9B63-767BCB80D292}" type="datetime1">
              <a:rPr lang="zh-CN" altLang="en-US"/>
              <a:t>2022/12/8</a:t>
            </a:fld>
            <a:endParaRPr lang="en-US"/>
          </a:p>
        </p:txBody>
      </p:sp>
      <p:sp>
        <p:nvSpPr>
          <p:cNvPr id="20" name="Footer Placeholder 4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" name="Slide Number Placeholder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0250EEA-FF4E-41D5-AF69-6EEADFA6D3D0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989441-A55F-43EA-A8B0-412ADF2DBC6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64DB7A-EFF0-4FC6-B595-90C219780068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06925" y="1135063"/>
            <a:ext cx="3968750" cy="53451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D5673-5430-4CAF-80D3-E7AE5060CFAF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2022/12/8</a:t>
            </a:fld>
            <a:endParaRPr lang="en-US"/>
          </a:p>
        </p:txBody>
      </p:sp>
      <p:sp>
        <p:nvSpPr>
          <p:cNvPr id="8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5A6FA-2176-4BCE-AD9F-89675A8CFB5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2022/12/8</a:t>
            </a:fld>
            <a:endParaRPr lang="en-US"/>
          </a:p>
        </p:txBody>
      </p:sp>
      <p:sp>
        <p:nvSpPr>
          <p:cNvPr id="4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1250DC-0878-4B08-A8DF-B0618002FCC3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2022/12/8</a:t>
            </a:fld>
            <a:endParaRPr lang="en-US"/>
          </a:p>
        </p:txBody>
      </p:sp>
      <p:sp>
        <p:nvSpPr>
          <p:cNvPr id="3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3FB7DB4-EE38-47B9-960D-23808051C6B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779915-1CD2-4D16-B500-B5490E936485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>
              <a:sym typeface="Arial" panose="020B060402020202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2022/12/8</a:t>
            </a:fld>
            <a:endParaRPr lang="en-US"/>
          </a:p>
        </p:txBody>
      </p:sp>
      <p:sp>
        <p:nvSpPr>
          <p:cNvPr id="6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29697E-D45A-4E7C-81FC-4060FFD7AB32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C46216-539C-4C56-A730-F6A42213F0E6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55588"/>
            <a:ext cx="2022475" cy="6224587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85775" y="255588"/>
            <a:ext cx="5915025" cy="6224587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2022/12/8</a:t>
            </a:fld>
            <a:endParaRPr lang="en-US"/>
          </a:p>
        </p:txBody>
      </p:sp>
      <p:sp>
        <p:nvSpPr>
          <p:cNvPr id="5" name="Footer Placeholder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C01A58-410C-44AE-B15D-E703576B05EB}" type="slidenum">
              <a:rPr lang="zh-CN" alt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 eaLnBrk="1"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 eaLnBrk="1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7448908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79400" y="1010465"/>
            <a:ext cx="8636000" cy="4972050"/>
          </a:xfrm>
        </p:spPr>
        <p:txBody>
          <a:bodyPr/>
          <a:lstStyle>
            <a:lvl1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l"/>
              <a:defRPr/>
            </a:lvl1pPr>
            <a:lvl2pPr eaLnBrk="1">
              <a:lnSpc>
                <a:spcPct val="130000"/>
              </a:lnSpc>
              <a:spcBef>
                <a:spcPts val="0"/>
              </a:spcBef>
              <a:buFont typeface="Wingdings" pitchFamily="2" charset="2"/>
              <a:buChar char="Ø"/>
              <a:defRPr/>
            </a:lvl2pPr>
            <a:lvl3pPr eaLnBrk="1">
              <a:lnSpc>
                <a:spcPct val="130000"/>
              </a:lnSpc>
              <a:spcBef>
                <a:spcPts val="0"/>
              </a:spcBef>
              <a:defRPr/>
            </a:lvl3pPr>
            <a:lvl4pPr eaLnBrk="1">
              <a:lnSpc>
                <a:spcPct val="130000"/>
              </a:lnSpc>
              <a:spcBef>
                <a:spcPts val="0"/>
              </a:spcBef>
              <a:defRPr/>
            </a:lvl4pPr>
            <a:lvl5pPr eaLnBrk="1">
              <a:lnSpc>
                <a:spcPct val="130000"/>
              </a:lnSpc>
              <a:spcBef>
                <a:spcPts val="0"/>
              </a:spcBef>
              <a:defRPr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Text Box 17"/>
          <p:cNvSpPr txBox="1">
            <a:spLocks noChangeArrowheads="1"/>
          </p:cNvSpPr>
          <p:nvPr userDrawn="1"/>
        </p:nvSpPr>
        <p:spPr bwMode="auto">
          <a:xfrm>
            <a:off x="50800" y="6481763"/>
            <a:ext cx="9067800" cy="3397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  <a:defRPr/>
            </a:pPr>
            <a:fld id="{380602F7-2D1E-4BA3-9157-D4E968859D90}" type="slidenum">
              <a:rPr lang="zh-CN" altLang="en-US" sz="1600" b="1" smtClean="0">
                <a:solidFill>
                  <a:srgbClr val="000000"/>
                </a:solidFill>
              </a:rPr>
              <a:pPr algn="r" eaLnBrk="1" hangingPunct="1">
                <a:spcBef>
                  <a:spcPct val="50000"/>
                </a:spcBef>
                <a:buFontTx/>
                <a:buNone/>
                <a:defRPr/>
              </a:pPr>
              <a:t>‹#›</a:t>
            </a:fld>
            <a:r>
              <a:rPr lang="zh-CN" altLang="en-US" sz="1600" b="1" dirty="0">
                <a:solidFill>
                  <a:srgbClr val="FFFFFF"/>
                </a:solidFill>
              </a:rPr>
              <a:t> </a:t>
            </a:r>
            <a:endParaRPr lang="zh-CN" altLang="zh-CN" sz="16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8186712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794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73600" y="1096963"/>
            <a:ext cx="4241800" cy="49720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7356039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  <a:defRPr/>
            </a:pPr>
            <a:fld id="{0FF57203-C35C-4101-BB59-5D58D06E0BA5}" type="slidenum">
              <a:rPr lang="en-US" altLang="zh-CN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  <a:defRPr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04900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2192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41475"/>
            <a:ext cx="3810000" cy="4454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buFontTx/>
              <a:buNone/>
            </a:pPr>
            <a:fld id="{9FC7E16D-5A04-4A97-B5EF-ADB58EFF5016}" type="slidenum">
              <a:rPr lang="zh-CN" altLang="en-US">
                <a:solidFill>
                  <a:srgbClr val="000000"/>
                </a:solidFill>
                <a:latin typeface="Arial" charset="0"/>
                <a:ea typeface="宋体" charset="-122"/>
              </a:rPr>
              <a:pPr>
                <a:buFontTx/>
                <a:buNone/>
              </a:pPr>
              <a:t>‹#›</a:t>
            </a:fld>
            <a:endParaRPr lang="en-US" altLang="zh-CN">
              <a:solidFill>
                <a:srgbClr val="000000"/>
              </a:solidFill>
              <a:latin typeface="Arial" charset="0"/>
              <a:ea typeface="宋体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26094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4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slideLayout" Target="../slideLayouts/slideLayout47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9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图片 8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650" y="0"/>
            <a:ext cx="39433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KSO_BT1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39725" y="196850"/>
            <a:ext cx="6400800" cy="700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8" name="KSO_BC1"/>
          <p:cNvSpPr>
            <a:spLocks noGrp="1" noChangeArrowheads="1"/>
          </p:cNvSpPr>
          <p:nvPr>
            <p:ph type="body" idx="9"/>
          </p:nvPr>
        </p:nvSpPr>
        <p:spPr bwMode="auto">
          <a:xfrm>
            <a:off x="279400" y="1054100"/>
            <a:ext cx="7775575" cy="540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1029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D9F33B1-7C18-4AD4-9DF1-5FE252B9DDC3}" type="datetime1">
              <a:rPr lang="zh-CN" altLang="en-US"/>
              <a:t>2022/12/8</a:t>
            </a:fld>
            <a:endParaRPr lang="en-US"/>
          </a:p>
        </p:txBody>
      </p:sp>
      <p:sp>
        <p:nvSpPr>
          <p:cNvPr id="1030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 smtClean="0">
                <a:solidFill>
                  <a:srgbClr val="919293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705EA6D-0A8A-47D3-AD10-1EDF3BDE7BA2}" type="slidenum">
              <a:rPr lang="zh-CN" alt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 kern="1200">
          <a:solidFill>
            <a:srgbClr val="1A93C8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1A93C8"/>
          </a:solidFill>
          <a:latin typeface="Arial Black" panose="020B0A04020102020204" pitchFamily="34" charset="0"/>
          <a:ea typeface="微软雅黑" panose="020B0503020204020204" pitchFamily="34" charset="-122"/>
        </a:defRPr>
      </a:lvl9pPr>
    </p:titleStyle>
    <p:bodyStyle>
      <a:lvl1pPr marL="357505" indent="-357505" algn="just" rtl="0" fontAlgn="base">
        <a:spcBef>
          <a:spcPts val="1800"/>
        </a:spcBef>
        <a:spcAft>
          <a:spcPct val="0"/>
        </a:spcAft>
        <a:buClr>
          <a:srgbClr val="1A93C8"/>
        </a:buClr>
        <a:buSzPct val="60000"/>
        <a:buFont typeface="Wingdings" panose="05000000000000000000" pitchFamily="2" charset="2"/>
        <a:buChar char="m"/>
        <a:defRPr sz="2000" kern="1200">
          <a:solidFill>
            <a:srgbClr val="1A93C8"/>
          </a:solidFill>
          <a:latin typeface="+mn-lt"/>
          <a:ea typeface="+mn-ea"/>
          <a:cs typeface="+mn-cs"/>
        </a:defRPr>
      </a:lvl1pPr>
      <a:lvl2pPr marL="357505" indent="-357505" algn="l" rtl="0" fontAlgn="base">
        <a:lnSpc>
          <a:spcPct val="130000"/>
        </a:lnSpc>
        <a:spcBef>
          <a:spcPct val="0"/>
        </a:spcBef>
        <a:spcAft>
          <a:spcPts val="600"/>
        </a:spcAft>
        <a:buClr>
          <a:srgbClr val="A1BBEE"/>
        </a:buClr>
        <a:buFont typeface="幼圆" panose="02010509060101010101" pitchFamily="49" charset="-122"/>
        <a:buChar char=" "/>
        <a:defRPr sz="1600" kern="1200">
          <a:solidFill>
            <a:srgbClr val="7D7D7D"/>
          </a:solidFill>
          <a:latin typeface="幼圆" panose="02010509060101010101" pitchFamily="49" charset="-122"/>
          <a:ea typeface="幼圆" panose="02010509060101010101" pitchFamily="49" charset="-122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组合 6"/>
          <p:cNvGrpSpPr>
            <a:grpSpLocks noChangeAspect="1"/>
          </p:cNvGrpSpPr>
          <p:nvPr/>
        </p:nvGrpSpPr>
        <p:grpSpPr bwMode="auto">
          <a:xfrm>
            <a:off x="-3175" y="12700"/>
            <a:ext cx="9144000" cy="6858000"/>
            <a:chOff x="0" y="0"/>
            <a:chExt cx="7850038" cy="5887529"/>
          </a:xfrm>
        </p:grpSpPr>
        <p:pic>
          <p:nvPicPr>
            <p:cNvPr id="2051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151"/>
            <a:stretch>
              <a:fillRect/>
            </a:stretch>
          </p:blipFill>
          <p:spPr bwMode="auto">
            <a:xfrm>
              <a:off x="3925019" y="0"/>
              <a:ext cx="3925019" cy="58875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52" name="图片 5" descr="未标题-1.jpg"/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7076" b="14310"/>
            <a:stretch>
              <a:fillRect/>
            </a:stretch>
          </p:blipFill>
          <p:spPr bwMode="auto">
            <a:xfrm flipH="1">
              <a:off x="0" y="0"/>
              <a:ext cx="3925019" cy="58766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77" name="KSO_FD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43B238A-CF46-4546-8C56-ADAB882ADE59}" type="datetime1">
              <a:rPr lang="zh-CN" altLang="en-US"/>
              <a:t>2022/12/8</a:t>
            </a:fld>
            <a:endParaRPr lang="en-US"/>
          </a:p>
        </p:txBody>
      </p:sp>
      <p:sp>
        <p:nvSpPr>
          <p:cNvPr id="3078" name="KSO_FT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KSO_FN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solidFill>
                  <a:srgbClr val="969696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28345E7-2928-4024-B92D-DE6894893D24}" type="slidenum">
              <a:rPr lang="zh-CN" altLang="en-US"/>
              <a:t>‹#›</a:t>
            </a:fld>
            <a:endParaRPr lang="en-US"/>
          </a:p>
        </p:txBody>
      </p:sp>
      <p:sp>
        <p:nvSpPr>
          <p:cNvPr id="2056" name="KSO_BC1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47675" y="1133475"/>
            <a:ext cx="8215313" cy="510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2057" name="KSO_BT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47675" y="214313"/>
            <a:ext cx="8215313" cy="795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accent1"/>
          </a:solidFill>
          <a:latin typeface="华文中宋" panose="02010600040101010101" pitchFamily="2" charset="-122"/>
          <a:ea typeface="华文中宋" panose="02010600040101010101" pitchFamily="2" charset="-122"/>
        </a:defRPr>
      </a:lvl9pPr>
    </p:titleStyle>
    <p:bodyStyle>
      <a:lvl1pPr marL="361950" indent="-361950" algn="just" defTabSz="685800" rtl="0" fontAlgn="base">
        <a:lnSpc>
          <a:spcPct val="110000"/>
        </a:lnSpc>
        <a:spcBef>
          <a:spcPts val="12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l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61950" indent="-361950" algn="l" defTabSz="685800" rtl="0" fontAlgn="base">
        <a:lnSpc>
          <a:spcPct val="120000"/>
        </a:lnSpc>
        <a:spcBef>
          <a:spcPct val="0"/>
        </a:spcBef>
        <a:spcAft>
          <a:spcPts val="1200"/>
        </a:spcAft>
        <a:buClr>
          <a:srgbClr val="E5A997"/>
        </a:buClr>
        <a:buFont typeface="幼圆" panose="02010509060101010101" pitchFamily="49" charset="-122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9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9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5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566738" y="1476375"/>
            <a:ext cx="8008937" cy="487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  <p:sp>
        <p:nvSpPr>
          <p:cNvPr id="512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B3191403-9BB2-424E-A8BB-7CB1475A9DB0}" type="datetime1">
              <a:rPr lang="zh-CN" altLang="en-US"/>
              <a:t>2022/12/8</a:t>
            </a:fld>
            <a:endParaRPr lang="en-US"/>
          </a:p>
        </p:txBody>
      </p:sp>
      <p:sp>
        <p:nvSpPr>
          <p:cNvPr id="512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403975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403975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1F8672DB-A52B-402A-AC56-6EAF7309D802}" type="slidenum">
              <a:rPr lang="zh-CN" altLang="en-US"/>
              <a:t>‹#›</a:t>
            </a:fld>
            <a:endParaRPr lang="en-US"/>
          </a:p>
        </p:txBody>
      </p:sp>
      <p:sp>
        <p:nvSpPr>
          <p:cNvPr id="3079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566738" y="368300"/>
            <a:ext cx="8008937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华文中宋" panose="02010600040101010101" pitchFamily="2" charset="-122"/>
        </a:defRPr>
      </a:lvl9pPr>
    </p:titleStyle>
    <p:bodyStyle>
      <a:lvl1pPr marL="266700" indent="-266700"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2"/>
        </a:buClr>
        <a:buSzPct val="80000"/>
        <a:buFont typeface="Wingdings 2" panose="05020102010507070707" pitchFamily="18" charset="2"/>
        <a:buChar char="ö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266700" indent="-266700" algn="l" defTabSz="685800" rtl="0" fontAlgn="base">
        <a:lnSpc>
          <a:spcPct val="130000"/>
        </a:lnSpc>
        <a:spcBef>
          <a:spcPct val="0"/>
        </a:spcBef>
        <a:spcAft>
          <a:spcPct val="0"/>
        </a:spcAft>
        <a:buFont typeface="Calibri" panose="020F0502020204030204" pitchFamily="34" charset="0"/>
        <a:buChar char=" 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500" kern="1200">
          <a:solidFill>
            <a:srgbClr val="303030"/>
          </a:solidFill>
          <a:latin typeface="+mn-lt"/>
          <a:ea typeface="+mn-ea"/>
          <a:cs typeface="+mn-cs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30303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矩形 11"/>
          <p:cNvGrpSpPr/>
          <p:nvPr/>
        </p:nvGrpSpPr>
        <p:grpSpPr bwMode="auto">
          <a:xfrm>
            <a:off x="0" y="0"/>
            <a:ext cx="9150350" cy="6888163"/>
            <a:chOff x="0" y="0"/>
            <a:chExt cx="5764" cy="4339"/>
          </a:xfrm>
        </p:grpSpPr>
        <p:pic>
          <p:nvPicPr>
            <p:cNvPr id="4099" name="矩形 11"/>
            <p:cNvPicPr>
              <a:picLocks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4" cy="43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72" name="Text Box 4"/>
            <p:cNvSpPr txBox="1">
              <a:spLocks noChangeArrowheads="1"/>
            </p:cNvSpPr>
            <p:nvPr/>
          </p:nvSpPr>
          <p:spPr bwMode="auto">
            <a:xfrm>
              <a:off x="0" y="0"/>
              <a:ext cx="5762" cy="43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defRPr/>
              </a:pPr>
              <a:endParaRPr lang="zh-CN" altLang="en-US" sz="1300">
                <a:solidFill>
                  <a:srgbClr val="FFFFFF"/>
                </a:solidFill>
              </a:endParaRPr>
            </a:p>
          </p:txBody>
        </p:sp>
      </p:grpSp>
      <p:sp>
        <p:nvSpPr>
          <p:cNvPr id="4101" name="Text Placeholder 2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85775" y="1135063"/>
            <a:ext cx="8089900" cy="5345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>
                <a:sym typeface="Arial" panose="020B060402020202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宋体" panose="02010600030101010101" pitchFamily="2" charset="-122"/>
              </a:rPr>
              <a:t>第二级</a:t>
            </a:r>
          </a:p>
          <a:p>
            <a:pPr lvl="2"/>
            <a:r>
              <a:rPr lang="zh-CN" altLang="en-US">
                <a:sym typeface="宋体" panose="02010600030101010101" pitchFamily="2" charset="-122"/>
              </a:rPr>
              <a:t>第三级</a:t>
            </a:r>
          </a:p>
          <a:p>
            <a:pPr lvl="3"/>
            <a:r>
              <a:rPr lang="zh-CN" altLang="en-US">
                <a:sym typeface="宋体" panose="02010600030101010101" pitchFamily="2" charset="-122"/>
              </a:rPr>
              <a:t>第四级</a:t>
            </a:r>
          </a:p>
        </p:txBody>
      </p:sp>
      <p:sp>
        <p:nvSpPr>
          <p:cNvPr id="7174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286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86C121FE-698C-4C79-A3F4-AD86EFCAADA7}" type="datetime1">
              <a:rPr lang="zh-CN" altLang="en-US"/>
              <a:t>2022/12/8</a:t>
            </a:fld>
            <a:endParaRPr lang="en-US"/>
          </a:p>
        </p:txBody>
      </p:sp>
      <p:sp>
        <p:nvSpPr>
          <p:cNvPr id="7175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28950" y="6508750"/>
            <a:ext cx="30861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ct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76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457950" y="6508750"/>
            <a:ext cx="20574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>
            <a:lvl1pPr algn="r">
              <a:defRPr sz="900" smtClean="0"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44DC649-F695-46C3-B7FF-3FC4AA7FFBA1}" type="slidenum">
              <a:rPr lang="zh-CN" altLang="en-US"/>
              <a:t>‹#›</a:t>
            </a:fld>
            <a:endParaRPr lang="en-US"/>
          </a:p>
        </p:txBody>
      </p:sp>
      <p:sp>
        <p:nvSpPr>
          <p:cNvPr id="4105" name="Title Placeholder 1"/>
          <p:cNvSpPr>
            <a:spLocks noGrp="1" noChangeArrowheads="1"/>
          </p:cNvSpPr>
          <p:nvPr>
            <p:ph type="title" idx="9"/>
          </p:nvPr>
        </p:nvSpPr>
        <p:spPr bwMode="auto">
          <a:xfrm>
            <a:off x="485775" y="255588"/>
            <a:ext cx="80899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cxnSp>
        <p:nvCxnSpPr>
          <p:cNvPr id="4106" name="直接连接符 8"/>
          <p:cNvCxnSpPr>
            <a:cxnSpLocks noChangeShapeType="1"/>
          </p:cNvCxnSpPr>
          <p:nvPr/>
        </p:nvCxnSpPr>
        <p:spPr bwMode="auto">
          <a:xfrm flipH="1">
            <a:off x="57150" y="6480175"/>
            <a:ext cx="8980488" cy="0"/>
          </a:xfrm>
          <a:prstGeom prst="line">
            <a:avLst/>
          </a:prstGeom>
          <a:noFill/>
          <a:ln w="15875">
            <a:solidFill>
              <a:srgbClr val="28A9D6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4107" name="Freeform 5"/>
          <p:cNvGrpSpPr/>
          <p:nvPr/>
        </p:nvGrpSpPr>
        <p:grpSpPr bwMode="auto">
          <a:xfrm>
            <a:off x="5595938" y="5657850"/>
            <a:ext cx="3194050" cy="822325"/>
            <a:chOff x="0" y="0"/>
            <a:chExt cx="2012" cy="518"/>
          </a:xfrm>
        </p:grpSpPr>
        <p:pic>
          <p:nvPicPr>
            <p:cNvPr id="4108" name="Freeform 5"/>
            <p:cNvPicPr>
              <a:picLocks noEditPoints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2012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181" name="Text Box 13"/>
            <p:cNvSpPr txBox="1">
              <a:spLocks noChangeArrowheads="1"/>
            </p:cNvSpPr>
            <p:nvPr/>
          </p:nvSpPr>
          <p:spPr bwMode="auto">
            <a:xfrm>
              <a:off x="-1" y="1"/>
              <a:ext cx="2009" cy="5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defRPr/>
              </a:pPr>
              <a:endParaRPr lang="zh-CN" altLang="en-US"/>
            </a:p>
          </p:txBody>
        </p:sp>
      </p:grpSp>
      <p:sp>
        <p:nvSpPr>
          <p:cNvPr id="4110" name="任意多边形 10"/>
          <p:cNvSpPr>
            <a:spLocks noChangeArrowheads="1"/>
          </p:cNvSpPr>
          <p:nvPr/>
        </p:nvSpPr>
        <p:spPr bwMode="auto">
          <a:xfrm flipV="1">
            <a:off x="244475" y="423863"/>
            <a:ext cx="8977313" cy="431800"/>
          </a:xfrm>
          <a:custGeom>
            <a:avLst/>
            <a:gdLst>
              <a:gd name="T0" fmla="*/ 167822 w 11969073"/>
              <a:gd name="T1" fmla="*/ 524933 h 524933"/>
              <a:gd name="T2" fmla="*/ 168846 w 11969073"/>
              <a:gd name="T3" fmla="*/ 524933 h 524933"/>
              <a:gd name="T4" fmla="*/ 168846 w 11969073"/>
              <a:gd name="T5" fmla="*/ 14598 h 524933"/>
              <a:gd name="T6" fmla="*/ 1386790 w 11969073"/>
              <a:gd name="T7" fmla="*/ 14598 h 524933"/>
              <a:gd name="T8" fmla="*/ 11969073 w 11969073"/>
              <a:gd name="T9" fmla="*/ 0 h 524933"/>
              <a:gd name="T10" fmla="*/ 167822 w 11969073"/>
              <a:gd name="T11" fmla="*/ 0 h 524933"/>
              <a:gd name="T12" fmla="*/ 152999 w 11969073"/>
              <a:gd name="T13" fmla="*/ 0 h 524933"/>
              <a:gd name="T14" fmla="*/ 152999 w 11969073"/>
              <a:gd name="T15" fmla="*/ 507260 h 524933"/>
              <a:gd name="T16" fmla="*/ 107280 w 11969073"/>
              <a:gd name="T17" fmla="*/ 507260 h 524933"/>
              <a:gd name="T18" fmla="*/ 107280 w 11969073"/>
              <a:gd name="T19" fmla="*/ 0 h 524933"/>
              <a:gd name="T20" fmla="*/ 0 w 11969073"/>
              <a:gd name="T21" fmla="*/ 0 h 524933"/>
              <a:gd name="T22" fmla="*/ 0 w 11969073"/>
              <a:gd name="T23" fmla="*/ 524932 h 524933"/>
              <a:gd name="T24" fmla="*/ 33834 w 11969073"/>
              <a:gd name="T25" fmla="*/ 524932 h 524933"/>
              <a:gd name="T26" fmla="*/ 33834 w 11969073"/>
              <a:gd name="T27" fmla="*/ 23810 h 524933"/>
              <a:gd name="T28" fmla="*/ 79553 w 11969073"/>
              <a:gd name="T29" fmla="*/ 23810 h 524933"/>
              <a:gd name="T30" fmla="*/ 79553 w 11969073"/>
              <a:gd name="T31" fmla="*/ 524932 h 524933"/>
              <a:gd name="T32" fmla="*/ 167822 w 11969073"/>
              <a:gd name="T33" fmla="*/ 524932 h 524933"/>
              <a:gd name="T34" fmla="*/ 167822 w 11969073"/>
              <a:gd name="T35" fmla="*/ 524933 h 52493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</a:cxnLst>
            <a:rect l="0" t="0" r="r" b="b"/>
            <a:pathLst>
              <a:path w="11969073" h="524933">
                <a:moveTo>
                  <a:pt x="167822" y="524933"/>
                </a:moveTo>
                <a:lnTo>
                  <a:pt x="168846" y="524933"/>
                </a:lnTo>
                <a:lnTo>
                  <a:pt x="168846" y="14598"/>
                </a:lnTo>
                <a:lnTo>
                  <a:pt x="1386790" y="14598"/>
                </a:lnTo>
                <a:lnTo>
                  <a:pt x="11969073" y="0"/>
                </a:lnTo>
                <a:lnTo>
                  <a:pt x="167822" y="0"/>
                </a:lnTo>
                <a:lnTo>
                  <a:pt x="152999" y="0"/>
                </a:lnTo>
                <a:lnTo>
                  <a:pt x="152999" y="507260"/>
                </a:lnTo>
                <a:lnTo>
                  <a:pt x="107280" y="507260"/>
                </a:lnTo>
                <a:lnTo>
                  <a:pt x="107280" y="0"/>
                </a:lnTo>
                <a:lnTo>
                  <a:pt x="0" y="0"/>
                </a:lnTo>
                <a:lnTo>
                  <a:pt x="0" y="524932"/>
                </a:lnTo>
                <a:lnTo>
                  <a:pt x="33834" y="524932"/>
                </a:lnTo>
                <a:lnTo>
                  <a:pt x="33834" y="23810"/>
                </a:lnTo>
                <a:lnTo>
                  <a:pt x="79553" y="23810"/>
                </a:lnTo>
                <a:lnTo>
                  <a:pt x="79553" y="524932"/>
                </a:lnTo>
                <a:lnTo>
                  <a:pt x="167822" y="524932"/>
                </a:lnTo>
                <a:lnTo>
                  <a:pt x="167822" y="524933"/>
                </a:lnTo>
                <a:close/>
              </a:path>
            </a:pathLst>
          </a:custGeom>
          <a:solidFill>
            <a:srgbClr val="28A9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/>
          <a:lstStyle/>
          <a:p>
            <a:pPr eaLnBrk="0" hangingPunc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1A93C8"/>
          </a:solidFill>
          <a:latin typeface="+mj-lt"/>
          <a:ea typeface="+mj-ea"/>
          <a:cs typeface="+mj-cs"/>
        </a:defRPr>
      </a:lvl1pPr>
      <a:lvl2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2pPr>
      <a:lvl3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3pPr>
      <a:lvl4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4pPr>
      <a:lvl5pPr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5pPr>
      <a:lvl6pPr marL="4572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6pPr>
      <a:lvl7pPr marL="9144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7pPr>
      <a:lvl8pPr marL="13716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8pPr>
      <a:lvl9pPr marL="1828800" algn="l" defTabSz="685800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1A93C8"/>
          </a:solidFill>
          <a:latin typeface="Times New Roman" panose="02020603050405020304" pitchFamily="18" charset="0"/>
          <a:ea typeface="华文中宋" panose="02010600040101010101" pitchFamily="2" charset="-122"/>
        </a:defRPr>
      </a:lvl9pPr>
    </p:titleStyle>
    <p:bodyStyle>
      <a:lvl1pPr algn="l" defTabSz="685800" rtl="0" fontAlgn="base">
        <a:lnSpc>
          <a:spcPct val="90000"/>
        </a:lnSpc>
        <a:spcBef>
          <a:spcPts val="1350"/>
        </a:spcBef>
        <a:spcAft>
          <a:spcPct val="0"/>
        </a:spcAft>
        <a:buClr>
          <a:schemeClr val="accent1"/>
        </a:buClr>
        <a:buSzPct val="60000"/>
        <a:buFont typeface="Wingdings 2" panose="05020102010507070707" pitchFamily="18" charset="2"/>
        <a:buChar char=""/>
        <a:defRPr sz="2400" kern="1200">
          <a:solidFill>
            <a:srgbClr val="1A93C8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628650" indent="-342900" algn="l" defTabSz="685800" rtl="0" fontAlgn="base">
        <a:lnSpc>
          <a:spcPct val="130000"/>
        </a:lnSpc>
        <a:spcBef>
          <a:spcPct val="0"/>
        </a:spcBef>
        <a:spcAft>
          <a:spcPct val="0"/>
        </a:spcAft>
        <a:buSzPct val="80000"/>
        <a:buFont typeface="Wingdings" panose="05000000000000000000" pitchFamily="2" charset="2"/>
        <a:buChar char="ü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2pPr>
      <a:lvl3pPr marL="8572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3pPr>
      <a:lvl4pPr marL="12001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宋体" panose="02010600030101010101" pitchFamily="2" charset="-122"/>
        </a:defRPr>
      </a:lvl4pPr>
      <a:lvl5pPr marL="1543050" indent="-171450" algn="l" defTabSz="685800" rtl="0" fontAlgn="base">
        <a:lnSpc>
          <a:spcPct val="90000"/>
        </a:lnSpc>
        <a:spcBef>
          <a:spcPts val="375"/>
        </a:spcBef>
        <a:spcAft>
          <a:spcPct val="0"/>
        </a:spcAft>
        <a:buFont typeface="Calibri" panose="020F0502020204030204" pitchFamily="34" charset="0"/>
        <a:buChar char="•"/>
        <a:defRPr sz="1300" kern="1200">
          <a:solidFill>
            <a:srgbClr val="7F7F7F"/>
          </a:solidFill>
          <a:latin typeface="+mn-lt"/>
          <a:ea typeface="幼圆" panose="02010509060101010101" pitchFamily="49" charset="-122"/>
          <a:cs typeface="+mn-cs"/>
          <a:sym typeface="宋体" panose="02010600030101010101" pitchFamily="2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7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22" descr="aaaa002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0" y="0"/>
            <a:ext cx="9144000" cy="122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61950" y="119063"/>
            <a:ext cx="8547100" cy="54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279400" y="1096963"/>
            <a:ext cx="8636000" cy="497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692568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</p:sldLayoutIdLst>
  <p:transition spd="med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990000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lnSpc>
          <a:spcPct val="150000"/>
        </a:lnSpc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Char char="Ø"/>
        <a:defRPr sz="2800" b="1">
          <a:solidFill>
            <a:schemeClr val="hlink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00"/>
        </a:buClr>
        <a:buFont typeface="Wingdings" pitchFamily="2" charset="2"/>
        <a:buChar char="l"/>
        <a:defRPr sz="2400" b="1">
          <a:solidFill>
            <a:srgbClr val="000000"/>
          </a:solidFill>
          <a:latin typeface="+mn-lt"/>
          <a:ea typeface="楷体_GB2312" pitchFamily="49" charset="-122"/>
        </a:defRPr>
      </a:lvl2pPr>
      <a:lvl3pPr marL="11430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itchFamily="2" charset="2"/>
        <a:buChar char="þ"/>
        <a:defRPr sz="2400" b="1">
          <a:solidFill>
            <a:srgbClr val="A85400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45000"/>
        </a:lnSpc>
        <a:spcBef>
          <a:spcPct val="20000"/>
        </a:spcBef>
        <a:spcAft>
          <a:spcPct val="0"/>
        </a:spcAft>
        <a:buBlip>
          <a:blip r:embed="rId9"/>
        </a:buBlip>
        <a:defRPr sz="1600" b="1">
          <a:solidFill>
            <a:srgbClr val="800080"/>
          </a:solidFill>
          <a:latin typeface="+mn-lt"/>
          <a:ea typeface="楷体_GB2312" pitchFamily="49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35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eg"/><Relationship Id="rId3" Type="http://schemas.openxmlformats.org/officeDocument/2006/relationships/image" Target="../media/image19.jpeg"/><Relationship Id="rId7" Type="http://schemas.openxmlformats.org/officeDocument/2006/relationships/image" Target="../media/image2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5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20.jpeg"/><Relationship Id="rId9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91887" y="2677886"/>
            <a:ext cx="8501742" cy="1001485"/>
          </a:xfrm>
        </p:spPr>
        <p:txBody>
          <a:bodyPr/>
          <a:lstStyle/>
          <a:p>
            <a:r>
              <a:rPr lang="zh-CN" altLang="en-US" sz="4000" dirty="0">
                <a:solidFill>
                  <a:srgbClr val="000000"/>
                </a:solidFill>
              </a:rPr>
              <a:t>计算导论与程序设计</a:t>
            </a:r>
          </a:p>
        </p:txBody>
      </p:sp>
      <p:sp>
        <p:nvSpPr>
          <p:cNvPr id="10242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228975" y="4664655"/>
            <a:ext cx="2625725" cy="489238"/>
          </a:xfrm>
        </p:spPr>
        <p:txBody>
          <a:bodyPr/>
          <a:lstStyle/>
          <a:p>
            <a:r>
              <a:rPr lang="zh-CN" altLang="en-US" sz="2400" dirty="0"/>
              <a:t>位运算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4" name="Picture 2" descr="http://www.sdu.edu.cn/2010/images/top222.jpg"/>
          <p:cNvPicPr>
            <a:picLocks noChangeAspect="1" noChangeArrowheads="1"/>
          </p:cNvPicPr>
          <p:nvPr/>
        </p:nvPicPr>
        <p:blipFill>
          <a:blip r:embed="rId2" cstate="print"/>
          <a:srcRect b="9109"/>
          <a:stretch>
            <a:fillRect/>
          </a:stretch>
        </p:blipFill>
        <p:spPr bwMode="auto">
          <a:xfrm>
            <a:off x="0" y="130629"/>
            <a:ext cx="9144000" cy="254725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30DCD"/>
                </a:solidFill>
              </a:rPr>
              <a:t>位运算</a:t>
            </a:r>
            <a:r>
              <a:rPr lang="zh-CN" altLang="en-US" dirty="0"/>
              <a:t>的概念与分类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4" y="1135063"/>
            <a:ext cx="8238775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7030A0"/>
                </a:solidFill>
              </a:rPr>
              <a:t>位逻辑</a:t>
            </a:r>
            <a:r>
              <a:rPr lang="zh-CN" altLang="en-US" dirty="0"/>
              <a:t>运算</a:t>
            </a:r>
            <a:endParaRPr lang="en-US" altLang="zh-CN" dirty="0"/>
          </a:p>
          <a:p>
            <a:pPr marL="971550" lvl="1"/>
            <a:r>
              <a:rPr lang="zh-CN" altLang="en-US" dirty="0"/>
              <a:t>只作用于</a:t>
            </a:r>
            <a:r>
              <a:rPr lang="zh-CN" altLang="en-US" b="1" dirty="0">
                <a:solidFill>
                  <a:srgbClr val="FF0000"/>
                </a:solidFill>
              </a:rPr>
              <a:t>整型、字符型</a:t>
            </a:r>
            <a:r>
              <a:rPr lang="zh-CN" altLang="en-US" dirty="0"/>
              <a:t>数据；</a:t>
            </a:r>
            <a:endParaRPr lang="en-US" altLang="zh-CN" dirty="0"/>
          </a:p>
          <a:p>
            <a:pPr marL="971550" lvl="1"/>
            <a:r>
              <a:rPr lang="zh-CN" altLang="en-US" b="1" dirty="0">
                <a:solidFill>
                  <a:srgbClr val="FF0000"/>
                </a:solidFill>
              </a:rPr>
              <a:t>按位</a:t>
            </a:r>
            <a:r>
              <a:rPr lang="zh-CN" altLang="en-US" dirty="0">
                <a:solidFill>
                  <a:srgbClr val="030DCD"/>
                </a:solidFill>
              </a:rPr>
              <a:t>逻辑运算</a:t>
            </a:r>
            <a:r>
              <a:rPr lang="zh-CN" altLang="en-US" dirty="0"/>
              <a:t>：</a:t>
            </a:r>
            <a:r>
              <a:rPr lang="en-US" altLang="zh-CN" dirty="0"/>
              <a:t>&amp;  |  ~  ^</a:t>
            </a:r>
            <a:r>
              <a:rPr lang="zh-CN" altLang="en-US" dirty="0"/>
              <a:t>； </a:t>
            </a:r>
            <a:r>
              <a:rPr lang="en-US" altLang="zh-CN" sz="1600" dirty="0"/>
              <a:t>//</a:t>
            </a:r>
            <a:r>
              <a:rPr lang="zh-CN" altLang="en-US" sz="1600" dirty="0"/>
              <a:t>按位</a:t>
            </a:r>
            <a:r>
              <a:rPr lang="zh-CN" altLang="en-US" sz="1600" dirty="0">
                <a:solidFill>
                  <a:srgbClr val="030DCD"/>
                </a:solidFill>
              </a:rPr>
              <a:t>与</a:t>
            </a:r>
            <a:r>
              <a:rPr lang="zh-CN" altLang="en-US" sz="1600" dirty="0"/>
              <a:t>，按位</a:t>
            </a:r>
            <a:r>
              <a:rPr lang="zh-CN" altLang="en-US" sz="1600" dirty="0">
                <a:solidFill>
                  <a:srgbClr val="030DCD"/>
                </a:solidFill>
              </a:rPr>
              <a:t>或</a:t>
            </a:r>
            <a:r>
              <a:rPr lang="zh-CN" altLang="en-US" sz="1600" dirty="0"/>
              <a:t>，按位</a:t>
            </a:r>
            <a:r>
              <a:rPr lang="zh-CN" altLang="en-US" sz="1600" dirty="0">
                <a:solidFill>
                  <a:srgbClr val="030DCD"/>
                </a:solidFill>
              </a:rPr>
              <a:t>取反</a:t>
            </a:r>
            <a:r>
              <a:rPr lang="zh-CN" altLang="en-US" sz="1600" dirty="0"/>
              <a:t>，按位</a:t>
            </a:r>
            <a:r>
              <a:rPr lang="zh-CN" altLang="en-US" sz="1600" dirty="0">
                <a:solidFill>
                  <a:srgbClr val="030DCD"/>
                </a:solidFill>
              </a:rPr>
              <a:t>异或</a:t>
            </a:r>
            <a:endParaRPr lang="en-US" altLang="zh-CN" sz="16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7030A0"/>
                </a:solidFill>
              </a:rPr>
              <a:t>位移位</a:t>
            </a:r>
            <a:r>
              <a:rPr lang="zh-CN" altLang="en-US" dirty="0"/>
              <a:t>运算</a:t>
            </a:r>
            <a:endParaRPr lang="en-US" altLang="zh-CN" dirty="0"/>
          </a:p>
          <a:p>
            <a:pPr marL="971550" lvl="1"/>
            <a:r>
              <a:rPr lang="zh-CN" altLang="en-US" dirty="0">
                <a:solidFill>
                  <a:srgbClr val="030DCD"/>
                </a:solidFill>
              </a:rPr>
              <a:t>左移：</a:t>
            </a:r>
            <a:r>
              <a:rPr lang="en-US" altLang="zh-CN" dirty="0">
                <a:solidFill>
                  <a:srgbClr val="030DCD"/>
                </a:solidFill>
              </a:rPr>
              <a:t>&lt;&lt;</a:t>
            </a:r>
          </a:p>
          <a:p>
            <a:pPr marL="1371600" lvl="2" indent="-342900"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006600"/>
                </a:solidFill>
              </a:rPr>
              <a:t>左移一位，相当于乘以</a:t>
            </a:r>
            <a:r>
              <a:rPr lang="en-US" altLang="zh-CN" sz="1800" b="1" dirty="0">
                <a:solidFill>
                  <a:srgbClr val="006600"/>
                </a:solidFill>
              </a:rPr>
              <a:t>2</a:t>
            </a:r>
            <a:r>
              <a:rPr lang="zh-CN" altLang="en-US" sz="1800" b="1" dirty="0">
                <a:solidFill>
                  <a:srgbClr val="006600"/>
                </a:solidFill>
              </a:rPr>
              <a:t>；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1371600" lvl="2" indent="-342900">
              <a:buFont typeface="Arial" panose="020B0604020202020204" pitchFamily="34" charset="0"/>
              <a:buChar char="•"/>
            </a:pPr>
            <a:r>
              <a:rPr lang="zh-CN" altLang="en-US" sz="1800" dirty="0"/>
              <a:t>舍弃溢出位，低位补</a:t>
            </a:r>
            <a:r>
              <a:rPr lang="en-US" altLang="zh-CN" sz="1800" dirty="0"/>
              <a:t>0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/>
            <a:r>
              <a:rPr lang="zh-CN" altLang="en-US" dirty="0">
                <a:solidFill>
                  <a:srgbClr val="030DCD"/>
                </a:solidFill>
              </a:rPr>
              <a:t>右移</a:t>
            </a:r>
            <a:r>
              <a:rPr lang="en-US" altLang="zh-CN" dirty="0">
                <a:solidFill>
                  <a:srgbClr val="030DCD"/>
                </a:solidFill>
              </a:rPr>
              <a:t>:  &gt;&gt;</a:t>
            </a:r>
          </a:p>
          <a:p>
            <a:pPr marL="1200150" lvl="2"/>
            <a:r>
              <a:rPr lang="zh-CN" altLang="en-US" sz="1800" b="1" dirty="0">
                <a:solidFill>
                  <a:srgbClr val="006600"/>
                </a:solidFill>
              </a:rPr>
              <a:t>右移一位，相当于除以</a:t>
            </a:r>
            <a:r>
              <a:rPr lang="en-US" altLang="zh-CN" sz="1800" b="1" dirty="0">
                <a:solidFill>
                  <a:srgbClr val="006600"/>
                </a:solidFill>
              </a:rPr>
              <a:t>2</a:t>
            </a:r>
            <a:r>
              <a:rPr lang="zh-CN" altLang="en-US" sz="1800" b="1" dirty="0">
                <a:solidFill>
                  <a:srgbClr val="006600"/>
                </a:solidFill>
              </a:rPr>
              <a:t>；</a:t>
            </a:r>
            <a:endParaRPr lang="en-US" altLang="zh-CN" sz="1800" b="1" dirty="0">
              <a:solidFill>
                <a:srgbClr val="006600"/>
              </a:solidFill>
            </a:endParaRPr>
          </a:p>
          <a:p>
            <a:pPr marL="1200150" lvl="2"/>
            <a:r>
              <a:rPr lang="zh-CN" altLang="en-US" sz="1800" b="1" dirty="0">
                <a:solidFill>
                  <a:srgbClr val="7030A0"/>
                </a:solidFill>
              </a:rPr>
              <a:t>关于右移后高位补位问题</a:t>
            </a:r>
            <a:endParaRPr lang="en-US" altLang="zh-CN" sz="1800" b="1" dirty="0">
              <a:solidFill>
                <a:srgbClr val="7030A0"/>
              </a:solidFill>
            </a:endParaRP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00000"/>
                </a:solidFill>
              </a:rPr>
              <a:t>算术右移</a:t>
            </a:r>
            <a:r>
              <a:rPr lang="zh-CN" altLang="en-US" dirty="0"/>
              <a:t>，高位补符号位；</a:t>
            </a:r>
            <a:r>
              <a:rPr lang="zh-CN" altLang="en-US" dirty="0">
                <a:solidFill>
                  <a:srgbClr val="030DCD"/>
                </a:solidFill>
              </a:rPr>
              <a:t>相当于除以</a:t>
            </a:r>
            <a:r>
              <a:rPr lang="en-US" altLang="zh-CN" dirty="0">
                <a:solidFill>
                  <a:srgbClr val="030DCD"/>
                </a:solidFill>
              </a:rPr>
              <a:t>2</a:t>
            </a:r>
            <a:r>
              <a:rPr lang="zh-CN" altLang="en-US" dirty="0">
                <a:solidFill>
                  <a:srgbClr val="030DCD"/>
                </a:solidFill>
              </a:rPr>
              <a:t>，符号位不变</a:t>
            </a:r>
            <a:r>
              <a:rPr lang="zh-CN" altLang="en-US" dirty="0"/>
              <a:t>；</a:t>
            </a:r>
            <a:r>
              <a:rPr lang="en-US" altLang="zh-CN" dirty="0"/>
              <a:t>(</a:t>
            </a:r>
            <a:r>
              <a:rPr lang="zh-CN" altLang="en-US" dirty="0">
                <a:solidFill>
                  <a:srgbClr val="FF0000"/>
                </a:solidFill>
              </a:rPr>
              <a:t>有符号数右移</a:t>
            </a:r>
            <a:r>
              <a:rPr lang="en-US" altLang="zh-CN" dirty="0"/>
              <a:t>)</a:t>
            </a:r>
          </a:p>
          <a:p>
            <a:pPr marL="1657350" lvl="3" indent="-285750">
              <a:buFont typeface="Wingdings" panose="05000000000000000000" pitchFamily="2" charset="2"/>
              <a:buChar char="Ø"/>
            </a:pPr>
            <a:r>
              <a:rPr lang="zh-CN" altLang="en-US" dirty="0">
                <a:solidFill>
                  <a:srgbClr val="C00000"/>
                </a:solidFill>
              </a:rPr>
              <a:t>逻辑右移</a:t>
            </a:r>
            <a:r>
              <a:rPr lang="zh-CN" altLang="en-US" dirty="0"/>
              <a:t>，高位补</a:t>
            </a:r>
            <a:r>
              <a:rPr lang="en-US" altLang="zh-CN" dirty="0"/>
              <a:t>0</a:t>
            </a:r>
            <a:r>
              <a:rPr lang="zh-CN" altLang="en-US" dirty="0"/>
              <a:t>；</a:t>
            </a:r>
            <a:r>
              <a:rPr lang="en-US" altLang="zh-CN" dirty="0"/>
              <a:t>(</a:t>
            </a:r>
            <a:r>
              <a:rPr lang="zh-CN" altLang="en-US" b="1" dirty="0">
                <a:solidFill>
                  <a:srgbClr val="C00000"/>
                </a:solidFill>
              </a:rPr>
              <a:t>相当于无符号数右移</a:t>
            </a:r>
            <a:r>
              <a:rPr lang="en-US" altLang="zh-CN" b="1" dirty="0">
                <a:solidFill>
                  <a:srgbClr val="C00000"/>
                </a:solidFill>
              </a:rPr>
              <a:t>)</a:t>
            </a:r>
            <a:r>
              <a:rPr lang="zh-CN" altLang="en-US" dirty="0"/>
              <a:t>；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b="1" u="sng" dirty="0">
                <a:solidFill>
                  <a:srgbClr val="030DCD"/>
                </a:solidFill>
              </a:rPr>
              <a:t>注：位运算是基于</a:t>
            </a:r>
            <a:r>
              <a:rPr lang="zh-CN" altLang="en-US" b="1" u="sng" dirty="0">
                <a:solidFill>
                  <a:srgbClr val="C00000"/>
                </a:solidFill>
              </a:rPr>
              <a:t>变量的机器数</a:t>
            </a:r>
            <a:r>
              <a:rPr lang="zh-CN" altLang="en-US" b="1" u="sng" dirty="0">
                <a:solidFill>
                  <a:srgbClr val="030DCD"/>
                </a:solidFill>
              </a:rPr>
              <a:t>进行的运算；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42129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/>
          <p:cNvSpPr>
            <a:spLocks noGrp="1" noChangeArrowheads="1"/>
          </p:cNvSpPr>
          <p:nvPr>
            <p:ph type="title"/>
          </p:nvPr>
        </p:nvSpPr>
        <p:spPr>
          <a:xfrm>
            <a:off x="485775" y="255588"/>
            <a:ext cx="8077200" cy="584200"/>
          </a:xfrm>
        </p:spPr>
        <p:txBody>
          <a:bodyPr/>
          <a:lstStyle/>
          <a:p>
            <a:r>
              <a:rPr lang="zh-CN" altLang="en-US" sz="3200" dirty="0"/>
              <a:t>位逻辑运算</a:t>
            </a:r>
            <a:endParaRPr lang="en-US" altLang="zh-CN" sz="3200" dirty="0"/>
          </a:p>
        </p:txBody>
      </p:sp>
      <p:sp>
        <p:nvSpPr>
          <p:cNvPr id="52226" name="Rectangle 3"/>
          <p:cNvSpPr>
            <a:spLocks noGrp="1" noChangeArrowheads="1"/>
          </p:cNvSpPr>
          <p:nvPr>
            <p:ph idx="1"/>
          </p:nvPr>
        </p:nvSpPr>
        <p:spPr>
          <a:xfrm>
            <a:off x="485775" y="1136649"/>
            <a:ext cx="8080375" cy="5002893"/>
          </a:xfrm>
        </p:spPr>
        <p:txBody>
          <a:bodyPr/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</a:rPr>
              <a:t>位逻辑运算</a:t>
            </a:r>
            <a:r>
              <a:rPr lang="zh-CN" altLang="en-US" b="1" dirty="0"/>
              <a:t>（符）</a:t>
            </a:r>
            <a:r>
              <a:rPr lang="zh-CN" altLang="en-US" dirty="0"/>
              <a:t>：</a:t>
            </a:r>
          </a:p>
          <a:p>
            <a:pPr marL="971550" lvl="1">
              <a:lnSpc>
                <a:spcPct val="120000"/>
              </a:lnSpc>
            </a:pPr>
            <a:r>
              <a:rPr lang="en-US" altLang="zh-CN" b="1" dirty="0">
                <a:solidFill>
                  <a:srgbClr val="7030A0"/>
                </a:solidFill>
              </a:rPr>
              <a:t>&amp;   |   ^    ~</a:t>
            </a: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030DCD"/>
                </a:solidFill>
              </a:rPr>
              <a:t>位逻辑运算的特点</a:t>
            </a:r>
            <a:endParaRPr lang="en-US" altLang="zh-CN" b="1" dirty="0">
              <a:solidFill>
                <a:srgbClr val="030DCD"/>
              </a:solidFill>
            </a:endParaRPr>
          </a:p>
          <a:p>
            <a:pPr marL="971550" lvl="1">
              <a:lnSpc>
                <a:spcPct val="120000"/>
              </a:lnSpc>
            </a:pPr>
            <a:r>
              <a:rPr lang="en-US" altLang="zh-CN" dirty="0"/>
              <a:t> </a:t>
            </a:r>
            <a:r>
              <a:rPr lang="zh-CN" altLang="en-US" dirty="0"/>
              <a:t>只作用于</a:t>
            </a:r>
            <a:r>
              <a:rPr lang="zh-CN" altLang="en-US" dirty="0">
                <a:solidFill>
                  <a:srgbClr val="7030A0"/>
                </a:solidFill>
              </a:rPr>
              <a:t>整型、字符型</a:t>
            </a:r>
            <a:r>
              <a:rPr lang="zh-CN" altLang="en-US" dirty="0"/>
              <a:t>数据；</a:t>
            </a:r>
          </a:p>
          <a:p>
            <a:pPr marL="971550" lvl="1">
              <a:lnSpc>
                <a:spcPct val="120000"/>
              </a:lnSpc>
            </a:pPr>
            <a:r>
              <a:rPr lang="zh-CN" altLang="en-US" dirty="0"/>
              <a:t> 作用于整型、字符型数据的</a:t>
            </a:r>
            <a:r>
              <a:rPr lang="zh-CN" altLang="en-US" dirty="0">
                <a:solidFill>
                  <a:srgbClr val="7030A0"/>
                </a:solidFill>
              </a:rPr>
              <a:t>每个二进制位</a:t>
            </a:r>
            <a:r>
              <a:rPr lang="zh-CN" altLang="en-US" dirty="0"/>
              <a:t>，不是</a:t>
            </a:r>
            <a:r>
              <a:rPr lang="zh-CN" altLang="en-US" dirty="0" smtClean="0"/>
              <a:t>整体</a:t>
            </a:r>
            <a:r>
              <a:rPr lang="zh-CN" altLang="en-US" dirty="0"/>
              <a:t>的</a:t>
            </a:r>
            <a:r>
              <a:rPr lang="zh-CN" altLang="en-US" dirty="0" smtClean="0"/>
              <a:t>数据</a:t>
            </a:r>
            <a:endParaRPr lang="en-US" altLang="zh-CN" dirty="0"/>
          </a:p>
          <a:p>
            <a:pPr marL="971550" lvl="1">
              <a:lnSpc>
                <a:spcPct val="120000"/>
              </a:lnSpc>
            </a:pPr>
            <a:r>
              <a:rPr lang="zh-CN" altLang="en-US" dirty="0"/>
              <a:t>基于变量的机器数，</a:t>
            </a:r>
            <a:r>
              <a:rPr lang="zh-CN" altLang="en-US" dirty="0" smtClean="0"/>
              <a:t>即</a:t>
            </a:r>
            <a:r>
              <a:rPr lang="zh-CN" altLang="en-US" dirty="0">
                <a:solidFill>
                  <a:srgbClr val="7030A0"/>
                </a:solidFill>
              </a:rPr>
              <a:t>整数的补</a:t>
            </a:r>
            <a:r>
              <a:rPr lang="zh-CN" altLang="en-US" dirty="0" smtClean="0">
                <a:solidFill>
                  <a:srgbClr val="7030A0"/>
                </a:solidFill>
              </a:rPr>
              <a:t>码</a:t>
            </a:r>
            <a:r>
              <a:rPr lang="zh-CN" altLang="en-US" dirty="0"/>
              <a:t>或</a:t>
            </a:r>
            <a:r>
              <a:rPr lang="zh-CN" altLang="en-US" dirty="0" smtClean="0">
                <a:solidFill>
                  <a:srgbClr val="7030A0"/>
                </a:solidFill>
              </a:rPr>
              <a:t>字符的</a:t>
            </a:r>
            <a:r>
              <a:rPr lang="en-US" altLang="zh-CN" dirty="0" smtClean="0">
                <a:solidFill>
                  <a:srgbClr val="7030A0"/>
                </a:solidFill>
              </a:rPr>
              <a:t>ASCII</a:t>
            </a:r>
            <a:r>
              <a:rPr lang="zh-CN" altLang="en-US" dirty="0">
                <a:solidFill>
                  <a:srgbClr val="7030A0"/>
                </a:solidFill>
              </a:rPr>
              <a:t>码</a:t>
            </a:r>
            <a:r>
              <a:rPr lang="zh-CN" altLang="en-US" dirty="0"/>
              <a:t>；</a:t>
            </a:r>
          </a:p>
        </p:txBody>
      </p:sp>
    </p:spTree>
    <p:extLst>
      <p:ext uri="{BB962C8B-B14F-4D97-AF65-F5344CB8AC3E}">
        <p14:creationId xmlns:p14="http://schemas.microsoft.com/office/powerpoint/2010/main" val="20064532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按位</a:t>
            </a:r>
            <a:r>
              <a:rPr lang="zh-CN" altLang="en-US" b="1" dirty="0">
                <a:solidFill>
                  <a:srgbClr val="030DCD"/>
                </a:solidFill>
                <a:latin typeface="+mn-lt"/>
                <a:ea typeface="+mn-ea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运算符</a:t>
            </a: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altLang="zh-CN" sz="2400" dirty="0">
                <a:latin typeface="+mn-lt"/>
                <a:ea typeface="+mn-ea"/>
              </a:rPr>
              <a:t>&amp;</a:t>
            </a:r>
            <a:r>
              <a:rPr lang="zh-CN" altLang="en-US" sz="2400" dirty="0">
                <a:latin typeface="+mn-lt"/>
                <a:ea typeface="+mn-ea"/>
              </a:rPr>
              <a:t>）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功能：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两个变量的</a:t>
            </a:r>
            <a:r>
              <a:rPr lang="zh-CN" altLang="en-US" sz="1800" b="1" dirty="0">
                <a:solidFill>
                  <a:srgbClr val="006600"/>
                </a:solidFill>
              </a:rPr>
              <a:t>机器数</a:t>
            </a:r>
            <a:r>
              <a:rPr lang="zh-CN" altLang="en-US" sz="1800" dirty="0"/>
              <a:t>“</a:t>
            </a:r>
            <a:r>
              <a:rPr lang="zh-CN" altLang="en-US" sz="1800" b="1" dirty="0">
                <a:solidFill>
                  <a:srgbClr val="7030A0"/>
                </a:solidFill>
              </a:rPr>
              <a:t>按位与</a:t>
            </a:r>
            <a:r>
              <a:rPr lang="zh-CN" altLang="en-US" sz="1800" dirty="0"/>
              <a:t>”；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运算规则</a:t>
            </a:r>
            <a:r>
              <a:rPr lang="en-US" altLang="zh-CN" sz="2000" dirty="0"/>
              <a:t>: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 0&amp;0=0       1&amp;0=0       0&amp;1=0       1&amp;1=1 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只要对应</a:t>
            </a:r>
            <a:r>
              <a:rPr lang="zh-CN" altLang="en-US" sz="1800" dirty="0" smtClean="0"/>
              <a:t>位的</a:t>
            </a:r>
            <a:r>
              <a:rPr lang="zh-CN" altLang="en-US" sz="1800" dirty="0"/>
              <a:t>值</a:t>
            </a:r>
            <a:r>
              <a:rPr lang="zh-CN" altLang="en-US" sz="1800" b="1" dirty="0">
                <a:solidFill>
                  <a:srgbClr val="C00000"/>
                </a:solidFill>
              </a:rPr>
              <a:t>都为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</a:rPr>
              <a:t>，</a:t>
            </a:r>
            <a:r>
              <a:rPr lang="zh-CN" altLang="en-US" sz="1800" dirty="0"/>
              <a:t>则</a:t>
            </a:r>
            <a:r>
              <a:rPr lang="zh-CN" altLang="en-US" sz="1800" b="1" dirty="0">
                <a:solidFill>
                  <a:srgbClr val="C00000"/>
                </a:solidFill>
              </a:rPr>
              <a:t>该位上的结果值为</a:t>
            </a:r>
            <a:r>
              <a:rPr lang="en-US" altLang="zh-CN" sz="1800" b="1" dirty="0">
                <a:solidFill>
                  <a:srgbClr val="C00000"/>
                </a:solidFill>
              </a:rPr>
              <a:t>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作用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030DCD"/>
                </a:solidFill>
              </a:rPr>
              <a:t>常用于将一个数的</a:t>
            </a:r>
            <a:r>
              <a:rPr lang="zh-CN" altLang="en-US" sz="1800" b="1" dirty="0">
                <a:solidFill>
                  <a:srgbClr val="C00000"/>
                </a:solidFill>
              </a:rPr>
              <a:t>某些特定位设置为</a:t>
            </a:r>
            <a:r>
              <a:rPr lang="en-US" altLang="zh-CN" sz="1800" b="1" dirty="0" smtClean="0">
                <a:solidFill>
                  <a:srgbClr val="C00000"/>
                </a:solidFill>
              </a:rPr>
              <a:t>0</a:t>
            </a:r>
            <a:r>
              <a:rPr lang="zh-CN" altLang="en-US" sz="1800" b="1" dirty="0" smtClean="0">
                <a:solidFill>
                  <a:srgbClr val="C00000"/>
                </a:solidFill>
              </a:rPr>
              <a:t>，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其余位保持不变</a:t>
            </a:r>
            <a:r>
              <a:rPr lang="zh-CN" altLang="en-US" sz="1800" dirty="0" smtClean="0">
                <a:solidFill>
                  <a:srgbClr val="7030A0"/>
                </a:solidFill>
              </a:rPr>
              <a:t>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b="1" dirty="0">
                <a:solidFill>
                  <a:srgbClr val="030DCD"/>
                </a:solidFill>
              </a:rPr>
              <a:t>取某个数中的某些位</a:t>
            </a:r>
            <a:r>
              <a:rPr lang="zh-CN" altLang="en-US" sz="1800" dirty="0">
                <a:solidFill>
                  <a:srgbClr val="030DCD"/>
                </a:solidFill>
              </a:rPr>
              <a:t>；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方法：</a:t>
            </a:r>
            <a:r>
              <a:rPr lang="zh-CN" altLang="en-US" sz="2000" dirty="0">
                <a:solidFill>
                  <a:srgbClr val="006600"/>
                </a:solidFill>
              </a:rPr>
              <a:t>将本数与某个特定</a:t>
            </a:r>
            <a:r>
              <a:rPr lang="zh-CN" altLang="en-US" sz="2000" dirty="0" smtClean="0">
                <a:solidFill>
                  <a:srgbClr val="006600"/>
                </a:solidFill>
              </a:rPr>
              <a:t>数“按位与”运算</a:t>
            </a:r>
            <a:r>
              <a:rPr lang="zh-CN" altLang="en-US" sz="2000" dirty="0">
                <a:solidFill>
                  <a:srgbClr val="006600"/>
                </a:solidFill>
              </a:rPr>
              <a:t>即可</a:t>
            </a:r>
            <a:r>
              <a:rPr lang="zh-CN" altLang="en-US" sz="2000" dirty="0" smtClean="0">
                <a:solidFill>
                  <a:srgbClr val="006600"/>
                </a:solidFill>
              </a:rPr>
              <a:t>。</a:t>
            </a:r>
            <a:endParaRPr lang="en-US" altLang="zh-CN" sz="2000" dirty="0" smtClean="0">
              <a:solidFill>
                <a:srgbClr val="0066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一般地，我们称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置位：置</a:t>
            </a:r>
            <a:r>
              <a:rPr lang="en-US" altLang="zh-CN" sz="1800" dirty="0" smtClean="0"/>
              <a:t>1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复位：清</a:t>
            </a:r>
            <a:r>
              <a:rPr lang="en-US" altLang="zh-CN" sz="1800" dirty="0" smtClean="0"/>
              <a:t>0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4269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按位</a:t>
            </a:r>
            <a:r>
              <a:rPr lang="zh-CN" altLang="en-US" b="1" dirty="0">
                <a:solidFill>
                  <a:srgbClr val="030DCD"/>
                </a:solidFill>
                <a:latin typeface="+mn-lt"/>
                <a:ea typeface="+mn-ea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运算符</a:t>
            </a: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altLang="zh-CN" sz="2400" dirty="0">
                <a:latin typeface="+mn-lt"/>
                <a:ea typeface="+mn-ea"/>
              </a:rPr>
              <a:t>&amp;</a:t>
            </a:r>
            <a:r>
              <a:rPr lang="zh-CN" altLang="en-US" sz="2400" dirty="0">
                <a:latin typeface="+mn-lt"/>
                <a:ea typeface="+mn-ea"/>
              </a:rPr>
              <a:t>）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例</a:t>
            </a:r>
            <a:r>
              <a:rPr lang="en-US" altLang="zh-CN" sz="2000" dirty="0" smtClean="0"/>
              <a:t>1 </a:t>
            </a:r>
            <a:r>
              <a:rPr lang="zh-CN" altLang="en-US" sz="2000" dirty="0" smtClean="0"/>
              <a:t>将一个数的某（些）位清零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int a=  -1, b=0,c=8;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b="1" dirty="0">
                <a:solidFill>
                  <a:srgbClr val="7030A0"/>
                </a:solidFill>
              </a:rPr>
              <a:t>int d=</a:t>
            </a:r>
            <a:r>
              <a:rPr lang="en-US" altLang="zh-CN" sz="1800" b="1" dirty="0" err="1">
                <a:solidFill>
                  <a:srgbClr val="7030A0"/>
                </a:solidFill>
              </a:rPr>
              <a:t>a&amp;b</a:t>
            </a:r>
            <a:r>
              <a:rPr lang="en-US" altLang="zh-CN" sz="1800" b="1" dirty="0">
                <a:solidFill>
                  <a:srgbClr val="7030A0"/>
                </a:solidFill>
              </a:rPr>
              <a:t>, e=</a:t>
            </a:r>
            <a:r>
              <a:rPr lang="en-US" altLang="zh-CN" sz="1800" b="1" dirty="0" err="1">
                <a:solidFill>
                  <a:srgbClr val="7030A0"/>
                </a:solidFill>
              </a:rPr>
              <a:t>a&amp;c</a:t>
            </a:r>
            <a:r>
              <a:rPr lang="en-US" altLang="zh-CN" sz="1800" b="1" dirty="0">
                <a:solidFill>
                  <a:srgbClr val="7030A0"/>
                </a:solidFill>
              </a:rPr>
              <a:t>, f=</a:t>
            </a:r>
            <a:r>
              <a:rPr lang="en-US" altLang="zh-CN" sz="1800" b="1" dirty="0" err="1">
                <a:solidFill>
                  <a:srgbClr val="7030A0"/>
                </a:solidFill>
              </a:rPr>
              <a:t>b&amp;c</a:t>
            </a:r>
            <a:r>
              <a:rPr lang="en-US" altLang="zh-CN" sz="1800" b="1" dirty="0">
                <a:solidFill>
                  <a:srgbClr val="7030A0"/>
                </a:solidFill>
              </a:rPr>
              <a:t>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/>
              <a:t>printf</a:t>
            </a:r>
            <a:r>
              <a:rPr lang="en-US" altLang="zh-CN" sz="1800" dirty="0"/>
              <a:t>(“d=%d, e=%</a:t>
            </a:r>
            <a:r>
              <a:rPr lang="en-US" altLang="zh-CN" sz="1800" dirty="0" err="1"/>
              <a:t>d,f</a:t>
            </a:r>
            <a:r>
              <a:rPr lang="en-US" altLang="zh-CN" sz="1800" dirty="0"/>
              <a:t>=%d\n”, d, e, f); </a:t>
            </a:r>
            <a:r>
              <a:rPr lang="zh-CN" altLang="en-US" sz="1800" dirty="0"/>
              <a:t> </a:t>
            </a:r>
            <a:r>
              <a:rPr lang="en-US" altLang="zh-CN" sz="1800" dirty="0">
                <a:solidFill>
                  <a:srgbClr val="030DCD"/>
                </a:solidFill>
              </a:rPr>
              <a:t>//d=0, e=8, f=0</a:t>
            </a:r>
            <a:r>
              <a:rPr lang="en-US" altLang="zh-CN" sz="1800" dirty="0"/>
              <a:t>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解析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smtClean="0"/>
              <a:t>[a]</a:t>
            </a:r>
            <a:r>
              <a:rPr lang="zh-CN" altLang="en-US" sz="1800" baseline="-25000" dirty="0" smtClean="0"/>
              <a:t>补</a:t>
            </a:r>
            <a:r>
              <a:rPr lang="en-US" altLang="zh-CN" sz="1800" dirty="0" smtClean="0"/>
              <a:t>=0xFFFFFFFF</a:t>
            </a:r>
            <a:r>
              <a:rPr lang="zh-CN" altLang="en-US" sz="1800" dirty="0" smtClean="0"/>
              <a:t>，</a:t>
            </a:r>
            <a:r>
              <a:rPr lang="zh-CN" altLang="en-US" sz="1800" dirty="0"/>
              <a:t>对应的</a:t>
            </a:r>
            <a:r>
              <a:rPr lang="zh-CN" altLang="en-US" sz="1800" dirty="0" smtClean="0"/>
              <a:t>二进制：都是</a:t>
            </a:r>
            <a:r>
              <a:rPr lang="en-US" altLang="zh-CN" sz="1800" dirty="0" smtClean="0"/>
              <a:t>1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smtClean="0"/>
              <a:t>[b]</a:t>
            </a:r>
            <a:r>
              <a:rPr lang="zh-CN" altLang="en-US" sz="1800" baseline="-25000" dirty="0"/>
              <a:t>补</a:t>
            </a:r>
            <a:r>
              <a:rPr lang="en-US" altLang="zh-CN" sz="1800" dirty="0" smtClean="0"/>
              <a:t>=0x00000000</a:t>
            </a:r>
            <a:r>
              <a:rPr lang="zh-CN" altLang="en-US" sz="1800" dirty="0" smtClean="0"/>
              <a:t>，</a:t>
            </a:r>
            <a:r>
              <a:rPr lang="zh-CN" altLang="en-US" sz="1800" dirty="0"/>
              <a:t>对应的</a:t>
            </a:r>
            <a:r>
              <a:rPr lang="zh-CN" altLang="en-US" sz="1800" dirty="0" smtClean="0"/>
              <a:t>二进制：都是</a:t>
            </a:r>
            <a:r>
              <a:rPr lang="en-US" altLang="zh-CN" sz="1800" dirty="0" smtClean="0"/>
              <a:t>0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smtClean="0"/>
              <a:t>[c]</a:t>
            </a:r>
            <a:r>
              <a:rPr lang="zh-CN" altLang="en-US" sz="1800" baseline="-25000" dirty="0"/>
              <a:t>补</a:t>
            </a:r>
            <a:r>
              <a:rPr lang="en-US" altLang="zh-CN" sz="1800" dirty="0" smtClean="0"/>
              <a:t>=0x00000008</a:t>
            </a:r>
            <a:r>
              <a:rPr lang="zh-CN" altLang="en-US" sz="1800" dirty="0" smtClean="0"/>
              <a:t>，对应的二进制：最后一个字节是</a:t>
            </a:r>
            <a:r>
              <a:rPr lang="en-US" altLang="zh-CN" sz="1800" dirty="0" smtClean="0"/>
              <a:t>1000</a:t>
            </a:r>
            <a:r>
              <a:rPr lang="zh-CN" altLang="en-US" sz="1800" dirty="0" smtClean="0"/>
              <a:t>，其余是</a:t>
            </a:r>
            <a:r>
              <a:rPr lang="en-US" altLang="zh-CN" sz="1800" dirty="0" smtClean="0"/>
              <a:t>0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 smtClean="0"/>
              <a:t>因此，</a:t>
            </a:r>
            <a:r>
              <a:rPr lang="en-US" altLang="zh-CN" sz="1800" dirty="0" smtClean="0"/>
              <a:t>d=0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e=8</a:t>
            </a:r>
            <a:r>
              <a:rPr lang="zh-CN" altLang="en-US" sz="1800" dirty="0" smtClean="0"/>
              <a:t>，</a:t>
            </a:r>
            <a:r>
              <a:rPr lang="en-US" altLang="zh-CN" sz="1800" dirty="0" smtClean="0"/>
              <a:t>f=0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3065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按位</a:t>
            </a:r>
            <a:r>
              <a:rPr lang="zh-CN" altLang="en-US" b="1" dirty="0">
                <a:solidFill>
                  <a:srgbClr val="030DCD"/>
                </a:solidFill>
                <a:latin typeface="+mn-lt"/>
                <a:ea typeface="+mn-ea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运算符</a:t>
            </a: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altLang="zh-CN" sz="2400" dirty="0">
                <a:latin typeface="+mn-lt"/>
                <a:ea typeface="+mn-ea"/>
              </a:rPr>
              <a:t>&amp;</a:t>
            </a:r>
            <a:r>
              <a:rPr lang="zh-CN" altLang="en-US" sz="2400" dirty="0">
                <a:latin typeface="+mn-lt"/>
                <a:ea typeface="+mn-ea"/>
              </a:rPr>
              <a:t>）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例</a:t>
            </a:r>
            <a:r>
              <a:rPr lang="en-US" altLang="zh-CN" sz="2000" dirty="0"/>
              <a:t>2  </a:t>
            </a:r>
            <a:r>
              <a:rPr lang="zh-CN" altLang="en-US" sz="2000" dirty="0"/>
              <a:t>将</a:t>
            </a:r>
            <a:r>
              <a:rPr lang="zh-CN" altLang="en-US" sz="2000" dirty="0">
                <a:solidFill>
                  <a:srgbClr val="7030A0"/>
                </a:solidFill>
              </a:rPr>
              <a:t>小写</a:t>
            </a:r>
            <a:r>
              <a:rPr lang="zh-CN" altLang="en-US" sz="2000" dirty="0"/>
              <a:t>字母转换为</a:t>
            </a:r>
            <a:r>
              <a:rPr lang="zh-CN" altLang="en-US" sz="2000" dirty="0" smtClean="0">
                <a:solidFill>
                  <a:srgbClr val="7030A0"/>
                </a:solidFill>
              </a:rPr>
              <a:t>大写</a:t>
            </a:r>
            <a:r>
              <a:rPr lang="zh-CN" altLang="en-US" sz="2000" dirty="0" smtClean="0"/>
              <a:t>字母</a:t>
            </a:r>
            <a:endParaRPr lang="zh-CN" altLang="en-US" sz="2000" dirty="0"/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 smtClean="0"/>
              <a:t>根据</a:t>
            </a:r>
            <a:r>
              <a:rPr lang="en-US" altLang="zh-CN" sz="1800" dirty="0" smtClean="0"/>
              <a:t>ASCII</a:t>
            </a:r>
            <a:r>
              <a:rPr lang="zh-CN" altLang="en-US" sz="1800" dirty="0" smtClean="0"/>
              <a:t>表，</a:t>
            </a:r>
            <a:endParaRPr lang="en-US" altLang="zh-CN" sz="1800" dirty="0" smtClean="0"/>
          </a:p>
          <a:p>
            <a:pPr marL="1200150" lvl="2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b="1" dirty="0" smtClean="0"/>
              <a:t>‘a’</a:t>
            </a:r>
            <a:r>
              <a:rPr lang="zh-CN" altLang="en-US" sz="1600" b="1" dirty="0" smtClean="0"/>
              <a:t>的</a:t>
            </a:r>
            <a:r>
              <a:rPr lang="en-US" altLang="zh-CN" sz="1600" b="1" dirty="0" smtClean="0"/>
              <a:t>ASCII</a:t>
            </a:r>
            <a:r>
              <a:rPr lang="zh-CN" altLang="en-US" sz="1600" b="1" dirty="0" smtClean="0"/>
              <a:t>码是</a:t>
            </a:r>
            <a:r>
              <a:rPr lang="en-US" altLang="zh-CN" sz="1600" b="1" dirty="0" smtClean="0"/>
              <a:t>0x61</a:t>
            </a:r>
            <a:r>
              <a:rPr lang="zh-CN" altLang="en-US" sz="1600" b="1" dirty="0" smtClean="0"/>
              <a:t>，即 </a:t>
            </a:r>
            <a:r>
              <a:rPr lang="en-US" altLang="zh-CN" sz="1600" b="1" dirty="0" smtClean="0"/>
              <a:t>01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1</a:t>
            </a:r>
            <a:r>
              <a:rPr lang="en-US" altLang="zh-CN" sz="1600" b="1" dirty="0" smtClean="0"/>
              <a:t>0 0001</a:t>
            </a:r>
          </a:p>
          <a:p>
            <a:pPr marL="1200150" lvl="2">
              <a:lnSpc>
                <a:spcPct val="100000"/>
              </a:lnSpc>
              <a:spcBef>
                <a:spcPts val="1200"/>
              </a:spcBef>
            </a:pPr>
            <a:r>
              <a:rPr lang="en-US" altLang="zh-CN" sz="1600" b="1" dirty="0" smtClean="0"/>
              <a:t>‘A’</a:t>
            </a:r>
            <a:r>
              <a:rPr lang="zh-CN" altLang="en-US" sz="1600" b="1" dirty="0"/>
              <a:t>的</a:t>
            </a:r>
            <a:r>
              <a:rPr lang="en-US" altLang="zh-CN" sz="1600" b="1" dirty="0"/>
              <a:t>ASCII</a:t>
            </a:r>
            <a:r>
              <a:rPr lang="zh-CN" altLang="en-US" sz="1600" b="1" dirty="0"/>
              <a:t>码是</a:t>
            </a:r>
            <a:r>
              <a:rPr lang="en-US" altLang="zh-CN" sz="1600" b="1" dirty="0" smtClean="0"/>
              <a:t>0x41</a:t>
            </a:r>
            <a:r>
              <a:rPr lang="zh-CN" altLang="en-US" sz="1600" b="1" dirty="0" smtClean="0"/>
              <a:t>，即 </a:t>
            </a:r>
            <a:r>
              <a:rPr lang="en-US" altLang="zh-CN" sz="1600" b="1" dirty="0" smtClean="0"/>
              <a:t>01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0</a:t>
            </a:r>
            <a:r>
              <a:rPr lang="en-US" altLang="zh-CN" sz="1600" b="1" dirty="0" smtClean="0"/>
              <a:t>0 0001</a:t>
            </a:r>
            <a:endParaRPr lang="en-US" altLang="zh-CN" sz="1600" b="1" dirty="0"/>
          </a:p>
          <a:p>
            <a:pPr marL="1200150" lvl="2">
              <a:lnSpc>
                <a:spcPct val="100000"/>
              </a:lnSpc>
              <a:spcBef>
                <a:spcPts val="1200"/>
              </a:spcBef>
            </a:pPr>
            <a:r>
              <a:rPr lang="zh-CN" altLang="en-US" sz="1600" b="1" dirty="0" smtClean="0">
                <a:solidFill>
                  <a:srgbClr val="C00000"/>
                </a:solidFill>
              </a:rPr>
              <a:t>小写字母</a:t>
            </a:r>
            <a:r>
              <a:rPr lang="zh-CN" altLang="en-US" sz="1600" b="1" dirty="0">
                <a:solidFill>
                  <a:srgbClr val="C00000"/>
                </a:solidFill>
              </a:rPr>
              <a:t>的</a:t>
            </a:r>
            <a:r>
              <a:rPr lang="zh-CN" altLang="en-US" sz="1600" b="1" dirty="0">
                <a:solidFill>
                  <a:srgbClr val="030DCD"/>
                </a:solidFill>
              </a:rPr>
              <a:t>第</a:t>
            </a:r>
            <a:r>
              <a:rPr lang="en-US" altLang="zh-CN" sz="1600" b="1" dirty="0">
                <a:solidFill>
                  <a:srgbClr val="030DCD"/>
                </a:solidFill>
              </a:rPr>
              <a:t>6</a:t>
            </a:r>
            <a:r>
              <a:rPr lang="zh-CN" altLang="en-US" sz="1600" b="1" dirty="0">
                <a:solidFill>
                  <a:srgbClr val="030DCD"/>
                </a:solidFill>
              </a:rPr>
              <a:t>位是</a:t>
            </a:r>
            <a:r>
              <a:rPr lang="en-US" altLang="zh-CN" sz="1600" b="1" dirty="0">
                <a:solidFill>
                  <a:srgbClr val="030DCD"/>
                </a:solidFill>
              </a:rPr>
              <a:t>1</a:t>
            </a:r>
            <a:r>
              <a:rPr lang="zh-CN" altLang="en-US" sz="1600" b="1" dirty="0">
                <a:solidFill>
                  <a:srgbClr val="C00000"/>
                </a:solidFill>
              </a:rPr>
              <a:t>，大写字母的</a:t>
            </a:r>
            <a:r>
              <a:rPr lang="zh-CN" altLang="en-US" sz="1600" b="1" dirty="0">
                <a:solidFill>
                  <a:srgbClr val="030DCD"/>
                </a:solidFill>
              </a:rPr>
              <a:t>第</a:t>
            </a:r>
            <a:r>
              <a:rPr lang="en-US" altLang="zh-CN" sz="1600" b="1" dirty="0">
                <a:solidFill>
                  <a:srgbClr val="030DCD"/>
                </a:solidFill>
              </a:rPr>
              <a:t>6</a:t>
            </a:r>
            <a:r>
              <a:rPr lang="zh-CN" altLang="en-US" sz="1600" b="1" dirty="0">
                <a:solidFill>
                  <a:srgbClr val="030DCD"/>
                </a:solidFill>
              </a:rPr>
              <a:t>位为</a:t>
            </a:r>
            <a:r>
              <a:rPr lang="en-US" altLang="zh-CN" sz="1600" b="1" dirty="0" smtClean="0">
                <a:solidFill>
                  <a:srgbClr val="030DCD"/>
                </a:solidFill>
              </a:rPr>
              <a:t>0</a:t>
            </a:r>
            <a:r>
              <a:rPr lang="zh-CN" altLang="en-US" sz="1600" b="1" dirty="0" smtClean="0">
                <a:solidFill>
                  <a:srgbClr val="030DCD"/>
                </a:solidFill>
              </a:rPr>
              <a:t>，</a:t>
            </a:r>
            <a:r>
              <a:rPr lang="zh-CN" altLang="en-US" sz="1600" b="1" dirty="0" smtClean="0">
                <a:solidFill>
                  <a:srgbClr val="7030A0"/>
                </a:solidFill>
              </a:rPr>
              <a:t>其余位相同</a:t>
            </a:r>
            <a:r>
              <a:rPr lang="zh-CN" altLang="en-US" sz="1600" dirty="0" smtClean="0"/>
              <a:t>；</a:t>
            </a:r>
            <a:endParaRPr lang="pt-BR" altLang="zh-CN" sz="1600" dirty="0"/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en-US" altLang="zh-CN" sz="1800" dirty="0">
                <a:solidFill>
                  <a:srgbClr val="C00000"/>
                </a:solidFill>
              </a:rPr>
              <a:t>char mark=0xDF</a:t>
            </a:r>
            <a:r>
              <a:rPr lang="en-US" altLang="zh-CN" sz="1800" dirty="0"/>
              <a:t>;  </a:t>
            </a:r>
            <a:r>
              <a:rPr lang="en-US" altLang="zh-CN" sz="1800" dirty="0" smtClean="0"/>
              <a:t>//</a:t>
            </a:r>
            <a:r>
              <a:rPr lang="zh-CN" altLang="en-US" sz="1800" dirty="0"/>
              <a:t>二进制：</a:t>
            </a:r>
            <a:r>
              <a:rPr lang="en-US" altLang="zh-CN" sz="1800" dirty="0"/>
              <a:t>11</a:t>
            </a:r>
            <a:r>
              <a:rPr lang="en-US" altLang="zh-CN" sz="1800" dirty="0">
                <a:solidFill>
                  <a:srgbClr val="030DCD"/>
                </a:solidFill>
              </a:rPr>
              <a:t>0</a:t>
            </a:r>
            <a:r>
              <a:rPr lang="en-US" altLang="zh-CN" sz="1800" dirty="0"/>
              <a:t>1 </a:t>
            </a:r>
            <a:r>
              <a:rPr lang="en-US" altLang="zh-CN" sz="1800" dirty="0" smtClean="0"/>
              <a:t>1111</a:t>
            </a:r>
          </a:p>
          <a:p>
            <a:pPr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pt-BR" altLang="zh-CN" sz="1800" dirty="0" smtClean="0"/>
              <a:t>      char </a:t>
            </a:r>
            <a:r>
              <a:rPr lang="pt-BR" altLang="zh-CN" sz="1800" dirty="0"/>
              <a:t>c=‘</a:t>
            </a:r>
            <a:r>
              <a:rPr lang="en-US" altLang="zh-CN" sz="1800" dirty="0"/>
              <a:t>a</a:t>
            </a:r>
            <a:r>
              <a:rPr lang="pt-BR" altLang="zh-CN" sz="1800" dirty="0"/>
              <a:t>’;</a:t>
            </a:r>
            <a:r>
              <a:rPr lang="en-US" altLang="zh-CN" sz="1800" dirty="0"/>
              <a:t>   //’a’</a:t>
            </a:r>
            <a:r>
              <a:rPr lang="zh-CN" altLang="en-US" sz="1800" dirty="0"/>
              <a:t>的</a:t>
            </a:r>
            <a:r>
              <a:rPr lang="en-US" altLang="zh-CN" sz="1800" dirty="0"/>
              <a:t>ASCII</a:t>
            </a:r>
            <a:r>
              <a:rPr lang="zh-CN" altLang="en-US" sz="1800" dirty="0"/>
              <a:t>是</a:t>
            </a:r>
            <a:r>
              <a:rPr lang="en-US" altLang="zh-CN" sz="1800" dirty="0">
                <a:solidFill>
                  <a:srgbClr val="030DCD"/>
                </a:solidFill>
              </a:rPr>
              <a:t>0x61</a:t>
            </a:r>
            <a:r>
              <a:rPr lang="zh-CN" altLang="en-US" sz="1800" dirty="0"/>
              <a:t>，</a:t>
            </a:r>
            <a:r>
              <a:rPr lang="en-US" altLang="zh-CN" sz="1800" dirty="0"/>
              <a:t> ’A’</a:t>
            </a:r>
            <a:r>
              <a:rPr lang="zh-CN" altLang="en-US" sz="1800" dirty="0"/>
              <a:t>的</a:t>
            </a:r>
            <a:r>
              <a:rPr lang="en-US" altLang="zh-CN" sz="1800" dirty="0"/>
              <a:t>ASCII</a:t>
            </a:r>
            <a:r>
              <a:rPr lang="zh-CN" altLang="en-US" sz="1800" dirty="0"/>
              <a:t>是</a:t>
            </a:r>
            <a:r>
              <a:rPr lang="en-US" altLang="zh-CN" sz="1800" dirty="0">
                <a:solidFill>
                  <a:srgbClr val="030DCD"/>
                </a:solidFill>
              </a:rPr>
              <a:t>0x41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1800" dirty="0"/>
              <a:t>      for (int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=0;i&lt;26;i++)</a:t>
            </a:r>
          </a:p>
          <a:p>
            <a:pPr lvl="1" indent="0"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1800" dirty="0"/>
              <a:t>      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(“%c ”,</a:t>
            </a:r>
            <a:r>
              <a:rPr lang="en-US" altLang="zh-CN" sz="1800" dirty="0">
                <a:solidFill>
                  <a:srgbClr val="006600"/>
                </a:solidFill>
              </a:rPr>
              <a:t>(</a:t>
            </a:r>
            <a:r>
              <a:rPr lang="en-US" altLang="zh-CN" sz="1800" dirty="0" err="1">
                <a:solidFill>
                  <a:srgbClr val="006600"/>
                </a:solidFill>
              </a:rPr>
              <a:t>c+i</a:t>
            </a:r>
            <a:r>
              <a:rPr lang="en-US" altLang="zh-CN" sz="1800" dirty="0">
                <a:solidFill>
                  <a:srgbClr val="006600"/>
                </a:solidFill>
              </a:rPr>
              <a:t>)</a:t>
            </a:r>
            <a:r>
              <a:rPr lang="en-US" altLang="zh-CN" sz="1800" dirty="0">
                <a:solidFill>
                  <a:srgbClr val="C00000"/>
                </a:solidFill>
              </a:rPr>
              <a:t>&amp;mark</a:t>
            </a:r>
            <a:r>
              <a:rPr lang="en-US" altLang="zh-CN" sz="1800" dirty="0"/>
              <a:t>);   //</a:t>
            </a:r>
            <a:r>
              <a:rPr lang="zh-CN" altLang="en-US" sz="1800" dirty="0">
                <a:solidFill>
                  <a:srgbClr val="030DCD"/>
                </a:solidFill>
              </a:rPr>
              <a:t>将字符的第</a:t>
            </a:r>
            <a:r>
              <a:rPr lang="en-US" altLang="zh-CN" sz="1800" dirty="0">
                <a:solidFill>
                  <a:srgbClr val="030DCD"/>
                </a:solidFill>
              </a:rPr>
              <a:t>6</a:t>
            </a:r>
            <a:r>
              <a:rPr lang="zh-CN" altLang="en-US" sz="1800" dirty="0">
                <a:solidFill>
                  <a:srgbClr val="030DCD"/>
                </a:solidFill>
              </a:rPr>
              <a:t>位清零</a:t>
            </a:r>
            <a:r>
              <a:rPr lang="zh-CN" altLang="en-US" sz="1800" dirty="0" smtClean="0">
                <a:solidFill>
                  <a:srgbClr val="030DCD"/>
                </a:solidFill>
              </a:rPr>
              <a:t>，即</a:t>
            </a:r>
            <a:r>
              <a:rPr lang="zh-CN" altLang="en-US" sz="1800" dirty="0">
                <a:solidFill>
                  <a:srgbClr val="FF0000"/>
                </a:solidFill>
              </a:rPr>
              <a:t>小写</a:t>
            </a:r>
            <a:r>
              <a:rPr lang="en-US" altLang="zh-CN" sz="1800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zh-CN" altLang="en-US" sz="1800" dirty="0">
                <a:solidFill>
                  <a:srgbClr val="FF0000"/>
                </a:solidFill>
              </a:rPr>
              <a:t>大写</a:t>
            </a:r>
            <a:r>
              <a:rPr lang="zh-CN" altLang="en-US" sz="1800" dirty="0" smtClean="0">
                <a:solidFill>
                  <a:srgbClr val="030DCD"/>
                </a:solidFill>
              </a:rPr>
              <a:t>；</a:t>
            </a:r>
            <a:endParaRPr lang="en-US" altLang="zh-CN" sz="1800" dirty="0">
              <a:solidFill>
                <a:srgbClr val="030DC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3231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按位</a:t>
            </a:r>
            <a:r>
              <a:rPr lang="zh-CN" altLang="en-US" b="1" dirty="0">
                <a:solidFill>
                  <a:srgbClr val="030DCD"/>
                </a:solidFill>
                <a:latin typeface="+mn-lt"/>
                <a:ea typeface="+mn-ea"/>
              </a:rPr>
              <a:t>与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运算符</a:t>
            </a:r>
            <a:r>
              <a:rPr lang="zh-CN" altLang="en-US" sz="2400" dirty="0">
                <a:latin typeface="+mn-lt"/>
                <a:ea typeface="+mn-ea"/>
              </a:rPr>
              <a:t>（</a:t>
            </a:r>
            <a:r>
              <a:rPr lang="en-US" altLang="zh-CN" sz="2400" dirty="0">
                <a:latin typeface="+mn-lt"/>
                <a:ea typeface="+mn-ea"/>
              </a:rPr>
              <a:t>&amp;</a:t>
            </a:r>
            <a:r>
              <a:rPr lang="zh-CN" altLang="en-US" sz="2400" dirty="0">
                <a:latin typeface="+mn-lt"/>
                <a:ea typeface="+mn-ea"/>
              </a:rPr>
              <a:t>）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例</a:t>
            </a:r>
            <a:r>
              <a:rPr lang="en-US" altLang="zh-CN" sz="2000" dirty="0"/>
              <a:t>3</a:t>
            </a:r>
            <a:r>
              <a:rPr lang="en-US" altLang="zh-CN" sz="2000" dirty="0" smtClean="0"/>
              <a:t>  </a:t>
            </a:r>
            <a:r>
              <a:rPr lang="zh-CN" altLang="en-US" sz="2000" dirty="0" smtClean="0"/>
              <a:t>判断一个数的</a:t>
            </a:r>
            <a:r>
              <a:rPr lang="zh-CN" altLang="en-US" sz="2000" dirty="0" smtClean="0">
                <a:solidFill>
                  <a:srgbClr val="0000CC"/>
                </a:solidFill>
              </a:rPr>
              <a:t>奇偶性</a:t>
            </a:r>
            <a:endParaRPr lang="en-US" altLang="zh-CN" sz="2000" dirty="0" smtClean="0">
              <a:solidFill>
                <a:srgbClr val="0000CC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 smtClean="0"/>
              <a:t>Fact</a:t>
            </a:r>
            <a:r>
              <a:rPr lang="zh-CN" altLang="en-US" sz="2000" dirty="0" smtClean="0"/>
              <a:t>：</a:t>
            </a: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7030A0"/>
                </a:solidFill>
              </a:rPr>
              <a:t>如果一</a:t>
            </a:r>
            <a:r>
              <a:rPr lang="zh-CN" altLang="en-US" sz="1800" dirty="0" smtClean="0">
                <a:solidFill>
                  <a:srgbClr val="7030A0"/>
                </a:solidFill>
              </a:rPr>
              <a:t>个数的机器数末尾</a:t>
            </a:r>
            <a:r>
              <a:rPr lang="zh-CN" altLang="en-US" sz="1800" dirty="0">
                <a:solidFill>
                  <a:srgbClr val="7030A0"/>
                </a:solidFill>
              </a:rPr>
              <a:t>是</a:t>
            </a:r>
            <a:r>
              <a:rPr lang="en-US" altLang="zh-CN" sz="1800" dirty="0">
                <a:solidFill>
                  <a:srgbClr val="7030A0"/>
                </a:solidFill>
              </a:rPr>
              <a:t>0</a:t>
            </a:r>
            <a:r>
              <a:rPr lang="zh-CN" altLang="en-US" sz="1800" dirty="0">
                <a:solidFill>
                  <a:srgbClr val="7030A0"/>
                </a:solidFill>
              </a:rPr>
              <a:t>，则是偶数，否则为奇数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程序片段</a:t>
            </a:r>
            <a:endParaRPr lang="en-US" altLang="zh-CN" sz="2000" dirty="0" smtClean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/>
              <a:t>unsigned </a:t>
            </a:r>
            <a:r>
              <a:rPr lang="en-US" altLang="zh-CN" sz="1800" dirty="0"/>
              <a:t>mark=1</a:t>
            </a:r>
            <a:r>
              <a:rPr lang="en-US" altLang="zh-CN" sz="1800" dirty="0" smtClean="0"/>
              <a:t>;  //mark=0000 0000 0000 0001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x=9;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endParaRPr lang="en-US" altLang="zh-CN" sz="1800" dirty="0" smtClean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/>
              <a:t>if </a:t>
            </a:r>
            <a:r>
              <a:rPr lang="en-US" altLang="zh-CN" sz="1800" dirty="0"/>
              <a:t>(</a:t>
            </a:r>
            <a:r>
              <a:rPr lang="en-US" altLang="zh-CN" sz="1800" dirty="0" err="1"/>
              <a:t>x&amp;mark</a:t>
            </a:r>
            <a:r>
              <a:rPr lang="en-US" altLang="zh-CN" sz="1800" dirty="0" smtClean="0"/>
              <a:t>= =</a:t>
            </a:r>
            <a:r>
              <a:rPr lang="en-US" altLang="zh-CN" sz="1800" dirty="0"/>
              <a:t>1)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/>
              <a:t>     </a:t>
            </a:r>
            <a:r>
              <a:rPr lang="en-US" altLang="zh-CN" sz="1800" dirty="0" err="1"/>
              <a:t>printf</a:t>
            </a:r>
            <a:r>
              <a:rPr lang="en-US" altLang="zh-CN" sz="1800" dirty="0" smtClean="0"/>
              <a:t>(“odd\n</a:t>
            </a:r>
            <a:r>
              <a:rPr lang="en-US" altLang="zh-CN" sz="1800" dirty="0"/>
              <a:t>");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	</a:t>
            </a:r>
            <a:r>
              <a:rPr lang="en-US" altLang="zh-CN" sz="1800" dirty="0" smtClean="0"/>
              <a:t>else</a:t>
            </a:r>
            <a:endParaRPr lang="en-US" altLang="zh-CN" sz="1800" dirty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	  </a:t>
            </a:r>
            <a:r>
              <a:rPr lang="en-US" altLang="zh-CN" sz="1800" dirty="0" smtClean="0"/>
              <a:t>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("even\n");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476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按位</a:t>
            </a:r>
            <a:r>
              <a:rPr lang="zh-CN" altLang="en-US" b="1" dirty="0">
                <a:solidFill>
                  <a:srgbClr val="030DCD"/>
                </a:solidFill>
                <a:latin typeface="+mn-lt"/>
                <a:ea typeface="+mn-ea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运算符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</a:rPr>
              <a:t>|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）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功能：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两个变量的</a:t>
            </a:r>
            <a:r>
              <a:rPr lang="zh-CN" altLang="en-US" sz="1800" b="1" dirty="0">
                <a:solidFill>
                  <a:srgbClr val="006600"/>
                </a:solidFill>
              </a:rPr>
              <a:t>机器数</a:t>
            </a:r>
            <a:r>
              <a:rPr lang="zh-CN" altLang="en-US" sz="1800" dirty="0"/>
              <a:t>“</a:t>
            </a:r>
            <a:r>
              <a:rPr lang="zh-CN" altLang="en-US" sz="1800" b="1" dirty="0">
                <a:solidFill>
                  <a:srgbClr val="7030A0"/>
                </a:solidFill>
              </a:rPr>
              <a:t>按位或</a:t>
            </a:r>
            <a:r>
              <a:rPr lang="zh-CN" altLang="en-US" sz="1800" dirty="0"/>
              <a:t>”；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运算规则</a:t>
            </a:r>
            <a:r>
              <a:rPr lang="en-US" altLang="zh-CN" sz="2000" dirty="0"/>
              <a:t>: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   0|0=0        1|0=1         0|1=1          1|1=1</a:t>
            </a:r>
          </a:p>
          <a:p>
            <a:pPr marL="1085850" lvl="1" indent="-457200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/>
              <a:t>只要对应位上的值其中一个为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，则</a:t>
            </a:r>
            <a:r>
              <a:rPr lang="zh-CN" altLang="en-US" sz="1800" dirty="0"/>
              <a:t>该位上的结果值为</a:t>
            </a:r>
            <a:r>
              <a:rPr lang="en-US" altLang="zh-CN" sz="1800" dirty="0"/>
              <a:t>1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作用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sz="1800" dirty="0">
                <a:solidFill>
                  <a:srgbClr val="030DCD"/>
                </a:solidFill>
              </a:rPr>
              <a:t>常用于将一个数的</a:t>
            </a:r>
            <a:r>
              <a:rPr lang="zh-CN" altLang="en-US" sz="1800" dirty="0">
                <a:solidFill>
                  <a:srgbClr val="C00000"/>
                </a:solidFill>
              </a:rPr>
              <a:t>某些位设置为</a:t>
            </a:r>
            <a:r>
              <a:rPr lang="en-US" altLang="zh-CN" sz="1800" dirty="0" smtClean="0">
                <a:solidFill>
                  <a:srgbClr val="C00000"/>
                </a:solidFill>
              </a:rPr>
              <a:t>1</a:t>
            </a:r>
            <a:r>
              <a:rPr lang="zh-CN" altLang="en-US" sz="1800" dirty="0" smtClean="0">
                <a:solidFill>
                  <a:srgbClr val="C00000"/>
                </a:solidFill>
              </a:rPr>
              <a:t>，</a:t>
            </a:r>
            <a:r>
              <a:rPr lang="zh-CN" altLang="en-US" sz="1800" dirty="0" smtClean="0">
                <a:solidFill>
                  <a:srgbClr val="7030A0"/>
                </a:solidFill>
              </a:rPr>
              <a:t>其余位保持不变；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方法：</a:t>
            </a:r>
            <a:r>
              <a:rPr lang="zh-CN" altLang="en-US" sz="2000" dirty="0">
                <a:solidFill>
                  <a:srgbClr val="006600"/>
                </a:solidFill>
              </a:rPr>
              <a:t>将本数与某个特定</a:t>
            </a:r>
            <a:r>
              <a:rPr lang="zh-CN" altLang="en-US" sz="2000" dirty="0" smtClean="0">
                <a:solidFill>
                  <a:srgbClr val="006600"/>
                </a:solidFill>
              </a:rPr>
              <a:t>数“按位或”运算。</a:t>
            </a:r>
            <a:endParaRPr lang="zh-CN" altLang="en-US" sz="2000" dirty="0">
              <a:solidFill>
                <a:srgbClr val="0066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42505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按位</a:t>
            </a:r>
            <a:r>
              <a:rPr lang="zh-CN" altLang="en-US" b="1" dirty="0">
                <a:solidFill>
                  <a:srgbClr val="030DCD"/>
                </a:solidFill>
                <a:latin typeface="+mn-lt"/>
                <a:ea typeface="+mn-ea"/>
              </a:rPr>
              <a:t>或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运算符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（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</a:rPr>
              <a:t>|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）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例</a:t>
            </a:r>
            <a:r>
              <a:rPr lang="en-US" altLang="zh-CN" sz="2000" dirty="0"/>
              <a:t>1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err="1"/>
              <a:t>int</a:t>
            </a:r>
            <a:r>
              <a:rPr lang="en-US" altLang="zh-CN" sz="1800" dirty="0"/>
              <a:t> a=0, b=8, c=0x0000FFFF;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a=</a:t>
            </a:r>
            <a:r>
              <a:rPr lang="en-US" altLang="zh-CN" sz="1800" dirty="0" err="1"/>
              <a:t>a|b</a:t>
            </a:r>
            <a:r>
              <a:rPr lang="en-US" altLang="zh-CN" sz="1800" dirty="0"/>
              <a:t>;  //</a:t>
            </a:r>
            <a:r>
              <a:rPr lang="zh-CN" altLang="en-US" sz="1800" dirty="0"/>
              <a:t>置位</a:t>
            </a:r>
            <a:r>
              <a:rPr lang="en-US" altLang="zh-CN" sz="1800" dirty="0"/>
              <a:t>a</a:t>
            </a:r>
            <a:r>
              <a:rPr lang="zh-CN" altLang="en-US" sz="1800" dirty="0" smtClean="0"/>
              <a:t>的倒数第</a:t>
            </a:r>
            <a:r>
              <a:rPr lang="en-US" altLang="zh-CN" sz="1800" dirty="0"/>
              <a:t>4</a:t>
            </a:r>
            <a:r>
              <a:rPr lang="zh-CN" altLang="en-US" sz="1800" dirty="0"/>
              <a:t>位，其余位保持不变；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b=0x00000080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smtClean="0"/>
              <a:t>a=</a:t>
            </a:r>
            <a:r>
              <a:rPr lang="en-US" altLang="zh-CN" sz="1800" dirty="0" err="1" smtClean="0"/>
              <a:t>a|c</a:t>
            </a:r>
            <a:r>
              <a:rPr lang="en-US" altLang="zh-CN" sz="1800" dirty="0"/>
              <a:t>;  </a:t>
            </a:r>
            <a:r>
              <a:rPr lang="en-US" altLang="zh-CN" sz="1800" dirty="0" smtClean="0"/>
              <a:t>//</a:t>
            </a:r>
            <a:r>
              <a:rPr lang="zh-CN" altLang="en-US" sz="1800" dirty="0" smtClean="0"/>
              <a:t>保持</a:t>
            </a:r>
            <a:r>
              <a:rPr lang="en-US" altLang="zh-CN" sz="1800" dirty="0" smtClean="0"/>
              <a:t>a</a:t>
            </a:r>
            <a:r>
              <a:rPr lang="zh-CN" altLang="en-US" sz="1800" dirty="0"/>
              <a:t>的高</a:t>
            </a:r>
            <a:r>
              <a:rPr lang="en-US" altLang="zh-CN" sz="1800" dirty="0"/>
              <a:t>2</a:t>
            </a:r>
            <a:r>
              <a:rPr lang="zh-CN" altLang="en-US" sz="1800" dirty="0" smtClean="0"/>
              <a:t>字节不变，将低</a:t>
            </a:r>
            <a:r>
              <a:rPr lang="en-US" altLang="zh-CN" sz="1800" dirty="0"/>
              <a:t>2</a:t>
            </a:r>
            <a:r>
              <a:rPr lang="zh-CN" altLang="en-US" sz="1800" dirty="0"/>
              <a:t>字节</a:t>
            </a:r>
            <a:r>
              <a:rPr lang="zh-CN" altLang="en-US" sz="1800" dirty="0" smtClean="0"/>
              <a:t>置位（设置为</a:t>
            </a:r>
            <a:r>
              <a:rPr lang="en-US" altLang="zh-CN" sz="1800" dirty="0" smtClean="0"/>
              <a:t>1</a:t>
            </a:r>
            <a:r>
              <a:rPr lang="zh-CN" altLang="en-US" sz="1800" dirty="0" smtClean="0"/>
              <a:t>）；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000" b="1" dirty="0" smtClean="0"/>
              <a:t>例</a:t>
            </a:r>
            <a:r>
              <a:rPr lang="en-US" altLang="zh-CN" sz="2000" b="1" dirty="0"/>
              <a:t>2  </a:t>
            </a:r>
            <a:r>
              <a:rPr lang="zh-CN" altLang="en-US" sz="2000" b="1" dirty="0"/>
              <a:t>将</a:t>
            </a:r>
            <a:r>
              <a:rPr lang="zh-CN" altLang="en-US" sz="2000" b="1" dirty="0">
                <a:solidFill>
                  <a:srgbClr val="7030A0"/>
                </a:solidFill>
              </a:rPr>
              <a:t>大写</a:t>
            </a:r>
            <a:r>
              <a:rPr lang="zh-CN" altLang="en-US" sz="2000" b="1" dirty="0"/>
              <a:t>字母转换为</a:t>
            </a:r>
            <a:r>
              <a:rPr lang="zh-CN" altLang="en-US" sz="2000" b="1" dirty="0">
                <a:solidFill>
                  <a:srgbClr val="7030A0"/>
                </a:solidFill>
              </a:rPr>
              <a:t>小写</a:t>
            </a:r>
            <a:r>
              <a:rPr lang="zh-CN" altLang="en-US" sz="2000" b="1" dirty="0"/>
              <a:t>字母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smtClean="0"/>
              <a:t>Fact</a:t>
            </a:r>
            <a:r>
              <a:rPr lang="zh-CN" altLang="en-US" sz="1800" dirty="0" smtClean="0"/>
              <a:t>：小写字母</a:t>
            </a:r>
            <a:r>
              <a:rPr lang="zh-CN" altLang="en-US" sz="1800" dirty="0"/>
              <a:t>的第</a:t>
            </a:r>
            <a:r>
              <a:rPr lang="en-US" altLang="zh-CN" sz="1800" dirty="0"/>
              <a:t>6</a:t>
            </a:r>
            <a:r>
              <a:rPr lang="zh-CN" altLang="en-US" sz="1800" dirty="0"/>
              <a:t>位是</a:t>
            </a:r>
            <a:r>
              <a:rPr lang="en-US" altLang="zh-CN" sz="1800" dirty="0"/>
              <a:t>1</a:t>
            </a:r>
            <a:r>
              <a:rPr lang="zh-CN" altLang="en-US" sz="1800" dirty="0"/>
              <a:t>，大写字母的第</a:t>
            </a:r>
            <a:r>
              <a:rPr lang="en-US" altLang="zh-CN" sz="1800" dirty="0"/>
              <a:t>6</a:t>
            </a:r>
            <a:r>
              <a:rPr lang="zh-CN" altLang="en-US" sz="1800" dirty="0" smtClean="0"/>
              <a:t>位是</a:t>
            </a:r>
            <a:r>
              <a:rPr lang="en-US" altLang="zh-CN" sz="1800" dirty="0" smtClean="0"/>
              <a:t>0</a:t>
            </a:r>
            <a:r>
              <a:rPr lang="zh-CN" altLang="en-US" sz="1800" dirty="0" smtClean="0"/>
              <a:t>；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 smtClean="0"/>
              <a:t>'a'</a:t>
            </a:r>
            <a:r>
              <a:rPr lang="zh-CN" altLang="en-US" sz="1800" dirty="0" smtClean="0"/>
              <a:t>的</a:t>
            </a:r>
            <a:r>
              <a:rPr lang="en-US" altLang="zh-CN" sz="1800" dirty="0"/>
              <a:t>ASCII</a:t>
            </a:r>
            <a:r>
              <a:rPr lang="zh-CN" altLang="en-US" sz="1800" dirty="0"/>
              <a:t>是</a:t>
            </a:r>
            <a:r>
              <a:rPr lang="en-US" altLang="zh-CN" sz="1800" dirty="0">
                <a:solidFill>
                  <a:srgbClr val="7030A0"/>
                </a:solidFill>
              </a:rPr>
              <a:t>0x61</a:t>
            </a:r>
            <a:r>
              <a:rPr lang="en-US" altLang="zh-CN" sz="1800" dirty="0" smtClean="0"/>
              <a:t>=  01</a:t>
            </a:r>
            <a:r>
              <a:rPr lang="en-US" altLang="zh-CN" sz="1800" dirty="0" smtClean="0">
                <a:solidFill>
                  <a:srgbClr val="C00000"/>
                </a:solidFill>
              </a:rPr>
              <a:t>1</a:t>
            </a:r>
            <a:r>
              <a:rPr lang="en-US" altLang="zh-CN" sz="1800" dirty="0" smtClean="0"/>
              <a:t>0 0001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/>
              <a:t>'</a:t>
            </a:r>
            <a:r>
              <a:rPr lang="en-US" altLang="zh-CN" sz="1800" dirty="0" smtClean="0"/>
              <a:t>A'</a:t>
            </a:r>
            <a:r>
              <a:rPr lang="zh-CN" altLang="en-US" sz="1800" dirty="0" smtClean="0"/>
              <a:t>的</a:t>
            </a:r>
            <a:r>
              <a:rPr lang="en-US" altLang="zh-CN" sz="1800" dirty="0"/>
              <a:t>ASCII</a:t>
            </a:r>
            <a:r>
              <a:rPr lang="zh-CN" altLang="en-US" sz="1800" dirty="0"/>
              <a:t>是</a:t>
            </a:r>
            <a:r>
              <a:rPr lang="en-US" altLang="zh-CN" sz="1800" dirty="0">
                <a:solidFill>
                  <a:srgbClr val="7030A0"/>
                </a:solidFill>
              </a:rPr>
              <a:t>0x41</a:t>
            </a:r>
            <a:r>
              <a:rPr lang="en-US" altLang="zh-CN" sz="1800" dirty="0" smtClean="0"/>
              <a:t>= 01</a:t>
            </a:r>
            <a:r>
              <a:rPr lang="en-US" altLang="zh-CN" sz="1800" dirty="0" smtClean="0">
                <a:solidFill>
                  <a:srgbClr val="C00000"/>
                </a:solidFill>
              </a:rPr>
              <a:t>0</a:t>
            </a:r>
            <a:r>
              <a:rPr lang="en-US" altLang="zh-CN" sz="1800" dirty="0" smtClean="0"/>
              <a:t>0 0001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pt-BR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800" dirty="0">
                <a:solidFill>
                  <a:srgbClr val="C00000"/>
                </a:solidFill>
              </a:rPr>
              <a:t>char mark=0x20</a:t>
            </a:r>
            <a:r>
              <a:rPr lang="en-US" altLang="zh-CN" sz="1800" dirty="0"/>
              <a:t>; //</a:t>
            </a:r>
            <a:r>
              <a:rPr lang="zh-CN" altLang="en-US" sz="1800" dirty="0"/>
              <a:t>二进制：</a:t>
            </a:r>
            <a:r>
              <a:rPr lang="en-US" altLang="zh-CN" sz="1800" dirty="0"/>
              <a:t>00</a:t>
            </a:r>
            <a:r>
              <a:rPr lang="en-US" altLang="zh-CN" sz="1800" dirty="0">
                <a:solidFill>
                  <a:srgbClr val="C00000"/>
                </a:solidFill>
              </a:rPr>
              <a:t>1</a:t>
            </a:r>
            <a:r>
              <a:rPr lang="en-US" altLang="zh-CN" sz="1800" dirty="0">
                <a:solidFill>
                  <a:srgbClr val="030DCD"/>
                </a:solidFill>
              </a:rPr>
              <a:t>0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0000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 smtClean="0"/>
              <a:t>                                  //</a:t>
            </a:r>
            <a:r>
              <a:rPr lang="zh-CN" altLang="en-US" sz="1800" dirty="0" smtClean="0">
                <a:solidFill>
                  <a:srgbClr val="006600"/>
                </a:solidFill>
              </a:rPr>
              <a:t>将</a:t>
            </a:r>
            <a:r>
              <a:rPr lang="zh-CN" altLang="en-US" sz="1800" dirty="0">
                <a:solidFill>
                  <a:srgbClr val="006600"/>
                </a:solidFill>
              </a:rPr>
              <a:t>字母的第</a:t>
            </a:r>
            <a:r>
              <a:rPr lang="en-US" altLang="zh-CN" sz="1800" dirty="0">
                <a:solidFill>
                  <a:srgbClr val="006600"/>
                </a:solidFill>
              </a:rPr>
              <a:t>6</a:t>
            </a:r>
            <a:r>
              <a:rPr lang="zh-CN" altLang="en-US" sz="1800" dirty="0">
                <a:solidFill>
                  <a:srgbClr val="006600"/>
                </a:solidFill>
              </a:rPr>
              <a:t>位置</a:t>
            </a:r>
            <a:r>
              <a:rPr lang="en-US" altLang="zh-CN" sz="1800" dirty="0">
                <a:solidFill>
                  <a:srgbClr val="006600"/>
                </a:solidFill>
              </a:rPr>
              <a:t>1</a:t>
            </a:r>
            <a:r>
              <a:rPr lang="zh-CN" altLang="en-US" sz="1800" dirty="0" smtClean="0">
                <a:solidFill>
                  <a:srgbClr val="006600"/>
                </a:solidFill>
              </a:rPr>
              <a:t>，其余位保持不变，即变为</a:t>
            </a:r>
            <a:r>
              <a:rPr lang="zh-CN" altLang="en-US" sz="1800" dirty="0">
                <a:solidFill>
                  <a:srgbClr val="006600"/>
                </a:solidFill>
              </a:rPr>
              <a:t>小写</a:t>
            </a:r>
            <a:r>
              <a:rPr lang="zh-CN" altLang="en-US" sz="1800" dirty="0"/>
              <a:t>；</a:t>
            </a: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pt-BR" altLang="zh-CN" sz="1800" dirty="0"/>
              <a:t>char c=‘</a:t>
            </a:r>
            <a:r>
              <a:rPr lang="en-US" altLang="zh-CN" sz="1800" dirty="0"/>
              <a:t>A</a:t>
            </a:r>
            <a:r>
              <a:rPr lang="pt-BR" altLang="zh-CN" sz="1800" dirty="0"/>
              <a:t>’;</a:t>
            </a:r>
            <a:r>
              <a:rPr lang="en-US" altLang="zh-CN" sz="1800" dirty="0"/>
              <a:t> </a:t>
            </a:r>
            <a:endParaRPr lang="en-US" altLang="zh-CN" sz="1800" dirty="0" smtClean="0"/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   for </a:t>
            </a:r>
            <a:r>
              <a:rPr lang="en-US" altLang="zh-CN" sz="1800" dirty="0"/>
              <a:t>(int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=0;i&lt;26;i++)</a:t>
            </a:r>
          </a:p>
          <a:p>
            <a:pPr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en-US" altLang="zh-CN" sz="1800" dirty="0"/>
              <a:t>    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(“%c ”,(</a:t>
            </a:r>
            <a:r>
              <a:rPr lang="en-US" altLang="zh-CN" sz="1800" dirty="0" err="1"/>
              <a:t>c+i</a:t>
            </a:r>
            <a:r>
              <a:rPr lang="en-US" altLang="zh-CN" sz="1800" dirty="0"/>
              <a:t>) </a:t>
            </a:r>
            <a:r>
              <a:rPr lang="en-US" altLang="zh-CN" sz="1800" dirty="0">
                <a:solidFill>
                  <a:srgbClr val="C00000"/>
                </a:solidFill>
              </a:rPr>
              <a:t>| mark</a:t>
            </a:r>
            <a:r>
              <a:rPr lang="en-US" altLang="zh-CN" sz="1800" dirty="0"/>
              <a:t>);   //</a:t>
            </a:r>
            <a:r>
              <a:rPr lang="zh-CN" altLang="en-US" sz="1800" dirty="0"/>
              <a:t>将</a:t>
            </a:r>
            <a:r>
              <a:rPr lang="zh-CN" altLang="en-US" sz="1800" dirty="0" smtClean="0"/>
              <a:t>字符由大写变为</a:t>
            </a:r>
            <a:r>
              <a:rPr lang="zh-CN" altLang="en-US" sz="1800" dirty="0"/>
              <a:t>小写</a:t>
            </a:r>
            <a:endParaRPr lang="en-US" altLang="zh-CN" sz="18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969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按位</a:t>
            </a:r>
            <a:r>
              <a:rPr lang="zh-CN" altLang="en-US" b="1" dirty="0">
                <a:solidFill>
                  <a:srgbClr val="030DCD"/>
                </a:solidFill>
                <a:latin typeface="+mn-lt"/>
                <a:ea typeface="+mn-ea"/>
              </a:rPr>
              <a:t>异或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运算符（</a:t>
            </a:r>
            <a:r>
              <a:rPr lang="en-US" altLang="zh-CN" b="1" dirty="0">
                <a:solidFill>
                  <a:srgbClr val="FF0000"/>
                </a:solidFill>
                <a:latin typeface="+mn-lt"/>
                <a:ea typeface="+mn-ea"/>
              </a:rPr>
              <a:t>^</a:t>
            </a:r>
            <a:r>
              <a:rPr lang="zh-CN" altLang="en-US" b="1" dirty="0">
                <a:solidFill>
                  <a:srgbClr val="FF0000"/>
                </a:solidFill>
                <a:latin typeface="+mn-lt"/>
                <a:ea typeface="+mn-ea"/>
              </a:rPr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功能：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/>
              <a:t>两个变量的</a:t>
            </a:r>
            <a:r>
              <a:rPr lang="zh-CN" altLang="en-US" sz="1800" dirty="0">
                <a:solidFill>
                  <a:srgbClr val="006600"/>
                </a:solidFill>
              </a:rPr>
              <a:t>机器数</a:t>
            </a:r>
            <a:r>
              <a:rPr lang="zh-CN" altLang="en-US" sz="1800" dirty="0"/>
              <a:t>“</a:t>
            </a:r>
            <a:r>
              <a:rPr lang="zh-CN" altLang="en-US" sz="1800" b="1" dirty="0">
                <a:solidFill>
                  <a:srgbClr val="7030A0"/>
                </a:solidFill>
              </a:rPr>
              <a:t>按位异或</a:t>
            </a:r>
            <a:r>
              <a:rPr lang="zh-CN" altLang="en-US" sz="1800" dirty="0"/>
              <a:t>”；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运算规则</a:t>
            </a:r>
            <a:r>
              <a:rPr lang="en-US" altLang="zh-CN" sz="2000" dirty="0"/>
              <a:t>:</a:t>
            </a:r>
          </a:p>
          <a:p>
            <a:pPr marL="971550" lvl="1"/>
            <a:r>
              <a:rPr lang="en-US" altLang="zh-CN" sz="1800" dirty="0">
                <a:solidFill>
                  <a:srgbClr val="030DCD"/>
                </a:solidFill>
              </a:rPr>
              <a:t>  0^0=0    1^0=1 </a:t>
            </a:r>
            <a:r>
              <a:rPr lang="zh-CN" altLang="en-US" sz="1800" dirty="0">
                <a:solidFill>
                  <a:srgbClr val="030DCD"/>
                </a:solidFill>
              </a:rPr>
              <a:t>（</a:t>
            </a:r>
            <a:r>
              <a:rPr lang="zh-CN" altLang="en-US" sz="1800" b="1" dirty="0">
                <a:solidFill>
                  <a:srgbClr val="7030A0"/>
                </a:solidFill>
              </a:rPr>
              <a:t>与</a:t>
            </a:r>
            <a:r>
              <a:rPr lang="en-US" altLang="zh-CN" sz="1800" b="1" dirty="0">
                <a:solidFill>
                  <a:srgbClr val="7030A0"/>
                </a:solidFill>
              </a:rPr>
              <a:t>0</a:t>
            </a:r>
            <a:r>
              <a:rPr lang="zh-CN" altLang="en-US" sz="1800" b="1" dirty="0">
                <a:solidFill>
                  <a:srgbClr val="7030A0"/>
                </a:solidFill>
              </a:rPr>
              <a:t>异或的位</a:t>
            </a:r>
            <a:r>
              <a:rPr lang="zh-CN" altLang="en-US" sz="1800" b="1" dirty="0" smtClean="0">
                <a:solidFill>
                  <a:srgbClr val="7030A0"/>
                </a:solidFill>
              </a:rPr>
              <a:t>保持不变</a:t>
            </a:r>
            <a:r>
              <a:rPr lang="zh-CN" altLang="en-US" sz="1800" dirty="0" smtClean="0">
                <a:solidFill>
                  <a:srgbClr val="030DCD"/>
                </a:solidFill>
              </a:rPr>
              <a:t>）</a:t>
            </a:r>
            <a:r>
              <a:rPr lang="en-US" altLang="zh-CN" sz="1800" dirty="0" smtClean="0">
                <a:solidFill>
                  <a:srgbClr val="030DCD"/>
                </a:solidFill>
              </a:rPr>
              <a:t>   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971550" lvl="1"/>
            <a:r>
              <a:rPr lang="en-US" altLang="zh-CN" sz="1800" dirty="0">
                <a:solidFill>
                  <a:srgbClr val="030DCD"/>
                </a:solidFill>
              </a:rPr>
              <a:t>  </a:t>
            </a:r>
            <a:r>
              <a:rPr lang="en-US" altLang="zh-CN" sz="1800" dirty="0">
                <a:solidFill>
                  <a:srgbClr val="C00000"/>
                </a:solidFill>
              </a:rPr>
              <a:t>0^1=1    1^1=0 </a:t>
            </a:r>
            <a:r>
              <a:rPr lang="zh-CN" altLang="en-US" sz="1800" dirty="0">
                <a:solidFill>
                  <a:srgbClr val="C00000"/>
                </a:solidFill>
              </a:rPr>
              <a:t>（</a:t>
            </a:r>
            <a:r>
              <a:rPr lang="zh-CN" altLang="en-US" sz="1800" b="1" dirty="0">
                <a:solidFill>
                  <a:srgbClr val="7030A0"/>
                </a:solidFill>
              </a:rPr>
              <a:t>与</a:t>
            </a:r>
            <a:r>
              <a:rPr lang="en-US" altLang="zh-CN" sz="1800" b="1" dirty="0">
                <a:solidFill>
                  <a:srgbClr val="7030A0"/>
                </a:solidFill>
              </a:rPr>
              <a:t>1</a:t>
            </a:r>
            <a:r>
              <a:rPr lang="zh-CN" altLang="en-US" sz="1800" b="1" dirty="0">
                <a:solidFill>
                  <a:srgbClr val="7030A0"/>
                </a:solidFill>
              </a:rPr>
              <a:t>异或的位被翻转</a:t>
            </a:r>
            <a:r>
              <a:rPr lang="zh-CN" altLang="en-US" sz="1800" dirty="0">
                <a:solidFill>
                  <a:srgbClr val="C00000"/>
                </a:solidFill>
              </a:rPr>
              <a:t>）</a:t>
            </a:r>
            <a:endParaRPr lang="en-US" altLang="zh-CN" sz="1800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dirty="0">
                <a:solidFill>
                  <a:srgbClr val="006600"/>
                </a:solidFill>
              </a:rPr>
              <a:t>只要对应位上的值互不相同则该位上的结果值为</a:t>
            </a:r>
            <a:r>
              <a:rPr lang="en-US" altLang="zh-CN" sz="1800" dirty="0" smtClean="0">
                <a:solidFill>
                  <a:srgbClr val="006600"/>
                </a:solidFill>
              </a:rPr>
              <a:t>1</a:t>
            </a:r>
            <a:r>
              <a:rPr lang="zh-CN" altLang="en-US" sz="1800" dirty="0" smtClean="0">
                <a:solidFill>
                  <a:srgbClr val="006600"/>
                </a:solidFill>
              </a:rPr>
              <a:t>，否则为</a:t>
            </a:r>
            <a:r>
              <a:rPr lang="en-US" altLang="zh-CN" sz="1800" dirty="0" smtClean="0">
                <a:solidFill>
                  <a:srgbClr val="006600"/>
                </a:solidFill>
              </a:rPr>
              <a:t>0</a:t>
            </a:r>
            <a:r>
              <a:rPr lang="zh-CN" altLang="en-US" sz="1800" dirty="0" smtClean="0">
                <a:solidFill>
                  <a:srgbClr val="006600"/>
                </a:solidFill>
              </a:rPr>
              <a:t>；</a:t>
            </a:r>
            <a:endParaRPr lang="en-US" altLang="zh-CN" sz="1800" dirty="0">
              <a:solidFill>
                <a:srgbClr val="006600"/>
              </a:solidFill>
            </a:endParaRPr>
          </a:p>
          <a:p>
            <a:pPr marL="971550" lvl="1"/>
            <a:r>
              <a:rPr lang="zh-CN" altLang="en-US" sz="1800" b="1" dirty="0">
                <a:solidFill>
                  <a:srgbClr val="C00000"/>
                </a:solidFill>
              </a:rPr>
              <a:t>简记为：</a:t>
            </a:r>
            <a:r>
              <a:rPr lang="zh-CN" altLang="en-US" sz="1800" b="1" dirty="0">
                <a:solidFill>
                  <a:srgbClr val="7030A0"/>
                </a:solidFill>
              </a:rPr>
              <a:t>同为</a:t>
            </a:r>
            <a:r>
              <a:rPr lang="en-US" altLang="zh-CN" sz="1800" b="1" dirty="0">
                <a:solidFill>
                  <a:srgbClr val="7030A0"/>
                </a:solidFill>
              </a:rPr>
              <a:t>0</a:t>
            </a:r>
            <a:r>
              <a:rPr lang="zh-CN" altLang="en-US" sz="1800" b="1" dirty="0">
                <a:solidFill>
                  <a:srgbClr val="7030A0"/>
                </a:solidFill>
              </a:rPr>
              <a:t>，异为</a:t>
            </a:r>
            <a:r>
              <a:rPr lang="en-US" altLang="zh-CN" sz="1800" b="1" dirty="0">
                <a:solidFill>
                  <a:srgbClr val="7030A0"/>
                </a:solidFill>
              </a:rPr>
              <a:t>1</a:t>
            </a:r>
            <a:r>
              <a:rPr lang="zh-CN" altLang="en-US" sz="1800" b="1" dirty="0">
                <a:solidFill>
                  <a:srgbClr val="C00000"/>
                </a:solidFill>
              </a:rPr>
              <a:t>，</a:t>
            </a:r>
            <a:r>
              <a:rPr lang="zh-CN" altLang="en-US" sz="1800" b="1" dirty="0">
                <a:solidFill>
                  <a:srgbClr val="7030A0"/>
                </a:solidFill>
              </a:rPr>
              <a:t>是为异或</a:t>
            </a:r>
            <a:r>
              <a:rPr lang="zh-CN" altLang="en-US" sz="1800" b="1" dirty="0">
                <a:solidFill>
                  <a:srgbClr val="C00000"/>
                </a:solidFill>
              </a:rPr>
              <a:t>；</a:t>
            </a:r>
            <a:endParaRPr lang="en-US" altLang="zh-CN" sz="1800" b="1" dirty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/>
              <a:t> </a:t>
            </a:r>
            <a:r>
              <a:rPr lang="zh-CN" altLang="en-US" sz="2000" dirty="0"/>
              <a:t>作用</a:t>
            </a:r>
          </a:p>
          <a:p>
            <a:pPr marL="971550" lvl="1"/>
            <a:r>
              <a:rPr lang="zh-CN" altLang="en-US" sz="1800" dirty="0">
                <a:solidFill>
                  <a:srgbClr val="030DCD"/>
                </a:solidFill>
              </a:rPr>
              <a:t>任何数与</a:t>
            </a:r>
            <a:r>
              <a:rPr lang="en-US" altLang="zh-CN" sz="1800" dirty="0">
                <a:solidFill>
                  <a:srgbClr val="030DCD"/>
                </a:solidFill>
              </a:rPr>
              <a:t>0</a:t>
            </a:r>
            <a:r>
              <a:rPr lang="zh-CN" altLang="en-US" sz="1800" dirty="0">
                <a:solidFill>
                  <a:srgbClr val="7030A0"/>
                </a:solidFill>
              </a:rPr>
              <a:t>相异或</a:t>
            </a:r>
            <a:r>
              <a:rPr lang="zh-CN" altLang="en-US" sz="1800" dirty="0">
                <a:solidFill>
                  <a:srgbClr val="030DCD"/>
                </a:solidFill>
              </a:rPr>
              <a:t>结果保留原数本身； （</a:t>
            </a:r>
            <a:r>
              <a:rPr lang="zh-CN" altLang="en-US" sz="1800" b="1" dirty="0">
                <a:solidFill>
                  <a:srgbClr val="006600"/>
                </a:solidFill>
              </a:rPr>
              <a:t>与</a:t>
            </a:r>
            <a:r>
              <a:rPr lang="en-US" altLang="zh-CN" sz="1800" b="1" dirty="0">
                <a:solidFill>
                  <a:srgbClr val="006600"/>
                </a:solidFill>
              </a:rPr>
              <a:t>0</a:t>
            </a:r>
            <a:r>
              <a:rPr lang="zh-CN" altLang="en-US" sz="1800" b="1" dirty="0">
                <a:solidFill>
                  <a:srgbClr val="006600"/>
                </a:solidFill>
              </a:rPr>
              <a:t>异或的位保持原值</a:t>
            </a:r>
            <a:r>
              <a:rPr lang="zh-CN" altLang="en-US" sz="1800" dirty="0">
                <a:solidFill>
                  <a:srgbClr val="030DCD"/>
                </a:solidFill>
              </a:rPr>
              <a:t>）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1200150" lvl="2"/>
            <a:r>
              <a:rPr lang="en-US" altLang="zh-CN" sz="1600" dirty="0" err="1"/>
              <a:t>int</a:t>
            </a:r>
            <a:r>
              <a:rPr lang="en-US" altLang="zh-CN" sz="1600" dirty="0"/>
              <a:t> x, y=x^0; </a:t>
            </a:r>
            <a:r>
              <a:rPr lang="zh-CN" altLang="en-US" sz="1600" dirty="0"/>
              <a:t>则</a:t>
            </a:r>
            <a:r>
              <a:rPr lang="en-US" altLang="zh-CN" sz="1600" dirty="0"/>
              <a:t>y=x;</a:t>
            </a:r>
          </a:p>
          <a:p>
            <a:pPr marL="971550" lvl="1"/>
            <a:r>
              <a:rPr lang="zh-CN" altLang="en-US" sz="1800" dirty="0">
                <a:solidFill>
                  <a:srgbClr val="030DCD"/>
                </a:solidFill>
              </a:rPr>
              <a:t>使某些特定</a:t>
            </a:r>
            <a:r>
              <a:rPr lang="zh-CN" altLang="en-US" sz="1800" dirty="0" smtClean="0">
                <a:solidFill>
                  <a:srgbClr val="030DCD"/>
                </a:solidFill>
              </a:rPr>
              <a:t>的位翻转</a:t>
            </a:r>
            <a:r>
              <a:rPr lang="zh-CN" altLang="en-US" sz="1800" dirty="0">
                <a:solidFill>
                  <a:srgbClr val="030DCD"/>
                </a:solidFill>
              </a:rPr>
              <a:t>；（</a:t>
            </a:r>
            <a:r>
              <a:rPr lang="zh-CN" altLang="en-US" sz="1800" b="1" dirty="0">
                <a:solidFill>
                  <a:srgbClr val="006600"/>
                </a:solidFill>
              </a:rPr>
              <a:t>与</a:t>
            </a:r>
            <a:r>
              <a:rPr lang="en-US" altLang="zh-CN" sz="1800" b="1" dirty="0">
                <a:solidFill>
                  <a:srgbClr val="006600"/>
                </a:solidFill>
              </a:rPr>
              <a:t>1</a:t>
            </a:r>
            <a:r>
              <a:rPr lang="zh-CN" altLang="en-US" sz="1800" b="1" dirty="0">
                <a:solidFill>
                  <a:srgbClr val="006600"/>
                </a:solidFill>
              </a:rPr>
              <a:t>异或的位被翻转</a:t>
            </a:r>
            <a:r>
              <a:rPr lang="zh-CN" altLang="en-US" sz="1800" dirty="0">
                <a:solidFill>
                  <a:srgbClr val="030DCD"/>
                </a:solidFill>
              </a:rPr>
              <a:t>）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1200150" lvl="2"/>
            <a:r>
              <a:rPr lang="en-US" altLang="zh-CN" sz="1600" dirty="0"/>
              <a:t>int x, y=x^0xFFFFFFFF,   y</a:t>
            </a:r>
            <a:r>
              <a:rPr lang="zh-CN" altLang="en-US" sz="1600" dirty="0"/>
              <a:t>的值是</a:t>
            </a:r>
            <a:r>
              <a:rPr lang="en-US" altLang="zh-CN" sz="1600" dirty="0"/>
              <a:t>x</a:t>
            </a:r>
            <a:r>
              <a:rPr lang="zh-CN" altLang="en-US" sz="1600" dirty="0"/>
              <a:t>的各位取反；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异或有时称为半加运算</a:t>
            </a: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思考：</a:t>
            </a:r>
            <a:r>
              <a:rPr lang="en-US" altLang="zh-CN" sz="2000" dirty="0" err="1"/>
              <a:t>x^x</a:t>
            </a:r>
            <a:r>
              <a:rPr lang="en-US" altLang="zh-CN" sz="2000" dirty="0" smtClean="0"/>
              <a:t>=?     </a:t>
            </a:r>
            <a:endParaRPr lang="zh-CN" altLang="en-US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E4AAA1D4-AFB1-42E6-8B84-E1095F93F9B1}"/>
              </a:ext>
            </a:extLst>
          </p:cNvPr>
          <p:cNvSpPr/>
          <p:nvPr/>
        </p:nvSpPr>
        <p:spPr bwMode="auto">
          <a:xfrm>
            <a:off x="2827758" y="6011044"/>
            <a:ext cx="6005346" cy="360978"/>
          </a:xfrm>
          <a:prstGeom prst="wedgeRoundRectCallout">
            <a:avLst>
              <a:gd name="adj1" fmla="val -62087"/>
              <a:gd name="adj2" fmla="val 16115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由于 </a:t>
            </a:r>
            <a:r>
              <a:rPr lang="en-US" altLang="zh-CN" sz="1600" dirty="0" smtClean="0">
                <a:solidFill>
                  <a:srgbClr val="000000"/>
                </a:solidFill>
                <a:latin typeface="+mn-lt"/>
                <a:ea typeface="+mn-ea"/>
              </a:rPr>
              <a:t>0^0=0 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</a:rPr>
              <a:t> </a:t>
            </a:r>
            <a:r>
              <a:rPr lang="en-US" altLang="zh-CN" sz="1600" dirty="0" smtClean="0">
                <a:solidFill>
                  <a:srgbClr val="000000"/>
                </a:solidFill>
                <a:latin typeface="+mn-lt"/>
                <a:ea typeface="+mn-ea"/>
              </a:rPr>
              <a:t>1^1=0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，因此 </a:t>
            </a:r>
            <a:r>
              <a:rPr lang="en-US" altLang="zh-CN" sz="1600" dirty="0" err="1" smtClean="0">
                <a:solidFill>
                  <a:srgbClr val="000000"/>
                </a:solidFill>
                <a:latin typeface="+mn-lt"/>
                <a:ea typeface="+mn-ea"/>
              </a:rPr>
              <a:t>x^x</a:t>
            </a:r>
            <a:r>
              <a:rPr lang="en-US" altLang="zh-CN" sz="1600" dirty="0" smtClean="0">
                <a:solidFill>
                  <a:srgbClr val="000000"/>
                </a:solidFill>
                <a:latin typeface="+mn-lt"/>
                <a:ea typeface="+mn-ea"/>
              </a:rPr>
              <a:t>=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0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，汇编指令 </a:t>
            </a:r>
            <a:r>
              <a:rPr kumimoji="0" lang="en-US" altLang="zh-CN" sz="1600" b="0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xor</a:t>
            </a:r>
            <a:r>
              <a:rPr kumimoji="0" lang="en-US" altLang="zh-CN" sz="16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+mn-ea"/>
              </a:rPr>
              <a:t> AX,AX</a:t>
            </a:r>
            <a:r>
              <a:rPr lang="en-US" altLang="zh-CN" sz="1600" smtClean="0">
                <a:solidFill>
                  <a:srgbClr val="000000"/>
                </a:solidFill>
                <a:latin typeface="+mn-lt"/>
                <a:ea typeface="+mn-ea"/>
              </a:rPr>
              <a:t>; 0</a:t>
            </a:r>
            <a:r>
              <a:rPr lang="en-US" altLang="zh-CN" sz="1600" smtClean="0">
                <a:solidFill>
                  <a:srgbClr val="000000"/>
                </a:solidFill>
                <a:latin typeface="+mn-lt"/>
                <a:ea typeface="+mn-ea"/>
                <a:sym typeface="Wingdings" panose="05000000000000000000" pitchFamily="2" charset="2"/>
              </a:rPr>
              <a:t>AX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771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按位异或运算符（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</a:rPr>
              <a:t>^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）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5775" y="1135063"/>
            <a:ext cx="8375592" cy="5345112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使某些特定的翻转；（与</a:t>
            </a:r>
            <a:r>
              <a:rPr lang="en-US" altLang="zh-CN" sz="2000" dirty="0">
                <a:solidFill>
                  <a:srgbClr val="030DCD"/>
                </a:solidFill>
              </a:rPr>
              <a:t>1</a:t>
            </a:r>
            <a:r>
              <a:rPr lang="zh-CN" altLang="en-US" sz="2000" dirty="0">
                <a:solidFill>
                  <a:srgbClr val="030DCD"/>
                </a:solidFill>
              </a:rPr>
              <a:t>异或的位被翻转）</a:t>
            </a:r>
            <a:endParaRPr lang="en-US" altLang="zh-CN" sz="20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例</a:t>
            </a:r>
            <a:r>
              <a:rPr lang="en-US" altLang="zh-CN" sz="2000" dirty="0"/>
              <a:t>1</a:t>
            </a:r>
            <a:r>
              <a:rPr lang="zh-CN" altLang="en-US" sz="2000" dirty="0"/>
              <a:t>：将英文字母</a:t>
            </a:r>
            <a:r>
              <a:rPr lang="zh-CN" altLang="en-US" sz="2000" dirty="0">
                <a:solidFill>
                  <a:srgbClr val="7030A0"/>
                </a:solidFill>
              </a:rPr>
              <a:t>大小写互换</a:t>
            </a:r>
            <a:r>
              <a:rPr lang="zh-CN" altLang="en-US" sz="2000" dirty="0"/>
              <a:t>（大写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ym typeface="Wingdings" panose="05000000000000000000" pitchFamily="2" charset="2"/>
              </a:rPr>
              <a:t>小写，小写</a:t>
            </a:r>
            <a:r>
              <a:rPr lang="en-US" altLang="zh-CN" sz="2000" dirty="0">
                <a:sym typeface="Wingdings" panose="05000000000000000000" pitchFamily="2" charset="2"/>
              </a:rPr>
              <a:t></a:t>
            </a:r>
            <a:r>
              <a:rPr lang="zh-CN" altLang="en-US" sz="2000" dirty="0">
                <a:sym typeface="Wingdings" panose="05000000000000000000" pitchFamily="2" charset="2"/>
              </a:rPr>
              <a:t>大写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 indent="0">
              <a:buNone/>
            </a:pPr>
            <a:r>
              <a:rPr lang="en-US" altLang="zh-CN" sz="1800" dirty="0"/>
              <a:t>   c1=‘A’;     //char(‘A’)=0x41=01</a:t>
            </a:r>
            <a:r>
              <a:rPr lang="en-US" altLang="zh-CN" sz="1800" dirty="0">
                <a:solidFill>
                  <a:srgbClr val="C00000"/>
                </a:solidFill>
              </a:rPr>
              <a:t>0</a:t>
            </a:r>
            <a:r>
              <a:rPr lang="en-US" altLang="zh-CN" sz="1800" dirty="0"/>
              <a:t>0 0001,  </a:t>
            </a:r>
          </a:p>
          <a:p>
            <a:pPr lvl="1" indent="0">
              <a:buNone/>
            </a:pPr>
            <a:r>
              <a:rPr lang="en-US" altLang="zh-CN" sz="1800" dirty="0"/>
              <a:t>   c1=‘a’;   </a:t>
            </a:r>
            <a:r>
              <a:rPr lang="en-US" altLang="zh-CN" sz="1800" dirty="0" smtClean="0"/>
              <a:t>   // </a:t>
            </a:r>
            <a:r>
              <a:rPr lang="en-US" altLang="zh-CN" sz="1800" dirty="0"/>
              <a:t>char(‘a’)=0x61=01</a:t>
            </a:r>
            <a:r>
              <a:rPr lang="en-US" altLang="zh-CN" sz="1800" dirty="0">
                <a:solidFill>
                  <a:srgbClr val="C00000"/>
                </a:solidFill>
              </a:rPr>
              <a:t>1</a:t>
            </a:r>
            <a:r>
              <a:rPr lang="en-US" altLang="zh-CN" sz="1800" dirty="0"/>
              <a:t>0 0001, </a:t>
            </a:r>
            <a:endParaRPr lang="en-US" altLang="zh-CN" sz="1800" dirty="0" smtClean="0"/>
          </a:p>
          <a:p>
            <a:pPr lvl="1" indent="0">
              <a:buNone/>
            </a:pPr>
            <a:r>
              <a:rPr lang="en-US" altLang="zh-CN" sz="1800" dirty="0"/>
              <a:t> </a:t>
            </a:r>
            <a:r>
              <a:rPr lang="en-US" altLang="zh-CN" sz="1800" dirty="0" smtClean="0"/>
              <a:t>  char mark=0x20</a:t>
            </a:r>
            <a:r>
              <a:rPr lang="en-US" altLang="zh-CN" sz="1800" dirty="0"/>
              <a:t>; </a:t>
            </a:r>
            <a:r>
              <a:rPr lang="en-US" altLang="zh-CN" sz="1800" dirty="0" smtClean="0"/>
              <a:t> </a:t>
            </a:r>
            <a:r>
              <a:rPr lang="en-US" altLang="zh-CN" sz="1800" dirty="0" smtClean="0">
                <a:solidFill>
                  <a:srgbClr val="030DCD"/>
                </a:solidFill>
              </a:rPr>
              <a:t>//</a:t>
            </a:r>
            <a:r>
              <a:rPr lang="en-US" altLang="zh-CN" sz="1800" dirty="0">
                <a:solidFill>
                  <a:srgbClr val="030DCD"/>
                </a:solidFill>
              </a:rPr>
              <a:t>0x20=00</a:t>
            </a:r>
            <a:r>
              <a:rPr lang="en-US" altLang="zh-CN" sz="1800" dirty="0">
                <a:solidFill>
                  <a:srgbClr val="C00000"/>
                </a:solidFill>
              </a:rPr>
              <a:t>1</a:t>
            </a:r>
            <a:r>
              <a:rPr lang="en-US" altLang="zh-CN" sz="1800" dirty="0">
                <a:solidFill>
                  <a:srgbClr val="030DCD"/>
                </a:solidFill>
              </a:rPr>
              <a:t>0 0000 </a:t>
            </a:r>
            <a:endParaRPr lang="en-US" altLang="zh-CN" sz="1800" dirty="0" smtClean="0">
              <a:solidFill>
                <a:srgbClr val="030DCD"/>
              </a:solidFill>
            </a:endParaRPr>
          </a:p>
          <a:p>
            <a:pPr lvl="1" indent="0">
              <a:buNone/>
            </a:pPr>
            <a:r>
              <a:rPr lang="en-US" altLang="zh-CN" sz="1800" dirty="0">
                <a:solidFill>
                  <a:srgbClr val="030DCD"/>
                </a:solidFill>
              </a:rPr>
              <a:t> </a:t>
            </a:r>
            <a:r>
              <a:rPr lang="en-US" altLang="zh-CN" sz="1800" dirty="0" smtClean="0">
                <a:solidFill>
                  <a:srgbClr val="030DCD"/>
                </a:solidFill>
              </a:rPr>
              <a:t>   </a:t>
            </a:r>
            <a:r>
              <a:rPr lang="en-US" altLang="zh-CN" sz="1800" dirty="0" smtClean="0">
                <a:solidFill>
                  <a:srgbClr val="006600"/>
                </a:solidFill>
              </a:rPr>
              <a:t>//</a:t>
            </a:r>
            <a:r>
              <a:rPr lang="zh-CN" altLang="en-US" sz="1800" dirty="0">
                <a:solidFill>
                  <a:srgbClr val="006600"/>
                </a:solidFill>
              </a:rPr>
              <a:t>将字母</a:t>
            </a:r>
            <a:r>
              <a:rPr lang="en-US" altLang="zh-CN" sz="1800" dirty="0">
                <a:solidFill>
                  <a:srgbClr val="006600"/>
                </a:solidFill>
              </a:rPr>
              <a:t>ASCII</a:t>
            </a:r>
            <a:r>
              <a:rPr lang="zh-CN" altLang="en-US" sz="1800" dirty="0">
                <a:solidFill>
                  <a:srgbClr val="006600"/>
                </a:solidFill>
              </a:rPr>
              <a:t>码的第</a:t>
            </a:r>
            <a:r>
              <a:rPr lang="en-US" altLang="zh-CN" sz="1800" dirty="0">
                <a:solidFill>
                  <a:srgbClr val="006600"/>
                </a:solidFill>
              </a:rPr>
              <a:t>6</a:t>
            </a:r>
            <a:r>
              <a:rPr lang="zh-CN" altLang="en-US" sz="1800" dirty="0">
                <a:solidFill>
                  <a:srgbClr val="006600"/>
                </a:solidFill>
              </a:rPr>
              <a:t>位</a:t>
            </a:r>
            <a:r>
              <a:rPr lang="zh-CN" altLang="en-US" sz="1800" dirty="0" smtClean="0">
                <a:solidFill>
                  <a:srgbClr val="006600"/>
                </a:solidFill>
              </a:rPr>
              <a:t>翻转，其余位不变</a:t>
            </a:r>
            <a:r>
              <a:rPr lang="zh-CN" altLang="en-US" sz="1800" dirty="0" smtClean="0"/>
              <a:t>；</a:t>
            </a:r>
            <a:r>
              <a:rPr lang="zh-CN" altLang="en-US" sz="1800" dirty="0" smtClean="0">
                <a:solidFill>
                  <a:srgbClr val="7030A0"/>
                </a:solidFill>
              </a:rPr>
              <a:t>实现</a:t>
            </a:r>
            <a:r>
              <a:rPr lang="zh-CN" altLang="en-US" sz="1800" dirty="0">
                <a:solidFill>
                  <a:srgbClr val="7030A0"/>
                </a:solidFill>
              </a:rPr>
              <a:t>大小写</a:t>
            </a:r>
            <a:r>
              <a:rPr lang="zh-CN" altLang="en-US" sz="1800" dirty="0" smtClean="0">
                <a:solidFill>
                  <a:srgbClr val="7030A0"/>
                </a:solidFill>
              </a:rPr>
              <a:t>互转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lvl="1" indent="0">
              <a:buNone/>
            </a:pPr>
            <a:r>
              <a:rPr lang="en-US" altLang="zh-CN" sz="1800" dirty="0"/>
              <a:t>   for (int </a:t>
            </a:r>
            <a:r>
              <a:rPr lang="en-US" altLang="zh-CN" sz="1800" dirty="0" err="1"/>
              <a:t>i</a:t>
            </a:r>
            <a:r>
              <a:rPr lang="en-US" altLang="zh-CN" sz="1800" dirty="0"/>
              <a:t>=0;i&lt;26;i++)</a:t>
            </a:r>
          </a:p>
          <a:p>
            <a:pPr lvl="1" indent="0">
              <a:buNone/>
            </a:pPr>
            <a:r>
              <a:rPr lang="en-US" altLang="zh-CN" sz="1800" dirty="0"/>
              <a:t>         </a:t>
            </a:r>
            <a:r>
              <a:rPr lang="en-US" altLang="zh-CN" sz="1800" dirty="0" err="1"/>
              <a:t>printf</a:t>
            </a:r>
            <a:r>
              <a:rPr lang="en-US" altLang="zh-CN" sz="1800" dirty="0"/>
              <a:t>(“%c ”,(c1+i)</a:t>
            </a:r>
            <a:r>
              <a:rPr lang="en-US" altLang="zh-CN" sz="1800" dirty="0">
                <a:solidFill>
                  <a:srgbClr val="C00000"/>
                </a:solidFill>
              </a:rPr>
              <a:t>^mark</a:t>
            </a:r>
            <a:r>
              <a:rPr lang="en-US" altLang="zh-CN" sz="1800" dirty="0"/>
              <a:t>);    //</a:t>
            </a:r>
            <a:r>
              <a:rPr lang="zh-CN" altLang="en-US" sz="1800" dirty="0" smtClean="0">
                <a:solidFill>
                  <a:srgbClr val="7030A0"/>
                </a:solidFill>
              </a:rPr>
              <a:t>大小写互转</a:t>
            </a:r>
            <a:endParaRPr lang="en-US" altLang="zh-CN" sz="1800" dirty="0">
              <a:solidFill>
                <a:srgbClr val="7030A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回顾：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如何将一个文本文件</a:t>
            </a:r>
            <a:r>
              <a:rPr lang="zh-CN" altLang="en-US" sz="1800" dirty="0" smtClean="0"/>
              <a:t>中的</a:t>
            </a:r>
            <a:r>
              <a:rPr lang="zh-CN" altLang="en-US" sz="1800" dirty="0" smtClean="0">
                <a:solidFill>
                  <a:srgbClr val="0000CC"/>
                </a:solidFill>
              </a:rPr>
              <a:t>大写</a:t>
            </a:r>
            <a:r>
              <a:rPr lang="zh-CN" altLang="en-US" sz="1800" dirty="0" smtClean="0"/>
              <a:t>字母转换</a:t>
            </a:r>
            <a:r>
              <a:rPr lang="zh-CN" altLang="en-US" sz="1800" dirty="0"/>
              <a:t>为</a:t>
            </a:r>
            <a:r>
              <a:rPr lang="zh-CN" altLang="en-US" sz="1800" dirty="0">
                <a:solidFill>
                  <a:srgbClr val="7030A0"/>
                </a:solidFill>
              </a:rPr>
              <a:t>小写</a:t>
            </a:r>
            <a:r>
              <a:rPr lang="zh-CN" altLang="en-US" sz="1800" dirty="0"/>
              <a:t>？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如何将一个文本文件</a:t>
            </a:r>
            <a:r>
              <a:rPr lang="zh-CN" altLang="en-US" sz="1800" dirty="0" smtClean="0"/>
              <a:t>中</a:t>
            </a:r>
            <a:r>
              <a:rPr lang="zh-CN" altLang="en-US" sz="1800" dirty="0" smtClean="0">
                <a:solidFill>
                  <a:srgbClr val="0000CC"/>
                </a:solidFill>
              </a:rPr>
              <a:t>小写</a:t>
            </a:r>
            <a:r>
              <a:rPr lang="zh-CN" altLang="en-US" sz="1800" dirty="0" smtClean="0"/>
              <a:t>字母转换</a:t>
            </a:r>
            <a:r>
              <a:rPr lang="zh-CN" altLang="en-US" sz="1800" dirty="0"/>
              <a:t>为</a:t>
            </a:r>
            <a:r>
              <a:rPr lang="zh-CN" altLang="en-US" sz="1800" dirty="0">
                <a:solidFill>
                  <a:srgbClr val="7030A0"/>
                </a:solidFill>
              </a:rPr>
              <a:t>大写</a:t>
            </a:r>
            <a:r>
              <a:rPr lang="zh-CN" altLang="en-US" sz="1800" dirty="0"/>
              <a:t>？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如何实现将一个文本文件中</a:t>
            </a:r>
            <a:r>
              <a:rPr lang="zh-CN" altLang="en-US" sz="1800" dirty="0" smtClean="0"/>
              <a:t>字母大</a:t>
            </a:r>
            <a:r>
              <a:rPr lang="zh-CN" altLang="en-US" sz="1800" dirty="0"/>
              <a:t>小写</a:t>
            </a:r>
            <a:r>
              <a:rPr lang="zh-CN" altLang="en-US" sz="1800" dirty="0">
                <a:solidFill>
                  <a:srgbClr val="7030A0"/>
                </a:solidFill>
              </a:rPr>
              <a:t>互换</a:t>
            </a:r>
            <a:r>
              <a:rPr lang="zh-CN" altLang="en-US" sz="1800" dirty="0"/>
              <a:t>？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E4AAA1D4-AFB1-42E6-8B84-E1095F93F9B1}"/>
              </a:ext>
            </a:extLst>
          </p:cNvPr>
          <p:cNvSpPr/>
          <p:nvPr/>
        </p:nvSpPr>
        <p:spPr bwMode="auto">
          <a:xfrm>
            <a:off x="6442743" y="4244829"/>
            <a:ext cx="1702967" cy="360978"/>
          </a:xfrm>
          <a:prstGeom prst="wedgeRoundRectCallout">
            <a:avLst>
              <a:gd name="adj1" fmla="val -67690"/>
              <a:gd name="adj2" fmla="val 62172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逐个字符 </a:t>
            </a:r>
            <a:r>
              <a:rPr lang="en-US" altLang="zh-CN" sz="1600" dirty="0" smtClean="0">
                <a:solidFill>
                  <a:srgbClr val="C00000"/>
                </a:solidFill>
                <a:ea typeface="宋体" panose="02010600030101010101" pitchFamily="2" charset="-122"/>
              </a:rPr>
              <a:t>|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0x20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对话气泡: 圆角矩形 4">
            <a:extLst>
              <a:ext uri="{FF2B5EF4-FFF2-40B4-BE49-F238E27FC236}">
                <a16:creationId xmlns:a16="http://schemas.microsoft.com/office/drawing/2014/main" id="{7993B1FA-7814-4499-8B51-06DF1F01D35D}"/>
              </a:ext>
            </a:extLst>
          </p:cNvPr>
          <p:cNvSpPr/>
          <p:nvPr/>
        </p:nvSpPr>
        <p:spPr bwMode="auto">
          <a:xfrm>
            <a:off x="6373186" y="4777405"/>
            <a:ext cx="1770079" cy="360978"/>
          </a:xfrm>
          <a:prstGeom prst="wedgeRoundRectCallout">
            <a:avLst>
              <a:gd name="adj1" fmla="val -69660"/>
              <a:gd name="adj2" fmla="val 20341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逐个</a:t>
            </a:r>
            <a:r>
              <a:rPr lang="zh-CN" altLang="en-US" sz="1600" dirty="0">
                <a:solidFill>
                  <a:srgbClr val="000000"/>
                </a:solidFill>
                <a:ea typeface="宋体" panose="02010600030101010101" pitchFamily="2" charset="-122"/>
              </a:rPr>
              <a:t>字符 </a:t>
            </a:r>
            <a:r>
              <a:rPr lang="en-US" altLang="zh-CN" sz="1600" dirty="0" smtClean="0">
                <a:solidFill>
                  <a:srgbClr val="C00000"/>
                </a:solidFill>
                <a:ea typeface="宋体" panose="02010600030101010101" pitchFamily="2" charset="-122"/>
              </a:rPr>
              <a:t>&amp;0xDF</a:t>
            </a:r>
            <a:endParaRPr lang="zh-CN" altLang="en-US" sz="1600" dirty="0">
              <a:solidFill>
                <a:srgbClr val="C00000"/>
              </a:solidFill>
              <a:ea typeface="宋体" panose="02010600030101010101" pitchFamily="2" charset="-122"/>
            </a:endParaRPr>
          </a:p>
        </p:txBody>
      </p:sp>
      <p:sp>
        <p:nvSpPr>
          <p:cNvPr id="6" name="对话气泡: 圆角矩形 5">
            <a:extLst>
              <a:ext uri="{FF2B5EF4-FFF2-40B4-BE49-F238E27FC236}">
                <a16:creationId xmlns:a16="http://schemas.microsoft.com/office/drawing/2014/main" id="{BB604A0D-8A37-455A-9106-82FA1AD5A0C4}"/>
              </a:ext>
            </a:extLst>
          </p:cNvPr>
          <p:cNvSpPr/>
          <p:nvPr/>
        </p:nvSpPr>
        <p:spPr bwMode="auto">
          <a:xfrm>
            <a:off x="6375631" y="5309981"/>
            <a:ext cx="1770079" cy="360978"/>
          </a:xfrm>
          <a:prstGeom prst="wedgeRoundRectCallout">
            <a:avLst>
              <a:gd name="adj1" fmla="val -69159"/>
              <a:gd name="adj2" fmla="val -24897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逐个字符 </a:t>
            </a:r>
            <a:r>
              <a:rPr lang="en-US" altLang="zh-CN" sz="1600" dirty="0" smtClean="0">
                <a:solidFill>
                  <a:srgbClr val="C00000"/>
                </a:solidFill>
                <a:ea typeface="宋体" panose="02010600030101010101" pitchFamily="2" charset="-122"/>
              </a:rPr>
              <a:t>^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0x20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C00000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34099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按位异或运算符（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</a:rPr>
              <a:t>^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）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不用中间变量，交换两个变量的值；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 err="1">
                <a:solidFill>
                  <a:srgbClr val="030DCD"/>
                </a:solidFill>
              </a:rPr>
              <a:t>i</a:t>
            </a:r>
            <a:r>
              <a:rPr lang="en-US" altLang="zh-CN" dirty="0" err="1" smtClean="0">
                <a:solidFill>
                  <a:srgbClr val="030DCD"/>
                </a:solidFill>
              </a:rPr>
              <a:t>nt</a:t>
            </a:r>
            <a:r>
              <a:rPr lang="en-US" altLang="zh-CN" dirty="0" smtClean="0">
                <a:solidFill>
                  <a:srgbClr val="030DCD"/>
                </a:solidFill>
              </a:rPr>
              <a:t> a=3,b=4;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 smtClean="0">
                <a:solidFill>
                  <a:srgbClr val="030DCD"/>
                </a:solidFill>
              </a:rPr>
              <a:t>a=</a:t>
            </a:r>
            <a:r>
              <a:rPr lang="en-US" altLang="zh-CN" dirty="0" err="1" smtClean="0">
                <a:solidFill>
                  <a:srgbClr val="030DCD"/>
                </a:solidFill>
              </a:rPr>
              <a:t>a^b</a:t>
            </a:r>
            <a:r>
              <a:rPr lang="en-US" altLang="zh-CN" dirty="0">
                <a:solidFill>
                  <a:srgbClr val="030DCD"/>
                </a:solidFill>
              </a:rPr>
              <a:t>;    </a:t>
            </a:r>
            <a:r>
              <a:rPr lang="en-US" altLang="zh-CN" dirty="0" smtClean="0">
                <a:solidFill>
                  <a:srgbClr val="030DCD"/>
                </a:solidFill>
              </a:rPr>
              <a:t>b=</a:t>
            </a:r>
            <a:r>
              <a:rPr lang="en-US" altLang="zh-CN" dirty="0" err="1" smtClean="0">
                <a:solidFill>
                  <a:srgbClr val="030DCD"/>
                </a:solidFill>
              </a:rPr>
              <a:t>a^b</a:t>
            </a:r>
            <a:r>
              <a:rPr lang="en-US" altLang="zh-CN" dirty="0" smtClean="0">
                <a:solidFill>
                  <a:srgbClr val="030DCD"/>
                </a:solidFill>
              </a:rPr>
              <a:t>;   </a:t>
            </a:r>
            <a:r>
              <a:rPr lang="en-US" altLang="zh-CN" dirty="0">
                <a:solidFill>
                  <a:srgbClr val="030DCD"/>
                </a:solidFill>
              </a:rPr>
              <a:t>a=</a:t>
            </a:r>
            <a:r>
              <a:rPr lang="en-US" altLang="zh-CN" dirty="0" err="1">
                <a:solidFill>
                  <a:srgbClr val="030DCD"/>
                </a:solidFill>
              </a:rPr>
              <a:t>a^b</a:t>
            </a:r>
            <a:r>
              <a:rPr lang="en-US" altLang="zh-CN" dirty="0">
                <a:solidFill>
                  <a:srgbClr val="030DCD"/>
                </a:solidFill>
              </a:rPr>
              <a:t>;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dirty="0"/>
              <a:t>证明</a:t>
            </a:r>
            <a:r>
              <a:rPr lang="zh-CN" altLang="en-US" dirty="0" smtClean="0"/>
              <a:t>：</a:t>
            </a:r>
            <a:endParaRPr lang="en-US" altLang="zh-CN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/>
              <a:t>异或运算满足</a:t>
            </a:r>
            <a:r>
              <a:rPr lang="zh-CN" altLang="en-US" dirty="0">
                <a:solidFill>
                  <a:srgbClr val="006600"/>
                </a:solidFill>
              </a:rPr>
              <a:t>交换律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006600"/>
                </a:solidFill>
              </a:rPr>
              <a:t>结合律</a:t>
            </a:r>
            <a:r>
              <a:rPr lang="zh-CN" altLang="en-US" dirty="0"/>
              <a:t>；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30DCD"/>
                </a:solidFill>
              </a:rPr>
              <a:t>a=</a:t>
            </a:r>
            <a:r>
              <a:rPr lang="en-US" altLang="zh-CN" dirty="0" err="1">
                <a:solidFill>
                  <a:srgbClr val="030DCD"/>
                </a:solidFill>
              </a:rPr>
              <a:t>a^b</a:t>
            </a:r>
            <a:r>
              <a:rPr lang="en-US" altLang="zh-CN" dirty="0">
                <a:solidFill>
                  <a:srgbClr val="030DCD"/>
                </a:solidFill>
              </a:rPr>
              <a:t>;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en-US" altLang="zh-CN" dirty="0">
                <a:solidFill>
                  <a:srgbClr val="030DCD"/>
                </a:solidFill>
              </a:rPr>
              <a:t>=</a:t>
            </a:r>
            <a:r>
              <a:rPr lang="en-US" altLang="zh-CN" dirty="0" err="1">
                <a:solidFill>
                  <a:srgbClr val="030DCD"/>
                </a:solidFill>
              </a:rPr>
              <a:t>b^a</a:t>
            </a:r>
            <a:r>
              <a:rPr lang="en-US" altLang="zh-CN" dirty="0">
                <a:solidFill>
                  <a:srgbClr val="030DCD"/>
                </a:solidFill>
              </a:rPr>
              <a:t>=b^(</a:t>
            </a:r>
            <a:r>
              <a:rPr lang="en-US" altLang="zh-CN" dirty="0" err="1">
                <a:solidFill>
                  <a:srgbClr val="030DCD"/>
                </a:solidFill>
              </a:rPr>
              <a:t>a^b</a:t>
            </a:r>
            <a:r>
              <a:rPr lang="en-US" altLang="zh-CN" dirty="0">
                <a:solidFill>
                  <a:srgbClr val="030DCD"/>
                </a:solidFill>
              </a:rPr>
              <a:t>)=</a:t>
            </a:r>
            <a:r>
              <a:rPr lang="en-US" altLang="zh-CN" dirty="0" err="1">
                <a:solidFill>
                  <a:srgbClr val="030DCD"/>
                </a:solidFill>
              </a:rPr>
              <a:t>b^a^b</a:t>
            </a:r>
            <a:r>
              <a:rPr lang="en-US" altLang="zh-CN" dirty="0">
                <a:solidFill>
                  <a:srgbClr val="030DCD"/>
                </a:solidFill>
              </a:rPr>
              <a:t>=a^(</a:t>
            </a:r>
            <a:r>
              <a:rPr lang="en-US" altLang="zh-CN" dirty="0" err="1">
                <a:solidFill>
                  <a:srgbClr val="030DCD"/>
                </a:solidFill>
              </a:rPr>
              <a:t>b^b</a:t>
            </a:r>
            <a:r>
              <a:rPr lang="en-US" altLang="zh-CN" dirty="0">
                <a:solidFill>
                  <a:srgbClr val="030DCD"/>
                </a:solidFill>
              </a:rPr>
              <a:t>)=a^0=</a:t>
            </a: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en-US" altLang="zh-CN" dirty="0">
                <a:solidFill>
                  <a:srgbClr val="030DCD"/>
                </a:solidFill>
              </a:rPr>
              <a:t>;  //</a:t>
            </a:r>
            <a:r>
              <a:rPr lang="zh-CN" altLang="en-US" dirty="0">
                <a:solidFill>
                  <a:srgbClr val="030DCD"/>
                </a:solidFill>
              </a:rPr>
              <a:t>使</a:t>
            </a:r>
            <a:r>
              <a:rPr lang="en-US" altLang="zh-CN" dirty="0">
                <a:solidFill>
                  <a:srgbClr val="030DCD"/>
                </a:solidFill>
              </a:rPr>
              <a:t>b=a;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en-US" altLang="zh-CN" dirty="0">
                <a:solidFill>
                  <a:srgbClr val="030DCD"/>
                </a:solidFill>
              </a:rPr>
              <a:t>=</a:t>
            </a:r>
            <a:r>
              <a:rPr lang="en-US" altLang="zh-CN" dirty="0" err="1">
                <a:solidFill>
                  <a:srgbClr val="030DCD"/>
                </a:solidFill>
              </a:rPr>
              <a:t>a^b</a:t>
            </a:r>
            <a:r>
              <a:rPr lang="en-US" altLang="zh-CN" dirty="0">
                <a:solidFill>
                  <a:srgbClr val="030DCD"/>
                </a:solidFill>
              </a:rPr>
              <a:t>=a^(</a:t>
            </a:r>
            <a:r>
              <a:rPr lang="en-US" altLang="zh-CN" dirty="0" err="1">
                <a:solidFill>
                  <a:srgbClr val="030DCD"/>
                </a:solidFill>
              </a:rPr>
              <a:t>b^a</a:t>
            </a:r>
            <a:r>
              <a:rPr lang="en-US" altLang="zh-CN" dirty="0">
                <a:solidFill>
                  <a:srgbClr val="030DCD"/>
                </a:solidFill>
              </a:rPr>
              <a:t>)=</a:t>
            </a:r>
            <a:r>
              <a:rPr lang="en-US" altLang="zh-CN" dirty="0" err="1">
                <a:solidFill>
                  <a:srgbClr val="030DCD"/>
                </a:solidFill>
              </a:rPr>
              <a:t>a^b^a</a:t>
            </a:r>
            <a:r>
              <a:rPr lang="en-US" altLang="zh-CN" dirty="0">
                <a:solidFill>
                  <a:srgbClr val="030DCD"/>
                </a:solidFill>
              </a:rPr>
              <a:t>=b^(</a:t>
            </a:r>
            <a:r>
              <a:rPr lang="en-US" altLang="zh-CN" dirty="0" err="1">
                <a:solidFill>
                  <a:srgbClr val="030DCD"/>
                </a:solidFill>
              </a:rPr>
              <a:t>a^a</a:t>
            </a:r>
            <a:r>
              <a:rPr lang="en-US" altLang="zh-CN" dirty="0">
                <a:solidFill>
                  <a:srgbClr val="030DCD"/>
                </a:solidFill>
              </a:rPr>
              <a:t>)=b^0=</a:t>
            </a:r>
            <a:r>
              <a:rPr lang="en-US" altLang="zh-CN" dirty="0">
                <a:solidFill>
                  <a:srgbClr val="C00000"/>
                </a:solidFill>
              </a:rPr>
              <a:t>b</a:t>
            </a:r>
            <a:r>
              <a:rPr lang="en-US" altLang="zh-CN" dirty="0">
                <a:solidFill>
                  <a:srgbClr val="030DCD"/>
                </a:solidFill>
              </a:rPr>
              <a:t>;  //</a:t>
            </a:r>
            <a:r>
              <a:rPr lang="zh-CN" altLang="en-US" dirty="0">
                <a:solidFill>
                  <a:srgbClr val="030DCD"/>
                </a:solidFill>
              </a:rPr>
              <a:t>使</a:t>
            </a:r>
            <a:r>
              <a:rPr lang="en-US" altLang="zh-CN" dirty="0">
                <a:solidFill>
                  <a:srgbClr val="030DCD"/>
                </a:solidFill>
              </a:rPr>
              <a:t>a=b;</a:t>
            </a: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en-US" altLang="zh-CN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en-US" altLang="zh-CN" dirty="0" smtClean="0">
              <a:solidFill>
                <a:srgbClr val="030DCD"/>
              </a:solidFill>
            </a:endParaRPr>
          </a:p>
          <a:p>
            <a:pPr marL="342900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30DCD"/>
              </a:solidFill>
            </a:endParaRPr>
          </a:p>
        </p:txBody>
      </p:sp>
      <p:sp>
        <p:nvSpPr>
          <p:cNvPr id="4" name="圆角矩形标注 3"/>
          <p:cNvSpPr/>
          <p:nvPr/>
        </p:nvSpPr>
        <p:spPr bwMode="auto">
          <a:xfrm>
            <a:off x="824194" y="2919247"/>
            <a:ext cx="7413061" cy="2183105"/>
          </a:xfrm>
          <a:prstGeom prst="wedgeRoundRectCallout">
            <a:avLst>
              <a:gd name="adj1" fmla="val -20833"/>
              <a:gd name="adj2" fmla="val 5050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注：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ea typeface="宋体" panose="02010600030101010101" pitchFamily="2" charset="-122"/>
              </a:rPr>
              <a:t>慎用，或尽量不要使用。</a:t>
            </a:r>
            <a:endParaRPr kumimoji="0" lang="en-US" altLang="zh-CN" sz="1600" b="1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原因：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lang="en-US" altLang="zh-CN" sz="1600" dirty="0" smtClean="0">
                <a:solidFill>
                  <a:srgbClr val="000000"/>
                </a:solidFill>
                <a:ea typeface="宋体" panose="02010600030101010101" pitchFamily="2" charset="-122"/>
              </a:rPr>
              <a:t>1</a:t>
            </a:r>
            <a:r>
              <a:rPr lang="zh-CN" altLang="en-US" sz="1600" dirty="0" smtClean="0">
                <a:solidFill>
                  <a:srgbClr val="000000"/>
                </a:solidFill>
                <a:ea typeface="宋体" panose="02010600030101010101" pitchFamily="2" charset="-122"/>
              </a:rPr>
              <a:t>、只适应与</a:t>
            </a:r>
            <a:r>
              <a:rPr lang="zh-CN" altLang="en-US" sz="1600" b="1" dirty="0" smtClean="0">
                <a:solidFill>
                  <a:srgbClr val="0070C0"/>
                </a:solidFill>
                <a:ea typeface="宋体" panose="02010600030101010101" pitchFamily="2" charset="-122"/>
              </a:rPr>
              <a:t>整型数据。</a:t>
            </a:r>
            <a:endParaRPr lang="en-US" altLang="zh-CN" sz="1600" b="1" dirty="0" smtClean="0">
              <a:solidFill>
                <a:srgbClr val="0070C0"/>
              </a:solidFill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2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、必须是</a:t>
            </a:r>
            <a:r>
              <a:rPr kumimoji="0" lang="zh-CN" altLang="en-US" sz="160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ea typeface="宋体" panose="02010600030101010101" pitchFamily="2" charset="-122"/>
              </a:rPr>
              <a:t>两个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C00000"/>
                </a:solidFill>
                <a:effectLst/>
                <a:ea typeface="宋体" panose="02010600030101010101" pitchFamily="2" charset="-122"/>
              </a:rPr>
              <a:t>不同</a:t>
            </a:r>
            <a:r>
              <a:rPr kumimoji="0" lang="zh-CN" altLang="en-US" sz="1600" i="0" u="none" strike="noStrike" cap="none" normalizeH="0" baseline="0" dirty="0" smtClean="0">
                <a:ln>
                  <a:noFill/>
                </a:ln>
                <a:solidFill>
                  <a:srgbClr val="0000CC"/>
                </a:solidFill>
                <a:effectLst/>
                <a:ea typeface="宋体" panose="02010600030101010101" pitchFamily="2" charset="-122"/>
              </a:rPr>
              <a:t>整型变量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之间的交换，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7030A0"/>
                </a:solidFill>
                <a:effectLst/>
                <a:ea typeface="宋体" panose="02010600030101010101" pitchFamily="2" charset="-122"/>
              </a:rPr>
              <a:t>不能是同一个变量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之间对换，</a:t>
            </a:r>
            <a:r>
              <a:rPr kumimoji="0" lang="zh-CN" altLang="en-US" sz="1600" b="1" i="0" u="none" strike="noStrike" cap="none" normalizeH="0" baseline="0" dirty="0" smtClean="0">
                <a:ln>
                  <a:noFill/>
                </a:ln>
                <a:solidFill>
                  <a:srgbClr val="006600"/>
                </a:solidFill>
                <a:effectLst/>
                <a:ea typeface="宋体" panose="02010600030101010101" pitchFamily="2" charset="-122"/>
              </a:rPr>
              <a:t>否则，该变量的值会变为</a:t>
            </a:r>
            <a:r>
              <a:rPr kumimoji="0" lang="en-US" altLang="zh-CN" sz="1600" b="1" i="0" u="none" strike="noStrike" cap="none" normalizeH="0" baseline="0" dirty="0" smtClean="0">
                <a:ln>
                  <a:noFill/>
                </a:ln>
                <a:solidFill>
                  <a:srgbClr val="006600"/>
                </a:solidFill>
                <a:effectLst/>
                <a:ea typeface="宋体" panose="02010600030101010101" pitchFamily="2" charset="-122"/>
              </a:rPr>
              <a:t>0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。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    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ea typeface="宋体" panose="02010600030101010101" pitchFamily="2" charset="-122"/>
              </a:rPr>
              <a:t>在数据的排序算法中，例如快排，采用的是分治法（分而治之），最后可能会涉及到同一个数组元素之间的交换问题，导致出错。</a:t>
            </a:r>
          </a:p>
        </p:txBody>
      </p:sp>
      <p:sp>
        <p:nvSpPr>
          <p:cNvPr id="5" name="圆角矩形标注 4"/>
          <p:cNvSpPr/>
          <p:nvPr/>
        </p:nvSpPr>
        <p:spPr bwMode="auto">
          <a:xfrm>
            <a:off x="5733288" y="1135063"/>
            <a:ext cx="2734056" cy="1187514"/>
          </a:xfrm>
          <a:prstGeom prst="wedgeRoundRectCallout">
            <a:avLst>
              <a:gd name="adj1" fmla="val -21167"/>
              <a:gd name="adj2" fmla="val 47630"/>
              <a:gd name="adj3" fmla="val 16667"/>
            </a:avLst>
          </a:prstGeom>
          <a:solidFill>
            <a:srgbClr val="FFC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思考：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该方法能否实现同一个变量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与</a:t>
            </a:r>
            <a:r>
              <a:rPr kumimoji="0" lang="en-US" altLang="zh-CN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a</a:t>
            </a: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之间的数据交换？</a:t>
            </a:r>
            <a:endParaRPr kumimoji="0" lang="en-US" altLang="zh-CN" sz="1600" b="0" i="0" u="none" strike="noStrike" cap="none" normalizeH="0" baseline="0" dirty="0" smtClean="0">
              <a:ln>
                <a:noFill/>
              </a:ln>
              <a:solidFill>
                <a:srgbClr val="080808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r>
              <a:rPr kumimoji="0" lang="zh-CN" altLang="en-US" sz="1600" b="0" i="0" u="none" strike="noStrike" cap="none" normalizeH="0" baseline="0" dirty="0" smtClean="0">
                <a:ln>
                  <a:noFill/>
                </a:ln>
                <a:solidFill>
                  <a:srgbClr val="080808"/>
                </a:solidFill>
                <a:effectLst/>
                <a:latin typeface="Arial" panose="020B0604020202020204" pitchFamily="34" charset="0"/>
                <a:ea typeface="宋体" panose="02010600030101010101" pitchFamily="2" charset="-122"/>
              </a:rPr>
              <a:t>为什么？</a:t>
            </a:r>
          </a:p>
        </p:txBody>
      </p:sp>
    </p:spTree>
    <p:extLst>
      <p:ext uri="{BB962C8B-B14F-4D97-AF65-F5344CB8AC3E}">
        <p14:creationId xmlns:p14="http://schemas.microsoft.com/office/powerpoint/2010/main" val="109995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按位异或运算符（</a:t>
            </a:r>
            <a:r>
              <a:rPr lang="en-US" altLang="zh-CN" dirty="0">
                <a:solidFill>
                  <a:srgbClr val="FF0000"/>
                </a:solidFill>
                <a:latin typeface="+mn-lt"/>
                <a:ea typeface="+mn-ea"/>
              </a:rPr>
              <a:t>^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）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en-US" altLang="zh-CN" sz="2000" dirty="0" smtClean="0"/>
              <a:t>1-1000</a:t>
            </a:r>
            <a:r>
              <a:rPr lang="zh-CN" altLang="en-US" sz="2000" dirty="0" smtClean="0"/>
              <a:t>放在</a:t>
            </a:r>
            <a:r>
              <a:rPr lang="en-US" altLang="zh-CN" sz="2000" dirty="0" smtClean="0"/>
              <a:t>1001</a:t>
            </a:r>
            <a:r>
              <a:rPr lang="zh-CN" altLang="en-US" sz="2000" dirty="0" smtClean="0"/>
              <a:t>个存储单元中，只有</a:t>
            </a:r>
            <a:r>
              <a:rPr lang="zh-CN" altLang="en-US" sz="2000" dirty="0"/>
              <a:t>唯一的一个元素值重复，其它均只</a:t>
            </a:r>
            <a:r>
              <a:rPr lang="zh-CN" altLang="en-US" sz="2000" dirty="0" smtClean="0"/>
              <a:t>出现一</a:t>
            </a:r>
            <a:r>
              <a:rPr lang="zh-CN" altLang="en-US" sz="2000" dirty="0"/>
              <a:t>次。每个数组元素只能访问一次，设计一个算法，将它找出来；不用辅助</a:t>
            </a:r>
            <a:r>
              <a:rPr lang="zh-CN" altLang="en-US" sz="2000" dirty="0" smtClean="0"/>
              <a:t>存储空间</a:t>
            </a:r>
            <a:r>
              <a:rPr lang="zh-CN" altLang="en-US" sz="2000" dirty="0"/>
              <a:t>，能否设计一个算法实现</a:t>
            </a:r>
            <a:r>
              <a:rPr lang="zh-CN" altLang="en-US" sz="2000" dirty="0" smtClean="0"/>
              <a:t>？</a:t>
            </a:r>
            <a:endParaRPr lang="en-US" altLang="zh-CN" sz="2000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解法</a:t>
            </a:r>
            <a:r>
              <a:rPr lang="en-US" altLang="zh-CN" sz="2000" dirty="0" smtClean="0"/>
              <a:t>1</a:t>
            </a:r>
          </a:p>
          <a:p>
            <a:pPr marL="971550" lvl="1"/>
            <a:r>
              <a:rPr lang="zh-CN" altLang="en-US" sz="1800" dirty="0" smtClean="0"/>
              <a:t>将这</a:t>
            </a:r>
            <a:r>
              <a:rPr lang="en-US" altLang="zh-CN" sz="1800" dirty="0" smtClean="0"/>
              <a:t>1001</a:t>
            </a:r>
            <a:r>
              <a:rPr lang="zh-CN" altLang="en-US" sz="1800" dirty="0" smtClean="0"/>
              <a:t>个数</a:t>
            </a:r>
            <a:r>
              <a:rPr lang="zh-CN" altLang="en-US" sz="1800" dirty="0"/>
              <a:t>加起来，减去</a:t>
            </a:r>
            <a:r>
              <a:rPr lang="en-US" altLang="zh-CN" sz="1800" dirty="0"/>
              <a:t>1+2+...+1000</a:t>
            </a:r>
            <a:r>
              <a:rPr lang="zh-CN" altLang="en-US" sz="1800" dirty="0"/>
              <a:t>的</a:t>
            </a:r>
            <a:r>
              <a:rPr lang="zh-CN" altLang="en-US" sz="1800" dirty="0" smtClean="0"/>
              <a:t>和，差即为重复的数。</a:t>
            </a:r>
            <a:endParaRPr lang="en-US" altLang="zh-CN" sz="1800" dirty="0" smtClean="0"/>
          </a:p>
          <a:p>
            <a:pPr marL="971550" lvl="1"/>
            <a:r>
              <a:rPr lang="zh-CN" altLang="en-US" sz="1800" dirty="0" smtClean="0"/>
              <a:t>问题：若采用该方法，如果</a:t>
            </a:r>
            <a:r>
              <a:rPr lang="zh-CN" altLang="en-US" sz="1800" dirty="0"/>
              <a:t>数列过大，则可能会导致溢出</a:t>
            </a:r>
            <a:endParaRPr lang="en-US" altLang="zh-CN" sz="1800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解法</a:t>
            </a:r>
            <a:r>
              <a:rPr lang="en-US" altLang="zh-CN" sz="2000" dirty="0" smtClean="0"/>
              <a:t>2</a:t>
            </a:r>
          </a:p>
          <a:p>
            <a:pPr marL="971550" lvl="1"/>
            <a:r>
              <a:rPr lang="zh-CN" altLang="en-US" sz="1800" dirty="0"/>
              <a:t>将这</a:t>
            </a:r>
            <a:r>
              <a:rPr lang="en-US" altLang="zh-CN" sz="1800" dirty="0"/>
              <a:t>1001</a:t>
            </a:r>
            <a:r>
              <a:rPr lang="zh-CN" altLang="en-US" sz="1800" dirty="0" smtClean="0"/>
              <a:t>个数做异或运算，</a:t>
            </a:r>
            <a:r>
              <a:rPr lang="zh-CN" altLang="en-US" sz="1800" dirty="0"/>
              <a:t>得到的结果与</a:t>
            </a:r>
            <a:r>
              <a:rPr lang="en-US" altLang="zh-CN" sz="1800" dirty="0"/>
              <a:t>1^2^3^...^1000</a:t>
            </a:r>
            <a:r>
              <a:rPr lang="zh-CN" altLang="en-US" sz="1800" dirty="0"/>
              <a:t>的结果进行异或，得到的结果就是重复数。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30DC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159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按位求反运算符（</a:t>
            </a:r>
            <a:r>
              <a:rPr lang="en-US" altLang="en-US" dirty="0">
                <a:solidFill>
                  <a:srgbClr val="030DCD"/>
                </a:solidFill>
                <a:latin typeface="+mn-lt"/>
                <a:ea typeface="+mn-ea"/>
              </a:rPr>
              <a:t>～</a:t>
            </a:r>
            <a:r>
              <a:rPr lang="zh-CN" altLang="en-US" dirty="0">
                <a:solidFill>
                  <a:srgbClr val="FF0000"/>
                </a:solidFill>
                <a:latin typeface="+mn-lt"/>
                <a:ea typeface="+mn-ea"/>
              </a:rPr>
              <a:t>）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功能：</a:t>
            </a:r>
            <a:endParaRPr lang="en-US" altLang="zh-CN" sz="2000" dirty="0"/>
          </a:p>
          <a:p>
            <a:pPr marL="971550" lvl="1">
              <a:lnSpc>
                <a:spcPct val="100000"/>
              </a:lnSpc>
              <a:spcBef>
                <a:spcPts val="1200"/>
              </a:spcBef>
            </a:pPr>
            <a:r>
              <a:rPr lang="zh-CN" altLang="en-US" sz="1800" dirty="0"/>
              <a:t>两个变量的</a:t>
            </a:r>
            <a:r>
              <a:rPr lang="zh-CN" altLang="en-US" sz="1800" b="1" dirty="0">
                <a:solidFill>
                  <a:srgbClr val="006600"/>
                </a:solidFill>
              </a:rPr>
              <a:t>机器数</a:t>
            </a:r>
            <a:r>
              <a:rPr lang="zh-CN" altLang="en-US" sz="1800" dirty="0"/>
              <a:t>“</a:t>
            </a:r>
            <a:r>
              <a:rPr lang="zh-CN" altLang="en-US" sz="1800" b="1" dirty="0">
                <a:solidFill>
                  <a:srgbClr val="7030A0"/>
                </a:solidFill>
              </a:rPr>
              <a:t>按位取反</a:t>
            </a:r>
            <a:r>
              <a:rPr lang="zh-CN" altLang="en-US" sz="1800" dirty="0"/>
              <a:t>”；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运算规则</a:t>
            </a:r>
            <a:r>
              <a:rPr lang="en-US" altLang="zh-CN" sz="2000" dirty="0"/>
              <a:t>:</a:t>
            </a:r>
          </a:p>
          <a:p>
            <a:pPr marL="971550" lvl="1"/>
            <a:r>
              <a:rPr lang="en-US" altLang="zh-CN" dirty="0"/>
              <a:t> </a:t>
            </a:r>
            <a:r>
              <a:rPr lang="en-US" altLang="zh-CN" sz="1800" dirty="0"/>
              <a:t>~0=1       ~1=0</a:t>
            </a:r>
          </a:p>
          <a:p>
            <a:pPr marL="971550" lvl="1"/>
            <a:r>
              <a:rPr lang="zh-CN" altLang="en-US" sz="1800" dirty="0"/>
              <a:t>对每个上的值按位求反：</a:t>
            </a:r>
            <a:r>
              <a:rPr lang="en-US" altLang="zh-CN" sz="1800" dirty="0"/>
              <a:t>1</a:t>
            </a:r>
            <a:r>
              <a:rPr lang="zh-CN" altLang="en-US" sz="1800" dirty="0"/>
              <a:t>变为</a:t>
            </a:r>
            <a:r>
              <a:rPr lang="en-US" altLang="zh-CN" sz="1800" dirty="0"/>
              <a:t>0</a:t>
            </a:r>
            <a:r>
              <a:rPr lang="zh-CN" altLang="en-US" sz="1800" dirty="0"/>
              <a:t>；</a:t>
            </a:r>
            <a:r>
              <a:rPr lang="en-US" altLang="zh-CN" sz="1800" dirty="0"/>
              <a:t>0</a:t>
            </a:r>
            <a:r>
              <a:rPr lang="zh-CN" altLang="en-US" sz="1800" dirty="0"/>
              <a:t>变为</a:t>
            </a:r>
            <a:r>
              <a:rPr lang="en-US" altLang="zh-CN" sz="1800" dirty="0"/>
              <a:t>1</a:t>
            </a:r>
            <a:r>
              <a:rPr lang="zh-CN" altLang="en-US" sz="1800" dirty="0"/>
              <a:t>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注意：</a:t>
            </a:r>
            <a:r>
              <a:rPr lang="en-US" altLang="zh-CN" sz="2000" dirty="0">
                <a:solidFill>
                  <a:srgbClr val="FF0000"/>
                </a:solidFill>
              </a:rPr>
              <a:t>~ </a:t>
            </a:r>
            <a:r>
              <a:rPr lang="zh-CN" altLang="en-US" sz="2000" dirty="0">
                <a:solidFill>
                  <a:srgbClr val="FF0000"/>
                </a:solidFill>
              </a:rPr>
              <a:t>运算符的优先级的非常高</a:t>
            </a:r>
            <a:r>
              <a:rPr lang="zh-CN" altLang="en-US" sz="2000" dirty="0">
                <a:solidFill>
                  <a:srgbClr val="000000"/>
                </a:solidFill>
              </a:rPr>
              <a:t>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例</a:t>
            </a:r>
            <a:endParaRPr lang="en-US" altLang="zh-CN" sz="2000" dirty="0"/>
          </a:p>
          <a:p>
            <a:pPr marL="971550" lvl="1"/>
            <a:r>
              <a:rPr lang="en-US" altLang="zh-CN" sz="1800" dirty="0"/>
              <a:t>int a= -1, b=~a</a:t>
            </a:r>
            <a:r>
              <a:rPr lang="zh-CN" altLang="en-US" sz="1800" dirty="0"/>
              <a:t>；</a:t>
            </a:r>
            <a:r>
              <a:rPr lang="en-US" altLang="zh-CN" sz="1800" dirty="0"/>
              <a:t>//a=0xFFFFFFFF, b=~a=0;</a:t>
            </a:r>
          </a:p>
          <a:p>
            <a:pPr marL="971550" lvl="1"/>
            <a:r>
              <a:rPr lang="en-US" altLang="zh-CN" sz="1800" dirty="0"/>
              <a:t>x^(~x) </a:t>
            </a:r>
            <a:r>
              <a:rPr lang="zh-CN" altLang="en-US" sz="1800" dirty="0"/>
              <a:t>或 </a:t>
            </a:r>
            <a:r>
              <a:rPr lang="en-US" altLang="zh-CN" sz="1800" dirty="0"/>
              <a:t>x^~x</a:t>
            </a:r>
            <a:r>
              <a:rPr lang="zh-CN" altLang="en-US" sz="1800" dirty="0"/>
              <a:t>的值是多少？</a:t>
            </a:r>
            <a:r>
              <a:rPr lang="en-US" altLang="zh-CN" sz="1800" dirty="0"/>
              <a:t> </a:t>
            </a:r>
          </a:p>
          <a:p>
            <a:pPr marL="1371600" lvl="2" indent="-342900">
              <a:buFont typeface="Arial" panose="020B0604020202020204" pitchFamily="34" charset="0"/>
              <a:buChar char="•"/>
            </a:pPr>
            <a:r>
              <a:rPr lang="zh-CN" altLang="en-US" sz="1600" dirty="0"/>
              <a:t>注：</a:t>
            </a:r>
            <a:r>
              <a:rPr lang="en-US" altLang="zh-CN" sz="1600" dirty="0"/>
              <a:t>x^~x  </a:t>
            </a:r>
            <a:r>
              <a:rPr lang="zh-CN" altLang="en-US" sz="1600" dirty="0"/>
              <a:t>等价于  </a:t>
            </a:r>
            <a:r>
              <a:rPr lang="en-US" altLang="zh-CN" sz="1600" dirty="0"/>
              <a:t>x^(~x) </a:t>
            </a:r>
            <a:r>
              <a:rPr lang="en-US" altLang="zh-CN" sz="1600" dirty="0" smtClean="0"/>
              <a:t>  </a:t>
            </a:r>
            <a:endParaRPr lang="en-US" altLang="zh-CN" sz="16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4" name="对话气泡: 圆角矩形 3">
            <a:extLst>
              <a:ext uri="{FF2B5EF4-FFF2-40B4-BE49-F238E27FC236}">
                <a16:creationId xmlns:a16="http://schemas.microsoft.com/office/drawing/2014/main" id="{E4AAA1D4-AFB1-42E6-8B84-E1095F93F9B1}"/>
              </a:ext>
            </a:extLst>
          </p:cNvPr>
          <p:cNvSpPr/>
          <p:nvPr/>
        </p:nvSpPr>
        <p:spPr bwMode="auto">
          <a:xfrm>
            <a:off x="4664870" y="5121582"/>
            <a:ext cx="3910805" cy="360978"/>
          </a:xfrm>
          <a:prstGeom prst="wedgeRoundRectCallout">
            <a:avLst>
              <a:gd name="adj1" fmla="val -62087"/>
              <a:gd name="adj2" fmla="val 16115"/>
              <a:gd name="adj3" fmla="val 16667"/>
            </a:avLst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由于 </a:t>
            </a:r>
            <a:r>
              <a:rPr lang="en-US" altLang="zh-CN" sz="1600" dirty="0" smtClean="0">
                <a:solidFill>
                  <a:srgbClr val="000000"/>
                </a:solidFill>
                <a:latin typeface="+mn-lt"/>
                <a:ea typeface="+mn-ea"/>
              </a:rPr>
              <a:t>0^1=1,1^0=1</a:t>
            </a:r>
            <a:r>
              <a:rPr lang="en-US" altLang="zh-CN" sz="1600" dirty="0">
                <a:solidFill>
                  <a:srgbClr val="000000"/>
                </a:solidFill>
                <a:latin typeface="+mn-lt"/>
                <a:ea typeface="+mn-ea"/>
              </a:rPr>
              <a:t>,</a:t>
            </a:r>
            <a:r>
              <a:rPr lang="zh-CN" altLang="en-US" sz="1600" dirty="0" smtClean="0">
                <a:solidFill>
                  <a:srgbClr val="000000"/>
                </a:solidFill>
                <a:latin typeface="+mn-lt"/>
                <a:ea typeface="+mn-ea"/>
              </a:rPr>
              <a:t>因此 </a:t>
            </a:r>
            <a:r>
              <a:rPr lang="en-US" altLang="zh-CN" sz="1600" dirty="0" smtClean="0">
                <a:solidFill>
                  <a:srgbClr val="000000"/>
                </a:solidFill>
                <a:latin typeface="+mn-lt"/>
                <a:ea typeface="+mn-ea"/>
              </a:rPr>
              <a:t>x^~x=0xFFFFFFFF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  <a:ea typeface="+mn-ea"/>
            </a:endParaRPr>
          </a:p>
        </p:txBody>
      </p:sp>
      <p:sp>
        <p:nvSpPr>
          <p:cNvPr id="5" name="AutoShape 2" descr="https://bkimg.cdn.bcebos.com/pic/63d9f2d3572c11df57c9a205612762d0f703c2f8?x-bce-process=image/watermark,image_d2F0ZXIvYmFpa2U4MA==,g_7,xp_5,yp_5/format,f_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939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  <a:latin typeface="+mn-lt"/>
                <a:ea typeface="+mn-ea"/>
              </a:rPr>
              <a:t>位逻辑运算符的优先级</a:t>
            </a:r>
            <a:endParaRPr lang="zh-CN" altLang="en-US" dirty="0">
              <a:solidFill>
                <a:srgbClr val="7030A0"/>
              </a:solidFill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6201" y="2662022"/>
            <a:ext cx="4565619" cy="45404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5" name="AutoShape 2" descr="https://bkimg.cdn.bcebos.com/pic/63d9f2d3572c11df57c9a205612762d0f703c2f8?x-bce-process=image/watermark,image_d2F0ZXIvYmFpa2U4MA==,g_7,xp_5,yp_5/format,f_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 descr="https://bkimg.cdn.bcebos.com/pic/63d9f2d3572c11df57c9a205612762d0f703c2f8?x-bce-process=image/watermark,image_d2F0ZXIvYmFpa2U4MA==,g_7,xp_5,yp_5/format,f_au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2" descr="这里写图片描述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175" y="1138237"/>
            <a:ext cx="6515100" cy="4581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402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</a:rPr>
              <a:t>移位运算（符）：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&lt;&lt; </a:t>
            </a:r>
            <a:r>
              <a:rPr lang="zh-CN" altLang="en-US" dirty="0">
                <a:solidFill>
                  <a:srgbClr val="C00000"/>
                </a:solidFill>
                <a:latin typeface="+mn-lt"/>
                <a:ea typeface="+mn-ea"/>
              </a:rPr>
              <a:t>，</a:t>
            </a:r>
            <a:r>
              <a:rPr lang="zh-CN" altLang="en-US" dirty="0" smtClean="0">
                <a:solidFill>
                  <a:srgbClr val="C00000"/>
                </a:solidFill>
                <a:latin typeface="+mn-lt"/>
                <a:ea typeface="+mn-ea"/>
              </a:rPr>
              <a:t> </a:t>
            </a:r>
            <a:r>
              <a:rPr lang="en-US" altLang="zh-CN" dirty="0">
                <a:solidFill>
                  <a:srgbClr val="C00000"/>
                </a:solidFill>
                <a:latin typeface="+mn-lt"/>
                <a:ea typeface="+mn-ea"/>
              </a:rPr>
              <a:t>&gt;&gt;</a:t>
            </a:r>
            <a:endParaRPr lang="zh-CN" altLang="en-US" dirty="0">
              <a:solidFill>
                <a:srgbClr val="C00000"/>
              </a:solidFill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030DCD"/>
                </a:solidFill>
              </a:rPr>
              <a:t>左移位运算符（</a:t>
            </a:r>
            <a:r>
              <a:rPr lang="en-US" altLang="zh-CN" sz="2000" dirty="0">
                <a:solidFill>
                  <a:srgbClr val="030DCD"/>
                </a:solidFill>
              </a:rPr>
              <a:t>&lt;&lt;</a:t>
            </a:r>
            <a:r>
              <a:rPr lang="zh-CN" altLang="en-US" sz="2000" dirty="0">
                <a:solidFill>
                  <a:srgbClr val="030DCD"/>
                </a:solidFill>
              </a:rPr>
              <a:t>）</a:t>
            </a:r>
          </a:p>
          <a:p>
            <a:pPr marL="971550" lvl="1"/>
            <a:r>
              <a:rPr lang="zh-CN" altLang="en-US" sz="1800" dirty="0"/>
              <a:t>运算规则：</a:t>
            </a:r>
            <a:r>
              <a:rPr lang="en-US" altLang="zh-CN" sz="1800" dirty="0"/>
              <a:t> a=a&lt;&lt;n</a:t>
            </a:r>
            <a:r>
              <a:rPr lang="zh-CN" altLang="en-US" sz="1800" dirty="0"/>
              <a:t>，将</a:t>
            </a:r>
            <a:r>
              <a:rPr lang="en-US" altLang="zh-CN" sz="1800" dirty="0"/>
              <a:t>a</a:t>
            </a:r>
            <a:r>
              <a:rPr lang="zh-CN" altLang="en-US" sz="1800" dirty="0"/>
              <a:t>中所有位向左移动</a:t>
            </a:r>
            <a:r>
              <a:rPr lang="en-US" altLang="zh-CN" sz="1800" dirty="0"/>
              <a:t>n</a:t>
            </a:r>
            <a:r>
              <a:rPr lang="zh-CN" altLang="en-US" sz="1800" dirty="0" smtClean="0"/>
              <a:t>位。</a:t>
            </a:r>
            <a:endParaRPr lang="zh-CN" altLang="en-US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/>
              <a:t>最高位（左边位）左移移出后</a:t>
            </a:r>
            <a:r>
              <a:rPr lang="zh-CN" altLang="en-US" sz="2000" b="1" dirty="0">
                <a:solidFill>
                  <a:srgbClr val="FF0000"/>
                </a:solidFill>
              </a:rPr>
              <a:t>被舍弃</a:t>
            </a:r>
            <a:r>
              <a:rPr lang="zh-CN" altLang="en-US" sz="2000" b="1" dirty="0"/>
              <a:t>，</a:t>
            </a:r>
            <a:r>
              <a:rPr lang="zh-CN" altLang="en-US" sz="2000" b="1" dirty="0">
                <a:solidFill>
                  <a:srgbClr val="7030A0"/>
                </a:solidFill>
              </a:rPr>
              <a:t>低位补</a:t>
            </a:r>
            <a:r>
              <a:rPr lang="en-US" altLang="zh-CN" sz="2000" b="1" dirty="0">
                <a:solidFill>
                  <a:srgbClr val="7030A0"/>
                </a:solidFill>
              </a:rPr>
              <a:t>0</a:t>
            </a:r>
            <a:r>
              <a:rPr lang="zh-CN" altLang="en-US" sz="2000" b="1" dirty="0">
                <a:solidFill>
                  <a:srgbClr val="030DCD"/>
                </a:solidFill>
              </a:rPr>
              <a:t>；</a:t>
            </a:r>
            <a:endParaRPr lang="en-US" altLang="zh-CN" sz="2000" b="1" dirty="0">
              <a:solidFill>
                <a:srgbClr val="030DCD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C00000"/>
                </a:solidFill>
              </a:rPr>
              <a:t>左移</a:t>
            </a:r>
            <a:r>
              <a:rPr lang="zh-CN" altLang="en-US" sz="2000" dirty="0"/>
              <a:t>位运算的作用：相当于</a:t>
            </a:r>
            <a:r>
              <a:rPr lang="zh-CN" altLang="en-US" sz="2000" dirty="0">
                <a:solidFill>
                  <a:srgbClr val="C00000"/>
                </a:solidFill>
              </a:rPr>
              <a:t>乘法</a:t>
            </a:r>
            <a:r>
              <a:rPr lang="zh-CN" altLang="en-US" sz="2000" dirty="0"/>
              <a:t>运算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一个数</a:t>
            </a:r>
            <a:r>
              <a:rPr lang="zh-CN" altLang="en-US" sz="1800" dirty="0">
                <a:solidFill>
                  <a:srgbClr val="7030A0"/>
                </a:solidFill>
              </a:rPr>
              <a:t>左移一位</a:t>
            </a:r>
            <a:r>
              <a:rPr lang="zh-CN" altLang="en-US" sz="1800" dirty="0"/>
              <a:t>相当于该数</a:t>
            </a:r>
            <a:r>
              <a:rPr lang="zh-CN" altLang="en-US" sz="1800" dirty="0">
                <a:solidFill>
                  <a:srgbClr val="7030A0"/>
                </a:solidFill>
              </a:rPr>
              <a:t>乘以</a:t>
            </a:r>
            <a:r>
              <a:rPr lang="en-US" altLang="zh-CN" sz="1800" dirty="0">
                <a:solidFill>
                  <a:srgbClr val="7030A0"/>
                </a:solidFill>
              </a:rPr>
              <a:t>2</a:t>
            </a:r>
            <a:r>
              <a:rPr lang="zh-CN" altLang="en-US" sz="1800" dirty="0"/>
              <a:t>； （</a:t>
            </a:r>
            <a:r>
              <a:rPr lang="en-US" altLang="zh-CN" sz="1800" dirty="0"/>
              <a:t>a&lt;&lt;1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一个数</a:t>
            </a:r>
            <a:r>
              <a:rPr lang="zh-CN" altLang="en-US" sz="1800" dirty="0">
                <a:solidFill>
                  <a:srgbClr val="7030A0"/>
                </a:solidFill>
              </a:rPr>
              <a:t>左移</a:t>
            </a:r>
            <a:r>
              <a:rPr lang="en-US" altLang="zh-CN" sz="1800" dirty="0">
                <a:solidFill>
                  <a:srgbClr val="7030A0"/>
                </a:solidFill>
              </a:rPr>
              <a:t>n</a:t>
            </a:r>
            <a:r>
              <a:rPr lang="zh-CN" altLang="en-US" sz="1800" dirty="0">
                <a:solidFill>
                  <a:srgbClr val="7030A0"/>
                </a:solidFill>
              </a:rPr>
              <a:t>位</a:t>
            </a:r>
            <a:r>
              <a:rPr lang="zh-CN" altLang="en-US" sz="1800" dirty="0"/>
              <a:t>相当于该数</a:t>
            </a:r>
            <a:r>
              <a:rPr lang="zh-CN" altLang="en-US" sz="1800" dirty="0">
                <a:solidFill>
                  <a:srgbClr val="7030A0"/>
                </a:solidFill>
              </a:rPr>
              <a:t>乘以</a:t>
            </a:r>
            <a:r>
              <a:rPr lang="en-US" altLang="zh-CN" sz="1800" dirty="0">
                <a:solidFill>
                  <a:srgbClr val="7030A0"/>
                </a:solidFill>
              </a:rPr>
              <a:t>2</a:t>
            </a:r>
            <a:r>
              <a:rPr lang="en-US" altLang="zh-CN" sz="1800" baseline="30000" dirty="0">
                <a:solidFill>
                  <a:srgbClr val="7030A0"/>
                </a:solidFill>
              </a:rPr>
              <a:t>n</a:t>
            </a:r>
            <a:r>
              <a:rPr lang="zh-CN" altLang="en-US" sz="1800" dirty="0"/>
              <a:t>； （</a:t>
            </a:r>
            <a:r>
              <a:rPr lang="en-US" altLang="zh-CN" sz="1800" dirty="0"/>
              <a:t>a&lt;&lt;n</a:t>
            </a:r>
            <a:r>
              <a:rPr lang="zh-CN" altLang="en-US" sz="1800" dirty="0"/>
              <a:t>）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如</a:t>
            </a:r>
            <a:endParaRPr lang="en-US" altLang="zh-CN" sz="2000" dirty="0"/>
          </a:p>
          <a:p>
            <a:pPr marL="971550" lvl="1"/>
            <a:r>
              <a:rPr lang="en-US" altLang="zh-CN" sz="1800" dirty="0" err="1"/>
              <a:t>int</a:t>
            </a:r>
            <a:r>
              <a:rPr lang="en-US" altLang="zh-CN" sz="1800" dirty="0"/>
              <a:t>  a=6;  a&lt;&lt;1;   //a=12;</a:t>
            </a:r>
          </a:p>
          <a:p>
            <a:pPr marL="971550" lvl="1"/>
            <a:r>
              <a:rPr lang="en-US" altLang="zh-CN" sz="1800" dirty="0" err="1"/>
              <a:t>int</a:t>
            </a:r>
            <a:r>
              <a:rPr lang="en-US" altLang="zh-CN" sz="1800" dirty="0"/>
              <a:t>  a=6;  a&lt;&lt;2;   //a=24;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b="1" dirty="0">
                <a:solidFill>
                  <a:srgbClr val="C00000"/>
                </a:solidFill>
              </a:rPr>
              <a:t>注：舍弃高位，有可能造成数据溢出</a:t>
            </a:r>
            <a:r>
              <a:rPr lang="zh-CN" altLang="en-US" sz="2000" dirty="0">
                <a:solidFill>
                  <a:srgbClr val="C00000"/>
                </a:solidFill>
              </a:rPr>
              <a:t>；</a:t>
            </a:r>
            <a:endParaRPr lang="en-US" altLang="zh-CN" sz="2000" dirty="0">
              <a:solidFill>
                <a:srgbClr val="C00000"/>
              </a:solidFill>
            </a:endParaRPr>
          </a:p>
          <a:p>
            <a:pPr marL="971550" lvl="1"/>
            <a:r>
              <a:rPr lang="zh-CN" altLang="en-US" sz="1800" dirty="0"/>
              <a:t>如，</a:t>
            </a:r>
            <a:r>
              <a:rPr lang="zh-CN" altLang="en-US" sz="1800" dirty="0">
                <a:solidFill>
                  <a:srgbClr val="006600"/>
                </a:solidFill>
              </a:rPr>
              <a:t>无符号</a:t>
            </a:r>
            <a:r>
              <a:rPr lang="zh-CN" altLang="en-US" sz="1800" dirty="0" smtClean="0">
                <a:solidFill>
                  <a:srgbClr val="006600"/>
                </a:solidFill>
              </a:rPr>
              <a:t>数</a:t>
            </a:r>
            <a:r>
              <a:rPr lang="en-US" altLang="zh-CN" sz="1800" dirty="0" smtClean="0"/>
              <a:t>unsigned a=0x80000000 </a:t>
            </a:r>
            <a:r>
              <a:rPr lang="zh-CN" altLang="en-US" sz="1800" dirty="0"/>
              <a:t>，</a:t>
            </a:r>
            <a:r>
              <a:rPr lang="en-US" altLang="zh-CN" sz="1800" dirty="0"/>
              <a:t>a=a&lt;&lt;1</a:t>
            </a:r>
            <a:r>
              <a:rPr lang="zh-CN" altLang="en-US" sz="1800" dirty="0"/>
              <a:t>，则</a:t>
            </a:r>
            <a:r>
              <a:rPr lang="en-US" altLang="zh-CN" sz="1800" dirty="0"/>
              <a:t>a=0</a:t>
            </a:r>
            <a:r>
              <a:rPr lang="zh-CN" altLang="en-US" sz="1800" dirty="0"/>
              <a:t>，溢出；</a:t>
            </a:r>
            <a:endParaRPr lang="en-US" altLang="zh-CN" sz="1800" dirty="0"/>
          </a:p>
          <a:p>
            <a:pPr marL="971550" lvl="1"/>
            <a:r>
              <a:rPr lang="zh-CN" altLang="en-US" sz="1800" dirty="0">
                <a:solidFill>
                  <a:srgbClr val="006600"/>
                </a:solidFill>
              </a:rPr>
              <a:t>有符号</a:t>
            </a:r>
            <a:r>
              <a:rPr lang="zh-CN" altLang="en-US" sz="1800" dirty="0" smtClean="0">
                <a:solidFill>
                  <a:srgbClr val="006600"/>
                </a:solidFill>
              </a:rPr>
              <a:t>数</a:t>
            </a:r>
            <a:r>
              <a:rPr lang="en-US" altLang="zh-CN" sz="1800" dirty="0" err="1" smtClean="0"/>
              <a:t>int</a:t>
            </a:r>
            <a:r>
              <a:rPr lang="en-US" altLang="zh-CN" sz="1800" dirty="0" smtClean="0"/>
              <a:t> a=0x80000000</a:t>
            </a:r>
            <a:r>
              <a:rPr lang="zh-CN" altLang="en-US" sz="1800" dirty="0"/>
              <a:t>，</a:t>
            </a:r>
            <a:r>
              <a:rPr lang="en-US" altLang="zh-CN" sz="1800" dirty="0"/>
              <a:t>a=a&lt;&lt;1, </a:t>
            </a:r>
            <a:r>
              <a:rPr lang="zh-CN" altLang="en-US" sz="1800" dirty="0"/>
              <a:t>则</a:t>
            </a:r>
            <a:r>
              <a:rPr lang="en-US" altLang="zh-CN" sz="1800" dirty="0"/>
              <a:t>a=0</a:t>
            </a:r>
            <a:r>
              <a:rPr lang="zh-CN" altLang="en-US" sz="1800" dirty="0"/>
              <a:t>，溢出；</a:t>
            </a:r>
            <a:endParaRPr lang="en-US" altLang="zh-CN" sz="1800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43279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</a:rPr>
              <a:t>移位运算（符）：</a:t>
            </a:r>
            <a:r>
              <a:rPr lang="en-US" altLang="zh-CN" dirty="0">
                <a:latin typeface="+mn-lt"/>
                <a:ea typeface="+mn-ea"/>
              </a:rPr>
              <a:t>&lt;&lt; </a:t>
            </a:r>
            <a:r>
              <a:rPr lang="zh-CN" altLang="en-US" dirty="0">
                <a:latin typeface="+mn-lt"/>
                <a:ea typeface="+mn-ea"/>
              </a:rPr>
              <a:t>和 </a:t>
            </a:r>
            <a:r>
              <a:rPr lang="en-US" altLang="zh-CN" dirty="0">
                <a:latin typeface="+mn-lt"/>
                <a:ea typeface="+mn-ea"/>
              </a:rPr>
              <a:t>&gt;&gt;</a:t>
            </a:r>
            <a:endParaRPr lang="zh-CN" altLang="en-US" dirty="0">
              <a:latin typeface="+mn-lt"/>
              <a:ea typeface="+mn-e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85774" y="1135063"/>
                <a:ext cx="8238775" cy="5345112"/>
              </a:xfrm>
            </p:spPr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rgbClr val="030DCD"/>
                    </a:solidFill>
                  </a:rPr>
                  <a:t>右移位运算符（</a:t>
                </a:r>
                <a:r>
                  <a:rPr lang="en-US" altLang="zh-CN" sz="2000" dirty="0">
                    <a:solidFill>
                      <a:srgbClr val="030DCD"/>
                    </a:solidFill>
                  </a:rPr>
                  <a:t>&gt;&gt;</a:t>
                </a:r>
                <a:r>
                  <a:rPr lang="zh-CN" altLang="en-US" sz="2000" dirty="0">
                    <a:solidFill>
                      <a:srgbClr val="030DCD"/>
                    </a:solidFill>
                  </a:rPr>
                  <a:t>）</a:t>
                </a:r>
              </a:p>
              <a:p>
                <a:pPr marL="971550" lvl="1"/>
                <a:r>
                  <a:rPr lang="zh-CN" altLang="en-US" sz="1800" dirty="0"/>
                  <a:t>运算规则：</a:t>
                </a:r>
                <a:r>
                  <a:rPr lang="en-US" altLang="zh-CN" sz="1800" dirty="0"/>
                  <a:t> a=a&gt;&gt;n</a:t>
                </a:r>
                <a:r>
                  <a:rPr lang="zh-CN" altLang="en-US" sz="1800" dirty="0"/>
                  <a:t>，将</a:t>
                </a:r>
                <a:r>
                  <a:rPr lang="en-US" altLang="zh-CN" sz="1800" dirty="0"/>
                  <a:t>a</a:t>
                </a:r>
                <a:r>
                  <a:rPr lang="zh-CN" altLang="en-US" sz="1800" dirty="0"/>
                  <a:t>中所有位向右移动</a:t>
                </a:r>
                <a:r>
                  <a:rPr lang="en-US" altLang="zh-CN" sz="1800" dirty="0"/>
                  <a:t>n</a:t>
                </a:r>
                <a:r>
                  <a:rPr lang="zh-CN" altLang="en-US" sz="1800" dirty="0"/>
                  <a:t>位</a:t>
                </a:r>
                <a:r>
                  <a:rPr lang="en-US" altLang="zh-CN" sz="1800" dirty="0" smtClean="0"/>
                  <a:t>;</a:t>
                </a:r>
              </a:p>
              <a:p>
                <a:pPr marL="971550" lvl="1"/>
                <a:r>
                  <a:rPr lang="zh-CN" altLang="en-US" sz="1800" b="1" dirty="0" smtClean="0">
                    <a:solidFill>
                      <a:srgbClr val="0000CC"/>
                    </a:solidFill>
                  </a:rPr>
                  <a:t>思考：右移后，高位补</a:t>
                </a:r>
                <a:r>
                  <a:rPr lang="en-US" altLang="zh-CN" sz="1800" b="1" dirty="0" smtClean="0">
                    <a:solidFill>
                      <a:srgbClr val="0000CC"/>
                    </a:solidFill>
                  </a:rPr>
                  <a:t>0</a:t>
                </a:r>
                <a:r>
                  <a:rPr lang="zh-CN" altLang="en-US" sz="1800" b="1" dirty="0" smtClean="0">
                    <a:solidFill>
                      <a:srgbClr val="0000CC"/>
                    </a:solidFill>
                  </a:rPr>
                  <a:t>还是补</a:t>
                </a:r>
                <a:r>
                  <a:rPr lang="en-US" altLang="zh-CN" sz="1800" b="1" dirty="0" smtClean="0">
                    <a:solidFill>
                      <a:srgbClr val="0000CC"/>
                    </a:solidFill>
                  </a:rPr>
                  <a:t>1</a:t>
                </a:r>
                <a:r>
                  <a:rPr lang="zh-CN" altLang="en-US" sz="1800" b="1" dirty="0" smtClean="0">
                    <a:solidFill>
                      <a:srgbClr val="0000CC"/>
                    </a:solidFill>
                  </a:rPr>
                  <a:t>？</a:t>
                </a:r>
                <a:endParaRPr lang="zh-CN" altLang="en-US" sz="1800" b="1" dirty="0">
                  <a:solidFill>
                    <a:srgbClr val="0000CC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solidFill>
                      <a:srgbClr val="C00000"/>
                    </a:solidFill>
                  </a:rPr>
                  <a:t>右移</a:t>
                </a:r>
                <a:r>
                  <a:rPr lang="zh-CN" altLang="en-US" sz="2000" dirty="0"/>
                  <a:t>位运算的作用：相当于</a:t>
                </a:r>
                <a:r>
                  <a:rPr lang="zh-CN" altLang="en-US" sz="2000" dirty="0">
                    <a:solidFill>
                      <a:srgbClr val="C00000"/>
                    </a:solidFill>
                  </a:rPr>
                  <a:t>除法</a:t>
                </a:r>
                <a:r>
                  <a:rPr lang="zh-CN" altLang="en-US" sz="2000" dirty="0" smtClean="0">
                    <a:solidFill>
                      <a:srgbClr val="C00000"/>
                    </a:solidFill>
                  </a:rPr>
                  <a:t>运算</a:t>
                </a:r>
                <a:endParaRPr lang="en-US" altLang="zh-CN" sz="2000" dirty="0" smtClean="0">
                  <a:solidFill>
                    <a:srgbClr val="C00000"/>
                  </a:solidFill>
                </a:endParaRPr>
              </a:p>
              <a:p>
                <a:pPr marL="971550" lvl="1"/>
                <a:r>
                  <a:rPr lang="zh-CN" altLang="en-US" sz="1800" dirty="0"/>
                  <a:t>一个数</a:t>
                </a:r>
                <a:r>
                  <a:rPr lang="zh-CN" altLang="en-US" sz="1800" dirty="0">
                    <a:solidFill>
                      <a:srgbClr val="7030A0"/>
                    </a:solidFill>
                  </a:rPr>
                  <a:t>右移一位</a:t>
                </a:r>
                <a:r>
                  <a:rPr lang="zh-CN" altLang="en-US" sz="1800" dirty="0"/>
                  <a:t>相当于该数</a:t>
                </a:r>
                <a:r>
                  <a:rPr lang="zh-CN" altLang="en-US" sz="1800" dirty="0">
                    <a:solidFill>
                      <a:srgbClr val="7030A0"/>
                    </a:solidFill>
                  </a:rPr>
                  <a:t>除以</a:t>
                </a:r>
                <a:r>
                  <a:rPr lang="en-US" altLang="zh-CN" sz="1800" dirty="0">
                    <a:solidFill>
                      <a:srgbClr val="7030A0"/>
                    </a:solidFill>
                  </a:rPr>
                  <a:t>2</a:t>
                </a:r>
                <a:r>
                  <a:rPr lang="zh-CN" altLang="en-US" sz="1800" dirty="0"/>
                  <a:t>；</a:t>
                </a:r>
                <a:r>
                  <a:rPr lang="en-US" altLang="zh-CN" sz="1800" dirty="0"/>
                  <a:t>(a&gt;&gt;1)</a:t>
                </a:r>
              </a:p>
              <a:p>
                <a:pPr marL="971550" lvl="1"/>
                <a:r>
                  <a:rPr lang="zh-CN" altLang="en-US" sz="1800" dirty="0"/>
                  <a:t>一个数</a:t>
                </a:r>
                <a:r>
                  <a:rPr lang="zh-CN" altLang="en-US" sz="1800" dirty="0">
                    <a:solidFill>
                      <a:srgbClr val="7030A0"/>
                    </a:solidFill>
                  </a:rPr>
                  <a:t>右移</a:t>
                </a:r>
                <a:r>
                  <a:rPr lang="en-US" altLang="zh-CN" sz="1800" dirty="0">
                    <a:solidFill>
                      <a:srgbClr val="7030A0"/>
                    </a:solidFill>
                  </a:rPr>
                  <a:t>n</a:t>
                </a:r>
                <a:r>
                  <a:rPr lang="zh-CN" altLang="en-US" sz="1800" dirty="0">
                    <a:solidFill>
                      <a:srgbClr val="7030A0"/>
                    </a:solidFill>
                  </a:rPr>
                  <a:t>位</a:t>
                </a:r>
                <a:r>
                  <a:rPr lang="zh-CN" altLang="en-US" sz="1800" dirty="0"/>
                  <a:t>相当于该数</a:t>
                </a:r>
                <a:r>
                  <a:rPr lang="zh-CN" altLang="en-US" sz="1800" dirty="0">
                    <a:solidFill>
                      <a:srgbClr val="7030A0"/>
                    </a:solidFill>
                  </a:rPr>
                  <a:t>除以</a:t>
                </a:r>
                <a:r>
                  <a:rPr lang="en-US" altLang="zh-CN" sz="1800" dirty="0">
                    <a:solidFill>
                      <a:srgbClr val="7030A0"/>
                    </a:solidFill>
                  </a:rPr>
                  <a:t>2</a:t>
                </a:r>
                <a:r>
                  <a:rPr lang="en-US" altLang="zh-CN" sz="1800" baseline="30000" dirty="0">
                    <a:solidFill>
                      <a:srgbClr val="7030A0"/>
                    </a:solidFill>
                  </a:rPr>
                  <a:t>n</a:t>
                </a:r>
                <a:r>
                  <a:rPr lang="zh-CN" altLang="en-US" sz="1800" dirty="0"/>
                  <a:t>；</a:t>
                </a:r>
                <a:r>
                  <a:rPr lang="en-US" altLang="zh-CN" sz="1800" dirty="0"/>
                  <a:t>(a&gt;&gt;n)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sz="2000" dirty="0" smtClean="0">
                    <a:solidFill>
                      <a:srgbClr val="006600"/>
                    </a:solidFill>
                  </a:rPr>
                  <a:t>注</a:t>
                </a:r>
                <a:r>
                  <a:rPr lang="zh-CN" altLang="en-US" sz="2000" dirty="0">
                    <a:solidFill>
                      <a:srgbClr val="006600"/>
                    </a:solidFill>
                  </a:rPr>
                  <a:t>：负数（奇数）右移后，结果与除法运算会有所不同；</a:t>
                </a:r>
                <a:endParaRPr lang="en-US" altLang="zh-CN" sz="2000" dirty="0">
                  <a:solidFill>
                    <a:srgbClr val="006600"/>
                  </a:solidFill>
                </a:endParaRPr>
              </a:p>
              <a:p>
                <a:pPr marL="971550" lvl="1"/>
                <a:r>
                  <a:rPr lang="zh-CN" altLang="en-US" sz="1800" dirty="0"/>
                  <a:t>如：</a:t>
                </a:r>
                <a:r>
                  <a:rPr lang="en-US" altLang="zh-CN" sz="1800" dirty="0"/>
                  <a:t>int a= -9;    //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400" i="1">
                            <a:latin typeface="Cambria Math" panose="02040503050406030204" pitchFamily="18" charset="0"/>
                          </a:rPr>
                          <m:t> [−9]</m:t>
                        </m:r>
                      </m:e>
                      <m:sub>
                        <m:r>
                          <a:rPr lang="zh-CN" altLang="en-US" sz="1400" i="1">
                            <a:latin typeface="Cambria Math" panose="02040503050406030204" pitchFamily="18" charset="0"/>
                          </a:rPr>
                          <m:t>补</m:t>
                        </m:r>
                      </m:sub>
                    </m:sSub>
                  </m:oMath>
                </a14:m>
                <a:r>
                  <a:rPr lang="en-US" altLang="zh-CN" sz="1400" dirty="0"/>
                  <a:t>=0xFF FF </a:t>
                </a:r>
                <a:r>
                  <a:rPr lang="en-US" altLang="zh-CN" sz="1400" dirty="0" err="1"/>
                  <a:t>FF</a:t>
                </a:r>
                <a:r>
                  <a:rPr lang="en-US" altLang="zh-CN" sz="1400" dirty="0"/>
                  <a:t> F7=1111 1111 1111 1111 1111 1111 1111 0111</a:t>
                </a:r>
              </a:p>
              <a:p>
                <a:pPr lvl="1" indent="0">
                  <a:buNone/>
                </a:pPr>
                <a:r>
                  <a:rPr lang="en-US" altLang="zh-CN" sz="1800" dirty="0"/>
                  <a:t>              a= -9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a&gt;&gt;1</a:t>
                </a:r>
                <a:r>
                  <a:rPr lang="zh-CN" altLang="en-US" sz="1800" dirty="0"/>
                  <a:t>，结果为</a:t>
                </a:r>
                <a:r>
                  <a:rPr lang="en-US" altLang="zh-CN" sz="1800" dirty="0"/>
                  <a:t>-5</a:t>
                </a:r>
                <a:r>
                  <a:rPr lang="zh-CN" altLang="en-US" sz="1800" dirty="0"/>
                  <a:t>，而</a:t>
                </a:r>
                <a:r>
                  <a:rPr lang="en-US" altLang="zh-CN" sz="1800" dirty="0"/>
                  <a:t>-9/2</a:t>
                </a:r>
                <a:r>
                  <a:rPr lang="zh-CN" altLang="en-US" sz="1800" dirty="0"/>
                  <a:t>结果为</a:t>
                </a:r>
                <a:r>
                  <a:rPr lang="en-US" altLang="zh-CN" sz="1800" dirty="0"/>
                  <a:t>-4</a:t>
                </a:r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lvl="1" indent="0">
                  <a:buNone/>
                </a:pPr>
                <a:r>
                  <a:rPr lang="en-US" altLang="zh-CN" sz="1800" dirty="0"/>
                  <a:t>              a= -9</a:t>
                </a:r>
                <a:r>
                  <a:rPr lang="zh-CN" altLang="en-US" sz="1800" dirty="0"/>
                  <a:t>，</a:t>
                </a:r>
                <a:r>
                  <a:rPr lang="en-US" altLang="zh-CN" sz="1800" dirty="0"/>
                  <a:t>a&gt;&gt;2</a:t>
                </a:r>
                <a:r>
                  <a:rPr lang="zh-CN" altLang="en-US" sz="1800" dirty="0"/>
                  <a:t>，结果为</a:t>
                </a:r>
                <a:r>
                  <a:rPr lang="en-US" altLang="zh-CN" sz="1800" dirty="0"/>
                  <a:t>-3</a:t>
                </a:r>
                <a:r>
                  <a:rPr lang="zh-CN" altLang="en-US" sz="1800" dirty="0"/>
                  <a:t>，而</a:t>
                </a:r>
                <a:r>
                  <a:rPr lang="en-US" altLang="zh-CN" sz="1800" dirty="0"/>
                  <a:t>-9/4</a:t>
                </a:r>
                <a:r>
                  <a:rPr lang="zh-CN" altLang="en-US" sz="1800" dirty="0"/>
                  <a:t>结果为</a:t>
                </a:r>
                <a:r>
                  <a:rPr lang="en-US" altLang="zh-CN" sz="1800" dirty="0"/>
                  <a:t>-2</a:t>
                </a:r>
                <a:r>
                  <a:rPr lang="zh-CN" altLang="en-US" sz="1800" dirty="0"/>
                  <a:t>；</a:t>
                </a:r>
                <a:endParaRPr lang="en-US" altLang="zh-CN" sz="1800" dirty="0"/>
              </a:p>
              <a:p>
                <a:pPr marL="971550" lvl="1"/>
                <a:r>
                  <a:rPr lang="zh-CN" altLang="en-US" sz="1800" b="1" dirty="0">
                    <a:solidFill>
                      <a:srgbClr val="C00000"/>
                    </a:solidFill>
                  </a:rPr>
                  <a:t>一般地，若整数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a</a:t>
                </a:r>
                <a:r>
                  <a:rPr lang="zh-CN" altLang="en-US" sz="1800" b="1" dirty="0">
                    <a:solidFill>
                      <a:srgbClr val="C00000"/>
                    </a:solidFill>
                  </a:rPr>
                  <a:t>为负奇数，则 </a:t>
                </a:r>
                <a:r>
                  <a:rPr lang="en-US" altLang="zh-CN" sz="1800" b="1" dirty="0">
                    <a:solidFill>
                      <a:srgbClr val="C00000"/>
                    </a:solidFill>
                  </a:rPr>
                  <a:t>a&gt;&gt;1 = a/2 + (-1);</a:t>
                </a: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 smtClean="0">
                  <a:solidFill>
                    <a:srgbClr val="C00000"/>
                  </a:solidFill>
                </a:endParaRPr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en-US" altLang="zh-CN" sz="2000" dirty="0">
                  <a:solidFill>
                    <a:srgbClr val="C00000"/>
                  </a:solidFill>
                </a:endParaRPr>
              </a:p>
              <a:p>
                <a:pPr marL="971550" lvl="1"/>
                <a:endParaRPr lang="en-US" altLang="zh-CN" sz="1800" dirty="0" smtClean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5774" y="1135063"/>
                <a:ext cx="8238775" cy="5345112"/>
              </a:xfrm>
              <a:blipFill>
                <a:blip r:embed="rId2"/>
                <a:stretch>
                  <a:fillRect t="-13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3758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lt"/>
                <a:ea typeface="+mn-ea"/>
              </a:rPr>
              <a:t>移位运算（符）：</a:t>
            </a:r>
            <a:r>
              <a:rPr lang="en-US" altLang="zh-CN" dirty="0">
                <a:latin typeface="+mn-lt"/>
                <a:ea typeface="+mn-ea"/>
              </a:rPr>
              <a:t>&lt;&lt; </a:t>
            </a:r>
            <a:r>
              <a:rPr lang="zh-CN" altLang="en-US" dirty="0">
                <a:latin typeface="+mn-lt"/>
                <a:ea typeface="+mn-ea"/>
              </a:rPr>
              <a:t>和 </a:t>
            </a:r>
            <a:r>
              <a:rPr lang="en-US" altLang="zh-CN" dirty="0">
                <a:latin typeface="+mn-lt"/>
                <a:ea typeface="+mn-ea"/>
              </a:rPr>
              <a:t>&gt;&gt;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C00000"/>
                </a:solidFill>
              </a:rPr>
              <a:t>右移后，高位（左边位）补位</a:t>
            </a:r>
            <a:r>
              <a:rPr lang="zh-CN" altLang="en-US" sz="2000" dirty="0" smtClean="0">
                <a:solidFill>
                  <a:srgbClr val="C00000"/>
                </a:solidFill>
              </a:rPr>
              <a:t>问题</a:t>
            </a:r>
            <a:endParaRPr lang="en-US" altLang="zh-CN" sz="2000" dirty="0" smtClean="0">
              <a:solidFill>
                <a:srgbClr val="C00000"/>
              </a:solidFill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/>
              <a:t>考察下述两个例子</a:t>
            </a:r>
            <a:endParaRPr lang="en-US" altLang="zh-CN" sz="2000" dirty="0" smtClean="0"/>
          </a:p>
          <a:p>
            <a:pPr marL="971550" lvl="1"/>
            <a:r>
              <a:rPr lang="en-US" altLang="zh-CN" sz="1800" dirty="0" err="1"/>
              <a:t>int</a:t>
            </a:r>
            <a:r>
              <a:rPr lang="en-US" altLang="zh-CN" sz="1800" dirty="0"/>
              <a:t> a=0x</a:t>
            </a:r>
            <a:r>
              <a:rPr lang="en-US" altLang="zh-CN" sz="1800" dirty="0">
                <a:solidFill>
                  <a:srgbClr val="C00000"/>
                </a:solidFill>
              </a:rPr>
              <a:t>8</a:t>
            </a:r>
            <a:r>
              <a:rPr lang="en-US" altLang="zh-CN" sz="1800" dirty="0"/>
              <a:t>0000000</a:t>
            </a:r>
            <a:r>
              <a:rPr lang="zh-CN" altLang="en-US" sz="1800" dirty="0"/>
              <a:t>，</a:t>
            </a:r>
            <a:r>
              <a:rPr lang="en-US" altLang="zh-CN" sz="1800" dirty="0"/>
              <a:t>a&gt;&gt;1, </a:t>
            </a:r>
            <a:r>
              <a:rPr lang="zh-CN" altLang="en-US" sz="1800" dirty="0"/>
              <a:t>则</a:t>
            </a:r>
            <a:r>
              <a:rPr lang="en-US" altLang="zh-CN" sz="1800" dirty="0" smtClean="0"/>
              <a:t>a=0x</a:t>
            </a:r>
            <a:r>
              <a:rPr lang="en-US" altLang="zh-CN" sz="1800" dirty="0" smtClean="0">
                <a:solidFill>
                  <a:srgbClr val="C00000"/>
                </a:solidFill>
              </a:rPr>
              <a:t>C</a:t>
            </a:r>
            <a:r>
              <a:rPr lang="en-US" altLang="zh-CN" sz="1800" dirty="0" smtClean="0"/>
              <a:t>0000000</a:t>
            </a:r>
            <a:endParaRPr lang="en-US" altLang="zh-CN" sz="1800" dirty="0"/>
          </a:p>
          <a:p>
            <a:pPr marL="971550" lvl="1"/>
            <a:r>
              <a:rPr lang="en-US" altLang="zh-CN" sz="1800" dirty="0">
                <a:solidFill>
                  <a:srgbClr val="030DCD"/>
                </a:solidFill>
              </a:rPr>
              <a:t>unsigned b= 0x</a:t>
            </a:r>
            <a:r>
              <a:rPr lang="en-US" altLang="zh-CN" sz="1800" dirty="0">
                <a:solidFill>
                  <a:srgbClr val="C00000"/>
                </a:solidFill>
              </a:rPr>
              <a:t>8</a:t>
            </a:r>
            <a:r>
              <a:rPr lang="en-US" altLang="zh-CN" sz="1800" dirty="0">
                <a:solidFill>
                  <a:srgbClr val="030DCD"/>
                </a:solidFill>
              </a:rPr>
              <a:t>0000000</a:t>
            </a:r>
            <a:r>
              <a:rPr lang="zh-CN" altLang="en-US" sz="1800" dirty="0">
                <a:solidFill>
                  <a:srgbClr val="030DCD"/>
                </a:solidFill>
              </a:rPr>
              <a:t>，</a:t>
            </a:r>
            <a:r>
              <a:rPr lang="en-US" altLang="zh-CN" sz="1800" dirty="0">
                <a:solidFill>
                  <a:srgbClr val="030DCD"/>
                </a:solidFill>
              </a:rPr>
              <a:t>b&gt;&gt;1, </a:t>
            </a:r>
            <a:r>
              <a:rPr lang="zh-CN" altLang="en-US" sz="1800" dirty="0">
                <a:solidFill>
                  <a:srgbClr val="030DCD"/>
                </a:solidFill>
              </a:rPr>
              <a:t>则</a:t>
            </a:r>
            <a:r>
              <a:rPr lang="en-US" altLang="zh-CN" sz="1800" dirty="0">
                <a:solidFill>
                  <a:srgbClr val="030DCD"/>
                </a:solidFill>
              </a:rPr>
              <a:t>b=0x</a:t>
            </a:r>
            <a:r>
              <a:rPr lang="en-US" altLang="zh-CN" sz="1800" dirty="0">
                <a:solidFill>
                  <a:srgbClr val="C00000"/>
                </a:solidFill>
              </a:rPr>
              <a:t>4</a:t>
            </a:r>
            <a:r>
              <a:rPr lang="en-US" altLang="zh-CN" sz="1800" dirty="0">
                <a:solidFill>
                  <a:srgbClr val="030DCD"/>
                </a:solidFill>
              </a:rPr>
              <a:t>0000000 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7030A0"/>
                </a:solidFill>
                <a:latin typeface="Times New Roman" panose="02020603050405020304" pitchFamily="18" charset="0"/>
              </a:rPr>
              <a:t>算术</a:t>
            </a:r>
            <a:r>
              <a:rPr lang="zh-CN" altLang="en-US" sz="2000" dirty="0" smtClean="0">
                <a:solidFill>
                  <a:srgbClr val="7030A0"/>
                </a:solidFill>
                <a:latin typeface="Times New Roman" panose="02020603050405020304" pitchFamily="18" charset="0"/>
              </a:rPr>
              <a:t>右移（有符号数右移）</a:t>
            </a:r>
            <a:endParaRPr lang="en-US" altLang="zh-CN" sz="2000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971550" lvl="1"/>
            <a:r>
              <a:rPr lang="zh-CN" altLang="en-US" sz="1800" dirty="0" smtClean="0">
                <a:latin typeface="Times New Roman" panose="02020603050405020304" pitchFamily="18" charset="0"/>
              </a:rPr>
              <a:t>算术右移，相当于</a:t>
            </a:r>
            <a:r>
              <a:rPr lang="zh-CN" altLang="en-US" sz="1800" dirty="0">
                <a:latin typeface="Times New Roman" panose="02020603050405020304" pitchFamily="18" charset="0"/>
              </a:rPr>
              <a:t>除法运算，因此</a:t>
            </a:r>
            <a:r>
              <a:rPr lang="zh-CN" altLang="en-US" sz="1800" dirty="0" smtClean="0">
                <a:latin typeface="Times New Roman" panose="02020603050405020304" pitchFamily="18" charset="0"/>
              </a:rPr>
              <a:t>符号位应不变</a:t>
            </a:r>
            <a:endParaRPr lang="en-US" altLang="zh-CN" dirty="0"/>
          </a:p>
          <a:p>
            <a:pPr marL="971550" lvl="1"/>
            <a:r>
              <a:rPr lang="zh-CN" altLang="en-US" sz="1800" dirty="0" smtClean="0">
                <a:solidFill>
                  <a:srgbClr val="006600"/>
                </a:solidFill>
                <a:latin typeface="Times New Roman" panose="02020603050405020304" pitchFamily="18" charset="0"/>
              </a:rPr>
              <a:t>右移</a:t>
            </a:r>
            <a:r>
              <a:rPr lang="zh-CN" altLang="en-US" sz="1800" dirty="0">
                <a:solidFill>
                  <a:srgbClr val="006600"/>
                </a:solidFill>
                <a:latin typeface="Times New Roman" panose="02020603050405020304" pitchFamily="18" charset="0"/>
              </a:rPr>
              <a:t>后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最高位补符号位</a:t>
            </a:r>
            <a:r>
              <a:rPr lang="zh-CN" altLang="en-US" sz="1800" dirty="0" smtClean="0">
                <a:solidFill>
                  <a:srgbClr val="006600"/>
                </a:solidFill>
                <a:latin typeface="Times New Roman" panose="02020603050405020304" pitchFamily="18" charset="0"/>
              </a:rPr>
              <a:t>；</a:t>
            </a:r>
            <a:endParaRPr lang="en-US" altLang="zh-CN" sz="1800" dirty="0" smtClean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marL="971550" lvl="1"/>
            <a:r>
              <a:rPr lang="en-US" altLang="zh-CN" sz="1800" dirty="0" err="1" smtClean="0">
                <a:solidFill>
                  <a:srgbClr val="0070C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18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 a=-1; a=a&gt;&gt;2; </a:t>
            </a:r>
            <a:r>
              <a:rPr lang="zh-CN" altLang="en-US" sz="18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sz="18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a=0x</a:t>
            </a:r>
            <a:r>
              <a:rPr lang="en-US" altLang="zh-CN" sz="1800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F</a:t>
            </a:r>
            <a:r>
              <a:rPr lang="en-US" altLang="zh-CN" sz="18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FFFFFFF</a:t>
            </a:r>
            <a:endParaRPr lang="en-US" altLang="zh-CN" sz="1800" dirty="0">
              <a:solidFill>
                <a:srgbClr val="0070C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 smtClean="0">
                <a:solidFill>
                  <a:srgbClr val="7030A0"/>
                </a:solidFill>
                <a:latin typeface="Times New Roman" panose="02020603050405020304" pitchFamily="18" charset="0"/>
              </a:rPr>
              <a:t>逻辑右移（无符号数右移）</a:t>
            </a:r>
            <a:endParaRPr lang="en-US" altLang="zh-CN" sz="2000" dirty="0">
              <a:solidFill>
                <a:srgbClr val="7030A0"/>
              </a:solidFill>
              <a:latin typeface="Times New Roman" panose="02020603050405020304" pitchFamily="18" charset="0"/>
            </a:endParaRPr>
          </a:p>
          <a:p>
            <a:pPr marL="971550" lvl="1"/>
            <a:r>
              <a:rPr lang="zh-CN" altLang="en-US" sz="1800" b="1" dirty="0" smtClean="0">
                <a:solidFill>
                  <a:srgbClr val="030DCD"/>
                </a:solidFill>
                <a:latin typeface="Times New Roman" panose="02020603050405020304" pitchFamily="18" charset="0"/>
              </a:rPr>
              <a:t>无</a:t>
            </a:r>
            <a:r>
              <a:rPr lang="zh-CN" altLang="en-US" sz="1800" b="1" dirty="0">
                <a:solidFill>
                  <a:srgbClr val="030DCD"/>
                </a:solidFill>
                <a:latin typeface="Times New Roman" panose="02020603050405020304" pitchFamily="18" charset="0"/>
              </a:rPr>
              <a:t>符号数的</a:t>
            </a:r>
            <a:r>
              <a:rPr lang="zh-CN" altLang="en-US" sz="18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右移</a:t>
            </a:r>
            <a:r>
              <a:rPr lang="zh-CN" altLang="en-US" sz="1800" b="1" dirty="0" smtClean="0">
                <a:solidFill>
                  <a:srgbClr val="C00000"/>
                </a:solidFill>
                <a:latin typeface="Times New Roman" panose="02020603050405020304" pitchFamily="18" charset="0"/>
              </a:rPr>
              <a:t>运算，</a:t>
            </a:r>
            <a:r>
              <a:rPr lang="zh-CN" altLang="en-US" sz="1800" dirty="0" smtClean="0">
                <a:solidFill>
                  <a:srgbClr val="006600"/>
                </a:solidFill>
                <a:latin typeface="Times New Roman" panose="02020603050405020304" pitchFamily="18" charset="0"/>
              </a:rPr>
              <a:t>右移</a:t>
            </a:r>
            <a:r>
              <a:rPr lang="zh-CN" altLang="en-US" sz="1800" dirty="0">
                <a:solidFill>
                  <a:srgbClr val="006600"/>
                </a:solidFill>
                <a:latin typeface="Times New Roman" panose="02020603050405020304" pitchFamily="18" charset="0"/>
              </a:rPr>
              <a:t>后最高位补</a:t>
            </a:r>
            <a:r>
              <a:rPr lang="en-US" altLang="zh-CN" sz="1800" dirty="0">
                <a:solidFill>
                  <a:srgbClr val="006600"/>
                </a:solidFill>
                <a:latin typeface="Times New Roman" panose="02020603050405020304" pitchFamily="18" charset="0"/>
              </a:rPr>
              <a:t>0</a:t>
            </a:r>
            <a:r>
              <a:rPr lang="zh-CN" altLang="en-US" sz="1800" dirty="0" smtClean="0">
                <a:solidFill>
                  <a:srgbClr val="006600"/>
                </a:solidFill>
                <a:latin typeface="Times New Roman" panose="02020603050405020304" pitchFamily="18" charset="0"/>
              </a:rPr>
              <a:t>；</a:t>
            </a:r>
            <a:endParaRPr lang="en-US" altLang="zh-CN" sz="1800" dirty="0" smtClean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marL="971550" lvl="1"/>
            <a:r>
              <a:rPr lang="en-US" altLang="zh-CN" sz="18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unsigned b=0xFFFFFFFFFFFFFFFF; b=b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&gt;&gt;2; //</a:t>
            </a:r>
            <a:r>
              <a:rPr lang="en-US" altLang="zh-CN" sz="1800" dirty="0" smtClean="0">
                <a:solidFill>
                  <a:srgbClr val="0070C0"/>
                </a:solidFill>
                <a:latin typeface="Times New Roman" panose="02020603050405020304" pitchFamily="18" charset="0"/>
              </a:rPr>
              <a:t>b=0x3FFFFFFF</a:t>
            </a:r>
          </a:p>
          <a:p>
            <a:pPr marL="971550" lvl="1"/>
            <a:r>
              <a:rPr lang="en-US" altLang="zh-CN" sz="18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int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 a=-1; a=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(unsigned)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a&gt;&gt;2; </a:t>
            </a:r>
            <a:r>
              <a:rPr lang="zh-CN" altLang="en-US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则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a=0x</a:t>
            </a:r>
            <a:r>
              <a:rPr lang="en-US" altLang="zh-CN" sz="1800" dirty="0">
                <a:solidFill>
                  <a:srgbClr val="C00000"/>
                </a:solidFill>
                <a:latin typeface="Times New Roman" panose="02020603050405020304" pitchFamily="18" charset="0"/>
              </a:rPr>
              <a:t>3</a:t>
            </a:r>
            <a:r>
              <a:rPr lang="en-US" altLang="zh-CN" sz="1800" dirty="0">
                <a:solidFill>
                  <a:srgbClr val="0070C0"/>
                </a:solidFill>
                <a:latin typeface="Times New Roman" panose="02020603050405020304" pitchFamily="18" charset="0"/>
              </a:rPr>
              <a:t>FFFFFFF</a:t>
            </a:r>
          </a:p>
          <a:p>
            <a:pPr marL="971550" lvl="1"/>
            <a:endParaRPr lang="en-US" altLang="zh-CN" sz="1800" dirty="0">
              <a:solidFill>
                <a:srgbClr val="006600"/>
              </a:solidFill>
              <a:latin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818217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  <a:latin typeface="+mn-lt"/>
                <a:ea typeface="+mn-ea"/>
              </a:rPr>
              <a:t>移位运算符的优先级</a:t>
            </a:r>
            <a:endParaRPr lang="zh-CN" altLang="en-US" dirty="0">
              <a:solidFill>
                <a:srgbClr val="7030A0"/>
              </a:solidFill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6201" y="2662022"/>
            <a:ext cx="4565619" cy="45404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5" name="AutoShape 2" descr="https://bkimg.cdn.bcebos.com/pic/63d9f2d3572c11df57c9a205612762d0f703c2f8?x-bce-process=image/watermark,image_d2F0ZXIvYmFpa2U4MA==,g_7,xp_5,yp_5/format,f_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 descr="https://bkimg.cdn.bcebos.com/pic/63d9f2d3572c11df57c9a205612762d0f703c2f8?x-bce-process=image/watermark,image_d2F0ZXIvYmFpa2U4MA==,g_7,xp_5,yp_5/format,f_au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2" descr="这里写图片描述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775" y="1032891"/>
            <a:ext cx="6591300" cy="45910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65174" y="5623941"/>
            <a:ext cx="7199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>
                <a:solidFill>
                  <a:srgbClr val="0000CC"/>
                </a:solidFill>
                <a:latin typeface="+mn-ea"/>
                <a:ea typeface="+mn-ea"/>
              </a:rPr>
              <a:t>注：有的编译器，支持</a:t>
            </a:r>
            <a:r>
              <a:rPr lang="en-US" altLang="zh-CN" dirty="0" smtClean="0">
                <a:solidFill>
                  <a:srgbClr val="0000CC"/>
                </a:solidFill>
                <a:latin typeface="+mn-ea"/>
                <a:ea typeface="+mn-ea"/>
              </a:rPr>
              <a:t>&gt;&gt;&gt;</a:t>
            </a:r>
            <a:r>
              <a:rPr lang="zh-CN" altLang="en-US" dirty="0" smtClean="0">
                <a:solidFill>
                  <a:srgbClr val="0000CC"/>
                </a:solidFill>
                <a:latin typeface="+mn-ea"/>
                <a:ea typeface="+mn-ea"/>
              </a:rPr>
              <a:t>，表示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  <a:ea typeface="+mn-ea"/>
              </a:rPr>
              <a:t>逻辑右移</a:t>
            </a:r>
            <a:r>
              <a:rPr lang="zh-CN" altLang="en-US" dirty="0" smtClean="0">
                <a:solidFill>
                  <a:srgbClr val="0000CC"/>
                </a:solidFill>
                <a:latin typeface="+mn-ea"/>
                <a:ea typeface="+mn-ea"/>
              </a:rPr>
              <a:t>；</a:t>
            </a:r>
            <a:endParaRPr lang="en-US" altLang="zh-CN" dirty="0" smtClean="0">
              <a:solidFill>
                <a:srgbClr val="0000CC"/>
              </a:solidFill>
              <a:latin typeface="+mn-ea"/>
              <a:ea typeface="+mn-ea"/>
            </a:endParaRPr>
          </a:p>
          <a:p>
            <a:r>
              <a:rPr lang="zh-CN" altLang="en-US" dirty="0" smtClean="0">
                <a:solidFill>
                  <a:srgbClr val="0000CC"/>
                </a:solidFill>
                <a:latin typeface="+mn-ea"/>
                <a:ea typeface="+mn-ea"/>
              </a:rPr>
              <a:t>    即无论正数还是负数，</a:t>
            </a:r>
            <a:r>
              <a:rPr lang="zh-CN" altLang="en-US" dirty="0" smtClean="0">
                <a:solidFill>
                  <a:srgbClr val="C00000"/>
                </a:solidFill>
                <a:latin typeface="+mn-ea"/>
                <a:ea typeface="+mn-ea"/>
              </a:rPr>
              <a:t>右移后高位补</a:t>
            </a:r>
            <a:r>
              <a:rPr lang="en-US" altLang="zh-CN" dirty="0" smtClean="0">
                <a:solidFill>
                  <a:srgbClr val="C00000"/>
                </a:solidFill>
                <a:latin typeface="+mn-ea"/>
                <a:ea typeface="+mn-ea"/>
              </a:rPr>
              <a:t>0</a:t>
            </a:r>
            <a:endParaRPr lang="zh-CN" altLang="en-US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9480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800000"/>
                </a:solidFill>
              </a:rPr>
              <a:t>位运算</a:t>
            </a:r>
            <a:r>
              <a:rPr lang="zh-CN" altLang="en-US" dirty="0">
                <a:solidFill>
                  <a:srgbClr val="030DCD"/>
                </a:solidFill>
              </a:rPr>
              <a:t>复合赋值</a:t>
            </a:r>
            <a:r>
              <a:rPr lang="zh-CN" altLang="en-US" dirty="0">
                <a:solidFill>
                  <a:srgbClr val="800000"/>
                </a:solidFill>
              </a:rPr>
              <a:t>运算符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位运算符与赋值运算符可以组成复合赋值运算符</a:t>
            </a:r>
            <a:r>
              <a:rPr lang="en-US" altLang="zh-CN" dirty="0"/>
              <a:t>;</a:t>
            </a:r>
          </a:p>
          <a:p>
            <a:pPr marL="971550" lvl="1"/>
            <a:r>
              <a:rPr lang="en-US" altLang="zh-CN" dirty="0" smtClean="0"/>
              <a:t>  &amp;=,   </a:t>
            </a:r>
            <a:r>
              <a:rPr lang="en-US" altLang="zh-CN" dirty="0"/>
              <a:t>|=, ^= </a:t>
            </a:r>
            <a:r>
              <a:rPr lang="en-US" altLang="zh-CN" dirty="0" smtClean="0"/>
              <a:t>, &gt;&gt;=,   </a:t>
            </a:r>
            <a:r>
              <a:rPr lang="en-US" altLang="zh-CN" dirty="0"/>
              <a:t>&lt;&lt;=</a:t>
            </a:r>
            <a:endParaRPr lang="en-US" altLang="zh-CN" dirty="0" smtClean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 smtClean="0"/>
              <a:t>例如</a:t>
            </a:r>
            <a:endParaRPr lang="en-US" altLang="zh-CN" dirty="0" smtClean="0"/>
          </a:p>
          <a:p>
            <a:pPr marL="971550" lvl="1"/>
            <a:r>
              <a:rPr lang="en-US" altLang="zh-CN" dirty="0" err="1" smtClean="0"/>
              <a:t>int</a:t>
            </a:r>
            <a:r>
              <a:rPr lang="en-US" altLang="zh-CN" dirty="0" smtClean="0"/>
              <a:t> </a:t>
            </a:r>
            <a:r>
              <a:rPr lang="en-US" altLang="zh-CN" dirty="0" err="1"/>
              <a:t>a,b</a:t>
            </a:r>
            <a:r>
              <a:rPr lang="en-US" altLang="zh-CN" dirty="0"/>
              <a:t>;</a:t>
            </a:r>
          </a:p>
          <a:p>
            <a:pPr marL="971550" lvl="1"/>
            <a:r>
              <a:rPr lang="en-US" altLang="zh-CN" dirty="0"/>
              <a:t>a &amp; = b;    //</a:t>
            </a:r>
            <a:r>
              <a:rPr lang="zh-CN" altLang="en-US" dirty="0"/>
              <a:t>相当于 </a:t>
            </a:r>
            <a:r>
              <a:rPr lang="en-US" altLang="zh-CN" dirty="0"/>
              <a:t>a = a &amp; </a:t>
            </a:r>
            <a:r>
              <a:rPr lang="en-US" altLang="zh-CN" dirty="0" smtClean="0"/>
              <a:t>b</a:t>
            </a:r>
          </a:p>
          <a:p>
            <a:pPr marL="971550" lvl="1"/>
            <a:r>
              <a:rPr lang="en-US" altLang="zh-CN" dirty="0"/>
              <a:t>a</a:t>
            </a:r>
            <a:r>
              <a:rPr lang="en-US" altLang="zh-CN" dirty="0" smtClean="0"/>
              <a:t> |= b;     //</a:t>
            </a:r>
            <a:r>
              <a:rPr lang="zh-CN" altLang="en-US" dirty="0"/>
              <a:t>相当于 </a:t>
            </a:r>
            <a:r>
              <a:rPr lang="en-US" altLang="zh-CN" dirty="0"/>
              <a:t>a = a |</a:t>
            </a:r>
            <a:r>
              <a:rPr lang="en-US" altLang="zh-CN" dirty="0" smtClean="0"/>
              <a:t> b</a:t>
            </a:r>
            <a:endParaRPr lang="en-US" altLang="zh-CN" dirty="0"/>
          </a:p>
          <a:p>
            <a:pPr marL="971550" lvl="1"/>
            <a:r>
              <a:rPr lang="en-US" altLang="zh-CN" dirty="0"/>
              <a:t>a ^= b;    //</a:t>
            </a:r>
            <a:r>
              <a:rPr lang="zh-CN" altLang="en-US" dirty="0"/>
              <a:t>相当于</a:t>
            </a:r>
            <a:r>
              <a:rPr lang="en-US" altLang="zh-CN" dirty="0"/>
              <a:t> a = a ^ b</a:t>
            </a:r>
          </a:p>
          <a:p>
            <a:pPr marL="971550" lvl="1"/>
            <a:r>
              <a:rPr lang="en-US" altLang="zh-CN" dirty="0" smtClean="0"/>
              <a:t>a &lt;&lt;= 2</a:t>
            </a:r>
            <a:r>
              <a:rPr lang="en-US" altLang="zh-CN" dirty="0"/>
              <a:t>;    //</a:t>
            </a:r>
            <a:r>
              <a:rPr lang="zh-CN" altLang="en-US" dirty="0"/>
              <a:t>相当于</a:t>
            </a:r>
            <a:r>
              <a:rPr lang="en-US" altLang="zh-CN" dirty="0"/>
              <a:t> a = a &lt;&lt; </a:t>
            </a:r>
            <a:r>
              <a:rPr lang="en-US" altLang="zh-CN" dirty="0" smtClean="0"/>
              <a:t>2</a:t>
            </a:r>
          </a:p>
          <a:p>
            <a:pPr marL="971550" lvl="1"/>
            <a:r>
              <a:rPr lang="en-US" altLang="zh-CN" dirty="0" smtClean="0"/>
              <a:t>a &gt;&gt;= 2;    //</a:t>
            </a:r>
            <a:r>
              <a:rPr lang="zh-CN" altLang="en-US" dirty="0"/>
              <a:t>相当于</a:t>
            </a:r>
            <a:r>
              <a:rPr lang="en-US" altLang="zh-CN" dirty="0"/>
              <a:t> a = a </a:t>
            </a:r>
            <a:r>
              <a:rPr lang="en-US" altLang="zh-CN" dirty="0" smtClean="0"/>
              <a:t>&gt;&gt; </a:t>
            </a:r>
            <a:r>
              <a:rPr lang="en-US" altLang="zh-CN" dirty="0"/>
              <a:t>2</a:t>
            </a:r>
          </a:p>
          <a:p>
            <a:pPr marL="971550" lvl="1"/>
            <a:endParaRPr lang="zh-CN" altLang="en-US" dirty="0"/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88504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30DCD"/>
                </a:solidFill>
              </a:rPr>
              <a:t>位赋值</a:t>
            </a:r>
            <a:r>
              <a:rPr lang="zh-CN" altLang="en-US" dirty="0" smtClean="0">
                <a:solidFill>
                  <a:srgbClr val="7030A0"/>
                </a:solidFill>
                <a:latin typeface="+mn-lt"/>
                <a:ea typeface="+mn-ea"/>
              </a:rPr>
              <a:t>运算符的优先级</a:t>
            </a:r>
            <a:endParaRPr lang="zh-CN" altLang="en-US" dirty="0">
              <a:solidFill>
                <a:srgbClr val="7030A0"/>
              </a:solidFill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6201" y="2662022"/>
            <a:ext cx="4565619" cy="45404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5" name="AutoShape 2" descr="https://bkimg.cdn.bcebos.com/pic/63d9f2d3572c11df57c9a205612762d0f703c2f8?x-bce-process=image/watermark,image_d2F0ZXIvYmFpa2U4MA==,g_7,xp_5,yp_5/format,f_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 descr="https://bkimg.cdn.bcebos.com/pic/63d9f2d3572c11df57c9a205612762d0f703c2f8?x-bce-process=image/watermark,image_d2F0ZXIvYmFpa2U4MA==,g_7,xp_5,yp_5/format,f_au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2" descr="这里写图片描述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2" y="1177290"/>
            <a:ext cx="6619875" cy="468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146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>
                <a:solidFill>
                  <a:srgbClr val="7030A0"/>
                </a:solidFill>
                <a:latin typeface="+mn-lt"/>
                <a:ea typeface="+mn-ea"/>
              </a:rPr>
              <a:t>位运算符</a:t>
            </a:r>
            <a:r>
              <a:rPr lang="zh-CN" altLang="en-US" dirty="0" smtClean="0">
                <a:solidFill>
                  <a:srgbClr val="7030A0"/>
                </a:solidFill>
                <a:latin typeface="+mn-lt"/>
                <a:ea typeface="+mn-ea"/>
              </a:rPr>
              <a:t>的优先级</a:t>
            </a:r>
            <a:endParaRPr lang="zh-CN" altLang="en-US" dirty="0">
              <a:solidFill>
                <a:srgbClr val="7030A0"/>
              </a:solidFill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6201" y="2662022"/>
            <a:ext cx="4565619" cy="45404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  <p:sp>
        <p:nvSpPr>
          <p:cNvPr id="5" name="AutoShape 2" descr="https://bkimg.cdn.bcebos.com/pic/63d9f2d3572c11df57c9a205612762d0f703c2f8?x-bce-process=image/watermark,image_d2F0ZXIvYmFpa2U4MA==,g_7,xp_5,yp_5/format,f_auto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" name="AutoShape 2" descr="https://bkimg.cdn.bcebos.com/pic/63d9f2d3572c11df57c9a205612762d0f703c2f8?x-bce-process=image/watermark,image_d2F0ZXIvYmFpa2U4MA==,g_7,xp_5,yp_5/format,f_auto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" name="AutoShape 2" descr="这里写图片描述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9380" y="1095428"/>
            <a:ext cx="6327078" cy="4509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29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FF0000"/>
                </a:solidFill>
                <a:latin typeface="+mn-lt"/>
                <a:ea typeface="+mn-ea"/>
              </a:rPr>
              <a:t>位运算例</a:t>
            </a:r>
            <a:endParaRPr lang="zh-CN" altLang="en-US" dirty="0">
              <a:solidFill>
                <a:srgbClr val="FF0000"/>
              </a:solidFill>
              <a:latin typeface="+mn-lt"/>
              <a:ea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如果</a:t>
            </a:r>
            <a:r>
              <a:rPr lang="en-US" altLang="zh-CN" sz="1800" dirty="0" smtClean="0"/>
              <a:t>LA</a:t>
            </a:r>
            <a:r>
              <a:rPr lang="zh-CN" altLang="en-US" sz="1800" dirty="0" smtClean="0"/>
              <a:t>是一个</a:t>
            </a:r>
            <a:r>
              <a:rPr lang="en-US" altLang="zh-CN" sz="1800" dirty="0" smtClean="0"/>
              <a:t>32</a:t>
            </a:r>
            <a:r>
              <a:rPr lang="zh-CN" altLang="en-US" sz="1800" dirty="0" smtClean="0"/>
              <a:t>位的无符号数，被划分成三部分</a:t>
            </a: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18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 smtClean="0"/>
              <a:t>如何解读下述两个表达式？</a:t>
            </a: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/>
              <a:t>(LA&gt;&gt;22)&amp;0x3FF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/>
              <a:t>(LA&gt;&gt;12)&amp;</a:t>
            </a:r>
            <a:r>
              <a:rPr lang="en-US" altLang="zh-CN" sz="1600" dirty="0" smtClean="0"/>
              <a:t>0x3FF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en-US" altLang="zh-CN" sz="1600" dirty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(</a:t>
            </a:r>
            <a:r>
              <a:rPr lang="en-US" altLang="zh-CN" sz="1800" dirty="0"/>
              <a:t>LA&gt;&gt;22)&amp;0x3FF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smtClean="0"/>
              <a:t>LA&gt;&gt;22</a:t>
            </a:r>
            <a:r>
              <a:rPr lang="zh-CN" altLang="en-US" sz="1600" dirty="0" smtClean="0"/>
              <a:t>：将</a:t>
            </a:r>
            <a:r>
              <a:rPr lang="en-US" altLang="zh-CN" sz="1600" dirty="0" smtClean="0"/>
              <a:t>LA</a:t>
            </a:r>
            <a:r>
              <a:rPr lang="zh-CN" altLang="en-US" sz="1600" dirty="0" smtClean="0"/>
              <a:t>的最高</a:t>
            </a:r>
            <a:r>
              <a:rPr lang="en-US" altLang="zh-CN" sz="1600" dirty="0" smtClean="0"/>
              <a:t>10</a:t>
            </a:r>
            <a:r>
              <a:rPr lang="zh-CN" altLang="en-US" sz="1600" dirty="0" smtClean="0"/>
              <a:t>位移到</a:t>
            </a:r>
            <a:r>
              <a:rPr lang="en-US" altLang="zh-CN" sz="1600" dirty="0" smtClean="0"/>
              <a:t>LA</a:t>
            </a:r>
            <a:r>
              <a:rPr lang="zh-CN" altLang="en-US" sz="1600" dirty="0" smtClean="0"/>
              <a:t>的底</a:t>
            </a:r>
            <a:r>
              <a:rPr lang="en-US" altLang="zh-CN" sz="1600" dirty="0" smtClean="0"/>
              <a:t>10</a:t>
            </a:r>
            <a:r>
              <a:rPr lang="zh-CN" altLang="en-US" sz="1600" dirty="0" smtClean="0"/>
              <a:t>位的位置</a:t>
            </a:r>
            <a:endParaRPr lang="en-US" altLang="zh-CN" sz="16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 smtClean="0"/>
              <a:t>0x3FF</a:t>
            </a:r>
            <a:r>
              <a:rPr lang="zh-CN" altLang="en-US" sz="1600" dirty="0" smtClean="0"/>
              <a:t>：</a:t>
            </a:r>
            <a:r>
              <a:rPr lang="en-US" altLang="zh-CN" sz="1600" dirty="0" smtClean="0"/>
              <a:t>11 1111 1111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</a:rPr>
              <a:t>(LA&gt;&gt;22)&amp;</a:t>
            </a:r>
            <a:r>
              <a:rPr lang="en-US" altLang="zh-CN" sz="1600" dirty="0" smtClean="0">
                <a:solidFill>
                  <a:srgbClr val="7030A0"/>
                </a:solidFill>
              </a:rPr>
              <a:t>0x3FF</a:t>
            </a:r>
            <a:r>
              <a:rPr lang="zh-CN" altLang="en-US" sz="1600" dirty="0" smtClean="0"/>
              <a:t>：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提取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LA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的高</a:t>
            </a:r>
            <a:r>
              <a:rPr lang="en-US" altLang="zh-CN" sz="1600" b="1" dirty="0" smtClean="0">
                <a:solidFill>
                  <a:srgbClr val="C00000"/>
                </a:solidFill>
              </a:rPr>
              <a:t>10</a:t>
            </a:r>
            <a:r>
              <a:rPr lang="zh-CN" altLang="en-US" sz="1600" b="1" dirty="0" smtClean="0">
                <a:solidFill>
                  <a:srgbClr val="C00000"/>
                </a:solidFill>
              </a:rPr>
              <a:t>位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 smtClean="0"/>
              <a:t>(</a:t>
            </a:r>
            <a:r>
              <a:rPr lang="en-US" altLang="zh-CN" sz="1800" dirty="0"/>
              <a:t>LA</a:t>
            </a:r>
            <a:r>
              <a:rPr lang="en-US" altLang="zh-CN" sz="1800" dirty="0" smtClean="0"/>
              <a:t>&gt;&gt;12</a:t>
            </a:r>
            <a:r>
              <a:rPr lang="en-US" altLang="zh-CN" sz="1800" dirty="0"/>
              <a:t>)&amp;0x3FF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/>
              <a:t>LA</a:t>
            </a:r>
            <a:r>
              <a:rPr lang="en-US" altLang="zh-CN" sz="1600" dirty="0" smtClean="0"/>
              <a:t>&gt;&gt;12</a:t>
            </a:r>
            <a:r>
              <a:rPr lang="zh-CN" altLang="en-US" sz="1600" dirty="0"/>
              <a:t>：将</a:t>
            </a:r>
            <a:r>
              <a:rPr lang="en-US" altLang="zh-CN" sz="1600" dirty="0"/>
              <a:t>LA</a:t>
            </a:r>
            <a:r>
              <a:rPr lang="zh-CN" altLang="en-US" sz="1600" dirty="0" smtClean="0"/>
              <a:t>的中间</a:t>
            </a:r>
            <a:r>
              <a:rPr lang="en-US" altLang="zh-CN" sz="1600" dirty="0" smtClean="0"/>
              <a:t>10</a:t>
            </a:r>
            <a:r>
              <a:rPr lang="zh-CN" altLang="en-US" sz="1600" dirty="0"/>
              <a:t>位移到</a:t>
            </a:r>
            <a:r>
              <a:rPr lang="en-US" altLang="zh-CN" sz="1600" dirty="0"/>
              <a:t>LA</a:t>
            </a:r>
            <a:r>
              <a:rPr lang="zh-CN" altLang="en-US" sz="1600" dirty="0"/>
              <a:t>的底</a:t>
            </a:r>
            <a:r>
              <a:rPr lang="en-US" altLang="zh-CN" sz="1600" dirty="0"/>
              <a:t>10</a:t>
            </a:r>
            <a:r>
              <a:rPr lang="zh-CN" altLang="en-US" sz="1600" dirty="0"/>
              <a:t>位的位置</a:t>
            </a:r>
            <a:endParaRPr lang="en-US" altLang="zh-CN" sz="16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/>
              <a:t>0x3FF</a:t>
            </a:r>
            <a:r>
              <a:rPr lang="zh-CN" altLang="en-US" sz="1600" dirty="0"/>
              <a:t>：</a:t>
            </a:r>
            <a:r>
              <a:rPr lang="en-US" altLang="zh-CN" sz="1600" dirty="0"/>
              <a:t>11 1111 1111 </a:t>
            </a:r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r>
              <a:rPr lang="en-US" altLang="zh-CN" sz="1600" dirty="0">
                <a:solidFill>
                  <a:srgbClr val="7030A0"/>
                </a:solidFill>
              </a:rPr>
              <a:t>(LA</a:t>
            </a:r>
            <a:r>
              <a:rPr lang="en-US" altLang="zh-CN" sz="1600" dirty="0" smtClean="0">
                <a:solidFill>
                  <a:srgbClr val="7030A0"/>
                </a:solidFill>
              </a:rPr>
              <a:t>&gt;&gt;12</a:t>
            </a:r>
            <a:r>
              <a:rPr lang="en-US" altLang="zh-CN" sz="1600" dirty="0">
                <a:solidFill>
                  <a:srgbClr val="7030A0"/>
                </a:solidFill>
              </a:rPr>
              <a:t>)&amp;0x3FF</a:t>
            </a:r>
            <a:r>
              <a:rPr lang="zh-CN" altLang="en-US" sz="1600" dirty="0"/>
              <a:t>：</a:t>
            </a:r>
            <a:r>
              <a:rPr lang="zh-CN" altLang="en-US" sz="1600" b="1" dirty="0">
                <a:solidFill>
                  <a:srgbClr val="C00000"/>
                </a:solidFill>
              </a:rPr>
              <a:t>提取</a:t>
            </a:r>
            <a:r>
              <a:rPr lang="en-US" altLang="zh-CN" sz="1600" b="1" dirty="0">
                <a:solidFill>
                  <a:srgbClr val="C00000"/>
                </a:solidFill>
              </a:rPr>
              <a:t>LA</a:t>
            </a:r>
            <a:r>
              <a:rPr lang="zh-CN" altLang="en-US" sz="1600" b="1" dirty="0">
                <a:solidFill>
                  <a:srgbClr val="C00000"/>
                </a:solidFill>
              </a:rPr>
              <a:t>的中间</a:t>
            </a:r>
            <a:r>
              <a:rPr lang="en-US" altLang="zh-CN" sz="1600" b="1" dirty="0">
                <a:solidFill>
                  <a:srgbClr val="C00000"/>
                </a:solidFill>
              </a:rPr>
              <a:t>10</a:t>
            </a:r>
            <a:r>
              <a:rPr lang="zh-CN" altLang="en-US" sz="1600" b="1" dirty="0">
                <a:solidFill>
                  <a:srgbClr val="C00000"/>
                </a:solidFill>
              </a:rPr>
              <a:t>位</a:t>
            </a:r>
            <a:endParaRPr lang="en-US" altLang="zh-CN" sz="1600" b="1" dirty="0">
              <a:solidFill>
                <a:srgbClr val="C00000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None/>
            </a:pPr>
            <a:endParaRPr lang="en-US" altLang="zh-CN" sz="2000" dirty="0" smtClean="0"/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Char char="l"/>
            </a:pPr>
            <a:endParaRPr lang="en-US" altLang="zh-CN" sz="20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en-US" altLang="zh-CN" sz="1800" dirty="0" smtClean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en-US" altLang="zh-CN" sz="1800" dirty="0"/>
          </a:p>
          <a:p>
            <a:pPr marL="971550" lvl="1">
              <a:lnSpc>
                <a:spcPct val="100000"/>
              </a:lnSpc>
              <a:spcBef>
                <a:spcPts val="600"/>
              </a:spcBef>
            </a:pPr>
            <a:endParaRPr lang="en-US" altLang="zh-CN" sz="1400" dirty="0" smtClean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/>
          </p:nvPr>
        </p:nvGraphicFramePr>
        <p:xfrm>
          <a:off x="2648662" y="1537316"/>
          <a:ext cx="3258102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6034">
                  <a:extLst>
                    <a:ext uri="{9D8B030D-6E8A-4147-A177-3AD203B41FA5}">
                      <a16:colId xmlns:a16="http://schemas.microsoft.com/office/drawing/2014/main" val="3239421962"/>
                    </a:ext>
                  </a:extLst>
                </a:gridCol>
                <a:gridCol w="1086034">
                  <a:extLst>
                    <a:ext uri="{9D8B030D-6E8A-4147-A177-3AD203B41FA5}">
                      <a16:colId xmlns:a16="http://schemas.microsoft.com/office/drawing/2014/main" val="3836205246"/>
                    </a:ext>
                  </a:extLst>
                </a:gridCol>
                <a:gridCol w="1086034">
                  <a:extLst>
                    <a:ext uri="{9D8B030D-6E8A-4147-A177-3AD203B41FA5}">
                      <a16:colId xmlns:a16="http://schemas.microsoft.com/office/drawing/2014/main" val="1221528479"/>
                    </a:ext>
                  </a:extLst>
                </a:gridCol>
              </a:tblGrid>
              <a:tr h="242359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b="0" dirty="0" smtClean="0">
                          <a:solidFill>
                            <a:srgbClr val="000000"/>
                          </a:solidFill>
                        </a:rPr>
                        <a:t>10</a:t>
                      </a:r>
                      <a:r>
                        <a:rPr lang="zh-CN" altLang="en-US" sz="1400" b="0" dirty="0" smtClean="0">
                          <a:solidFill>
                            <a:srgbClr val="000000"/>
                          </a:solidFill>
                        </a:rPr>
                        <a:t>位</a:t>
                      </a:r>
                      <a:endParaRPr lang="zh-CN" altLang="en-US" sz="1400" b="0" dirty="0">
                        <a:solidFill>
                          <a:srgbClr val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solidFill>
                            <a:srgbClr val="000000"/>
                          </a:solidFill>
                        </a:rPr>
                        <a:t>10</a:t>
                      </a:r>
                      <a:r>
                        <a:rPr lang="zh-CN" altLang="en-US" sz="1400" b="0" dirty="0" smtClean="0">
                          <a:solidFill>
                            <a:srgbClr val="000000"/>
                          </a:solidFill>
                        </a:rPr>
                        <a:t>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0" dirty="0" smtClean="0">
                          <a:solidFill>
                            <a:srgbClr val="000000"/>
                          </a:solidFill>
                        </a:rPr>
                        <a:t>12</a:t>
                      </a:r>
                      <a:r>
                        <a:rPr lang="zh-CN" altLang="en-US" sz="1400" b="0" dirty="0" smtClean="0">
                          <a:solidFill>
                            <a:srgbClr val="000000"/>
                          </a:solidFill>
                        </a:rPr>
                        <a:t>位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9168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9903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>
                <a:solidFill>
                  <a:srgbClr val="7030A0"/>
                </a:solidFill>
              </a:rPr>
              <a:t>课后练习：</a:t>
            </a:r>
            <a:r>
              <a:rPr lang="zh-CN" altLang="en-US" dirty="0">
                <a:latin typeface="+mn-lt"/>
                <a:ea typeface="+mn-ea"/>
              </a:rPr>
              <a:t>位运算举例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取一个整数</a:t>
            </a:r>
            <a:r>
              <a:rPr lang="en-US" altLang="zh-CN" sz="2000" dirty="0"/>
              <a:t>a</a:t>
            </a:r>
            <a:r>
              <a:rPr lang="zh-CN" altLang="en-US" sz="2000" dirty="0"/>
              <a:t>从最右端开始的第</a:t>
            </a:r>
            <a:r>
              <a:rPr lang="en-US" altLang="zh-CN" sz="2000" dirty="0"/>
              <a:t>4</a:t>
            </a:r>
            <a:r>
              <a:rPr lang="zh-CN" altLang="en-US" sz="2000" dirty="0"/>
              <a:t>～</a:t>
            </a:r>
            <a:r>
              <a:rPr lang="en-US" altLang="zh-CN" sz="2000" dirty="0"/>
              <a:t>7</a:t>
            </a:r>
            <a:r>
              <a:rPr lang="zh-CN" altLang="en-US" sz="2000" dirty="0"/>
              <a:t>位（假设最低位序号为</a:t>
            </a:r>
            <a:r>
              <a:rPr lang="en-US" altLang="zh-CN" sz="2000" dirty="0"/>
              <a:t>0</a:t>
            </a:r>
            <a:r>
              <a:rPr lang="zh-CN" altLang="en-US" sz="2000" dirty="0"/>
              <a:t>）。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sz="2000" dirty="0"/>
              <a:t>分析：</a:t>
            </a:r>
            <a:endParaRPr lang="en-US" altLang="zh-CN" sz="2000" dirty="0"/>
          </a:p>
          <a:p>
            <a:pPr marL="971550" lvl="1"/>
            <a:r>
              <a:rPr lang="zh-CN" altLang="en-US" sz="1800" dirty="0"/>
              <a:t>先使</a:t>
            </a:r>
            <a:r>
              <a:rPr lang="en-US" altLang="zh-CN" sz="1800" dirty="0"/>
              <a:t>a</a:t>
            </a:r>
            <a:r>
              <a:rPr lang="zh-CN" altLang="en-US" sz="1800" dirty="0"/>
              <a:t>右移</a:t>
            </a:r>
            <a:r>
              <a:rPr lang="en-US" altLang="zh-CN" sz="1800" dirty="0"/>
              <a:t>4</a:t>
            </a:r>
            <a:r>
              <a:rPr lang="zh-CN" altLang="en-US" sz="1800" dirty="0"/>
              <a:t>位，即</a:t>
            </a:r>
            <a:r>
              <a:rPr lang="en-US" altLang="zh-CN" sz="1800" dirty="0"/>
              <a:t>a&gt;&gt;4</a:t>
            </a:r>
            <a:r>
              <a:rPr lang="zh-CN" altLang="en-US" sz="1800" dirty="0"/>
              <a:t>，使要取出的</a:t>
            </a:r>
            <a:r>
              <a:rPr lang="en-US" altLang="zh-CN" sz="1800" dirty="0"/>
              <a:t>4</a:t>
            </a:r>
            <a:r>
              <a:rPr lang="zh-CN" altLang="en-US" sz="1800" dirty="0"/>
              <a:t>～</a:t>
            </a:r>
            <a:r>
              <a:rPr lang="en-US" altLang="zh-CN" sz="1800" dirty="0"/>
              <a:t>7</a:t>
            </a:r>
            <a:r>
              <a:rPr lang="zh-CN" altLang="en-US" sz="1800" dirty="0"/>
              <a:t>位移到最右端；</a:t>
            </a:r>
            <a:endParaRPr lang="en-US" altLang="zh-CN" sz="1800" dirty="0"/>
          </a:p>
          <a:p>
            <a:pPr marL="971550" lvl="1"/>
            <a:r>
              <a:rPr lang="zh-CN" altLang="en-US" sz="1800" dirty="0"/>
              <a:t>设置一个</a:t>
            </a:r>
            <a:r>
              <a:rPr lang="zh-CN" altLang="en-US" sz="1800" dirty="0">
                <a:solidFill>
                  <a:srgbClr val="030DCD"/>
                </a:solidFill>
              </a:rPr>
              <a:t>低</a:t>
            </a:r>
            <a:r>
              <a:rPr lang="en-US" altLang="zh-CN" sz="1800" dirty="0">
                <a:solidFill>
                  <a:srgbClr val="030DCD"/>
                </a:solidFill>
              </a:rPr>
              <a:t>4</a:t>
            </a:r>
            <a:r>
              <a:rPr lang="zh-CN" altLang="en-US" sz="1800" dirty="0">
                <a:solidFill>
                  <a:srgbClr val="030DCD"/>
                </a:solidFill>
              </a:rPr>
              <a:t>位全为</a:t>
            </a:r>
            <a:r>
              <a:rPr lang="en-US" altLang="zh-CN" sz="1800" dirty="0">
                <a:solidFill>
                  <a:srgbClr val="030DCD"/>
                </a:solidFill>
              </a:rPr>
              <a:t>1</a:t>
            </a:r>
            <a:r>
              <a:rPr lang="en-US" altLang="zh-CN" sz="1800" dirty="0"/>
              <a:t>,</a:t>
            </a:r>
            <a:r>
              <a:rPr lang="zh-CN" altLang="en-US" sz="1800" dirty="0"/>
              <a:t>其余全为</a:t>
            </a:r>
            <a:r>
              <a:rPr lang="en-US" altLang="zh-CN" sz="1800" dirty="0"/>
              <a:t>0</a:t>
            </a:r>
            <a:r>
              <a:rPr lang="zh-CN" altLang="en-US" sz="1800" dirty="0"/>
              <a:t>的数：</a:t>
            </a:r>
            <a:r>
              <a:rPr lang="en-US" altLang="zh-CN" sz="1800" dirty="0">
                <a:solidFill>
                  <a:srgbClr val="C00000"/>
                </a:solidFill>
              </a:rPr>
              <a:t>~ ( ~ 0 &lt;&lt; 4 )</a:t>
            </a:r>
          </a:p>
          <a:p>
            <a:pPr marL="1200150" lvl="2"/>
            <a:r>
              <a:rPr lang="en-US" altLang="zh-CN" sz="1600" dirty="0">
                <a:solidFill>
                  <a:srgbClr val="C00000"/>
                </a:solidFill>
              </a:rPr>
              <a:t>~ 0 &lt;&lt; 4 </a:t>
            </a:r>
            <a:r>
              <a:rPr lang="zh-CN" altLang="en-US" sz="1600" dirty="0"/>
              <a:t>：～</a:t>
            </a:r>
            <a:r>
              <a:rPr lang="en-US" altLang="zh-CN" sz="1600" dirty="0"/>
              <a:t>0</a:t>
            </a:r>
            <a:r>
              <a:rPr lang="zh-CN" altLang="en-US" sz="1600" dirty="0"/>
              <a:t>的二进制数为全</a:t>
            </a:r>
            <a:r>
              <a:rPr lang="en-US" altLang="zh-CN" sz="1600" dirty="0"/>
              <a:t>1</a:t>
            </a:r>
            <a:r>
              <a:rPr lang="zh-CN" altLang="en-US" sz="1600" dirty="0"/>
              <a:t>，左移</a:t>
            </a:r>
            <a:r>
              <a:rPr lang="en-US" altLang="zh-CN" sz="1600" dirty="0"/>
              <a:t>4</a:t>
            </a:r>
            <a:r>
              <a:rPr lang="zh-CN" altLang="en-US" sz="1600" dirty="0"/>
              <a:t>位后，右端低</a:t>
            </a:r>
            <a:r>
              <a:rPr lang="en-US" altLang="zh-CN" sz="1600" dirty="0"/>
              <a:t>4</a:t>
            </a:r>
            <a:r>
              <a:rPr lang="zh-CN" altLang="en-US" sz="1600" dirty="0"/>
              <a:t>位为</a:t>
            </a:r>
            <a:r>
              <a:rPr lang="en-US" altLang="zh-CN" sz="1600" dirty="0"/>
              <a:t>0</a:t>
            </a:r>
            <a:r>
              <a:rPr lang="zh-CN" altLang="en-US" sz="1600" dirty="0"/>
              <a:t>，其余位是</a:t>
            </a:r>
            <a:r>
              <a:rPr lang="en-US" altLang="zh-CN" sz="1600" dirty="0"/>
              <a:t>1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1200150" lvl="2"/>
            <a:r>
              <a:rPr lang="en-US" altLang="zh-CN" sz="1600" dirty="0">
                <a:solidFill>
                  <a:srgbClr val="C00000"/>
                </a:solidFill>
              </a:rPr>
              <a:t>~ ( ~ 0 &lt;&lt; 4 )</a:t>
            </a:r>
            <a:r>
              <a:rPr lang="zh-CN" altLang="en-US" sz="1600" dirty="0">
                <a:solidFill>
                  <a:srgbClr val="C00000"/>
                </a:solidFill>
              </a:rPr>
              <a:t>：</a:t>
            </a:r>
            <a:r>
              <a:rPr lang="zh-CN" altLang="en-US" sz="1600" dirty="0"/>
              <a:t>右端低</a:t>
            </a:r>
            <a:r>
              <a:rPr lang="en-US" altLang="zh-CN" sz="1600" dirty="0"/>
              <a:t>4</a:t>
            </a:r>
            <a:r>
              <a:rPr lang="zh-CN" altLang="en-US" sz="1600" dirty="0"/>
              <a:t>位为</a:t>
            </a:r>
            <a:r>
              <a:rPr lang="en-US" altLang="zh-CN" sz="1600" dirty="0"/>
              <a:t>1</a:t>
            </a:r>
            <a:r>
              <a:rPr lang="zh-CN" altLang="en-US" sz="1600" dirty="0"/>
              <a:t>，其余位是</a:t>
            </a:r>
            <a:r>
              <a:rPr lang="en-US" altLang="zh-CN" sz="1600" dirty="0"/>
              <a:t>0</a:t>
            </a:r>
            <a:r>
              <a:rPr lang="zh-CN" altLang="en-US" sz="1600" dirty="0"/>
              <a:t>；</a:t>
            </a:r>
            <a:endParaRPr lang="en-US" altLang="zh-CN" sz="1600" dirty="0"/>
          </a:p>
          <a:p>
            <a:pPr marL="971550" lvl="1"/>
            <a:r>
              <a:rPr lang="zh-CN" altLang="en-US" sz="1800" dirty="0"/>
              <a:t>将上面二者进行</a:t>
            </a:r>
            <a:r>
              <a:rPr lang="en-US" altLang="zh-CN" sz="1800" dirty="0"/>
              <a:t>&amp;</a:t>
            </a:r>
            <a:r>
              <a:rPr lang="zh-CN" altLang="en-US" sz="1800" dirty="0"/>
              <a:t>运算，即：</a:t>
            </a:r>
            <a:r>
              <a:rPr lang="en-US" altLang="zh-CN" sz="1800" dirty="0"/>
              <a:t>(a &gt;&gt; 4)  &amp;( ~ ( ~ 0 &lt;&lt; 4 ))</a:t>
            </a:r>
          </a:p>
          <a:p>
            <a:pPr marL="971550" lvl="1"/>
            <a:endParaRPr lang="zh-CN" altLang="en-US" dirty="0"/>
          </a:p>
          <a:p>
            <a:pPr marL="971550" lvl="1"/>
            <a:endParaRPr lang="en-US" altLang="zh-CN" dirty="0"/>
          </a:p>
          <a:p>
            <a:pPr marL="971550" lvl="1"/>
            <a:endParaRPr lang="en-US" altLang="zh-CN" dirty="0"/>
          </a:p>
          <a:p>
            <a:endParaRPr lang="zh-CN" altLang="zh-CN" dirty="0"/>
          </a:p>
          <a:p>
            <a:pPr marL="971550" lvl="1"/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4103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取</a:t>
            </a:r>
            <a:r>
              <a:rPr lang="zh-CN" altLang="en-US" dirty="0"/>
              <a:t>一个整数</a:t>
            </a:r>
            <a:r>
              <a:rPr lang="en-US" altLang="zh-CN" dirty="0"/>
              <a:t>a</a:t>
            </a:r>
            <a:r>
              <a:rPr lang="zh-CN" altLang="en-US" dirty="0"/>
              <a:t>从最右端开始的</a:t>
            </a:r>
            <a:r>
              <a:rPr lang="en-US" altLang="zh-CN" dirty="0"/>
              <a:t>4</a:t>
            </a:r>
            <a:r>
              <a:rPr lang="zh-CN" altLang="en-US" dirty="0"/>
              <a:t>～</a:t>
            </a:r>
            <a:r>
              <a:rPr lang="en-US" altLang="zh-CN" dirty="0"/>
              <a:t>7</a:t>
            </a:r>
            <a:r>
              <a:rPr lang="zh-CN" altLang="en-US" dirty="0"/>
              <a:t>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285750" lvl="1" indent="0">
              <a:buNone/>
            </a:pPr>
            <a:r>
              <a:rPr lang="en-US" altLang="zh-CN" dirty="0"/>
              <a:t>{</a:t>
            </a:r>
          </a:p>
          <a:p>
            <a:pPr marL="285750" lvl="1" indent="0">
              <a:buNone/>
            </a:pPr>
            <a:r>
              <a:rPr lang="en-US" altLang="zh-CN" dirty="0"/>
              <a:t>         unsigned 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zh-CN" altLang="en-US" dirty="0"/>
              <a:t>；</a:t>
            </a:r>
          </a:p>
          <a:p>
            <a:pPr marL="285750" lvl="1" indent="0">
              <a:buNone/>
            </a:pPr>
            <a:r>
              <a:rPr lang="zh-CN" altLang="en-US" dirty="0"/>
              <a:t>         </a:t>
            </a:r>
            <a:r>
              <a:rPr lang="en-US" altLang="zh-CN" dirty="0" err="1"/>
              <a:t>scanf</a:t>
            </a:r>
            <a:r>
              <a:rPr lang="en-US" altLang="zh-CN" dirty="0"/>
              <a:t>("%o"</a:t>
            </a:r>
            <a:r>
              <a:rPr lang="zh-CN" altLang="en-US" dirty="0"/>
              <a:t>，</a:t>
            </a:r>
            <a:r>
              <a:rPr lang="en-US" altLang="zh-CN" dirty="0"/>
              <a:t>&amp;a)</a:t>
            </a:r>
            <a:r>
              <a:rPr lang="zh-CN" altLang="en-US" dirty="0"/>
              <a:t>；</a:t>
            </a:r>
          </a:p>
          <a:p>
            <a:pPr marL="285750" lvl="1" indent="0"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b=a&gt;&gt;4</a:t>
            </a:r>
            <a:r>
              <a:rPr lang="zh-CN" altLang="en-US" dirty="0"/>
              <a:t>；</a:t>
            </a:r>
          </a:p>
          <a:p>
            <a:pPr marL="285750" lvl="1" indent="0"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c=</a:t>
            </a:r>
            <a:r>
              <a:rPr lang="zh-CN" altLang="en-US" dirty="0"/>
              <a:t>～</a:t>
            </a:r>
            <a:r>
              <a:rPr lang="en-US" altLang="zh-CN" dirty="0"/>
              <a:t>(</a:t>
            </a:r>
            <a:r>
              <a:rPr lang="zh-CN" altLang="en-US" dirty="0"/>
              <a:t>～</a:t>
            </a:r>
            <a:r>
              <a:rPr lang="en-US" altLang="zh-CN" dirty="0"/>
              <a:t>0</a:t>
            </a:r>
            <a:r>
              <a:rPr lang="zh-CN" altLang="en-US" dirty="0"/>
              <a:t>＜＜</a:t>
            </a:r>
            <a:r>
              <a:rPr lang="en-US" altLang="zh-CN" dirty="0"/>
              <a:t>4)</a:t>
            </a:r>
            <a:r>
              <a:rPr lang="zh-CN" altLang="en-US" dirty="0"/>
              <a:t>；</a:t>
            </a:r>
          </a:p>
          <a:p>
            <a:pPr marL="285750" lvl="1" indent="0"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d=</a:t>
            </a:r>
            <a:r>
              <a:rPr lang="en-US" altLang="zh-CN" dirty="0" err="1"/>
              <a:t>b&amp;c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lvl="1" indent="0">
              <a:buNone/>
            </a:pPr>
            <a:r>
              <a:rPr lang="zh-CN" altLang="zh-CN" dirty="0"/>
              <a:t> </a:t>
            </a:r>
            <a:r>
              <a:rPr lang="en-US" altLang="zh-CN" dirty="0"/>
              <a:t>        </a:t>
            </a:r>
            <a:r>
              <a:rPr lang="en-US" altLang="zh-CN" dirty="0" err="1"/>
              <a:t>printf</a:t>
            </a:r>
            <a:r>
              <a:rPr lang="en-US" altLang="zh-CN" dirty="0"/>
              <a:t>("%o</a:t>
            </a:r>
            <a:r>
              <a:rPr lang="zh-CN" altLang="en-US" dirty="0"/>
              <a:t>， </a:t>
            </a:r>
            <a:r>
              <a:rPr lang="en-US" altLang="zh-CN" dirty="0"/>
              <a:t>%d\n  %o</a:t>
            </a:r>
            <a:r>
              <a:rPr lang="zh-CN" altLang="en-US" dirty="0"/>
              <a:t>， </a:t>
            </a:r>
            <a:r>
              <a:rPr lang="en-US" altLang="zh-CN" dirty="0"/>
              <a:t>%d\n"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zh-CN" altLang="en-US" dirty="0"/>
              <a:t>，</a:t>
            </a:r>
            <a:r>
              <a:rPr lang="en-US" altLang="zh-CN" dirty="0"/>
              <a:t>d)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         return 0;</a:t>
            </a:r>
          </a:p>
          <a:p>
            <a:pPr marL="28575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95036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测试用例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输入一个</a:t>
            </a:r>
            <a:r>
              <a:rPr lang="en-US" altLang="zh-CN" dirty="0"/>
              <a:t>8</a:t>
            </a:r>
            <a:r>
              <a:rPr lang="zh-CN" altLang="en-US" dirty="0"/>
              <a:t>进制无符号数：</a:t>
            </a:r>
            <a:r>
              <a:rPr lang="en-US" altLang="zh-CN" dirty="0"/>
              <a:t>331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输出：</a:t>
            </a:r>
            <a:r>
              <a:rPr lang="en-US" altLang="zh-CN" dirty="0"/>
              <a:t>331</a:t>
            </a:r>
            <a:r>
              <a:rPr lang="zh-CN" altLang="en-US" dirty="0"/>
              <a:t>， </a:t>
            </a:r>
            <a:r>
              <a:rPr lang="en-US" altLang="zh-CN" dirty="0"/>
              <a:t>217   (a</a:t>
            </a:r>
            <a:r>
              <a:rPr lang="zh-CN" altLang="en-US" dirty="0"/>
              <a:t>的值</a:t>
            </a:r>
            <a:r>
              <a:rPr lang="en-US" altLang="zh-CN" dirty="0"/>
              <a:t>)</a:t>
            </a:r>
          </a:p>
          <a:p>
            <a:pPr>
              <a:buNone/>
            </a:pPr>
            <a:r>
              <a:rPr lang="zh-CN" altLang="en-US" dirty="0"/>
              <a:t>     　　    </a:t>
            </a:r>
            <a:r>
              <a:rPr lang="en-US" altLang="zh-CN" dirty="0"/>
              <a:t>15</a:t>
            </a:r>
            <a:r>
              <a:rPr lang="zh-CN" altLang="en-US" dirty="0"/>
              <a:t>， </a:t>
            </a:r>
            <a:r>
              <a:rPr lang="en-US" altLang="zh-CN" dirty="0"/>
              <a:t>13        (d</a:t>
            </a:r>
            <a:r>
              <a:rPr lang="zh-CN" altLang="en-US" dirty="0"/>
              <a:t>的值</a:t>
            </a:r>
            <a:r>
              <a:rPr lang="en-US" altLang="zh-CN" dirty="0"/>
              <a:t>)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注：</a:t>
            </a:r>
            <a:endParaRPr lang="en-US" altLang="zh-CN" dirty="0"/>
          </a:p>
          <a:p>
            <a:pPr marL="971550" lvl="1"/>
            <a:r>
              <a:rPr lang="zh-CN" altLang="en-US" dirty="0"/>
              <a:t>输入</a:t>
            </a:r>
            <a:r>
              <a:rPr lang="en-US" altLang="zh-CN" dirty="0"/>
              <a:t>a</a:t>
            </a:r>
            <a:r>
              <a:rPr lang="zh-CN" altLang="en-US" dirty="0"/>
              <a:t>的值为八进制数</a:t>
            </a:r>
            <a:r>
              <a:rPr lang="en-US" altLang="zh-CN" dirty="0"/>
              <a:t>331</a:t>
            </a:r>
            <a:r>
              <a:rPr lang="zh-CN" altLang="en-US" dirty="0"/>
              <a:t>， 即十进制数</a:t>
            </a:r>
            <a:r>
              <a:rPr lang="en-US" altLang="zh-CN" dirty="0"/>
              <a:t>217</a:t>
            </a:r>
            <a:r>
              <a:rPr lang="zh-CN" altLang="en-US" dirty="0"/>
              <a:t>， 其二进制形式为</a:t>
            </a:r>
            <a:r>
              <a:rPr lang="en-US" altLang="zh-CN" dirty="0">
                <a:solidFill>
                  <a:srgbClr val="C00000"/>
                </a:solidFill>
              </a:rPr>
              <a:t>1101</a:t>
            </a:r>
            <a:r>
              <a:rPr lang="en-US" altLang="zh-CN" dirty="0"/>
              <a:t>1001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经运算最后得到的</a:t>
            </a:r>
            <a:r>
              <a:rPr lang="en-US" altLang="zh-CN" dirty="0"/>
              <a:t>d</a:t>
            </a:r>
            <a:r>
              <a:rPr lang="zh-CN" altLang="en-US" dirty="0"/>
              <a:t>为</a:t>
            </a:r>
            <a:r>
              <a:rPr lang="en-US" altLang="zh-CN" dirty="0"/>
              <a:t>0000</a:t>
            </a:r>
            <a:r>
              <a:rPr lang="en-US" altLang="zh-CN" dirty="0">
                <a:solidFill>
                  <a:srgbClr val="C00000"/>
                </a:solidFill>
              </a:rPr>
              <a:t>1101</a:t>
            </a:r>
            <a:r>
              <a:rPr lang="zh-CN" altLang="en-US" dirty="0"/>
              <a:t>，即八进制数</a:t>
            </a:r>
            <a:r>
              <a:rPr lang="en-US" altLang="zh-CN" dirty="0"/>
              <a:t>15</a:t>
            </a:r>
            <a:r>
              <a:rPr lang="zh-CN" altLang="en-US" dirty="0"/>
              <a:t>，十进制数</a:t>
            </a:r>
            <a:r>
              <a:rPr lang="en-US" altLang="zh-CN" dirty="0"/>
              <a:t>13</a:t>
            </a:r>
            <a:r>
              <a:rPr lang="zh-CN" altLang="en-US" dirty="0"/>
              <a:t>；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2135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取一个整数</a:t>
            </a:r>
            <a:r>
              <a:rPr lang="en-US" altLang="zh-CN" dirty="0"/>
              <a:t>a</a:t>
            </a:r>
            <a:r>
              <a:rPr lang="zh-CN" altLang="en-US" dirty="0"/>
              <a:t>，从右面第</a:t>
            </a:r>
            <a:r>
              <a:rPr lang="en-US" altLang="zh-CN" dirty="0"/>
              <a:t>m</a:t>
            </a:r>
            <a:r>
              <a:rPr lang="zh-CN" altLang="en-US" dirty="0"/>
              <a:t>位开始取其右面</a:t>
            </a:r>
            <a:r>
              <a:rPr lang="en-US" altLang="zh-CN" dirty="0"/>
              <a:t>n</a:t>
            </a:r>
            <a:r>
              <a:rPr lang="zh-CN" altLang="en-US" dirty="0"/>
              <a:t>位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buNone/>
            </a:pPr>
            <a:r>
              <a:rPr lang="en-US" altLang="zh-CN" dirty="0"/>
              <a:t>//</a:t>
            </a:r>
            <a:r>
              <a:rPr lang="zh-CN" altLang="en-US" dirty="0"/>
              <a:t>取一个整数</a:t>
            </a:r>
            <a:r>
              <a:rPr lang="en-US" altLang="zh-CN" dirty="0"/>
              <a:t>a</a:t>
            </a:r>
            <a:r>
              <a:rPr lang="zh-CN" altLang="en-US" dirty="0"/>
              <a:t>，从右面第</a:t>
            </a:r>
            <a:r>
              <a:rPr lang="en-US" altLang="zh-CN" dirty="0"/>
              <a:t>m</a:t>
            </a:r>
            <a:r>
              <a:rPr lang="zh-CN" altLang="en-US" dirty="0"/>
              <a:t>位开始取其右面</a:t>
            </a:r>
            <a:r>
              <a:rPr lang="en-US" altLang="zh-CN" dirty="0"/>
              <a:t>n</a:t>
            </a:r>
            <a:r>
              <a:rPr lang="zh-CN" altLang="en-US" dirty="0"/>
              <a:t>位；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285750" lvl="1" indent="0">
              <a:buNone/>
            </a:pPr>
            <a:r>
              <a:rPr lang="en-US" altLang="zh-CN" dirty="0"/>
              <a:t>{</a:t>
            </a:r>
          </a:p>
          <a:p>
            <a:pPr marL="285750" lvl="1" indent="0">
              <a:buNone/>
            </a:pPr>
            <a:r>
              <a:rPr lang="en-US" altLang="zh-CN" dirty="0"/>
              <a:t>         unsigned 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zh-CN" altLang="en-US" dirty="0"/>
              <a:t>；</a:t>
            </a:r>
          </a:p>
          <a:p>
            <a:pPr marL="285750" lvl="1" indent="0">
              <a:buNone/>
            </a:pPr>
            <a:r>
              <a:rPr lang="zh-CN" altLang="en-US" dirty="0"/>
              <a:t>         </a:t>
            </a:r>
            <a:r>
              <a:rPr lang="en-US" altLang="zh-CN" dirty="0" err="1"/>
              <a:t>scanf</a:t>
            </a:r>
            <a:r>
              <a:rPr lang="en-US" altLang="zh-CN" dirty="0"/>
              <a:t>("%o"</a:t>
            </a:r>
            <a:r>
              <a:rPr lang="zh-CN" altLang="en-US" dirty="0"/>
              <a:t>，</a:t>
            </a:r>
            <a:r>
              <a:rPr lang="en-US" altLang="zh-CN" dirty="0"/>
              <a:t>&amp;a)</a:t>
            </a:r>
            <a:r>
              <a:rPr lang="zh-CN" altLang="en-US" dirty="0"/>
              <a:t>；</a:t>
            </a:r>
          </a:p>
          <a:p>
            <a:pPr marL="285750" lvl="1" indent="0"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b=a&gt;&gt; (m-n+1)</a:t>
            </a:r>
            <a:r>
              <a:rPr lang="zh-CN" altLang="en-US" dirty="0"/>
              <a:t>；</a:t>
            </a:r>
          </a:p>
          <a:p>
            <a:pPr marL="285750" lvl="1" indent="0">
              <a:buNone/>
            </a:pPr>
            <a:r>
              <a:rPr lang="en-US" altLang="zh-CN" dirty="0"/>
              <a:t>         c=</a:t>
            </a:r>
            <a:r>
              <a:rPr lang="zh-CN" altLang="en-US" dirty="0"/>
              <a:t>～</a:t>
            </a:r>
            <a:r>
              <a:rPr lang="en-US" altLang="zh-CN" dirty="0"/>
              <a:t>(</a:t>
            </a:r>
            <a:r>
              <a:rPr lang="zh-CN" altLang="en-US" dirty="0"/>
              <a:t>～</a:t>
            </a:r>
            <a:r>
              <a:rPr lang="en-US" altLang="zh-CN" dirty="0"/>
              <a:t>0</a:t>
            </a:r>
            <a:r>
              <a:rPr lang="zh-CN" altLang="en-US" dirty="0"/>
              <a:t>＜＜</a:t>
            </a:r>
            <a:r>
              <a:rPr lang="en-US" altLang="zh-CN" dirty="0"/>
              <a:t>n)</a:t>
            </a:r>
            <a:r>
              <a:rPr lang="zh-CN" altLang="en-US" dirty="0"/>
              <a:t>；</a:t>
            </a:r>
          </a:p>
          <a:p>
            <a:pPr marL="285750" lvl="1" indent="0">
              <a:buNone/>
            </a:pPr>
            <a:r>
              <a:rPr lang="zh-CN" altLang="en-US" dirty="0"/>
              <a:t>         </a:t>
            </a:r>
            <a:r>
              <a:rPr lang="en-US" altLang="zh-CN" dirty="0"/>
              <a:t>d=</a:t>
            </a:r>
            <a:r>
              <a:rPr lang="en-US" altLang="zh-CN" dirty="0" err="1"/>
              <a:t>b&amp;c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lvl="1" indent="0">
              <a:buNone/>
            </a:pPr>
            <a:r>
              <a:rPr lang="zh-CN" altLang="zh-CN" dirty="0"/>
              <a:t> </a:t>
            </a:r>
            <a:r>
              <a:rPr lang="en-US" altLang="zh-CN" dirty="0"/>
              <a:t>        </a:t>
            </a:r>
            <a:r>
              <a:rPr lang="en-US" altLang="zh-CN" dirty="0" err="1"/>
              <a:t>printf</a:t>
            </a:r>
            <a:r>
              <a:rPr lang="en-US" altLang="zh-CN" dirty="0"/>
              <a:t>("%o</a:t>
            </a:r>
            <a:r>
              <a:rPr lang="zh-CN" altLang="en-US" dirty="0"/>
              <a:t>， </a:t>
            </a:r>
            <a:r>
              <a:rPr lang="en-US" altLang="zh-CN" dirty="0"/>
              <a:t>%d\n  %o</a:t>
            </a:r>
            <a:r>
              <a:rPr lang="zh-CN" altLang="en-US" dirty="0"/>
              <a:t>， </a:t>
            </a:r>
            <a:r>
              <a:rPr lang="en-US" altLang="zh-CN" dirty="0"/>
              <a:t>%d\n"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d</a:t>
            </a:r>
            <a:r>
              <a:rPr lang="zh-CN" altLang="en-US" dirty="0"/>
              <a:t>，</a:t>
            </a:r>
            <a:r>
              <a:rPr lang="en-US" altLang="zh-CN" dirty="0"/>
              <a:t>d)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         return 0;</a:t>
            </a:r>
          </a:p>
          <a:p>
            <a:pPr marL="28575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0141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循环移位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要求将整数</a:t>
            </a:r>
            <a:r>
              <a:rPr lang="en-US" altLang="zh-CN" dirty="0"/>
              <a:t>a</a:t>
            </a:r>
            <a:r>
              <a:rPr lang="zh-CN" altLang="en-US" dirty="0"/>
              <a:t>进行</a:t>
            </a:r>
            <a:r>
              <a:rPr lang="zh-CN" altLang="en-US" dirty="0">
                <a:solidFill>
                  <a:srgbClr val="030DCD"/>
                </a:solidFill>
              </a:rPr>
              <a:t>循环右移</a:t>
            </a:r>
            <a:r>
              <a:rPr lang="en-US" altLang="zh-CN" dirty="0">
                <a:solidFill>
                  <a:srgbClr val="030DCD"/>
                </a:solidFill>
              </a:rPr>
              <a:t>n</a:t>
            </a:r>
            <a:r>
              <a:rPr lang="zh-CN" altLang="en-US" dirty="0">
                <a:solidFill>
                  <a:srgbClr val="030DCD"/>
                </a:solidFill>
              </a:rPr>
              <a:t>位</a:t>
            </a:r>
            <a:r>
              <a:rPr lang="en-US" altLang="zh-CN" dirty="0"/>
              <a:t>;</a:t>
            </a:r>
          </a:p>
          <a:p>
            <a:pPr marL="971550" lvl="1"/>
            <a:r>
              <a:rPr lang="zh-CN" altLang="en-US" dirty="0"/>
              <a:t>将</a:t>
            </a:r>
            <a:r>
              <a:rPr lang="en-US" altLang="zh-CN" dirty="0"/>
              <a:t>a</a:t>
            </a:r>
            <a:r>
              <a:rPr lang="zh-CN" altLang="en-US" dirty="0"/>
              <a:t>中原来左边</a:t>
            </a:r>
            <a:r>
              <a:rPr lang="en-US" altLang="zh-CN" dirty="0"/>
              <a:t>(16-n)</a:t>
            </a:r>
            <a:r>
              <a:rPr lang="zh-CN" altLang="en-US" dirty="0"/>
              <a:t>位右移</a:t>
            </a:r>
            <a:r>
              <a:rPr lang="en-US" altLang="zh-CN" dirty="0"/>
              <a:t>n</a:t>
            </a:r>
            <a:r>
              <a:rPr lang="zh-CN" altLang="en-US" dirty="0"/>
              <a:t>位，原来右端</a:t>
            </a:r>
            <a:r>
              <a:rPr lang="en-US" altLang="zh-CN" dirty="0"/>
              <a:t>n</a:t>
            </a:r>
            <a:r>
              <a:rPr lang="zh-CN" altLang="en-US" dirty="0"/>
              <a:t>位移到最左面</a:t>
            </a:r>
            <a:r>
              <a:rPr lang="en-US" altLang="zh-CN" dirty="0"/>
              <a:t>n</a:t>
            </a:r>
            <a:r>
              <a:rPr lang="zh-CN" altLang="en-US" dirty="0"/>
              <a:t>位。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步骤：（假设数据长度为两字节）</a:t>
            </a:r>
          </a:p>
          <a:p>
            <a:pPr marL="971550" lvl="1"/>
            <a:r>
              <a:rPr lang="zh-CN" altLang="en-US" dirty="0"/>
              <a:t>将</a:t>
            </a:r>
            <a:r>
              <a:rPr lang="en-US" altLang="zh-CN" dirty="0"/>
              <a:t>a</a:t>
            </a:r>
            <a:r>
              <a:rPr lang="zh-CN" altLang="en-US" dirty="0"/>
              <a:t>的右端</a:t>
            </a:r>
            <a:r>
              <a:rPr lang="en-US" altLang="zh-CN" dirty="0"/>
              <a:t>n</a:t>
            </a:r>
            <a:r>
              <a:rPr lang="zh-CN" altLang="en-US" dirty="0"/>
              <a:t>位先放到</a:t>
            </a:r>
            <a:r>
              <a:rPr lang="en-US" altLang="zh-CN" dirty="0"/>
              <a:t>b</a:t>
            </a:r>
            <a:r>
              <a:rPr lang="zh-CN" altLang="en-US" dirty="0"/>
              <a:t>中的高</a:t>
            </a:r>
            <a:r>
              <a:rPr lang="en-US" altLang="zh-CN" dirty="0"/>
              <a:t>n</a:t>
            </a:r>
            <a:r>
              <a:rPr lang="zh-CN" altLang="en-US" dirty="0"/>
              <a:t>位中；</a:t>
            </a:r>
            <a:r>
              <a:rPr lang="en-US" altLang="zh-CN" dirty="0"/>
              <a:t>b=a</a:t>
            </a:r>
            <a:r>
              <a:rPr lang="zh-CN" altLang="en-US" dirty="0"/>
              <a:t>＜＜</a:t>
            </a:r>
            <a:r>
              <a:rPr lang="en-US" altLang="zh-CN" dirty="0"/>
              <a:t>(16-n)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将</a:t>
            </a:r>
            <a:r>
              <a:rPr lang="en-US" altLang="zh-CN" dirty="0"/>
              <a:t>a</a:t>
            </a:r>
            <a:r>
              <a:rPr lang="zh-CN" altLang="en-US" dirty="0"/>
              <a:t>右移</a:t>
            </a:r>
            <a:r>
              <a:rPr lang="en-US" altLang="zh-CN" dirty="0"/>
              <a:t>n</a:t>
            </a:r>
            <a:r>
              <a:rPr lang="zh-CN" altLang="en-US" dirty="0"/>
              <a:t>位，其左面高位</a:t>
            </a:r>
            <a:r>
              <a:rPr lang="en-US" altLang="zh-CN" dirty="0"/>
              <a:t>n</a:t>
            </a:r>
            <a:r>
              <a:rPr lang="zh-CN" altLang="en-US" dirty="0"/>
              <a:t>位补</a:t>
            </a:r>
            <a:r>
              <a:rPr lang="en-US" altLang="zh-CN" dirty="0"/>
              <a:t>0</a:t>
            </a:r>
            <a:r>
              <a:rPr lang="zh-CN" altLang="en-US" dirty="0"/>
              <a:t>：</a:t>
            </a:r>
            <a:r>
              <a:rPr lang="en-US" altLang="zh-CN" dirty="0"/>
              <a:t>c=a</a:t>
            </a:r>
            <a:r>
              <a:rPr lang="zh-CN" altLang="en-US" dirty="0"/>
              <a:t>＞＞</a:t>
            </a:r>
            <a:r>
              <a:rPr lang="en-US" altLang="zh-CN" dirty="0"/>
              <a:t>n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将</a:t>
            </a:r>
            <a:r>
              <a:rPr lang="en-US" altLang="zh-CN" dirty="0"/>
              <a:t>c</a:t>
            </a:r>
            <a:r>
              <a:rPr lang="zh-CN" altLang="en-US" dirty="0"/>
              <a:t>与</a:t>
            </a:r>
            <a:r>
              <a:rPr lang="en-US" altLang="zh-CN" dirty="0"/>
              <a:t>b</a:t>
            </a:r>
            <a:r>
              <a:rPr lang="zh-CN" altLang="en-US" dirty="0"/>
              <a:t>进行</a:t>
            </a:r>
            <a:r>
              <a:rPr lang="zh-CN" altLang="en-US" dirty="0">
                <a:solidFill>
                  <a:srgbClr val="030DCD"/>
                </a:solidFill>
              </a:rPr>
              <a:t>按位或</a:t>
            </a:r>
            <a:r>
              <a:rPr lang="zh-CN" altLang="en-US" dirty="0"/>
              <a:t>运算，</a:t>
            </a:r>
            <a:r>
              <a:rPr lang="en-US" altLang="zh-CN" dirty="0"/>
              <a:t>c=</a:t>
            </a:r>
            <a:r>
              <a:rPr lang="en-US" altLang="zh-CN" dirty="0" err="1"/>
              <a:t>c|b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endParaRPr lang="en-US" altLang="zh-CN" dirty="0"/>
          </a:p>
          <a:p>
            <a:pPr marL="971550" lvl="1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0029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循环</a:t>
            </a:r>
            <a:r>
              <a:rPr lang="zh-CN" altLang="en-US" dirty="0"/>
              <a:t>右移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1" indent="0">
              <a:buNone/>
            </a:pPr>
            <a:r>
              <a:rPr lang="en-US" altLang="zh-CN" dirty="0"/>
              <a:t>//</a:t>
            </a:r>
            <a:r>
              <a:rPr lang="zh-CN" altLang="en-US" dirty="0"/>
              <a:t>将一个整数</a:t>
            </a:r>
            <a:r>
              <a:rPr lang="en-US" altLang="zh-CN" dirty="0"/>
              <a:t>a</a:t>
            </a:r>
            <a:r>
              <a:rPr lang="zh-CN" altLang="en-US" dirty="0"/>
              <a:t>循环右移</a:t>
            </a:r>
            <a:r>
              <a:rPr lang="en-US" altLang="zh-CN" dirty="0"/>
              <a:t>n</a:t>
            </a:r>
            <a:r>
              <a:rPr lang="zh-CN" altLang="en-US" dirty="0"/>
              <a:t>位；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</a:p>
          <a:p>
            <a:pPr marL="285750" lvl="1" indent="0">
              <a:buNone/>
            </a:pPr>
            <a:r>
              <a:rPr lang="en-US" altLang="zh-CN" dirty="0"/>
              <a:t>{</a:t>
            </a:r>
          </a:p>
          <a:p>
            <a:pPr marL="514350" lvl="2" indent="0">
              <a:buNone/>
            </a:pPr>
            <a:r>
              <a:rPr lang="en-US" altLang="zh-CN" dirty="0"/>
              <a:t>   unsigned a</a:t>
            </a:r>
            <a:r>
              <a:rPr lang="zh-CN" altLang="en-US" dirty="0"/>
              <a:t>，</a:t>
            </a:r>
            <a:r>
              <a:rPr lang="en-US" altLang="zh-CN" dirty="0"/>
              <a:t>b</a:t>
            </a:r>
            <a:r>
              <a:rPr lang="zh-CN" altLang="en-US" dirty="0"/>
              <a:t>，</a:t>
            </a:r>
            <a:r>
              <a:rPr lang="en-US" altLang="zh-CN" dirty="0"/>
              <a:t>c</a:t>
            </a:r>
            <a:r>
              <a:rPr lang="zh-CN" altLang="en-US" dirty="0"/>
              <a:t>；</a:t>
            </a:r>
          </a:p>
          <a:p>
            <a:pPr marL="514350" lvl="2" indent="0">
              <a:buNone/>
            </a:pPr>
            <a:r>
              <a:rPr lang="zh-CN" altLang="en-US" dirty="0"/>
              <a:t>   </a:t>
            </a:r>
            <a:r>
              <a:rPr lang="en-US" altLang="zh-CN" dirty="0" err="1"/>
              <a:t>int</a:t>
            </a:r>
            <a:r>
              <a:rPr lang="en-US" altLang="zh-CN" dirty="0"/>
              <a:t> n</a:t>
            </a:r>
            <a:r>
              <a:rPr lang="zh-CN" altLang="en-US" dirty="0"/>
              <a:t>；</a:t>
            </a:r>
          </a:p>
          <a:p>
            <a:pPr marL="514350" lvl="2" indent="0">
              <a:buNone/>
            </a:pPr>
            <a:r>
              <a:rPr lang="zh-CN" altLang="en-US" dirty="0"/>
              <a:t>   </a:t>
            </a:r>
            <a:r>
              <a:rPr lang="en-US" altLang="zh-CN" dirty="0" err="1"/>
              <a:t>scanf</a:t>
            </a:r>
            <a:r>
              <a:rPr lang="en-US" altLang="zh-CN" dirty="0"/>
              <a:t>("a=%o</a:t>
            </a:r>
            <a:r>
              <a:rPr lang="zh-CN" altLang="en-US" dirty="0"/>
              <a:t>，</a:t>
            </a:r>
            <a:r>
              <a:rPr lang="en-US" altLang="zh-CN" dirty="0"/>
              <a:t>n=%d"</a:t>
            </a:r>
            <a:r>
              <a:rPr lang="zh-CN" altLang="en-US" dirty="0"/>
              <a:t>，</a:t>
            </a:r>
            <a:r>
              <a:rPr lang="en-US" altLang="zh-CN" dirty="0"/>
              <a:t>&amp;a</a:t>
            </a:r>
            <a:r>
              <a:rPr lang="zh-CN" altLang="en-US" dirty="0"/>
              <a:t>，</a:t>
            </a:r>
            <a:r>
              <a:rPr lang="en-US" altLang="zh-CN" dirty="0"/>
              <a:t>&amp;n)</a:t>
            </a:r>
            <a:r>
              <a:rPr lang="zh-CN" altLang="en-US" dirty="0"/>
              <a:t>；</a:t>
            </a:r>
          </a:p>
          <a:p>
            <a:pPr marL="514350" lvl="2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b=a</a:t>
            </a:r>
            <a:r>
              <a:rPr lang="zh-CN" altLang="en-US" dirty="0"/>
              <a:t>＜＜</a:t>
            </a:r>
            <a:r>
              <a:rPr lang="en-US" altLang="zh-CN" dirty="0"/>
              <a:t>(16-n)}</a:t>
            </a:r>
          </a:p>
          <a:p>
            <a:pPr marL="514350" lvl="2" indent="0">
              <a:buNone/>
            </a:pPr>
            <a:r>
              <a:rPr lang="zh-CN" altLang="zh-CN" dirty="0"/>
              <a:t> </a:t>
            </a:r>
            <a:r>
              <a:rPr lang="en-US" altLang="zh-CN" dirty="0"/>
              <a:t>  c=a</a:t>
            </a:r>
            <a:r>
              <a:rPr lang="zh-CN" altLang="en-US" dirty="0"/>
              <a:t>＞＞</a:t>
            </a:r>
            <a:r>
              <a:rPr lang="en-US" altLang="zh-CN" dirty="0"/>
              <a:t>n</a:t>
            </a:r>
            <a:r>
              <a:rPr lang="zh-CN" altLang="en-US" dirty="0"/>
              <a:t>；</a:t>
            </a:r>
          </a:p>
          <a:p>
            <a:pPr marL="514350" lvl="2" indent="0">
              <a:buNone/>
            </a:pPr>
            <a:r>
              <a:rPr lang="zh-CN" altLang="en-US" dirty="0"/>
              <a:t>   </a:t>
            </a:r>
            <a:r>
              <a:rPr lang="en-US" altLang="zh-CN" dirty="0"/>
              <a:t>c=</a:t>
            </a:r>
            <a:r>
              <a:rPr lang="en-US" altLang="zh-CN" dirty="0" err="1"/>
              <a:t>c|b</a:t>
            </a:r>
            <a:r>
              <a:rPr lang="zh-CN" altLang="en-US" dirty="0"/>
              <a:t>；</a:t>
            </a:r>
          </a:p>
          <a:p>
            <a:pPr marL="514350" lvl="2" indent="0">
              <a:buNone/>
            </a:pPr>
            <a:r>
              <a:rPr lang="zh-CN" altLang="en-US" dirty="0"/>
              <a:t>   </a:t>
            </a:r>
            <a:r>
              <a:rPr lang="en-US" altLang="zh-CN" dirty="0" err="1"/>
              <a:t>printf</a:t>
            </a:r>
            <a:r>
              <a:rPr lang="en-US" altLang="zh-CN" dirty="0"/>
              <a:t>(“%o\</a:t>
            </a:r>
            <a:r>
              <a:rPr lang="en-US" altLang="zh-CN" dirty="0" err="1"/>
              <a:t>n%o</a:t>
            </a:r>
            <a:r>
              <a:rPr lang="en-US" altLang="zh-CN" dirty="0"/>
              <a:t>”</a:t>
            </a:r>
            <a:r>
              <a:rPr lang="zh-CN" altLang="en-US" dirty="0"/>
              <a:t>，</a:t>
            </a:r>
            <a:r>
              <a:rPr lang="en-US" altLang="zh-CN" dirty="0"/>
              <a:t>a</a:t>
            </a:r>
            <a:r>
              <a:rPr lang="zh-CN" altLang="en-US" dirty="0"/>
              <a:t>，</a:t>
            </a:r>
            <a:r>
              <a:rPr lang="en-US" altLang="zh-CN" dirty="0"/>
              <a:t>c)</a:t>
            </a:r>
            <a:r>
              <a:rPr lang="zh-CN" altLang="en-US" dirty="0"/>
              <a:t>；</a:t>
            </a:r>
            <a:endParaRPr lang="en-US" altLang="zh-CN" dirty="0"/>
          </a:p>
          <a:p>
            <a:pPr marL="514350" lvl="2" indent="0">
              <a:buNone/>
            </a:pPr>
            <a:r>
              <a:rPr lang="en-US" altLang="zh-CN" dirty="0"/>
              <a:t>   return 0</a:t>
            </a:r>
            <a:r>
              <a:rPr lang="zh-CN" altLang="en-US" dirty="0"/>
              <a:t>；</a:t>
            </a:r>
            <a:endParaRPr lang="en-US" altLang="zh-CN" dirty="0"/>
          </a:p>
          <a:p>
            <a:pPr marL="285750" lvl="1" indent="0">
              <a:buNone/>
            </a:pPr>
            <a:r>
              <a:rPr lang="en-US" altLang="zh-CN" dirty="0"/>
              <a:t>}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029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7030A0"/>
                </a:solidFill>
              </a:rPr>
              <a:t>课后练习：</a:t>
            </a:r>
            <a:r>
              <a:rPr lang="zh-CN" altLang="en-US" dirty="0" smtClean="0"/>
              <a:t>循环</a:t>
            </a:r>
            <a:r>
              <a:rPr lang="zh-CN" altLang="en-US" dirty="0"/>
              <a:t>右移  测试用例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键盘输入：</a:t>
            </a:r>
            <a:r>
              <a:rPr lang="en-US" altLang="zh-CN" dirty="0"/>
              <a:t>a=157653</a:t>
            </a:r>
            <a:r>
              <a:rPr lang="zh-CN" altLang="en-US" dirty="0"/>
              <a:t>，</a:t>
            </a:r>
            <a:r>
              <a:rPr lang="en-US" altLang="zh-CN" dirty="0"/>
              <a:t>n=3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输出： </a:t>
            </a:r>
            <a:r>
              <a:rPr lang="en-US" altLang="zh-CN" dirty="0"/>
              <a:t>157653  </a:t>
            </a:r>
            <a:r>
              <a:rPr lang="zh-CN" altLang="en-US" dirty="0"/>
              <a:t>（</a:t>
            </a:r>
            <a:r>
              <a:rPr lang="en-US" altLang="zh-CN" dirty="0"/>
              <a:t>a</a:t>
            </a:r>
            <a:r>
              <a:rPr lang="zh-CN" altLang="en-US" dirty="0"/>
              <a:t>的值）</a:t>
            </a:r>
            <a:endParaRPr lang="en-US" altLang="zh-CN" dirty="0"/>
          </a:p>
          <a:p>
            <a:pPr>
              <a:buNone/>
            </a:pPr>
            <a:r>
              <a:rPr lang="en-US" altLang="zh-CN" dirty="0"/>
              <a:t>                  75765    </a:t>
            </a:r>
            <a:r>
              <a:rPr lang="zh-CN" altLang="en-US" dirty="0"/>
              <a:t>（</a:t>
            </a:r>
            <a:r>
              <a:rPr lang="en-US" altLang="zh-CN" dirty="0"/>
              <a:t>c</a:t>
            </a:r>
            <a:r>
              <a:rPr lang="zh-CN" altLang="en-US" dirty="0"/>
              <a:t>的值）</a:t>
            </a:r>
            <a:endParaRPr lang="en-US" altLang="zh-CN" dirty="0"/>
          </a:p>
          <a:p>
            <a:pPr marL="342900" indent="-342900">
              <a:buFont typeface="Wingdings" panose="05000000000000000000" pitchFamily="2" charset="2"/>
              <a:buChar char="l"/>
            </a:pPr>
            <a:r>
              <a:rPr lang="zh-CN" altLang="en-US" dirty="0"/>
              <a:t>注释：</a:t>
            </a:r>
            <a:endParaRPr lang="en-US" altLang="zh-CN" dirty="0"/>
          </a:p>
          <a:p>
            <a:pPr marL="971550" lvl="1"/>
            <a:r>
              <a:rPr lang="zh-CN" altLang="en-US" dirty="0"/>
              <a:t>运行开始时输入八进制数</a:t>
            </a:r>
            <a:r>
              <a:rPr lang="en-US" altLang="zh-CN" dirty="0"/>
              <a:t>157653</a:t>
            </a:r>
            <a:r>
              <a:rPr lang="zh-CN" altLang="en-US" dirty="0"/>
              <a:t>，即二进制数</a:t>
            </a:r>
            <a:r>
              <a:rPr lang="en-US" altLang="zh-CN" dirty="0"/>
              <a:t>1101111110101011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循环右移</a:t>
            </a:r>
            <a:r>
              <a:rPr lang="en-US" altLang="zh-CN" dirty="0"/>
              <a:t>3</a:t>
            </a:r>
            <a:r>
              <a:rPr lang="zh-CN" altLang="en-US" dirty="0"/>
              <a:t>位后得二进制数</a:t>
            </a:r>
            <a:r>
              <a:rPr lang="en-US" altLang="zh-CN" dirty="0"/>
              <a:t>0111101111110101</a:t>
            </a:r>
            <a:r>
              <a:rPr lang="zh-CN" altLang="en-US" dirty="0"/>
              <a:t>，即八进制数</a:t>
            </a:r>
            <a:r>
              <a:rPr lang="en-US" altLang="zh-CN" dirty="0"/>
              <a:t>75765</a:t>
            </a:r>
            <a:r>
              <a:rPr lang="zh-CN" altLang="en-US" dirty="0"/>
              <a:t>；</a:t>
            </a:r>
            <a:endParaRPr lang="en-US" altLang="zh-CN" dirty="0"/>
          </a:p>
          <a:p>
            <a:pPr marL="971550" lvl="1"/>
            <a:r>
              <a:rPr lang="zh-CN" altLang="en-US" dirty="0"/>
              <a:t>同理可以实现左循环位移；</a:t>
            </a:r>
          </a:p>
          <a:p>
            <a:pPr marL="342900" indent="-342900"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84551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位逻辑运算</a:t>
                </a:r>
                <a:endParaRPr lang="en-US" altLang="zh-CN" dirty="0"/>
              </a:p>
              <a:p>
                <a:pPr marL="971550" lvl="1"/>
                <a:r>
                  <a:rPr lang="zh-CN" altLang="en-US" dirty="0"/>
                  <a:t>按位逻辑运算：</a:t>
                </a:r>
                <a:r>
                  <a:rPr lang="en-US" altLang="zh-CN" dirty="0"/>
                  <a:t>&amp;  |  ~  ^</a:t>
                </a:r>
              </a:p>
              <a:p>
                <a:pPr marL="971550" lvl="1"/>
                <a:r>
                  <a:rPr lang="zh-CN" altLang="en-US" dirty="0"/>
                  <a:t>只作用于整型、字符型数据；</a:t>
                </a: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r>
                  <a:rPr lang="zh-CN" altLang="en-US" dirty="0"/>
                  <a:t>位移位运算</a:t>
                </a:r>
                <a:endParaRPr lang="en-US" altLang="zh-CN" dirty="0"/>
              </a:p>
              <a:p>
                <a:pPr marL="971550" lvl="1"/>
                <a:r>
                  <a:rPr lang="zh-CN" altLang="en-US" dirty="0"/>
                  <a:t>左移：</a:t>
                </a:r>
                <a:r>
                  <a:rPr lang="en-US" altLang="zh-CN" dirty="0"/>
                  <a:t>&lt;&lt;</a:t>
                </a:r>
              </a:p>
              <a:p>
                <a:pPr marL="1371600" lvl="2" indent="-34290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左移一位，相当于乘以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marL="1371600" lvl="2" indent="-342900">
                  <a:buFont typeface="Arial" panose="020B0604020202020204" pitchFamily="34" charset="0"/>
                  <a:buChar char="•"/>
                </a:pPr>
                <a:r>
                  <a:rPr lang="zh-CN" altLang="en-US" dirty="0"/>
                  <a:t>舍弃溢出位，低位补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marL="971550" lvl="1"/>
                <a:r>
                  <a:rPr lang="zh-CN" altLang="en-US" dirty="0"/>
                  <a:t>右移</a:t>
                </a:r>
                <a:r>
                  <a:rPr lang="en-US" altLang="zh-CN" dirty="0"/>
                  <a:t>:  &gt;&gt;</a:t>
                </a:r>
              </a:p>
              <a:p>
                <a:pPr marL="1200150" lvl="2"/>
                <a:r>
                  <a:rPr lang="zh-CN" altLang="en-US" dirty="0"/>
                  <a:t>右移一位，相当于除以</a:t>
                </a:r>
                <a:r>
                  <a:rPr lang="en-US" altLang="zh-CN" dirty="0"/>
                  <a:t>2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marL="1200150" lvl="2"/>
                <a:r>
                  <a:rPr lang="zh-CN" altLang="en-US" dirty="0"/>
                  <a:t>关于右移后高位补位问题</a:t>
                </a:r>
                <a:endParaRPr lang="en-US" altLang="zh-CN" dirty="0"/>
              </a:p>
              <a:p>
                <a:pPr marL="1657350" lvl="3" indent="-285750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算术右移，高位补符号位；相当于除以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dirty="0"/>
                  <a:t>，符号位不变；</a:t>
                </a:r>
                <a:endParaRPr lang="en-US" altLang="zh-CN" dirty="0"/>
              </a:p>
              <a:p>
                <a:pPr marL="1657350" lvl="3" indent="-285750">
                  <a:buFont typeface="Wingdings" panose="05000000000000000000" pitchFamily="2" charset="2"/>
                  <a:buChar char="Ø"/>
                </a:pPr>
                <a:r>
                  <a:rPr lang="zh-CN" altLang="en-US" dirty="0"/>
                  <a:t>逻辑右移，高位补</a:t>
                </a:r>
                <a:r>
                  <a:rPr lang="en-US" altLang="zh-CN" dirty="0"/>
                  <a:t>0</a:t>
                </a:r>
                <a:r>
                  <a:rPr lang="zh-CN" altLang="en-US" dirty="0"/>
                  <a:t>；</a:t>
                </a:r>
                <a:endParaRPr lang="en-US" altLang="zh-CN" dirty="0"/>
              </a:p>
              <a:p>
                <a:pPr marL="971550" lvl="1"/>
                <a:r>
                  <a:rPr lang="zh-CN" altLang="en-US" dirty="0"/>
                  <a:t>循环移位</a:t>
                </a:r>
                <a:endParaRPr lang="en-US" altLang="zh-CN" dirty="0"/>
              </a:p>
              <a:p>
                <a:pPr marL="342900" indent="-342900">
                  <a:buFont typeface="Wingdings" panose="05000000000000000000" pitchFamily="2" charset="2"/>
                  <a:buChar char="l"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51" t="-19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3005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6"/>
          <p:cNvSpPr>
            <a:spLocks noChangeArrowheads="1"/>
          </p:cNvSpPr>
          <p:nvPr/>
        </p:nvSpPr>
        <p:spPr bwMode="auto">
          <a:xfrm>
            <a:off x="6511925" y="567690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C0107C6E-6428-484D-8BFF-2A38D99BDED2}" type="slidenum">
              <a:rPr lang="en-US" altLang="zh-CN" sz="1400"/>
              <a:pPr algn="r"/>
              <a:t>32</a:t>
            </a:fld>
            <a:endParaRPr lang="en-US" altLang="zh-CN" sz="1400"/>
          </a:p>
        </p:txBody>
      </p:sp>
      <p:pic>
        <p:nvPicPr>
          <p:cNvPr id="19459" name="Picture 3" descr="sdu01_0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12125" y="3317875"/>
            <a:ext cx="990600" cy="963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0" name="Picture 4" descr="sdu03_01s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45325" y="43846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1" name="Picture 5" descr="sdu04_05s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112125" y="4384675"/>
            <a:ext cx="990600" cy="91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2" name="Picture 6" descr="sdu06_03s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045325" y="5375275"/>
            <a:ext cx="9906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3" name="Picture 7" descr="sdu01_16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8112125" y="5370513"/>
            <a:ext cx="990600" cy="919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8" descr="sdu05_04s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5940425" y="5375275"/>
            <a:ext cx="10287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65" name="Rectangle 10"/>
          <p:cNvSpPr>
            <a:spLocks noGrp="1" noChangeArrowheads="1"/>
          </p:cNvSpPr>
          <p:nvPr>
            <p:ph type="title"/>
          </p:nvPr>
        </p:nvSpPr>
        <p:spPr>
          <a:xfrm>
            <a:off x="1052802" y="1579419"/>
            <a:ext cx="7327900" cy="830695"/>
          </a:xfrm>
        </p:spPr>
        <p:txBody>
          <a:bodyPr/>
          <a:lstStyle/>
          <a:p>
            <a:pPr eaLnBrk="1" hangingPunct="1"/>
            <a:r>
              <a:rPr lang="en-US" altLang="zh-CN" sz="4800" dirty="0"/>
              <a:t>Any  Question ?</a:t>
            </a:r>
            <a:endParaRPr lang="zh-CN" altLang="en-US" sz="48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623" y="3169163"/>
            <a:ext cx="5204012" cy="32916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8055478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53cd865050490">
  <a:themeElements>
    <a:clrScheme name="53cd865050490 1">
      <a:dk1>
        <a:srgbClr val="3D3F41"/>
      </a:dk1>
      <a:lt1>
        <a:srgbClr val="FFFFFF"/>
      </a:lt1>
      <a:dk2>
        <a:srgbClr val="3D3F41"/>
      </a:dk2>
      <a:lt2>
        <a:srgbClr val="EAF5FC"/>
      </a:lt2>
      <a:accent1>
        <a:srgbClr val="47B6E7"/>
      </a:accent1>
      <a:accent2>
        <a:srgbClr val="628EE3"/>
      </a:accent2>
      <a:accent3>
        <a:srgbClr val="FFFFFF"/>
      </a:accent3>
      <a:accent4>
        <a:srgbClr val="333436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53cd865050490">
      <a:majorFont>
        <a:latin typeface="Arial Black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53cd865050490 1">
        <a:dk1>
          <a:srgbClr val="3D3F41"/>
        </a:dk1>
        <a:lt1>
          <a:srgbClr val="FFFFFF"/>
        </a:lt1>
        <a:dk2>
          <a:srgbClr val="3D3F41"/>
        </a:dk2>
        <a:lt2>
          <a:srgbClr val="EAF5FC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333436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A000120150601A08PWBG">
  <a:themeElements>
    <a:clrScheme name="A000120150601A08PWBG 1">
      <a:dk1>
        <a:srgbClr val="4D4D4D"/>
      </a:dk1>
      <a:lt1>
        <a:srgbClr val="FFFFFF"/>
      </a:lt1>
      <a:dk2>
        <a:srgbClr val="4D4D4D"/>
      </a:dk2>
      <a:lt2>
        <a:srgbClr val="FFFFFF"/>
      </a:lt2>
      <a:accent1>
        <a:srgbClr val="B8650A"/>
      </a:accent1>
      <a:accent2>
        <a:srgbClr val="D37051"/>
      </a:accent2>
      <a:accent3>
        <a:srgbClr val="FFFFFF"/>
      </a:accent3>
      <a:accent4>
        <a:srgbClr val="404040"/>
      </a:accent4>
      <a:accent5>
        <a:srgbClr val="D8B8AA"/>
      </a:accent5>
      <a:accent6>
        <a:srgbClr val="BF6549"/>
      </a:accent6>
      <a:hlink>
        <a:srgbClr val="92D050"/>
      </a:hlink>
      <a:folHlink>
        <a:srgbClr val="AFB2B4"/>
      </a:folHlink>
    </a:clrScheme>
    <a:fontScheme name="A000120150601A08PWBG">
      <a:majorFont>
        <a:latin typeface="华文中宋"/>
        <a:ea typeface="华文中宋"/>
        <a:cs typeface=""/>
      </a:majorFont>
      <a:minorFont>
        <a:latin typeface="幼圆"/>
        <a:ea typeface="幼圆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601A08PWBG 1">
        <a:dk1>
          <a:srgbClr val="4D4D4D"/>
        </a:dk1>
        <a:lt1>
          <a:srgbClr val="FFFFFF"/>
        </a:lt1>
        <a:dk2>
          <a:srgbClr val="4D4D4D"/>
        </a:dk2>
        <a:lt2>
          <a:srgbClr val="FFFFFF"/>
        </a:lt2>
        <a:accent1>
          <a:srgbClr val="B8650A"/>
        </a:accent1>
        <a:accent2>
          <a:srgbClr val="D37051"/>
        </a:accent2>
        <a:accent3>
          <a:srgbClr val="FFFFFF"/>
        </a:accent3>
        <a:accent4>
          <a:srgbClr val="404040"/>
        </a:accent4>
        <a:accent5>
          <a:srgbClr val="D8B8AA"/>
        </a:accent5>
        <a:accent6>
          <a:srgbClr val="BF6549"/>
        </a:accent6>
        <a:hlink>
          <a:srgbClr val="92D05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A000120150204A05PWBG">
  <a:themeElements>
    <a:clrScheme name="A000120150204A05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FFB549"/>
      </a:accent1>
      <a:accent2>
        <a:srgbClr val="ED8E2F"/>
      </a:accent2>
      <a:accent3>
        <a:srgbClr val="B6B6B6"/>
      </a:accent3>
      <a:accent4>
        <a:srgbClr val="DADADA"/>
      </a:accent4>
      <a:accent5>
        <a:srgbClr val="FFD7B1"/>
      </a:accent5>
      <a:accent6>
        <a:srgbClr val="D7802A"/>
      </a:accent6>
      <a:hlink>
        <a:srgbClr val="00B0F0"/>
      </a:hlink>
      <a:folHlink>
        <a:srgbClr val="AFB2B4"/>
      </a:folHlink>
    </a:clrScheme>
    <a:fontScheme name="A000120150204A05PWBG">
      <a:majorFont>
        <a:latin typeface="Arial"/>
        <a:ea typeface="华文中宋"/>
        <a:cs typeface=""/>
      </a:majorFont>
      <a:minorFont>
        <a:latin typeface="Arial"/>
        <a:ea typeface="华文中宋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204A05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FFB549"/>
        </a:accent1>
        <a:accent2>
          <a:srgbClr val="ED8E2F"/>
        </a:accent2>
        <a:accent3>
          <a:srgbClr val="B6B6B6"/>
        </a:accent3>
        <a:accent4>
          <a:srgbClr val="DADADA"/>
        </a:accent4>
        <a:accent5>
          <a:srgbClr val="FFD7B1"/>
        </a:accent5>
        <a:accent6>
          <a:srgbClr val="D7802A"/>
        </a:accent6>
        <a:hlink>
          <a:srgbClr val="00B0F0"/>
        </a:hlink>
        <a:folHlink>
          <a:srgbClr val="AFB2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A000120150306A04PWBG">
  <a:themeElements>
    <a:clrScheme name="A000120150306A04PWBG 1">
      <a:dk1>
        <a:srgbClr val="5F5F5F"/>
      </a:dk1>
      <a:lt1>
        <a:srgbClr val="FFFFFF"/>
      </a:lt1>
      <a:dk2>
        <a:srgbClr val="5F5F5F"/>
      </a:dk2>
      <a:lt2>
        <a:srgbClr val="FFFFFF"/>
      </a:lt2>
      <a:accent1>
        <a:srgbClr val="47B6E7"/>
      </a:accent1>
      <a:accent2>
        <a:srgbClr val="628EE3"/>
      </a:accent2>
      <a:accent3>
        <a:srgbClr val="FFFFFF"/>
      </a:accent3>
      <a:accent4>
        <a:srgbClr val="505050"/>
      </a:accent4>
      <a:accent5>
        <a:srgbClr val="B1D7F1"/>
      </a:accent5>
      <a:accent6>
        <a:srgbClr val="5880CE"/>
      </a:accent6>
      <a:hlink>
        <a:srgbClr val="00B0F0"/>
      </a:hlink>
      <a:folHlink>
        <a:srgbClr val="AFB2B4"/>
      </a:folHlink>
    </a:clrScheme>
    <a:fontScheme name="A000120150306A04PWBG">
      <a:majorFont>
        <a:latin typeface="Times New Roman"/>
        <a:ea typeface="华文中宋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A000120150306A04PWBG 1">
        <a:dk1>
          <a:srgbClr val="5F5F5F"/>
        </a:dk1>
        <a:lt1>
          <a:srgbClr val="FFFFFF"/>
        </a:lt1>
        <a:dk2>
          <a:srgbClr val="5F5F5F"/>
        </a:dk2>
        <a:lt2>
          <a:srgbClr val="FFFFFF"/>
        </a:lt2>
        <a:accent1>
          <a:srgbClr val="47B6E7"/>
        </a:accent1>
        <a:accent2>
          <a:srgbClr val="628EE3"/>
        </a:accent2>
        <a:accent3>
          <a:srgbClr val="FFFFFF"/>
        </a:accent3>
        <a:accent4>
          <a:srgbClr val="505050"/>
        </a:accent4>
        <a:accent5>
          <a:srgbClr val="B1D7F1"/>
        </a:accent5>
        <a:accent6>
          <a:srgbClr val="5880CE"/>
        </a:accent6>
        <a:hlink>
          <a:srgbClr val="00B0F0"/>
        </a:hlink>
        <a:folHlink>
          <a:srgbClr val="AFB2B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默认设计模板">
  <a:themeElements>
    <a:clrScheme name="1_默认设计模板 9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99"/>
      </a:hlink>
      <a:folHlink>
        <a:srgbClr val="336699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gradFill flip="none" rotWithShape="1">
          <a:gsLst>
            <a:gs pos="0">
              <a:srgbClr val="00B0F0">
                <a:tint val="66000"/>
                <a:satMod val="160000"/>
              </a:srgbClr>
            </a:gs>
            <a:gs pos="50000">
              <a:srgbClr val="00B0F0">
                <a:tint val="44500"/>
                <a:satMod val="160000"/>
              </a:srgbClr>
            </a:gs>
            <a:gs pos="100000">
              <a:srgbClr val="00B0F0">
                <a:tint val="23500"/>
                <a:satMod val="160000"/>
              </a:srgbClr>
            </a:gs>
          </a:gsLst>
          <a:lin ang="13500000" scaled="1"/>
          <a:tileRect/>
        </a:gradFill>
      </a:spPr>
      <a:bodyPr wrap="square" rtlCol="0">
        <a:spAutoFit/>
      </a:bodyPr>
      <a:lstStyle>
        <a:defPPr>
          <a:defRPr dirty="0"/>
        </a:defPPr>
      </a:lstStyle>
    </a:tx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000099"/>
        </a:hlink>
        <a:folHlink>
          <a:srgbClr val="33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8133</TotalTime>
  <Words>3079</Words>
  <Application>Microsoft Office PowerPoint</Application>
  <PresentationFormat>全屏显示(4:3)</PresentationFormat>
  <Paragraphs>330</Paragraphs>
  <Slides>32</Slides>
  <Notes>1</Notes>
  <HiddenSlides>2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32</vt:i4>
      </vt:variant>
    </vt:vector>
  </HeadingPairs>
  <TitlesOfParts>
    <vt:vector size="49" baseType="lpstr">
      <vt:lpstr>华文中宋</vt:lpstr>
      <vt:lpstr>楷体_GB2312</vt:lpstr>
      <vt:lpstr>宋体</vt:lpstr>
      <vt:lpstr>微软雅黑</vt:lpstr>
      <vt:lpstr>幼圆</vt:lpstr>
      <vt:lpstr>Arial</vt:lpstr>
      <vt:lpstr>Arial Black</vt:lpstr>
      <vt:lpstr>Calibri</vt:lpstr>
      <vt:lpstr>Cambria Math</vt:lpstr>
      <vt:lpstr>Times New Roman</vt:lpstr>
      <vt:lpstr>Wingdings</vt:lpstr>
      <vt:lpstr>Wingdings 2</vt:lpstr>
      <vt:lpstr>53cd865050490</vt:lpstr>
      <vt:lpstr>A000120150601A08PWBG</vt:lpstr>
      <vt:lpstr>A000120150204A05PWBG</vt:lpstr>
      <vt:lpstr>A000120150306A04PWBG</vt:lpstr>
      <vt:lpstr>1_默认设计模板</vt:lpstr>
      <vt:lpstr>计算导论与程序设计</vt:lpstr>
      <vt:lpstr>位运算的概念与分类</vt:lpstr>
      <vt:lpstr>位逻辑运算</vt:lpstr>
      <vt:lpstr>按位与运算符（&amp;）</vt:lpstr>
      <vt:lpstr>按位与运算符（&amp;）</vt:lpstr>
      <vt:lpstr>按位与运算符（&amp;）</vt:lpstr>
      <vt:lpstr>按位与运算符（&amp;）</vt:lpstr>
      <vt:lpstr>按位或运算符（|）</vt:lpstr>
      <vt:lpstr>按位或运算符（|）</vt:lpstr>
      <vt:lpstr>按位异或运算符（^）</vt:lpstr>
      <vt:lpstr>按位异或运算符（^）</vt:lpstr>
      <vt:lpstr>按位异或运算符（^）</vt:lpstr>
      <vt:lpstr>按位异或运算符（^）</vt:lpstr>
      <vt:lpstr>按位求反运算符（～）</vt:lpstr>
      <vt:lpstr>位逻辑运算符的优先级</vt:lpstr>
      <vt:lpstr>移位运算（符）：&lt;&lt; ， &gt;&gt;</vt:lpstr>
      <vt:lpstr>移位运算（符）：&lt;&lt; 和 &gt;&gt;</vt:lpstr>
      <vt:lpstr>移位运算（符）：&lt;&lt; 和 &gt;&gt;</vt:lpstr>
      <vt:lpstr>移位运算符的优先级</vt:lpstr>
      <vt:lpstr>位运算复合赋值运算符</vt:lpstr>
      <vt:lpstr>位赋值运算符的优先级</vt:lpstr>
      <vt:lpstr>位运算符的优先级</vt:lpstr>
      <vt:lpstr>位运算例</vt:lpstr>
      <vt:lpstr>课后练习：位运算举例</vt:lpstr>
      <vt:lpstr>课后练习：取一个整数a从最右端开始的4～7位</vt:lpstr>
      <vt:lpstr>课后练习：测试用例</vt:lpstr>
      <vt:lpstr>取一个整数a，从右面第m位开始取其右面n位</vt:lpstr>
      <vt:lpstr>课后练习：循环移位</vt:lpstr>
      <vt:lpstr>课后练习：循环右移</vt:lpstr>
      <vt:lpstr>课后练习：循环右移  测试用例</vt:lpstr>
      <vt:lpstr>主要内容</vt:lpstr>
      <vt:lpstr>Any  Question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han</cp:lastModifiedBy>
  <cp:revision>1519</cp:revision>
  <dcterms:created xsi:type="dcterms:W3CDTF">2013-01-25T01:44:00Z</dcterms:created>
  <dcterms:modified xsi:type="dcterms:W3CDTF">2022-12-08T01:51:30Z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2052-10.1.0.6065</vt:lpwstr>
  </property>
</Properties>
</file>