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Lst>
  <p:notesMasterIdLst>
    <p:notesMasterId r:id="rId138"/>
  </p:notesMasterIdLst>
  <p:sldIdLst>
    <p:sldId id="256" r:id="rId6"/>
    <p:sldId id="438" r:id="rId7"/>
    <p:sldId id="439" r:id="rId8"/>
    <p:sldId id="676" r:id="rId9"/>
    <p:sldId id="440" r:id="rId10"/>
    <p:sldId id="442" r:id="rId11"/>
    <p:sldId id="585" r:id="rId12"/>
    <p:sldId id="520" r:id="rId13"/>
    <p:sldId id="677" r:id="rId14"/>
    <p:sldId id="700" r:id="rId15"/>
    <p:sldId id="707" r:id="rId16"/>
    <p:sldId id="706" r:id="rId17"/>
    <p:sldId id="705" r:id="rId18"/>
    <p:sldId id="712" r:id="rId19"/>
    <p:sldId id="703" r:id="rId20"/>
    <p:sldId id="701" r:id="rId21"/>
    <p:sldId id="713" r:id="rId22"/>
    <p:sldId id="709" r:id="rId23"/>
    <p:sldId id="710" r:id="rId24"/>
    <p:sldId id="711" r:id="rId25"/>
    <p:sldId id="708" r:id="rId26"/>
    <p:sldId id="518" r:id="rId27"/>
    <p:sldId id="719" r:id="rId28"/>
    <p:sldId id="720" r:id="rId29"/>
    <p:sldId id="721" r:id="rId30"/>
    <p:sldId id="718" r:id="rId31"/>
    <p:sldId id="448" r:id="rId32"/>
    <p:sldId id="449" r:id="rId33"/>
    <p:sldId id="450" r:id="rId34"/>
    <p:sldId id="451" r:id="rId35"/>
    <p:sldId id="539" r:id="rId36"/>
    <p:sldId id="453" r:id="rId37"/>
    <p:sldId id="455" r:id="rId38"/>
    <p:sldId id="543" r:id="rId39"/>
    <p:sldId id="681" r:id="rId40"/>
    <p:sldId id="696" r:id="rId41"/>
    <p:sldId id="667" r:id="rId42"/>
    <p:sldId id="668" r:id="rId43"/>
    <p:sldId id="444" r:id="rId44"/>
    <p:sldId id="637" r:id="rId45"/>
    <p:sldId id="692" r:id="rId46"/>
    <p:sldId id="639" r:id="rId47"/>
    <p:sldId id="640" r:id="rId48"/>
    <p:sldId id="641" r:id="rId49"/>
    <p:sldId id="642" r:id="rId50"/>
    <p:sldId id="643" r:id="rId51"/>
    <p:sldId id="715" r:id="rId52"/>
    <p:sldId id="714" r:id="rId53"/>
    <p:sldId id="678" r:id="rId54"/>
    <p:sldId id="693" r:id="rId55"/>
    <p:sldId id="644" r:id="rId56"/>
    <p:sldId id="646" r:id="rId57"/>
    <p:sldId id="695" r:id="rId58"/>
    <p:sldId id="699" r:id="rId59"/>
    <p:sldId id="697" r:id="rId60"/>
    <p:sldId id="647" r:id="rId61"/>
    <p:sldId id="648" r:id="rId62"/>
    <p:sldId id="651" r:id="rId63"/>
    <p:sldId id="652" r:id="rId64"/>
    <p:sldId id="653" r:id="rId65"/>
    <p:sldId id="650" r:id="rId66"/>
    <p:sldId id="655" r:id="rId67"/>
    <p:sldId id="656" r:id="rId68"/>
    <p:sldId id="441" r:id="rId69"/>
    <p:sldId id="716" r:id="rId70"/>
    <p:sldId id="698" r:id="rId71"/>
    <p:sldId id="459" r:id="rId72"/>
    <p:sldId id="669" r:id="rId73"/>
    <p:sldId id="670" r:id="rId74"/>
    <p:sldId id="460" r:id="rId75"/>
    <p:sldId id="461" r:id="rId76"/>
    <p:sldId id="671" r:id="rId77"/>
    <p:sldId id="672" r:id="rId78"/>
    <p:sldId id="466" r:id="rId79"/>
    <p:sldId id="694" r:id="rId80"/>
    <p:sldId id="467" r:id="rId81"/>
    <p:sldId id="469" r:id="rId82"/>
    <p:sldId id="502" r:id="rId83"/>
    <p:sldId id="675" r:id="rId84"/>
    <p:sldId id="686" r:id="rId85"/>
    <p:sldId id="687" r:id="rId86"/>
    <p:sldId id="503" r:id="rId87"/>
    <p:sldId id="679" r:id="rId88"/>
    <p:sldId id="496" r:id="rId89"/>
    <p:sldId id="497" r:id="rId90"/>
    <p:sldId id="688" r:id="rId91"/>
    <p:sldId id="689" r:id="rId92"/>
    <p:sldId id="691" r:id="rId93"/>
    <p:sldId id="690" r:id="rId94"/>
    <p:sldId id="599" r:id="rId95"/>
    <p:sldId id="624" r:id="rId96"/>
    <p:sldId id="605" r:id="rId97"/>
    <p:sldId id="600" r:id="rId98"/>
    <p:sldId id="601" r:id="rId99"/>
    <p:sldId id="463" r:id="rId100"/>
    <p:sldId id="464" r:id="rId101"/>
    <p:sldId id="465" r:id="rId102"/>
    <p:sldId id="584" r:id="rId103"/>
    <p:sldId id="468" r:id="rId104"/>
    <p:sldId id="470" r:id="rId105"/>
    <p:sldId id="680" r:id="rId106"/>
    <p:sldId id="471" r:id="rId107"/>
    <p:sldId id="472" r:id="rId108"/>
    <p:sldId id="473" r:id="rId109"/>
    <p:sldId id="684" r:id="rId110"/>
    <p:sldId id="658" r:id="rId111"/>
    <p:sldId id="475" r:id="rId112"/>
    <p:sldId id="476" r:id="rId113"/>
    <p:sldId id="479" r:id="rId114"/>
    <p:sldId id="481" r:id="rId115"/>
    <p:sldId id="682" r:id="rId116"/>
    <p:sldId id="717" r:id="rId117"/>
    <p:sldId id="602" r:id="rId118"/>
    <p:sldId id="604" r:id="rId119"/>
    <p:sldId id="606" r:id="rId120"/>
    <p:sldId id="608" r:id="rId121"/>
    <p:sldId id="610" r:id="rId122"/>
    <p:sldId id="702" r:id="rId123"/>
    <p:sldId id="623" r:id="rId124"/>
    <p:sldId id="628" r:id="rId125"/>
    <p:sldId id="621" r:id="rId126"/>
    <p:sldId id="632" r:id="rId127"/>
    <p:sldId id="617" r:id="rId128"/>
    <p:sldId id="631" r:id="rId129"/>
    <p:sldId id="619" r:id="rId130"/>
    <p:sldId id="607" r:id="rId131"/>
    <p:sldId id="613" r:id="rId132"/>
    <p:sldId id="615" r:id="rId133"/>
    <p:sldId id="633" r:id="rId134"/>
    <p:sldId id="540" r:id="rId135"/>
    <p:sldId id="516" r:id="rId136"/>
    <p:sldId id="541" r:id="rId137"/>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70">
          <p15:clr>
            <a:srgbClr val="A4A3A4"/>
          </p15:clr>
        </p15:guide>
        <p15:guide id="2" pos="285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303DF"/>
    <a:srgbClr val="080808"/>
    <a:srgbClr val="000099"/>
    <a:srgbClr val="0000CC"/>
    <a:srgbClr val="DDDDDD"/>
    <a:srgbClr val="000000"/>
    <a:srgbClr val="CC33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74" autoAdjust="0"/>
    <p:restoredTop sz="94660" autoAdjust="0"/>
  </p:normalViewPr>
  <p:slideViewPr>
    <p:cSldViewPr snapToGrid="0" snapToObjects="1">
      <p:cViewPr varScale="1">
        <p:scale>
          <a:sx n="105" d="100"/>
          <a:sy n="105" d="100"/>
        </p:scale>
        <p:origin x="1674" y="102"/>
      </p:cViewPr>
      <p:guideLst>
        <p:guide orient="horz" pos="2170"/>
        <p:guide pos="2850"/>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notesMaster" Target="notesMasters/notesMaster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presProps" Target="pres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4" Type="http://schemas.openxmlformats.org/officeDocument/2006/relationships/slideMaster" Target="slideMasters/slideMaster4.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ea typeface="宋体" panose="02010600030101010101" pitchFamily="2" charset="-122"/>
              </a:defRPr>
            </a:lvl1pPr>
          </a:lstStyle>
          <a:p>
            <a:pPr>
              <a:defRPr/>
            </a:pPr>
            <a:endParaRPr lang="zh-CN" alt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ea typeface="宋体" panose="02010600030101010101" pitchFamily="2" charset="-122"/>
              </a:defRPr>
            </a:lvl1pPr>
          </a:lstStyle>
          <a:p>
            <a:pPr>
              <a:defRPr/>
            </a:pPr>
            <a:endParaRPr lang="en-US"/>
          </a:p>
        </p:txBody>
      </p:sp>
      <p:sp>
        <p:nvSpPr>
          <p:cNvPr id="9220"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ea typeface="宋体" panose="02010600030101010101" pitchFamily="2" charset="-122"/>
              </a:defRPr>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smtClean="0">
                <a:ea typeface="宋体" panose="02010600030101010101" pitchFamily="2" charset="-122"/>
              </a:defRPr>
            </a:lvl1pPr>
          </a:lstStyle>
          <a:p>
            <a:pPr>
              <a:defRPr/>
            </a:pPr>
            <a:fld id="{C77AA068-423C-4043-8EE2-1CC6D935DDF0}" type="slidenum">
              <a:rPr lang="zh-CN" altLang="en-US"/>
              <a:t>‹#›</a:t>
            </a:fld>
            <a:endParaRPr lang="en-US"/>
          </a:p>
        </p:txBody>
      </p:sp>
    </p:spTree>
    <p:extLst>
      <p:ext uri="{BB962C8B-B14F-4D97-AF65-F5344CB8AC3E}">
        <p14:creationId xmlns:p14="http://schemas.microsoft.com/office/powerpoint/2010/main" val="4450516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dt" sz="quarter" idx="1"/>
          </p:nvPr>
        </p:nvSpPr>
        <p:spPr>
          <a:noFill/>
        </p:spPr>
        <p:txBody>
          <a:bodyPr/>
          <a:lstStyle/>
          <a:p>
            <a:fld id="{D3360855-BA1B-49D5-B0CD-B5E0CC13AAD6}" type="datetime1">
              <a:rPr lang="zh-CN" altLang="en-US" smtClean="0">
                <a:latin typeface="Arial" charset="0"/>
                <a:ea typeface="宋体" charset="-122"/>
              </a:rPr>
              <a:pPr/>
              <a:t>2022/12/10</a:t>
            </a:fld>
            <a:endParaRPr lang="en-US" altLang="zh-CN">
              <a:latin typeface="Arial" charset="0"/>
              <a:ea typeface="宋体" charset="-122"/>
            </a:endParaRPr>
          </a:p>
        </p:txBody>
      </p:sp>
      <p:sp>
        <p:nvSpPr>
          <p:cNvPr id="22531" name="Rectangle 7"/>
          <p:cNvSpPr>
            <a:spLocks noGrp="1" noChangeArrowheads="1"/>
          </p:cNvSpPr>
          <p:nvPr>
            <p:ph type="sldNum" sz="quarter" idx="5"/>
          </p:nvPr>
        </p:nvSpPr>
        <p:spPr>
          <a:noFill/>
        </p:spPr>
        <p:txBody>
          <a:bodyPr/>
          <a:lstStyle/>
          <a:p>
            <a:fld id="{1DCAF334-A9C0-438B-84BC-4E279211E2CD}" type="slidenum">
              <a:rPr lang="en-US" altLang="zh-CN" smtClean="0">
                <a:latin typeface="Arial" charset="0"/>
                <a:ea typeface="宋体" charset="-122"/>
              </a:rPr>
              <a:pPr/>
              <a:t>132</a:t>
            </a:fld>
            <a:endParaRPr lang="en-US" altLang="zh-CN">
              <a:latin typeface="Arial" charset="0"/>
              <a:ea typeface="宋体" charset="-122"/>
            </a:endParaRPr>
          </a:p>
        </p:txBody>
      </p:sp>
      <p:sp>
        <p:nvSpPr>
          <p:cNvPr id="22532" name="Rectangle 2"/>
          <p:cNvSpPr>
            <a:spLocks noGrp="1" noRot="1" noChangeAspect="1" noChangeArrowheads="1" noTextEdit="1"/>
          </p:cNvSpPr>
          <p:nvPr>
            <p:ph type="sldImg"/>
          </p:nvPr>
        </p:nvSpPr>
        <p:spPr>
          <a:xfrm>
            <a:off x="1127125" y="701675"/>
            <a:ext cx="4587875" cy="3440113"/>
          </a:xfrm>
          <a:ln/>
        </p:spPr>
      </p:sp>
      <p:sp>
        <p:nvSpPr>
          <p:cNvPr id="22533" name="Rectangle 3"/>
          <p:cNvSpPr>
            <a:spLocks noGrp="1" noChangeArrowheads="1"/>
          </p:cNvSpPr>
          <p:nvPr>
            <p:ph type="body" idx="1"/>
          </p:nvPr>
        </p:nvSpPr>
        <p:spPr>
          <a:xfrm>
            <a:off x="923925" y="4352925"/>
            <a:ext cx="4995863" cy="4140200"/>
          </a:xfrm>
          <a:noFill/>
          <a:ln/>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40348828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
          <p:cNvPicPr>
            <a:picLocks noChangeAspect="1" noChangeArrowheads="1"/>
          </p:cNvPicPr>
          <p:nvPr/>
        </p:nvPicPr>
        <p:blipFill>
          <a:blip r:embed="rId2">
            <a:extLst>
              <a:ext uri="{28A0092B-C50C-407E-A947-70E740481C1C}">
                <a14:useLocalDpi xmlns:a14="http://schemas.microsoft.com/office/drawing/2010/main" val="0"/>
              </a:ext>
            </a:extLst>
          </a:blip>
          <a:srcRect l="186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KSO_BT1"/>
          <p:cNvSpPr>
            <a:spLocks noGrp="1" noChangeArrowheads="1"/>
          </p:cNvSpPr>
          <p:nvPr>
            <p:ph type="ctrTitle" hasCustomPrompt="1"/>
          </p:nvPr>
        </p:nvSpPr>
        <p:spPr>
          <a:xfrm>
            <a:off x="269875" y="2066925"/>
            <a:ext cx="5592763" cy="1384300"/>
          </a:xfrm>
        </p:spPr>
        <p:txBody>
          <a:bodyPr/>
          <a:lstStyle>
            <a:lvl1pPr algn="ctr">
              <a:defRPr sz="4200">
                <a:solidFill>
                  <a:srgbClr val="14729C"/>
                </a:solidFill>
              </a:defRPr>
            </a:lvl1pPr>
          </a:lstStyle>
          <a:p>
            <a:pPr lvl="0"/>
            <a:r>
              <a:rPr lang="zh-CN" noProof="0"/>
              <a:t>单击此处</a:t>
            </a:r>
            <a:br>
              <a:rPr lang="zh-CN" noProof="0"/>
            </a:br>
            <a:r>
              <a:rPr lang="zh-CN" noProof="0"/>
              <a:t>编辑母版标题样式</a:t>
            </a:r>
          </a:p>
        </p:txBody>
      </p:sp>
      <p:sp>
        <p:nvSpPr>
          <p:cNvPr id="2052" name="KSO_BC1"/>
          <p:cNvSpPr>
            <a:spLocks noGrp="1" noChangeArrowheads="1"/>
          </p:cNvSpPr>
          <p:nvPr>
            <p:ph type="subTitle" idx="1"/>
          </p:nvPr>
        </p:nvSpPr>
        <p:spPr>
          <a:xfrm>
            <a:off x="269875" y="3651250"/>
            <a:ext cx="5588000" cy="547688"/>
          </a:xfrm>
        </p:spPr>
        <p:txBody>
          <a:bodyPr/>
          <a:lstStyle>
            <a:lvl1pPr marL="0" indent="0" algn="ctr">
              <a:buFont typeface="Wingdings" panose="05000000000000000000" pitchFamily="2" charset="2"/>
              <a:buNone/>
              <a:defRPr>
                <a:solidFill>
                  <a:schemeClr val="folHlink"/>
                </a:solidFill>
              </a:defRPr>
            </a:lvl1pPr>
          </a:lstStyle>
          <a:p>
            <a:pPr lvl="0"/>
            <a:r>
              <a:rPr lang="zh-CN" noProof="0"/>
              <a:t>单击此处编辑母版副标题样式</a:t>
            </a:r>
          </a:p>
        </p:txBody>
      </p:sp>
      <p:sp>
        <p:nvSpPr>
          <p:cNvPr id="5" name="KSO_FD"/>
          <p:cNvSpPr>
            <a:spLocks noGrp="1" noChangeArrowheads="1"/>
          </p:cNvSpPr>
          <p:nvPr>
            <p:ph type="dt" sz="half" idx="10"/>
          </p:nvPr>
        </p:nvSpPr>
        <p:spPr>
          <a:xfrm>
            <a:off x="457200" y="6245225"/>
            <a:ext cx="2133600" cy="476250"/>
          </a:xfrm>
        </p:spPr>
        <p:txBody>
          <a:bodyPr/>
          <a:lstStyle>
            <a:lvl1pPr>
              <a:defRPr smtClean="0"/>
            </a:lvl1pPr>
          </a:lstStyle>
          <a:p>
            <a:pPr>
              <a:defRPr/>
            </a:pPr>
            <a:fld id="{901BDE14-8C80-49E0-8281-DD5E56F6F558}" type="datetime1">
              <a:rPr lang="zh-CN" altLang="en-US"/>
              <a:t>2022/12/10</a:t>
            </a:fld>
            <a:endParaRPr lang="en-US"/>
          </a:p>
        </p:txBody>
      </p:sp>
      <p:sp>
        <p:nvSpPr>
          <p:cNvPr id="6" name="KSO_FT"/>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zh-CN" altLang="en-US"/>
          </a:p>
        </p:txBody>
      </p:sp>
      <p:sp>
        <p:nvSpPr>
          <p:cNvPr id="7" name="KSO_FN"/>
          <p:cNvSpPr>
            <a:spLocks noGrp="1" noChangeArrowheads="1"/>
          </p:cNvSpPr>
          <p:nvPr>
            <p:ph type="sldNum" sz="quarter" idx="12"/>
          </p:nvPr>
        </p:nvSpPr>
        <p:spPr>
          <a:xfrm>
            <a:off x="6553200" y="6245225"/>
            <a:ext cx="2133600" cy="476250"/>
          </a:xfrm>
        </p:spPr>
        <p:txBody>
          <a:bodyPr/>
          <a:lstStyle>
            <a:lvl1pPr>
              <a:defRPr smtClean="0"/>
            </a:lvl1pPr>
          </a:lstStyle>
          <a:p>
            <a:pPr>
              <a:defRPr/>
            </a:pPr>
            <a:fld id="{F4443EEA-FBC3-4E9A-9C70-438B835BD669}" type="slidenum">
              <a:rPr lang="zh-CN" alt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446F85F4-ED83-48A5-8EDD-7FC59D045909}" type="slidenum">
              <a:rPr lang="zh-CN" alt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34FBF970-60AF-4DAF-9E35-50708D19D96E}" type="slidenum">
              <a:rPr lang="zh-CN" alt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279400" y="1054100"/>
            <a:ext cx="3811588" cy="5407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243388" y="1054100"/>
            <a:ext cx="3811587" cy="5407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AEBDED28-B741-4EF3-8A85-476A8059E05F}" type="slidenum">
              <a:rPr lang="zh-CN" alt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8" name="KSO_FT"/>
          <p:cNvSpPr>
            <a:spLocks noGrp="1" noChangeArrowheads="1"/>
          </p:cNvSpPr>
          <p:nvPr>
            <p:ph type="ftr" sz="quarter" idx="11"/>
          </p:nvPr>
        </p:nvSpPr>
        <p:spPr/>
        <p:txBody>
          <a:bodyPr/>
          <a:lstStyle>
            <a:lvl1pPr>
              <a:defRPr/>
            </a:lvl1pPr>
          </a:lstStyle>
          <a:p>
            <a:pPr>
              <a:defRPr/>
            </a:pPr>
            <a:endParaRPr lang="zh-CN" altLang="en-US"/>
          </a:p>
        </p:txBody>
      </p:sp>
      <p:sp>
        <p:nvSpPr>
          <p:cNvPr id="9" name="KSO_FN"/>
          <p:cNvSpPr>
            <a:spLocks noGrp="1" noChangeArrowheads="1"/>
          </p:cNvSpPr>
          <p:nvPr>
            <p:ph type="sldNum" sz="quarter" idx="12"/>
          </p:nvPr>
        </p:nvSpPr>
        <p:spPr/>
        <p:txBody>
          <a:bodyPr/>
          <a:lstStyle>
            <a:lvl1pPr>
              <a:defRPr/>
            </a:lvl1pPr>
          </a:lstStyle>
          <a:p>
            <a:pPr>
              <a:defRPr/>
            </a:pPr>
            <a:fld id="{6F03127B-0938-4893-96C2-5BF3E99308BA}" type="slidenum">
              <a:rPr lang="zh-CN" alt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4" name="KSO_FT"/>
          <p:cNvSpPr>
            <a:spLocks noGrp="1" noChangeArrowheads="1"/>
          </p:cNvSpPr>
          <p:nvPr>
            <p:ph type="ftr" sz="quarter" idx="11"/>
          </p:nvPr>
        </p:nvSpPr>
        <p:spPr/>
        <p:txBody>
          <a:bodyPr/>
          <a:lstStyle>
            <a:lvl1pPr>
              <a:defRPr/>
            </a:lvl1pPr>
          </a:lstStyle>
          <a:p>
            <a:pPr>
              <a:defRPr/>
            </a:pPr>
            <a:endParaRPr lang="zh-CN" altLang="en-US"/>
          </a:p>
        </p:txBody>
      </p:sp>
      <p:sp>
        <p:nvSpPr>
          <p:cNvPr id="5" name="KSO_FN"/>
          <p:cNvSpPr>
            <a:spLocks noGrp="1" noChangeArrowheads="1"/>
          </p:cNvSpPr>
          <p:nvPr>
            <p:ph type="sldNum" sz="quarter" idx="12"/>
          </p:nvPr>
        </p:nvSpPr>
        <p:spPr/>
        <p:txBody>
          <a:bodyPr/>
          <a:lstStyle>
            <a:lvl1pPr>
              <a:defRPr/>
            </a:lvl1pPr>
          </a:lstStyle>
          <a:p>
            <a:pPr>
              <a:defRPr/>
            </a:pPr>
            <a:fld id="{DAC73F5A-A092-4D93-92E7-775B571A6B0D}" type="slidenum">
              <a:rPr lang="zh-CN" alt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3" name="KSO_FT"/>
          <p:cNvSpPr>
            <a:spLocks noGrp="1" noChangeArrowheads="1"/>
          </p:cNvSpPr>
          <p:nvPr>
            <p:ph type="ftr" sz="quarter" idx="11"/>
          </p:nvPr>
        </p:nvSpPr>
        <p:spPr/>
        <p:txBody>
          <a:bodyPr/>
          <a:lstStyle>
            <a:lvl1pPr>
              <a:defRPr/>
            </a:lvl1pPr>
          </a:lstStyle>
          <a:p>
            <a:pPr>
              <a:defRPr/>
            </a:pPr>
            <a:endParaRPr lang="zh-CN" altLang="en-US"/>
          </a:p>
        </p:txBody>
      </p:sp>
      <p:sp>
        <p:nvSpPr>
          <p:cNvPr id="4" name="KSO_FN"/>
          <p:cNvSpPr>
            <a:spLocks noGrp="1" noChangeArrowheads="1"/>
          </p:cNvSpPr>
          <p:nvPr>
            <p:ph type="sldNum" sz="quarter" idx="12"/>
          </p:nvPr>
        </p:nvSpPr>
        <p:spPr/>
        <p:txBody>
          <a:bodyPr/>
          <a:lstStyle>
            <a:lvl1pPr>
              <a:defRPr/>
            </a:lvl1pPr>
          </a:lstStyle>
          <a:p>
            <a:pPr>
              <a:defRPr/>
            </a:pPr>
            <a:fld id="{B6A47056-C575-41A5-9FC0-1A2A3B26D7C5}" type="slidenum">
              <a:rPr lang="zh-CN" alt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5F96A6E2-01AE-4F33-B1C1-84244AF65CD8}" type="slidenum">
              <a:rPr lang="zh-CN" alt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ED40B0EB-A491-48EF-BEE0-B90804C1504C}" type="slidenum">
              <a:rPr lang="zh-CN" alt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F8414B56-E0FF-497B-B381-78CDFF87AB44}" type="slidenum">
              <a:rPr lang="zh-CN" alt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111875" y="196850"/>
            <a:ext cx="1943100" cy="62642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279400" y="196850"/>
            <a:ext cx="5680075" cy="62642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B22B9AB2-7367-4ECF-93B6-6B5F052EDA19}" type="slidenum">
              <a:rPr lang="zh-CN" alt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5" descr="未标题-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KSO_BC1"/>
          <p:cNvSpPr>
            <a:spLocks noGrp="1" noChangeArrowheads="1"/>
          </p:cNvSpPr>
          <p:nvPr>
            <p:ph type="subTitle" idx="1"/>
          </p:nvPr>
        </p:nvSpPr>
        <p:spPr>
          <a:xfrm>
            <a:off x="2790825" y="2152650"/>
            <a:ext cx="5870575" cy="496888"/>
          </a:xfrm>
        </p:spPr>
        <p:txBody>
          <a:bodyPr/>
          <a:lstStyle>
            <a:lvl1pPr marL="0" indent="0" algn="r">
              <a:buFont typeface="Wingdings" panose="05000000000000000000" pitchFamily="2" charset="2"/>
              <a:buNone/>
              <a:defRPr sz="2000">
                <a:solidFill>
                  <a:srgbClr val="6C6F72"/>
                </a:solidFill>
              </a:defRPr>
            </a:lvl1pPr>
          </a:lstStyle>
          <a:p>
            <a:pPr lvl="0"/>
            <a:r>
              <a:rPr lang="zh-CN" noProof="0"/>
              <a:t>单击此处编辑母版副标题样式</a:t>
            </a:r>
          </a:p>
        </p:txBody>
      </p:sp>
      <p:sp>
        <p:nvSpPr>
          <p:cNvPr id="4103" name="KSO_BT1"/>
          <p:cNvSpPr>
            <a:spLocks noGrp="1" noChangeArrowheads="1"/>
          </p:cNvSpPr>
          <p:nvPr>
            <p:ph type="ctrTitle"/>
          </p:nvPr>
        </p:nvSpPr>
        <p:spPr>
          <a:xfrm>
            <a:off x="2787650" y="1258888"/>
            <a:ext cx="5884863" cy="863600"/>
          </a:xfrm>
        </p:spPr>
        <p:txBody>
          <a:bodyPr/>
          <a:lstStyle>
            <a:lvl1pPr algn="r">
              <a:defRPr/>
            </a:lvl1pPr>
          </a:lstStyle>
          <a:p>
            <a:pPr lvl="0"/>
            <a:r>
              <a:rPr lang="zh-CN" noProof="0"/>
              <a:t>单击此处编辑母版标题样式</a:t>
            </a:r>
          </a:p>
        </p:txBody>
      </p:sp>
      <p:sp>
        <p:nvSpPr>
          <p:cNvPr id="5" name="KSO_FD"/>
          <p:cNvSpPr>
            <a:spLocks noGrp="1" noChangeArrowheads="1"/>
          </p:cNvSpPr>
          <p:nvPr>
            <p:ph type="dt" sz="half" idx="10"/>
          </p:nvPr>
        </p:nvSpPr>
        <p:spPr>
          <a:xfrm>
            <a:off x="457200" y="6245225"/>
            <a:ext cx="2133600" cy="476250"/>
          </a:xfrm>
        </p:spPr>
        <p:txBody>
          <a:bodyPr/>
          <a:lstStyle>
            <a:lvl1pPr>
              <a:defRPr smtClean="0"/>
            </a:lvl1pPr>
          </a:lstStyle>
          <a:p>
            <a:pPr>
              <a:defRPr/>
            </a:pPr>
            <a:fld id="{2D5EB33F-0483-43C6-847F-6D3BDF8997C4}" type="datetime1">
              <a:rPr lang="zh-CN" altLang="en-US"/>
              <a:t>2022/12/10</a:t>
            </a:fld>
            <a:endParaRPr lang="en-US"/>
          </a:p>
        </p:txBody>
      </p:sp>
      <p:sp>
        <p:nvSpPr>
          <p:cNvPr id="6" name="KSO_FT"/>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7" name="KSO_FN"/>
          <p:cNvSpPr>
            <a:spLocks noGrp="1" noChangeArrowheads="1"/>
          </p:cNvSpPr>
          <p:nvPr>
            <p:ph type="sldNum" sz="quarter" idx="12"/>
          </p:nvPr>
        </p:nvSpPr>
        <p:spPr>
          <a:xfrm>
            <a:off x="6553200" y="6245225"/>
            <a:ext cx="2133600" cy="476250"/>
          </a:xfrm>
        </p:spPr>
        <p:txBody>
          <a:bodyPr/>
          <a:lstStyle>
            <a:lvl1pPr>
              <a:defRPr smtClean="0"/>
            </a:lvl1pPr>
          </a:lstStyle>
          <a:p>
            <a:pPr>
              <a:defRPr/>
            </a:pPr>
            <a:fld id="{AA24BC01-715A-404A-AF8C-083EFE472DA9}" type="slidenum">
              <a:rPr lang="zh-CN" alt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2292F74B-3F9D-4EC0-BB27-2C8E829D834A}" type="slidenum">
              <a:rPr lang="zh-CN" alt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6C6C4A8C-293A-4006-9D11-27F066922CDA}" type="slidenum">
              <a:rPr lang="zh-CN" alt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47675" y="1133475"/>
            <a:ext cx="4030663" cy="51006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30738" y="1133475"/>
            <a:ext cx="4032250" cy="51006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18B30462-3FE9-4AC9-87A4-B13B8F51DDE4}" type="slidenum">
              <a:rPr lang="zh-CN" alt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8" name="KSO_FT"/>
          <p:cNvSpPr>
            <a:spLocks noGrp="1" noChangeArrowheads="1"/>
          </p:cNvSpPr>
          <p:nvPr>
            <p:ph type="ftr" sz="quarter" idx="11"/>
          </p:nvPr>
        </p:nvSpPr>
        <p:spPr/>
        <p:txBody>
          <a:bodyPr/>
          <a:lstStyle>
            <a:lvl1pPr>
              <a:defRPr/>
            </a:lvl1pPr>
          </a:lstStyle>
          <a:p>
            <a:pPr>
              <a:defRPr/>
            </a:pPr>
            <a:endParaRPr lang="en-US"/>
          </a:p>
        </p:txBody>
      </p:sp>
      <p:sp>
        <p:nvSpPr>
          <p:cNvPr id="9" name="KSO_FN"/>
          <p:cNvSpPr>
            <a:spLocks noGrp="1" noChangeArrowheads="1"/>
          </p:cNvSpPr>
          <p:nvPr>
            <p:ph type="sldNum" sz="quarter" idx="12"/>
          </p:nvPr>
        </p:nvSpPr>
        <p:spPr/>
        <p:txBody>
          <a:bodyPr/>
          <a:lstStyle>
            <a:lvl1pPr>
              <a:defRPr/>
            </a:lvl1pPr>
          </a:lstStyle>
          <a:p>
            <a:pPr>
              <a:defRPr/>
            </a:pPr>
            <a:fld id="{15D057C7-BE4D-4CC7-9A6F-784CBE1E4408}" type="slidenum">
              <a:rPr lang="zh-CN" alt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4" name="KSO_FT"/>
          <p:cNvSpPr>
            <a:spLocks noGrp="1" noChangeArrowheads="1"/>
          </p:cNvSpPr>
          <p:nvPr>
            <p:ph type="ftr" sz="quarter" idx="11"/>
          </p:nvPr>
        </p:nvSpPr>
        <p:spPr/>
        <p:txBody>
          <a:bodyPr/>
          <a:lstStyle>
            <a:lvl1pPr>
              <a:defRPr/>
            </a:lvl1pPr>
          </a:lstStyle>
          <a:p>
            <a:pPr>
              <a:defRPr/>
            </a:pPr>
            <a:endParaRPr lang="en-US"/>
          </a:p>
        </p:txBody>
      </p:sp>
      <p:sp>
        <p:nvSpPr>
          <p:cNvPr id="5" name="KSO_FN"/>
          <p:cNvSpPr>
            <a:spLocks noGrp="1" noChangeArrowheads="1"/>
          </p:cNvSpPr>
          <p:nvPr>
            <p:ph type="sldNum" sz="quarter" idx="12"/>
          </p:nvPr>
        </p:nvSpPr>
        <p:spPr/>
        <p:txBody>
          <a:bodyPr/>
          <a:lstStyle>
            <a:lvl1pPr>
              <a:defRPr/>
            </a:lvl1pPr>
          </a:lstStyle>
          <a:p>
            <a:pPr>
              <a:defRPr/>
            </a:pPr>
            <a:fld id="{2A3111F1-C7D5-4B5F-82C4-FED058A43FED}" type="slidenum">
              <a:rPr lang="zh-CN" alt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3" name="KSO_FT"/>
          <p:cNvSpPr>
            <a:spLocks noGrp="1" noChangeArrowheads="1"/>
          </p:cNvSpPr>
          <p:nvPr>
            <p:ph type="ftr" sz="quarter" idx="11"/>
          </p:nvPr>
        </p:nvSpPr>
        <p:spPr/>
        <p:txBody>
          <a:bodyPr/>
          <a:lstStyle>
            <a:lvl1pPr>
              <a:defRPr/>
            </a:lvl1pPr>
          </a:lstStyle>
          <a:p>
            <a:pPr>
              <a:defRPr/>
            </a:pPr>
            <a:endParaRPr lang="en-US"/>
          </a:p>
        </p:txBody>
      </p:sp>
      <p:sp>
        <p:nvSpPr>
          <p:cNvPr id="4" name="KSO_FN"/>
          <p:cNvSpPr>
            <a:spLocks noGrp="1" noChangeArrowheads="1"/>
          </p:cNvSpPr>
          <p:nvPr>
            <p:ph type="sldNum" sz="quarter" idx="12"/>
          </p:nvPr>
        </p:nvSpPr>
        <p:spPr/>
        <p:txBody>
          <a:bodyPr/>
          <a:lstStyle>
            <a:lvl1pPr>
              <a:defRPr/>
            </a:lvl1pPr>
          </a:lstStyle>
          <a:p>
            <a:pPr>
              <a:defRPr/>
            </a:pPr>
            <a:fld id="{CB8CF258-373D-47B5-9224-E86B2421108D}" type="slidenum">
              <a:rPr lang="zh-CN" alt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2B98A255-05C8-4069-A9CB-54077EFAD056}" type="slidenum">
              <a:rPr lang="zh-CN" alt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91A91975-133D-44B7-B5F6-02DDCE1C6857}" type="slidenum">
              <a:rPr lang="zh-CN" alt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8C20D0EE-11E1-4E01-A713-4C0B04358260}" type="slidenum">
              <a:rPr lang="zh-CN" alt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14313"/>
            <a:ext cx="2052638" cy="60198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7675" y="214313"/>
            <a:ext cx="6010275" cy="60198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2022/12/10</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29E740C7-CC37-4ABD-A9FF-809B75CEBA06}" type="slidenum">
              <a:rPr lang="zh-CN" alt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
          <p:cNvPicPr>
            <a:picLocks noChangeAspect="1" noChangeArrowheads="1"/>
          </p:cNvPicPr>
          <p:nvPr/>
        </p:nvPicPr>
        <p:blipFill>
          <a:blip r:embed="rId2">
            <a:extLst>
              <a:ext uri="{28A0092B-C50C-407E-A947-70E740481C1C}">
                <a14:useLocalDpi xmlns:a14="http://schemas.microsoft.com/office/drawing/2010/main" val="0"/>
              </a:ext>
            </a:extLst>
          </a:blip>
          <a:srcRect l="7103" r="11725"/>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流程图: 数据 4"/>
          <p:cNvSpPr>
            <a:spLocks noChangeArrowheads="1"/>
          </p:cNvSpPr>
          <p:nvPr/>
        </p:nvSpPr>
        <p:spPr bwMode="auto">
          <a:xfrm>
            <a:off x="2857500" y="0"/>
            <a:ext cx="6286500" cy="6858000"/>
          </a:xfrm>
          <a:prstGeom prst="flowChartInputOutput">
            <a:avLst/>
          </a:prstGeom>
          <a:solidFill>
            <a:srgbClr val="FDD762">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5F5F5F"/>
              </a:solidFill>
            </a:endParaRPr>
          </a:p>
        </p:txBody>
      </p:sp>
      <p:pic>
        <p:nvPicPr>
          <p:cNvPr id="6"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875" y="1300163"/>
            <a:ext cx="407035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Placeholder 2"/>
          <p:cNvSpPr>
            <a:spLocks noGrp="1" noChangeArrowheads="1"/>
          </p:cNvSpPr>
          <p:nvPr>
            <p:ph type="subTitle" idx="1"/>
          </p:nvPr>
        </p:nvSpPr>
        <p:spPr>
          <a:xfrm>
            <a:off x="3417888" y="5014913"/>
            <a:ext cx="4735512" cy="547687"/>
          </a:xfrm>
        </p:spPr>
        <p:txBody>
          <a:bodyPr/>
          <a:lstStyle>
            <a:lvl1pPr marL="0" indent="0" algn="ctr">
              <a:buFont typeface="Wingdings 2" panose="05020102010507070707" pitchFamily="18" charset="2"/>
              <a:buNone/>
              <a:defRPr>
                <a:solidFill>
                  <a:srgbClr val="FFFFFF"/>
                </a:solidFill>
              </a:defRPr>
            </a:lvl1pPr>
          </a:lstStyle>
          <a:p>
            <a:pPr lvl="0"/>
            <a:r>
              <a:rPr lang="zh-CN" noProof="0"/>
              <a:t>单击此处编辑母版副标题样式</a:t>
            </a:r>
          </a:p>
        </p:txBody>
      </p:sp>
      <p:sp>
        <p:nvSpPr>
          <p:cNvPr id="6153" name="Title Placeholder 1"/>
          <p:cNvSpPr>
            <a:spLocks noGrp="1" noChangeArrowheads="1"/>
          </p:cNvSpPr>
          <p:nvPr>
            <p:ph type="ctrTitle"/>
          </p:nvPr>
        </p:nvSpPr>
        <p:spPr>
          <a:xfrm>
            <a:off x="3408363" y="3463925"/>
            <a:ext cx="4737100" cy="1470025"/>
          </a:xfrm>
        </p:spPr>
        <p:txBody>
          <a:bodyPr/>
          <a:lstStyle>
            <a:lvl1pPr algn="ctr">
              <a:defRPr sz="3200"/>
            </a:lvl1pPr>
          </a:lstStyle>
          <a:p>
            <a:pPr lvl="0"/>
            <a:r>
              <a:rPr lang="zh-CN" noProof="0"/>
              <a:t>单击此处编辑母版标题样式</a:t>
            </a:r>
          </a:p>
        </p:txBody>
      </p:sp>
      <p:sp>
        <p:nvSpPr>
          <p:cNvPr id="7" name="Date Placeholder 3"/>
          <p:cNvSpPr>
            <a:spLocks noGrp="1" noChangeArrowheads="1"/>
          </p:cNvSpPr>
          <p:nvPr>
            <p:ph type="dt" sz="half" idx="10"/>
          </p:nvPr>
        </p:nvSpPr>
        <p:spPr>
          <a:xfrm>
            <a:off x="457200" y="6245225"/>
            <a:ext cx="2133600" cy="476250"/>
          </a:xfrm>
        </p:spPr>
        <p:txBody>
          <a:bodyPr/>
          <a:lstStyle>
            <a:lvl1pPr>
              <a:defRPr smtClean="0"/>
            </a:lvl1pPr>
          </a:lstStyle>
          <a:p>
            <a:pPr>
              <a:defRPr/>
            </a:pPr>
            <a:fld id="{30493455-07EA-47DB-90C0-E7E423CB59B6}" type="datetime1">
              <a:rPr lang="zh-CN" altLang="en-US"/>
              <a:t>2022/12/10</a:t>
            </a:fld>
            <a:endParaRPr lang="en-US"/>
          </a:p>
        </p:txBody>
      </p:sp>
      <p:sp>
        <p:nvSpPr>
          <p:cNvPr id="8" name="Footer Placeholder 4"/>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9" name="Slide Number Placeholder 5"/>
          <p:cNvSpPr>
            <a:spLocks noGrp="1" noChangeArrowheads="1"/>
          </p:cNvSpPr>
          <p:nvPr>
            <p:ph type="sldNum" sz="quarter" idx="12"/>
          </p:nvPr>
        </p:nvSpPr>
        <p:spPr>
          <a:xfrm>
            <a:off x="6553200" y="6245225"/>
            <a:ext cx="2133600" cy="476250"/>
          </a:xfrm>
        </p:spPr>
        <p:txBody>
          <a:bodyPr/>
          <a:lstStyle>
            <a:lvl1pPr>
              <a:defRPr smtClean="0"/>
            </a:lvl1pPr>
          </a:lstStyle>
          <a:p>
            <a:pPr>
              <a:defRPr/>
            </a:pPr>
            <a:fld id="{C338A0BD-2BD5-4CDD-949A-399040E1F361}" type="slidenum">
              <a:rPr lang="zh-CN" altLang="en-US"/>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B4C3199-1AFA-4954-9CC4-12638459641E}" type="slidenum">
              <a:rPr lang="zh-CN" altLang="en-US"/>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214791B2-E5C4-4716-B26B-E0118C8D48EA}" type="slidenum">
              <a:rPr lang="zh-CN" altLang="en-US"/>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476375"/>
            <a:ext cx="3927475" cy="48799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13" y="1476375"/>
            <a:ext cx="3929062" cy="48799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AA8A6133-FFB4-4B05-84EA-663E62FDFBC4}" type="slidenum">
              <a:rPr lang="zh-CN" altLang="en-US"/>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p:txBody>
          <a:bodyPr/>
          <a:lstStyle>
            <a:lvl1pPr>
              <a:defRPr/>
            </a:lvl1pPr>
          </a:lstStyle>
          <a:p>
            <a:pPr>
              <a:defRPr/>
            </a:pPr>
            <a:fld id="{4E227019-1451-45BD-B61C-7AF55C70AA45}" type="slidenum">
              <a:rPr lang="zh-CN" altLang="en-US"/>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p:txBody>
          <a:bodyPr/>
          <a:lstStyle>
            <a:lvl1pPr>
              <a:defRPr/>
            </a:lvl1pPr>
          </a:lstStyle>
          <a:p>
            <a:pPr>
              <a:defRPr/>
            </a:pPr>
            <a:fld id="{A776A8A5-509F-4FF4-914B-DE7911A9FDCE}" type="slidenum">
              <a:rPr lang="zh-CN" altLang="en-US"/>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p:txBody>
          <a:bodyPr/>
          <a:lstStyle>
            <a:lvl1pPr>
              <a:defRPr/>
            </a:lvl1pPr>
          </a:lstStyle>
          <a:p>
            <a:pPr>
              <a:defRPr/>
            </a:pPr>
            <a:fld id="{2540D63B-70E4-448C-A960-B7BCA42D5432}" type="slidenum">
              <a:rPr lang="zh-CN" altLang="en-US"/>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7353BC4C-21CF-455E-B095-424B494E974E}" type="slidenum">
              <a:rPr lang="zh-CN" altLang="en-US"/>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E1D8D181-3281-4E13-887C-32993C8F81F6}" type="slidenum">
              <a:rPr lang="zh-CN" altLang="en-US"/>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FBF84EC5-1729-4024-A363-B97A4567CA7F}" type="slidenum">
              <a:rPr lang="zh-CN" altLang="en-US"/>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68300"/>
            <a:ext cx="2001837" cy="59880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68300"/>
            <a:ext cx="5854700" cy="59880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1CA0E7CA-17FA-457E-94D8-9BF9C6220184}" type="slidenum">
              <a:rPr lang="zh-CN" altLang="en-US"/>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矩形 12"/>
          <p:cNvGrpSpPr/>
          <p:nvPr userDrawn="1"/>
        </p:nvGrpSpPr>
        <p:grpSpPr bwMode="auto">
          <a:xfrm>
            <a:off x="0" y="0"/>
            <a:ext cx="9150350" cy="6888163"/>
            <a:chOff x="0" y="0"/>
            <a:chExt cx="5764" cy="4339"/>
          </a:xfrm>
        </p:grpSpPr>
        <p:pic>
          <p:nvPicPr>
            <p:cNvPr id="5" name="矩形 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764" cy="4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0" y="0"/>
              <a:ext cx="5762" cy="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FFFFFF"/>
                </a:solidFill>
              </a:endParaRPr>
            </a:p>
          </p:txBody>
        </p:sp>
      </p:grpSp>
      <p:grpSp>
        <p:nvGrpSpPr>
          <p:cNvPr id="7" name="组合 13"/>
          <p:cNvGrpSpPr/>
          <p:nvPr userDrawn="1"/>
        </p:nvGrpSpPr>
        <p:grpSpPr bwMode="auto">
          <a:xfrm>
            <a:off x="0" y="263525"/>
            <a:ext cx="9144000" cy="4676775"/>
            <a:chOff x="0" y="0"/>
            <a:chExt cx="12192000" cy="4677534"/>
          </a:xfrm>
        </p:grpSpPr>
        <p:grpSp>
          <p:nvGrpSpPr>
            <p:cNvPr id="8" name="Freeform 5"/>
            <p:cNvGrpSpPr/>
            <p:nvPr userDrawn="1"/>
          </p:nvGrpSpPr>
          <p:grpSpPr bwMode="auto">
            <a:xfrm>
              <a:off x="0" y="-1059"/>
              <a:ext cx="12200128" cy="2353056"/>
              <a:chOff x="0" y="0"/>
              <a:chExt cx="9150096" cy="2353056"/>
            </a:xfrm>
          </p:grpSpPr>
          <p:pic>
            <p:nvPicPr>
              <p:cNvPr id="17" name="Freeform 5"/>
              <p:cNvPicPr>
                <a:picLocks noEditPoints="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50096" cy="2353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8"/>
              <p:cNvSpPr txBox="1">
                <a:spLocks noChangeArrowheads="1"/>
              </p:cNvSpPr>
              <p:nvPr/>
            </p:nvSpPr>
            <p:spPr bwMode="auto">
              <a:xfrm>
                <a:off x="0" y="1059"/>
                <a:ext cx="9144000" cy="2353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grpSp>
        <p:sp>
          <p:nvSpPr>
            <p:cNvPr id="9" name="矩形 15"/>
            <p:cNvSpPr>
              <a:spLocks noChangeArrowheads="1"/>
            </p:cNvSpPr>
            <p:nvPr/>
          </p:nvSpPr>
          <p:spPr bwMode="auto">
            <a:xfrm>
              <a:off x="0" y="2362583"/>
              <a:ext cx="12192000" cy="1714778"/>
            </a:xfrm>
            <a:prstGeom prst="rect">
              <a:avLst/>
            </a:prstGeom>
            <a:solidFill>
              <a:srgbClr val="28A9D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10" name="直接连接符 16"/>
            <p:cNvCxnSpPr>
              <a:cxnSpLocks noChangeShapeType="1"/>
            </p:cNvCxnSpPr>
            <p:nvPr/>
          </p:nvCxnSpPr>
          <p:spPr bwMode="auto">
            <a:xfrm>
              <a:off x="0" y="4110425"/>
              <a:ext cx="12192000" cy="0"/>
            </a:xfrm>
            <a:prstGeom prst="line">
              <a:avLst/>
            </a:prstGeom>
            <a:noFill/>
            <a:ln w="19050">
              <a:solidFill>
                <a:srgbClr val="28A9D6"/>
              </a:solidFill>
              <a:round/>
            </a:ln>
            <a:extLst>
              <a:ext uri="{909E8E84-426E-40DD-AFC4-6F175D3DCCD1}">
                <a14:hiddenFill xmlns:a14="http://schemas.microsoft.com/office/drawing/2010/main">
                  <a:noFill/>
                </a14:hiddenFill>
              </a:ext>
            </a:extLst>
          </p:spPr>
        </p:cxnSp>
        <p:cxnSp>
          <p:nvCxnSpPr>
            <p:cNvPr id="11" name="直接连接符 17"/>
            <p:cNvCxnSpPr>
              <a:cxnSpLocks noChangeShapeType="1"/>
            </p:cNvCxnSpPr>
            <p:nvPr/>
          </p:nvCxnSpPr>
          <p:spPr bwMode="auto">
            <a:xfrm>
              <a:off x="0" y="4532288"/>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2" name="直接连接符 18"/>
            <p:cNvCxnSpPr>
              <a:cxnSpLocks noChangeShapeType="1"/>
            </p:cNvCxnSpPr>
            <p:nvPr/>
          </p:nvCxnSpPr>
          <p:spPr bwMode="auto">
            <a:xfrm>
              <a:off x="0" y="4598574"/>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3" name="直接连接符 19"/>
            <p:cNvCxnSpPr>
              <a:cxnSpLocks noChangeShapeType="1"/>
            </p:cNvCxnSpPr>
            <p:nvPr/>
          </p:nvCxnSpPr>
          <p:spPr bwMode="auto">
            <a:xfrm>
              <a:off x="0" y="4664860"/>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4" name="直接连接符 20"/>
            <p:cNvCxnSpPr>
              <a:cxnSpLocks noChangeShapeType="1"/>
            </p:cNvCxnSpPr>
            <p:nvPr/>
          </p:nvCxnSpPr>
          <p:spPr bwMode="auto">
            <a:xfrm>
              <a:off x="7872000" y="4532288"/>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5" name="直接连接符 21"/>
            <p:cNvCxnSpPr>
              <a:cxnSpLocks noChangeShapeType="1"/>
            </p:cNvCxnSpPr>
            <p:nvPr/>
          </p:nvCxnSpPr>
          <p:spPr bwMode="auto">
            <a:xfrm>
              <a:off x="7872000" y="4598574"/>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6" name="直接连接符 22"/>
            <p:cNvCxnSpPr>
              <a:cxnSpLocks noChangeShapeType="1"/>
            </p:cNvCxnSpPr>
            <p:nvPr/>
          </p:nvCxnSpPr>
          <p:spPr bwMode="auto">
            <a:xfrm>
              <a:off x="7872000" y="4664860"/>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grpSp>
      <p:sp>
        <p:nvSpPr>
          <p:cNvPr id="8209" name="Text Placeholder 2"/>
          <p:cNvSpPr>
            <a:spLocks noGrp="1" noChangeArrowheads="1"/>
          </p:cNvSpPr>
          <p:nvPr>
            <p:ph type="subTitle" idx="1"/>
          </p:nvPr>
        </p:nvSpPr>
        <p:spPr>
          <a:xfrm>
            <a:off x="3228975" y="4695825"/>
            <a:ext cx="2628900" cy="466725"/>
          </a:xfrm>
        </p:spPr>
        <p:txBody>
          <a:bodyPr/>
          <a:lstStyle>
            <a:lvl1pPr algn="ctr">
              <a:buFont typeface="Wingdings 2" panose="05020102010507070707" pitchFamily="18" charset="2"/>
              <a:buNone/>
              <a:defRPr sz="1600"/>
            </a:lvl1pPr>
          </a:lstStyle>
          <a:p>
            <a:pPr lvl="0"/>
            <a:r>
              <a:rPr lang="zh-CN" noProof="0">
                <a:sym typeface="Arial" panose="020B0604020202020204" pitchFamily="34" charset="0"/>
              </a:rPr>
              <a:t>单击此处编辑母版副标题样式</a:t>
            </a:r>
          </a:p>
        </p:txBody>
      </p:sp>
      <p:sp>
        <p:nvSpPr>
          <p:cNvPr id="8213" name="Title Placeholder 1"/>
          <p:cNvSpPr>
            <a:spLocks noGrp="1" noChangeArrowheads="1"/>
          </p:cNvSpPr>
          <p:nvPr>
            <p:ph type="ctrTitle"/>
          </p:nvPr>
        </p:nvSpPr>
        <p:spPr>
          <a:xfrm>
            <a:off x="714375" y="3140075"/>
            <a:ext cx="7772400" cy="717550"/>
          </a:xfrm>
        </p:spPr>
        <p:txBody>
          <a:bodyPr/>
          <a:lstStyle>
            <a:lvl1pPr algn="ctr">
              <a:defRPr sz="3600">
                <a:solidFill>
                  <a:schemeClr val="bg1"/>
                </a:solidFill>
              </a:defRPr>
            </a:lvl1pPr>
          </a:lstStyle>
          <a:p>
            <a:pPr lvl="0"/>
            <a:r>
              <a:rPr lang="zh-CN" noProof="0"/>
              <a:t>单击此处编辑母版标题样式</a:t>
            </a:r>
          </a:p>
        </p:txBody>
      </p:sp>
      <p:sp>
        <p:nvSpPr>
          <p:cNvPr id="19" name="Date Placeholder 3"/>
          <p:cNvSpPr>
            <a:spLocks noGrp="1" noChangeArrowheads="1"/>
          </p:cNvSpPr>
          <p:nvPr>
            <p:ph type="dt" sz="half" idx="10"/>
          </p:nvPr>
        </p:nvSpPr>
        <p:spPr>
          <a:xfrm>
            <a:off x="457200" y="6245225"/>
            <a:ext cx="2133600" cy="476250"/>
          </a:xfrm>
        </p:spPr>
        <p:txBody>
          <a:bodyPr/>
          <a:lstStyle>
            <a:lvl1pPr>
              <a:defRPr smtClean="0"/>
            </a:lvl1pPr>
          </a:lstStyle>
          <a:p>
            <a:pPr>
              <a:defRPr/>
            </a:pPr>
            <a:fld id="{7E9B9122-6204-415B-9B63-767BCB80D292}" type="datetime1">
              <a:rPr lang="zh-CN" altLang="en-US"/>
              <a:t>2022/12/10</a:t>
            </a:fld>
            <a:endParaRPr lang="en-US"/>
          </a:p>
        </p:txBody>
      </p:sp>
      <p:sp>
        <p:nvSpPr>
          <p:cNvPr id="20" name="Footer Placeholder 4"/>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21" name="Slide Number Placeholder 5"/>
          <p:cNvSpPr>
            <a:spLocks noGrp="1" noChangeArrowheads="1"/>
          </p:cNvSpPr>
          <p:nvPr>
            <p:ph type="sldNum" sz="quarter" idx="12"/>
          </p:nvPr>
        </p:nvSpPr>
        <p:spPr>
          <a:xfrm>
            <a:off x="6553200" y="6245225"/>
            <a:ext cx="2133600" cy="476250"/>
          </a:xfrm>
        </p:spPr>
        <p:txBody>
          <a:bodyPr/>
          <a:lstStyle>
            <a:lvl1pPr>
              <a:defRPr smtClean="0"/>
            </a:lvl1pPr>
          </a:lstStyle>
          <a:p>
            <a:pPr>
              <a:defRPr/>
            </a:pPr>
            <a:fld id="{70250EEA-FF4E-41D5-AF69-6EEADFA6D3D0}" type="slidenum">
              <a:rPr lang="zh-CN" altLang="en-US"/>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3C989441-A55F-43EA-A8B0-412ADF2DBC66}" type="slidenum">
              <a:rPr lang="zh-CN" altLang="en-US"/>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C364DB7A-EFF0-4FC6-B595-90C219780068}" type="slidenum">
              <a:rPr lang="zh-CN" altLang="en-US"/>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85775" y="1135063"/>
            <a:ext cx="3968750" cy="534511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06925" y="1135063"/>
            <a:ext cx="3968750" cy="534511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029D5673-5430-4CAF-80D3-E7AE5060CFAF}" type="slidenum">
              <a:rPr lang="zh-CN" altLang="en-US"/>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p:txBody>
          <a:bodyPr/>
          <a:lstStyle>
            <a:lvl1pPr>
              <a:defRPr/>
            </a:lvl1pPr>
          </a:lstStyle>
          <a:p>
            <a:pPr>
              <a:defRPr/>
            </a:pPr>
            <a:fld id="{7B25A6FA-2176-4BCE-AD9F-89675A8CFB56}" type="slidenum">
              <a:rPr lang="zh-CN" altLang="en-US"/>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p:txBody>
          <a:bodyPr/>
          <a:lstStyle>
            <a:lvl1pPr>
              <a:defRPr/>
            </a:lvl1pPr>
          </a:lstStyle>
          <a:p>
            <a:pPr>
              <a:defRPr/>
            </a:pPr>
            <a:fld id="{EA1250DC-0878-4B08-A8DF-B0618002FCC3}" type="slidenum">
              <a:rPr lang="zh-CN" altLang="en-US"/>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p:txBody>
          <a:bodyPr/>
          <a:lstStyle>
            <a:lvl1pPr>
              <a:defRPr/>
            </a:lvl1pPr>
          </a:lstStyle>
          <a:p>
            <a:pPr>
              <a:defRPr/>
            </a:pPr>
            <a:fld id="{33FB7DB4-EE38-47B9-960D-23808051C6B6}" type="slidenum">
              <a:rPr lang="zh-CN" altLang="en-US"/>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08779915-1CD2-4D16-B500-B5490E936485}" type="slidenum">
              <a:rPr lang="zh-CN" altLang="en-US"/>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Arial" panose="020B0604020202020204" pitchFamily="34" charset="0"/>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A629697E-D45A-4E7C-81FC-4060FFD7AB32}" type="slidenum">
              <a:rPr lang="zh-CN" altLang="en-US"/>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BC46216-539C-4C56-A730-F6A42213F0E6}" type="slidenum">
              <a:rPr lang="zh-CN" altLang="en-US"/>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55588"/>
            <a:ext cx="2022475" cy="62245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85775" y="255588"/>
            <a:ext cx="5915025" cy="62245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2022/12/10</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91C01A58-410C-44AE-B15D-E703576B05EB}" type="slidenum">
              <a:rPr lang="zh-CN" altLang="en-US"/>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eaLnBrk="1">
              <a:defRPr/>
            </a:lvl1p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eaLnBrk="1">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Tree>
    <p:extLst>
      <p:ext uri="{BB962C8B-B14F-4D97-AF65-F5344CB8AC3E}">
        <p14:creationId xmlns:p14="http://schemas.microsoft.com/office/powerpoint/2010/main" val="274489087"/>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279400" y="1010465"/>
            <a:ext cx="8636000" cy="4972050"/>
          </a:xfrm>
        </p:spPr>
        <p:txBody>
          <a:bodyPr/>
          <a:lstStyle>
            <a:lvl1pPr eaLnBrk="1">
              <a:lnSpc>
                <a:spcPct val="130000"/>
              </a:lnSpc>
              <a:spcBef>
                <a:spcPts val="0"/>
              </a:spcBef>
              <a:buFont typeface="Wingdings" pitchFamily="2" charset="2"/>
              <a:buChar char="l"/>
              <a:defRPr/>
            </a:lvl1pPr>
            <a:lvl2pPr eaLnBrk="1">
              <a:lnSpc>
                <a:spcPct val="130000"/>
              </a:lnSpc>
              <a:spcBef>
                <a:spcPts val="0"/>
              </a:spcBef>
              <a:buFont typeface="Wingdings" pitchFamily="2" charset="2"/>
              <a:buChar char="Ø"/>
              <a:defRPr/>
            </a:lvl2pPr>
            <a:lvl3pPr eaLnBrk="1">
              <a:lnSpc>
                <a:spcPct val="130000"/>
              </a:lnSpc>
              <a:spcBef>
                <a:spcPts val="0"/>
              </a:spcBef>
              <a:defRPr/>
            </a:lvl3pPr>
            <a:lvl4pPr eaLnBrk="1">
              <a:lnSpc>
                <a:spcPct val="130000"/>
              </a:lnSpc>
              <a:spcBef>
                <a:spcPts val="0"/>
              </a:spcBef>
              <a:defRPr/>
            </a:lvl4pPr>
            <a:lvl5pPr eaLnBrk="1">
              <a:lnSpc>
                <a:spcPct val="130000"/>
              </a:lnSpc>
              <a:spcBef>
                <a:spcPts val="0"/>
              </a:spcBef>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 Box 17"/>
          <p:cNvSpPr txBox="1">
            <a:spLocks noChangeArrowheads="1"/>
          </p:cNvSpPr>
          <p:nvPr userDrawn="1"/>
        </p:nvSpPr>
        <p:spPr bwMode="auto">
          <a:xfrm>
            <a:off x="50800" y="6481763"/>
            <a:ext cx="9067800" cy="339725"/>
          </a:xfrm>
          <a:prstGeom prst="rect">
            <a:avLst/>
          </a:prstGeom>
          <a:no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spcBef>
                <a:spcPct val="50000"/>
              </a:spcBef>
              <a:buFontTx/>
              <a:buNone/>
              <a:defRPr/>
            </a:pPr>
            <a:fld id="{380602F7-2D1E-4BA3-9157-D4E968859D90}" type="slidenum">
              <a:rPr lang="zh-CN" altLang="en-US" sz="1600" b="1" smtClean="0">
                <a:solidFill>
                  <a:srgbClr val="000000"/>
                </a:solidFill>
              </a:rPr>
              <a:pPr algn="r" eaLnBrk="1" hangingPunct="1">
                <a:spcBef>
                  <a:spcPct val="50000"/>
                </a:spcBef>
                <a:buFontTx/>
                <a:buNone/>
                <a:defRPr/>
              </a:pPr>
              <a:t>‹#›</a:t>
            </a:fld>
            <a:r>
              <a:rPr lang="zh-CN" altLang="en-US" sz="1600" b="1" dirty="0">
                <a:solidFill>
                  <a:srgbClr val="FFFFFF"/>
                </a:solidFill>
              </a:rPr>
              <a:t> </a:t>
            </a:r>
            <a:endParaRPr lang="zh-CN" altLang="zh-CN" sz="1600" b="1" dirty="0">
              <a:solidFill>
                <a:srgbClr val="FFFFFF"/>
              </a:solidFill>
            </a:endParaRPr>
          </a:p>
        </p:txBody>
      </p:sp>
    </p:spTree>
    <p:extLst>
      <p:ext uri="{BB962C8B-B14F-4D97-AF65-F5344CB8AC3E}">
        <p14:creationId xmlns:p14="http://schemas.microsoft.com/office/powerpoint/2010/main" val="99818671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79400" y="1096963"/>
            <a:ext cx="4241800"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73600" y="1096963"/>
            <a:ext cx="4241800"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3735603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buFontTx/>
              <a:buNone/>
              <a:defRPr/>
            </a:pPr>
            <a:endParaRPr lang="en-US" altLang="zh-CN">
              <a:solidFill>
                <a:srgbClr val="000000"/>
              </a:solidFill>
              <a:latin typeface="Arial" charset="0"/>
              <a:ea typeface="宋体" charset="-122"/>
            </a:endParaRPr>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buFontTx/>
              <a:buNone/>
              <a:defRPr/>
            </a:pPr>
            <a:endParaRPr lang="en-US" altLang="zh-CN">
              <a:solidFill>
                <a:srgbClr val="000000"/>
              </a:solidFill>
              <a:latin typeface="Arial" charset="0"/>
              <a:ea typeface="宋体" charset="-122"/>
            </a:endParaRPr>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a:buFontTx/>
              <a:buNone/>
              <a:defRPr/>
            </a:pPr>
            <a:fld id="{0FF57203-C35C-4101-BB59-5D58D06E0BA5}" type="slidenum">
              <a:rPr lang="en-US" altLang="zh-CN">
                <a:solidFill>
                  <a:srgbClr val="000000"/>
                </a:solidFill>
                <a:latin typeface="Arial" charset="0"/>
                <a:ea typeface="宋体" charset="-122"/>
              </a:rPr>
              <a:pPr>
                <a:buFontTx/>
                <a:buNone/>
                <a:defRPr/>
              </a:pPr>
              <a:t>‹#›</a:t>
            </a:fld>
            <a:endParaRPr lang="en-US" altLang="zh-CN">
              <a:solidFill>
                <a:srgbClr val="000000"/>
              </a:solidFill>
              <a:latin typeface="Arial" charset="0"/>
              <a:ea typeface="宋体" charset="-122"/>
            </a:endParaRPr>
          </a:p>
        </p:txBody>
      </p:sp>
    </p:spTree>
    <p:extLst>
      <p:ext uri="{BB962C8B-B14F-4D97-AF65-F5344CB8AC3E}">
        <p14:creationId xmlns:p14="http://schemas.microsoft.com/office/powerpoint/2010/main" val="33404900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219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85800" y="6248400"/>
            <a:ext cx="1905000" cy="457200"/>
          </a:xfrm>
          <a:prstGeom prst="rect">
            <a:avLst/>
          </a:prstGeom>
        </p:spPr>
        <p:txBody>
          <a:bodyPr/>
          <a:lstStyle>
            <a:lvl1pPr>
              <a:defRPr/>
            </a:lvl1pPr>
          </a:lstStyle>
          <a:p>
            <a:pPr>
              <a:buFontTx/>
              <a:buNone/>
            </a:pPr>
            <a:endParaRPr lang="en-US" altLang="zh-CN">
              <a:solidFill>
                <a:srgbClr val="000000"/>
              </a:solidFill>
              <a:latin typeface="Arial" charset="0"/>
              <a:ea typeface="宋体" charset="-122"/>
            </a:endParaRPr>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pPr>
              <a:buFontTx/>
              <a:buNone/>
            </a:pPr>
            <a:endParaRPr lang="en-US" altLang="zh-CN">
              <a:solidFill>
                <a:srgbClr val="000000"/>
              </a:solidFill>
              <a:latin typeface="Arial" charset="0"/>
              <a:ea typeface="宋体" charset="-122"/>
            </a:endParaRPr>
          </a:p>
        </p:txBody>
      </p:sp>
      <p:sp>
        <p:nvSpPr>
          <p:cNvPr id="7" name="灯片编号占位符 6"/>
          <p:cNvSpPr>
            <a:spLocks noGrp="1"/>
          </p:cNvSpPr>
          <p:nvPr>
            <p:ph type="sldNum" sz="quarter" idx="12"/>
          </p:nvPr>
        </p:nvSpPr>
        <p:spPr>
          <a:xfrm>
            <a:off x="6553200" y="6248400"/>
            <a:ext cx="1905000" cy="457200"/>
          </a:xfrm>
          <a:prstGeom prst="rect">
            <a:avLst/>
          </a:prstGeom>
        </p:spPr>
        <p:txBody>
          <a:bodyPr/>
          <a:lstStyle>
            <a:lvl1pPr>
              <a:defRPr/>
            </a:lvl1pPr>
          </a:lstStyle>
          <a:p>
            <a:pPr>
              <a:buFontTx/>
              <a:buNone/>
            </a:pPr>
            <a:fld id="{9FC7E16D-5A04-4A97-B5EF-ADB58EFF5016}" type="slidenum">
              <a:rPr lang="zh-CN" altLang="en-US">
                <a:solidFill>
                  <a:srgbClr val="000000"/>
                </a:solidFill>
                <a:latin typeface="Arial" charset="0"/>
                <a:ea typeface="宋体" charset="-122"/>
              </a:rPr>
              <a:pPr>
                <a:buFontTx/>
                <a:buNone/>
              </a:pPr>
              <a:t>‹#›</a:t>
            </a:fld>
            <a:endParaRPr lang="en-US" altLang="zh-CN">
              <a:solidFill>
                <a:srgbClr val="000000"/>
              </a:solidFill>
              <a:latin typeface="Arial" charset="0"/>
              <a:ea typeface="宋体" charset="-122"/>
            </a:endParaRPr>
          </a:p>
        </p:txBody>
      </p:sp>
    </p:spTree>
    <p:extLst>
      <p:ext uri="{BB962C8B-B14F-4D97-AF65-F5344CB8AC3E}">
        <p14:creationId xmlns:p14="http://schemas.microsoft.com/office/powerpoint/2010/main" val="242609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7.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47.xml"/><Relationship Id="rId7" Type="http://schemas.openxmlformats.org/officeDocument/2006/relationships/image" Target="../media/image10.jpe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theme" Target="../theme/theme5.xml"/><Relationship Id="rId5" Type="http://schemas.openxmlformats.org/officeDocument/2006/relationships/slideLayout" Target="../slideLayouts/slideLayout49.xml"/><Relationship Id="rId4" Type="http://schemas.openxmlformats.org/officeDocument/2006/relationships/slideLayout" Target="../slideLayouts/slideLayout48.xml"/><Relationship Id="rId9"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00650" y="0"/>
            <a:ext cx="394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KSO_BT1"/>
          <p:cNvSpPr>
            <a:spLocks noGrp="1" noChangeArrowheads="1"/>
          </p:cNvSpPr>
          <p:nvPr>
            <p:ph type="title" idx="4294967295"/>
          </p:nvPr>
        </p:nvSpPr>
        <p:spPr bwMode="auto">
          <a:xfrm>
            <a:off x="339725" y="196850"/>
            <a:ext cx="640080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8" name="KSO_BC1"/>
          <p:cNvSpPr>
            <a:spLocks noGrp="1" noChangeArrowheads="1"/>
          </p:cNvSpPr>
          <p:nvPr>
            <p:ph type="body" idx="9"/>
          </p:nvPr>
        </p:nvSpPr>
        <p:spPr bwMode="auto">
          <a:xfrm>
            <a:off x="279400" y="1054100"/>
            <a:ext cx="7775575"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1029" name="KSO_FD"/>
          <p:cNvSpPr>
            <a:spLocks noGrp="1" noChangeArrowheads="1"/>
          </p:cNvSpPr>
          <p:nvPr>
            <p:ph type="dt" sz="half" idx="2"/>
          </p:nvPr>
        </p:nvSpPr>
        <p:spPr bwMode="auto">
          <a:xfrm>
            <a:off x="6286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smtClean="0">
                <a:solidFill>
                  <a:srgbClr val="919293"/>
                </a:solidFill>
                <a:ea typeface="宋体" panose="02010600030101010101" pitchFamily="2" charset="-122"/>
              </a:defRPr>
            </a:lvl1pPr>
          </a:lstStyle>
          <a:p>
            <a:pPr>
              <a:defRPr/>
            </a:pPr>
            <a:fld id="{BD9F33B1-7C18-4AD4-9DF1-5FE252B9DDC3}" type="datetime1">
              <a:rPr lang="zh-CN" altLang="en-US"/>
              <a:t>2022/12/10</a:t>
            </a:fld>
            <a:endParaRPr lang="en-US"/>
          </a:p>
        </p:txBody>
      </p:sp>
      <p:sp>
        <p:nvSpPr>
          <p:cNvPr id="1030" name="KSO_FT"/>
          <p:cNvSpPr>
            <a:spLocks noGrp="1" noChangeArrowheads="1"/>
          </p:cNvSpPr>
          <p:nvPr>
            <p:ph type="ftr" sz="quarter" idx="3"/>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smtClean="0">
                <a:solidFill>
                  <a:srgbClr val="919293"/>
                </a:solidFill>
                <a:ea typeface="宋体" panose="02010600030101010101" pitchFamily="2" charset="-122"/>
              </a:defRPr>
            </a:lvl1pPr>
          </a:lstStyle>
          <a:p>
            <a:pPr>
              <a:defRPr/>
            </a:pPr>
            <a:endParaRPr lang="zh-CN" altLang="en-US"/>
          </a:p>
        </p:txBody>
      </p:sp>
      <p:sp>
        <p:nvSpPr>
          <p:cNvPr id="1031" name="KSO_FN"/>
          <p:cNvSpPr>
            <a:spLocks noGrp="1" noChangeArrowheads="1"/>
          </p:cNvSpPr>
          <p:nvPr>
            <p:ph type="sldNum" sz="quarter" idx="4"/>
          </p:nvPr>
        </p:nvSpPr>
        <p:spPr bwMode="auto">
          <a:xfrm>
            <a:off x="64579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smtClean="0">
                <a:solidFill>
                  <a:srgbClr val="919293"/>
                </a:solidFill>
                <a:ea typeface="宋体" panose="02010600030101010101" pitchFamily="2" charset="-122"/>
              </a:defRPr>
            </a:lvl1pPr>
          </a:lstStyle>
          <a:p>
            <a:pPr>
              <a:defRPr/>
            </a:pPr>
            <a:fld id="{C705EA6D-0A8A-47D3-AD10-1EDF3BDE7BA2}" type="slidenum">
              <a:rPr lang="zh-CN" alt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3000" b="1" kern="1200">
          <a:solidFill>
            <a:srgbClr val="1A93C8"/>
          </a:solidFill>
          <a:latin typeface="+mj-lt"/>
          <a:ea typeface="+mj-ea"/>
          <a:cs typeface="+mj-cs"/>
        </a:defRPr>
      </a:lvl1pPr>
      <a:lvl2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2pPr>
      <a:lvl3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3pPr>
      <a:lvl4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4pPr>
      <a:lvl5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5pPr>
      <a:lvl6pPr marL="4572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6pPr>
      <a:lvl7pPr marL="9144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7pPr>
      <a:lvl8pPr marL="13716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8pPr>
      <a:lvl9pPr marL="18288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9pPr>
    </p:titleStyle>
    <p:bodyStyle>
      <a:lvl1pPr marL="357505" indent="-357505" algn="just" rtl="0" fontAlgn="base">
        <a:spcBef>
          <a:spcPts val="1800"/>
        </a:spcBef>
        <a:spcAft>
          <a:spcPct val="0"/>
        </a:spcAft>
        <a:buClr>
          <a:srgbClr val="1A93C8"/>
        </a:buClr>
        <a:buSzPct val="60000"/>
        <a:buFont typeface="Wingdings" panose="05000000000000000000" pitchFamily="2" charset="2"/>
        <a:buChar char="m"/>
        <a:defRPr sz="2000" kern="1200">
          <a:solidFill>
            <a:srgbClr val="1A93C8"/>
          </a:solidFill>
          <a:latin typeface="+mn-lt"/>
          <a:ea typeface="+mn-ea"/>
          <a:cs typeface="+mn-cs"/>
        </a:defRPr>
      </a:lvl1pPr>
      <a:lvl2pPr marL="357505" indent="-357505" algn="l" rtl="0" fontAlgn="base">
        <a:lnSpc>
          <a:spcPct val="130000"/>
        </a:lnSpc>
        <a:spcBef>
          <a:spcPct val="0"/>
        </a:spcBef>
        <a:spcAft>
          <a:spcPts val="600"/>
        </a:spcAft>
        <a:buClr>
          <a:srgbClr val="A1BBEE"/>
        </a:buClr>
        <a:buFont typeface="幼圆" panose="02010509060101010101" pitchFamily="49" charset="-122"/>
        <a:buChar char=" "/>
        <a:defRPr sz="1600" kern="1200">
          <a:solidFill>
            <a:srgbClr val="7D7D7D"/>
          </a:solidFill>
          <a:latin typeface="幼圆" panose="02010509060101010101" pitchFamily="49" charset="-122"/>
          <a:ea typeface="幼圆" panose="02010509060101010101" pitchFamily="49" charset="-122"/>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3pPr>
      <a:lvl4pPr marL="16002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4pPr>
      <a:lvl5pPr marL="20574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pSp>
        <p:nvGrpSpPr>
          <p:cNvPr id="2050" name="组合 6"/>
          <p:cNvGrpSpPr>
            <a:grpSpLocks noChangeAspect="1"/>
          </p:cNvGrpSpPr>
          <p:nvPr/>
        </p:nvGrpSpPr>
        <p:grpSpPr bwMode="auto">
          <a:xfrm>
            <a:off x="-3175" y="12700"/>
            <a:ext cx="9144000" cy="6858000"/>
            <a:chOff x="0" y="0"/>
            <a:chExt cx="7850038" cy="5887529"/>
          </a:xfrm>
        </p:grpSpPr>
        <p:pic>
          <p:nvPicPr>
            <p:cNvPr id="2051" name="图片 5" descr="未标题-1.jpg"/>
            <p:cNvPicPr>
              <a:picLocks noChangeAspect="1" noChangeArrowheads="1"/>
            </p:cNvPicPr>
            <p:nvPr/>
          </p:nvPicPr>
          <p:blipFill>
            <a:blip r:embed="rId13">
              <a:extLst>
                <a:ext uri="{28A0092B-C50C-407E-A947-70E740481C1C}">
                  <a14:useLocalDpi xmlns:a14="http://schemas.microsoft.com/office/drawing/2010/main" val="0"/>
                </a:ext>
              </a:extLst>
            </a:blip>
            <a:srcRect l="57076" b="14151"/>
            <a:stretch>
              <a:fillRect/>
            </a:stretch>
          </p:blipFill>
          <p:spPr bwMode="auto">
            <a:xfrm>
              <a:off x="3925019" y="0"/>
              <a:ext cx="3925019" cy="588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5" descr="未标题-1.jpg"/>
            <p:cNvPicPr>
              <a:picLocks noChangeAspect="1" noChangeArrowheads="1"/>
            </p:cNvPicPr>
            <p:nvPr/>
          </p:nvPicPr>
          <p:blipFill>
            <a:blip r:embed="rId13">
              <a:extLst>
                <a:ext uri="{28A0092B-C50C-407E-A947-70E740481C1C}">
                  <a14:useLocalDpi xmlns:a14="http://schemas.microsoft.com/office/drawing/2010/main" val="0"/>
                </a:ext>
              </a:extLst>
            </a:blip>
            <a:srcRect l="57076" b="14310"/>
            <a:stretch>
              <a:fillRect/>
            </a:stretch>
          </p:blipFill>
          <p:spPr bwMode="auto">
            <a:xfrm flipH="1">
              <a:off x="0" y="0"/>
              <a:ext cx="3925019" cy="587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7" name="KSO_FD"/>
          <p:cNvSpPr>
            <a:spLocks noGrp="1" noChangeArrowheads="1"/>
          </p:cNvSpPr>
          <p:nvPr>
            <p:ph type="dt" sz="half" idx="2"/>
          </p:nvPr>
        </p:nvSpPr>
        <p:spPr bwMode="auto">
          <a:xfrm>
            <a:off x="6286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solidFill>
                  <a:srgbClr val="969696"/>
                </a:solidFill>
                <a:ea typeface="宋体" panose="02010600030101010101" pitchFamily="2" charset="-122"/>
              </a:defRPr>
            </a:lvl1pPr>
          </a:lstStyle>
          <a:p>
            <a:pPr>
              <a:defRPr/>
            </a:pPr>
            <a:fld id="{543B238A-CF46-4546-8C56-ADAB882ADE59}" type="datetime1">
              <a:rPr lang="zh-CN" altLang="en-US"/>
              <a:t>2022/12/10</a:t>
            </a:fld>
            <a:endParaRPr lang="en-US"/>
          </a:p>
        </p:txBody>
      </p:sp>
      <p:sp>
        <p:nvSpPr>
          <p:cNvPr id="3078" name="KSO_FT"/>
          <p:cNvSpPr>
            <a:spLocks noGrp="1" noChangeArrowheads="1"/>
          </p:cNvSpPr>
          <p:nvPr>
            <p:ph type="ftr" sz="quarter" idx="3"/>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solidFill>
                  <a:srgbClr val="969696"/>
                </a:solidFill>
                <a:ea typeface="宋体" panose="02010600030101010101" pitchFamily="2" charset="-122"/>
              </a:defRPr>
            </a:lvl1pPr>
          </a:lstStyle>
          <a:p>
            <a:pPr>
              <a:defRPr/>
            </a:pPr>
            <a:endParaRPr lang="en-US"/>
          </a:p>
        </p:txBody>
      </p:sp>
      <p:sp>
        <p:nvSpPr>
          <p:cNvPr id="3079" name="KSO_FN"/>
          <p:cNvSpPr>
            <a:spLocks noGrp="1" noChangeArrowheads="1"/>
          </p:cNvSpPr>
          <p:nvPr>
            <p:ph type="sldNum" sz="quarter" idx="4"/>
          </p:nvPr>
        </p:nvSpPr>
        <p:spPr bwMode="auto">
          <a:xfrm>
            <a:off x="64579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solidFill>
                  <a:srgbClr val="969696"/>
                </a:solidFill>
                <a:ea typeface="宋体" panose="02010600030101010101" pitchFamily="2" charset="-122"/>
              </a:defRPr>
            </a:lvl1pPr>
          </a:lstStyle>
          <a:p>
            <a:pPr>
              <a:defRPr/>
            </a:pPr>
            <a:fld id="{028345E7-2928-4024-B92D-DE6894893D24}" type="slidenum">
              <a:rPr lang="zh-CN" altLang="en-US"/>
              <a:t>‹#›</a:t>
            </a:fld>
            <a:endParaRPr lang="en-US"/>
          </a:p>
        </p:txBody>
      </p:sp>
      <p:sp>
        <p:nvSpPr>
          <p:cNvPr id="2056" name="KSO_BC1"/>
          <p:cNvSpPr>
            <a:spLocks noGrp="1" noChangeArrowheads="1"/>
          </p:cNvSpPr>
          <p:nvPr>
            <p:ph type="body" idx="4294967295"/>
          </p:nvPr>
        </p:nvSpPr>
        <p:spPr bwMode="auto">
          <a:xfrm>
            <a:off x="447675" y="1133475"/>
            <a:ext cx="8215313"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2057" name="KSO_BT1"/>
          <p:cNvSpPr>
            <a:spLocks noGrp="1" noChangeArrowheads="1"/>
          </p:cNvSpPr>
          <p:nvPr>
            <p:ph type="title" idx="9"/>
          </p:nvPr>
        </p:nvSpPr>
        <p:spPr bwMode="auto">
          <a:xfrm>
            <a:off x="447675" y="214313"/>
            <a:ext cx="821531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fontAlgn="base">
        <a:lnSpc>
          <a:spcPct val="90000"/>
        </a:lnSpc>
        <a:spcBef>
          <a:spcPct val="0"/>
        </a:spcBef>
        <a:spcAft>
          <a:spcPct val="0"/>
        </a:spcAft>
        <a:defRPr sz="3200" b="1" kern="1200">
          <a:solidFill>
            <a:schemeClr val="accent1"/>
          </a:solidFill>
          <a:latin typeface="+mj-lt"/>
          <a:ea typeface="+mj-ea"/>
          <a:cs typeface="+mj-cs"/>
        </a:defRPr>
      </a:lvl1pPr>
      <a:lvl2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2pPr>
      <a:lvl3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3pPr>
      <a:lvl4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4pPr>
      <a:lvl5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5pPr>
      <a:lvl6pPr marL="4572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6pPr>
      <a:lvl7pPr marL="9144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7pPr>
      <a:lvl8pPr marL="13716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8pPr>
      <a:lvl9pPr marL="18288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9pPr>
    </p:titleStyle>
    <p:bodyStyle>
      <a:lvl1pPr marL="361950" indent="-361950" algn="just" defTabSz="685800" rtl="0" fontAlgn="base">
        <a:lnSpc>
          <a:spcPct val="110000"/>
        </a:lnSpc>
        <a:spcBef>
          <a:spcPts val="1200"/>
        </a:spcBef>
        <a:spcAft>
          <a:spcPct val="0"/>
        </a:spcAft>
        <a:buClr>
          <a:schemeClr val="accent1"/>
        </a:buClr>
        <a:buSzPct val="50000"/>
        <a:buFont typeface="Wingdings" panose="05000000000000000000" pitchFamily="2" charset="2"/>
        <a:buChar char="l"/>
        <a:defRPr sz="2400" kern="1200">
          <a:solidFill>
            <a:schemeClr val="accent1"/>
          </a:solidFill>
          <a:latin typeface="+mn-lt"/>
          <a:ea typeface="+mn-ea"/>
          <a:cs typeface="+mn-cs"/>
        </a:defRPr>
      </a:lvl1pPr>
      <a:lvl2pPr marL="361950" indent="-361950" algn="l" defTabSz="685800" rtl="0" fontAlgn="base">
        <a:lnSpc>
          <a:spcPct val="120000"/>
        </a:lnSpc>
        <a:spcBef>
          <a:spcPct val="0"/>
        </a:spcBef>
        <a:spcAft>
          <a:spcPts val="1200"/>
        </a:spcAft>
        <a:buClr>
          <a:srgbClr val="E5A997"/>
        </a:buClr>
        <a:buFont typeface="幼圆" panose="02010509060101010101" pitchFamily="49" charset="-122"/>
        <a:buChar char=" "/>
        <a:defRPr sz="1600"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Times New Roman" panose="02020603050405020304" pitchFamily="18" charset="0"/>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图片 9"/>
          <p:cNvPicPr>
            <a:picLocks noChangeAspect="1" noChangeArrowheads="1"/>
          </p:cNvPicPr>
          <p:nvPr/>
        </p:nvPicPr>
        <p:blipFill>
          <a:blip r:embed="rId13">
            <a:extLst>
              <a:ext uri="{28A0092B-C50C-407E-A947-70E740481C1C}">
                <a14:useLocalDpi xmlns:a14="http://schemas.microsoft.com/office/drawing/2010/main" val="0"/>
              </a:ext>
            </a:extLst>
          </a:blip>
          <a:srcRect l="15195"/>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 Placeholder 2"/>
          <p:cNvSpPr>
            <a:spLocks noGrp="1" noChangeArrowheads="1"/>
          </p:cNvSpPr>
          <p:nvPr>
            <p:ph type="body" idx="4294967295"/>
          </p:nvPr>
        </p:nvSpPr>
        <p:spPr bwMode="auto">
          <a:xfrm>
            <a:off x="566738" y="1476375"/>
            <a:ext cx="8008937"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5124" name="Date Placeholder 3"/>
          <p:cNvSpPr>
            <a:spLocks noGrp="1" noChangeArrowheads="1"/>
          </p:cNvSpPr>
          <p:nvPr>
            <p:ph type="dt" sz="half" idx="2"/>
          </p:nvPr>
        </p:nvSpPr>
        <p:spPr bwMode="auto">
          <a:xfrm>
            <a:off x="628650" y="6403975"/>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ea typeface="宋体" panose="02010600030101010101" pitchFamily="2" charset="-122"/>
              </a:defRPr>
            </a:lvl1pPr>
          </a:lstStyle>
          <a:p>
            <a:pPr>
              <a:defRPr/>
            </a:pPr>
            <a:fld id="{B3191403-9BB2-424E-A8BB-7CB1475A9DB0}" type="datetime1">
              <a:rPr lang="zh-CN" altLang="en-US"/>
              <a:t>2022/12/10</a:t>
            </a:fld>
            <a:endParaRPr lang="en-US"/>
          </a:p>
        </p:txBody>
      </p:sp>
      <p:sp>
        <p:nvSpPr>
          <p:cNvPr id="5125" name="Footer Placeholder 4"/>
          <p:cNvSpPr>
            <a:spLocks noGrp="1" noChangeArrowheads="1"/>
          </p:cNvSpPr>
          <p:nvPr>
            <p:ph type="ftr" sz="quarter" idx="3"/>
          </p:nvPr>
        </p:nvSpPr>
        <p:spPr bwMode="auto">
          <a:xfrm>
            <a:off x="3028950" y="6403975"/>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ea typeface="宋体" panose="02010600030101010101" pitchFamily="2" charset="-122"/>
              </a:defRPr>
            </a:lvl1pPr>
          </a:lstStyle>
          <a:p>
            <a:pPr>
              <a:defRPr/>
            </a:pPr>
            <a:endParaRPr lang="en-US"/>
          </a:p>
        </p:txBody>
      </p:sp>
      <p:sp>
        <p:nvSpPr>
          <p:cNvPr id="5126" name="Slide Number Placeholder 5"/>
          <p:cNvSpPr>
            <a:spLocks noGrp="1" noChangeArrowheads="1"/>
          </p:cNvSpPr>
          <p:nvPr>
            <p:ph type="sldNum" sz="quarter" idx="4"/>
          </p:nvPr>
        </p:nvSpPr>
        <p:spPr bwMode="auto">
          <a:xfrm>
            <a:off x="6457950" y="6403975"/>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ea typeface="宋体" panose="02010600030101010101" pitchFamily="2" charset="-122"/>
              </a:defRPr>
            </a:lvl1pPr>
          </a:lstStyle>
          <a:p>
            <a:pPr>
              <a:defRPr/>
            </a:pPr>
            <a:fld id="{1F8672DB-A52B-402A-AC56-6EAF7309D802}" type="slidenum">
              <a:rPr lang="zh-CN" altLang="en-US"/>
              <a:t>‹#›</a:t>
            </a:fld>
            <a:endParaRPr lang="en-US"/>
          </a:p>
        </p:txBody>
      </p:sp>
      <p:sp>
        <p:nvSpPr>
          <p:cNvPr id="3079" name="Title Placeholder 1"/>
          <p:cNvSpPr>
            <a:spLocks noGrp="1" noChangeArrowheads="1"/>
          </p:cNvSpPr>
          <p:nvPr>
            <p:ph type="title" idx="9"/>
          </p:nvPr>
        </p:nvSpPr>
        <p:spPr bwMode="auto">
          <a:xfrm>
            <a:off x="566738" y="368300"/>
            <a:ext cx="80089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fontAlgn="base">
        <a:lnSpc>
          <a:spcPct val="90000"/>
        </a:lnSpc>
        <a:spcBef>
          <a:spcPct val="0"/>
        </a:spcBef>
        <a:spcAft>
          <a:spcPct val="0"/>
        </a:spcAft>
        <a:defRPr sz="3600" kern="1200">
          <a:solidFill>
            <a:schemeClr val="tx1"/>
          </a:solidFill>
          <a:latin typeface="+mj-lt"/>
          <a:ea typeface="+mj-ea"/>
          <a:cs typeface="+mj-cs"/>
        </a:defRPr>
      </a:lvl1pPr>
      <a:lvl2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2pPr>
      <a:lvl3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3pPr>
      <a:lvl4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4pPr>
      <a:lvl5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5pPr>
      <a:lvl6pPr marL="4572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6pPr>
      <a:lvl7pPr marL="9144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7pPr>
      <a:lvl8pPr marL="13716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8pPr>
      <a:lvl9pPr marL="18288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9pPr>
    </p:titleStyle>
    <p:bodyStyle>
      <a:lvl1pPr marL="266700" indent="-266700" algn="l" defTabSz="685800" rtl="0" fontAlgn="base">
        <a:lnSpc>
          <a:spcPct val="90000"/>
        </a:lnSpc>
        <a:spcBef>
          <a:spcPts val="1350"/>
        </a:spcBef>
        <a:spcAft>
          <a:spcPct val="0"/>
        </a:spcAft>
        <a:buClr>
          <a:schemeClr val="accent2"/>
        </a:buClr>
        <a:buSzPct val="80000"/>
        <a:buFont typeface="Wingdings 2" panose="05020102010507070707" pitchFamily="18" charset="2"/>
        <a:buChar char="ö"/>
        <a:defRPr sz="2400" kern="1200">
          <a:solidFill>
            <a:schemeClr val="accent1"/>
          </a:solidFill>
          <a:latin typeface="+mn-lt"/>
          <a:ea typeface="+mn-ea"/>
          <a:cs typeface="+mn-cs"/>
        </a:defRPr>
      </a:lvl1pPr>
      <a:lvl2pPr marL="266700" indent="-266700" algn="l" defTabSz="685800" rtl="0" fontAlgn="base">
        <a:lnSpc>
          <a:spcPct val="130000"/>
        </a:lnSpc>
        <a:spcBef>
          <a:spcPct val="0"/>
        </a:spcBef>
        <a:spcAft>
          <a:spcPct val="0"/>
        </a:spcAft>
        <a:buFont typeface="Calibri" panose="020F0502020204030204" pitchFamily="34" charset="0"/>
        <a:buChar char=" "/>
        <a:defRPr sz="1600"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Calibri" panose="020F0502020204030204" pitchFamily="34" charset="0"/>
        <a:buChar char="•"/>
        <a:defRPr sz="1500" kern="1200">
          <a:solidFill>
            <a:srgbClr val="303030"/>
          </a:solidFill>
          <a:latin typeface="+mn-lt"/>
          <a:ea typeface="+mn-ea"/>
          <a:cs typeface="+mn-cs"/>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303030"/>
          </a:solidFill>
          <a:latin typeface="+mn-lt"/>
          <a:ea typeface="+mn-ea"/>
          <a:cs typeface="+mn-cs"/>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4098" name="矩形 11"/>
          <p:cNvGrpSpPr/>
          <p:nvPr/>
        </p:nvGrpSpPr>
        <p:grpSpPr bwMode="auto">
          <a:xfrm>
            <a:off x="0" y="0"/>
            <a:ext cx="9150350" cy="6888163"/>
            <a:chOff x="0" y="0"/>
            <a:chExt cx="5764" cy="4339"/>
          </a:xfrm>
        </p:grpSpPr>
        <p:pic>
          <p:nvPicPr>
            <p:cNvPr id="4099" name="矩形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5764" cy="4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4"/>
            <p:cNvSpPr txBox="1">
              <a:spLocks noChangeArrowheads="1"/>
            </p:cNvSpPr>
            <p:nvPr/>
          </p:nvSpPr>
          <p:spPr bwMode="auto">
            <a:xfrm>
              <a:off x="0" y="0"/>
              <a:ext cx="5762" cy="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FFFFFF"/>
                </a:solidFill>
              </a:endParaRPr>
            </a:p>
          </p:txBody>
        </p:sp>
      </p:grpSp>
      <p:sp>
        <p:nvSpPr>
          <p:cNvPr id="4101" name="Text Placeholder 2"/>
          <p:cNvSpPr>
            <a:spLocks noGrp="1" noChangeArrowheads="1"/>
          </p:cNvSpPr>
          <p:nvPr>
            <p:ph type="body" idx="4294967295"/>
          </p:nvPr>
        </p:nvSpPr>
        <p:spPr bwMode="auto">
          <a:xfrm>
            <a:off x="485775" y="1135063"/>
            <a:ext cx="8089900" cy="534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sym typeface="Arial" panose="020B0604020202020204" pitchFamily="34" charset="0"/>
              </a:rPr>
              <a:t>单击此处编辑母版文本样式</a:t>
            </a:r>
          </a:p>
          <a:p>
            <a:pPr lvl="1"/>
            <a:r>
              <a:rPr lang="zh-CN" altLang="en-US">
                <a:sym typeface="宋体" panose="02010600030101010101" pitchFamily="2" charset="-122"/>
              </a:rPr>
              <a:t>第二级</a:t>
            </a:r>
          </a:p>
          <a:p>
            <a:pPr lvl="2"/>
            <a:r>
              <a:rPr lang="zh-CN" altLang="en-US">
                <a:sym typeface="宋体" panose="02010600030101010101" pitchFamily="2" charset="-122"/>
              </a:rPr>
              <a:t>第三级</a:t>
            </a:r>
          </a:p>
          <a:p>
            <a:pPr lvl="3"/>
            <a:r>
              <a:rPr lang="zh-CN" altLang="en-US">
                <a:sym typeface="宋体" panose="02010600030101010101" pitchFamily="2" charset="-122"/>
              </a:rPr>
              <a:t>第四级</a:t>
            </a:r>
          </a:p>
        </p:txBody>
      </p:sp>
      <p:sp>
        <p:nvSpPr>
          <p:cNvPr id="7174" name="Date Placeholder 3"/>
          <p:cNvSpPr>
            <a:spLocks noGrp="1" noChangeArrowheads="1"/>
          </p:cNvSpPr>
          <p:nvPr>
            <p:ph type="dt" sz="half" idx="2"/>
          </p:nvPr>
        </p:nvSpPr>
        <p:spPr bwMode="auto">
          <a:xfrm>
            <a:off x="628650" y="65087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ea typeface="宋体" panose="02010600030101010101" pitchFamily="2" charset="-122"/>
              </a:defRPr>
            </a:lvl1pPr>
          </a:lstStyle>
          <a:p>
            <a:pPr>
              <a:defRPr/>
            </a:pPr>
            <a:fld id="{86C121FE-698C-4C79-A3F4-AD86EFCAADA7}" type="datetime1">
              <a:rPr lang="zh-CN" altLang="en-US"/>
              <a:t>2022/12/10</a:t>
            </a:fld>
            <a:endParaRPr lang="en-US"/>
          </a:p>
        </p:txBody>
      </p:sp>
      <p:sp>
        <p:nvSpPr>
          <p:cNvPr id="7175" name="Footer Placeholder 4"/>
          <p:cNvSpPr>
            <a:spLocks noGrp="1" noChangeArrowheads="1"/>
          </p:cNvSpPr>
          <p:nvPr>
            <p:ph type="ftr" sz="quarter" idx="3"/>
          </p:nvPr>
        </p:nvSpPr>
        <p:spPr bwMode="auto">
          <a:xfrm>
            <a:off x="3028950" y="65087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ea typeface="宋体" panose="02010600030101010101" pitchFamily="2" charset="-122"/>
              </a:defRPr>
            </a:lvl1pPr>
          </a:lstStyle>
          <a:p>
            <a:pPr>
              <a:defRPr/>
            </a:pPr>
            <a:endParaRPr lang="en-US"/>
          </a:p>
        </p:txBody>
      </p:sp>
      <p:sp>
        <p:nvSpPr>
          <p:cNvPr id="7176" name="Slide Number Placeholder 5"/>
          <p:cNvSpPr>
            <a:spLocks noGrp="1" noChangeArrowheads="1"/>
          </p:cNvSpPr>
          <p:nvPr>
            <p:ph type="sldNum" sz="quarter" idx="4"/>
          </p:nvPr>
        </p:nvSpPr>
        <p:spPr bwMode="auto">
          <a:xfrm>
            <a:off x="6457950" y="65087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ea typeface="宋体" panose="02010600030101010101" pitchFamily="2" charset="-122"/>
              </a:defRPr>
            </a:lvl1pPr>
          </a:lstStyle>
          <a:p>
            <a:pPr>
              <a:defRPr/>
            </a:pPr>
            <a:fld id="{C44DC649-F695-46C3-B7FF-3FC4AA7FFBA1}" type="slidenum">
              <a:rPr lang="zh-CN" altLang="en-US"/>
              <a:t>‹#›</a:t>
            </a:fld>
            <a:endParaRPr lang="en-US"/>
          </a:p>
        </p:txBody>
      </p:sp>
      <p:sp>
        <p:nvSpPr>
          <p:cNvPr id="4105" name="Title Placeholder 1"/>
          <p:cNvSpPr>
            <a:spLocks noGrp="1" noChangeArrowheads="1"/>
          </p:cNvSpPr>
          <p:nvPr>
            <p:ph type="title" idx="9"/>
          </p:nvPr>
        </p:nvSpPr>
        <p:spPr bwMode="auto">
          <a:xfrm>
            <a:off x="485775" y="255588"/>
            <a:ext cx="8089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cxnSp>
        <p:nvCxnSpPr>
          <p:cNvPr id="4106" name="直接连接符 8"/>
          <p:cNvCxnSpPr>
            <a:cxnSpLocks noChangeShapeType="1"/>
          </p:cNvCxnSpPr>
          <p:nvPr/>
        </p:nvCxnSpPr>
        <p:spPr bwMode="auto">
          <a:xfrm flipH="1">
            <a:off x="57150" y="6480175"/>
            <a:ext cx="8980488" cy="0"/>
          </a:xfrm>
          <a:prstGeom prst="line">
            <a:avLst/>
          </a:prstGeom>
          <a:noFill/>
          <a:ln w="15875">
            <a:solidFill>
              <a:srgbClr val="28A9D6"/>
            </a:solidFill>
            <a:round/>
          </a:ln>
          <a:extLst>
            <a:ext uri="{909E8E84-426E-40DD-AFC4-6F175D3DCCD1}">
              <a14:hiddenFill xmlns:a14="http://schemas.microsoft.com/office/drawing/2010/main">
                <a:noFill/>
              </a14:hiddenFill>
            </a:ext>
          </a:extLst>
        </p:spPr>
      </p:cxnSp>
      <p:grpSp>
        <p:nvGrpSpPr>
          <p:cNvPr id="4107" name="Freeform 5"/>
          <p:cNvGrpSpPr/>
          <p:nvPr/>
        </p:nvGrpSpPr>
        <p:grpSpPr bwMode="auto">
          <a:xfrm>
            <a:off x="5595938" y="5657850"/>
            <a:ext cx="3194050" cy="822325"/>
            <a:chOff x="0" y="0"/>
            <a:chExt cx="2012" cy="518"/>
          </a:xfrm>
        </p:grpSpPr>
        <p:pic>
          <p:nvPicPr>
            <p:cNvPr id="4108" name="Freeform 5"/>
            <p:cNvPicPr>
              <a:picLocks noEditPoints="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01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1" name="Text Box 13"/>
            <p:cNvSpPr txBox="1">
              <a:spLocks noChangeArrowheads="1"/>
            </p:cNvSpPr>
            <p:nvPr/>
          </p:nvSpPr>
          <p:spPr bwMode="auto">
            <a:xfrm>
              <a:off x="-1" y="1"/>
              <a:ext cx="2009"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grpSp>
      <p:sp>
        <p:nvSpPr>
          <p:cNvPr id="4110" name="任意多边形 10"/>
          <p:cNvSpPr>
            <a:spLocks noChangeArrowheads="1"/>
          </p:cNvSpPr>
          <p:nvPr/>
        </p:nvSpPr>
        <p:spPr bwMode="auto">
          <a:xfrm flipV="1">
            <a:off x="244475" y="423863"/>
            <a:ext cx="8977313" cy="431800"/>
          </a:xfrm>
          <a:custGeom>
            <a:avLst/>
            <a:gdLst>
              <a:gd name="T0" fmla="*/ 167822 w 11969073"/>
              <a:gd name="T1" fmla="*/ 524933 h 524933"/>
              <a:gd name="T2" fmla="*/ 168846 w 11969073"/>
              <a:gd name="T3" fmla="*/ 524933 h 524933"/>
              <a:gd name="T4" fmla="*/ 168846 w 11969073"/>
              <a:gd name="T5" fmla="*/ 14598 h 524933"/>
              <a:gd name="T6" fmla="*/ 1386790 w 11969073"/>
              <a:gd name="T7" fmla="*/ 14598 h 524933"/>
              <a:gd name="T8" fmla="*/ 11969073 w 11969073"/>
              <a:gd name="T9" fmla="*/ 0 h 524933"/>
              <a:gd name="T10" fmla="*/ 167822 w 11969073"/>
              <a:gd name="T11" fmla="*/ 0 h 524933"/>
              <a:gd name="T12" fmla="*/ 152999 w 11969073"/>
              <a:gd name="T13" fmla="*/ 0 h 524933"/>
              <a:gd name="T14" fmla="*/ 152999 w 11969073"/>
              <a:gd name="T15" fmla="*/ 507260 h 524933"/>
              <a:gd name="T16" fmla="*/ 107280 w 11969073"/>
              <a:gd name="T17" fmla="*/ 507260 h 524933"/>
              <a:gd name="T18" fmla="*/ 107280 w 11969073"/>
              <a:gd name="T19" fmla="*/ 0 h 524933"/>
              <a:gd name="T20" fmla="*/ 0 w 11969073"/>
              <a:gd name="T21" fmla="*/ 0 h 524933"/>
              <a:gd name="T22" fmla="*/ 0 w 11969073"/>
              <a:gd name="T23" fmla="*/ 524932 h 524933"/>
              <a:gd name="T24" fmla="*/ 33834 w 11969073"/>
              <a:gd name="T25" fmla="*/ 524932 h 524933"/>
              <a:gd name="T26" fmla="*/ 33834 w 11969073"/>
              <a:gd name="T27" fmla="*/ 23810 h 524933"/>
              <a:gd name="T28" fmla="*/ 79553 w 11969073"/>
              <a:gd name="T29" fmla="*/ 23810 h 524933"/>
              <a:gd name="T30" fmla="*/ 79553 w 11969073"/>
              <a:gd name="T31" fmla="*/ 524932 h 524933"/>
              <a:gd name="T32" fmla="*/ 167822 w 11969073"/>
              <a:gd name="T33" fmla="*/ 524932 h 524933"/>
              <a:gd name="T34" fmla="*/ 167822 w 11969073"/>
              <a:gd name="T35" fmla="*/ 524933 h 524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969073" h="524933">
                <a:moveTo>
                  <a:pt x="167822" y="524933"/>
                </a:moveTo>
                <a:lnTo>
                  <a:pt x="168846" y="524933"/>
                </a:lnTo>
                <a:lnTo>
                  <a:pt x="168846" y="14598"/>
                </a:lnTo>
                <a:lnTo>
                  <a:pt x="1386790" y="14598"/>
                </a:lnTo>
                <a:lnTo>
                  <a:pt x="11969073"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lnTo>
                  <a:pt x="167822" y="524933"/>
                </a:lnTo>
                <a:close/>
              </a:path>
            </a:pathLst>
          </a:custGeom>
          <a:solidFill>
            <a:srgbClr val="28A9D6"/>
          </a:solidFill>
          <a:ln>
            <a:noFill/>
          </a:ln>
          <a:extLst>
            <a:ext uri="{91240B29-F687-4F45-9708-019B960494DF}">
              <a14:hiddenLine xmlns:a14="http://schemas.microsoft.com/office/drawing/2010/main" w="9525">
                <a:solidFill>
                  <a:srgbClr val="000000"/>
                </a:solidFill>
                <a:round/>
              </a14:hiddenLine>
            </a:ext>
          </a:extLst>
        </p:spPr>
        <p:txBody>
          <a:bodyPr/>
          <a:lstStyle/>
          <a:p>
            <a:pPr eaLnBrk="0" hangingPunct="0"/>
            <a:endParaRPr lang="zh-CN" altLang="en-US">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fontAlgn="base">
        <a:lnSpc>
          <a:spcPct val="90000"/>
        </a:lnSpc>
        <a:spcBef>
          <a:spcPct val="0"/>
        </a:spcBef>
        <a:spcAft>
          <a:spcPct val="0"/>
        </a:spcAft>
        <a:defRPr sz="2800" kern="1200">
          <a:solidFill>
            <a:srgbClr val="1A93C8"/>
          </a:solidFill>
          <a:latin typeface="+mj-lt"/>
          <a:ea typeface="+mj-ea"/>
          <a:cs typeface="+mj-cs"/>
        </a:defRPr>
      </a:lvl1pPr>
      <a:lvl2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2pPr>
      <a:lvl3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3pPr>
      <a:lvl4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4pPr>
      <a:lvl5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5pPr>
      <a:lvl6pPr marL="4572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6pPr>
      <a:lvl7pPr marL="9144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7pPr>
      <a:lvl8pPr marL="13716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8pPr>
      <a:lvl9pPr marL="18288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9pPr>
    </p:titleStyle>
    <p:body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7" cstate="print"/>
          <a:srcRect/>
          <a:stretch>
            <a:fillRect/>
          </a:stretch>
        </a:blipFill>
        <a:effectLst/>
      </p:bgPr>
    </p:bg>
    <p:spTree>
      <p:nvGrpSpPr>
        <p:cNvPr id="1" name=""/>
        <p:cNvGrpSpPr/>
        <p:nvPr/>
      </p:nvGrpSpPr>
      <p:grpSpPr>
        <a:xfrm>
          <a:off x="0" y="0"/>
          <a:ext cx="0" cy="0"/>
          <a:chOff x="0" y="0"/>
          <a:chExt cx="0" cy="0"/>
        </a:xfrm>
      </p:grpSpPr>
      <p:pic>
        <p:nvPicPr>
          <p:cNvPr id="1027" name="Picture 22" descr="aaaa002"/>
          <p:cNvPicPr>
            <a:picLocks noChangeAspect="1" noChangeArrowheads="1"/>
          </p:cNvPicPr>
          <p:nvPr userDrawn="1"/>
        </p:nvPicPr>
        <p:blipFill>
          <a:blip r:embed="rId8" cstate="print"/>
          <a:srcRect/>
          <a:stretch>
            <a:fillRect/>
          </a:stretch>
        </p:blipFill>
        <p:spPr bwMode="auto">
          <a:xfrm>
            <a:off x="0" y="0"/>
            <a:ext cx="9144000" cy="1222375"/>
          </a:xfrm>
          <a:prstGeom prst="rect">
            <a:avLst/>
          </a:prstGeom>
          <a:noFill/>
          <a:ln w="9525">
            <a:noFill/>
            <a:miter lim="800000"/>
            <a:headEnd/>
            <a:tailEnd/>
          </a:ln>
        </p:spPr>
      </p:pic>
      <p:sp>
        <p:nvSpPr>
          <p:cNvPr id="1028" name="Rectangle 2"/>
          <p:cNvSpPr>
            <a:spLocks noGrp="1" noChangeArrowheads="1"/>
          </p:cNvSpPr>
          <p:nvPr>
            <p:ph type="title"/>
          </p:nvPr>
        </p:nvSpPr>
        <p:spPr bwMode="auto">
          <a:xfrm>
            <a:off x="361950" y="119063"/>
            <a:ext cx="8547100" cy="5476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0"/>
          <p:cNvSpPr>
            <a:spLocks noGrp="1" noChangeArrowheads="1"/>
          </p:cNvSpPr>
          <p:nvPr>
            <p:ph type="body" idx="1"/>
          </p:nvPr>
        </p:nvSpPr>
        <p:spPr bwMode="auto">
          <a:xfrm>
            <a:off x="279400" y="1096963"/>
            <a:ext cx="8636000"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92568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ransition spd="med"/>
  <p:txStyles>
    <p:titleStyle>
      <a:lvl1pPr algn="ctr" rtl="0" eaLnBrk="0" fontAlgn="base" hangingPunct="0">
        <a:spcBef>
          <a:spcPct val="0"/>
        </a:spcBef>
        <a:spcAft>
          <a:spcPct val="0"/>
        </a:spcAft>
        <a:defRPr sz="3600" b="1">
          <a:solidFill>
            <a:srgbClr val="990000"/>
          </a:solidFill>
          <a:latin typeface="+mj-lt"/>
          <a:ea typeface="+mj-ea"/>
          <a:cs typeface="+mj-cs"/>
        </a:defRPr>
      </a:lvl1pPr>
      <a:lvl2pPr algn="ctr" rtl="0" eaLnBrk="0" fontAlgn="base" hangingPunct="0">
        <a:spcBef>
          <a:spcPct val="0"/>
        </a:spcBef>
        <a:spcAft>
          <a:spcPct val="0"/>
        </a:spcAft>
        <a:defRPr sz="3600" b="1">
          <a:solidFill>
            <a:srgbClr val="990000"/>
          </a:solidFill>
          <a:latin typeface="Times New Roman" pitchFamily="18" charset="0"/>
          <a:ea typeface="宋体" pitchFamily="2" charset="-122"/>
        </a:defRPr>
      </a:lvl2pPr>
      <a:lvl3pPr algn="ctr" rtl="0" eaLnBrk="0" fontAlgn="base" hangingPunct="0">
        <a:spcBef>
          <a:spcPct val="0"/>
        </a:spcBef>
        <a:spcAft>
          <a:spcPct val="0"/>
        </a:spcAft>
        <a:defRPr sz="3600" b="1">
          <a:solidFill>
            <a:srgbClr val="990000"/>
          </a:solidFill>
          <a:latin typeface="Times New Roman" pitchFamily="18" charset="0"/>
          <a:ea typeface="宋体" pitchFamily="2" charset="-122"/>
        </a:defRPr>
      </a:lvl3pPr>
      <a:lvl4pPr algn="ctr" rtl="0" eaLnBrk="0" fontAlgn="base" hangingPunct="0">
        <a:spcBef>
          <a:spcPct val="0"/>
        </a:spcBef>
        <a:spcAft>
          <a:spcPct val="0"/>
        </a:spcAft>
        <a:defRPr sz="3600" b="1">
          <a:solidFill>
            <a:srgbClr val="990000"/>
          </a:solidFill>
          <a:latin typeface="Times New Roman" pitchFamily="18" charset="0"/>
          <a:ea typeface="宋体" pitchFamily="2" charset="-122"/>
        </a:defRPr>
      </a:lvl4pPr>
      <a:lvl5pPr algn="ctr" rtl="0" eaLnBrk="0" fontAlgn="base" hangingPunct="0">
        <a:spcBef>
          <a:spcPct val="0"/>
        </a:spcBef>
        <a:spcAft>
          <a:spcPct val="0"/>
        </a:spcAft>
        <a:defRPr sz="3600" b="1">
          <a:solidFill>
            <a:srgbClr val="990000"/>
          </a:solidFill>
          <a:latin typeface="Times New Roman" pitchFamily="18" charset="0"/>
          <a:ea typeface="宋体" pitchFamily="2" charset="-122"/>
        </a:defRPr>
      </a:lvl5pPr>
      <a:lvl6pPr marL="457200" algn="ctr" rtl="0" fontAlgn="base">
        <a:spcBef>
          <a:spcPct val="0"/>
        </a:spcBef>
        <a:spcAft>
          <a:spcPct val="0"/>
        </a:spcAft>
        <a:defRPr sz="3600" b="1">
          <a:solidFill>
            <a:srgbClr val="990000"/>
          </a:solidFill>
          <a:latin typeface="Times New Roman" pitchFamily="18" charset="0"/>
          <a:ea typeface="宋体" pitchFamily="2" charset="-122"/>
        </a:defRPr>
      </a:lvl6pPr>
      <a:lvl7pPr marL="914400" algn="ctr" rtl="0" fontAlgn="base">
        <a:spcBef>
          <a:spcPct val="0"/>
        </a:spcBef>
        <a:spcAft>
          <a:spcPct val="0"/>
        </a:spcAft>
        <a:defRPr sz="3600" b="1">
          <a:solidFill>
            <a:srgbClr val="990000"/>
          </a:solidFill>
          <a:latin typeface="Times New Roman" pitchFamily="18" charset="0"/>
          <a:ea typeface="宋体" pitchFamily="2" charset="-122"/>
        </a:defRPr>
      </a:lvl7pPr>
      <a:lvl8pPr marL="1371600" algn="ctr" rtl="0" fontAlgn="base">
        <a:spcBef>
          <a:spcPct val="0"/>
        </a:spcBef>
        <a:spcAft>
          <a:spcPct val="0"/>
        </a:spcAft>
        <a:defRPr sz="3600" b="1">
          <a:solidFill>
            <a:srgbClr val="990000"/>
          </a:solidFill>
          <a:latin typeface="Times New Roman" pitchFamily="18" charset="0"/>
          <a:ea typeface="宋体" pitchFamily="2" charset="-122"/>
        </a:defRPr>
      </a:lvl8pPr>
      <a:lvl9pPr marL="1828800" algn="ctr" rtl="0" fontAlgn="base">
        <a:spcBef>
          <a:spcPct val="0"/>
        </a:spcBef>
        <a:spcAft>
          <a:spcPct val="0"/>
        </a:spcAft>
        <a:defRPr sz="3600" b="1">
          <a:solidFill>
            <a:srgbClr val="990000"/>
          </a:solidFill>
          <a:latin typeface="Times New Roman" pitchFamily="18" charset="0"/>
          <a:ea typeface="宋体" pitchFamily="2" charset="-122"/>
        </a:defRPr>
      </a:lvl9pPr>
    </p:titleStyle>
    <p:bodyStyle>
      <a:lvl1pPr marL="342900" indent="-342900" algn="l" rtl="0" eaLnBrk="0" fontAlgn="base" hangingPunct="0">
        <a:lnSpc>
          <a:spcPct val="150000"/>
        </a:lnSpc>
        <a:spcBef>
          <a:spcPct val="20000"/>
        </a:spcBef>
        <a:spcAft>
          <a:spcPct val="0"/>
        </a:spcAft>
        <a:buClr>
          <a:schemeClr val="hlink"/>
        </a:buClr>
        <a:buSzPct val="110000"/>
        <a:buFont typeface="Wingdings" pitchFamily="2" charset="2"/>
        <a:buChar char="Ø"/>
        <a:defRPr sz="2800" b="1">
          <a:solidFill>
            <a:schemeClr val="hlink"/>
          </a:solidFill>
          <a:latin typeface="+mn-lt"/>
          <a:ea typeface="+mn-ea"/>
          <a:cs typeface="+mn-cs"/>
        </a:defRPr>
      </a:lvl1pPr>
      <a:lvl2pPr marL="742950" indent="-285750" algn="l" rtl="0" eaLnBrk="0" fontAlgn="base" hangingPunct="0">
        <a:lnSpc>
          <a:spcPct val="120000"/>
        </a:lnSpc>
        <a:spcBef>
          <a:spcPct val="20000"/>
        </a:spcBef>
        <a:spcAft>
          <a:spcPct val="0"/>
        </a:spcAft>
        <a:buClr>
          <a:srgbClr val="800000"/>
        </a:buClr>
        <a:buFont typeface="Wingdings" pitchFamily="2" charset="2"/>
        <a:buChar char="l"/>
        <a:defRPr sz="2400" b="1">
          <a:solidFill>
            <a:srgbClr val="000000"/>
          </a:solidFill>
          <a:latin typeface="+mn-lt"/>
          <a:ea typeface="楷体_GB2312" pitchFamily="49" charset="-122"/>
        </a:defRPr>
      </a:lvl2pPr>
      <a:lvl3pPr marL="1143000" indent="-228600" algn="l" rtl="0" eaLnBrk="0" fontAlgn="base" hangingPunct="0">
        <a:lnSpc>
          <a:spcPct val="145000"/>
        </a:lnSpc>
        <a:spcBef>
          <a:spcPct val="20000"/>
        </a:spcBef>
        <a:spcAft>
          <a:spcPct val="0"/>
        </a:spcAft>
        <a:buClr>
          <a:srgbClr val="FF0000"/>
        </a:buClr>
        <a:buFont typeface="Wingdings" pitchFamily="2" charset="2"/>
        <a:buChar char="þ"/>
        <a:defRPr sz="2400" b="1">
          <a:solidFill>
            <a:srgbClr val="A85400"/>
          </a:solidFill>
          <a:latin typeface="+mn-lt"/>
          <a:ea typeface="+mn-ea"/>
        </a:defRPr>
      </a:lvl3pPr>
      <a:lvl4pPr marL="1600200" indent="-228600" algn="l" rtl="0" eaLnBrk="0" fontAlgn="base" hangingPunct="0">
        <a:lnSpc>
          <a:spcPct val="145000"/>
        </a:lnSpc>
        <a:spcBef>
          <a:spcPct val="20000"/>
        </a:spcBef>
        <a:spcAft>
          <a:spcPct val="0"/>
        </a:spcAft>
        <a:buBlip>
          <a:blip r:embed="rId9"/>
        </a:buBlip>
        <a:defRPr sz="1600" b="1">
          <a:solidFill>
            <a:srgbClr val="800080"/>
          </a:solidFill>
          <a:latin typeface="+mn-lt"/>
          <a:ea typeface="楷体_GB2312" pitchFamily="49" charset="-122"/>
        </a:defRPr>
      </a:lvl4pPr>
      <a:lvl5pPr marL="2057400" indent="-228600" algn="l" rtl="0" eaLnBrk="0" fontAlgn="base" hangingPunct="0">
        <a:spcBef>
          <a:spcPct val="20000"/>
        </a:spcBef>
        <a:spcAft>
          <a:spcPct val="0"/>
        </a:spcAft>
        <a:buChar char="»"/>
        <a:defRPr sz="1200">
          <a:solidFill>
            <a:schemeClr val="tx1"/>
          </a:solidFill>
          <a:latin typeface="+mn-lt"/>
          <a:ea typeface="+mn-ea"/>
        </a:defRPr>
      </a:lvl5pPr>
      <a:lvl6pPr marL="2514600" indent="-228600" algn="l" rtl="0" fontAlgn="base">
        <a:spcBef>
          <a:spcPct val="20000"/>
        </a:spcBef>
        <a:spcAft>
          <a:spcPct val="0"/>
        </a:spcAft>
        <a:buChar char="»"/>
        <a:defRPr sz="1200">
          <a:solidFill>
            <a:schemeClr val="tx1"/>
          </a:solidFill>
          <a:latin typeface="+mn-lt"/>
          <a:ea typeface="+mn-ea"/>
        </a:defRPr>
      </a:lvl6pPr>
      <a:lvl7pPr marL="2971800" indent="-228600" algn="l" rtl="0" fontAlgn="base">
        <a:spcBef>
          <a:spcPct val="20000"/>
        </a:spcBef>
        <a:spcAft>
          <a:spcPct val="0"/>
        </a:spcAft>
        <a:buChar char="»"/>
        <a:defRPr sz="1200">
          <a:solidFill>
            <a:schemeClr val="tx1"/>
          </a:solidFill>
          <a:latin typeface="+mn-lt"/>
          <a:ea typeface="+mn-ea"/>
        </a:defRPr>
      </a:lvl7pPr>
      <a:lvl8pPr marL="3429000" indent="-228600" algn="l" rtl="0" fontAlgn="base">
        <a:spcBef>
          <a:spcPct val="20000"/>
        </a:spcBef>
        <a:spcAft>
          <a:spcPct val="0"/>
        </a:spcAft>
        <a:buChar char="»"/>
        <a:defRPr sz="1200">
          <a:solidFill>
            <a:schemeClr val="tx1"/>
          </a:solidFill>
          <a:latin typeface="+mn-lt"/>
          <a:ea typeface="+mn-ea"/>
        </a:defRPr>
      </a:lvl8pPr>
      <a:lvl9pPr marL="3886200" indent="-228600" algn="l" rtl="0" fontAlgn="base">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35.xml"/><Relationship Id="rId4" Type="http://schemas.openxmlformats.org/officeDocument/2006/relationships/image" Target="../media/image29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2.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ctrTitle"/>
          </p:nvPr>
        </p:nvSpPr>
        <p:spPr>
          <a:xfrm>
            <a:off x="391887" y="2677886"/>
            <a:ext cx="8501742" cy="1001485"/>
          </a:xfrm>
        </p:spPr>
        <p:txBody>
          <a:bodyPr/>
          <a:lstStyle/>
          <a:p>
            <a:r>
              <a:rPr lang="zh-CN" altLang="en-US" sz="4000" dirty="0">
                <a:solidFill>
                  <a:srgbClr val="000000"/>
                </a:solidFill>
              </a:rPr>
              <a:t>计算导论与程序设计</a:t>
            </a:r>
          </a:p>
        </p:txBody>
      </p:sp>
      <p:sp>
        <p:nvSpPr>
          <p:cNvPr id="10242" name="Rectangle 3"/>
          <p:cNvSpPr>
            <a:spLocks noGrp="1" noChangeArrowheads="1"/>
          </p:cNvSpPr>
          <p:nvPr>
            <p:ph type="subTitle" idx="1"/>
          </p:nvPr>
        </p:nvSpPr>
        <p:spPr>
          <a:xfrm>
            <a:off x="3067236" y="4539961"/>
            <a:ext cx="2943225" cy="813435"/>
          </a:xfrm>
        </p:spPr>
        <p:txBody>
          <a:bodyPr/>
          <a:lstStyle/>
          <a:p>
            <a:r>
              <a:rPr lang="zh-CN" altLang="en-US" sz="2400" dirty="0" smtClean="0"/>
              <a:t>数组</a:t>
            </a:r>
            <a:r>
              <a:rPr lang="zh-CN" altLang="en-US" sz="2400" dirty="0"/>
              <a:t>、查找、</a:t>
            </a:r>
            <a:r>
              <a:rPr lang="zh-CN" altLang="en-US" sz="2400" dirty="0" smtClean="0"/>
              <a:t>排序、递</a:t>
            </a:r>
            <a:r>
              <a:rPr lang="zh-CN" altLang="en-US" sz="2400" dirty="0"/>
              <a:t>推、迭代</a:t>
            </a:r>
          </a:p>
        </p:txBody>
      </p:sp>
      <p:pic>
        <p:nvPicPr>
          <p:cNvPr id="4" name="Picture 2" descr="http://www.sdu.edu.cn/2010/images/top222.jpg"/>
          <p:cNvPicPr>
            <a:picLocks noChangeAspect="1" noChangeArrowheads="1"/>
          </p:cNvPicPr>
          <p:nvPr/>
        </p:nvPicPr>
        <p:blipFill>
          <a:blip r:embed="rId2" cstate="print"/>
          <a:srcRect b="9109"/>
          <a:stretch>
            <a:fillRect/>
          </a:stretch>
        </p:blipFill>
        <p:spPr bwMode="auto">
          <a:xfrm>
            <a:off x="0" y="0"/>
            <a:ext cx="9144000" cy="254725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en-US" altLang="zh-CN" sz="3200" dirty="0"/>
              <a:t>6 </a:t>
            </a:r>
            <a:r>
              <a:rPr lang="zh-CN" altLang="en-US" sz="3200" dirty="0"/>
              <a:t>数据的组织与处理（</a:t>
            </a:r>
            <a:r>
              <a:rPr lang="en-US" altLang="zh-CN" sz="3200" dirty="0"/>
              <a:t>1</a:t>
            </a:r>
            <a:r>
              <a:rPr lang="zh-CN" altLang="en-US" sz="3200" dirty="0"/>
              <a:t>）</a:t>
            </a:r>
            <a:r>
              <a:rPr lang="en-US" altLang="zh-CN" sz="3200" dirty="0"/>
              <a:t>--</a:t>
            </a:r>
            <a:r>
              <a:rPr lang="zh-CN" altLang="en-US" sz="3200" dirty="0"/>
              <a:t>数组</a:t>
            </a:r>
            <a:endParaRPr lang="en-US" altLang="zh-CN" sz="3200" dirty="0"/>
          </a:p>
        </p:txBody>
      </p:sp>
      <p:sp>
        <p:nvSpPr>
          <p:cNvPr id="52226" name="Rectangle 3"/>
          <p:cNvSpPr>
            <a:spLocks noGrp="1" noChangeArrowheads="1"/>
          </p:cNvSpPr>
          <p:nvPr>
            <p:ph idx="1"/>
          </p:nvPr>
        </p:nvSpPr>
        <p:spPr>
          <a:xfrm>
            <a:off x="485775" y="1136649"/>
            <a:ext cx="8080375" cy="5002893"/>
          </a:xfrm>
        </p:spPr>
        <p:txBody>
          <a:bodyPr/>
          <a:lstStyle/>
          <a:p>
            <a:pPr marL="342900" indent="-342900">
              <a:buFont typeface="Wingdings" panose="05000000000000000000" pitchFamily="2" charset="2"/>
              <a:buChar char="l"/>
            </a:pPr>
            <a:r>
              <a:rPr lang="en-US" altLang="zh-CN" sz="2000" dirty="0"/>
              <a:t>6.1 </a:t>
            </a:r>
            <a:r>
              <a:rPr lang="zh-CN" altLang="en-US" sz="2000" dirty="0"/>
              <a:t>数组的概念、一维数组（参见</a:t>
            </a:r>
            <a:r>
              <a:rPr lang="en-US" altLang="zh-CN" sz="2000" dirty="0"/>
              <a:t>6.1</a:t>
            </a:r>
            <a:r>
              <a:rPr lang="zh-CN" altLang="en-US" sz="2000" dirty="0"/>
              <a:t>）</a:t>
            </a:r>
            <a:endParaRPr lang="en-US" altLang="zh-CN" sz="2000" dirty="0"/>
          </a:p>
          <a:p>
            <a:pPr marL="342900" indent="-342900">
              <a:buFont typeface="Wingdings" panose="05000000000000000000" pitchFamily="2" charset="2"/>
              <a:buChar char="l"/>
            </a:pPr>
            <a:r>
              <a:rPr lang="en-US" altLang="zh-CN" sz="2000" dirty="0"/>
              <a:t>6.2 </a:t>
            </a:r>
            <a:r>
              <a:rPr lang="zh-CN" altLang="en-US" sz="2000" dirty="0"/>
              <a:t>筛法</a:t>
            </a:r>
            <a:endParaRPr lang="en-US" altLang="zh-CN" sz="2000" dirty="0"/>
          </a:p>
          <a:p>
            <a:pPr marL="342900" indent="-342900">
              <a:buFont typeface="Wingdings" panose="05000000000000000000" pitchFamily="2" charset="2"/>
              <a:buChar char="l"/>
            </a:pPr>
            <a:r>
              <a:rPr lang="en-US" altLang="zh-CN" sz="2000" dirty="0"/>
              <a:t>6.3 </a:t>
            </a:r>
            <a:r>
              <a:rPr lang="zh-CN" altLang="en-US" sz="2000" dirty="0"/>
              <a:t>线性查找（和折半查找）</a:t>
            </a:r>
            <a:endParaRPr lang="en-US" altLang="zh-CN" sz="2000" dirty="0"/>
          </a:p>
          <a:p>
            <a:pPr marL="342900" indent="-342900">
              <a:buFont typeface="Wingdings" panose="05000000000000000000" pitchFamily="2" charset="2"/>
              <a:buChar char="l"/>
            </a:pPr>
            <a:r>
              <a:rPr lang="en-US" altLang="zh-CN" sz="2000" dirty="0"/>
              <a:t>6.4 </a:t>
            </a:r>
            <a:r>
              <a:rPr lang="zh-CN" altLang="en-US" sz="2000" dirty="0"/>
              <a:t>冒泡排序</a:t>
            </a:r>
            <a:endParaRPr lang="en-US" altLang="zh-CN" sz="2000" dirty="0"/>
          </a:p>
          <a:p>
            <a:pPr marL="342900" indent="-342900">
              <a:buFont typeface="Wingdings" panose="05000000000000000000" pitchFamily="2" charset="2"/>
              <a:buChar char="l"/>
            </a:pPr>
            <a:r>
              <a:rPr lang="en-US" altLang="zh-CN" sz="2000" dirty="0"/>
              <a:t>6.5 </a:t>
            </a:r>
            <a:r>
              <a:rPr lang="zh-CN" altLang="en-US" sz="2000" dirty="0"/>
              <a:t>递推（伪随机数）、迭代</a:t>
            </a:r>
            <a:endParaRPr lang="en-US" altLang="zh-CN" sz="2000" dirty="0"/>
          </a:p>
          <a:p>
            <a:pPr marL="342900" indent="-342900">
              <a:buFont typeface="Wingdings" panose="05000000000000000000" pitchFamily="2" charset="2"/>
              <a:buChar char="l"/>
            </a:pPr>
            <a:r>
              <a:rPr lang="en-US" altLang="zh-CN" sz="2000" dirty="0"/>
              <a:t>6.6 </a:t>
            </a:r>
            <a:r>
              <a:rPr lang="zh-CN" altLang="en-US" sz="2000" dirty="0"/>
              <a:t>指针与数组</a:t>
            </a:r>
            <a:endParaRPr lang="en-US" altLang="zh-CN" sz="2000" dirty="0"/>
          </a:p>
          <a:p>
            <a:pPr marL="342900" indent="-342900">
              <a:buFont typeface="Wingdings" panose="05000000000000000000" pitchFamily="2" charset="2"/>
              <a:buChar char="l"/>
            </a:pPr>
            <a:r>
              <a:rPr lang="en-US" altLang="zh-CN" sz="2000" dirty="0"/>
              <a:t>6.7 </a:t>
            </a:r>
            <a:r>
              <a:rPr lang="zh-CN" altLang="en-US" sz="2000" dirty="0"/>
              <a:t>字符数据及其处理（下一部分介绍）</a:t>
            </a:r>
            <a:endParaRPr lang="en-US" altLang="zh-CN" sz="2000" dirty="0"/>
          </a:p>
          <a:p>
            <a:pPr marL="342900" indent="-342900">
              <a:buFont typeface="Wingdings" panose="05000000000000000000" pitchFamily="2" charset="2"/>
              <a:buChar char="l"/>
            </a:pPr>
            <a:r>
              <a:rPr lang="en-US" altLang="zh-CN" sz="2000" dirty="0"/>
              <a:t>6.8 </a:t>
            </a:r>
            <a:r>
              <a:rPr lang="zh-CN" altLang="en-US" sz="2000" dirty="0"/>
              <a:t>二维数组</a:t>
            </a:r>
            <a:endParaRPr lang="en-US" altLang="zh-CN" sz="2000" dirty="0"/>
          </a:p>
          <a:p>
            <a:pPr marL="342900" indent="-342900">
              <a:buFont typeface="Wingdings" panose="05000000000000000000" pitchFamily="2" charset="2"/>
              <a:buChar char="l"/>
            </a:pPr>
            <a:r>
              <a:rPr lang="zh-CN" altLang="en-US" sz="2000" dirty="0"/>
              <a:t>多维数组</a:t>
            </a:r>
            <a:endParaRPr lang="en-US" altLang="zh-CN" sz="2000" dirty="0"/>
          </a:p>
          <a:p>
            <a:pPr marL="342900" indent="-342900">
              <a:buFont typeface="Wingdings" panose="05000000000000000000" pitchFamily="2" charset="2"/>
              <a:buChar char="l"/>
            </a:pPr>
            <a:endParaRPr lang="en-US" altLang="zh-CN" sz="2800" dirty="0"/>
          </a:p>
          <a:p>
            <a:pPr marL="342900" indent="-342900">
              <a:buFont typeface="Wingdings" panose="05000000000000000000" pitchFamily="2" charset="2"/>
              <a:buChar char="l"/>
            </a:pPr>
            <a:endParaRPr lang="en-US" altLang="zh-CN" sz="2800" dirty="0"/>
          </a:p>
        </p:txBody>
      </p:sp>
    </p:spTree>
    <p:extLst>
      <p:ext uri="{BB962C8B-B14F-4D97-AF65-F5344CB8AC3E}">
        <p14:creationId xmlns:p14="http://schemas.microsoft.com/office/powerpoint/2010/main" val="20064532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a:xfrm>
            <a:off x="493569" y="238559"/>
            <a:ext cx="7772400" cy="609600"/>
          </a:xfrm>
        </p:spPr>
        <p:txBody>
          <a:bodyPr/>
          <a:lstStyle/>
          <a:p>
            <a:r>
              <a:rPr lang="en-US" altLang="zh-CN" sz="3200" dirty="0"/>
              <a:t>6.1 </a:t>
            </a:r>
            <a:r>
              <a:rPr lang="zh-CN" altLang="en-US" sz="3200" dirty="0"/>
              <a:t>数组</a:t>
            </a:r>
          </a:p>
        </p:txBody>
      </p:sp>
      <p:sp>
        <p:nvSpPr>
          <p:cNvPr id="24579" name="Rectangle 3"/>
          <p:cNvSpPr>
            <a:spLocks noGrp="1" noRot="1" noChangeArrowheads="1"/>
          </p:cNvSpPr>
          <p:nvPr>
            <p:ph type="body" idx="1"/>
          </p:nvPr>
        </p:nvSpPr>
        <p:spPr>
          <a:xfrm>
            <a:off x="493569" y="1044575"/>
            <a:ext cx="8006195" cy="5356225"/>
          </a:xfrm>
        </p:spPr>
        <p:txBody>
          <a:bodyPr/>
          <a:lstStyle/>
          <a:p>
            <a:pPr marL="342900" indent="-342900">
              <a:buFont typeface="Wingdings" panose="05000000000000000000" pitchFamily="2" charset="2"/>
              <a:buChar char="l"/>
            </a:pPr>
            <a:r>
              <a:rPr lang="zh-CN" altLang="en-US" dirty="0"/>
              <a:t>问题：</a:t>
            </a:r>
            <a:endParaRPr lang="en-US" altLang="zh-CN" dirty="0"/>
          </a:p>
          <a:p>
            <a:pPr marL="971550" lvl="1"/>
            <a:r>
              <a:rPr lang="zh-CN" altLang="en-US" dirty="0">
                <a:solidFill>
                  <a:srgbClr val="000000"/>
                </a:solidFill>
              </a:rPr>
              <a:t>如何</a:t>
            </a:r>
            <a:r>
              <a:rPr lang="zh-CN" altLang="en-US" b="1" u="sng" dirty="0">
                <a:solidFill>
                  <a:srgbClr val="7030A0"/>
                </a:solidFill>
              </a:rPr>
              <a:t>快速地定义</a:t>
            </a:r>
            <a:r>
              <a:rPr lang="zh-CN" altLang="en-US" dirty="0">
                <a:solidFill>
                  <a:srgbClr val="000000"/>
                </a:solidFill>
              </a:rPr>
              <a:t>或声明</a:t>
            </a:r>
            <a:r>
              <a:rPr lang="en-US" altLang="zh-CN" dirty="0">
                <a:solidFill>
                  <a:srgbClr val="000000"/>
                </a:solidFill>
              </a:rPr>
              <a:t>100</a:t>
            </a:r>
            <a:r>
              <a:rPr lang="zh-CN" altLang="en-US" dirty="0">
                <a:solidFill>
                  <a:srgbClr val="000000"/>
                </a:solidFill>
              </a:rPr>
              <a:t>、</a:t>
            </a:r>
            <a:r>
              <a:rPr lang="en-US" altLang="zh-CN" dirty="0">
                <a:solidFill>
                  <a:srgbClr val="000000"/>
                </a:solidFill>
              </a:rPr>
              <a:t>1000</a:t>
            </a:r>
            <a:r>
              <a:rPr lang="zh-CN" altLang="en-US" dirty="0">
                <a:solidFill>
                  <a:srgbClr val="000000"/>
                </a:solidFill>
              </a:rPr>
              <a:t>个整型变量，浮点型变量、字符型变量等；</a:t>
            </a:r>
            <a:endParaRPr lang="en-US" altLang="zh-CN" dirty="0">
              <a:solidFill>
                <a:srgbClr val="000000"/>
              </a:solidFill>
            </a:endParaRPr>
          </a:p>
          <a:p>
            <a:pPr marL="971550" lvl="1"/>
            <a:r>
              <a:rPr lang="zh-CN" altLang="en-US" dirty="0"/>
              <a:t>如何</a:t>
            </a:r>
            <a:r>
              <a:rPr lang="zh-CN" altLang="en-US" b="1" u="sng" dirty="0">
                <a:solidFill>
                  <a:srgbClr val="7030A0"/>
                </a:solidFill>
              </a:rPr>
              <a:t>方便、快速地访问</a:t>
            </a:r>
            <a:r>
              <a:rPr lang="zh-CN" altLang="en-US" dirty="0"/>
              <a:t>它们？</a:t>
            </a:r>
            <a:endParaRPr lang="en-US" altLang="zh-CN" dirty="0"/>
          </a:p>
          <a:p>
            <a:pPr marL="971550" lvl="1"/>
            <a:r>
              <a:rPr lang="en-US" altLang="zh-CN" dirty="0">
                <a:solidFill>
                  <a:srgbClr val="000000"/>
                </a:solidFill>
              </a:rPr>
              <a:t>….</a:t>
            </a:r>
            <a:endParaRPr lang="zh-CN" altLang="en-US" dirty="0">
              <a:solidFill>
                <a:srgbClr val="000000"/>
              </a:solidFill>
            </a:endParaRPr>
          </a:p>
          <a:p>
            <a:endParaRPr lang="zh-CN" altLang="en-US" b="1" dirty="0"/>
          </a:p>
          <a:p>
            <a:pPr marL="342900" indent="-342900" algn="just">
              <a:buFont typeface="Wingdings" panose="05000000000000000000" pitchFamily="2" charset="2"/>
              <a:buChar char="l"/>
            </a:pPr>
            <a:r>
              <a:rPr lang="en-US" altLang="zh-CN" dirty="0"/>
              <a:t>Solution</a:t>
            </a:r>
            <a:r>
              <a:rPr lang="zh-CN" altLang="en-US" dirty="0"/>
              <a:t>：</a:t>
            </a:r>
            <a:endParaRPr lang="en-US" altLang="zh-CN" dirty="0"/>
          </a:p>
          <a:p>
            <a:pPr marL="971550" lvl="1" algn="just"/>
            <a:r>
              <a:rPr lang="zh-CN" altLang="en-US" dirty="0"/>
              <a:t>利用</a:t>
            </a:r>
            <a:r>
              <a:rPr lang="zh-CN" altLang="en-US" b="1" dirty="0" smtClean="0">
                <a:solidFill>
                  <a:srgbClr val="C00000"/>
                </a:solidFill>
              </a:rPr>
              <a:t>数组</a:t>
            </a:r>
            <a:r>
              <a:rPr lang="zh-CN" altLang="en-US" dirty="0" smtClean="0"/>
              <a:t>可方便地定义或声明</a:t>
            </a:r>
            <a:r>
              <a:rPr lang="zh-CN" altLang="en-US" b="1" dirty="0" smtClean="0">
                <a:solidFill>
                  <a:srgbClr val="0303DF"/>
                </a:solidFill>
              </a:rPr>
              <a:t>类型相同</a:t>
            </a:r>
            <a:r>
              <a:rPr lang="zh-CN" altLang="en-US" dirty="0" smtClean="0"/>
              <a:t>的</a:t>
            </a:r>
            <a:r>
              <a:rPr lang="zh-CN" altLang="en-US" dirty="0" smtClean="0">
                <a:solidFill>
                  <a:srgbClr val="7030A0"/>
                </a:solidFill>
              </a:rPr>
              <a:t>多个变量</a:t>
            </a:r>
            <a:r>
              <a:rPr lang="zh-CN" altLang="en-US" dirty="0" smtClean="0"/>
              <a:t>；</a:t>
            </a:r>
            <a:endParaRPr lang="en-US" altLang="zh-CN" dirty="0"/>
          </a:p>
          <a:p>
            <a:pPr marL="971550" lvl="1" algn="just"/>
            <a:r>
              <a:rPr lang="zh-CN" altLang="en-US" b="1" dirty="0">
                <a:solidFill>
                  <a:srgbClr val="C00000"/>
                </a:solidFill>
              </a:rPr>
              <a:t>数组</a:t>
            </a:r>
            <a:r>
              <a:rPr lang="en-US" altLang="zh-CN" b="1" dirty="0">
                <a:solidFill>
                  <a:srgbClr val="C00000"/>
                </a:solidFill>
              </a:rPr>
              <a:t>+</a:t>
            </a:r>
            <a:r>
              <a:rPr lang="zh-CN" altLang="en-US" b="1" dirty="0">
                <a:solidFill>
                  <a:srgbClr val="C00000"/>
                </a:solidFill>
              </a:rPr>
              <a:t>循环结构</a:t>
            </a:r>
            <a:r>
              <a:rPr lang="zh-CN" altLang="en-US" dirty="0"/>
              <a:t>可方便、快速地访问这些变量；</a:t>
            </a:r>
            <a:endParaRPr lang="en-US" altLang="zh-CN" dirty="0"/>
          </a:p>
          <a:p>
            <a:pPr marL="971550" lvl="1" algn="just"/>
            <a:endParaRPr lang="en-US" altLang="zh-CN" dirty="0"/>
          </a:p>
          <a:p>
            <a:pPr lvl="1" algn="just"/>
            <a:endParaRPr lang="zh-CN" altLang="en-US" b="1" dirty="0"/>
          </a:p>
        </p:txBody>
      </p:sp>
    </p:spTree>
    <p:extLst>
      <p:ext uri="{BB962C8B-B14F-4D97-AF65-F5344CB8AC3E}">
        <p14:creationId xmlns:p14="http://schemas.microsoft.com/office/powerpoint/2010/main" val="16138736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a:xfrm>
            <a:off x="493569" y="238559"/>
            <a:ext cx="7772400" cy="609600"/>
          </a:xfrm>
        </p:spPr>
        <p:txBody>
          <a:bodyPr/>
          <a:lstStyle/>
          <a:p>
            <a:r>
              <a:rPr lang="zh-CN" altLang="en-US" sz="3200" dirty="0"/>
              <a:t>数组</a:t>
            </a:r>
          </a:p>
        </p:txBody>
      </p:sp>
      <p:sp>
        <p:nvSpPr>
          <p:cNvPr id="24579" name="Rectangle 3"/>
          <p:cNvSpPr>
            <a:spLocks noGrp="1" noRot="1" noChangeArrowheads="1"/>
          </p:cNvSpPr>
          <p:nvPr>
            <p:ph type="body" idx="1"/>
          </p:nvPr>
        </p:nvSpPr>
        <p:spPr>
          <a:xfrm>
            <a:off x="493569" y="1044575"/>
            <a:ext cx="8006195" cy="5356225"/>
          </a:xfrm>
        </p:spPr>
        <p:txBody>
          <a:bodyPr/>
          <a:lstStyle/>
          <a:p>
            <a:pPr marL="342900" indent="-342900">
              <a:lnSpc>
                <a:spcPct val="100000"/>
              </a:lnSpc>
              <a:spcBef>
                <a:spcPts val="600"/>
              </a:spcBef>
              <a:buFont typeface="Wingdings" panose="05000000000000000000" pitchFamily="2" charset="2"/>
              <a:buChar char="l"/>
            </a:pPr>
            <a:r>
              <a:rPr lang="zh-CN" altLang="en-US" dirty="0" smtClean="0"/>
              <a:t>前面所</a:t>
            </a:r>
            <a:r>
              <a:rPr lang="zh-CN" altLang="en-US" dirty="0"/>
              <a:t>使用的数据都属于</a:t>
            </a:r>
            <a:r>
              <a:rPr lang="zh-CN" altLang="en-US" dirty="0">
                <a:solidFill>
                  <a:srgbClr val="FF3300"/>
                </a:solidFill>
              </a:rPr>
              <a:t>基本数据类型</a:t>
            </a:r>
            <a:endParaRPr lang="en-US" altLang="zh-CN" dirty="0">
              <a:solidFill>
                <a:srgbClr val="FF3300"/>
              </a:solidFill>
            </a:endParaRPr>
          </a:p>
          <a:p>
            <a:pPr marL="971550" lvl="1">
              <a:lnSpc>
                <a:spcPct val="100000"/>
              </a:lnSpc>
              <a:spcBef>
                <a:spcPts val="600"/>
              </a:spcBef>
            </a:pPr>
            <a:r>
              <a:rPr lang="zh-CN" altLang="en-US" b="1" dirty="0">
                <a:solidFill>
                  <a:srgbClr val="030DCD"/>
                </a:solidFill>
              </a:rPr>
              <a:t>整型</a:t>
            </a:r>
            <a:r>
              <a:rPr lang="zh-CN" altLang="en-US" b="1" dirty="0" smtClean="0">
                <a:solidFill>
                  <a:srgbClr val="030DCD"/>
                </a:solidFill>
              </a:rPr>
              <a:t>，浮点型，字符型，（指针）</a:t>
            </a:r>
            <a:endParaRPr lang="en-US" altLang="zh-CN" b="1" dirty="0">
              <a:solidFill>
                <a:srgbClr val="030DCD"/>
              </a:solidFill>
            </a:endParaRPr>
          </a:p>
          <a:p>
            <a:pPr marL="342900" indent="-342900">
              <a:lnSpc>
                <a:spcPct val="100000"/>
              </a:lnSpc>
              <a:spcBef>
                <a:spcPts val="600"/>
              </a:spcBef>
              <a:buFont typeface="Wingdings" panose="05000000000000000000" pitchFamily="2" charset="2"/>
              <a:buChar char="l"/>
            </a:pPr>
            <a:r>
              <a:rPr lang="en-US" altLang="zh-CN" dirty="0"/>
              <a:t>C</a:t>
            </a:r>
            <a:r>
              <a:rPr lang="zh-CN" altLang="en-US" dirty="0"/>
              <a:t>语言除了提供基本数据类型外，还提供了</a:t>
            </a:r>
            <a:r>
              <a:rPr lang="zh-CN" altLang="en-US" u="sng" dirty="0">
                <a:solidFill>
                  <a:srgbClr val="FF3300"/>
                </a:solidFill>
              </a:rPr>
              <a:t>构造类型</a:t>
            </a:r>
            <a:r>
              <a:rPr lang="zh-CN" altLang="en-US" dirty="0"/>
              <a:t>的数据，其中常用的有</a:t>
            </a:r>
            <a:r>
              <a:rPr lang="zh-CN" altLang="en-US" b="1" dirty="0">
                <a:solidFill>
                  <a:srgbClr val="FF0000"/>
                </a:solidFill>
              </a:rPr>
              <a:t>数组类型</a:t>
            </a:r>
            <a:r>
              <a:rPr lang="zh-CN" altLang="en-US" dirty="0">
                <a:solidFill>
                  <a:srgbClr val="030DCD"/>
                </a:solidFill>
              </a:rPr>
              <a:t>、</a:t>
            </a:r>
            <a:r>
              <a:rPr lang="zh-CN" altLang="en-US" b="1" dirty="0">
                <a:solidFill>
                  <a:srgbClr val="030DCD"/>
                </a:solidFill>
              </a:rPr>
              <a:t>结构体类型</a:t>
            </a:r>
            <a:r>
              <a:rPr lang="zh-CN" altLang="en-US" dirty="0">
                <a:solidFill>
                  <a:srgbClr val="030DCD"/>
                </a:solidFill>
              </a:rPr>
              <a:t>、</a:t>
            </a:r>
            <a:r>
              <a:rPr lang="zh-CN" altLang="en-US" b="1" dirty="0">
                <a:solidFill>
                  <a:srgbClr val="7030A0"/>
                </a:solidFill>
              </a:rPr>
              <a:t>共同体类型</a:t>
            </a:r>
            <a:r>
              <a:rPr lang="zh-CN" altLang="en-US" dirty="0"/>
              <a:t>等</a:t>
            </a:r>
            <a:r>
              <a:rPr lang="en-US" altLang="zh-CN" dirty="0"/>
              <a:t>;</a:t>
            </a:r>
          </a:p>
          <a:p>
            <a:pPr marL="342900" indent="-342900">
              <a:lnSpc>
                <a:spcPct val="100000"/>
              </a:lnSpc>
              <a:spcBef>
                <a:spcPts val="600"/>
              </a:spcBef>
              <a:buFont typeface="Wingdings" panose="05000000000000000000" pitchFamily="2" charset="2"/>
              <a:buChar char="l"/>
            </a:pPr>
            <a:r>
              <a:rPr lang="zh-CN" altLang="en-US" dirty="0"/>
              <a:t>构造数据类型是由基本数据类型的数据按照一定的规则组成，所以也称为</a:t>
            </a:r>
            <a:r>
              <a:rPr lang="zh-CN" altLang="en-US" b="1" dirty="0">
                <a:solidFill>
                  <a:srgbClr val="006600"/>
                </a:solidFill>
              </a:rPr>
              <a:t>“导出类型”；</a:t>
            </a:r>
            <a:endParaRPr lang="en-US" altLang="zh-CN" b="1" dirty="0">
              <a:solidFill>
                <a:srgbClr val="006600"/>
              </a:solidFill>
            </a:endParaRPr>
          </a:p>
          <a:p>
            <a:pPr marL="342900" indent="-342900">
              <a:buFont typeface="Wingdings" panose="05000000000000000000" pitchFamily="2" charset="2"/>
              <a:buChar char="l"/>
            </a:pPr>
            <a:endParaRPr lang="en-US" altLang="zh-CN" sz="2000" dirty="0">
              <a:solidFill>
                <a:srgbClr val="FF3300"/>
              </a:solidFill>
            </a:endParaRPr>
          </a:p>
          <a:p>
            <a:pPr algn="just"/>
            <a:endParaRPr lang="zh-CN" altLang="en-US" b="1" dirty="0"/>
          </a:p>
        </p:txBody>
      </p:sp>
    </p:spTree>
    <p:extLst>
      <p:ext uri="{BB962C8B-B14F-4D97-AF65-F5344CB8AC3E}">
        <p14:creationId xmlns:p14="http://schemas.microsoft.com/office/powerpoint/2010/main" val="39066924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5" name="Rectangle 3"/>
          <p:cNvSpPr>
            <a:spLocks noGrp="1" noRot="1" noChangeArrowheads="1"/>
          </p:cNvSpPr>
          <p:nvPr>
            <p:ph type="body" idx="1"/>
          </p:nvPr>
        </p:nvSpPr>
        <p:spPr>
          <a:xfrm>
            <a:off x="493569" y="981075"/>
            <a:ext cx="7963044" cy="5409334"/>
          </a:xfrm>
        </p:spPr>
        <p:txBody>
          <a:bodyPr/>
          <a:lstStyle/>
          <a:p>
            <a:pPr marL="342900" indent="-342900">
              <a:buFont typeface="Wingdings" panose="05000000000000000000" pitchFamily="2" charset="2"/>
              <a:buChar char="l"/>
            </a:pPr>
            <a:r>
              <a:rPr lang="zh-CN" altLang="en-US" b="1" dirty="0">
                <a:latin typeface="+mn-ea"/>
              </a:rPr>
              <a:t>基本概念</a:t>
            </a:r>
          </a:p>
          <a:p>
            <a:pPr marL="971550" lvl="1"/>
            <a:r>
              <a:rPr lang="zh-CN" altLang="en-US" b="1" dirty="0">
                <a:latin typeface="+mn-ea"/>
              </a:rPr>
              <a:t>数组是一种</a:t>
            </a:r>
            <a:r>
              <a:rPr lang="zh-CN" altLang="en-US" b="1" dirty="0">
                <a:solidFill>
                  <a:srgbClr val="C00000"/>
                </a:solidFill>
                <a:latin typeface="+mn-ea"/>
              </a:rPr>
              <a:t>基于基本数据类型</a:t>
            </a:r>
            <a:r>
              <a:rPr lang="zh-CN" altLang="en-US" b="1" dirty="0">
                <a:latin typeface="+mn-ea"/>
              </a:rPr>
              <a:t>的</a:t>
            </a:r>
            <a:r>
              <a:rPr lang="zh-CN" altLang="en-US" b="1" dirty="0">
                <a:solidFill>
                  <a:srgbClr val="0303DF"/>
                </a:solidFill>
                <a:latin typeface="+mn-ea"/>
              </a:rPr>
              <a:t>构造类型</a:t>
            </a:r>
            <a:r>
              <a:rPr lang="zh-CN" altLang="en-US" b="1" dirty="0">
                <a:latin typeface="+mn-ea"/>
              </a:rPr>
              <a:t>；</a:t>
            </a:r>
            <a:endParaRPr lang="en-US" altLang="zh-CN" b="1" dirty="0">
              <a:latin typeface="+mn-ea"/>
            </a:endParaRPr>
          </a:p>
          <a:p>
            <a:pPr marL="971550" lvl="1"/>
            <a:r>
              <a:rPr lang="zh-CN" altLang="en-US" b="1" dirty="0">
                <a:latin typeface="+mn-ea"/>
              </a:rPr>
              <a:t>数组：一组具有</a:t>
            </a:r>
            <a:r>
              <a:rPr lang="zh-CN" altLang="en-US" b="1" dirty="0">
                <a:solidFill>
                  <a:srgbClr val="0000CC"/>
                </a:solidFill>
                <a:latin typeface="+mn-ea"/>
              </a:rPr>
              <a:t>相同数据类型</a:t>
            </a:r>
            <a:r>
              <a:rPr lang="zh-CN" altLang="en-US" b="1" dirty="0">
                <a:latin typeface="+mn-ea"/>
              </a:rPr>
              <a:t>的</a:t>
            </a:r>
            <a:r>
              <a:rPr lang="zh-CN" altLang="en-US" b="1" dirty="0">
                <a:solidFill>
                  <a:srgbClr val="FF3300"/>
                </a:solidFill>
                <a:latin typeface="+mn-ea"/>
              </a:rPr>
              <a:t>数据</a:t>
            </a:r>
            <a:r>
              <a:rPr lang="zh-CN" altLang="en-US" b="1" dirty="0">
                <a:latin typeface="+mn-ea"/>
              </a:rPr>
              <a:t>的</a:t>
            </a:r>
            <a:r>
              <a:rPr lang="zh-CN" altLang="en-US" b="1" u="sng" dirty="0">
                <a:solidFill>
                  <a:srgbClr val="FF3300"/>
                </a:solidFill>
                <a:latin typeface="+mn-ea"/>
              </a:rPr>
              <a:t>有序集合</a:t>
            </a:r>
            <a:r>
              <a:rPr lang="zh-CN" altLang="en-US" b="1" dirty="0">
                <a:solidFill>
                  <a:srgbClr val="FF3300"/>
                </a:solidFill>
                <a:latin typeface="+mn-ea"/>
              </a:rPr>
              <a:t>。</a:t>
            </a:r>
            <a:endParaRPr lang="en-US" altLang="zh-CN" b="1" dirty="0">
              <a:solidFill>
                <a:srgbClr val="FF3300"/>
              </a:solidFill>
              <a:latin typeface="+mn-ea"/>
            </a:endParaRPr>
          </a:p>
          <a:p>
            <a:pPr marL="971550" lvl="1" algn="just"/>
            <a:r>
              <a:rPr lang="zh-CN" altLang="en-US" b="1" dirty="0">
                <a:solidFill>
                  <a:srgbClr val="006600"/>
                </a:solidFill>
                <a:latin typeface="+mn-ea"/>
              </a:rPr>
              <a:t>数组</a:t>
            </a:r>
            <a:r>
              <a:rPr lang="zh-CN" altLang="en-US" b="1" u="sng" dirty="0">
                <a:solidFill>
                  <a:srgbClr val="006600"/>
                </a:solidFill>
                <a:latin typeface="+mn-ea"/>
              </a:rPr>
              <a:t>元素</a:t>
            </a:r>
            <a:r>
              <a:rPr lang="zh-CN" altLang="en-US" dirty="0">
                <a:latin typeface="+mn-ea"/>
              </a:rPr>
              <a:t>：构成数组的</a:t>
            </a:r>
            <a:r>
              <a:rPr lang="zh-CN" altLang="en-US" dirty="0">
                <a:solidFill>
                  <a:srgbClr val="FF3300"/>
                </a:solidFill>
                <a:latin typeface="+mn-ea"/>
              </a:rPr>
              <a:t>数据</a:t>
            </a:r>
            <a:r>
              <a:rPr lang="zh-CN" altLang="en-US" dirty="0">
                <a:latin typeface="+mn-ea"/>
              </a:rPr>
              <a:t>。</a:t>
            </a:r>
            <a:endParaRPr lang="en-US" altLang="zh-CN" dirty="0">
              <a:latin typeface="+mn-ea"/>
            </a:endParaRPr>
          </a:p>
          <a:p>
            <a:pPr marL="1371600" lvl="2" indent="-342900" algn="just">
              <a:buFont typeface="Wingdings" panose="05000000000000000000" pitchFamily="2" charset="2"/>
              <a:buChar char="ü"/>
            </a:pPr>
            <a:r>
              <a:rPr lang="zh-CN" altLang="en-US" sz="1800" dirty="0">
                <a:latin typeface="+mn-ea"/>
              </a:rPr>
              <a:t>数组中的每一个数组元素具有</a:t>
            </a:r>
            <a:r>
              <a:rPr lang="zh-CN" altLang="en-US" sz="1800" dirty="0">
                <a:solidFill>
                  <a:srgbClr val="0000CC"/>
                </a:solidFill>
                <a:latin typeface="+mn-ea"/>
              </a:rPr>
              <a:t>相同的数据类型</a:t>
            </a:r>
            <a:r>
              <a:rPr lang="zh-CN" altLang="en-US" sz="1800" dirty="0">
                <a:latin typeface="+mn-ea"/>
              </a:rPr>
              <a:t>，</a:t>
            </a:r>
            <a:r>
              <a:rPr lang="zh-CN" altLang="en-US" sz="1800" dirty="0">
                <a:solidFill>
                  <a:srgbClr val="FF3300"/>
                </a:solidFill>
                <a:latin typeface="+mn-ea"/>
              </a:rPr>
              <a:t>相同的名称</a:t>
            </a:r>
            <a:r>
              <a:rPr lang="zh-CN" altLang="en-US" sz="1800" dirty="0">
                <a:latin typeface="+mn-ea"/>
              </a:rPr>
              <a:t>，</a:t>
            </a:r>
            <a:r>
              <a:rPr lang="zh-CN" altLang="en-US" sz="1800" dirty="0">
                <a:solidFill>
                  <a:srgbClr val="7030A0"/>
                </a:solidFill>
                <a:latin typeface="+mn-ea"/>
              </a:rPr>
              <a:t>不同的下标</a:t>
            </a:r>
            <a:r>
              <a:rPr lang="zh-CN" altLang="en-US" sz="1800" dirty="0">
                <a:latin typeface="+mn-ea"/>
              </a:rPr>
              <a:t>，可以作为</a:t>
            </a:r>
            <a:r>
              <a:rPr lang="zh-CN" altLang="en-US" sz="1800" dirty="0">
                <a:solidFill>
                  <a:srgbClr val="FF3300"/>
                </a:solidFill>
                <a:latin typeface="+mn-ea"/>
              </a:rPr>
              <a:t>单个变量</a:t>
            </a:r>
            <a:r>
              <a:rPr lang="zh-CN" altLang="en-US" sz="1800" dirty="0">
                <a:latin typeface="+mn-ea"/>
              </a:rPr>
              <a:t>使用。</a:t>
            </a:r>
            <a:endParaRPr lang="en-US" altLang="zh-CN" sz="1800" dirty="0">
              <a:latin typeface="+mn-ea"/>
            </a:endParaRPr>
          </a:p>
          <a:p>
            <a:pPr marL="971550" lvl="1" algn="just"/>
            <a:r>
              <a:rPr lang="zh-CN" altLang="en-US" b="1" dirty="0">
                <a:solidFill>
                  <a:srgbClr val="006600"/>
                </a:solidFill>
                <a:latin typeface="+mn-ea"/>
              </a:rPr>
              <a:t>数组的</a:t>
            </a:r>
            <a:r>
              <a:rPr lang="zh-CN" altLang="en-US" b="1" u="sng" dirty="0">
                <a:solidFill>
                  <a:srgbClr val="006600"/>
                </a:solidFill>
                <a:latin typeface="+mn-ea"/>
              </a:rPr>
              <a:t>下标</a:t>
            </a:r>
            <a:r>
              <a:rPr lang="zh-CN" altLang="en-US" dirty="0">
                <a:latin typeface="+mn-ea"/>
              </a:rPr>
              <a:t>：是数组元素的</a:t>
            </a:r>
            <a:r>
              <a:rPr lang="zh-CN" altLang="en-US" dirty="0">
                <a:solidFill>
                  <a:srgbClr val="FF3300"/>
                </a:solidFill>
                <a:latin typeface="+mn-ea"/>
              </a:rPr>
              <a:t>位置</a:t>
            </a:r>
            <a:r>
              <a:rPr lang="zh-CN" altLang="en-US" dirty="0">
                <a:latin typeface="+mn-ea"/>
              </a:rPr>
              <a:t>的一个</a:t>
            </a:r>
            <a:r>
              <a:rPr lang="zh-CN" altLang="en-US" dirty="0">
                <a:solidFill>
                  <a:srgbClr val="FF3300"/>
                </a:solidFill>
                <a:latin typeface="+mn-ea"/>
              </a:rPr>
              <a:t>索引或指示</a:t>
            </a:r>
            <a:r>
              <a:rPr lang="zh-CN" altLang="en-US" dirty="0">
                <a:latin typeface="+mn-ea"/>
              </a:rPr>
              <a:t>。</a:t>
            </a:r>
            <a:endParaRPr lang="en-US" altLang="zh-CN" dirty="0">
              <a:latin typeface="+mn-ea"/>
            </a:endParaRPr>
          </a:p>
          <a:p>
            <a:pPr marL="1314450" lvl="2" indent="-285750" algn="just">
              <a:buFont typeface="Wingdings" panose="05000000000000000000" pitchFamily="2" charset="2"/>
              <a:buChar char="ü"/>
            </a:pPr>
            <a:r>
              <a:rPr lang="zh-CN" altLang="en-US" sz="1800" dirty="0">
                <a:latin typeface="+mn-ea"/>
                <a:cs typeface=""/>
              </a:rPr>
              <a:t>用</a:t>
            </a:r>
            <a:r>
              <a:rPr lang="zh-CN" altLang="en-US" sz="1800" dirty="0">
                <a:solidFill>
                  <a:srgbClr val="FF3300"/>
                </a:solidFill>
                <a:latin typeface="+mn-ea"/>
                <a:cs typeface=""/>
              </a:rPr>
              <a:t>数组名</a:t>
            </a:r>
            <a:r>
              <a:rPr lang="zh-CN" altLang="en-US" sz="1800" dirty="0">
                <a:latin typeface="+mn-ea"/>
                <a:cs typeface=""/>
              </a:rPr>
              <a:t>和</a:t>
            </a:r>
            <a:r>
              <a:rPr lang="zh-CN" altLang="en-US" sz="1800" dirty="0">
                <a:solidFill>
                  <a:srgbClr val="FF3300"/>
                </a:solidFill>
                <a:latin typeface="+mn-ea"/>
                <a:cs typeface=""/>
              </a:rPr>
              <a:t>下标</a:t>
            </a:r>
            <a:r>
              <a:rPr lang="zh-CN" altLang="en-US" sz="1800" dirty="0">
                <a:latin typeface="+mn-ea"/>
                <a:cs typeface=""/>
              </a:rPr>
              <a:t>来唯一确定数组中的元素。</a:t>
            </a:r>
            <a:endParaRPr lang="zh-CN" altLang="en-US" sz="1800" dirty="0">
              <a:latin typeface="+mn-ea"/>
            </a:endParaRPr>
          </a:p>
          <a:p>
            <a:pPr marL="971550" lvl="1" algn="just"/>
            <a:r>
              <a:rPr lang="zh-CN" altLang="en-US" b="1" dirty="0">
                <a:solidFill>
                  <a:srgbClr val="006600"/>
                </a:solidFill>
                <a:latin typeface="+mn-ea"/>
              </a:rPr>
              <a:t>数组的</a:t>
            </a:r>
            <a:r>
              <a:rPr lang="zh-CN" altLang="en-US" b="1" u="sng" dirty="0">
                <a:solidFill>
                  <a:srgbClr val="006600"/>
                </a:solidFill>
                <a:latin typeface="+mn-ea"/>
              </a:rPr>
              <a:t>维数</a:t>
            </a:r>
            <a:r>
              <a:rPr lang="zh-CN" altLang="en-US" dirty="0">
                <a:latin typeface="+mn-ea"/>
              </a:rPr>
              <a:t>：</a:t>
            </a:r>
            <a:r>
              <a:rPr lang="zh-CN" altLang="en-US" b="1" dirty="0">
                <a:latin typeface="+mn-ea"/>
              </a:rPr>
              <a:t>数组元素</a:t>
            </a:r>
            <a:r>
              <a:rPr lang="zh-CN" altLang="en-US" b="1" dirty="0">
                <a:solidFill>
                  <a:srgbClr val="030DCD"/>
                </a:solidFill>
                <a:latin typeface="+mn-ea"/>
              </a:rPr>
              <a:t>下标</a:t>
            </a:r>
            <a:r>
              <a:rPr lang="zh-CN" altLang="en-US" b="1" dirty="0">
                <a:solidFill>
                  <a:srgbClr val="FF3300"/>
                </a:solidFill>
                <a:latin typeface="+mn-ea"/>
              </a:rPr>
              <a:t>的个数</a:t>
            </a:r>
            <a:r>
              <a:rPr lang="zh-CN" altLang="en-US" dirty="0">
                <a:latin typeface="+mn-ea"/>
              </a:rPr>
              <a:t>。根据数组的维数可以将数组分为一维、二维、三维等多维数组；</a:t>
            </a:r>
            <a:endParaRPr lang="en-US" altLang="zh-CN" dirty="0">
              <a:latin typeface="+mn-ea"/>
            </a:endParaRPr>
          </a:p>
          <a:p>
            <a:pPr marL="342900" indent="-342900" algn="just">
              <a:buFont typeface="Wingdings" panose="05000000000000000000" pitchFamily="2" charset="2"/>
              <a:buChar char="l"/>
            </a:pPr>
            <a:r>
              <a:rPr lang="zh-CN" altLang="en-US" b="1" dirty="0">
                <a:latin typeface="+mn-ea"/>
              </a:rPr>
              <a:t>利用数组，可以</a:t>
            </a:r>
            <a:endParaRPr lang="en-US" altLang="zh-CN" b="1" dirty="0">
              <a:latin typeface="+mn-ea"/>
            </a:endParaRPr>
          </a:p>
          <a:p>
            <a:pPr marL="971550" lvl="1" algn="just"/>
            <a:r>
              <a:rPr lang="zh-CN" altLang="en-US" dirty="0">
                <a:solidFill>
                  <a:srgbClr val="030DCD"/>
                </a:solidFill>
                <a:latin typeface="+mn-ea"/>
              </a:rPr>
              <a:t>方便定义大量同类型的变量（数组元素）；</a:t>
            </a:r>
            <a:endParaRPr lang="en-US" altLang="zh-CN" dirty="0">
              <a:solidFill>
                <a:srgbClr val="030DCD"/>
              </a:solidFill>
              <a:latin typeface="+mn-ea"/>
            </a:endParaRPr>
          </a:p>
          <a:p>
            <a:pPr marL="971550" lvl="1" algn="just"/>
            <a:r>
              <a:rPr lang="zh-CN" altLang="en-US" dirty="0">
                <a:solidFill>
                  <a:srgbClr val="030DCD"/>
                </a:solidFill>
                <a:latin typeface="+mn-ea"/>
              </a:rPr>
              <a:t>可以利用循环语句方便地访问这些变量（数组元素）；</a:t>
            </a:r>
          </a:p>
          <a:p>
            <a:pPr marL="971550" lvl="1" algn="just"/>
            <a:endParaRPr lang="en-US" altLang="zh-CN" dirty="0"/>
          </a:p>
          <a:p>
            <a:pPr marL="342900" indent="-342900" algn="just">
              <a:buFont typeface="Wingdings" panose="05000000000000000000" pitchFamily="2" charset="2"/>
              <a:buChar char="l"/>
            </a:pPr>
            <a:endParaRPr lang="en-US" altLang="zh-CN" b="1" dirty="0"/>
          </a:p>
          <a:p>
            <a:pPr marL="342900" indent="-342900" algn="just">
              <a:buFont typeface="Wingdings" panose="05000000000000000000" pitchFamily="2" charset="2"/>
              <a:buChar char="l"/>
            </a:pPr>
            <a:endParaRPr lang="zh-CN" altLang="en-US" b="1" dirty="0"/>
          </a:p>
        </p:txBody>
      </p:sp>
      <p:sp>
        <p:nvSpPr>
          <p:cNvPr id="3" name="Rectangle 2"/>
          <p:cNvSpPr>
            <a:spLocks noGrp="1" noRot="1" noChangeArrowheads="1"/>
          </p:cNvSpPr>
          <p:nvPr>
            <p:ph type="title"/>
          </p:nvPr>
        </p:nvSpPr>
        <p:spPr>
          <a:xfrm>
            <a:off x="493569" y="238559"/>
            <a:ext cx="7772400" cy="609600"/>
          </a:xfrm>
        </p:spPr>
        <p:txBody>
          <a:bodyPr/>
          <a:lstStyle/>
          <a:p>
            <a:r>
              <a:rPr lang="zh-CN" altLang="en-US" sz="3200" dirty="0"/>
              <a:t>数组</a:t>
            </a:r>
          </a:p>
        </p:txBody>
      </p:sp>
    </p:spTree>
    <p:extLst>
      <p:ext uri="{BB962C8B-B14F-4D97-AF65-F5344CB8AC3E}">
        <p14:creationId xmlns:p14="http://schemas.microsoft.com/office/powerpoint/2010/main" val="26563664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1" name="Rectangle 3"/>
          <p:cNvSpPr>
            <a:spLocks noGrp="1" noRot="1" noChangeArrowheads="1"/>
          </p:cNvSpPr>
          <p:nvPr>
            <p:ph type="body" idx="1"/>
          </p:nvPr>
        </p:nvSpPr>
        <p:spPr>
          <a:xfrm>
            <a:off x="493569" y="1026897"/>
            <a:ext cx="8047758" cy="5405076"/>
          </a:xfrm>
        </p:spPr>
        <p:txBody>
          <a:bodyPr/>
          <a:lstStyle/>
          <a:p>
            <a:pPr marL="342900" indent="-342900" algn="just">
              <a:buFont typeface="Wingdings" panose="05000000000000000000" pitchFamily="2" charset="2"/>
              <a:buChar char="l"/>
            </a:pPr>
            <a:r>
              <a:rPr lang="zh-CN" altLang="en-US" dirty="0"/>
              <a:t>需要理解以下问题</a:t>
            </a:r>
            <a:endParaRPr lang="en-US" altLang="zh-CN" dirty="0"/>
          </a:p>
          <a:p>
            <a:pPr marL="971550" lvl="1" algn="just"/>
            <a:r>
              <a:rPr lang="zh-CN" altLang="en-US" dirty="0"/>
              <a:t>如何定义或声明一个一维数组？</a:t>
            </a:r>
            <a:endParaRPr lang="en-US" altLang="zh-CN" dirty="0"/>
          </a:p>
          <a:p>
            <a:pPr marL="1371600" lvl="2" indent="-342900" algn="just">
              <a:buFont typeface="Arial" panose="020B0604020202020204" pitchFamily="34" charset="0"/>
              <a:buChar char="•"/>
            </a:pPr>
            <a:r>
              <a:rPr lang="zh-CN" altLang="en-US" sz="1800" b="1" dirty="0"/>
              <a:t>要让</a:t>
            </a:r>
            <a:r>
              <a:rPr lang="zh-CN" altLang="en-US" sz="1800" b="1" dirty="0">
                <a:solidFill>
                  <a:srgbClr val="030DCD"/>
                </a:solidFill>
              </a:rPr>
              <a:t>编译器</a:t>
            </a:r>
            <a:r>
              <a:rPr lang="zh-CN" altLang="en-US" sz="1800" b="1" dirty="0"/>
              <a:t>能够</a:t>
            </a:r>
            <a:r>
              <a:rPr lang="zh-CN" altLang="en-US" sz="1800" b="1" dirty="0">
                <a:solidFill>
                  <a:srgbClr val="030DCD"/>
                </a:solidFill>
              </a:rPr>
              <a:t>知道</a:t>
            </a:r>
            <a:r>
              <a:rPr lang="zh-CN" altLang="en-US" sz="1800" b="1" dirty="0"/>
              <a:t>或能够</a:t>
            </a:r>
            <a:r>
              <a:rPr lang="zh-CN" altLang="en-US" sz="1800" b="1" dirty="0">
                <a:solidFill>
                  <a:srgbClr val="030DCD"/>
                </a:solidFill>
              </a:rPr>
              <a:t>推出</a:t>
            </a:r>
            <a:r>
              <a:rPr lang="zh-CN" altLang="en-US" sz="1800" b="1" dirty="0">
                <a:solidFill>
                  <a:srgbClr val="C00000"/>
                </a:solidFill>
              </a:rPr>
              <a:t>数组元素的个数</a:t>
            </a:r>
            <a:r>
              <a:rPr lang="zh-CN" altLang="en-US" sz="1800" b="1" dirty="0"/>
              <a:t>，以便为其</a:t>
            </a:r>
            <a:r>
              <a:rPr lang="zh-CN" altLang="en-US" sz="1800" b="1" dirty="0" smtClean="0"/>
              <a:t>分配相应的内存</a:t>
            </a:r>
            <a:r>
              <a:rPr lang="zh-CN" altLang="en-US" sz="1800" b="1" dirty="0"/>
              <a:t>空间；</a:t>
            </a:r>
            <a:endParaRPr lang="en-US" altLang="zh-CN" sz="1800" b="1" dirty="0"/>
          </a:p>
          <a:p>
            <a:pPr marL="971550" lvl="1" algn="just"/>
            <a:r>
              <a:rPr lang="zh-CN" altLang="en-US" dirty="0"/>
              <a:t>数组元素、下标的范围；</a:t>
            </a:r>
            <a:endParaRPr lang="en-US" altLang="zh-CN" dirty="0"/>
          </a:p>
          <a:p>
            <a:pPr marL="971550" lvl="1" algn="just"/>
            <a:r>
              <a:rPr lang="zh-CN" altLang="en-US" dirty="0"/>
              <a:t>数组基类型的作用；</a:t>
            </a:r>
            <a:endParaRPr lang="en-US" altLang="zh-CN" dirty="0"/>
          </a:p>
          <a:p>
            <a:pPr marL="971550" lvl="1" algn="just"/>
            <a:r>
              <a:rPr lang="zh-CN" altLang="en-US" dirty="0"/>
              <a:t>数组元素的机内存储；</a:t>
            </a:r>
            <a:endParaRPr lang="en-US" altLang="zh-CN" dirty="0"/>
          </a:p>
          <a:p>
            <a:pPr marL="971550" lvl="1" algn="just"/>
            <a:r>
              <a:rPr lang="zh-CN" altLang="en-US" dirty="0"/>
              <a:t>数组元素的初始化；</a:t>
            </a:r>
            <a:endParaRPr lang="en-US" altLang="zh-CN" dirty="0"/>
          </a:p>
          <a:p>
            <a:pPr marL="971550" lvl="1" algn="just"/>
            <a:r>
              <a:rPr lang="zh-CN" altLang="en-US" dirty="0"/>
              <a:t>利用循环结构访问一维数组的元素；</a:t>
            </a:r>
            <a:endParaRPr lang="en-US" altLang="zh-CN" dirty="0"/>
          </a:p>
          <a:p>
            <a:pPr marL="971550" lvl="1" algn="just"/>
            <a:r>
              <a:rPr lang="zh-CN" altLang="en-US" dirty="0"/>
              <a:t>利用指针访问数组元素；</a:t>
            </a:r>
            <a:endParaRPr lang="en-US" altLang="zh-CN" dirty="0"/>
          </a:p>
          <a:p>
            <a:pPr marL="457200" indent="-457200" algn="just">
              <a:buFont typeface="Wingdings" panose="05000000000000000000" pitchFamily="2" charset="2"/>
              <a:buChar char="l"/>
            </a:pPr>
            <a:endParaRPr lang="zh-CN" altLang="en-US" sz="2800" b="1" dirty="0">
              <a:solidFill>
                <a:srgbClr val="FF3300"/>
              </a:solidFill>
            </a:endParaRPr>
          </a:p>
          <a:p>
            <a:pPr marL="457200" indent="-457200" algn="just">
              <a:buFont typeface="Wingdings" panose="05000000000000000000" pitchFamily="2" charset="2"/>
              <a:buChar char="l"/>
            </a:pPr>
            <a:endParaRPr lang="zh-CN" altLang="en-US" sz="2800" b="1" dirty="0"/>
          </a:p>
        </p:txBody>
      </p:sp>
      <p:sp>
        <p:nvSpPr>
          <p:cNvPr id="5" name="Rectangle 2"/>
          <p:cNvSpPr>
            <a:spLocks noGrp="1" noRot="1" noChangeArrowheads="1"/>
          </p:cNvSpPr>
          <p:nvPr>
            <p:ph type="title"/>
          </p:nvPr>
        </p:nvSpPr>
        <p:spPr>
          <a:xfrm>
            <a:off x="493569" y="238559"/>
            <a:ext cx="7772400" cy="609600"/>
          </a:xfrm>
        </p:spPr>
        <p:txBody>
          <a:bodyPr/>
          <a:lstStyle/>
          <a:p>
            <a:r>
              <a:rPr lang="zh-CN" altLang="en-US" sz="3200" dirty="0"/>
              <a:t>一维数组</a:t>
            </a:r>
          </a:p>
        </p:txBody>
      </p:sp>
    </p:spTree>
    <p:extLst>
      <p:ext uri="{BB962C8B-B14F-4D97-AF65-F5344CB8AC3E}">
        <p14:creationId xmlns:p14="http://schemas.microsoft.com/office/powerpoint/2010/main" val="30595371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1" name="Rectangle 3"/>
          <p:cNvSpPr>
            <a:spLocks noGrp="1" noRot="1" noChangeArrowheads="1"/>
          </p:cNvSpPr>
          <p:nvPr>
            <p:ph type="body" idx="1"/>
          </p:nvPr>
        </p:nvSpPr>
        <p:spPr>
          <a:xfrm>
            <a:off x="493569" y="1026897"/>
            <a:ext cx="8047758" cy="5405076"/>
          </a:xfrm>
        </p:spPr>
        <p:txBody>
          <a:bodyPr/>
          <a:lstStyle/>
          <a:p>
            <a:pPr marL="457200" indent="-457200" algn="just">
              <a:buFont typeface="Wingdings" panose="05000000000000000000" pitchFamily="2" charset="2"/>
              <a:buChar char="l"/>
            </a:pPr>
            <a:r>
              <a:rPr lang="zh-CN" altLang="en-US" sz="2000" dirty="0" smtClean="0"/>
              <a:t>定义</a:t>
            </a:r>
            <a:r>
              <a:rPr lang="zh-CN" altLang="en-US" sz="2000" dirty="0"/>
              <a:t>方式：</a:t>
            </a:r>
            <a:endParaRPr lang="en-US" altLang="zh-CN" sz="2000" dirty="0"/>
          </a:p>
          <a:p>
            <a:pPr marL="1085850" lvl="1" indent="-457200" algn="just"/>
            <a:r>
              <a:rPr lang="zh-CN" altLang="en-US" sz="1800" b="1" dirty="0">
                <a:solidFill>
                  <a:srgbClr val="FF3300"/>
                </a:solidFill>
              </a:rPr>
              <a:t>类型说明符 </a:t>
            </a:r>
            <a:r>
              <a:rPr lang="zh-CN" altLang="en-US" sz="1800" b="1" dirty="0">
                <a:solidFill>
                  <a:srgbClr val="030DCD"/>
                </a:solidFill>
              </a:rPr>
              <a:t>数组名</a:t>
            </a:r>
            <a:r>
              <a:rPr lang="zh-CN" altLang="en-US" sz="1800" b="1" dirty="0">
                <a:solidFill>
                  <a:srgbClr val="006600"/>
                </a:solidFill>
              </a:rPr>
              <a:t>[整型常量表达式]</a:t>
            </a:r>
            <a:endParaRPr lang="en-US" altLang="zh-CN" sz="1800" b="1" dirty="0">
              <a:solidFill>
                <a:srgbClr val="006600"/>
              </a:solidFill>
            </a:endParaRPr>
          </a:p>
          <a:p>
            <a:pPr marL="1085850" lvl="1" indent="-457200" algn="just"/>
            <a:r>
              <a:rPr lang="zh-CN" altLang="en-US" sz="1800" dirty="0">
                <a:sym typeface="Arial" panose="020B0604020202020204" pitchFamily="34" charset="0"/>
              </a:rPr>
              <a:t>如</a:t>
            </a:r>
            <a:r>
              <a:rPr lang="en-US" altLang="zh-CN" sz="1800" dirty="0">
                <a:sym typeface="Arial" panose="020B0604020202020204" pitchFamily="34" charset="0"/>
              </a:rPr>
              <a:t>: </a:t>
            </a:r>
            <a:r>
              <a:rPr lang="en-US" altLang="zh-CN" sz="1800" b="1" dirty="0">
                <a:solidFill>
                  <a:srgbClr val="FF3300"/>
                </a:solidFill>
                <a:sym typeface="Arial" panose="020B0604020202020204" pitchFamily="34" charset="0"/>
              </a:rPr>
              <a:t>int</a:t>
            </a:r>
            <a:r>
              <a:rPr lang="en-US" altLang="zh-CN" sz="1800" dirty="0">
                <a:sym typeface="Arial" panose="020B0604020202020204" pitchFamily="34" charset="0"/>
              </a:rPr>
              <a:t> </a:t>
            </a:r>
            <a:r>
              <a:rPr lang="en-US" altLang="zh-CN" sz="1800" b="1" dirty="0">
                <a:solidFill>
                  <a:srgbClr val="030DCD"/>
                </a:solidFill>
                <a:sym typeface="Arial" panose="020B0604020202020204" pitchFamily="34" charset="0"/>
              </a:rPr>
              <a:t>a</a:t>
            </a:r>
            <a:r>
              <a:rPr lang="en-US" altLang="zh-CN" sz="1800" dirty="0">
                <a:sym typeface="Arial" panose="020B0604020202020204" pitchFamily="34" charset="0"/>
              </a:rPr>
              <a:t>[</a:t>
            </a:r>
            <a:r>
              <a:rPr lang="en-US" altLang="zh-CN" sz="1800" b="1" dirty="0">
                <a:solidFill>
                  <a:srgbClr val="006600"/>
                </a:solidFill>
                <a:sym typeface="Arial" panose="020B0604020202020204" pitchFamily="34" charset="0"/>
              </a:rPr>
              <a:t>20</a:t>
            </a:r>
            <a:r>
              <a:rPr lang="en-US" altLang="zh-CN" sz="1800" dirty="0">
                <a:sym typeface="Arial" panose="020B0604020202020204" pitchFamily="34" charset="0"/>
              </a:rPr>
              <a:t>];  </a:t>
            </a:r>
            <a:r>
              <a:rPr lang="en-US" altLang="zh-CN" sz="1800" b="1" dirty="0">
                <a:solidFill>
                  <a:srgbClr val="FF3300"/>
                </a:solidFill>
                <a:sym typeface="Arial" panose="020B0604020202020204" pitchFamily="34" charset="0"/>
              </a:rPr>
              <a:t>char</a:t>
            </a:r>
            <a:r>
              <a:rPr lang="en-US" altLang="zh-CN" sz="1800" dirty="0">
                <a:sym typeface="Arial" panose="020B0604020202020204" pitchFamily="34" charset="0"/>
              </a:rPr>
              <a:t> </a:t>
            </a:r>
            <a:r>
              <a:rPr lang="en-US" altLang="zh-CN" sz="1800" b="1" dirty="0">
                <a:solidFill>
                  <a:srgbClr val="030DCD"/>
                </a:solidFill>
                <a:sym typeface="Arial" panose="020B0604020202020204" pitchFamily="34" charset="0"/>
              </a:rPr>
              <a:t>c</a:t>
            </a:r>
            <a:r>
              <a:rPr lang="en-US" altLang="zh-CN" sz="1800" dirty="0">
                <a:sym typeface="Arial" panose="020B0604020202020204" pitchFamily="34" charset="0"/>
              </a:rPr>
              <a:t>[</a:t>
            </a:r>
            <a:r>
              <a:rPr lang="en-US" altLang="zh-CN" sz="1800" b="1" dirty="0">
                <a:solidFill>
                  <a:srgbClr val="006600"/>
                </a:solidFill>
                <a:sym typeface="Arial" panose="020B0604020202020204" pitchFamily="34" charset="0"/>
              </a:rPr>
              <a:t>10</a:t>
            </a:r>
            <a:r>
              <a:rPr lang="en-US" altLang="zh-CN" sz="1800" dirty="0">
                <a:sym typeface="Arial" panose="020B0604020202020204" pitchFamily="34" charset="0"/>
              </a:rPr>
              <a:t>];  </a:t>
            </a:r>
            <a:r>
              <a:rPr lang="en-US" altLang="zh-CN" sz="1800" b="1" dirty="0">
                <a:solidFill>
                  <a:srgbClr val="FF3300"/>
                </a:solidFill>
                <a:sym typeface="Arial" panose="020B0604020202020204" pitchFamily="34" charset="0"/>
              </a:rPr>
              <a:t>float</a:t>
            </a:r>
            <a:r>
              <a:rPr lang="en-US" altLang="zh-CN" sz="1800" dirty="0">
                <a:sym typeface="Arial" panose="020B0604020202020204" pitchFamily="34" charset="0"/>
              </a:rPr>
              <a:t> </a:t>
            </a:r>
            <a:r>
              <a:rPr lang="en-US" altLang="zh-CN" sz="1800" b="1" dirty="0">
                <a:solidFill>
                  <a:srgbClr val="030DCD"/>
                </a:solidFill>
                <a:sym typeface="Arial" panose="020B0604020202020204" pitchFamily="34" charset="0"/>
              </a:rPr>
              <a:t>f</a:t>
            </a:r>
            <a:r>
              <a:rPr lang="en-US" altLang="zh-CN" sz="1800" dirty="0">
                <a:sym typeface="Arial" panose="020B0604020202020204" pitchFamily="34" charset="0"/>
              </a:rPr>
              <a:t>[</a:t>
            </a:r>
            <a:r>
              <a:rPr lang="en-US" altLang="zh-CN" sz="1800" b="1" dirty="0">
                <a:solidFill>
                  <a:srgbClr val="006600"/>
                </a:solidFill>
                <a:sym typeface="Arial" panose="020B0604020202020204" pitchFamily="34" charset="0"/>
              </a:rPr>
              <a:t>100</a:t>
            </a:r>
            <a:r>
              <a:rPr lang="en-US" altLang="zh-CN" sz="1800" dirty="0">
                <a:sym typeface="Arial" panose="020B0604020202020204" pitchFamily="34" charset="0"/>
              </a:rPr>
              <a:t>]; </a:t>
            </a:r>
            <a:r>
              <a:rPr lang="zh-CN" altLang="en-US" sz="1800" dirty="0">
                <a:sym typeface="Arial" panose="020B0604020202020204" pitchFamily="34" charset="0"/>
              </a:rPr>
              <a:t>等；</a:t>
            </a:r>
            <a:endParaRPr lang="en-US" altLang="zh-CN" sz="1800" dirty="0">
              <a:sym typeface="Arial" panose="020B0604020202020204" pitchFamily="34" charset="0"/>
            </a:endParaRPr>
          </a:p>
          <a:p>
            <a:pPr marL="342900" indent="-342900" algn="just">
              <a:buFont typeface="Wingdings" panose="05000000000000000000" pitchFamily="2" charset="2"/>
              <a:buChar char="l"/>
            </a:pPr>
            <a:r>
              <a:rPr lang="zh-CN" altLang="en-US" sz="2000" dirty="0"/>
              <a:t>注：</a:t>
            </a:r>
            <a:endParaRPr lang="en-US" altLang="zh-CN" sz="2000" dirty="0"/>
          </a:p>
          <a:p>
            <a:pPr lvl="1" algn="just"/>
            <a:r>
              <a:rPr lang="zh-CN" altLang="en-US" sz="1800" b="1" dirty="0">
                <a:solidFill>
                  <a:srgbClr val="006600"/>
                </a:solidFill>
              </a:rPr>
              <a:t>类型说明（基类型）</a:t>
            </a:r>
            <a:r>
              <a:rPr lang="zh-CN" altLang="en-US" sz="1800" dirty="0"/>
              <a:t>：指的是</a:t>
            </a:r>
            <a:r>
              <a:rPr lang="zh-CN" altLang="en-US" sz="1800" dirty="0">
                <a:solidFill>
                  <a:srgbClr val="FF3300"/>
                </a:solidFill>
              </a:rPr>
              <a:t>数据元素</a:t>
            </a:r>
            <a:r>
              <a:rPr lang="zh-CN" altLang="en-US" sz="1800" dirty="0"/>
              <a:t>的类型；</a:t>
            </a:r>
            <a:endParaRPr lang="en-US" altLang="zh-CN" sz="1800" dirty="0"/>
          </a:p>
          <a:p>
            <a:pPr lvl="2" algn="just"/>
            <a:r>
              <a:rPr lang="zh-CN" altLang="en-US" sz="1600" b="1" dirty="0"/>
              <a:t>可以是</a:t>
            </a:r>
            <a:r>
              <a:rPr lang="zh-CN" altLang="en-US" sz="1600" b="1" dirty="0">
                <a:solidFill>
                  <a:srgbClr val="030DCD"/>
                </a:solidFill>
              </a:rPr>
              <a:t>基本数据类型</a:t>
            </a:r>
            <a:r>
              <a:rPr lang="zh-CN" altLang="en-US" sz="1600" b="1" dirty="0"/>
              <a:t>；</a:t>
            </a:r>
            <a:endParaRPr lang="en-US" altLang="zh-CN" sz="1600" b="1" dirty="0"/>
          </a:p>
          <a:p>
            <a:pPr lvl="2" algn="just"/>
            <a:r>
              <a:rPr lang="zh-CN" altLang="en-US" sz="1600" b="1" dirty="0"/>
              <a:t>也可以是</a:t>
            </a:r>
            <a:r>
              <a:rPr lang="zh-CN" altLang="en-US" sz="1600" b="1" dirty="0">
                <a:solidFill>
                  <a:srgbClr val="030DCD"/>
                </a:solidFill>
              </a:rPr>
              <a:t>构造数据类型</a:t>
            </a:r>
            <a:r>
              <a:rPr lang="zh-CN" altLang="en-US" sz="1600" b="1" dirty="0"/>
              <a:t>；</a:t>
            </a:r>
            <a:endParaRPr lang="en-US" altLang="zh-CN" sz="1600" b="1" dirty="0"/>
          </a:p>
          <a:p>
            <a:pPr lvl="2" algn="just"/>
            <a:r>
              <a:rPr lang="zh-CN" altLang="en-US" sz="1600" dirty="0">
                <a:solidFill>
                  <a:srgbClr val="030DCD"/>
                </a:solidFill>
              </a:rPr>
              <a:t>基类型</a:t>
            </a:r>
            <a:r>
              <a:rPr lang="zh-CN" altLang="en-US" sz="1600" dirty="0"/>
              <a:t>确定了每个数组元素所占用的内存字节数；</a:t>
            </a:r>
            <a:endParaRPr lang="en-US" altLang="zh-CN" sz="1600" dirty="0"/>
          </a:p>
          <a:p>
            <a:pPr lvl="2" algn="just"/>
            <a:r>
              <a:rPr kumimoji="1" lang="zh-CN" altLang="en-US" sz="1600" b="1" dirty="0">
                <a:solidFill>
                  <a:srgbClr val="0000CC"/>
                </a:solidFill>
                <a:latin typeface="Times New Roman" panose="02020603050405020304" pitchFamily="18" charset="0"/>
                <a:sym typeface="Monotype Sorts" pitchFamily="2" charset="2"/>
              </a:rPr>
              <a:t>每个数据元素占用的字节数，就是</a:t>
            </a:r>
            <a:r>
              <a:rPr kumimoji="1" lang="zh-CN" altLang="en-US" sz="1600" b="1" dirty="0">
                <a:solidFill>
                  <a:srgbClr val="006600"/>
                </a:solidFill>
                <a:latin typeface="Times New Roman" panose="02020603050405020304" pitchFamily="18" charset="0"/>
                <a:sym typeface="Monotype Sorts" pitchFamily="2" charset="2"/>
              </a:rPr>
              <a:t>基类型</a:t>
            </a:r>
            <a:r>
              <a:rPr kumimoji="1" lang="zh-CN" altLang="en-US" sz="1600" b="1" dirty="0">
                <a:solidFill>
                  <a:srgbClr val="0000CC"/>
                </a:solidFill>
                <a:latin typeface="Times New Roman" panose="02020603050405020304" pitchFamily="18" charset="0"/>
                <a:sym typeface="Monotype Sorts" pitchFamily="2" charset="2"/>
              </a:rPr>
              <a:t>的字节数；</a:t>
            </a:r>
            <a:endParaRPr lang="zh-CN" altLang="en-US" sz="1600" dirty="0">
              <a:solidFill>
                <a:srgbClr val="0000CC"/>
              </a:solidFill>
            </a:endParaRPr>
          </a:p>
          <a:p>
            <a:pPr lvl="1" algn="just"/>
            <a:r>
              <a:rPr lang="zh-CN" altLang="en-US" sz="1800" b="1" dirty="0">
                <a:solidFill>
                  <a:srgbClr val="003300"/>
                </a:solidFill>
              </a:rPr>
              <a:t>数组名</a:t>
            </a:r>
            <a:r>
              <a:rPr lang="zh-CN" altLang="en-US" sz="1800" dirty="0"/>
              <a:t>：按</a:t>
            </a:r>
            <a:r>
              <a:rPr lang="zh-CN" altLang="en-US" sz="1800" dirty="0">
                <a:solidFill>
                  <a:srgbClr val="FF3300"/>
                </a:solidFill>
              </a:rPr>
              <a:t>标识符规则</a:t>
            </a:r>
            <a:r>
              <a:rPr lang="zh-CN" altLang="en-US" sz="1800" dirty="0"/>
              <a:t>。本例</a:t>
            </a:r>
            <a:r>
              <a:rPr lang="en-US" altLang="zh-CN" sz="1800" dirty="0"/>
              <a:t>a</a:t>
            </a:r>
            <a:r>
              <a:rPr lang="zh-CN" altLang="en-US" sz="1800" dirty="0"/>
              <a:t>就是数组名；</a:t>
            </a:r>
          </a:p>
          <a:p>
            <a:pPr lvl="1" algn="just"/>
            <a:r>
              <a:rPr lang="zh-CN" altLang="en-US" sz="1800" b="1" dirty="0">
                <a:solidFill>
                  <a:srgbClr val="006600"/>
                </a:solidFill>
              </a:rPr>
              <a:t>整型常量表达式</a:t>
            </a:r>
            <a:r>
              <a:rPr lang="zh-CN" altLang="en-US" sz="1800" dirty="0"/>
              <a:t>：表示数组元素</a:t>
            </a:r>
            <a:r>
              <a:rPr lang="zh-CN" altLang="en-US" sz="1800" dirty="0">
                <a:solidFill>
                  <a:srgbClr val="FF3300"/>
                </a:solidFill>
              </a:rPr>
              <a:t>个数</a:t>
            </a:r>
            <a:r>
              <a:rPr lang="zh-CN" altLang="en-US" sz="1800" dirty="0"/>
              <a:t>（数组的</a:t>
            </a:r>
            <a:r>
              <a:rPr lang="zh-CN" altLang="en-US" sz="1800" dirty="0">
                <a:solidFill>
                  <a:srgbClr val="FF3300"/>
                </a:solidFill>
              </a:rPr>
              <a:t>长度</a:t>
            </a:r>
            <a:r>
              <a:rPr lang="zh-CN" altLang="en-US" sz="1800" dirty="0"/>
              <a:t>）；</a:t>
            </a:r>
            <a:endParaRPr lang="en-US" altLang="zh-CN" sz="1800" dirty="0"/>
          </a:p>
          <a:p>
            <a:pPr lvl="2" algn="just">
              <a:buFont typeface="Arial" panose="020B0604020202020204" pitchFamily="34" charset="0"/>
              <a:buChar char="•"/>
            </a:pPr>
            <a:r>
              <a:rPr lang="zh-CN" altLang="en-US" sz="1600" dirty="0"/>
              <a:t>可以是</a:t>
            </a:r>
            <a:r>
              <a:rPr lang="zh-CN" altLang="en-US" sz="1600" dirty="0">
                <a:solidFill>
                  <a:srgbClr val="0000CC"/>
                </a:solidFill>
              </a:rPr>
              <a:t>整型常量</a:t>
            </a:r>
            <a:r>
              <a:rPr lang="zh-CN" altLang="en-US" sz="1600" dirty="0"/>
              <a:t>，</a:t>
            </a:r>
            <a:r>
              <a:rPr lang="zh-CN" altLang="en-US" sz="1600" b="1" dirty="0">
                <a:solidFill>
                  <a:srgbClr val="FF3300"/>
                </a:solidFill>
              </a:rPr>
              <a:t>符号常量</a:t>
            </a:r>
            <a:r>
              <a:rPr lang="zh-CN" altLang="en-US" sz="1600" dirty="0"/>
              <a:t>或</a:t>
            </a:r>
            <a:r>
              <a:rPr lang="zh-CN" altLang="en-US" sz="1600" dirty="0">
                <a:solidFill>
                  <a:srgbClr val="030DCD"/>
                </a:solidFill>
              </a:rPr>
              <a:t>已赋值的变量</a:t>
            </a:r>
            <a:r>
              <a:rPr lang="zh-CN" altLang="en-US" sz="1600" dirty="0"/>
              <a:t>，</a:t>
            </a:r>
            <a:r>
              <a:rPr lang="zh-CN" altLang="en-US" sz="1600" b="1" dirty="0"/>
              <a:t>不允许用未赋值的变量；</a:t>
            </a:r>
            <a:endParaRPr lang="en-US" altLang="zh-CN" sz="1600" b="1" dirty="0"/>
          </a:p>
          <a:p>
            <a:pPr lvl="2" algn="just">
              <a:buFont typeface="Arial" panose="020B0604020202020204" pitchFamily="34" charset="0"/>
              <a:buChar char="•"/>
            </a:pPr>
            <a:r>
              <a:rPr lang="zh-CN" altLang="en-US" sz="1600" dirty="0"/>
              <a:t>整型常量表达式在说明数组元素个数的</a:t>
            </a:r>
            <a:r>
              <a:rPr lang="zh-CN" altLang="en-US" sz="1600" dirty="0">
                <a:solidFill>
                  <a:srgbClr val="FF3300"/>
                </a:solidFill>
              </a:rPr>
              <a:t>同时</a:t>
            </a:r>
            <a:r>
              <a:rPr lang="zh-CN" altLang="en-US" sz="1600" dirty="0"/>
              <a:t>也确定了数组元素下标的范围；</a:t>
            </a:r>
            <a:endParaRPr lang="en-US" altLang="zh-CN" sz="1600" dirty="0"/>
          </a:p>
          <a:p>
            <a:pPr lvl="2" algn="just">
              <a:buFont typeface="Arial" panose="020B0604020202020204" pitchFamily="34" charset="0"/>
              <a:buChar char="•"/>
            </a:pPr>
            <a:r>
              <a:rPr lang="zh-CN" altLang="en-US" sz="1600" b="1" u="sng" dirty="0">
                <a:solidFill>
                  <a:srgbClr val="FF0000"/>
                </a:solidFill>
              </a:rPr>
              <a:t>下标：从0开始～整型常量表达式-1（</a:t>
            </a:r>
            <a:r>
              <a:rPr lang="zh-CN" altLang="en-US" sz="1600" b="1" u="sng" dirty="0">
                <a:solidFill>
                  <a:srgbClr val="030DCD"/>
                </a:solidFill>
              </a:rPr>
              <a:t>注意不是1～整型常量表达式</a:t>
            </a:r>
            <a:r>
              <a:rPr lang="zh-CN" altLang="en-US" sz="1600" b="1" u="sng" dirty="0">
                <a:solidFill>
                  <a:srgbClr val="FF0000"/>
                </a:solidFill>
              </a:rPr>
              <a:t>）；</a:t>
            </a:r>
          </a:p>
          <a:p>
            <a:pPr marL="457200" indent="-457200" algn="just">
              <a:buFont typeface="Wingdings" panose="05000000000000000000" pitchFamily="2" charset="2"/>
              <a:buChar char="l"/>
            </a:pPr>
            <a:endParaRPr lang="en-US" altLang="zh-CN" dirty="0"/>
          </a:p>
          <a:p>
            <a:pPr marL="457200" indent="-457200" algn="just">
              <a:buFont typeface="Wingdings" panose="05000000000000000000" pitchFamily="2" charset="2"/>
              <a:buChar char="l"/>
            </a:pPr>
            <a:endParaRPr lang="zh-CN" altLang="en-US" sz="2800" b="1" dirty="0">
              <a:solidFill>
                <a:srgbClr val="FF3300"/>
              </a:solidFill>
            </a:endParaRPr>
          </a:p>
          <a:p>
            <a:pPr marL="457200" indent="-457200" algn="just">
              <a:buFont typeface="Wingdings" panose="05000000000000000000" pitchFamily="2" charset="2"/>
              <a:buChar char="l"/>
            </a:pPr>
            <a:endParaRPr lang="zh-CN" altLang="en-US" sz="2800" b="1" dirty="0"/>
          </a:p>
        </p:txBody>
      </p:sp>
      <p:sp>
        <p:nvSpPr>
          <p:cNvPr id="5" name="Rectangle 2"/>
          <p:cNvSpPr>
            <a:spLocks noGrp="1" noRot="1" noChangeArrowheads="1"/>
          </p:cNvSpPr>
          <p:nvPr>
            <p:ph type="title"/>
          </p:nvPr>
        </p:nvSpPr>
        <p:spPr>
          <a:xfrm>
            <a:off x="493569" y="238559"/>
            <a:ext cx="7772400" cy="609600"/>
          </a:xfrm>
        </p:spPr>
        <p:txBody>
          <a:bodyPr/>
          <a:lstStyle/>
          <a:p>
            <a:r>
              <a:rPr lang="zh-CN" altLang="en-US" sz="3200" dirty="0"/>
              <a:t>一维数组</a:t>
            </a:r>
          </a:p>
        </p:txBody>
      </p:sp>
    </p:spTree>
    <p:extLst>
      <p:ext uri="{BB962C8B-B14F-4D97-AF65-F5344CB8AC3E}">
        <p14:creationId xmlns:p14="http://schemas.microsoft.com/office/powerpoint/2010/main" val="28543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Rot="1" noChangeArrowheads="1"/>
          </p:cNvSpPr>
          <p:nvPr>
            <p:ph type="body" idx="1"/>
          </p:nvPr>
        </p:nvSpPr>
        <p:spPr>
          <a:xfrm>
            <a:off x="493569" y="1026897"/>
            <a:ext cx="8268046" cy="5405076"/>
          </a:xfrm>
        </p:spPr>
        <p:txBody>
          <a:bodyPr/>
          <a:lstStyle/>
          <a:p>
            <a:pPr marL="457200" indent="-457200" algn="just">
              <a:buFont typeface="Wingdings" panose="05000000000000000000" pitchFamily="2" charset="2"/>
              <a:buChar char="l"/>
            </a:pPr>
            <a:r>
              <a:rPr lang="zh-CN" altLang="en-US" dirty="0" smtClean="0"/>
              <a:t>如</a:t>
            </a:r>
            <a:r>
              <a:rPr lang="en-US" altLang="zh-CN" dirty="0"/>
              <a:t>:</a:t>
            </a:r>
            <a:r>
              <a:rPr lang="en-US" altLang="zh-CN" dirty="0">
                <a:solidFill>
                  <a:srgbClr val="7030A0"/>
                </a:solidFill>
              </a:rPr>
              <a:t> </a:t>
            </a:r>
            <a:r>
              <a:rPr lang="en-US" altLang="zh-CN" dirty="0" err="1">
                <a:solidFill>
                  <a:srgbClr val="7030A0"/>
                </a:solidFill>
              </a:rPr>
              <a:t>int</a:t>
            </a:r>
            <a:r>
              <a:rPr lang="en-US" altLang="zh-CN" dirty="0">
                <a:solidFill>
                  <a:srgbClr val="7030A0"/>
                </a:solidFill>
              </a:rPr>
              <a:t> </a:t>
            </a:r>
            <a:r>
              <a:rPr lang="en-US" altLang="zh-CN" dirty="0" smtClean="0">
                <a:solidFill>
                  <a:srgbClr val="7030A0"/>
                </a:solidFill>
              </a:rPr>
              <a:t>a[100]</a:t>
            </a:r>
            <a:endParaRPr lang="en-US" altLang="zh-CN" dirty="0">
              <a:solidFill>
                <a:srgbClr val="7030A0"/>
              </a:solidFill>
            </a:endParaRPr>
          </a:p>
          <a:p>
            <a:pPr marL="1085850" lvl="1" indent="-457200" algn="just"/>
            <a:r>
              <a:rPr lang="zh-CN" altLang="en-US" sz="1800" dirty="0"/>
              <a:t>定义一个数组，</a:t>
            </a:r>
            <a:r>
              <a:rPr lang="zh-CN" altLang="en-US" sz="1800" dirty="0">
                <a:solidFill>
                  <a:srgbClr val="030DCD"/>
                </a:solidFill>
              </a:rPr>
              <a:t>数组名</a:t>
            </a:r>
            <a:r>
              <a:rPr lang="en-US" altLang="zh-CN" sz="1800" dirty="0">
                <a:solidFill>
                  <a:srgbClr val="030DCD"/>
                </a:solidFill>
              </a:rPr>
              <a:t>a，</a:t>
            </a:r>
            <a:r>
              <a:rPr lang="zh-CN" altLang="en-US" sz="1800" dirty="0">
                <a:solidFill>
                  <a:srgbClr val="030DCD"/>
                </a:solidFill>
              </a:rPr>
              <a:t>有</a:t>
            </a:r>
            <a:r>
              <a:rPr lang="zh-CN" altLang="en-US" sz="1800" dirty="0" smtClean="0">
                <a:solidFill>
                  <a:srgbClr val="030DCD"/>
                </a:solidFill>
              </a:rPr>
              <a:t>10</a:t>
            </a:r>
            <a:r>
              <a:rPr lang="en-US" altLang="zh-CN" sz="1800" dirty="0" smtClean="0">
                <a:solidFill>
                  <a:srgbClr val="030DCD"/>
                </a:solidFill>
              </a:rPr>
              <a:t>0</a:t>
            </a:r>
            <a:r>
              <a:rPr lang="zh-CN" altLang="en-US" sz="1800" dirty="0" smtClean="0">
                <a:solidFill>
                  <a:srgbClr val="030DCD"/>
                </a:solidFill>
              </a:rPr>
              <a:t>个元素</a:t>
            </a:r>
            <a:r>
              <a:rPr lang="zh-CN" altLang="en-US" sz="1800" dirty="0" smtClean="0"/>
              <a:t>；</a:t>
            </a:r>
            <a:endParaRPr lang="en-US" altLang="zh-CN" sz="1800" dirty="0" smtClean="0"/>
          </a:p>
          <a:p>
            <a:pPr marL="1085850" lvl="1" indent="-457200" algn="just"/>
            <a:r>
              <a:rPr lang="zh-CN" altLang="en-US" sz="1800" dirty="0" smtClean="0">
                <a:solidFill>
                  <a:srgbClr val="030DCD"/>
                </a:solidFill>
              </a:rPr>
              <a:t>每个</a:t>
            </a:r>
            <a:r>
              <a:rPr lang="zh-CN" altLang="en-US" sz="1800" dirty="0">
                <a:solidFill>
                  <a:srgbClr val="030DCD"/>
                </a:solidFill>
              </a:rPr>
              <a:t>元素的类型均为</a:t>
            </a:r>
            <a:r>
              <a:rPr lang="en-US" altLang="zh-CN" sz="1800" dirty="0" err="1">
                <a:solidFill>
                  <a:srgbClr val="030DCD"/>
                </a:solidFill>
              </a:rPr>
              <a:t>int</a:t>
            </a:r>
            <a:r>
              <a:rPr lang="zh-CN" altLang="en-US" sz="1800" dirty="0">
                <a:solidFill>
                  <a:srgbClr val="030DCD"/>
                </a:solidFill>
              </a:rPr>
              <a:t>型</a:t>
            </a:r>
            <a:r>
              <a:rPr lang="zh-CN" altLang="en-US" sz="1800" dirty="0" smtClean="0">
                <a:solidFill>
                  <a:srgbClr val="030DCD"/>
                </a:solidFill>
              </a:rPr>
              <a:t>数据</a:t>
            </a:r>
            <a:r>
              <a:rPr lang="zh-CN" altLang="en-US" sz="1800" dirty="0" smtClean="0"/>
              <a:t>（数组的基类型是</a:t>
            </a:r>
            <a:r>
              <a:rPr lang="en-US" altLang="zh-CN" sz="1800" dirty="0" err="1" smtClean="0"/>
              <a:t>int</a:t>
            </a:r>
            <a:r>
              <a:rPr lang="zh-CN" altLang="en-US" sz="1800" dirty="0" smtClean="0"/>
              <a:t>）；</a:t>
            </a:r>
            <a:endParaRPr lang="en-US" altLang="zh-CN" sz="1800" dirty="0"/>
          </a:p>
          <a:p>
            <a:pPr marL="1085850" lvl="1" indent="-457200" algn="just"/>
            <a:r>
              <a:rPr lang="zh-CN" altLang="en-US" sz="1800" b="1" dirty="0">
                <a:solidFill>
                  <a:srgbClr val="7030A0"/>
                </a:solidFill>
              </a:rPr>
              <a:t>这</a:t>
            </a:r>
            <a:r>
              <a:rPr lang="zh-CN" altLang="en-US" sz="1800" b="1" dirty="0" smtClean="0">
                <a:solidFill>
                  <a:srgbClr val="7030A0"/>
                </a:solidFill>
              </a:rPr>
              <a:t>10</a:t>
            </a:r>
            <a:r>
              <a:rPr lang="en-US" altLang="zh-CN" sz="1800" b="1" dirty="0" smtClean="0">
                <a:solidFill>
                  <a:srgbClr val="7030A0"/>
                </a:solidFill>
              </a:rPr>
              <a:t>0</a:t>
            </a:r>
            <a:r>
              <a:rPr lang="zh-CN" altLang="en-US" sz="1800" b="1" dirty="0" smtClean="0">
                <a:solidFill>
                  <a:srgbClr val="7030A0"/>
                </a:solidFill>
              </a:rPr>
              <a:t>个</a:t>
            </a:r>
            <a:r>
              <a:rPr lang="zh-CN" altLang="en-US" sz="1800" b="1" dirty="0">
                <a:solidFill>
                  <a:srgbClr val="7030A0"/>
                </a:solidFill>
              </a:rPr>
              <a:t>元素分别是：</a:t>
            </a:r>
            <a:r>
              <a:rPr lang="en-US" altLang="zh-CN" sz="1800" b="1" dirty="0">
                <a:solidFill>
                  <a:srgbClr val="7030A0"/>
                </a:solidFill>
              </a:rPr>
              <a:t>a[0]、a[1]、a[2]、a[3]、a[4]、....、</a:t>
            </a:r>
            <a:r>
              <a:rPr lang="en-US" altLang="zh-CN" sz="1800" b="1" dirty="0" smtClean="0">
                <a:solidFill>
                  <a:srgbClr val="7030A0"/>
                </a:solidFill>
              </a:rPr>
              <a:t>a[98</a:t>
            </a:r>
            <a:r>
              <a:rPr lang="en-US" altLang="zh-CN" sz="1800" b="1" dirty="0">
                <a:solidFill>
                  <a:srgbClr val="7030A0"/>
                </a:solidFill>
              </a:rPr>
              <a:t>]、</a:t>
            </a:r>
            <a:r>
              <a:rPr lang="en-US" altLang="zh-CN" sz="1800" b="1" dirty="0" smtClean="0">
                <a:solidFill>
                  <a:srgbClr val="7030A0"/>
                </a:solidFill>
              </a:rPr>
              <a:t>a[99</a:t>
            </a:r>
            <a:r>
              <a:rPr lang="en-US" altLang="zh-CN" sz="1800" b="1" dirty="0">
                <a:solidFill>
                  <a:srgbClr val="7030A0"/>
                </a:solidFill>
              </a:rPr>
              <a:t>]</a:t>
            </a:r>
            <a:r>
              <a:rPr lang="zh-CN" altLang="en-US" sz="1800" b="1" dirty="0">
                <a:solidFill>
                  <a:srgbClr val="7030A0"/>
                </a:solidFill>
              </a:rPr>
              <a:t>；</a:t>
            </a:r>
            <a:r>
              <a:rPr lang="zh-CN" altLang="en-US" sz="1800" b="1" u="sng" dirty="0">
                <a:solidFill>
                  <a:srgbClr val="C00000"/>
                </a:solidFill>
              </a:rPr>
              <a:t>注意</a:t>
            </a:r>
            <a:r>
              <a:rPr lang="zh-CN" altLang="en-US" sz="1800" b="1" u="sng" dirty="0" smtClean="0">
                <a:solidFill>
                  <a:srgbClr val="C00000"/>
                </a:solidFill>
              </a:rPr>
              <a:t>：</a:t>
            </a:r>
            <a:r>
              <a:rPr lang="en-US" altLang="zh-CN" sz="1800" b="1" u="sng" dirty="0" smtClean="0">
                <a:solidFill>
                  <a:srgbClr val="C00000"/>
                </a:solidFill>
              </a:rPr>
              <a:t>C</a:t>
            </a:r>
            <a:r>
              <a:rPr lang="zh-CN" altLang="en-US" sz="1800" b="1" u="sng" dirty="0" smtClean="0">
                <a:solidFill>
                  <a:srgbClr val="C00000"/>
                </a:solidFill>
              </a:rPr>
              <a:t>语言中下标</a:t>
            </a:r>
            <a:r>
              <a:rPr lang="zh-CN" altLang="en-US" sz="1800" b="1" u="sng" dirty="0">
                <a:solidFill>
                  <a:srgbClr val="C00000"/>
                </a:solidFill>
              </a:rPr>
              <a:t>从</a:t>
            </a:r>
            <a:r>
              <a:rPr lang="en-US" altLang="zh-CN" sz="1800" b="1" u="sng" dirty="0">
                <a:solidFill>
                  <a:srgbClr val="C00000"/>
                </a:solidFill>
              </a:rPr>
              <a:t>0</a:t>
            </a:r>
            <a:r>
              <a:rPr lang="zh-CN" altLang="en-US" sz="1800" b="1" u="sng" dirty="0">
                <a:solidFill>
                  <a:srgbClr val="C00000"/>
                </a:solidFill>
              </a:rPr>
              <a:t>开始</a:t>
            </a:r>
            <a:r>
              <a:rPr lang="zh-CN" altLang="en-US" sz="1800" b="1" u="sng" dirty="0" smtClean="0">
                <a:solidFill>
                  <a:srgbClr val="C00000"/>
                </a:solidFill>
              </a:rPr>
              <a:t>；下标用中括号</a:t>
            </a:r>
            <a:endParaRPr lang="en-US" altLang="zh-CN" sz="1800" b="1" u="sng" dirty="0">
              <a:solidFill>
                <a:srgbClr val="C00000"/>
              </a:solidFill>
            </a:endParaRPr>
          </a:p>
          <a:p>
            <a:pPr marL="1085850" lvl="1" indent="-457200" algn="just"/>
            <a:r>
              <a:rPr lang="zh-CN" altLang="en-US" sz="1800" dirty="0"/>
              <a:t>数组的各个元素是</a:t>
            </a:r>
            <a:r>
              <a:rPr lang="zh-CN" altLang="en-US" sz="1800" dirty="0">
                <a:solidFill>
                  <a:srgbClr val="FF3300"/>
                </a:solidFill>
              </a:rPr>
              <a:t>排成一行</a:t>
            </a:r>
            <a:r>
              <a:rPr lang="zh-CN" altLang="en-US" sz="1800" dirty="0"/>
              <a:t>的一组下标变量，用一个统一的数组名来标识，用一个下标来指示其在数组中的位置；</a:t>
            </a:r>
            <a:endParaRPr lang="en-US" altLang="zh-CN" sz="1800" dirty="0"/>
          </a:p>
          <a:p>
            <a:pPr marL="1085850" lvl="1" indent="-457200" algn="just"/>
            <a:r>
              <a:rPr lang="zh-CN" altLang="en-US" sz="1800" dirty="0"/>
              <a:t>一维数组通常和</a:t>
            </a:r>
            <a:r>
              <a:rPr lang="zh-CN" altLang="en-US" sz="1800" dirty="0">
                <a:solidFill>
                  <a:srgbClr val="FF3300"/>
                </a:solidFill>
              </a:rPr>
              <a:t>一重循环</a:t>
            </a:r>
            <a:r>
              <a:rPr lang="zh-CN" altLang="en-US" sz="1800" dirty="0"/>
              <a:t>相配合，对数组元素进行处理。</a:t>
            </a:r>
          </a:p>
          <a:p>
            <a:pPr marL="1085850" lvl="1" indent="-457200" algn="just"/>
            <a:r>
              <a:rPr lang="zh-CN" altLang="en-US" sz="1800" b="1" u="sng" dirty="0">
                <a:solidFill>
                  <a:srgbClr val="7030A0"/>
                </a:solidFill>
              </a:rPr>
              <a:t>数组</a:t>
            </a:r>
            <a:r>
              <a:rPr lang="en-US" altLang="zh-CN" sz="1800" b="1" u="sng" dirty="0">
                <a:solidFill>
                  <a:srgbClr val="7030A0"/>
                </a:solidFill>
              </a:rPr>
              <a:t>a</a:t>
            </a:r>
            <a:r>
              <a:rPr lang="zh-CN" altLang="en-US" sz="1800" b="1" u="sng" dirty="0">
                <a:solidFill>
                  <a:srgbClr val="7030A0"/>
                </a:solidFill>
              </a:rPr>
              <a:t>的基类型是</a:t>
            </a:r>
            <a:r>
              <a:rPr lang="en-US" altLang="zh-CN" sz="1800" b="1" u="sng" dirty="0" err="1">
                <a:solidFill>
                  <a:srgbClr val="7030A0"/>
                </a:solidFill>
              </a:rPr>
              <a:t>int</a:t>
            </a:r>
            <a:r>
              <a:rPr lang="zh-CN" altLang="en-US" sz="1800" dirty="0"/>
              <a:t>，因此编译器</a:t>
            </a:r>
            <a:r>
              <a:rPr lang="zh-CN" altLang="en-US" sz="1800" b="1" u="sng" dirty="0">
                <a:solidFill>
                  <a:srgbClr val="7030A0"/>
                </a:solidFill>
              </a:rPr>
              <a:t>为每个数组元素分配</a:t>
            </a:r>
            <a:r>
              <a:rPr lang="en-US" altLang="zh-CN" sz="1800" b="1" u="sng" dirty="0">
                <a:solidFill>
                  <a:srgbClr val="7030A0"/>
                </a:solidFill>
              </a:rPr>
              <a:t>4</a:t>
            </a:r>
            <a:r>
              <a:rPr lang="zh-CN" altLang="en-US" sz="1800" b="1" u="sng" dirty="0">
                <a:solidFill>
                  <a:srgbClr val="7030A0"/>
                </a:solidFill>
              </a:rPr>
              <a:t>个字节</a:t>
            </a:r>
            <a:r>
              <a:rPr lang="zh-CN" altLang="en-US" sz="1800" dirty="0"/>
              <a:t>的地址空间，</a:t>
            </a:r>
            <a:r>
              <a:rPr lang="zh-CN" altLang="en-US" sz="1800" b="1" u="sng" dirty="0">
                <a:solidFill>
                  <a:srgbClr val="030DCD"/>
                </a:solidFill>
              </a:rPr>
              <a:t>该数组共占用</a:t>
            </a:r>
            <a:r>
              <a:rPr lang="en-US" altLang="zh-CN" sz="1800" b="1" u="sng" dirty="0" smtClean="0">
                <a:solidFill>
                  <a:srgbClr val="030DCD"/>
                </a:solidFill>
              </a:rPr>
              <a:t>400</a:t>
            </a:r>
            <a:r>
              <a:rPr lang="zh-CN" altLang="en-US" sz="1800" b="1" u="sng" dirty="0" smtClean="0">
                <a:solidFill>
                  <a:srgbClr val="030DCD"/>
                </a:solidFill>
              </a:rPr>
              <a:t>个</a:t>
            </a:r>
            <a:r>
              <a:rPr lang="zh-CN" altLang="en-US" sz="1800" b="1" u="sng" dirty="0">
                <a:solidFill>
                  <a:srgbClr val="030DCD"/>
                </a:solidFill>
              </a:rPr>
              <a:t>字节的空间</a:t>
            </a:r>
            <a:r>
              <a:rPr lang="zh-CN" altLang="en-US" sz="1800" dirty="0"/>
              <a:t>；</a:t>
            </a:r>
            <a:endParaRPr lang="en-US" altLang="zh-CN" sz="1800" dirty="0"/>
          </a:p>
          <a:p>
            <a:pPr marL="457200" indent="-457200" algn="just">
              <a:buFont typeface="Wingdings" panose="05000000000000000000" pitchFamily="2" charset="2"/>
              <a:buChar char="l"/>
            </a:pPr>
            <a:r>
              <a:rPr lang="zh-CN" altLang="en-US" dirty="0"/>
              <a:t>思考：</a:t>
            </a:r>
            <a:r>
              <a:rPr lang="en-US" altLang="zh-CN" dirty="0" err="1"/>
              <a:t>sizeof</a:t>
            </a:r>
            <a:r>
              <a:rPr lang="en-US" altLang="zh-CN" dirty="0"/>
              <a:t>(a) =?   </a:t>
            </a:r>
            <a:r>
              <a:rPr lang="zh-CN" altLang="en-US" dirty="0"/>
              <a:t>根据结果进一步理解数组的含义；</a:t>
            </a:r>
            <a:endParaRPr lang="en-US" altLang="zh-CN" dirty="0"/>
          </a:p>
          <a:p>
            <a:pPr marL="457200" indent="-457200" algn="just">
              <a:buFont typeface="Wingdings" panose="05000000000000000000" pitchFamily="2" charset="2"/>
              <a:buChar char="l"/>
            </a:pPr>
            <a:endParaRPr lang="zh-CN" altLang="en-US" sz="2800" b="1" dirty="0">
              <a:solidFill>
                <a:srgbClr val="FF3300"/>
              </a:solidFill>
            </a:endParaRPr>
          </a:p>
          <a:p>
            <a:pPr marL="457200" indent="-457200" algn="just">
              <a:buFont typeface="Wingdings" panose="05000000000000000000" pitchFamily="2" charset="2"/>
              <a:buChar char="l"/>
            </a:pPr>
            <a:endParaRPr lang="zh-CN" altLang="en-US" sz="2800" b="1" dirty="0"/>
          </a:p>
        </p:txBody>
      </p:sp>
      <p:sp>
        <p:nvSpPr>
          <p:cNvPr id="5" name="Rectangle 2"/>
          <p:cNvSpPr>
            <a:spLocks noGrp="1" noRot="1" noChangeArrowheads="1"/>
          </p:cNvSpPr>
          <p:nvPr>
            <p:ph type="title"/>
          </p:nvPr>
        </p:nvSpPr>
        <p:spPr>
          <a:xfrm>
            <a:off x="493569" y="238559"/>
            <a:ext cx="7772400" cy="609600"/>
          </a:xfrm>
        </p:spPr>
        <p:txBody>
          <a:bodyPr/>
          <a:lstStyle/>
          <a:p>
            <a:r>
              <a:rPr lang="zh-CN" altLang="en-US" sz="3200" dirty="0"/>
              <a:t>一维</a:t>
            </a:r>
            <a:r>
              <a:rPr lang="zh-CN" altLang="en-US" sz="3200" dirty="0">
                <a:solidFill>
                  <a:srgbClr val="030DCD"/>
                </a:solidFill>
              </a:rPr>
              <a:t>整型</a:t>
            </a:r>
            <a:r>
              <a:rPr lang="zh-CN" altLang="en-US" sz="3200" dirty="0"/>
              <a:t>数组</a:t>
            </a:r>
          </a:p>
        </p:txBody>
      </p:sp>
    </p:spTree>
    <p:extLst>
      <p:ext uri="{BB962C8B-B14F-4D97-AF65-F5344CB8AC3E}">
        <p14:creationId xmlns:p14="http://schemas.microsoft.com/office/powerpoint/2010/main" val="8819218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Rectangle 4"/>
          <p:cNvSpPr>
            <a:spLocks noChangeArrowheads="1"/>
          </p:cNvSpPr>
          <p:nvPr/>
        </p:nvSpPr>
        <p:spPr bwMode="auto">
          <a:xfrm>
            <a:off x="468313" y="1411560"/>
            <a:ext cx="57912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spcBef>
                <a:spcPct val="5000"/>
              </a:spcBef>
            </a:pPr>
            <a:r>
              <a:rPr lang="zh-CN" altLang="en-US" sz="2000" b="1">
                <a:solidFill>
                  <a:srgbClr val="000000"/>
                </a:solidFill>
                <a:latin typeface="宋体" panose="02010600030101010101" pitchFamily="2" charset="-122"/>
              </a:rPr>
              <a:t>一</a:t>
            </a:r>
            <a:r>
              <a:rPr lang="zh-CN" altLang="en-US" sz="2000" b="1" smtClean="0">
                <a:solidFill>
                  <a:srgbClr val="000000"/>
                </a:solidFill>
                <a:latin typeface="宋体" panose="02010600030101010101" pitchFamily="2" charset="-122"/>
              </a:rPr>
              <a:t>维整型数组</a:t>
            </a:r>
            <a:r>
              <a:rPr lang="zh-CN" altLang="en-US" sz="2000" b="1" dirty="0">
                <a:solidFill>
                  <a:srgbClr val="000000"/>
                </a:solidFill>
                <a:latin typeface="宋体" panose="02010600030101010101" pitchFamily="2" charset="-122"/>
              </a:rPr>
              <a:t>： </a:t>
            </a:r>
            <a:r>
              <a:rPr lang="en-US" altLang="zh-CN" sz="2000" b="1" dirty="0">
                <a:solidFill>
                  <a:srgbClr val="CC0000"/>
                </a:solidFill>
                <a:latin typeface="宋体" panose="02010600030101010101" pitchFamily="2" charset="-122"/>
              </a:rPr>
              <a:t>int</a:t>
            </a:r>
            <a:r>
              <a:rPr lang="en-US" altLang="en-US" sz="2000" b="1" dirty="0">
                <a:solidFill>
                  <a:srgbClr val="9CFEB8"/>
                </a:solidFill>
                <a:latin typeface="宋体" panose="02010600030101010101" pitchFamily="2" charset="-122"/>
              </a:rPr>
              <a:t> </a:t>
            </a:r>
            <a:r>
              <a:rPr lang="en-US" altLang="en-US" sz="2000" b="1" dirty="0">
                <a:solidFill>
                  <a:srgbClr val="000000"/>
                </a:solidFill>
                <a:latin typeface="宋体" panose="02010600030101010101" pitchFamily="2" charset="-122"/>
              </a:rPr>
              <a:t>a</a:t>
            </a:r>
            <a:r>
              <a:rPr lang="en-US" altLang="en-US" sz="2000" b="1" dirty="0">
                <a:solidFill>
                  <a:srgbClr val="336600"/>
                </a:solidFill>
                <a:latin typeface="宋体" panose="02010600030101010101" pitchFamily="2" charset="-122"/>
              </a:rPr>
              <a:t>[100];</a:t>
            </a:r>
            <a:endParaRPr lang="en-US" altLang="zh-CN" sz="2000" b="1" dirty="0">
              <a:solidFill>
                <a:srgbClr val="336600"/>
              </a:solidFill>
              <a:latin typeface="宋体" panose="02010600030101010101" pitchFamily="2" charset="-122"/>
            </a:endParaRPr>
          </a:p>
        </p:txBody>
      </p:sp>
      <p:grpSp>
        <p:nvGrpSpPr>
          <p:cNvPr id="243717" name="Group 5"/>
          <p:cNvGrpSpPr>
            <a:grpSpLocks/>
          </p:cNvGrpSpPr>
          <p:nvPr/>
        </p:nvGrpSpPr>
        <p:grpSpPr bwMode="auto">
          <a:xfrm>
            <a:off x="3855029" y="1832977"/>
            <a:ext cx="3586163" cy="3335872"/>
            <a:chOff x="2645" y="1290"/>
            <a:chExt cx="2259" cy="2432"/>
          </a:xfrm>
        </p:grpSpPr>
        <p:sp>
          <p:nvSpPr>
            <p:cNvPr id="243718" name="Rectangle 6"/>
            <p:cNvSpPr>
              <a:spLocks noChangeArrowheads="1"/>
            </p:cNvSpPr>
            <p:nvPr/>
          </p:nvSpPr>
          <p:spPr bwMode="auto">
            <a:xfrm>
              <a:off x="3322" y="1486"/>
              <a:ext cx="1094" cy="220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3333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p>
              <a:endParaRPr lang="zh-CN" altLang="en-US"/>
            </a:p>
          </p:txBody>
        </p:sp>
        <p:sp>
          <p:nvSpPr>
            <p:cNvPr id="243719" name="Line 7"/>
            <p:cNvSpPr>
              <a:spLocks noChangeShapeType="1"/>
            </p:cNvSpPr>
            <p:nvPr/>
          </p:nvSpPr>
          <p:spPr bwMode="auto">
            <a:xfrm>
              <a:off x="3322" y="2540"/>
              <a:ext cx="107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20" name="Line 8"/>
            <p:cNvSpPr>
              <a:spLocks noChangeShapeType="1"/>
            </p:cNvSpPr>
            <p:nvPr/>
          </p:nvSpPr>
          <p:spPr bwMode="auto">
            <a:xfrm>
              <a:off x="3322" y="1763"/>
              <a:ext cx="10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21" name="Line 9"/>
            <p:cNvSpPr>
              <a:spLocks noChangeShapeType="1"/>
            </p:cNvSpPr>
            <p:nvPr/>
          </p:nvSpPr>
          <p:spPr bwMode="auto">
            <a:xfrm>
              <a:off x="3322" y="2042"/>
              <a:ext cx="110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22" name="Line 10"/>
            <p:cNvSpPr>
              <a:spLocks noChangeShapeType="1"/>
            </p:cNvSpPr>
            <p:nvPr/>
          </p:nvSpPr>
          <p:spPr bwMode="auto">
            <a:xfrm>
              <a:off x="3322" y="2269"/>
              <a:ext cx="10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23" name="Line 11"/>
            <p:cNvSpPr>
              <a:spLocks noChangeShapeType="1"/>
            </p:cNvSpPr>
            <p:nvPr/>
          </p:nvSpPr>
          <p:spPr bwMode="auto">
            <a:xfrm>
              <a:off x="3322" y="3364"/>
              <a:ext cx="10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24" name="Line 12"/>
            <p:cNvSpPr>
              <a:spLocks noChangeShapeType="1"/>
            </p:cNvSpPr>
            <p:nvPr/>
          </p:nvSpPr>
          <p:spPr bwMode="auto">
            <a:xfrm>
              <a:off x="2982" y="2952"/>
              <a:ext cx="0" cy="336"/>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3725" name="Line 13"/>
            <p:cNvSpPr>
              <a:spLocks noChangeShapeType="1"/>
            </p:cNvSpPr>
            <p:nvPr/>
          </p:nvSpPr>
          <p:spPr bwMode="auto">
            <a:xfrm>
              <a:off x="4416" y="2952"/>
              <a:ext cx="0" cy="336"/>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3726" name="Text Box 14"/>
            <p:cNvSpPr txBox="1">
              <a:spLocks noChangeArrowheads="1"/>
            </p:cNvSpPr>
            <p:nvPr/>
          </p:nvSpPr>
          <p:spPr bwMode="auto">
            <a:xfrm>
              <a:off x="4438" y="1469"/>
              <a:ext cx="466" cy="2177"/>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a[</a:t>
              </a:r>
              <a:r>
                <a:rPr kumimoji="1" lang="en-US" altLang="en-US" sz="2000" b="1" dirty="0">
                  <a:solidFill>
                    <a:srgbClr val="C00000"/>
                  </a:solidFill>
                  <a:latin typeface="Times New Roman" panose="02020603050405020304" pitchFamily="18" charset="0"/>
                  <a:sym typeface="Monotype Sorts" pitchFamily="2" charset="2"/>
                </a:rPr>
                <a:t>0</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a[</a:t>
              </a:r>
              <a:r>
                <a:rPr kumimoji="1" lang="en-US" altLang="en-US" sz="2000" b="1" dirty="0">
                  <a:solidFill>
                    <a:srgbClr val="C00000"/>
                  </a:solidFill>
                  <a:latin typeface="Times New Roman" panose="02020603050405020304" pitchFamily="18" charset="0"/>
                  <a:sym typeface="Monotype Sorts" pitchFamily="2" charset="2"/>
                </a:rPr>
                <a:t>1</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a[</a:t>
              </a:r>
              <a:r>
                <a:rPr kumimoji="1" lang="en-US" altLang="en-US" sz="2000" b="1" dirty="0">
                  <a:solidFill>
                    <a:srgbClr val="C00000"/>
                  </a:solidFill>
                  <a:latin typeface="Times New Roman" panose="02020603050405020304" pitchFamily="18" charset="0"/>
                  <a:sym typeface="Monotype Sorts" pitchFamily="2" charset="2"/>
                </a:rPr>
                <a:t>2</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a[</a:t>
              </a:r>
              <a:r>
                <a:rPr kumimoji="1" lang="en-US" altLang="en-US" sz="2000" b="1" dirty="0">
                  <a:solidFill>
                    <a:srgbClr val="C00000"/>
                  </a:solidFill>
                  <a:latin typeface="Times New Roman" panose="02020603050405020304" pitchFamily="18" charset="0"/>
                  <a:sym typeface="Monotype Sorts" pitchFamily="2" charset="2"/>
                </a:rPr>
                <a:t>3</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endParaRPr kumimoji="1" lang="en-US" altLang="en-US" sz="2000" b="1" dirty="0">
                <a:solidFill>
                  <a:srgbClr val="336600"/>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a[</a:t>
              </a:r>
              <a:r>
                <a:rPr kumimoji="1" lang="en-US" altLang="en-US" sz="2000" b="1" dirty="0">
                  <a:solidFill>
                    <a:srgbClr val="C00000"/>
                  </a:solidFill>
                  <a:latin typeface="Times New Roman" panose="02020603050405020304" pitchFamily="18" charset="0"/>
                  <a:sym typeface="Monotype Sorts" pitchFamily="2" charset="2"/>
                </a:rPr>
                <a:t>99</a:t>
              </a:r>
              <a:r>
                <a:rPr kumimoji="1" lang="en-US" altLang="en-US" sz="2000" b="1" dirty="0">
                  <a:solidFill>
                    <a:srgbClr val="336600"/>
                  </a:solidFill>
                  <a:latin typeface="Times New Roman" panose="02020603050405020304" pitchFamily="18" charset="0"/>
                  <a:sym typeface="Monotype Sorts" pitchFamily="2" charset="2"/>
                </a:rPr>
                <a:t>]</a:t>
              </a:r>
              <a:endParaRPr kumimoji="1" lang="en-US" altLang="zh-CN" sz="2000" b="1" dirty="0">
                <a:solidFill>
                  <a:srgbClr val="336600"/>
                </a:solidFill>
                <a:latin typeface="Times New Roman" panose="02020603050405020304" pitchFamily="18" charset="0"/>
                <a:sym typeface="Monotype Sorts" pitchFamily="2" charset="2"/>
              </a:endParaRPr>
            </a:p>
          </p:txBody>
        </p:sp>
        <p:sp>
          <p:nvSpPr>
            <p:cNvPr id="243727" name="Text Box 15"/>
            <p:cNvSpPr txBox="1">
              <a:spLocks noChangeArrowheads="1"/>
            </p:cNvSpPr>
            <p:nvPr/>
          </p:nvSpPr>
          <p:spPr bwMode="auto">
            <a:xfrm>
              <a:off x="3654" y="1456"/>
              <a:ext cx="278" cy="2266"/>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34</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64</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73</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89</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endParaRPr kumimoji="1" lang="en-US" altLang="zh-CN" sz="2000" b="1" dirty="0">
                <a:solidFill>
                  <a:srgbClr val="000000"/>
                </a:solidFill>
                <a:latin typeface="Times New Roman" panose="02020603050405020304" pitchFamily="18" charset="0"/>
                <a:sym typeface="Monotype Sorts" pitchFamily="2" charset="2"/>
              </a:endParaRPr>
            </a:p>
            <a:p>
              <a:pPr algn="ctr">
                <a:spcBef>
                  <a:spcPts val="0"/>
                </a:spcBef>
                <a:buClr>
                  <a:srgbClr val="CC99FF"/>
                </a:buClr>
                <a:buFont typeface="Monotype Sorts" pitchFamily="2" charset="2"/>
                <a:buNone/>
              </a:pPr>
              <a:endParaRPr kumimoji="1" lang="en-US" altLang="zh-CN" sz="2000" b="1" dirty="0">
                <a:solidFill>
                  <a:srgbClr val="000000"/>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21</a:t>
              </a:r>
            </a:p>
          </p:txBody>
        </p:sp>
        <p:sp>
          <p:nvSpPr>
            <p:cNvPr id="243728" name="Text Box 16"/>
            <p:cNvSpPr txBox="1">
              <a:spLocks noChangeArrowheads="1"/>
            </p:cNvSpPr>
            <p:nvPr/>
          </p:nvSpPr>
          <p:spPr bwMode="auto">
            <a:xfrm>
              <a:off x="2645" y="1290"/>
              <a:ext cx="601" cy="2432"/>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zh-CN" altLang="en-US" sz="2000" b="1" dirty="0">
                  <a:solidFill>
                    <a:srgbClr val="336600"/>
                  </a:solidFill>
                  <a:latin typeface="Times New Roman" panose="02020603050405020304" pitchFamily="18" charset="0"/>
                  <a:sym typeface="Monotype Sorts" pitchFamily="2" charset="2"/>
                </a:rPr>
                <a:t>低地址</a:t>
              </a: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zh-CN" altLang="en-US" sz="2000" b="1" dirty="0">
                  <a:solidFill>
                    <a:srgbClr val="66FFFF"/>
                  </a:solidFill>
                  <a:latin typeface="Arial Black" panose="020B0A04020102020204" pitchFamily="34" charset="0"/>
                  <a:sym typeface="Monotype Sorts" pitchFamily="2" charset="2"/>
                </a:rPr>
                <a:t> </a:t>
              </a:r>
            </a:p>
            <a:p>
              <a:pPr algn="ctr">
                <a:spcBef>
                  <a:spcPct val="20000"/>
                </a:spcBef>
                <a:buClr>
                  <a:srgbClr val="CC99FF"/>
                </a:buClr>
                <a:buFont typeface="Monotype Sorts" pitchFamily="2" charset="2"/>
                <a:buNone/>
              </a:pPr>
              <a:endParaRPr kumimoji="1" lang="en-US" altLang="zh-CN"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en-US" altLang="zh-CN"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zh-CN" altLang="zh-CN" sz="2000" b="1" dirty="0">
                  <a:solidFill>
                    <a:srgbClr val="336600"/>
                  </a:solidFill>
                  <a:latin typeface="Times New Roman" panose="02020603050405020304" pitchFamily="18" charset="0"/>
                  <a:sym typeface="Monotype Sorts" pitchFamily="2" charset="2"/>
                </a:rPr>
                <a:t>高地址</a:t>
              </a:r>
              <a:endParaRPr kumimoji="1" lang="zh-CN" altLang="en-US" sz="2000" b="1" dirty="0">
                <a:solidFill>
                  <a:srgbClr val="336600"/>
                </a:solidFill>
                <a:latin typeface="Times New Roman" panose="02020603050405020304" pitchFamily="18" charset="0"/>
                <a:sym typeface="Monotype Sorts" pitchFamily="2" charset="2"/>
              </a:endParaRPr>
            </a:p>
          </p:txBody>
        </p:sp>
      </p:grpSp>
      <p:sp>
        <p:nvSpPr>
          <p:cNvPr id="243729" name="AutoShape 17"/>
          <p:cNvSpPr>
            <a:spLocks noChangeArrowheads="1"/>
          </p:cNvSpPr>
          <p:nvPr/>
        </p:nvSpPr>
        <p:spPr bwMode="auto">
          <a:xfrm>
            <a:off x="4161417" y="2242454"/>
            <a:ext cx="285750" cy="2590800"/>
          </a:xfrm>
          <a:prstGeom prst="downArrow">
            <a:avLst>
              <a:gd name="adj1" fmla="val 50000"/>
              <a:gd name="adj2" fmla="val 133333"/>
            </a:avLst>
          </a:prstGeom>
          <a:gradFill rotWithShape="0">
            <a:gsLst>
              <a:gs pos="0">
                <a:srgbClr val="99FFCC"/>
              </a:gs>
              <a:gs pos="100000">
                <a:srgbClr val="FFFF00"/>
              </a:gs>
            </a:gsLst>
            <a:lin ang="540000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30" name="AutoShape 18"/>
          <p:cNvSpPr>
            <a:spLocks noChangeArrowheads="1"/>
          </p:cNvSpPr>
          <p:nvPr/>
        </p:nvSpPr>
        <p:spPr bwMode="auto">
          <a:xfrm>
            <a:off x="100232" y="2172650"/>
            <a:ext cx="4445360" cy="2839176"/>
          </a:xfrm>
          <a:prstGeom prst="cloudCallout">
            <a:avLst>
              <a:gd name="adj1" fmla="val 59681"/>
              <a:gd name="adj2" fmla="val -43889"/>
            </a:avLst>
          </a:prstGeom>
          <a:noFill/>
          <a:ln w="38100">
            <a:solidFill>
              <a:srgbClr val="FF3300"/>
            </a:solidFill>
            <a:round/>
            <a:headEnd/>
            <a:tailEnd/>
          </a:ln>
          <a:effectLst/>
          <a:extLst>
            <a:ext uri="{909E8E84-426E-40DD-AFC4-6F175D3DCCD1}">
              <a14:hiddenFill xmlns:a14="http://schemas.microsoft.com/office/drawing/2010/main">
                <a:solidFill>
                  <a:srgbClr val="3333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spAutoFit/>
          </a:bodyPr>
          <a:lstStyle/>
          <a:p>
            <a:pPr marL="285750" indent="-285750">
              <a:spcBef>
                <a:spcPct val="20000"/>
              </a:spcBef>
              <a:buClr>
                <a:srgbClr val="CC99FF"/>
              </a:buClr>
              <a:buFont typeface="Wingdings" panose="05000000000000000000" pitchFamily="2" charset="2"/>
              <a:buChar char="ü"/>
            </a:pPr>
            <a:r>
              <a:rPr kumimoji="1" lang="zh-CN" altLang="en-US" b="1" dirty="0">
                <a:solidFill>
                  <a:srgbClr val="0070C0"/>
                </a:solidFill>
                <a:latin typeface="Times New Roman" panose="02020603050405020304" pitchFamily="18" charset="0"/>
                <a:ea typeface="+mn-ea"/>
                <a:cs typeface="Times New Roman" panose="02020603050405020304" pitchFamily="18" charset="0"/>
                <a:sym typeface="Monotype Sorts" pitchFamily="2" charset="2"/>
              </a:rPr>
              <a:t>每个数据元素占用的字节数，就是</a:t>
            </a:r>
            <a:r>
              <a:rPr kumimoji="1" lang="zh-CN" altLang="en-US" b="1" dirty="0">
                <a:solidFill>
                  <a:srgbClr val="C00000"/>
                </a:solidFill>
                <a:latin typeface="Times New Roman" panose="02020603050405020304" pitchFamily="18" charset="0"/>
                <a:ea typeface="+mn-ea"/>
                <a:cs typeface="Times New Roman" panose="02020603050405020304" pitchFamily="18" charset="0"/>
                <a:sym typeface="Monotype Sorts" pitchFamily="2" charset="2"/>
              </a:rPr>
              <a:t>基类型</a:t>
            </a:r>
            <a:r>
              <a:rPr kumimoji="1" lang="zh-CN" altLang="en-US" b="1" dirty="0">
                <a:solidFill>
                  <a:srgbClr val="0070C0"/>
                </a:solidFill>
                <a:latin typeface="Times New Roman" panose="02020603050405020304" pitchFamily="18" charset="0"/>
                <a:ea typeface="+mn-ea"/>
                <a:cs typeface="Times New Roman" panose="02020603050405020304" pitchFamily="18" charset="0"/>
                <a:sym typeface="Monotype Sorts" pitchFamily="2" charset="2"/>
              </a:rPr>
              <a:t>的字节数</a:t>
            </a:r>
          </a:p>
          <a:p>
            <a:pPr marL="285750" indent="-285750">
              <a:spcBef>
                <a:spcPct val="20000"/>
              </a:spcBef>
              <a:buClr>
                <a:srgbClr val="CC99FF"/>
              </a:buClr>
              <a:buFont typeface="Wingdings" panose="05000000000000000000" pitchFamily="2" charset="2"/>
              <a:buChar char="ü"/>
            </a:pPr>
            <a:r>
              <a:rPr kumimoji="1" lang="zh-CN" altLang="en-US" b="1" dirty="0">
                <a:solidFill>
                  <a:srgbClr val="336600"/>
                </a:solidFill>
                <a:latin typeface="Times New Roman" panose="02020603050405020304" pitchFamily="18" charset="0"/>
                <a:ea typeface="+mn-ea"/>
                <a:cs typeface="Times New Roman" panose="02020603050405020304" pitchFamily="18" charset="0"/>
                <a:sym typeface="Monotype Sorts" pitchFamily="2" charset="2"/>
              </a:rPr>
              <a:t>一个元素占</a:t>
            </a:r>
            <a:r>
              <a:rPr kumimoji="1" lang="en-US" altLang="zh-CN" b="1" dirty="0">
                <a:solidFill>
                  <a:srgbClr val="0000CC"/>
                </a:solidFill>
                <a:latin typeface="Times New Roman" panose="02020603050405020304" pitchFamily="18" charset="0"/>
                <a:ea typeface="+mn-ea"/>
                <a:cs typeface="Times New Roman" panose="02020603050405020304" pitchFamily="18" charset="0"/>
                <a:sym typeface="Monotype Sorts" pitchFamily="2" charset="2"/>
              </a:rPr>
              <a:t>4</a:t>
            </a:r>
            <a:r>
              <a:rPr kumimoji="1" lang="zh-CN" altLang="en-US" b="1" dirty="0">
                <a:solidFill>
                  <a:srgbClr val="0000CC"/>
                </a:solidFill>
                <a:latin typeface="Times New Roman" panose="02020603050405020304" pitchFamily="18" charset="0"/>
                <a:ea typeface="+mn-ea"/>
                <a:cs typeface="Times New Roman" panose="02020603050405020304" pitchFamily="18" charset="0"/>
                <a:sym typeface="Monotype Sorts" pitchFamily="2" charset="2"/>
              </a:rPr>
              <a:t>个</a:t>
            </a:r>
            <a:r>
              <a:rPr kumimoji="1" lang="zh-CN" altLang="en-US" b="1" dirty="0">
                <a:solidFill>
                  <a:srgbClr val="336600"/>
                </a:solidFill>
                <a:latin typeface="Times New Roman" panose="02020603050405020304" pitchFamily="18" charset="0"/>
                <a:ea typeface="+mn-ea"/>
                <a:cs typeface="Times New Roman" panose="02020603050405020304" pitchFamily="18" charset="0"/>
                <a:sym typeface="Monotype Sorts" pitchFamily="2" charset="2"/>
              </a:rPr>
              <a:t>字节；</a:t>
            </a:r>
            <a:endParaRPr kumimoji="1" lang="en-US" altLang="zh-CN" b="1" dirty="0">
              <a:solidFill>
                <a:srgbClr val="336600"/>
              </a:solidFill>
              <a:latin typeface="Times New Roman" panose="02020603050405020304" pitchFamily="18" charset="0"/>
              <a:ea typeface="+mn-ea"/>
              <a:cs typeface="Times New Roman" panose="02020603050405020304" pitchFamily="18" charset="0"/>
              <a:sym typeface="Monotype Sorts" pitchFamily="2" charset="2"/>
            </a:endParaRPr>
          </a:p>
          <a:p>
            <a:pPr marL="285750" indent="-285750">
              <a:spcBef>
                <a:spcPct val="20000"/>
              </a:spcBef>
              <a:buClr>
                <a:srgbClr val="CC99FF"/>
              </a:buClr>
              <a:buFont typeface="Wingdings" panose="05000000000000000000" pitchFamily="2" charset="2"/>
              <a:buChar char="ü"/>
            </a:pPr>
            <a:r>
              <a:rPr kumimoji="1" lang="zh-CN" altLang="en-US" b="1" dirty="0">
                <a:solidFill>
                  <a:srgbClr val="030DCD"/>
                </a:solidFill>
                <a:latin typeface="Times New Roman" panose="02020603050405020304" pitchFamily="18" charset="0"/>
                <a:ea typeface="+mn-ea"/>
                <a:cs typeface="Times New Roman" panose="02020603050405020304" pitchFamily="18" charset="0"/>
                <a:sym typeface="Monotype Sorts" pitchFamily="2" charset="2"/>
              </a:rPr>
              <a:t>系统为数组</a:t>
            </a:r>
            <a:r>
              <a:rPr kumimoji="1" lang="en-US" altLang="zh-CN" b="1" dirty="0">
                <a:solidFill>
                  <a:srgbClr val="030DCD"/>
                </a:solidFill>
                <a:latin typeface="Times New Roman" panose="02020603050405020304" pitchFamily="18" charset="0"/>
                <a:ea typeface="+mn-ea"/>
                <a:cs typeface="Times New Roman" panose="02020603050405020304" pitchFamily="18" charset="0"/>
                <a:sym typeface="Monotype Sorts" pitchFamily="2" charset="2"/>
              </a:rPr>
              <a:t>a</a:t>
            </a:r>
            <a:r>
              <a:rPr kumimoji="1" lang="zh-CN" altLang="en-US" b="1" dirty="0">
                <a:solidFill>
                  <a:srgbClr val="030DCD"/>
                </a:solidFill>
                <a:latin typeface="Times New Roman" panose="02020603050405020304" pitchFamily="18" charset="0"/>
                <a:ea typeface="+mn-ea"/>
                <a:cs typeface="Times New Roman" panose="02020603050405020304" pitchFamily="18" charset="0"/>
                <a:sym typeface="Monotype Sorts" pitchFamily="2" charset="2"/>
              </a:rPr>
              <a:t>连续分配了</a:t>
            </a:r>
            <a:r>
              <a:rPr kumimoji="1" lang="en-US" altLang="zh-CN" b="1" dirty="0">
                <a:solidFill>
                  <a:srgbClr val="030DCD"/>
                </a:solidFill>
                <a:latin typeface="Times New Roman" panose="02020603050405020304" pitchFamily="18" charset="0"/>
                <a:ea typeface="+mn-ea"/>
                <a:cs typeface="Times New Roman" panose="02020603050405020304" pitchFamily="18" charset="0"/>
                <a:sym typeface="Monotype Sorts" pitchFamily="2" charset="2"/>
              </a:rPr>
              <a:t>400</a:t>
            </a:r>
            <a:r>
              <a:rPr kumimoji="1" lang="zh-CN" altLang="en-US" b="1" dirty="0">
                <a:solidFill>
                  <a:srgbClr val="030DCD"/>
                </a:solidFill>
                <a:latin typeface="Times New Roman" panose="02020603050405020304" pitchFamily="18" charset="0"/>
                <a:ea typeface="+mn-ea"/>
                <a:cs typeface="Times New Roman" panose="02020603050405020304" pitchFamily="18" charset="0"/>
                <a:sym typeface="Monotype Sorts" pitchFamily="2" charset="2"/>
              </a:rPr>
              <a:t>个字节的地址空间；</a:t>
            </a:r>
          </a:p>
        </p:txBody>
      </p:sp>
      <p:sp>
        <p:nvSpPr>
          <p:cNvPr id="17" name="标题 1"/>
          <p:cNvSpPr>
            <a:spLocks noGrp="1"/>
          </p:cNvSpPr>
          <p:nvPr>
            <p:ph type="title"/>
          </p:nvPr>
        </p:nvSpPr>
        <p:spPr>
          <a:xfrm>
            <a:off x="485775" y="255588"/>
            <a:ext cx="8089900" cy="584200"/>
          </a:xfrm>
        </p:spPr>
        <p:txBody>
          <a:bodyPr/>
          <a:lstStyle/>
          <a:p>
            <a:r>
              <a:rPr lang="zh-CN" altLang="en-US" dirty="0"/>
              <a:t>一维整型数组</a:t>
            </a:r>
          </a:p>
        </p:txBody>
      </p:sp>
      <p:sp>
        <p:nvSpPr>
          <p:cNvPr id="2" name="矩形 1">
            <a:extLst>
              <a:ext uri="{FF2B5EF4-FFF2-40B4-BE49-F238E27FC236}">
                <a16:creationId xmlns:a16="http://schemas.microsoft.com/office/drawing/2014/main" id="{E10094D6-D904-4A18-AE4C-B3163D925DA7}"/>
              </a:ext>
            </a:extLst>
          </p:cNvPr>
          <p:cNvSpPr/>
          <p:nvPr/>
        </p:nvSpPr>
        <p:spPr>
          <a:xfrm>
            <a:off x="357298" y="940525"/>
            <a:ext cx="7343795" cy="400110"/>
          </a:xfrm>
          <a:prstGeom prst="rect">
            <a:avLst/>
          </a:prstGeom>
        </p:spPr>
        <p:txBody>
          <a:bodyPr wrap="square">
            <a:spAutoFit/>
          </a:bodyPr>
          <a:lstStyle/>
          <a:p>
            <a:pPr marL="285750" indent="-285750">
              <a:buFont typeface="Arial" panose="020B0604020202020204" pitchFamily="34" charset="0"/>
              <a:buChar char="•"/>
            </a:pPr>
            <a:r>
              <a:rPr lang="en-US" altLang="zh-CN" sz="2000" dirty="0">
                <a:solidFill>
                  <a:srgbClr val="030DCD"/>
                </a:solidFill>
                <a:latin typeface="Times New Roman" panose="02020603050405020304" pitchFamily="18" charset="0"/>
                <a:ea typeface="+mn-ea"/>
                <a:cs typeface="Times New Roman" panose="02020603050405020304" pitchFamily="18" charset="0"/>
              </a:rPr>
              <a:t>C</a:t>
            </a:r>
            <a:r>
              <a:rPr lang="zh-CN" altLang="en-US" sz="2000" dirty="0">
                <a:solidFill>
                  <a:srgbClr val="030DCD"/>
                </a:solidFill>
                <a:latin typeface="Times New Roman" panose="02020603050405020304" pitchFamily="18" charset="0"/>
                <a:ea typeface="+mn-ea"/>
                <a:cs typeface="Times New Roman" panose="02020603050405020304" pitchFamily="18" charset="0"/>
              </a:rPr>
              <a:t>编译程序为数组分配了一片连续的空间；</a:t>
            </a:r>
            <a:endParaRPr lang="en-US" altLang="zh-CN" sz="2000" dirty="0">
              <a:solidFill>
                <a:srgbClr val="030DCD"/>
              </a:solidFill>
              <a:latin typeface="Times New Roman" panose="02020603050405020304" pitchFamily="18" charset="0"/>
              <a:ea typeface="+mn-ea"/>
              <a:cs typeface="Times New Roman" panose="02020603050405020304" pitchFamily="18" charset="0"/>
            </a:endParaRPr>
          </a:p>
        </p:txBody>
      </p:sp>
      <p:sp>
        <p:nvSpPr>
          <p:cNvPr id="3" name="对话气泡: 圆角矩形 2">
            <a:extLst>
              <a:ext uri="{FF2B5EF4-FFF2-40B4-BE49-F238E27FC236}">
                <a16:creationId xmlns:a16="http://schemas.microsoft.com/office/drawing/2014/main" id="{98AB1078-3DC8-4856-B793-75110BEAC93A}"/>
              </a:ext>
            </a:extLst>
          </p:cNvPr>
          <p:cNvSpPr/>
          <p:nvPr/>
        </p:nvSpPr>
        <p:spPr bwMode="auto">
          <a:xfrm>
            <a:off x="5101229" y="1441372"/>
            <a:ext cx="2316568" cy="403607"/>
          </a:xfrm>
          <a:prstGeom prst="wedgeRoundRectCallout">
            <a:avLst>
              <a:gd name="adj1" fmla="val 31271"/>
              <a:gd name="adj2" fmla="val 109041"/>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dirty="0">
                <a:solidFill>
                  <a:srgbClr val="000000"/>
                </a:solidFill>
                <a:ea typeface="宋体" panose="02010600030101010101" pitchFamily="2" charset="-122"/>
              </a:rPr>
              <a:t>数组元素下标从</a:t>
            </a:r>
            <a:r>
              <a:rPr lang="en-US" altLang="zh-CN" sz="1400" dirty="0">
                <a:solidFill>
                  <a:srgbClr val="000000"/>
                </a:solidFill>
                <a:ea typeface="宋体" panose="02010600030101010101" pitchFamily="2" charset="-122"/>
              </a:rPr>
              <a:t>0</a:t>
            </a:r>
            <a:r>
              <a:rPr lang="zh-CN" altLang="en-US" sz="1400" dirty="0">
                <a:solidFill>
                  <a:srgbClr val="000000"/>
                </a:solidFill>
                <a:ea typeface="宋体" panose="02010600030101010101" pitchFamily="2" charset="-122"/>
              </a:rPr>
              <a:t>开始编号</a:t>
            </a:r>
            <a:endParaRPr kumimoji="0" lang="zh-CN" altLang="en-US" sz="1400" b="0" i="0" u="none" strike="noStrike" cap="none" normalizeH="0" baseline="0" dirty="0">
              <a:ln>
                <a:noFill/>
              </a:ln>
              <a:solidFill>
                <a:srgbClr val="000000"/>
              </a:solidFill>
              <a:effectLst/>
              <a:ea typeface="宋体" panose="02010600030101010101" pitchFamily="2" charset="-122"/>
            </a:endParaRPr>
          </a:p>
        </p:txBody>
      </p:sp>
      <p:sp>
        <p:nvSpPr>
          <p:cNvPr id="4" name="矩形 3"/>
          <p:cNvSpPr/>
          <p:nvPr/>
        </p:nvSpPr>
        <p:spPr>
          <a:xfrm>
            <a:off x="178853" y="5391775"/>
            <a:ext cx="8250877" cy="646331"/>
          </a:xfrm>
          <a:prstGeom prst="rect">
            <a:avLst/>
          </a:prstGeom>
        </p:spPr>
        <p:txBody>
          <a:bodyPr wrap="square">
            <a:spAutoFit/>
          </a:bodyPr>
          <a:lstStyle/>
          <a:p>
            <a:pPr marL="457200" indent="-457200" algn="just">
              <a:lnSpc>
                <a:spcPct val="100000"/>
              </a:lnSpc>
              <a:buFont typeface="Wingdings" panose="05000000000000000000" pitchFamily="2" charset="2"/>
              <a:buChar char="l"/>
            </a:pPr>
            <a:r>
              <a:rPr lang="zh-CN" altLang="en-US" b="1" u="sng" dirty="0" smtClean="0">
                <a:solidFill>
                  <a:srgbClr val="7030A0"/>
                </a:solidFill>
              </a:rPr>
              <a:t>每个数组</a:t>
            </a:r>
            <a:r>
              <a:rPr lang="zh-CN" altLang="en-US" b="1" u="sng" dirty="0">
                <a:solidFill>
                  <a:srgbClr val="7030A0"/>
                </a:solidFill>
              </a:rPr>
              <a:t>元素</a:t>
            </a:r>
            <a:r>
              <a:rPr lang="zh-CN" altLang="en-US" b="1" u="sng" dirty="0" smtClean="0">
                <a:solidFill>
                  <a:srgbClr val="000000"/>
                </a:solidFill>
              </a:rPr>
              <a:t>，如</a:t>
            </a:r>
            <a:r>
              <a:rPr lang="en-US" altLang="zh-CN" b="1" u="sng" dirty="0" smtClean="0">
                <a:solidFill>
                  <a:srgbClr val="000000"/>
                </a:solidFill>
              </a:rPr>
              <a:t>a[0]</a:t>
            </a:r>
            <a:r>
              <a:rPr lang="zh-CN" altLang="en-US" b="1" u="sng" dirty="0" smtClean="0">
                <a:solidFill>
                  <a:srgbClr val="000000"/>
                </a:solidFill>
              </a:rPr>
              <a:t>，实质上</a:t>
            </a:r>
            <a:r>
              <a:rPr lang="zh-CN" altLang="en-US" b="1" u="sng" dirty="0">
                <a:solidFill>
                  <a:srgbClr val="000000"/>
                </a:solidFill>
              </a:rPr>
              <a:t>就是</a:t>
            </a:r>
            <a:r>
              <a:rPr lang="zh-CN" altLang="en-US" b="1" u="sng" dirty="0">
                <a:solidFill>
                  <a:srgbClr val="9900FF"/>
                </a:solidFill>
              </a:rPr>
              <a:t>1</a:t>
            </a:r>
            <a:r>
              <a:rPr lang="zh-CN" altLang="en-US" b="1" u="sng" dirty="0" smtClean="0">
                <a:solidFill>
                  <a:srgbClr val="9900FF"/>
                </a:solidFill>
              </a:rPr>
              <a:t>个变量</a:t>
            </a:r>
            <a:r>
              <a:rPr lang="zh-CN" altLang="en-US" b="1" u="sng" dirty="0">
                <a:solidFill>
                  <a:srgbClr val="000000"/>
                </a:solidFill>
              </a:rPr>
              <a:t>，它具有和</a:t>
            </a:r>
            <a:r>
              <a:rPr lang="zh-CN" altLang="en-US" b="1" u="sng" dirty="0">
                <a:solidFill>
                  <a:srgbClr val="7030A0"/>
                </a:solidFill>
              </a:rPr>
              <a:t>相同类型单个变量</a:t>
            </a:r>
            <a:r>
              <a:rPr lang="zh-CN" altLang="en-US" b="1" u="sng" dirty="0">
                <a:solidFill>
                  <a:srgbClr val="000000"/>
                </a:solidFill>
              </a:rPr>
              <a:t>一样的属性，可以对它</a:t>
            </a:r>
            <a:r>
              <a:rPr lang="zh-CN" altLang="en-US" b="1" u="sng" dirty="0" smtClean="0">
                <a:solidFill>
                  <a:srgbClr val="000000"/>
                </a:solidFill>
              </a:rPr>
              <a:t>进行</a:t>
            </a:r>
            <a:r>
              <a:rPr lang="zh-CN" altLang="en-US" b="1" u="sng" dirty="0" smtClean="0">
                <a:solidFill>
                  <a:srgbClr val="0000CC"/>
                </a:solidFill>
              </a:rPr>
              <a:t>输入、赋值</a:t>
            </a:r>
            <a:r>
              <a:rPr lang="zh-CN" altLang="en-US" b="1" u="sng" dirty="0">
                <a:solidFill>
                  <a:srgbClr val="0000CC"/>
                </a:solidFill>
              </a:rPr>
              <a:t>和参与各种运算</a:t>
            </a:r>
            <a:r>
              <a:rPr lang="zh-CN" altLang="en-US" b="1" u="sng" dirty="0">
                <a:solidFill>
                  <a:srgbClr val="000000"/>
                </a:solidFill>
              </a:rPr>
              <a:t>。</a:t>
            </a:r>
            <a:endParaRPr lang="zh-CN" altLang="en-US" b="1" u="sng" dirty="0"/>
          </a:p>
        </p:txBody>
      </p:sp>
      <p:sp>
        <p:nvSpPr>
          <p:cNvPr id="21" name="对话气泡: 圆角矩形 2">
            <a:extLst>
              <a:ext uri="{FF2B5EF4-FFF2-40B4-BE49-F238E27FC236}">
                <a16:creationId xmlns:a16="http://schemas.microsoft.com/office/drawing/2014/main" id="{98AB1078-3DC8-4856-B793-75110BEAC93A}"/>
              </a:ext>
            </a:extLst>
          </p:cNvPr>
          <p:cNvSpPr/>
          <p:nvPr/>
        </p:nvSpPr>
        <p:spPr bwMode="auto">
          <a:xfrm>
            <a:off x="3363913" y="2872841"/>
            <a:ext cx="4946784" cy="995104"/>
          </a:xfrm>
          <a:prstGeom prst="wedgeRoundRectCallout">
            <a:avLst>
              <a:gd name="adj1" fmla="val 15482"/>
              <a:gd name="adj2" fmla="val 46449"/>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dirty="0" smtClean="0">
                <a:solidFill>
                  <a:srgbClr val="000000"/>
                </a:solidFill>
                <a:ea typeface="宋体" panose="02010600030101010101" pitchFamily="2" charset="-122"/>
              </a:rPr>
              <a:t>long, long long, unsigned, unsigned long </a:t>
            </a:r>
            <a:r>
              <a:rPr lang="en-US" altLang="zh-CN" sz="1600" dirty="0" err="1" smtClean="0">
                <a:solidFill>
                  <a:srgbClr val="000000"/>
                </a:solidFill>
                <a:ea typeface="宋体" panose="02010600030101010101" pitchFamily="2" charset="-122"/>
              </a:rPr>
              <a:t>long</a:t>
            </a:r>
            <a:r>
              <a:rPr lang="zh-CN" altLang="en-US" sz="1600" dirty="0" smtClean="0">
                <a:solidFill>
                  <a:srgbClr val="000000"/>
                </a:solidFill>
                <a:ea typeface="宋体" panose="02010600030101010101" pitchFamily="2" charset="-122"/>
              </a:rPr>
              <a:t>等类型的一维数组定义与使用同</a:t>
            </a:r>
            <a:r>
              <a:rPr lang="en-US" altLang="zh-CN" sz="1600" dirty="0" err="1" smtClean="0">
                <a:solidFill>
                  <a:srgbClr val="000000"/>
                </a:solidFill>
                <a:ea typeface="宋体" panose="02010600030101010101" pitchFamily="2" charset="-122"/>
              </a:rPr>
              <a:t>int</a:t>
            </a:r>
            <a:r>
              <a:rPr lang="zh-CN" altLang="en-US" sz="1600" dirty="0" smtClean="0">
                <a:solidFill>
                  <a:srgbClr val="000000"/>
                </a:solidFill>
                <a:ea typeface="宋体" panose="02010600030101010101" pitchFamily="2" charset="-122"/>
              </a:rPr>
              <a:t>类型的数组，每个元素所占的字节数由数组的基类型确定。</a:t>
            </a:r>
            <a:endParaRPr kumimoji="0" lang="zh-CN" altLang="en-US" sz="1600" b="0" i="0" u="none" strike="noStrike" cap="none" normalizeH="0" baseline="0" dirty="0">
              <a:ln>
                <a:noFill/>
              </a:ln>
              <a:solidFill>
                <a:srgbClr val="000000"/>
              </a:solidFill>
              <a:effectLst/>
              <a:ea typeface="宋体" panose="02010600030101010101" pitchFamily="2" charset="-122"/>
            </a:endParaRPr>
          </a:p>
        </p:txBody>
      </p:sp>
    </p:spTree>
    <p:extLst>
      <p:ext uri="{BB962C8B-B14F-4D97-AF65-F5344CB8AC3E}">
        <p14:creationId xmlns:p14="http://schemas.microsoft.com/office/powerpoint/2010/main" val="88615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每个数组元素</a:t>
            </a:r>
            <a:r>
              <a:rPr lang="en-US" altLang="zh-CN" dirty="0" smtClean="0">
                <a:solidFill>
                  <a:srgbClr val="C00000"/>
                </a:solidFill>
              </a:rPr>
              <a:t>a[</a:t>
            </a:r>
            <a:r>
              <a:rPr lang="en-US" altLang="zh-CN" dirty="0" err="1" smtClean="0">
                <a:solidFill>
                  <a:srgbClr val="C00000"/>
                </a:solidFill>
              </a:rPr>
              <a:t>i</a:t>
            </a:r>
            <a:r>
              <a:rPr lang="en-US" altLang="zh-CN" dirty="0" smtClean="0">
                <a:solidFill>
                  <a:srgbClr val="C00000"/>
                </a:solidFill>
              </a:rPr>
              <a:t>]</a:t>
            </a:r>
            <a:r>
              <a:rPr lang="zh-CN" altLang="en-US" dirty="0" smtClean="0"/>
              <a:t>就是一个数组基类型的</a:t>
            </a:r>
            <a:r>
              <a:rPr lang="zh-CN" altLang="en-US" dirty="0" smtClean="0">
                <a:solidFill>
                  <a:srgbClr val="C00000"/>
                </a:solidFill>
              </a:rPr>
              <a:t>变量</a:t>
            </a:r>
            <a:endParaRPr lang="zh-CN" altLang="en-US" dirty="0">
              <a:solidFill>
                <a:srgbClr val="C00000"/>
              </a:solidFill>
            </a:endParaRPr>
          </a:p>
        </p:txBody>
      </p:sp>
      <p:sp>
        <p:nvSpPr>
          <p:cNvPr id="3" name="内容占位符 2"/>
          <p:cNvSpPr>
            <a:spLocks noGrp="1"/>
          </p:cNvSpPr>
          <p:nvPr>
            <p:ph idx="1"/>
          </p:nvPr>
        </p:nvSpPr>
        <p:spPr>
          <a:xfrm>
            <a:off x="485775" y="1025335"/>
            <a:ext cx="8089900" cy="5345112"/>
          </a:xfrm>
        </p:spPr>
        <p:txBody>
          <a:bodyPr/>
          <a:lstStyle/>
          <a:p>
            <a:pPr marL="457200" indent="-457200" algn="just">
              <a:lnSpc>
                <a:spcPct val="100000"/>
              </a:lnSpc>
              <a:spcBef>
                <a:spcPts val="1200"/>
              </a:spcBef>
              <a:buFont typeface="Wingdings" panose="05000000000000000000" pitchFamily="2" charset="2"/>
              <a:buChar char="n"/>
            </a:pPr>
            <a:r>
              <a:rPr lang="zh-CN" altLang="en-US" sz="2000" b="1" u="sng" dirty="0" smtClean="0">
                <a:solidFill>
                  <a:srgbClr val="7030A0"/>
                </a:solidFill>
              </a:rPr>
              <a:t>每个</a:t>
            </a:r>
            <a:r>
              <a:rPr lang="zh-CN" altLang="en-US" sz="2000" b="1" u="sng" dirty="0">
                <a:solidFill>
                  <a:srgbClr val="7030A0"/>
                </a:solidFill>
              </a:rPr>
              <a:t>数组</a:t>
            </a:r>
            <a:r>
              <a:rPr lang="zh-CN" altLang="en-US" sz="2000" b="1" u="sng" dirty="0" smtClean="0">
                <a:solidFill>
                  <a:srgbClr val="7030A0"/>
                </a:solidFill>
              </a:rPr>
              <a:t>元素</a:t>
            </a:r>
            <a:r>
              <a:rPr lang="zh-CN" altLang="en-US" sz="2000" b="1" u="sng" dirty="0" smtClean="0">
                <a:solidFill>
                  <a:srgbClr val="000000"/>
                </a:solidFill>
              </a:rPr>
              <a:t>，实质上</a:t>
            </a:r>
            <a:r>
              <a:rPr lang="zh-CN" altLang="en-US" sz="2000" b="1" u="sng" dirty="0">
                <a:solidFill>
                  <a:srgbClr val="000000"/>
                </a:solidFill>
              </a:rPr>
              <a:t>就是</a:t>
            </a:r>
            <a:r>
              <a:rPr lang="zh-CN" altLang="en-US" sz="2000" b="1" u="sng" dirty="0">
                <a:solidFill>
                  <a:srgbClr val="9900FF"/>
                </a:solidFill>
              </a:rPr>
              <a:t>1个变量</a:t>
            </a:r>
            <a:r>
              <a:rPr lang="zh-CN" altLang="en-US" sz="2000" b="1" u="sng" dirty="0">
                <a:solidFill>
                  <a:srgbClr val="000000"/>
                </a:solidFill>
              </a:rPr>
              <a:t>，它具有和</a:t>
            </a:r>
            <a:r>
              <a:rPr lang="zh-CN" altLang="en-US" sz="2000" b="1" u="sng" dirty="0">
                <a:solidFill>
                  <a:srgbClr val="7030A0"/>
                </a:solidFill>
              </a:rPr>
              <a:t>相同类型单个变量</a:t>
            </a:r>
            <a:r>
              <a:rPr lang="zh-CN" altLang="en-US" sz="2000" b="1" u="sng" dirty="0">
                <a:solidFill>
                  <a:srgbClr val="000000"/>
                </a:solidFill>
              </a:rPr>
              <a:t>一样的属性，可以对它进行赋值和参与各种运算</a:t>
            </a:r>
            <a:r>
              <a:rPr lang="zh-CN" altLang="en-US" sz="2000" b="1" u="sng" dirty="0" smtClean="0">
                <a:solidFill>
                  <a:srgbClr val="000000"/>
                </a:solidFill>
              </a:rPr>
              <a:t>。</a:t>
            </a:r>
            <a:endParaRPr lang="en-US" altLang="zh-CN" sz="2000" b="1" u="sng" dirty="0" smtClean="0">
              <a:solidFill>
                <a:srgbClr val="000000"/>
              </a:solidFill>
            </a:endParaRPr>
          </a:p>
          <a:p>
            <a:pPr marL="1085850" lvl="1" indent="-457200" algn="just">
              <a:lnSpc>
                <a:spcPct val="100000"/>
              </a:lnSpc>
              <a:spcBef>
                <a:spcPts val="1200"/>
              </a:spcBef>
              <a:buFont typeface="Wingdings" panose="05000000000000000000" pitchFamily="2" charset="2"/>
              <a:buChar char="l"/>
            </a:pPr>
            <a:r>
              <a:rPr lang="en-US" altLang="zh-CN" sz="1800" dirty="0" err="1" smtClean="0">
                <a:solidFill>
                  <a:srgbClr val="080808"/>
                </a:solidFill>
              </a:rPr>
              <a:t>int</a:t>
            </a:r>
            <a:r>
              <a:rPr lang="en-US" altLang="zh-CN" sz="1800" dirty="0" smtClean="0">
                <a:solidFill>
                  <a:srgbClr val="080808"/>
                </a:solidFill>
              </a:rPr>
              <a:t> a[10],  b=66;</a:t>
            </a:r>
          </a:p>
          <a:p>
            <a:pPr marL="1085850" lvl="1" indent="-457200" algn="just">
              <a:lnSpc>
                <a:spcPct val="100000"/>
              </a:lnSpc>
              <a:spcBef>
                <a:spcPts val="1200"/>
              </a:spcBef>
              <a:buFont typeface="Wingdings" panose="05000000000000000000" pitchFamily="2" charset="2"/>
              <a:buChar char="l"/>
            </a:pPr>
            <a:r>
              <a:rPr lang="zh-CN" altLang="en-US" sz="1800" dirty="0" smtClean="0">
                <a:solidFill>
                  <a:srgbClr val="0000CC"/>
                </a:solidFill>
              </a:rPr>
              <a:t>赋值</a:t>
            </a:r>
            <a:r>
              <a:rPr lang="zh-CN" altLang="en-US" sz="1800" dirty="0" smtClean="0">
                <a:solidFill>
                  <a:srgbClr val="080808"/>
                </a:solidFill>
              </a:rPr>
              <a:t>：</a:t>
            </a:r>
            <a:r>
              <a:rPr lang="en-US" altLang="zh-CN" sz="1800" dirty="0" smtClean="0">
                <a:solidFill>
                  <a:srgbClr val="080808"/>
                </a:solidFill>
              </a:rPr>
              <a:t>a[</a:t>
            </a:r>
            <a:r>
              <a:rPr lang="en-US" altLang="zh-CN" sz="1800" dirty="0">
                <a:solidFill>
                  <a:srgbClr val="080808"/>
                </a:solidFill>
              </a:rPr>
              <a:t>0</a:t>
            </a:r>
            <a:r>
              <a:rPr lang="en-US" altLang="zh-CN" sz="1800" dirty="0" smtClean="0">
                <a:solidFill>
                  <a:srgbClr val="080808"/>
                </a:solidFill>
              </a:rPr>
              <a:t>]=3,  a[2]-b;</a:t>
            </a:r>
          </a:p>
          <a:p>
            <a:pPr marL="1085850" lvl="1" indent="-457200" algn="just">
              <a:lnSpc>
                <a:spcPct val="100000"/>
              </a:lnSpc>
              <a:spcBef>
                <a:spcPts val="1200"/>
              </a:spcBef>
              <a:buFont typeface="Wingdings" panose="05000000000000000000" pitchFamily="2" charset="2"/>
              <a:buChar char="l"/>
            </a:pPr>
            <a:r>
              <a:rPr lang="zh-CN" altLang="en-US" sz="1800" b="1" dirty="0" smtClean="0">
                <a:solidFill>
                  <a:srgbClr val="080808"/>
                </a:solidFill>
              </a:rPr>
              <a:t>运算</a:t>
            </a:r>
            <a:r>
              <a:rPr lang="zh-CN" altLang="en-US" sz="1800" dirty="0" smtClean="0">
                <a:solidFill>
                  <a:srgbClr val="080808"/>
                </a:solidFill>
              </a:rPr>
              <a:t>：</a:t>
            </a:r>
            <a:r>
              <a:rPr lang="en-US" altLang="zh-CN" sz="1800" dirty="0" smtClean="0">
                <a:solidFill>
                  <a:srgbClr val="080808"/>
                </a:solidFill>
              </a:rPr>
              <a:t>a[</a:t>
            </a:r>
            <a:r>
              <a:rPr lang="en-US" altLang="zh-CN" sz="1800" dirty="0">
                <a:solidFill>
                  <a:srgbClr val="080808"/>
                </a:solidFill>
              </a:rPr>
              <a:t>3</a:t>
            </a:r>
            <a:r>
              <a:rPr lang="en-US" altLang="zh-CN" sz="1800" dirty="0" smtClean="0">
                <a:solidFill>
                  <a:srgbClr val="080808"/>
                </a:solidFill>
              </a:rPr>
              <a:t>]=a[</a:t>
            </a:r>
            <a:r>
              <a:rPr lang="en-US" altLang="zh-CN" sz="1800" dirty="0">
                <a:solidFill>
                  <a:srgbClr val="080808"/>
                </a:solidFill>
              </a:rPr>
              <a:t>3</a:t>
            </a:r>
            <a:r>
              <a:rPr lang="en-US" altLang="zh-CN" sz="1800" dirty="0" smtClean="0">
                <a:solidFill>
                  <a:srgbClr val="080808"/>
                </a:solidFill>
              </a:rPr>
              <a:t>]+b;  b=a[</a:t>
            </a:r>
            <a:r>
              <a:rPr lang="en-US" altLang="zh-CN" sz="1800" dirty="0">
                <a:solidFill>
                  <a:srgbClr val="080808"/>
                </a:solidFill>
              </a:rPr>
              <a:t>4</a:t>
            </a:r>
            <a:r>
              <a:rPr lang="en-US" altLang="zh-CN" sz="1800" dirty="0" smtClean="0">
                <a:solidFill>
                  <a:srgbClr val="080808"/>
                </a:solidFill>
              </a:rPr>
              <a:t>]+15;</a:t>
            </a:r>
          </a:p>
          <a:p>
            <a:pPr marL="1085850" lvl="1" indent="-457200" algn="just">
              <a:lnSpc>
                <a:spcPct val="100000"/>
              </a:lnSpc>
              <a:spcBef>
                <a:spcPts val="1200"/>
              </a:spcBef>
              <a:buFont typeface="Wingdings" panose="05000000000000000000" pitchFamily="2" charset="2"/>
              <a:buChar char="l"/>
            </a:pPr>
            <a:r>
              <a:rPr lang="zh-CN" altLang="en-US" sz="1800" b="1" dirty="0" smtClean="0">
                <a:solidFill>
                  <a:srgbClr val="080808"/>
                </a:solidFill>
              </a:rPr>
              <a:t>输入</a:t>
            </a:r>
            <a:r>
              <a:rPr lang="zh-CN" altLang="en-US" sz="1800" dirty="0" smtClean="0">
                <a:solidFill>
                  <a:srgbClr val="080808"/>
                </a:solidFill>
              </a:rPr>
              <a:t>：</a:t>
            </a:r>
            <a:r>
              <a:rPr lang="en-US" altLang="zh-CN" sz="1800" dirty="0" err="1" smtClean="0">
                <a:solidFill>
                  <a:srgbClr val="080808"/>
                </a:solidFill>
              </a:rPr>
              <a:t>scanf</a:t>
            </a:r>
            <a:r>
              <a:rPr lang="en-US" altLang="zh-CN" sz="1800" dirty="0" smtClean="0">
                <a:solidFill>
                  <a:srgbClr val="080808"/>
                </a:solidFill>
              </a:rPr>
              <a:t>(“&amp;</a:t>
            </a:r>
            <a:r>
              <a:rPr lang="en-US" altLang="zh-CN" sz="1800" dirty="0" err="1" smtClean="0">
                <a:solidFill>
                  <a:srgbClr val="080808"/>
                </a:solidFill>
              </a:rPr>
              <a:t>d”,&amp;a</a:t>
            </a:r>
            <a:r>
              <a:rPr lang="en-US" altLang="zh-CN" sz="1800" dirty="0" smtClean="0">
                <a:solidFill>
                  <a:srgbClr val="080808"/>
                </a:solidFill>
              </a:rPr>
              <a:t>[</a:t>
            </a:r>
            <a:r>
              <a:rPr lang="en-US" altLang="zh-CN" sz="1800" dirty="0">
                <a:solidFill>
                  <a:srgbClr val="080808"/>
                </a:solidFill>
              </a:rPr>
              <a:t>0</a:t>
            </a:r>
            <a:r>
              <a:rPr lang="en-US" altLang="zh-CN" sz="1800" dirty="0" smtClean="0">
                <a:solidFill>
                  <a:srgbClr val="080808"/>
                </a:solidFill>
              </a:rPr>
              <a:t>]);</a:t>
            </a:r>
          </a:p>
          <a:p>
            <a:pPr marL="1085850" lvl="1" indent="-457200" algn="just">
              <a:lnSpc>
                <a:spcPct val="100000"/>
              </a:lnSpc>
              <a:spcBef>
                <a:spcPts val="1200"/>
              </a:spcBef>
              <a:buFont typeface="Wingdings" panose="05000000000000000000" pitchFamily="2" charset="2"/>
              <a:buChar char="l"/>
            </a:pPr>
            <a:r>
              <a:rPr lang="zh-CN" altLang="en-US" sz="1800" b="1" dirty="0" smtClean="0">
                <a:solidFill>
                  <a:srgbClr val="080808"/>
                </a:solidFill>
              </a:rPr>
              <a:t>输出</a:t>
            </a:r>
            <a:r>
              <a:rPr lang="zh-CN" altLang="en-US" sz="1800" dirty="0" smtClean="0">
                <a:solidFill>
                  <a:srgbClr val="080808"/>
                </a:solidFill>
              </a:rPr>
              <a:t>：</a:t>
            </a:r>
            <a:r>
              <a:rPr lang="en-US" altLang="zh-CN" sz="1800" dirty="0" err="1" smtClean="0">
                <a:solidFill>
                  <a:srgbClr val="080808"/>
                </a:solidFill>
              </a:rPr>
              <a:t>printf</a:t>
            </a:r>
            <a:r>
              <a:rPr lang="en-US" altLang="zh-CN" sz="1800" dirty="0" smtClean="0">
                <a:solidFill>
                  <a:srgbClr val="080808"/>
                </a:solidFill>
              </a:rPr>
              <a:t>(“%d\</a:t>
            </a:r>
            <a:r>
              <a:rPr lang="en-US" altLang="zh-CN" sz="1800" dirty="0" err="1" smtClean="0">
                <a:solidFill>
                  <a:srgbClr val="080808"/>
                </a:solidFill>
              </a:rPr>
              <a:t>n”,a</a:t>
            </a:r>
            <a:r>
              <a:rPr lang="en-US" altLang="zh-CN" sz="1800" dirty="0" smtClean="0">
                <a:solidFill>
                  <a:srgbClr val="080808"/>
                </a:solidFill>
              </a:rPr>
              <a:t>[</a:t>
            </a:r>
            <a:r>
              <a:rPr lang="en-US" altLang="zh-CN" sz="1800" dirty="0">
                <a:solidFill>
                  <a:srgbClr val="080808"/>
                </a:solidFill>
              </a:rPr>
              <a:t>3</a:t>
            </a:r>
            <a:r>
              <a:rPr lang="en-US" altLang="zh-CN" sz="1800" dirty="0" smtClean="0">
                <a:solidFill>
                  <a:srgbClr val="080808"/>
                </a:solidFill>
              </a:rPr>
              <a:t>]);</a:t>
            </a:r>
          </a:p>
          <a:p>
            <a:pPr marL="1085850" lvl="1" indent="-457200" algn="just">
              <a:lnSpc>
                <a:spcPct val="100000"/>
              </a:lnSpc>
              <a:spcBef>
                <a:spcPts val="1200"/>
              </a:spcBef>
              <a:buFont typeface="Wingdings" panose="05000000000000000000" pitchFamily="2" charset="2"/>
              <a:buChar char="l"/>
            </a:pPr>
            <a:r>
              <a:rPr lang="zh-CN" altLang="en-US" sz="1800" dirty="0" smtClean="0">
                <a:solidFill>
                  <a:srgbClr val="080808"/>
                </a:solidFill>
              </a:rPr>
              <a:t>一言以蔽之，</a:t>
            </a:r>
            <a:r>
              <a:rPr lang="en-US" altLang="zh-CN" sz="1800" b="1" dirty="0" err="1" smtClean="0">
                <a:solidFill>
                  <a:srgbClr val="0000CC"/>
                </a:solidFill>
              </a:rPr>
              <a:t>int</a:t>
            </a:r>
            <a:r>
              <a:rPr lang="en-US" altLang="zh-CN" sz="1800" b="1" dirty="0" smtClean="0">
                <a:solidFill>
                  <a:srgbClr val="0000CC"/>
                </a:solidFill>
              </a:rPr>
              <a:t> a[10];  </a:t>
            </a:r>
            <a:r>
              <a:rPr lang="en-US" altLang="zh-CN" sz="1800" b="1" dirty="0" smtClean="0">
                <a:solidFill>
                  <a:srgbClr val="C00000"/>
                </a:solidFill>
              </a:rPr>
              <a:t>a[</a:t>
            </a:r>
            <a:r>
              <a:rPr lang="en-US" altLang="zh-CN" sz="1800" b="1" dirty="0" err="1" smtClean="0">
                <a:solidFill>
                  <a:srgbClr val="C00000"/>
                </a:solidFill>
              </a:rPr>
              <a:t>i</a:t>
            </a:r>
            <a:r>
              <a:rPr lang="en-US" altLang="zh-CN" sz="1800" b="1" dirty="0" smtClean="0">
                <a:solidFill>
                  <a:srgbClr val="C00000"/>
                </a:solidFill>
              </a:rPr>
              <a:t>]</a:t>
            </a:r>
            <a:r>
              <a:rPr lang="zh-CN" altLang="en-US" sz="1800" b="1" dirty="0" smtClean="0">
                <a:solidFill>
                  <a:srgbClr val="C00000"/>
                </a:solidFill>
              </a:rPr>
              <a:t>就是一个整型变量</a:t>
            </a:r>
            <a:endParaRPr lang="en-US" altLang="zh-CN" sz="1800" b="1" dirty="0" smtClean="0">
              <a:solidFill>
                <a:srgbClr val="C00000"/>
              </a:solidFill>
            </a:endParaRPr>
          </a:p>
          <a:p>
            <a:pPr marL="1085850" lvl="1" indent="-457200" algn="just">
              <a:lnSpc>
                <a:spcPct val="100000"/>
              </a:lnSpc>
              <a:spcBef>
                <a:spcPts val="1200"/>
              </a:spcBef>
              <a:buFont typeface="Wingdings" panose="05000000000000000000" pitchFamily="2" charset="2"/>
              <a:buChar char="l"/>
            </a:pPr>
            <a:endParaRPr lang="en-US" altLang="zh-CN" sz="1800" dirty="0" smtClean="0">
              <a:solidFill>
                <a:srgbClr val="080808"/>
              </a:solidFill>
            </a:endParaRPr>
          </a:p>
          <a:p>
            <a:pPr marL="1085850" lvl="1" indent="-457200" algn="just">
              <a:lnSpc>
                <a:spcPct val="100000"/>
              </a:lnSpc>
              <a:spcBef>
                <a:spcPts val="1200"/>
              </a:spcBef>
              <a:buFont typeface="Wingdings" panose="05000000000000000000" pitchFamily="2" charset="2"/>
              <a:buChar char="l"/>
            </a:pPr>
            <a:endParaRPr lang="en-US" altLang="zh-CN" sz="1800" dirty="0">
              <a:solidFill>
                <a:srgbClr val="080808"/>
              </a:solidFill>
            </a:endParaRPr>
          </a:p>
          <a:p>
            <a:pPr marL="1085850" lvl="1" indent="-457200" algn="just">
              <a:lnSpc>
                <a:spcPct val="100000"/>
              </a:lnSpc>
              <a:spcBef>
                <a:spcPts val="1200"/>
              </a:spcBef>
              <a:buFont typeface="Wingdings" panose="05000000000000000000" pitchFamily="2" charset="2"/>
              <a:buChar char="l"/>
            </a:pPr>
            <a:endParaRPr lang="en-US" altLang="zh-CN" sz="1600" b="1" u="sng" dirty="0" smtClean="0"/>
          </a:p>
          <a:p>
            <a:pPr marL="457200" indent="-457200" algn="just">
              <a:lnSpc>
                <a:spcPct val="100000"/>
              </a:lnSpc>
              <a:spcBef>
                <a:spcPts val="1200"/>
              </a:spcBef>
              <a:buFont typeface="Wingdings" panose="05000000000000000000" pitchFamily="2" charset="2"/>
              <a:buChar char="l"/>
            </a:pPr>
            <a:endParaRPr lang="zh-CN" altLang="en-US" sz="2000" b="1" u="sng" dirty="0"/>
          </a:p>
        </p:txBody>
      </p:sp>
    </p:spTree>
    <p:extLst>
      <p:ext uri="{BB962C8B-B14F-4D97-AF65-F5344CB8AC3E}">
        <p14:creationId xmlns:p14="http://schemas.microsoft.com/office/powerpoint/2010/main" val="866090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a:t>
            </a:r>
            <a:r>
              <a:rPr lang="zh-CN" altLang="en-US" dirty="0">
                <a:solidFill>
                  <a:srgbClr val="7030A0"/>
                </a:solidFill>
              </a:rPr>
              <a:t>数组下标</a:t>
            </a:r>
            <a:r>
              <a:rPr lang="zh-CN" altLang="en-US" dirty="0"/>
              <a:t>与</a:t>
            </a:r>
            <a:r>
              <a:rPr lang="zh-CN" altLang="en-US" dirty="0">
                <a:solidFill>
                  <a:srgbClr val="7030A0"/>
                </a:solidFill>
              </a:rPr>
              <a:t>地址越界</a:t>
            </a:r>
          </a:p>
        </p:txBody>
      </p:sp>
      <p:sp>
        <p:nvSpPr>
          <p:cNvPr id="3" name="内容占位符 2"/>
          <p:cNvSpPr>
            <a:spLocks noGrp="1"/>
          </p:cNvSpPr>
          <p:nvPr>
            <p:ph idx="1"/>
          </p:nvPr>
        </p:nvSpPr>
        <p:spPr>
          <a:xfrm>
            <a:off x="485775" y="1025335"/>
            <a:ext cx="8089900" cy="5345112"/>
          </a:xfrm>
        </p:spPr>
        <p:txBody>
          <a:bodyPr/>
          <a:lstStyle/>
          <a:p>
            <a:pPr marL="342900" indent="-342900">
              <a:buFont typeface="Wingdings" panose="05000000000000000000" pitchFamily="2" charset="2"/>
              <a:buChar char="n"/>
            </a:pPr>
            <a:r>
              <a:rPr lang="en-US" altLang="zh-CN" sz="2000" dirty="0"/>
              <a:t>C</a:t>
            </a:r>
            <a:r>
              <a:rPr lang="zh-CN" altLang="en-US" sz="2000" dirty="0"/>
              <a:t>语言有的编译器</a:t>
            </a:r>
            <a:r>
              <a:rPr lang="zh-CN" altLang="en-US" sz="2000" dirty="0">
                <a:solidFill>
                  <a:srgbClr val="FF3300"/>
                </a:solidFill>
              </a:rPr>
              <a:t>不检查数组下标越界</a:t>
            </a:r>
            <a:r>
              <a:rPr lang="zh-CN" altLang="en-US" sz="2000" dirty="0"/>
              <a:t>，</a:t>
            </a:r>
            <a:r>
              <a:rPr lang="zh-CN" altLang="en-US" sz="2000" dirty="0" smtClean="0">
                <a:solidFill>
                  <a:srgbClr val="7030A0"/>
                </a:solidFill>
              </a:rPr>
              <a:t>但使用</a:t>
            </a:r>
            <a:r>
              <a:rPr lang="zh-CN" altLang="en-US" sz="2000" dirty="0">
                <a:solidFill>
                  <a:srgbClr val="7030A0"/>
                </a:solidFill>
              </a:rPr>
              <a:t>时</a:t>
            </a:r>
            <a:r>
              <a:rPr lang="zh-CN" altLang="en-US" sz="2000" dirty="0" smtClean="0"/>
              <a:t>，</a:t>
            </a:r>
            <a:r>
              <a:rPr lang="zh-CN" altLang="en-US" sz="2000" dirty="0" smtClean="0">
                <a:solidFill>
                  <a:srgbClr val="FF3300"/>
                </a:solidFill>
              </a:rPr>
              <a:t>不能</a:t>
            </a:r>
            <a:r>
              <a:rPr lang="zh-CN" altLang="en-US" sz="2000" dirty="0">
                <a:solidFill>
                  <a:srgbClr val="FF3300"/>
                </a:solidFill>
              </a:rPr>
              <a:t>越界</a:t>
            </a:r>
            <a:r>
              <a:rPr lang="zh-CN" altLang="en-US" sz="2000" dirty="0"/>
              <a:t>使用，</a:t>
            </a:r>
            <a:r>
              <a:rPr lang="zh-CN" altLang="en-US" sz="2000" dirty="0">
                <a:solidFill>
                  <a:srgbClr val="006600"/>
                </a:solidFill>
              </a:rPr>
              <a:t>否则结果难以</a:t>
            </a:r>
            <a:r>
              <a:rPr lang="zh-CN" altLang="en-US" sz="2000" dirty="0" smtClean="0">
                <a:solidFill>
                  <a:srgbClr val="006600"/>
                </a:solidFill>
              </a:rPr>
              <a:t>预料</a:t>
            </a:r>
            <a:endParaRPr lang="en-US" altLang="zh-CN" sz="2000" dirty="0" smtClean="0">
              <a:solidFill>
                <a:srgbClr val="006600"/>
              </a:solidFill>
            </a:endParaRPr>
          </a:p>
          <a:p>
            <a:pPr marL="971550" lvl="1">
              <a:buFont typeface="Wingdings" panose="05000000000000000000" pitchFamily="2" charset="2"/>
              <a:buChar char="l"/>
            </a:pPr>
            <a:r>
              <a:rPr lang="zh-CN" altLang="en-US" sz="1800" dirty="0">
                <a:solidFill>
                  <a:srgbClr val="7030A0"/>
                </a:solidFill>
              </a:rPr>
              <a:t>覆盖程序区</a:t>
            </a:r>
            <a:r>
              <a:rPr lang="zh-CN" altLang="en-US" sz="1800" dirty="0"/>
              <a:t>-</a:t>
            </a:r>
            <a:r>
              <a:rPr lang="en-US" altLang="zh-CN" sz="1800" dirty="0"/>
              <a:t>-</a:t>
            </a:r>
            <a:r>
              <a:rPr lang="zh-CN" altLang="en-US" sz="1800" dirty="0"/>
              <a:t>程序飞出；</a:t>
            </a:r>
            <a:endParaRPr lang="en-US" altLang="zh-CN" sz="1800" dirty="0"/>
          </a:p>
          <a:p>
            <a:pPr marL="971550" lvl="1">
              <a:buFont typeface="Wingdings" panose="05000000000000000000" pitchFamily="2" charset="2"/>
              <a:buChar char="l"/>
            </a:pPr>
            <a:r>
              <a:rPr lang="zh-CN" altLang="en-US" sz="1800" dirty="0">
                <a:solidFill>
                  <a:srgbClr val="7030A0"/>
                </a:solidFill>
              </a:rPr>
              <a:t>覆盖数据区</a:t>
            </a:r>
            <a:r>
              <a:rPr lang="en-US" altLang="zh-CN" sz="1800" dirty="0"/>
              <a:t>-</a:t>
            </a:r>
            <a:r>
              <a:rPr lang="zh-CN" altLang="en-US" sz="1800" dirty="0"/>
              <a:t>-数据覆盖破坏；</a:t>
            </a:r>
            <a:endParaRPr lang="en-US" altLang="zh-CN" sz="1800" dirty="0"/>
          </a:p>
          <a:p>
            <a:pPr marL="971550" lvl="1">
              <a:buFont typeface="Wingdings" panose="05000000000000000000" pitchFamily="2" charset="2"/>
              <a:buChar char="l"/>
            </a:pPr>
            <a:r>
              <a:rPr lang="zh-CN" altLang="en-US" sz="1800" dirty="0">
                <a:solidFill>
                  <a:srgbClr val="7030A0"/>
                </a:solidFill>
              </a:rPr>
              <a:t>覆盖操作系统区域</a:t>
            </a:r>
            <a:r>
              <a:rPr lang="zh-CN" altLang="en-US" sz="1800" dirty="0"/>
              <a:t>，系统崩溃；</a:t>
            </a:r>
            <a:endParaRPr lang="en-US" altLang="zh-CN" sz="1800" dirty="0"/>
          </a:p>
          <a:p>
            <a:pPr marL="971550" lvl="1">
              <a:buFont typeface="Wingdings" panose="05000000000000000000" pitchFamily="2" charset="2"/>
              <a:buChar char="l"/>
            </a:pPr>
            <a:endParaRPr lang="en-US" altLang="zh-CN" sz="1600" dirty="0">
              <a:solidFill>
                <a:srgbClr val="006600"/>
              </a:solidFill>
            </a:endParaRPr>
          </a:p>
          <a:p>
            <a:pPr marL="342900" indent="-342900">
              <a:buFont typeface="Wingdings" panose="05000000000000000000" pitchFamily="2" charset="2"/>
              <a:buChar char="n"/>
            </a:pPr>
            <a:r>
              <a:rPr lang="zh-CN" altLang="en-US" sz="2000" dirty="0"/>
              <a:t>如：</a:t>
            </a:r>
            <a:r>
              <a:rPr lang="en-US" altLang="zh-CN" sz="2000" dirty="0" err="1"/>
              <a:t>int</a:t>
            </a:r>
            <a:r>
              <a:rPr lang="en-US" altLang="zh-CN" sz="2000" dirty="0"/>
              <a:t> a[10]; </a:t>
            </a:r>
            <a:endParaRPr lang="en-US" altLang="zh-CN" sz="2000" dirty="0" smtClean="0"/>
          </a:p>
          <a:p>
            <a:pPr marL="971550" lvl="1">
              <a:buFont typeface="Wingdings" panose="05000000000000000000" pitchFamily="2" charset="2"/>
              <a:buChar char="l"/>
            </a:pPr>
            <a:r>
              <a:rPr lang="en-US" altLang="zh-CN" sz="1800" dirty="0" smtClean="0">
                <a:solidFill>
                  <a:srgbClr val="080808"/>
                </a:solidFill>
              </a:rPr>
              <a:t>a[0] ~a[9]</a:t>
            </a:r>
            <a:r>
              <a:rPr lang="zh-CN" altLang="en-US" sz="1800" dirty="0" smtClean="0">
                <a:solidFill>
                  <a:srgbClr val="080808"/>
                </a:solidFill>
              </a:rPr>
              <a:t>是数组</a:t>
            </a:r>
            <a:r>
              <a:rPr lang="en-US" altLang="zh-CN" sz="1800" dirty="0" smtClean="0">
                <a:solidFill>
                  <a:srgbClr val="080808"/>
                </a:solidFill>
              </a:rPr>
              <a:t>a</a:t>
            </a:r>
            <a:r>
              <a:rPr lang="zh-CN" altLang="en-US" sz="1800" dirty="0" smtClean="0">
                <a:solidFill>
                  <a:srgbClr val="080808"/>
                </a:solidFill>
              </a:rPr>
              <a:t>的</a:t>
            </a:r>
            <a:r>
              <a:rPr lang="en-US" altLang="zh-CN" sz="1800" dirty="0" smtClean="0">
                <a:solidFill>
                  <a:srgbClr val="080808"/>
                </a:solidFill>
              </a:rPr>
              <a:t>10</a:t>
            </a:r>
            <a:r>
              <a:rPr lang="zh-CN" altLang="en-US" sz="1800" dirty="0" smtClean="0">
                <a:solidFill>
                  <a:srgbClr val="080808"/>
                </a:solidFill>
              </a:rPr>
              <a:t>个元素</a:t>
            </a:r>
            <a:endParaRPr lang="en-US" altLang="zh-CN" sz="1800" dirty="0" smtClean="0">
              <a:solidFill>
                <a:srgbClr val="080808"/>
              </a:solidFill>
            </a:endParaRPr>
          </a:p>
          <a:p>
            <a:pPr marL="971550" lvl="1">
              <a:buFont typeface="Wingdings" panose="05000000000000000000" pitchFamily="2" charset="2"/>
              <a:buChar char="l"/>
            </a:pPr>
            <a:r>
              <a:rPr lang="en-US" altLang="zh-CN" sz="1800" dirty="0">
                <a:solidFill>
                  <a:srgbClr val="030DCD"/>
                </a:solidFill>
              </a:rPr>
              <a:t>a[10]</a:t>
            </a:r>
            <a:r>
              <a:rPr lang="zh-CN" altLang="en-US" sz="1800" dirty="0">
                <a:solidFill>
                  <a:srgbClr val="030DCD"/>
                </a:solidFill>
              </a:rPr>
              <a:t>的内存地址不确定</a:t>
            </a:r>
            <a:endParaRPr lang="en-US" altLang="zh-CN" sz="1800" dirty="0">
              <a:solidFill>
                <a:srgbClr val="030DCD"/>
              </a:solidFill>
            </a:endParaRPr>
          </a:p>
          <a:p>
            <a:pPr marL="971550" lvl="1">
              <a:buFont typeface="Wingdings" panose="05000000000000000000" pitchFamily="2" charset="2"/>
              <a:buChar char="l"/>
            </a:pPr>
            <a:r>
              <a:rPr lang="zh-CN" altLang="en-US" sz="1800" dirty="0" smtClean="0">
                <a:solidFill>
                  <a:srgbClr val="030DCD"/>
                </a:solidFill>
              </a:rPr>
              <a:t>访问</a:t>
            </a:r>
            <a:r>
              <a:rPr lang="en-US" altLang="zh-CN" sz="1800" dirty="0">
                <a:solidFill>
                  <a:srgbClr val="030DCD"/>
                </a:solidFill>
              </a:rPr>
              <a:t>a[10]</a:t>
            </a:r>
            <a:r>
              <a:rPr lang="zh-CN" altLang="en-US" sz="1800" dirty="0">
                <a:solidFill>
                  <a:srgbClr val="030DCD"/>
                </a:solidFill>
              </a:rPr>
              <a:t>就会产生地址</a:t>
            </a:r>
            <a:r>
              <a:rPr lang="zh-CN" altLang="en-US" sz="1800" dirty="0" smtClean="0">
                <a:solidFill>
                  <a:srgbClr val="030DCD"/>
                </a:solidFill>
              </a:rPr>
              <a:t>越界</a:t>
            </a:r>
            <a:endParaRPr lang="en-US" altLang="zh-CN" sz="1800" dirty="0" smtClean="0">
              <a:solidFill>
                <a:srgbClr val="030DCD"/>
              </a:solidFill>
            </a:endParaRPr>
          </a:p>
          <a:p>
            <a:pPr marL="342900" indent="-342900">
              <a:buFont typeface="Wingdings" panose="05000000000000000000" pitchFamily="2" charset="2"/>
              <a:buChar char="l"/>
            </a:pPr>
            <a:endParaRPr lang="en-US" altLang="zh-CN" sz="2000" dirty="0">
              <a:solidFill>
                <a:srgbClr val="030DCD"/>
              </a:solidFill>
            </a:endParaRPr>
          </a:p>
          <a:p>
            <a:pPr marL="342900" indent="-342900">
              <a:buFont typeface="Wingdings" panose="05000000000000000000" pitchFamily="2" charset="2"/>
              <a:buChar char="l"/>
            </a:pPr>
            <a:endParaRPr lang="en-US" altLang="zh-CN" sz="2200" dirty="0"/>
          </a:p>
          <a:p>
            <a:endParaRPr lang="zh-CN" altLang="en-US" dirty="0"/>
          </a:p>
        </p:txBody>
      </p:sp>
    </p:spTree>
    <p:extLst>
      <p:ext uri="{BB962C8B-B14F-4D97-AF65-F5344CB8AC3E}">
        <p14:creationId xmlns:p14="http://schemas.microsoft.com/office/powerpoint/2010/main" val="35846349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数组之间不能</a:t>
            </a:r>
            <a:r>
              <a:rPr lang="zh-CN" altLang="en-US" dirty="0">
                <a:solidFill>
                  <a:srgbClr val="FF0000"/>
                </a:solidFill>
              </a:rPr>
              <a:t>利用数组名</a:t>
            </a:r>
            <a:r>
              <a:rPr lang="zh-CN" altLang="en-US" dirty="0"/>
              <a:t>直接进行</a:t>
            </a:r>
            <a:r>
              <a:rPr lang="zh-CN" altLang="en-US" dirty="0">
                <a:solidFill>
                  <a:srgbClr val="FF0000"/>
                </a:solidFill>
              </a:rPr>
              <a:t>赋值</a:t>
            </a:r>
            <a:endParaRPr lang="en-US" altLang="zh-CN" dirty="0">
              <a:solidFill>
                <a:srgbClr val="FF0000"/>
              </a:solidFill>
            </a:endParaRPr>
          </a:p>
        </p:txBody>
      </p:sp>
      <p:sp>
        <p:nvSpPr>
          <p:cNvPr id="3" name="内容占位符 2"/>
          <p:cNvSpPr>
            <a:spLocks noGrp="1"/>
          </p:cNvSpPr>
          <p:nvPr>
            <p:ph idx="1"/>
          </p:nvPr>
        </p:nvSpPr>
        <p:spPr>
          <a:xfrm>
            <a:off x="485775" y="1025335"/>
            <a:ext cx="8089900" cy="5345112"/>
          </a:xfrm>
        </p:spPr>
        <p:txBody>
          <a:bodyPr/>
          <a:lstStyle/>
          <a:p>
            <a:pPr marL="342900" indent="-342900">
              <a:buFont typeface="Wingdings" panose="05000000000000000000" pitchFamily="2" charset="2"/>
              <a:buChar char="l"/>
            </a:pPr>
            <a:r>
              <a:rPr lang="en-US" altLang="zh-CN" dirty="0" err="1" smtClean="0"/>
              <a:t>int</a:t>
            </a:r>
            <a:r>
              <a:rPr lang="en-US" altLang="zh-CN" dirty="0" smtClean="0"/>
              <a:t>  </a:t>
            </a:r>
            <a:r>
              <a:rPr lang="en-US" altLang="zh-CN" dirty="0"/>
              <a:t>a[10], b[10</a:t>
            </a:r>
            <a:r>
              <a:rPr lang="en-US" altLang="zh-CN" dirty="0" smtClean="0"/>
              <a:t>];</a:t>
            </a:r>
          </a:p>
          <a:p>
            <a:pPr marL="971550" lvl="1">
              <a:buFont typeface="Arial" panose="020B0604020202020204" pitchFamily="34" charset="0"/>
              <a:buChar char="•"/>
            </a:pPr>
            <a:r>
              <a:rPr lang="en-US" altLang="zh-CN" dirty="0">
                <a:solidFill>
                  <a:srgbClr val="C00000"/>
                </a:solidFill>
              </a:rPr>
              <a:t>a=b;   //</a:t>
            </a:r>
            <a:r>
              <a:rPr lang="zh-CN" altLang="en-US" dirty="0">
                <a:solidFill>
                  <a:srgbClr val="C00000"/>
                </a:solidFill>
              </a:rPr>
              <a:t>不允许；</a:t>
            </a:r>
            <a:endParaRPr lang="en-US" altLang="zh-CN" dirty="0">
              <a:solidFill>
                <a:srgbClr val="C00000"/>
              </a:solidFill>
            </a:endParaRPr>
          </a:p>
          <a:p>
            <a:pPr marL="342900" indent="-342900">
              <a:buFont typeface="Wingdings" panose="05000000000000000000" pitchFamily="2" charset="2"/>
              <a:buChar char="l"/>
            </a:pPr>
            <a:r>
              <a:rPr lang="zh-CN" altLang="en-US" dirty="0" smtClean="0"/>
              <a:t>原因</a:t>
            </a:r>
            <a:endParaRPr lang="en-US" altLang="zh-CN" dirty="0" smtClean="0"/>
          </a:p>
          <a:p>
            <a:pPr marL="971550" lvl="1">
              <a:buFont typeface="Arial" panose="020B0604020202020204" pitchFamily="34" charset="0"/>
              <a:buChar char="•"/>
            </a:pPr>
            <a:r>
              <a:rPr lang="zh-CN" altLang="en-US" dirty="0">
                <a:solidFill>
                  <a:srgbClr val="030DCD"/>
                </a:solidFill>
              </a:rPr>
              <a:t>数组名是一个</a:t>
            </a:r>
            <a:r>
              <a:rPr lang="zh-CN" altLang="en-US" sz="2400" b="1" i="1" u="sng" dirty="0">
                <a:solidFill>
                  <a:srgbClr val="C00000"/>
                </a:solidFill>
              </a:rPr>
              <a:t>常量指针</a:t>
            </a:r>
            <a:r>
              <a:rPr lang="zh-CN" altLang="en-US" b="1" dirty="0">
                <a:solidFill>
                  <a:srgbClr val="C00000"/>
                </a:solidFill>
              </a:rPr>
              <a:t>，</a:t>
            </a:r>
            <a:r>
              <a:rPr lang="zh-CN" altLang="en-US" dirty="0"/>
              <a:t>即</a:t>
            </a:r>
            <a:r>
              <a:rPr lang="zh-CN" altLang="en-US" b="1" dirty="0">
                <a:solidFill>
                  <a:srgbClr val="006600"/>
                </a:solidFill>
              </a:rPr>
              <a:t>指针本身的值是一个常量</a:t>
            </a:r>
            <a:r>
              <a:rPr lang="zh-CN" altLang="en-US" b="1" dirty="0" smtClean="0">
                <a:solidFill>
                  <a:srgbClr val="006600"/>
                </a:solidFill>
              </a:rPr>
              <a:t>；</a:t>
            </a:r>
            <a:endParaRPr lang="en-US" altLang="zh-CN" b="1" dirty="0" smtClean="0">
              <a:solidFill>
                <a:srgbClr val="006600"/>
              </a:solidFill>
            </a:endParaRPr>
          </a:p>
          <a:p>
            <a:pPr marL="971550" lvl="1">
              <a:buFont typeface="Arial" panose="020B0604020202020204" pitchFamily="34" charset="0"/>
              <a:buChar char="•"/>
            </a:pPr>
            <a:r>
              <a:rPr lang="zh-CN" altLang="en-US" b="1" u="sng" dirty="0" smtClean="0">
                <a:solidFill>
                  <a:srgbClr val="7030A0"/>
                </a:solidFill>
              </a:rPr>
              <a:t>当一个</a:t>
            </a:r>
            <a:r>
              <a:rPr lang="zh-CN" altLang="en-US" b="1" u="sng" dirty="0" smtClean="0">
                <a:solidFill>
                  <a:srgbClr val="006600"/>
                </a:solidFill>
              </a:rPr>
              <a:t>常量指针</a:t>
            </a:r>
            <a:r>
              <a:rPr lang="zh-CN" altLang="en-US" b="1" u="sng" dirty="0" smtClean="0">
                <a:solidFill>
                  <a:srgbClr val="7030A0"/>
                </a:solidFill>
              </a:rPr>
              <a:t>指向一个内存地址后，永远指向该位置，不允许再指向其它位置</a:t>
            </a:r>
            <a:endParaRPr lang="en-US" altLang="zh-CN" b="1" u="sng" dirty="0" smtClean="0">
              <a:solidFill>
                <a:srgbClr val="7030A0"/>
              </a:solidFill>
            </a:endParaRPr>
          </a:p>
          <a:p>
            <a:pPr marL="342900" indent="-342900">
              <a:buFont typeface="Wingdings" panose="05000000000000000000" pitchFamily="2" charset="2"/>
              <a:buChar char="l"/>
            </a:pPr>
            <a:r>
              <a:rPr lang="zh-CN" altLang="en-US" b="1" u="sng" dirty="0" smtClean="0">
                <a:solidFill>
                  <a:srgbClr val="FF0000"/>
                </a:solidFill>
              </a:rPr>
              <a:t>数组</a:t>
            </a:r>
            <a:r>
              <a:rPr lang="zh-CN" altLang="en-US" b="1" u="sng" dirty="0">
                <a:solidFill>
                  <a:srgbClr val="FF0000"/>
                </a:solidFill>
              </a:rPr>
              <a:t>名</a:t>
            </a:r>
            <a:r>
              <a:rPr lang="en-US" altLang="zh-CN" b="1" u="sng" dirty="0" smtClean="0">
                <a:solidFill>
                  <a:srgbClr val="FF0000"/>
                </a:solidFill>
              </a:rPr>
              <a:t>a</a:t>
            </a:r>
            <a:r>
              <a:rPr lang="zh-CN" altLang="en-US" b="1" u="sng" dirty="0" smtClean="0">
                <a:solidFill>
                  <a:srgbClr val="FF0000"/>
                </a:solidFill>
              </a:rPr>
              <a:t>是一个常量指针</a:t>
            </a:r>
            <a:r>
              <a:rPr lang="zh-CN" altLang="en-US" b="1" dirty="0" smtClean="0">
                <a:solidFill>
                  <a:srgbClr val="030DCD"/>
                </a:solidFill>
              </a:rPr>
              <a:t>：</a:t>
            </a:r>
            <a:r>
              <a:rPr lang="en-US" altLang="zh-CN" b="1" dirty="0" smtClean="0">
                <a:solidFill>
                  <a:srgbClr val="030DCD"/>
                </a:solidFill>
              </a:rPr>
              <a:t>a</a:t>
            </a:r>
            <a:r>
              <a:rPr lang="zh-CN" altLang="en-US" b="1" dirty="0" smtClean="0">
                <a:solidFill>
                  <a:srgbClr val="030DCD"/>
                </a:solidFill>
              </a:rPr>
              <a:t>永远</a:t>
            </a:r>
            <a:r>
              <a:rPr lang="zh-CN" altLang="en-US" b="1" dirty="0">
                <a:solidFill>
                  <a:srgbClr val="030DCD"/>
                </a:solidFill>
              </a:rPr>
              <a:t>指向数组的第一个元素</a:t>
            </a:r>
            <a:r>
              <a:rPr lang="en-US" altLang="zh-CN" b="1" dirty="0">
                <a:solidFill>
                  <a:srgbClr val="030DCD"/>
                </a:solidFill>
              </a:rPr>
              <a:t>a[0</a:t>
            </a:r>
            <a:r>
              <a:rPr lang="en-US" altLang="zh-CN" b="1" dirty="0" smtClean="0">
                <a:solidFill>
                  <a:srgbClr val="030DCD"/>
                </a:solidFill>
              </a:rPr>
              <a:t>]</a:t>
            </a:r>
            <a:r>
              <a:rPr lang="zh-CN" altLang="en-US" b="1" dirty="0" smtClean="0">
                <a:solidFill>
                  <a:srgbClr val="030DCD"/>
                </a:solidFill>
              </a:rPr>
              <a:t>，因此</a:t>
            </a:r>
            <a:endParaRPr lang="en-US" altLang="zh-CN" b="1" dirty="0">
              <a:solidFill>
                <a:srgbClr val="030DCD"/>
              </a:solidFill>
            </a:endParaRPr>
          </a:p>
          <a:p>
            <a:pPr marL="971550" lvl="1">
              <a:buFont typeface="Arial" panose="020B0604020202020204" pitchFamily="34" charset="0"/>
              <a:buChar char="•"/>
            </a:pPr>
            <a:r>
              <a:rPr lang="en-US" altLang="zh-CN" b="1" dirty="0">
                <a:solidFill>
                  <a:srgbClr val="006600"/>
                </a:solidFill>
              </a:rPr>
              <a:t>*a</a:t>
            </a:r>
            <a:r>
              <a:rPr lang="zh-CN" altLang="en-US" b="1" dirty="0">
                <a:solidFill>
                  <a:srgbClr val="006600"/>
                </a:solidFill>
              </a:rPr>
              <a:t>即</a:t>
            </a:r>
            <a:r>
              <a:rPr lang="en-US" altLang="zh-CN" b="1" dirty="0">
                <a:solidFill>
                  <a:srgbClr val="006600"/>
                </a:solidFill>
              </a:rPr>
              <a:t>a[0</a:t>
            </a:r>
            <a:r>
              <a:rPr lang="en-US" altLang="zh-CN" b="1" dirty="0" smtClean="0">
                <a:solidFill>
                  <a:srgbClr val="006600"/>
                </a:solidFill>
              </a:rPr>
              <a:t>]</a:t>
            </a:r>
          </a:p>
          <a:p>
            <a:pPr marL="971550" lvl="1">
              <a:buFont typeface="Arial" panose="020B0604020202020204" pitchFamily="34" charset="0"/>
              <a:buChar char="•"/>
            </a:pPr>
            <a:r>
              <a:rPr lang="en-US" altLang="zh-CN" b="1" dirty="0" smtClean="0">
                <a:solidFill>
                  <a:srgbClr val="006600"/>
                </a:solidFill>
              </a:rPr>
              <a:t>*(</a:t>
            </a:r>
            <a:r>
              <a:rPr lang="en-US" altLang="zh-CN" b="1" dirty="0">
                <a:solidFill>
                  <a:srgbClr val="006600"/>
                </a:solidFill>
              </a:rPr>
              <a:t>a+1)</a:t>
            </a:r>
            <a:r>
              <a:rPr lang="zh-CN" altLang="en-US" b="1" dirty="0">
                <a:solidFill>
                  <a:srgbClr val="006600"/>
                </a:solidFill>
              </a:rPr>
              <a:t>即</a:t>
            </a:r>
            <a:r>
              <a:rPr lang="en-US" altLang="zh-CN" b="1" dirty="0">
                <a:solidFill>
                  <a:srgbClr val="006600"/>
                </a:solidFill>
              </a:rPr>
              <a:t>a[1</a:t>
            </a:r>
            <a:r>
              <a:rPr lang="en-US" altLang="zh-CN" b="1" dirty="0" smtClean="0">
                <a:solidFill>
                  <a:srgbClr val="006600"/>
                </a:solidFill>
              </a:rPr>
              <a:t>]  //</a:t>
            </a:r>
            <a:r>
              <a:rPr lang="zh-CN" altLang="en-US" b="1" dirty="0">
                <a:solidFill>
                  <a:srgbClr val="C00000"/>
                </a:solidFill>
              </a:rPr>
              <a:t>但</a:t>
            </a:r>
            <a:r>
              <a:rPr lang="en-US" altLang="zh-CN" b="1" dirty="0">
                <a:solidFill>
                  <a:srgbClr val="C00000"/>
                </a:solidFill>
              </a:rPr>
              <a:t>a++</a:t>
            </a:r>
            <a:r>
              <a:rPr lang="zh-CN" altLang="en-US" b="1" dirty="0" smtClean="0">
                <a:solidFill>
                  <a:srgbClr val="C00000"/>
                </a:solidFill>
              </a:rPr>
              <a:t>是</a:t>
            </a:r>
            <a:r>
              <a:rPr lang="zh-CN" altLang="en-US" b="1" dirty="0">
                <a:solidFill>
                  <a:srgbClr val="C00000"/>
                </a:solidFill>
              </a:rPr>
              <a:t>不允许</a:t>
            </a:r>
            <a:r>
              <a:rPr lang="zh-CN" altLang="en-US" b="1" dirty="0" smtClean="0">
                <a:solidFill>
                  <a:srgbClr val="C00000"/>
                </a:solidFill>
              </a:rPr>
              <a:t>的</a:t>
            </a:r>
            <a:endParaRPr lang="en-US" altLang="zh-CN" b="1" dirty="0" smtClean="0">
              <a:solidFill>
                <a:srgbClr val="006600"/>
              </a:solidFill>
            </a:endParaRPr>
          </a:p>
          <a:p>
            <a:pPr marL="971550" lvl="1">
              <a:buFont typeface="Arial" panose="020B0604020202020204" pitchFamily="34" charset="0"/>
              <a:buChar char="•"/>
            </a:pPr>
            <a:r>
              <a:rPr lang="en-US" altLang="zh-CN" b="1" dirty="0">
                <a:solidFill>
                  <a:srgbClr val="006600"/>
                </a:solidFill>
              </a:rPr>
              <a:t>*(</a:t>
            </a:r>
            <a:r>
              <a:rPr lang="en-US" altLang="zh-CN" b="1" dirty="0" err="1" smtClean="0">
                <a:solidFill>
                  <a:srgbClr val="006600"/>
                </a:solidFill>
              </a:rPr>
              <a:t>a+i</a:t>
            </a:r>
            <a:r>
              <a:rPr lang="en-US" altLang="zh-CN" b="1" dirty="0" smtClean="0">
                <a:solidFill>
                  <a:srgbClr val="006600"/>
                </a:solidFill>
              </a:rPr>
              <a:t>)</a:t>
            </a:r>
            <a:r>
              <a:rPr lang="zh-CN" altLang="en-US" b="1" dirty="0">
                <a:solidFill>
                  <a:srgbClr val="006600"/>
                </a:solidFill>
              </a:rPr>
              <a:t>即</a:t>
            </a:r>
            <a:r>
              <a:rPr lang="en-US" altLang="zh-CN" b="1" dirty="0" smtClean="0">
                <a:solidFill>
                  <a:srgbClr val="006600"/>
                </a:solidFill>
              </a:rPr>
              <a:t>a[</a:t>
            </a:r>
            <a:r>
              <a:rPr lang="en-US" altLang="zh-CN" b="1" dirty="0" err="1" smtClean="0">
                <a:solidFill>
                  <a:srgbClr val="006600"/>
                </a:solidFill>
              </a:rPr>
              <a:t>i</a:t>
            </a:r>
            <a:r>
              <a:rPr lang="en-US" altLang="zh-CN" b="1" dirty="0" smtClean="0">
                <a:solidFill>
                  <a:srgbClr val="006600"/>
                </a:solidFill>
              </a:rPr>
              <a:t>]</a:t>
            </a:r>
            <a:endParaRPr lang="en-US" altLang="zh-CN" b="1" dirty="0">
              <a:solidFill>
                <a:srgbClr val="006600"/>
              </a:solidFill>
            </a:endParaRPr>
          </a:p>
          <a:p>
            <a:pPr marL="971550" lvl="1">
              <a:buFont typeface="Arial" panose="020B0604020202020204" pitchFamily="34" charset="0"/>
              <a:buChar char="•"/>
            </a:pPr>
            <a:r>
              <a:rPr lang="zh-CN" altLang="en-US" b="1" dirty="0" smtClean="0">
                <a:solidFill>
                  <a:srgbClr val="006600"/>
                </a:solidFill>
              </a:rPr>
              <a:t>以此类推；</a:t>
            </a:r>
            <a:endParaRPr lang="en-US" altLang="zh-CN" b="1" dirty="0" smtClean="0">
              <a:solidFill>
                <a:srgbClr val="006600"/>
              </a:solidFill>
            </a:endParaRPr>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en-US" altLang="zh-CN" sz="2000" dirty="0"/>
          </a:p>
          <a:p>
            <a:endParaRPr lang="zh-CN" altLang="en-US" dirty="0"/>
          </a:p>
        </p:txBody>
      </p:sp>
    </p:spTree>
    <p:extLst>
      <p:ext uri="{BB962C8B-B14F-4D97-AF65-F5344CB8AC3E}">
        <p14:creationId xmlns:p14="http://schemas.microsoft.com/office/powerpoint/2010/main" val="15117636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关于常量指针：</a:t>
            </a:r>
            <a:r>
              <a:rPr lang="en-US" altLang="zh-CN" b="1" dirty="0">
                <a:solidFill>
                  <a:srgbClr val="7030A0"/>
                </a:solidFill>
              </a:rPr>
              <a:t> </a:t>
            </a:r>
            <a:r>
              <a:rPr lang="en-US" altLang="zh-CN" b="1" dirty="0" err="1">
                <a:solidFill>
                  <a:srgbClr val="7030A0"/>
                </a:solidFill>
              </a:rPr>
              <a:t>int</a:t>
            </a:r>
            <a:r>
              <a:rPr lang="en-US" altLang="zh-CN" b="1" dirty="0">
                <a:solidFill>
                  <a:srgbClr val="7030A0"/>
                </a:solidFill>
              </a:rPr>
              <a:t>* </a:t>
            </a:r>
            <a:r>
              <a:rPr lang="en-US" altLang="zh-CN" b="1" dirty="0" err="1">
                <a:solidFill>
                  <a:srgbClr val="7030A0"/>
                </a:solidFill>
              </a:rPr>
              <a:t>const</a:t>
            </a:r>
            <a:r>
              <a:rPr lang="en-US" altLang="zh-CN" b="1" dirty="0">
                <a:solidFill>
                  <a:srgbClr val="7030A0"/>
                </a:solidFill>
              </a:rPr>
              <a:t> p</a:t>
            </a:r>
            <a:endParaRPr lang="zh-CN" altLang="en-US" dirty="0">
              <a:solidFill>
                <a:srgbClr val="7030A0"/>
              </a:solidFill>
            </a:endParaRPr>
          </a:p>
        </p:txBody>
      </p:sp>
      <p:sp>
        <p:nvSpPr>
          <p:cNvPr id="3" name="内容占位符 2"/>
          <p:cNvSpPr>
            <a:spLocks noGrp="1"/>
          </p:cNvSpPr>
          <p:nvPr>
            <p:ph idx="1"/>
          </p:nvPr>
        </p:nvSpPr>
        <p:spPr>
          <a:xfrm>
            <a:off x="485775" y="1025335"/>
            <a:ext cx="8089900" cy="5345112"/>
          </a:xfrm>
        </p:spPr>
        <p:txBody>
          <a:bodyPr/>
          <a:lstStyle/>
          <a:p>
            <a:pPr marL="342900" indent="-342900">
              <a:buFont typeface="Wingdings" panose="05000000000000000000" pitchFamily="2" charset="2"/>
              <a:buChar char="n"/>
            </a:pPr>
            <a:r>
              <a:rPr lang="en-US" altLang="zh-CN" sz="2000" b="1" dirty="0" err="1" smtClean="0">
                <a:solidFill>
                  <a:srgbClr val="7030A0"/>
                </a:solidFill>
              </a:rPr>
              <a:t>int</a:t>
            </a:r>
            <a:r>
              <a:rPr lang="en-US" altLang="zh-CN" sz="2000" b="1" dirty="0" smtClean="0">
                <a:solidFill>
                  <a:srgbClr val="7030A0"/>
                </a:solidFill>
              </a:rPr>
              <a:t> </a:t>
            </a:r>
            <a:r>
              <a:rPr lang="en-US" altLang="zh-CN" sz="2000" b="1" dirty="0" err="1" smtClean="0">
                <a:solidFill>
                  <a:srgbClr val="7030A0"/>
                </a:solidFill>
              </a:rPr>
              <a:t>a,b</a:t>
            </a:r>
            <a:r>
              <a:rPr lang="zh-CN" altLang="en-US" sz="2000" b="1" dirty="0" smtClean="0">
                <a:solidFill>
                  <a:srgbClr val="7030A0"/>
                </a:solidFill>
              </a:rPr>
              <a:t> </a:t>
            </a:r>
            <a:r>
              <a:rPr lang="en-US" altLang="zh-CN" sz="2000" b="1" dirty="0">
                <a:solidFill>
                  <a:srgbClr val="7030A0"/>
                </a:solidFill>
              </a:rPr>
              <a:t>; </a:t>
            </a:r>
            <a:endParaRPr lang="en-US" altLang="zh-CN" sz="2000" b="1" dirty="0" smtClean="0">
              <a:solidFill>
                <a:srgbClr val="7030A0"/>
              </a:solidFill>
            </a:endParaRPr>
          </a:p>
          <a:p>
            <a:pPr marL="342900" indent="-342900">
              <a:buFont typeface="Wingdings" panose="05000000000000000000" pitchFamily="2" charset="2"/>
              <a:buChar char="n"/>
            </a:pPr>
            <a:r>
              <a:rPr lang="en-US" altLang="zh-CN" sz="2000" b="1" dirty="0" err="1" smtClean="0">
                <a:solidFill>
                  <a:srgbClr val="7030A0"/>
                </a:solidFill>
              </a:rPr>
              <a:t>int</a:t>
            </a:r>
            <a:r>
              <a:rPr lang="en-US" altLang="zh-CN" sz="2000" b="1" dirty="0">
                <a:solidFill>
                  <a:srgbClr val="7030A0"/>
                </a:solidFill>
              </a:rPr>
              <a:t>* </a:t>
            </a:r>
            <a:r>
              <a:rPr lang="en-US" altLang="zh-CN" sz="2000" b="1" dirty="0" err="1">
                <a:solidFill>
                  <a:srgbClr val="7030A0"/>
                </a:solidFill>
              </a:rPr>
              <a:t>const</a:t>
            </a:r>
            <a:r>
              <a:rPr lang="en-US" altLang="zh-CN" sz="2000" b="1" dirty="0">
                <a:solidFill>
                  <a:srgbClr val="7030A0"/>
                </a:solidFill>
              </a:rPr>
              <a:t> p</a:t>
            </a:r>
            <a:r>
              <a:rPr lang="en-US" altLang="zh-CN" sz="2000" b="1" dirty="0" smtClean="0">
                <a:solidFill>
                  <a:srgbClr val="7030A0"/>
                </a:solidFill>
              </a:rPr>
              <a:t>=&amp;a;  //</a:t>
            </a:r>
            <a:r>
              <a:rPr lang="zh-CN" altLang="en-US" sz="2000" b="1" dirty="0">
                <a:solidFill>
                  <a:srgbClr val="7030A0"/>
                </a:solidFill>
              </a:rPr>
              <a:t>定义常量</a:t>
            </a:r>
            <a:r>
              <a:rPr lang="zh-CN" altLang="en-US" sz="2000" b="1" dirty="0" smtClean="0">
                <a:solidFill>
                  <a:srgbClr val="7030A0"/>
                </a:solidFill>
              </a:rPr>
              <a:t>指针</a:t>
            </a:r>
            <a:r>
              <a:rPr lang="en-US" altLang="zh-CN" sz="2000" b="1" dirty="0" smtClean="0">
                <a:solidFill>
                  <a:srgbClr val="7030A0"/>
                </a:solidFill>
              </a:rPr>
              <a:t>p</a:t>
            </a:r>
            <a:r>
              <a:rPr lang="zh-CN" altLang="en-US" sz="2000" b="1" dirty="0" smtClean="0">
                <a:solidFill>
                  <a:srgbClr val="7030A0"/>
                </a:solidFill>
              </a:rPr>
              <a:t>，如同</a:t>
            </a:r>
            <a:r>
              <a:rPr lang="zh-CN" altLang="en-US" sz="2000" b="1" dirty="0">
                <a:solidFill>
                  <a:srgbClr val="7030A0"/>
                </a:solidFill>
              </a:rPr>
              <a:t>利用</a:t>
            </a:r>
            <a:r>
              <a:rPr lang="en-US" altLang="zh-CN" sz="2000" b="1" dirty="0" err="1">
                <a:solidFill>
                  <a:srgbClr val="7030A0"/>
                </a:solidFill>
              </a:rPr>
              <a:t>const</a:t>
            </a:r>
            <a:r>
              <a:rPr lang="zh-CN" altLang="en-US" sz="2000" b="1" dirty="0">
                <a:solidFill>
                  <a:srgbClr val="7030A0"/>
                </a:solidFill>
              </a:rPr>
              <a:t>定义一个常量</a:t>
            </a:r>
            <a:endParaRPr lang="en-US" altLang="zh-CN" sz="2000" b="1" dirty="0">
              <a:solidFill>
                <a:srgbClr val="7030A0"/>
              </a:solidFill>
            </a:endParaRPr>
          </a:p>
          <a:p>
            <a:pPr marL="342900" indent="-342900">
              <a:buFont typeface="Wingdings" panose="05000000000000000000" pitchFamily="2" charset="2"/>
              <a:buChar char="n"/>
            </a:pPr>
            <a:r>
              <a:rPr lang="en-US" altLang="zh-CN" sz="2000" b="1" dirty="0" err="1">
                <a:solidFill>
                  <a:schemeClr val="accent6">
                    <a:lumMod val="75000"/>
                  </a:schemeClr>
                </a:solidFill>
              </a:rPr>
              <a:t>int</a:t>
            </a:r>
            <a:r>
              <a:rPr lang="en-US" altLang="zh-CN" sz="2000" b="1" dirty="0">
                <a:solidFill>
                  <a:schemeClr val="accent6">
                    <a:lumMod val="75000"/>
                  </a:schemeClr>
                </a:solidFill>
              </a:rPr>
              <a:t>* </a:t>
            </a:r>
            <a:r>
              <a:rPr lang="en-US" altLang="zh-CN" sz="2000" b="1" dirty="0" err="1">
                <a:solidFill>
                  <a:schemeClr val="accent6">
                    <a:lumMod val="75000"/>
                  </a:schemeClr>
                </a:solidFill>
              </a:rPr>
              <a:t>const</a:t>
            </a:r>
            <a:r>
              <a:rPr lang="en-US" altLang="zh-CN" sz="2000" b="1" dirty="0">
                <a:solidFill>
                  <a:schemeClr val="accent6">
                    <a:lumMod val="75000"/>
                  </a:schemeClr>
                </a:solidFill>
              </a:rPr>
              <a:t> </a:t>
            </a:r>
            <a:r>
              <a:rPr lang="en-US" altLang="zh-CN" sz="2000" b="1" dirty="0" smtClean="0">
                <a:solidFill>
                  <a:schemeClr val="accent6">
                    <a:lumMod val="75000"/>
                  </a:schemeClr>
                </a:solidFill>
              </a:rPr>
              <a:t>p</a:t>
            </a:r>
            <a:r>
              <a:rPr lang="zh-CN" altLang="en-US" sz="2000" b="1" dirty="0" smtClean="0">
                <a:solidFill>
                  <a:schemeClr val="accent6">
                    <a:lumMod val="75000"/>
                  </a:schemeClr>
                </a:solidFill>
              </a:rPr>
              <a:t>解读</a:t>
            </a:r>
            <a:endParaRPr lang="en-US" altLang="zh-CN" sz="2000" b="1" dirty="0" smtClean="0">
              <a:solidFill>
                <a:schemeClr val="accent6">
                  <a:lumMod val="75000"/>
                </a:schemeClr>
              </a:solidFill>
            </a:endParaRPr>
          </a:p>
          <a:p>
            <a:pPr marL="971550" lvl="1">
              <a:buFont typeface="Wingdings" panose="05000000000000000000" pitchFamily="2" charset="2"/>
              <a:buChar char="l"/>
            </a:pPr>
            <a:r>
              <a:rPr lang="zh-CN" altLang="en-US" sz="1800" b="1" dirty="0" smtClean="0">
                <a:solidFill>
                  <a:schemeClr val="accent6">
                    <a:lumMod val="75000"/>
                  </a:schemeClr>
                </a:solidFill>
              </a:rPr>
              <a:t>从</a:t>
            </a:r>
            <a:r>
              <a:rPr lang="zh-CN" altLang="en-US" sz="1800" b="1" dirty="0">
                <a:solidFill>
                  <a:schemeClr val="accent6">
                    <a:lumMod val="75000"/>
                  </a:schemeClr>
                </a:solidFill>
              </a:rPr>
              <a:t>右往左</a:t>
            </a:r>
            <a:r>
              <a:rPr lang="zh-CN" altLang="en-US" sz="1800" b="1" dirty="0" smtClean="0">
                <a:solidFill>
                  <a:schemeClr val="accent6">
                    <a:lumMod val="75000"/>
                  </a:schemeClr>
                </a:solidFill>
              </a:rPr>
              <a:t>：指针</a:t>
            </a:r>
            <a:r>
              <a:rPr lang="en-US" altLang="zh-CN" sz="1800" b="1" dirty="0" smtClean="0">
                <a:solidFill>
                  <a:schemeClr val="accent6">
                    <a:lumMod val="75000"/>
                  </a:schemeClr>
                </a:solidFill>
              </a:rPr>
              <a:t>p</a:t>
            </a:r>
            <a:r>
              <a:rPr lang="zh-CN" altLang="en-US" sz="1800" b="1" dirty="0">
                <a:solidFill>
                  <a:schemeClr val="accent6">
                    <a:lumMod val="75000"/>
                  </a:schemeClr>
                </a:solidFill>
              </a:rPr>
              <a:t>是一个常量，其数据类型是一个整型</a:t>
            </a:r>
            <a:r>
              <a:rPr lang="zh-CN" altLang="en-US" sz="1800" b="1" dirty="0" smtClean="0">
                <a:solidFill>
                  <a:schemeClr val="accent6">
                    <a:lumMod val="75000"/>
                  </a:schemeClr>
                </a:solidFill>
              </a:rPr>
              <a:t>指针</a:t>
            </a:r>
            <a:endParaRPr lang="en-US" altLang="zh-CN" sz="1800" b="1" dirty="0" smtClean="0">
              <a:solidFill>
                <a:schemeClr val="accent6">
                  <a:lumMod val="75000"/>
                </a:schemeClr>
              </a:solidFill>
            </a:endParaRPr>
          </a:p>
          <a:p>
            <a:pPr marL="971550" lvl="1">
              <a:buFont typeface="Wingdings" panose="05000000000000000000" pitchFamily="2" charset="2"/>
              <a:buChar char="l"/>
            </a:pPr>
            <a:r>
              <a:rPr lang="en-US" altLang="zh-CN" sz="1800" b="1" dirty="0">
                <a:solidFill>
                  <a:srgbClr val="0000CC"/>
                </a:solidFill>
              </a:rPr>
              <a:t>p</a:t>
            </a:r>
            <a:r>
              <a:rPr lang="zh-CN" altLang="en-US" sz="1800" b="1" dirty="0">
                <a:solidFill>
                  <a:srgbClr val="0000CC"/>
                </a:solidFill>
              </a:rPr>
              <a:t>的值只能初始化，其后不能再</a:t>
            </a:r>
            <a:r>
              <a:rPr lang="zh-CN" altLang="en-US" sz="1800" b="1" dirty="0" smtClean="0">
                <a:solidFill>
                  <a:srgbClr val="0000CC"/>
                </a:solidFill>
              </a:rPr>
              <a:t>改变</a:t>
            </a:r>
            <a:endParaRPr lang="en-US" altLang="zh-CN" sz="1800" b="1" dirty="0" smtClean="0">
              <a:solidFill>
                <a:srgbClr val="0000CC"/>
              </a:solidFill>
            </a:endParaRPr>
          </a:p>
          <a:p>
            <a:pPr marL="971550" lvl="1">
              <a:buFont typeface="Wingdings" panose="05000000000000000000" pitchFamily="2" charset="2"/>
              <a:buChar char="l"/>
            </a:pPr>
            <a:r>
              <a:rPr lang="zh-CN" altLang="en-US" sz="1800" b="1" dirty="0" smtClean="0">
                <a:solidFill>
                  <a:srgbClr val="C00000"/>
                </a:solidFill>
              </a:rPr>
              <a:t>如</a:t>
            </a:r>
            <a:r>
              <a:rPr lang="en-US" altLang="zh-CN" sz="1800" b="1" dirty="0" err="1">
                <a:solidFill>
                  <a:srgbClr val="7030A0"/>
                </a:solidFill>
              </a:rPr>
              <a:t>int</a:t>
            </a:r>
            <a:r>
              <a:rPr lang="en-US" altLang="zh-CN" sz="1800" b="1" dirty="0">
                <a:solidFill>
                  <a:srgbClr val="7030A0"/>
                </a:solidFill>
              </a:rPr>
              <a:t>* </a:t>
            </a:r>
            <a:r>
              <a:rPr lang="en-US" altLang="zh-CN" sz="1800" b="1" dirty="0" err="1">
                <a:solidFill>
                  <a:srgbClr val="7030A0"/>
                </a:solidFill>
              </a:rPr>
              <a:t>const</a:t>
            </a:r>
            <a:r>
              <a:rPr lang="en-US" altLang="zh-CN" sz="1800" b="1" dirty="0">
                <a:solidFill>
                  <a:srgbClr val="7030A0"/>
                </a:solidFill>
              </a:rPr>
              <a:t> p</a:t>
            </a:r>
            <a:r>
              <a:rPr lang="en-US" altLang="zh-CN" sz="1800" b="1" dirty="0" smtClean="0">
                <a:solidFill>
                  <a:srgbClr val="7030A0"/>
                </a:solidFill>
              </a:rPr>
              <a:t>=&amp;a</a:t>
            </a:r>
            <a:r>
              <a:rPr lang="zh-CN" altLang="en-US" sz="1800" b="1" dirty="0" smtClean="0">
                <a:solidFill>
                  <a:srgbClr val="7030A0"/>
                </a:solidFill>
              </a:rPr>
              <a:t>后，</a:t>
            </a:r>
            <a:r>
              <a:rPr lang="zh-CN" altLang="en-US" sz="1800" b="1" dirty="0" smtClean="0">
                <a:solidFill>
                  <a:srgbClr val="C00000"/>
                </a:solidFill>
              </a:rPr>
              <a:t> </a:t>
            </a:r>
            <a:r>
              <a:rPr lang="en-US" altLang="zh-CN" sz="1800" b="1" dirty="0" smtClean="0">
                <a:solidFill>
                  <a:srgbClr val="C00000"/>
                </a:solidFill>
              </a:rPr>
              <a:t>p=&amp;b</a:t>
            </a:r>
            <a:r>
              <a:rPr lang="zh-CN" altLang="en-US" sz="1800" b="1" dirty="0" smtClean="0">
                <a:solidFill>
                  <a:srgbClr val="C00000"/>
                </a:solidFill>
              </a:rPr>
              <a:t>是不允许的；</a:t>
            </a:r>
            <a:endParaRPr lang="en-US" altLang="zh-CN" sz="1800" b="1" dirty="0">
              <a:solidFill>
                <a:srgbClr val="C00000"/>
              </a:solidFill>
            </a:endParaRPr>
          </a:p>
          <a:p>
            <a:pPr marL="342900" indent="-342900">
              <a:buFont typeface="Wingdings" panose="05000000000000000000" pitchFamily="2" charset="2"/>
              <a:buChar char="n"/>
            </a:pPr>
            <a:r>
              <a:rPr lang="zh-CN" altLang="en-US" sz="2000" dirty="0" smtClean="0"/>
              <a:t>常量指针 </a:t>
            </a:r>
            <a:r>
              <a:rPr lang="en-US" altLang="zh-CN" sz="2000" dirty="0" err="1" smtClean="0"/>
              <a:t>int</a:t>
            </a:r>
            <a:r>
              <a:rPr lang="en-US" altLang="zh-CN" sz="2000" dirty="0" smtClean="0"/>
              <a:t>* </a:t>
            </a:r>
            <a:r>
              <a:rPr lang="en-US" altLang="zh-CN" sz="2000" dirty="0" err="1" smtClean="0"/>
              <a:t>const</a:t>
            </a:r>
            <a:r>
              <a:rPr lang="en-US" altLang="zh-CN" sz="2000" dirty="0" smtClean="0"/>
              <a:t>  p;</a:t>
            </a:r>
          </a:p>
          <a:p>
            <a:pPr marL="971550" lvl="1">
              <a:buFont typeface="Wingdings" panose="05000000000000000000" pitchFamily="2" charset="2"/>
              <a:buChar char="l"/>
            </a:pPr>
            <a:r>
              <a:rPr lang="zh-CN" altLang="en-US" sz="1800" dirty="0" smtClean="0"/>
              <a:t>指针</a:t>
            </a:r>
            <a:r>
              <a:rPr lang="en-US" altLang="zh-CN" sz="1800" dirty="0" smtClean="0"/>
              <a:t>p</a:t>
            </a:r>
            <a:r>
              <a:rPr lang="zh-CN" altLang="en-US" sz="1800" dirty="0" smtClean="0"/>
              <a:t>是一个常量</a:t>
            </a:r>
            <a:endParaRPr lang="en-US" altLang="zh-CN" sz="1800" dirty="0" smtClean="0"/>
          </a:p>
          <a:p>
            <a:pPr marL="971550" lvl="1">
              <a:buFont typeface="Wingdings" panose="05000000000000000000" pitchFamily="2" charset="2"/>
              <a:buChar char="l"/>
            </a:pPr>
            <a:r>
              <a:rPr lang="en-US" altLang="zh-CN" sz="1800" dirty="0" smtClean="0"/>
              <a:t>p</a:t>
            </a:r>
            <a:r>
              <a:rPr lang="zh-CN" altLang="en-US" sz="1800" dirty="0" smtClean="0"/>
              <a:t>可以指向一个基类型的变量</a:t>
            </a:r>
            <a:endParaRPr lang="en-US" altLang="zh-CN" sz="1800" dirty="0" smtClean="0"/>
          </a:p>
          <a:p>
            <a:pPr marL="971550" lvl="1">
              <a:buFont typeface="Wingdings" panose="05000000000000000000" pitchFamily="2" charset="2"/>
              <a:buChar char="l"/>
            </a:pPr>
            <a:r>
              <a:rPr lang="en-US" altLang="zh-CN" sz="1800" dirty="0" smtClean="0"/>
              <a:t>p</a:t>
            </a:r>
            <a:r>
              <a:rPr lang="zh-CN" altLang="en-US" sz="1800" dirty="0" smtClean="0"/>
              <a:t>一旦存储了这个变量的地址，即指向了这个变量，不允许再指向其它的变量</a:t>
            </a:r>
            <a:endParaRPr lang="en-US" altLang="zh-CN" sz="1800" dirty="0" smtClean="0"/>
          </a:p>
          <a:p>
            <a:pPr marL="971550" lvl="1">
              <a:buFont typeface="Wingdings" panose="05000000000000000000" pitchFamily="2" charset="2"/>
              <a:buChar char="l"/>
            </a:pPr>
            <a:r>
              <a:rPr lang="zh-CN" altLang="en-US" sz="1800" b="1" dirty="0" smtClean="0">
                <a:solidFill>
                  <a:srgbClr val="C00000"/>
                </a:solidFill>
              </a:rPr>
              <a:t>因此，常量指针的值，只能在定义指针的时候对其初始化</a:t>
            </a:r>
            <a:endParaRPr lang="en-US" altLang="zh-CN" sz="1800" b="1" dirty="0" smtClean="0">
              <a:solidFill>
                <a:srgbClr val="C00000"/>
              </a:solidFill>
            </a:endParaRPr>
          </a:p>
          <a:p>
            <a:pPr marL="971550" lvl="1">
              <a:buFont typeface="Wingdings" panose="05000000000000000000" pitchFamily="2" charset="2"/>
              <a:buChar char="l"/>
            </a:pPr>
            <a:r>
              <a:rPr lang="zh-CN" altLang="en-US" sz="1800" b="1" dirty="0" smtClean="0">
                <a:solidFill>
                  <a:srgbClr val="7030A0"/>
                </a:solidFill>
              </a:rPr>
              <a:t>即：</a:t>
            </a:r>
            <a:r>
              <a:rPr lang="en-US" altLang="zh-CN" sz="1800" b="1" dirty="0" err="1" smtClean="0">
                <a:solidFill>
                  <a:srgbClr val="7030A0"/>
                </a:solidFill>
              </a:rPr>
              <a:t>int</a:t>
            </a:r>
            <a:r>
              <a:rPr lang="en-US" altLang="zh-CN" sz="1800" b="1" dirty="0" smtClean="0">
                <a:solidFill>
                  <a:srgbClr val="7030A0"/>
                </a:solidFill>
              </a:rPr>
              <a:t> a, *</a:t>
            </a:r>
            <a:r>
              <a:rPr lang="en-US" altLang="zh-CN" sz="1800" b="1" dirty="0" err="1" smtClean="0">
                <a:solidFill>
                  <a:srgbClr val="7030A0"/>
                </a:solidFill>
              </a:rPr>
              <a:t>const</a:t>
            </a:r>
            <a:r>
              <a:rPr lang="en-US" altLang="zh-CN" sz="1800" b="1" dirty="0" smtClean="0">
                <a:solidFill>
                  <a:srgbClr val="7030A0"/>
                </a:solidFill>
              </a:rPr>
              <a:t> </a:t>
            </a:r>
            <a:r>
              <a:rPr lang="en-US" altLang="zh-CN" sz="1800" b="1" dirty="0">
                <a:solidFill>
                  <a:srgbClr val="7030A0"/>
                </a:solidFill>
              </a:rPr>
              <a:t>p</a:t>
            </a:r>
            <a:r>
              <a:rPr lang="en-US" altLang="zh-CN" sz="1800" b="1" dirty="0" smtClean="0">
                <a:solidFill>
                  <a:srgbClr val="7030A0"/>
                </a:solidFill>
              </a:rPr>
              <a:t>=&amp;a; </a:t>
            </a:r>
            <a:r>
              <a:rPr lang="en-US" altLang="zh-CN" sz="1800" b="1" dirty="0" smtClean="0">
                <a:solidFill>
                  <a:srgbClr val="0000CC"/>
                </a:solidFill>
              </a:rPr>
              <a:t>//p</a:t>
            </a:r>
            <a:r>
              <a:rPr lang="zh-CN" altLang="en-US" sz="1800" b="1" dirty="0" smtClean="0">
                <a:solidFill>
                  <a:srgbClr val="0000CC"/>
                </a:solidFill>
              </a:rPr>
              <a:t>只能指向</a:t>
            </a:r>
            <a:r>
              <a:rPr lang="en-US" altLang="zh-CN" sz="1800" b="1" dirty="0" smtClean="0">
                <a:solidFill>
                  <a:srgbClr val="0000CC"/>
                </a:solidFill>
              </a:rPr>
              <a:t>a</a:t>
            </a:r>
            <a:r>
              <a:rPr lang="zh-CN" altLang="en-US" sz="1800" b="1" dirty="0" smtClean="0">
                <a:solidFill>
                  <a:srgbClr val="0000CC"/>
                </a:solidFill>
              </a:rPr>
              <a:t>，不能再指向其它的变量</a:t>
            </a:r>
            <a:endParaRPr lang="en-US" altLang="zh-CN" sz="1800" b="1" dirty="0" smtClean="0">
              <a:solidFill>
                <a:srgbClr val="0000CC"/>
              </a:solidFill>
            </a:endParaRPr>
          </a:p>
          <a:p>
            <a:pPr marL="971550" lvl="1">
              <a:buFont typeface="Wingdings" panose="05000000000000000000" pitchFamily="2" charset="2"/>
              <a:buChar char="l"/>
            </a:pPr>
            <a:r>
              <a:rPr lang="zh-CN" altLang="en-US" sz="1800" b="1" dirty="0" smtClean="0">
                <a:solidFill>
                  <a:srgbClr val="7030A0"/>
                </a:solidFill>
              </a:rPr>
              <a:t>*</a:t>
            </a:r>
            <a:r>
              <a:rPr lang="en-US" altLang="zh-CN" sz="1800" b="1" dirty="0" smtClean="0">
                <a:solidFill>
                  <a:srgbClr val="7030A0"/>
                </a:solidFill>
              </a:rPr>
              <a:t>p</a:t>
            </a:r>
            <a:r>
              <a:rPr lang="en-US" altLang="zh-CN" sz="1800" b="1" dirty="0" smtClean="0">
                <a:solidFill>
                  <a:srgbClr val="7030A0"/>
                </a:solidFill>
                <a:sym typeface="Wingdings" panose="05000000000000000000" pitchFamily="2" charset="2"/>
              </a:rPr>
              <a:t>a</a:t>
            </a:r>
            <a:endParaRPr lang="en-US" altLang="zh-CN" sz="1800" dirty="0" smtClean="0"/>
          </a:p>
          <a:p>
            <a:pPr marL="971550" lvl="1">
              <a:buFont typeface="Wingdings" panose="05000000000000000000" pitchFamily="2" charset="2"/>
              <a:buChar char="l"/>
            </a:pPr>
            <a:endParaRPr lang="en-US" altLang="zh-CN" sz="1800" dirty="0" smtClean="0"/>
          </a:p>
          <a:p>
            <a:pPr marL="971550" lvl="1">
              <a:buFont typeface="Wingdings" panose="05000000000000000000" pitchFamily="2" charset="2"/>
              <a:buChar char="l"/>
            </a:pPr>
            <a:endParaRPr lang="en-US" altLang="zh-CN" sz="1800" dirty="0"/>
          </a:p>
          <a:p>
            <a:pPr marL="342900" indent="-342900">
              <a:buFont typeface="Wingdings" panose="05000000000000000000" pitchFamily="2" charset="2"/>
              <a:buChar char="l"/>
            </a:pPr>
            <a:endParaRPr lang="en-US" altLang="zh-CN" sz="2000" dirty="0" smtClean="0"/>
          </a:p>
          <a:p>
            <a:pPr marL="342900" indent="-342900">
              <a:buFont typeface="Wingdings" panose="05000000000000000000" pitchFamily="2" charset="2"/>
              <a:buChar char="l"/>
            </a:pPr>
            <a:endParaRPr lang="en-US" altLang="zh-CN" sz="2000" dirty="0" smtClean="0"/>
          </a:p>
          <a:p>
            <a:pPr marL="342900" indent="-342900">
              <a:buFont typeface="Wingdings" panose="05000000000000000000" pitchFamily="2" charset="2"/>
              <a:buChar char="l"/>
            </a:pPr>
            <a:endParaRPr lang="zh-CN" altLang="en-US" dirty="0">
              <a:solidFill>
                <a:srgbClr val="030DCD"/>
              </a:solidFill>
            </a:endParaRPr>
          </a:p>
          <a:p>
            <a:endParaRPr lang="zh-CN" altLang="en-US" dirty="0"/>
          </a:p>
        </p:txBody>
      </p:sp>
    </p:spTree>
    <p:extLst>
      <p:ext uri="{BB962C8B-B14F-4D97-AF65-F5344CB8AC3E}">
        <p14:creationId xmlns:p14="http://schemas.microsoft.com/office/powerpoint/2010/main" val="33627208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关于常量指针：</a:t>
            </a:r>
            <a:r>
              <a:rPr lang="en-US" altLang="zh-CN" b="1" dirty="0">
                <a:solidFill>
                  <a:srgbClr val="7030A0"/>
                </a:solidFill>
              </a:rPr>
              <a:t> </a:t>
            </a:r>
            <a:r>
              <a:rPr lang="en-US" altLang="zh-CN" b="1" dirty="0" err="1">
                <a:solidFill>
                  <a:srgbClr val="7030A0"/>
                </a:solidFill>
              </a:rPr>
              <a:t>int</a:t>
            </a:r>
            <a:r>
              <a:rPr lang="en-US" altLang="zh-CN" b="1" dirty="0">
                <a:solidFill>
                  <a:srgbClr val="7030A0"/>
                </a:solidFill>
              </a:rPr>
              <a:t>* </a:t>
            </a:r>
            <a:r>
              <a:rPr lang="en-US" altLang="zh-CN" b="1" dirty="0" err="1">
                <a:solidFill>
                  <a:srgbClr val="7030A0"/>
                </a:solidFill>
              </a:rPr>
              <a:t>const</a:t>
            </a:r>
            <a:r>
              <a:rPr lang="en-US" altLang="zh-CN" b="1" dirty="0">
                <a:solidFill>
                  <a:srgbClr val="7030A0"/>
                </a:solidFill>
              </a:rPr>
              <a:t> p</a:t>
            </a:r>
            <a:endParaRPr lang="zh-CN" altLang="en-US" dirty="0">
              <a:solidFill>
                <a:srgbClr val="7030A0"/>
              </a:solidFill>
            </a:endParaRPr>
          </a:p>
        </p:txBody>
      </p:sp>
      <p:sp>
        <p:nvSpPr>
          <p:cNvPr id="3" name="内容占位符 2"/>
          <p:cNvSpPr>
            <a:spLocks noGrp="1"/>
          </p:cNvSpPr>
          <p:nvPr>
            <p:ph idx="1"/>
          </p:nvPr>
        </p:nvSpPr>
        <p:spPr>
          <a:xfrm>
            <a:off x="485775" y="1025335"/>
            <a:ext cx="8089900" cy="858329"/>
          </a:xfrm>
        </p:spPr>
        <p:txBody>
          <a:bodyPr/>
          <a:lstStyle/>
          <a:p>
            <a:pPr marL="342900" indent="-342900">
              <a:buFont typeface="Wingdings" panose="05000000000000000000" pitchFamily="2" charset="2"/>
              <a:buChar char="n"/>
            </a:pPr>
            <a:r>
              <a:rPr lang="en-US" altLang="zh-CN" sz="2000" b="1" dirty="0" err="1" smtClean="0">
                <a:solidFill>
                  <a:srgbClr val="7030A0"/>
                </a:solidFill>
              </a:rPr>
              <a:t>int</a:t>
            </a:r>
            <a:r>
              <a:rPr lang="en-US" altLang="zh-CN" sz="2000" b="1" dirty="0" smtClean="0">
                <a:solidFill>
                  <a:srgbClr val="7030A0"/>
                </a:solidFill>
              </a:rPr>
              <a:t> a=12,b=15</a:t>
            </a:r>
            <a:r>
              <a:rPr lang="zh-CN" altLang="en-US" sz="2000" b="1" dirty="0" smtClean="0">
                <a:solidFill>
                  <a:srgbClr val="7030A0"/>
                </a:solidFill>
              </a:rPr>
              <a:t> </a:t>
            </a:r>
            <a:r>
              <a:rPr lang="en-US" altLang="zh-CN" sz="2000" b="1" dirty="0">
                <a:solidFill>
                  <a:srgbClr val="7030A0"/>
                </a:solidFill>
              </a:rPr>
              <a:t>; </a:t>
            </a:r>
            <a:endParaRPr lang="en-US" altLang="zh-CN" sz="2000" b="1" dirty="0" smtClean="0">
              <a:solidFill>
                <a:srgbClr val="7030A0"/>
              </a:solidFill>
            </a:endParaRPr>
          </a:p>
          <a:p>
            <a:pPr marL="342900" indent="-342900">
              <a:buFont typeface="Wingdings" panose="05000000000000000000" pitchFamily="2" charset="2"/>
              <a:buChar char="n"/>
            </a:pPr>
            <a:r>
              <a:rPr lang="en-US" altLang="zh-CN" sz="2000" b="1" dirty="0" err="1" smtClean="0">
                <a:solidFill>
                  <a:srgbClr val="7030A0"/>
                </a:solidFill>
              </a:rPr>
              <a:t>int</a:t>
            </a:r>
            <a:r>
              <a:rPr lang="en-US" altLang="zh-CN" sz="2000" b="1" dirty="0">
                <a:solidFill>
                  <a:srgbClr val="7030A0"/>
                </a:solidFill>
              </a:rPr>
              <a:t>* </a:t>
            </a:r>
            <a:r>
              <a:rPr lang="en-US" altLang="zh-CN" sz="2000" b="1" dirty="0" err="1">
                <a:solidFill>
                  <a:srgbClr val="7030A0"/>
                </a:solidFill>
              </a:rPr>
              <a:t>const</a:t>
            </a:r>
            <a:r>
              <a:rPr lang="en-US" altLang="zh-CN" sz="2000" b="1" dirty="0">
                <a:solidFill>
                  <a:srgbClr val="7030A0"/>
                </a:solidFill>
              </a:rPr>
              <a:t> p</a:t>
            </a:r>
            <a:r>
              <a:rPr lang="en-US" altLang="zh-CN" sz="2000" b="1" dirty="0" smtClean="0">
                <a:solidFill>
                  <a:srgbClr val="7030A0"/>
                </a:solidFill>
              </a:rPr>
              <a:t>=&amp;a;  //</a:t>
            </a:r>
            <a:r>
              <a:rPr lang="zh-CN" altLang="en-US" sz="2000" b="1" dirty="0">
                <a:solidFill>
                  <a:srgbClr val="7030A0"/>
                </a:solidFill>
              </a:rPr>
              <a:t>定义常量</a:t>
            </a:r>
            <a:r>
              <a:rPr lang="zh-CN" altLang="en-US" sz="2000" b="1" dirty="0" smtClean="0">
                <a:solidFill>
                  <a:srgbClr val="7030A0"/>
                </a:solidFill>
              </a:rPr>
              <a:t>指针</a:t>
            </a:r>
            <a:r>
              <a:rPr lang="en-US" altLang="zh-CN" sz="2000" b="1" dirty="0" smtClean="0">
                <a:solidFill>
                  <a:srgbClr val="7030A0"/>
                </a:solidFill>
              </a:rPr>
              <a:t>p</a:t>
            </a:r>
            <a:r>
              <a:rPr lang="zh-CN" altLang="en-US" sz="2000" b="1" dirty="0" smtClean="0">
                <a:solidFill>
                  <a:srgbClr val="7030A0"/>
                </a:solidFill>
              </a:rPr>
              <a:t>，如同</a:t>
            </a:r>
            <a:r>
              <a:rPr lang="zh-CN" altLang="en-US" sz="2000" b="1" dirty="0">
                <a:solidFill>
                  <a:srgbClr val="7030A0"/>
                </a:solidFill>
              </a:rPr>
              <a:t>利用</a:t>
            </a:r>
            <a:r>
              <a:rPr lang="en-US" altLang="zh-CN" sz="2000" b="1" dirty="0" err="1">
                <a:solidFill>
                  <a:srgbClr val="7030A0"/>
                </a:solidFill>
              </a:rPr>
              <a:t>const</a:t>
            </a:r>
            <a:r>
              <a:rPr lang="zh-CN" altLang="en-US" sz="2000" b="1" dirty="0">
                <a:solidFill>
                  <a:srgbClr val="7030A0"/>
                </a:solidFill>
              </a:rPr>
              <a:t>定义一个</a:t>
            </a:r>
            <a:r>
              <a:rPr lang="zh-CN" altLang="en-US" sz="2000" b="1" dirty="0" smtClean="0">
                <a:solidFill>
                  <a:srgbClr val="7030A0"/>
                </a:solidFill>
              </a:rPr>
              <a:t>常量</a:t>
            </a:r>
            <a:endParaRPr lang="en-US" altLang="zh-CN" sz="2000" dirty="0" smtClean="0"/>
          </a:p>
          <a:p>
            <a:pPr marL="342900" indent="-342900">
              <a:buFont typeface="Wingdings" panose="05000000000000000000" pitchFamily="2" charset="2"/>
              <a:buChar char="l"/>
            </a:pPr>
            <a:endParaRPr lang="zh-CN" altLang="en-US" dirty="0">
              <a:solidFill>
                <a:srgbClr val="030DCD"/>
              </a:solidFill>
            </a:endParaRP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349977776"/>
              </p:ext>
            </p:extLst>
          </p:nvPr>
        </p:nvGraphicFramePr>
        <p:xfrm>
          <a:off x="4934712" y="2157984"/>
          <a:ext cx="2901696" cy="3718560"/>
        </p:xfrm>
        <a:graphic>
          <a:graphicData uri="http://schemas.openxmlformats.org/drawingml/2006/table">
            <a:tbl>
              <a:tblPr firstRow="1" bandRow="1">
                <a:tableStyleId>{5C22544A-7EE6-4342-B048-85BDC9FD1C3A}</a:tableStyleId>
              </a:tblPr>
              <a:tblGrid>
                <a:gridCol w="967232">
                  <a:extLst>
                    <a:ext uri="{9D8B030D-6E8A-4147-A177-3AD203B41FA5}">
                      <a16:colId xmlns:a16="http://schemas.microsoft.com/office/drawing/2014/main" val="917558813"/>
                    </a:ext>
                  </a:extLst>
                </a:gridCol>
                <a:gridCol w="967232">
                  <a:extLst>
                    <a:ext uri="{9D8B030D-6E8A-4147-A177-3AD203B41FA5}">
                      <a16:colId xmlns:a16="http://schemas.microsoft.com/office/drawing/2014/main" val="3990365962"/>
                    </a:ext>
                  </a:extLst>
                </a:gridCol>
                <a:gridCol w="967232">
                  <a:extLst>
                    <a:ext uri="{9D8B030D-6E8A-4147-A177-3AD203B41FA5}">
                      <a16:colId xmlns:a16="http://schemas.microsoft.com/office/drawing/2014/main" val="1410880828"/>
                    </a:ext>
                  </a:extLst>
                </a:gridCol>
              </a:tblGrid>
              <a:tr h="371856">
                <a:tc>
                  <a:txBody>
                    <a:bodyPr/>
                    <a:lstStyle/>
                    <a:p>
                      <a:pPr algn="r"/>
                      <a:r>
                        <a:rPr lang="zh-CN" altLang="en-US" sz="1600" dirty="0" smtClean="0">
                          <a:solidFill>
                            <a:srgbClr val="080808"/>
                          </a:solidFill>
                        </a:rPr>
                        <a:t>地址</a:t>
                      </a:r>
                      <a:endParaRPr lang="zh-CN" altLang="en-US" sz="1600" dirty="0">
                        <a:solidFill>
                          <a:srgbClr val="080808"/>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dirty="0" smtClean="0">
                          <a:solidFill>
                            <a:srgbClr val="080808"/>
                          </a:solidFill>
                        </a:rPr>
                        <a:t>内容</a:t>
                      </a:r>
                      <a:endParaRPr lang="zh-CN" altLang="en-US" sz="1600" dirty="0">
                        <a:solidFill>
                          <a:srgbClr val="08080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smtClean="0">
                          <a:solidFill>
                            <a:srgbClr val="080808"/>
                          </a:solidFill>
                        </a:rPr>
                        <a:t>变量名</a:t>
                      </a:r>
                      <a:endParaRPr lang="zh-CN" altLang="en-US" sz="1600" dirty="0">
                        <a:solidFill>
                          <a:srgbClr val="080808"/>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322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t>… …</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1740775"/>
                  </a:ext>
                </a:extLst>
              </a:tr>
              <a:tr h="371856">
                <a:tc>
                  <a:txBody>
                    <a:bodyPr/>
                    <a:lstStyle/>
                    <a:p>
                      <a:pPr algn="r"/>
                      <a:r>
                        <a:rPr lang="en-US" altLang="zh-CN" dirty="0" smtClean="0"/>
                        <a:t>2000</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t>12</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a</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9808624"/>
                  </a:ext>
                </a:extLst>
              </a:tr>
              <a:tr h="371856">
                <a:tc>
                  <a:txBody>
                    <a:bodyPr/>
                    <a:lstStyle/>
                    <a:p>
                      <a:pPr algn="r"/>
                      <a:r>
                        <a:rPr lang="en-US" altLang="zh-CN" dirty="0" smtClean="0"/>
                        <a:t>2004</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t>15</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b</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234072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516319"/>
                  </a:ext>
                </a:extLst>
              </a:tr>
              <a:tr h="371856">
                <a:tc>
                  <a:txBody>
                    <a:bodyPr/>
                    <a:lstStyle/>
                    <a:p>
                      <a:pPr algn="r"/>
                      <a:r>
                        <a:rPr lang="en-US" altLang="zh-CN" dirty="0" smtClean="0"/>
                        <a:t>4000</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solidFill>
                            <a:srgbClr val="C00000"/>
                          </a:solidFill>
                        </a:rPr>
                        <a:t>2000</a:t>
                      </a:r>
                      <a:endParaRPr lang="zh-CN" altLang="en-US" sz="18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p</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5745693"/>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55580"/>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36101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7635303"/>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53812"/>
                  </a:ext>
                </a:extLst>
              </a:tr>
            </a:tbl>
          </a:graphicData>
        </a:graphic>
      </p:graphicFrame>
      <p:sp>
        <p:nvSpPr>
          <p:cNvPr id="5" name="环形箭头 4"/>
          <p:cNvSpPr/>
          <p:nvPr/>
        </p:nvSpPr>
        <p:spPr bwMode="auto">
          <a:xfrm rot="16200000" flipV="1">
            <a:off x="6433401" y="3166217"/>
            <a:ext cx="1379453" cy="1053326"/>
          </a:xfrm>
          <a:prstGeom prst="circular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内容占位符 2"/>
          <p:cNvSpPr txBox="1">
            <a:spLocks/>
          </p:cNvSpPr>
          <p:nvPr/>
        </p:nvSpPr>
        <p:spPr bwMode="auto">
          <a:xfrm>
            <a:off x="485775" y="2007664"/>
            <a:ext cx="4369689" cy="2582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Wingdings" panose="05000000000000000000" pitchFamily="2" charset="2"/>
              <a:buChar char="n"/>
            </a:pPr>
            <a:r>
              <a:rPr lang="zh-CN" altLang="en-US" sz="2000" dirty="0" smtClean="0">
                <a:solidFill>
                  <a:srgbClr val="080808"/>
                </a:solidFill>
              </a:rPr>
              <a:t>指针</a:t>
            </a:r>
            <a:r>
              <a:rPr lang="en-US" altLang="zh-CN" sz="2000" dirty="0" smtClean="0">
                <a:solidFill>
                  <a:srgbClr val="080808"/>
                </a:solidFill>
              </a:rPr>
              <a:t>p</a:t>
            </a:r>
            <a:r>
              <a:rPr lang="zh-CN" altLang="en-US" sz="2000" dirty="0" smtClean="0">
                <a:solidFill>
                  <a:srgbClr val="080808"/>
                </a:solidFill>
              </a:rPr>
              <a:t>是一个</a:t>
            </a:r>
            <a:r>
              <a:rPr lang="zh-CN" altLang="en-US" sz="2000" dirty="0" smtClean="0">
                <a:solidFill>
                  <a:srgbClr val="C00000"/>
                </a:solidFill>
              </a:rPr>
              <a:t>常量</a:t>
            </a:r>
            <a:endParaRPr lang="en-US" altLang="zh-CN" sz="2000" dirty="0" smtClean="0">
              <a:solidFill>
                <a:srgbClr val="C00000"/>
              </a:solidFill>
            </a:endParaRPr>
          </a:p>
          <a:p>
            <a:pPr marL="342900" indent="-342900">
              <a:lnSpc>
                <a:spcPct val="100000"/>
              </a:lnSpc>
              <a:buFont typeface="Wingdings" panose="05000000000000000000" pitchFamily="2" charset="2"/>
              <a:buChar char="n"/>
            </a:pPr>
            <a:r>
              <a:rPr lang="en-US" altLang="zh-CN" sz="2000" dirty="0" smtClean="0">
                <a:solidFill>
                  <a:srgbClr val="080808"/>
                </a:solidFill>
              </a:rPr>
              <a:t>p</a:t>
            </a:r>
            <a:r>
              <a:rPr lang="zh-CN" altLang="en-US" sz="2000" dirty="0" smtClean="0">
                <a:solidFill>
                  <a:srgbClr val="080808"/>
                </a:solidFill>
              </a:rPr>
              <a:t>的值不能改变</a:t>
            </a:r>
            <a:endParaRPr lang="en-US" altLang="zh-CN" sz="2000" dirty="0" smtClean="0">
              <a:solidFill>
                <a:srgbClr val="080808"/>
              </a:solidFill>
            </a:endParaRPr>
          </a:p>
          <a:p>
            <a:pPr marL="342900" indent="-342900">
              <a:lnSpc>
                <a:spcPct val="100000"/>
              </a:lnSpc>
              <a:buFont typeface="Wingdings" panose="05000000000000000000" pitchFamily="2" charset="2"/>
              <a:buChar char="n"/>
            </a:pPr>
            <a:r>
              <a:rPr lang="en-US" altLang="zh-CN" sz="2000" dirty="0" smtClean="0">
                <a:solidFill>
                  <a:srgbClr val="080808"/>
                </a:solidFill>
              </a:rPr>
              <a:t>p</a:t>
            </a:r>
            <a:r>
              <a:rPr lang="zh-CN" altLang="en-US" sz="2000" dirty="0" smtClean="0">
                <a:solidFill>
                  <a:srgbClr val="080808"/>
                </a:solidFill>
              </a:rPr>
              <a:t>永远指向</a:t>
            </a:r>
            <a:r>
              <a:rPr lang="en-US" altLang="zh-CN" sz="2000" dirty="0" smtClean="0">
                <a:solidFill>
                  <a:srgbClr val="080808"/>
                </a:solidFill>
              </a:rPr>
              <a:t>a</a:t>
            </a:r>
          </a:p>
          <a:p>
            <a:pPr marL="342900" indent="-342900">
              <a:lnSpc>
                <a:spcPct val="100000"/>
              </a:lnSpc>
              <a:buFont typeface="Wingdings" panose="05000000000000000000" pitchFamily="2" charset="2"/>
              <a:buChar char="n"/>
            </a:pPr>
            <a:r>
              <a:rPr lang="zh-CN" altLang="en-US" sz="2000" dirty="0" smtClean="0">
                <a:solidFill>
                  <a:srgbClr val="006600"/>
                </a:solidFill>
              </a:rPr>
              <a:t>但</a:t>
            </a:r>
            <a:r>
              <a:rPr lang="en-US" altLang="zh-CN" sz="2000" dirty="0" smtClean="0">
                <a:solidFill>
                  <a:srgbClr val="006600"/>
                </a:solidFill>
              </a:rPr>
              <a:t>p</a:t>
            </a:r>
            <a:r>
              <a:rPr lang="zh-CN" altLang="en-US" sz="2000" dirty="0" smtClean="0">
                <a:solidFill>
                  <a:srgbClr val="006600"/>
                </a:solidFill>
              </a:rPr>
              <a:t>指向的单元的值可以改变，如</a:t>
            </a:r>
            <a:r>
              <a:rPr lang="en-US" altLang="zh-CN" sz="2000" dirty="0" smtClean="0">
                <a:solidFill>
                  <a:srgbClr val="006600"/>
                </a:solidFill>
              </a:rPr>
              <a:t>*p=3</a:t>
            </a:r>
            <a:r>
              <a:rPr lang="zh-CN" altLang="en-US" sz="2000" dirty="0" smtClean="0">
                <a:solidFill>
                  <a:srgbClr val="006600"/>
                </a:solidFill>
              </a:rPr>
              <a:t>是允许的</a:t>
            </a:r>
            <a:endParaRPr lang="zh-CN" altLang="en-US" sz="2000" dirty="0">
              <a:solidFill>
                <a:srgbClr val="006600"/>
              </a:solidFill>
            </a:endParaRPr>
          </a:p>
        </p:txBody>
      </p:sp>
      <p:sp>
        <p:nvSpPr>
          <p:cNvPr id="7" name="环形箭头 6"/>
          <p:cNvSpPr/>
          <p:nvPr/>
        </p:nvSpPr>
        <p:spPr bwMode="auto">
          <a:xfrm rot="16200000">
            <a:off x="4794828" y="3389054"/>
            <a:ext cx="950976" cy="829699"/>
          </a:xfrm>
          <a:prstGeom prst="circularArrow">
            <a:avLst>
              <a:gd name="adj1" fmla="val 12500"/>
              <a:gd name="adj2" fmla="val 2300317"/>
              <a:gd name="adj3" fmla="val 20457681"/>
              <a:gd name="adj4" fmla="val 10800000"/>
              <a:gd name="adj5" fmla="val 12500"/>
            </a:avLst>
          </a:prstGeom>
          <a:solidFill>
            <a:srgbClr val="0303D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乘号 7"/>
          <p:cNvSpPr/>
          <p:nvPr/>
        </p:nvSpPr>
        <p:spPr bwMode="auto">
          <a:xfrm>
            <a:off x="4668849" y="3543535"/>
            <a:ext cx="649224" cy="539496"/>
          </a:xfrm>
          <a:prstGeom prst="mathMultiply">
            <a:avLst/>
          </a:prstGeom>
          <a:solidFill>
            <a:srgbClr val="C0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矩形标注 8"/>
          <p:cNvSpPr/>
          <p:nvPr/>
        </p:nvSpPr>
        <p:spPr bwMode="auto">
          <a:xfrm>
            <a:off x="4297680" y="4668701"/>
            <a:ext cx="4489704" cy="1207843"/>
          </a:xfrm>
          <a:prstGeom prst="wedgeRectCallout">
            <a:avLst>
              <a:gd name="adj1" fmla="val -20039"/>
              <a:gd name="adj2" fmla="val 45109"/>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en-US" sz="1600" b="1" dirty="0" smtClean="0">
                <a:solidFill>
                  <a:srgbClr val="7030A0"/>
                </a:solidFill>
              </a:rPr>
              <a:t>执行语句 </a:t>
            </a:r>
            <a:r>
              <a:rPr lang="en-US" altLang="zh-CN" sz="1600" b="1" dirty="0" err="1" smtClean="0">
                <a:solidFill>
                  <a:srgbClr val="7030A0"/>
                </a:solidFill>
              </a:rPr>
              <a:t>int</a:t>
            </a:r>
            <a:r>
              <a:rPr lang="en-US" altLang="zh-CN" sz="1600" b="1" dirty="0">
                <a:solidFill>
                  <a:srgbClr val="7030A0"/>
                </a:solidFill>
              </a:rPr>
              <a:t>* </a:t>
            </a:r>
            <a:r>
              <a:rPr lang="en-US" altLang="zh-CN" sz="1600" b="1" dirty="0" err="1">
                <a:solidFill>
                  <a:srgbClr val="7030A0"/>
                </a:solidFill>
              </a:rPr>
              <a:t>const</a:t>
            </a:r>
            <a:r>
              <a:rPr lang="en-US" altLang="zh-CN" sz="1600" b="1" dirty="0">
                <a:solidFill>
                  <a:srgbClr val="7030A0"/>
                </a:solidFill>
              </a:rPr>
              <a:t> p=&amp;a </a:t>
            </a:r>
            <a:r>
              <a:rPr lang="zh-CN" altLang="en-US" sz="1600" b="1" dirty="0" smtClean="0">
                <a:solidFill>
                  <a:srgbClr val="7030A0"/>
                </a:solidFill>
              </a:rPr>
              <a:t>之后</a:t>
            </a:r>
            <a:r>
              <a:rPr lang="en-US" altLang="zh-CN" sz="1600" dirty="0" smtClean="0">
                <a:solidFill>
                  <a:srgbClr val="080808"/>
                </a:solidFill>
                <a:ea typeface="宋体" panose="02010600030101010101" pitchFamily="2" charset="-122"/>
              </a:rPr>
              <a:t>,</a:t>
            </a:r>
          </a:p>
          <a:p>
            <a:r>
              <a:rPr lang="en-US" altLang="zh-CN" sz="1600" dirty="0" smtClean="0">
                <a:solidFill>
                  <a:srgbClr val="080808"/>
                </a:solidFill>
                <a:ea typeface="宋体" panose="02010600030101010101" pitchFamily="2" charset="-122"/>
              </a:rPr>
              <a:t>1</a:t>
            </a:r>
            <a:r>
              <a:rPr lang="zh-CN" altLang="en-US" sz="1600" dirty="0" smtClean="0">
                <a:solidFill>
                  <a:srgbClr val="080808"/>
                </a:solidFill>
                <a:ea typeface="宋体" panose="02010600030101010101" pitchFamily="2" charset="-122"/>
              </a:rPr>
              <a:t>、</a:t>
            </a:r>
            <a:r>
              <a:rPr lang="en-US" altLang="zh-CN" sz="1600" dirty="0" smtClean="0">
                <a:solidFill>
                  <a:srgbClr val="080808"/>
                </a:solidFill>
                <a:ea typeface="宋体" panose="02010600030101010101" pitchFamily="2" charset="-122"/>
              </a:rPr>
              <a:t>p</a:t>
            </a:r>
            <a:r>
              <a:rPr lang="zh-CN" altLang="en-US" sz="1600" dirty="0" smtClean="0">
                <a:solidFill>
                  <a:srgbClr val="080808"/>
                </a:solidFill>
                <a:ea typeface="宋体" panose="02010600030101010101" pitchFamily="2" charset="-122"/>
              </a:rPr>
              <a:t>是一个整型指针类型的常量，</a:t>
            </a:r>
            <a:r>
              <a:rPr lang="en-US" altLang="zh-CN" sz="1600" dirty="0" smtClean="0">
                <a:solidFill>
                  <a:srgbClr val="080808"/>
                </a:solidFill>
                <a:ea typeface="宋体" panose="02010600030101010101" pitchFamily="2" charset="-122"/>
              </a:rPr>
              <a:t>p</a:t>
            </a:r>
            <a:r>
              <a:rPr lang="zh-CN" altLang="en-US" sz="1600" dirty="0" smtClean="0">
                <a:solidFill>
                  <a:srgbClr val="080808"/>
                </a:solidFill>
                <a:ea typeface="宋体" panose="02010600030101010101" pitchFamily="2" charset="-122"/>
              </a:rPr>
              <a:t>只能且永远指向</a:t>
            </a:r>
            <a:r>
              <a:rPr lang="en-US" altLang="zh-CN" sz="1600" dirty="0" smtClean="0">
                <a:solidFill>
                  <a:srgbClr val="080808"/>
                </a:solidFill>
                <a:ea typeface="宋体" panose="02010600030101010101" pitchFamily="2" charset="-122"/>
              </a:rPr>
              <a:t>a;</a:t>
            </a:r>
            <a:endParaRPr lang="zh-CN" altLang="en-US" sz="1600" dirty="0">
              <a:solidFill>
                <a:srgbClr val="080808"/>
              </a:solidFill>
              <a:ea typeface="宋体" panose="02010600030101010101" pitchFamily="2" charset="-122"/>
            </a:endParaRPr>
          </a:p>
          <a:p>
            <a:r>
              <a:rPr kumimoji="0" lang="en-US" altLang="zh-CN"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、即</a:t>
            </a:r>
            <a:r>
              <a:rPr lang="en-US" altLang="zh-CN" sz="1600" dirty="0" smtClean="0">
                <a:solidFill>
                  <a:srgbClr val="080808"/>
                </a:solidFill>
                <a:ea typeface="宋体" panose="02010600030101010101" pitchFamily="2" charset="-122"/>
              </a:rPr>
              <a:t>p</a:t>
            </a:r>
            <a:r>
              <a:rPr lang="zh-CN" altLang="en-US" sz="1600" dirty="0">
                <a:solidFill>
                  <a:srgbClr val="080808"/>
                </a:solidFill>
                <a:ea typeface="宋体" panose="02010600030101010101" pitchFamily="2" charset="-122"/>
              </a:rPr>
              <a:t>的值只能是</a:t>
            </a:r>
            <a:r>
              <a:rPr lang="en-US" altLang="zh-CN" sz="1600" dirty="0">
                <a:solidFill>
                  <a:srgbClr val="080808"/>
                </a:solidFill>
                <a:ea typeface="宋体" panose="02010600030101010101" pitchFamily="2" charset="-122"/>
              </a:rPr>
              <a:t>a</a:t>
            </a:r>
            <a:r>
              <a:rPr lang="zh-CN" altLang="en-US" sz="1600" dirty="0">
                <a:solidFill>
                  <a:srgbClr val="080808"/>
                </a:solidFill>
                <a:ea typeface="宋体" panose="02010600030101010101" pitchFamily="2" charset="-122"/>
              </a:rPr>
              <a:t>的地址</a:t>
            </a:r>
            <a:r>
              <a:rPr lang="en-US" altLang="zh-CN" sz="1600" dirty="0" smtClean="0">
                <a:solidFill>
                  <a:srgbClr val="080808"/>
                </a:solidFill>
                <a:ea typeface="宋体" panose="02010600030101010101" pitchFamily="2" charset="-122"/>
              </a:rPr>
              <a:t>2000</a:t>
            </a:r>
            <a:r>
              <a:rPr lang="zh-CN" altLang="en-US" sz="1600" dirty="0" smtClean="0">
                <a:solidFill>
                  <a:srgbClr val="080808"/>
                </a:solidFill>
                <a:ea typeface="宋体" panose="02010600030101010101" pitchFamily="2" charset="-122"/>
              </a:rPr>
              <a:t>，不允许再更改；</a:t>
            </a:r>
            <a:endParaRPr lang="en-US" altLang="zh-CN" sz="1600" dirty="0">
              <a:solidFill>
                <a:srgbClr val="080808"/>
              </a:solidFill>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322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a:t>
            </a:r>
            <a:r>
              <a:rPr lang="zh-CN" altLang="en-US" dirty="0" smtClean="0">
                <a:solidFill>
                  <a:srgbClr val="C00000"/>
                </a:solidFill>
              </a:rPr>
              <a:t>常量指针  </a:t>
            </a:r>
            <a:r>
              <a:rPr lang="en-US" altLang="zh-CN" dirty="0" err="1" smtClean="0">
                <a:solidFill>
                  <a:srgbClr val="7030A0"/>
                </a:solidFill>
              </a:rPr>
              <a:t>int</a:t>
            </a:r>
            <a:r>
              <a:rPr lang="en-US" altLang="zh-CN" dirty="0" smtClean="0">
                <a:solidFill>
                  <a:srgbClr val="7030A0"/>
                </a:solidFill>
              </a:rPr>
              <a:t>* </a:t>
            </a:r>
            <a:r>
              <a:rPr lang="en-US" altLang="zh-CN" dirty="0" err="1" smtClean="0">
                <a:solidFill>
                  <a:srgbClr val="7030A0"/>
                </a:solidFill>
              </a:rPr>
              <a:t>const</a:t>
            </a:r>
            <a:r>
              <a:rPr lang="en-US" altLang="zh-CN" dirty="0" smtClean="0">
                <a:solidFill>
                  <a:srgbClr val="7030A0"/>
                </a:solidFill>
              </a:rPr>
              <a:t> p</a:t>
            </a:r>
            <a:endParaRPr lang="zh-CN" altLang="en-US" dirty="0">
              <a:solidFill>
                <a:srgbClr val="7030A0"/>
              </a:solidFill>
            </a:endParaRPr>
          </a:p>
        </p:txBody>
      </p:sp>
      <p:sp>
        <p:nvSpPr>
          <p:cNvPr id="7" name="内容占位符 6"/>
          <p:cNvSpPr>
            <a:spLocks noGrp="1"/>
          </p:cNvSpPr>
          <p:nvPr>
            <p:ph idx="1"/>
          </p:nvPr>
        </p:nvSpPr>
        <p:spPr>
          <a:xfrm>
            <a:off x="485775" y="1094133"/>
            <a:ext cx="4817745" cy="558833"/>
          </a:xfrm>
        </p:spPr>
        <p:txBody>
          <a:bodyPr/>
          <a:lstStyle/>
          <a:p>
            <a:endParaRPr lang="zh-CN" altLang="en-US" dirty="0"/>
          </a:p>
        </p:txBody>
      </p:sp>
      <p:pic>
        <p:nvPicPr>
          <p:cNvPr id="8" name="图片 7"/>
          <p:cNvPicPr>
            <a:picLocks noChangeAspect="1"/>
          </p:cNvPicPr>
          <p:nvPr/>
        </p:nvPicPr>
        <p:blipFill>
          <a:blip r:embed="rId2"/>
          <a:stretch>
            <a:fillRect/>
          </a:stretch>
        </p:blipFill>
        <p:spPr>
          <a:xfrm>
            <a:off x="485775" y="1094133"/>
            <a:ext cx="6315075" cy="4581525"/>
          </a:xfrm>
          <a:prstGeom prst="rect">
            <a:avLst/>
          </a:prstGeom>
        </p:spPr>
      </p:pic>
      <p:sp>
        <p:nvSpPr>
          <p:cNvPr id="9" name="矩形 8"/>
          <p:cNvSpPr/>
          <p:nvPr/>
        </p:nvSpPr>
        <p:spPr bwMode="auto">
          <a:xfrm>
            <a:off x="4201540" y="5020056"/>
            <a:ext cx="2491867" cy="237744"/>
          </a:xfrm>
          <a:prstGeom prst="rect">
            <a:avLst/>
          </a:prstGeom>
          <a:noFill/>
          <a:ln w="1905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no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7108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t>关于</a:t>
            </a:r>
            <a:r>
              <a:rPr lang="zh-CN" altLang="en-US" dirty="0" smtClean="0">
                <a:solidFill>
                  <a:srgbClr val="C00000"/>
                </a:solidFill>
              </a:rPr>
              <a:t>指针常量 </a:t>
            </a:r>
            <a:r>
              <a:rPr lang="en-US" altLang="zh-CN" b="1" dirty="0" err="1" smtClean="0">
                <a:solidFill>
                  <a:srgbClr val="006600"/>
                </a:solidFill>
                <a:latin typeface="Times New Roman" panose="02020603050405020304" pitchFamily="18" charset="0"/>
                <a:cs typeface="Times New Roman" panose="02020603050405020304" pitchFamily="18" charset="0"/>
              </a:rPr>
              <a:t>const</a:t>
            </a:r>
            <a:r>
              <a:rPr lang="en-US" altLang="zh-CN" b="1" dirty="0" smtClean="0">
                <a:solidFill>
                  <a:srgbClr val="006600"/>
                </a:solidFill>
                <a:latin typeface="Times New Roman" panose="02020603050405020304" pitchFamily="18" charset="0"/>
                <a:cs typeface="Times New Roman" panose="02020603050405020304" pitchFamily="18" charset="0"/>
              </a:rPr>
              <a:t> </a:t>
            </a:r>
            <a:r>
              <a:rPr lang="en-US" altLang="zh-CN" b="1" dirty="0" err="1">
                <a:solidFill>
                  <a:srgbClr val="006600"/>
                </a:solidFill>
                <a:latin typeface="Times New Roman" panose="02020603050405020304" pitchFamily="18" charset="0"/>
                <a:cs typeface="Times New Roman" panose="02020603050405020304" pitchFamily="18" charset="0"/>
              </a:rPr>
              <a:t>int</a:t>
            </a:r>
            <a:r>
              <a:rPr lang="en-US" altLang="zh-CN" b="1" dirty="0">
                <a:solidFill>
                  <a:srgbClr val="006600"/>
                </a:solidFill>
                <a:latin typeface="Times New Roman" panose="02020603050405020304" pitchFamily="18" charset="0"/>
                <a:cs typeface="Times New Roman" panose="02020603050405020304" pitchFamily="18" charset="0"/>
              </a:rPr>
              <a:t> *</a:t>
            </a:r>
            <a:r>
              <a:rPr lang="en-US" altLang="zh-CN" b="1" dirty="0" smtClean="0">
                <a:solidFill>
                  <a:srgbClr val="006600"/>
                </a:solidFill>
                <a:latin typeface="Times New Roman" panose="02020603050405020304" pitchFamily="18" charset="0"/>
                <a:cs typeface="Times New Roman" panose="02020603050405020304" pitchFamily="18" charset="0"/>
              </a:rPr>
              <a:t>p</a:t>
            </a:r>
            <a:r>
              <a:rPr lang="zh-CN" altLang="en-US" dirty="0" smtClean="0">
                <a:solidFill>
                  <a:srgbClr val="7030A0"/>
                </a:solidFill>
              </a:rPr>
              <a:t> </a:t>
            </a:r>
            <a:endParaRPr lang="zh-CN" altLang="en-US" dirty="0">
              <a:solidFill>
                <a:srgbClr val="7030A0"/>
              </a:solidFill>
            </a:endParaRP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8338655" cy="5173466"/>
          </a:xfrm>
        </p:spPr>
        <p:txBody>
          <a:bodyPr/>
          <a:lstStyle/>
          <a:p>
            <a:pPr marL="342900" indent="-342900">
              <a:buFont typeface="Wingdings" panose="05000000000000000000" pitchFamily="2" charset="2"/>
              <a:buChar char="n"/>
            </a:pPr>
            <a:r>
              <a:rPr lang="zh-CN" altLang="en-US" sz="1800" b="1" dirty="0">
                <a:solidFill>
                  <a:srgbClr val="030DCD"/>
                </a:solidFill>
              </a:rPr>
              <a:t>指针常量：指针指向的内容是一个常量；</a:t>
            </a:r>
            <a:endParaRPr lang="en-US" altLang="zh-CN" sz="1800" b="1" dirty="0">
              <a:solidFill>
                <a:srgbClr val="030DCD"/>
              </a:solidFill>
            </a:endParaRPr>
          </a:p>
          <a:p>
            <a:pPr marL="971550" lvl="1">
              <a:buFont typeface="Wingdings" panose="05000000000000000000" pitchFamily="2" charset="2"/>
              <a:buChar char="l"/>
            </a:pPr>
            <a:r>
              <a:rPr lang="en-US" altLang="zh-CN" sz="1600" dirty="0" err="1">
                <a:latin typeface="Times New Roman" panose="02020603050405020304" pitchFamily="18" charset="0"/>
                <a:cs typeface="Times New Roman" panose="02020603050405020304" pitchFamily="18" charset="0"/>
              </a:rPr>
              <a:t>int</a:t>
            </a:r>
            <a:r>
              <a:rPr lang="zh-CN" altLang="en-US"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a,b</a:t>
            </a:r>
            <a:r>
              <a:rPr lang="en-US" altLang="zh-CN" sz="1600" dirty="0">
                <a:latin typeface="Times New Roman" panose="02020603050405020304" pitchFamily="18" charset="0"/>
                <a:cs typeface="Times New Roman" panose="02020603050405020304" pitchFamily="18" charset="0"/>
              </a:rPr>
              <a:t>; </a:t>
            </a:r>
            <a:endParaRPr lang="en-US" altLang="zh-CN" sz="1600" dirty="0" smtClean="0">
              <a:latin typeface="Times New Roman" panose="02020603050405020304" pitchFamily="18" charset="0"/>
              <a:cs typeface="Times New Roman" panose="02020603050405020304" pitchFamily="18" charset="0"/>
            </a:endParaRPr>
          </a:p>
          <a:p>
            <a:pPr marL="971550" lvl="1">
              <a:buFont typeface="Wingdings" panose="05000000000000000000" pitchFamily="2" charset="2"/>
              <a:buChar char="l"/>
            </a:pPr>
            <a:r>
              <a:rPr lang="en-US" altLang="zh-CN" sz="1600" b="1" dirty="0" err="1" smtClean="0">
                <a:solidFill>
                  <a:srgbClr val="006600"/>
                </a:solidFill>
                <a:latin typeface="Times New Roman" panose="02020603050405020304" pitchFamily="18" charset="0"/>
                <a:cs typeface="Times New Roman" panose="02020603050405020304" pitchFamily="18" charset="0"/>
              </a:rPr>
              <a:t>const</a:t>
            </a:r>
            <a:r>
              <a:rPr lang="en-US" altLang="zh-CN" sz="1600" b="1" dirty="0" smtClean="0">
                <a:solidFill>
                  <a:srgbClr val="006600"/>
                </a:solidFill>
                <a:latin typeface="Times New Roman" panose="02020603050405020304" pitchFamily="18" charset="0"/>
                <a:cs typeface="Times New Roman" panose="02020603050405020304" pitchFamily="18" charset="0"/>
              </a:rPr>
              <a:t> </a:t>
            </a:r>
            <a:r>
              <a:rPr lang="en-US" altLang="zh-CN" sz="1600" b="1" dirty="0" err="1">
                <a:solidFill>
                  <a:srgbClr val="006600"/>
                </a:solidFill>
                <a:latin typeface="Times New Roman" panose="02020603050405020304" pitchFamily="18" charset="0"/>
                <a:cs typeface="Times New Roman" panose="02020603050405020304" pitchFamily="18" charset="0"/>
              </a:rPr>
              <a:t>int</a:t>
            </a:r>
            <a:r>
              <a:rPr lang="en-US" altLang="zh-CN" sz="1600" b="1" dirty="0">
                <a:solidFill>
                  <a:srgbClr val="006600"/>
                </a:solidFill>
                <a:latin typeface="Times New Roman" panose="02020603050405020304" pitchFamily="18" charset="0"/>
                <a:cs typeface="Times New Roman" panose="02020603050405020304" pitchFamily="18" charset="0"/>
              </a:rPr>
              <a:t> *p=&amp;a;   </a:t>
            </a:r>
            <a:r>
              <a:rPr lang="en-US" altLang="zh-CN" sz="1600" dirty="0">
                <a:latin typeface="Times New Roman" panose="02020603050405020304" pitchFamily="18" charset="0"/>
                <a:cs typeface="Times New Roman" panose="02020603050405020304" pitchFamily="18" charset="0"/>
              </a:rPr>
              <a:t>//</a:t>
            </a:r>
            <a:r>
              <a:rPr lang="en-US" altLang="zh-CN" sz="1600" b="1" dirty="0">
                <a:solidFill>
                  <a:srgbClr val="006600"/>
                </a:solidFill>
                <a:latin typeface="Times New Roman" panose="02020603050405020304" pitchFamily="18" charset="0"/>
                <a:cs typeface="Times New Roman" panose="02020603050405020304" pitchFamily="18" charset="0"/>
              </a:rPr>
              <a:t> </a:t>
            </a:r>
            <a:r>
              <a:rPr lang="zh-CN" altLang="en-US" sz="1600" b="1" dirty="0">
                <a:solidFill>
                  <a:srgbClr val="006600"/>
                </a:solidFill>
                <a:latin typeface="Times New Roman" panose="02020603050405020304" pitchFamily="18" charset="0"/>
                <a:cs typeface="Times New Roman" panose="02020603050405020304" pitchFamily="18" charset="0"/>
              </a:rPr>
              <a:t>或 </a:t>
            </a:r>
            <a:r>
              <a:rPr lang="en-US" altLang="zh-CN" sz="1600" b="1" dirty="0" err="1">
                <a:solidFill>
                  <a:srgbClr val="006600"/>
                </a:solidFill>
                <a:latin typeface="Times New Roman" panose="02020603050405020304" pitchFamily="18" charset="0"/>
                <a:cs typeface="Times New Roman" panose="02020603050405020304" pitchFamily="18" charset="0"/>
              </a:rPr>
              <a:t>int</a:t>
            </a:r>
            <a:r>
              <a:rPr lang="en-US" altLang="zh-CN" sz="1600" b="1" dirty="0">
                <a:solidFill>
                  <a:srgbClr val="006600"/>
                </a:solidFill>
                <a:latin typeface="Times New Roman" panose="02020603050405020304" pitchFamily="18" charset="0"/>
                <a:cs typeface="Times New Roman" panose="02020603050405020304" pitchFamily="18" charset="0"/>
              </a:rPr>
              <a:t> </a:t>
            </a:r>
            <a:r>
              <a:rPr lang="en-US" altLang="zh-CN" sz="1600" b="1" dirty="0" err="1">
                <a:solidFill>
                  <a:srgbClr val="006600"/>
                </a:solidFill>
                <a:latin typeface="Times New Roman" panose="02020603050405020304" pitchFamily="18" charset="0"/>
                <a:cs typeface="Times New Roman" panose="02020603050405020304" pitchFamily="18" charset="0"/>
              </a:rPr>
              <a:t>const</a:t>
            </a:r>
            <a:r>
              <a:rPr lang="en-US" altLang="zh-CN" sz="1600" b="1" dirty="0">
                <a:solidFill>
                  <a:srgbClr val="006600"/>
                </a:solidFill>
                <a:latin typeface="Times New Roman" panose="02020603050405020304" pitchFamily="18" charset="0"/>
                <a:cs typeface="Times New Roman" panose="02020603050405020304" pitchFamily="18" charset="0"/>
              </a:rPr>
              <a:t> *p</a:t>
            </a:r>
            <a:r>
              <a:rPr lang="zh-CN" altLang="en-US" sz="1600" b="1" dirty="0">
                <a:solidFill>
                  <a:srgbClr val="006600"/>
                </a:solidFill>
                <a:latin typeface="Times New Roman" panose="02020603050405020304" pitchFamily="18" charset="0"/>
                <a:cs typeface="Times New Roman" panose="02020603050405020304" pitchFamily="18" charset="0"/>
              </a:rPr>
              <a:t>；</a:t>
            </a:r>
            <a:r>
              <a:rPr lang="en-US" altLang="zh-CN" sz="1600" b="1" dirty="0">
                <a:solidFill>
                  <a:srgbClr val="006600"/>
                </a:solidFill>
                <a:latin typeface="Times New Roman" panose="02020603050405020304" pitchFamily="18" charset="0"/>
                <a:cs typeface="Times New Roman" panose="02020603050405020304" pitchFamily="18" charset="0"/>
              </a:rPr>
              <a:t>p=&amp;a;</a:t>
            </a:r>
            <a:r>
              <a:rPr lang="en-US" altLang="zh-CN" sz="1600" dirty="0">
                <a:latin typeface="Times New Roman" panose="02020603050405020304" pitchFamily="18" charset="0"/>
                <a:cs typeface="Times New Roman" panose="02020603050405020304" pitchFamily="18" charset="0"/>
              </a:rPr>
              <a:t> </a:t>
            </a:r>
            <a:endParaRPr lang="en-US" altLang="zh-CN" sz="16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n"/>
            </a:pPr>
            <a:r>
              <a:rPr lang="en-US" altLang="zh-CN" sz="1800" b="1" dirty="0" err="1">
                <a:solidFill>
                  <a:srgbClr val="006600"/>
                </a:solidFill>
                <a:latin typeface="Times New Roman" panose="02020603050405020304" pitchFamily="18" charset="0"/>
                <a:cs typeface="Times New Roman" panose="02020603050405020304" pitchFamily="18" charset="0"/>
              </a:rPr>
              <a:t>const</a:t>
            </a:r>
            <a:r>
              <a:rPr lang="en-US" altLang="zh-CN" sz="1800" b="1" dirty="0">
                <a:solidFill>
                  <a:srgbClr val="006600"/>
                </a:solidFill>
                <a:latin typeface="Times New Roman" panose="02020603050405020304" pitchFamily="18" charset="0"/>
                <a:cs typeface="Times New Roman" panose="02020603050405020304" pitchFamily="18" charset="0"/>
              </a:rPr>
              <a:t> </a:t>
            </a:r>
            <a:r>
              <a:rPr lang="en-US" altLang="zh-CN" sz="1800" b="1" dirty="0" err="1">
                <a:solidFill>
                  <a:srgbClr val="006600"/>
                </a:solidFill>
                <a:latin typeface="Times New Roman" panose="02020603050405020304" pitchFamily="18" charset="0"/>
                <a:cs typeface="Times New Roman" panose="02020603050405020304" pitchFamily="18" charset="0"/>
              </a:rPr>
              <a:t>int</a:t>
            </a:r>
            <a:r>
              <a:rPr lang="en-US" altLang="zh-CN" sz="1800" b="1" dirty="0">
                <a:solidFill>
                  <a:srgbClr val="006600"/>
                </a:solidFill>
                <a:latin typeface="Times New Roman" panose="02020603050405020304" pitchFamily="18" charset="0"/>
                <a:cs typeface="Times New Roman" panose="02020603050405020304" pitchFamily="18" charset="0"/>
              </a:rPr>
              <a:t> *p=&amp;</a:t>
            </a:r>
            <a:r>
              <a:rPr lang="en-US" altLang="zh-CN" sz="1800" b="1" dirty="0" smtClean="0">
                <a:solidFill>
                  <a:srgbClr val="006600"/>
                </a:solidFill>
                <a:latin typeface="Times New Roman" panose="02020603050405020304" pitchFamily="18" charset="0"/>
                <a:cs typeface="Times New Roman" panose="02020603050405020304" pitchFamily="18" charset="0"/>
              </a:rPr>
              <a:t>a</a:t>
            </a:r>
            <a:r>
              <a:rPr lang="zh-CN" altLang="en-US" sz="1800" b="1" dirty="0"/>
              <a:t>的解</a:t>
            </a:r>
            <a:r>
              <a:rPr lang="zh-CN" altLang="en-US" sz="1800" b="1" dirty="0" smtClean="0"/>
              <a:t>读</a:t>
            </a:r>
            <a:endParaRPr lang="en-US" altLang="zh-CN" sz="1800" b="1" dirty="0" smtClean="0"/>
          </a:p>
          <a:p>
            <a:pPr marL="971550" lvl="1">
              <a:buFont typeface="Wingdings" panose="05000000000000000000" pitchFamily="2" charset="2"/>
              <a:buChar char="l"/>
            </a:pPr>
            <a:r>
              <a:rPr lang="zh-CN" altLang="en-US" sz="1600" b="1" dirty="0">
                <a:solidFill>
                  <a:srgbClr val="C00000"/>
                </a:solidFill>
                <a:latin typeface="Times New Roman" panose="02020603050405020304" pitchFamily="18" charset="0"/>
                <a:cs typeface="Times New Roman" panose="02020603050405020304" pitchFamily="18" charset="0"/>
              </a:rPr>
              <a:t>从右往左</a:t>
            </a:r>
            <a:r>
              <a:rPr lang="zh-CN" altLang="en-US" sz="1600" dirty="0">
                <a:latin typeface="Times New Roman" panose="02020603050405020304" pitchFamily="18" charset="0"/>
                <a:cs typeface="Times New Roman" panose="02020603050405020304" pitchFamily="18" charset="0"/>
              </a:rPr>
              <a:t>解读 </a:t>
            </a:r>
            <a:endParaRPr lang="en-US" altLang="zh-CN" sz="1600" dirty="0" smtClean="0">
              <a:latin typeface="Times New Roman" panose="02020603050405020304" pitchFamily="18" charset="0"/>
              <a:cs typeface="Times New Roman" panose="02020603050405020304" pitchFamily="18" charset="0"/>
            </a:endParaRPr>
          </a:p>
          <a:p>
            <a:pPr marL="971550" lvl="1">
              <a:buFont typeface="Wingdings" panose="05000000000000000000" pitchFamily="2" charset="2"/>
              <a:buChar char="l"/>
            </a:pPr>
            <a:r>
              <a:rPr lang="en-US" altLang="zh-CN" sz="1600" b="1" u="sng" dirty="0" smtClean="0">
                <a:solidFill>
                  <a:srgbClr val="030DCD"/>
                </a:solidFill>
                <a:latin typeface="Times New Roman" panose="02020603050405020304" pitchFamily="18" charset="0"/>
                <a:cs typeface="Times New Roman" panose="02020603050405020304" pitchFamily="18" charset="0"/>
              </a:rPr>
              <a:t>p</a:t>
            </a:r>
            <a:r>
              <a:rPr lang="zh-CN" altLang="en-US" sz="1600" b="1" u="sng" dirty="0">
                <a:solidFill>
                  <a:srgbClr val="030DCD"/>
                </a:solidFill>
                <a:latin typeface="Times New Roman" panose="02020603050405020304" pitchFamily="18" charset="0"/>
                <a:cs typeface="Times New Roman" panose="02020603050405020304" pitchFamily="18" charset="0"/>
              </a:rPr>
              <a:t>是一个整型</a:t>
            </a:r>
            <a:r>
              <a:rPr lang="zh-CN" altLang="en-US" sz="1600" b="1" u="sng" dirty="0" smtClean="0">
                <a:solidFill>
                  <a:srgbClr val="030DCD"/>
                </a:solidFill>
                <a:latin typeface="Times New Roman" panose="02020603050405020304" pitchFamily="18" charset="0"/>
                <a:cs typeface="Times New Roman" panose="02020603050405020304" pitchFamily="18" charset="0"/>
              </a:rPr>
              <a:t>指针变量</a:t>
            </a:r>
            <a:r>
              <a:rPr lang="zh-CN" altLang="en-US" sz="1600" u="sng" dirty="0" smtClean="0">
                <a:latin typeface="Times New Roman" panose="02020603050405020304" pitchFamily="18" charset="0"/>
                <a:cs typeface="Times New Roman" panose="02020603050405020304" pitchFamily="18" charset="0"/>
              </a:rPr>
              <a:t>，</a:t>
            </a:r>
            <a:r>
              <a:rPr lang="zh-CN" altLang="en-US" sz="1600" b="1" u="sng" dirty="0" smtClean="0">
                <a:solidFill>
                  <a:srgbClr val="7030A0"/>
                </a:solidFill>
                <a:latin typeface="Times New Roman" panose="02020603050405020304" pitchFamily="18" charset="0"/>
                <a:cs typeface="Times New Roman" panose="02020603050405020304" pitchFamily="18" charset="0"/>
              </a:rPr>
              <a:t>指向</a:t>
            </a:r>
            <a:r>
              <a:rPr lang="zh-CN" altLang="en-US" sz="1600" b="1" u="sng" dirty="0">
                <a:solidFill>
                  <a:srgbClr val="7030A0"/>
                </a:solidFill>
                <a:latin typeface="Times New Roman" panose="02020603050405020304" pitchFamily="18" charset="0"/>
                <a:cs typeface="Times New Roman" panose="02020603050405020304" pitchFamily="18" charset="0"/>
              </a:rPr>
              <a:t>一个整型</a:t>
            </a:r>
            <a:r>
              <a:rPr lang="zh-CN" altLang="en-US" sz="1600" b="1" u="sng" dirty="0" smtClean="0">
                <a:solidFill>
                  <a:srgbClr val="7030A0"/>
                </a:solidFill>
                <a:latin typeface="Times New Roman" panose="02020603050405020304" pitchFamily="18" charset="0"/>
                <a:cs typeface="Times New Roman" panose="02020603050405020304" pitchFamily="18" charset="0"/>
              </a:rPr>
              <a:t>常量（*</a:t>
            </a:r>
            <a:r>
              <a:rPr lang="en-US" altLang="zh-CN" sz="1600" b="1" u="sng" dirty="0" smtClean="0">
                <a:solidFill>
                  <a:srgbClr val="7030A0"/>
                </a:solidFill>
                <a:latin typeface="Times New Roman" panose="02020603050405020304" pitchFamily="18" charset="0"/>
                <a:cs typeface="Times New Roman" panose="02020603050405020304" pitchFamily="18" charset="0"/>
              </a:rPr>
              <a:t>p</a:t>
            </a:r>
            <a:r>
              <a:rPr lang="zh-CN" altLang="en-US" sz="1600" b="1" u="sng" dirty="0" smtClean="0">
                <a:solidFill>
                  <a:srgbClr val="7030A0"/>
                </a:solidFill>
                <a:latin typeface="Times New Roman" panose="02020603050405020304" pitchFamily="18" charset="0"/>
                <a:cs typeface="Times New Roman" panose="02020603050405020304" pitchFamily="18" charset="0"/>
              </a:rPr>
              <a:t>的内容是整型常量）</a:t>
            </a:r>
            <a:r>
              <a:rPr lang="zh-CN" altLang="en-US"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pPr marL="971550" lvl="1">
              <a:buFont typeface="Wingdings" panose="05000000000000000000" pitchFamily="2" charset="2"/>
              <a:buChar char="l"/>
            </a:pPr>
            <a:r>
              <a:rPr lang="zh-CN" altLang="en-US" sz="1600" b="1" dirty="0" smtClean="0">
                <a:solidFill>
                  <a:srgbClr val="C00000"/>
                </a:solidFill>
                <a:latin typeface="Times New Roman" panose="02020603050405020304" pitchFamily="18" charset="0"/>
                <a:cs typeface="Times New Roman" panose="02020603050405020304" pitchFamily="18" charset="0"/>
              </a:rPr>
              <a:t>即 </a:t>
            </a:r>
            <a:r>
              <a:rPr lang="en-US" altLang="zh-CN" sz="1600" b="1" dirty="0" smtClean="0">
                <a:solidFill>
                  <a:srgbClr val="C00000"/>
                </a:solidFill>
                <a:latin typeface="Times New Roman" panose="02020603050405020304" pitchFamily="18" charset="0"/>
                <a:cs typeface="Times New Roman" panose="02020603050405020304" pitchFamily="18" charset="0"/>
              </a:rPr>
              <a:t>p</a:t>
            </a:r>
            <a:r>
              <a:rPr lang="zh-CN" altLang="en-US" sz="1600" b="1" dirty="0" smtClean="0">
                <a:solidFill>
                  <a:srgbClr val="C00000"/>
                </a:solidFill>
                <a:latin typeface="Times New Roman" panose="02020603050405020304" pitchFamily="18" charset="0"/>
                <a:cs typeface="Times New Roman" panose="02020603050405020304" pitchFamily="18" charset="0"/>
              </a:rPr>
              <a:t>指向的值是一个常量</a:t>
            </a:r>
            <a:endParaRPr lang="en-US" altLang="zh-CN" sz="1600" b="1" dirty="0">
              <a:solidFill>
                <a:srgbClr val="C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n"/>
            </a:pPr>
            <a:r>
              <a:rPr lang="en-US" altLang="zh-CN" sz="1800" dirty="0">
                <a:solidFill>
                  <a:srgbClr val="C00000"/>
                </a:solidFill>
                <a:latin typeface="Times New Roman" panose="02020603050405020304" pitchFamily="18" charset="0"/>
                <a:cs typeface="Times New Roman" panose="02020603050405020304" pitchFamily="18" charset="0"/>
              </a:rPr>
              <a:t>p</a:t>
            </a:r>
            <a:r>
              <a:rPr lang="zh-CN" altLang="en-US" sz="1800" dirty="0">
                <a:solidFill>
                  <a:srgbClr val="C00000"/>
                </a:solidFill>
                <a:latin typeface="Times New Roman" panose="02020603050405020304" pitchFamily="18" charset="0"/>
                <a:cs typeface="Times New Roman" panose="02020603050405020304" pitchFamily="18" charset="0"/>
              </a:rPr>
              <a:t>可以被多次赋值</a:t>
            </a:r>
            <a:r>
              <a:rPr lang="zh-CN" altLang="en-US" sz="1800" dirty="0">
                <a:latin typeface="Times New Roman" panose="02020603050405020304" pitchFamily="18" charset="0"/>
                <a:cs typeface="Times New Roman" panose="02020603050405020304" pitchFamily="18" charset="0"/>
              </a:rPr>
              <a:t>，指向不同的位置，</a:t>
            </a:r>
            <a:r>
              <a:rPr lang="zh-CN" altLang="en-US" sz="1800" dirty="0" smtClean="0">
                <a:latin typeface="Times New Roman" panose="02020603050405020304" pitchFamily="18" charset="0"/>
                <a:cs typeface="Times New Roman" panose="02020603050405020304" pitchFamily="18" charset="0"/>
              </a:rPr>
              <a:t>如</a:t>
            </a:r>
            <a:endParaRPr lang="en-US" altLang="zh-CN" sz="1800" dirty="0" smtClean="0">
              <a:latin typeface="Times New Roman" panose="02020603050405020304" pitchFamily="18" charset="0"/>
              <a:cs typeface="Times New Roman" panose="02020603050405020304" pitchFamily="18" charset="0"/>
            </a:endParaRPr>
          </a:p>
          <a:p>
            <a:pPr marL="971550" lvl="1">
              <a:buFont typeface="Wingdings" panose="05000000000000000000" pitchFamily="2" charset="2"/>
              <a:buChar char="l"/>
            </a:pPr>
            <a:r>
              <a:rPr lang="en-US" altLang="zh-CN" sz="1600" dirty="0" err="1">
                <a:latin typeface="Times New Roman" panose="02020603050405020304" pitchFamily="18" charset="0"/>
                <a:cs typeface="Times New Roman" panose="02020603050405020304" pitchFamily="18" charset="0"/>
              </a:rPr>
              <a:t>int</a:t>
            </a:r>
            <a:r>
              <a:rPr lang="zh-CN" altLang="en-US"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a,b</a:t>
            </a:r>
            <a:r>
              <a:rPr lang="en-US" altLang="zh-CN" sz="1600" dirty="0">
                <a:latin typeface="Times New Roman" panose="02020603050405020304" pitchFamily="18" charset="0"/>
                <a:cs typeface="Times New Roman" panose="02020603050405020304" pitchFamily="18" charset="0"/>
              </a:rPr>
              <a:t>; </a:t>
            </a:r>
          </a:p>
          <a:p>
            <a:pPr marL="971550" lvl="1">
              <a:buFont typeface="Wingdings" panose="05000000000000000000" pitchFamily="2" charset="2"/>
              <a:buChar char="l"/>
            </a:pPr>
            <a:r>
              <a:rPr lang="en-US" altLang="zh-CN" sz="1600" b="1" dirty="0" err="1">
                <a:solidFill>
                  <a:srgbClr val="006600"/>
                </a:solidFill>
                <a:latin typeface="Times New Roman" panose="02020603050405020304" pitchFamily="18" charset="0"/>
                <a:cs typeface="Times New Roman" panose="02020603050405020304" pitchFamily="18" charset="0"/>
              </a:rPr>
              <a:t>const</a:t>
            </a:r>
            <a:r>
              <a:rPr lang="en-US" altLang="zh-CN" sz="1600" b="1" dirty="0">
                <a:solidFill>
                  <a:srgbClr val="006600"/>
                </a:solidFill>
                <a:latin typeface="Times New Roman" panose="02020603050405020304" pitchFamily="18" charset="0"/>
                <a:cs typeface="Times New Roman" panose="02020603050405020304" pitchFamily="18" charset="0"/>
              </a:rPr>
              <a:t> </a:t>
            </a:r>
            <a:r>
              <a:rPr lang="en-US" altLang="zh-CN" sz="1600" b="1" dirty="0" err="1">
                <a:solidFill>
                  <a:srgbClr val="006600"/>
                </a:solidFill>
                <a:latin typeface="Times New Roman" panose="02020603050405020304" pitchFamily="18" charset="0"/>
                <a:cs typeface="Times New Roman" panose="02020603050405020304" pitchFamily="18" charset="0"/>
              </a:rPr>
              <a:t>int</a:t>
            </a:r>
            <a:r>
              <a:rPr lang="en-US" altLang="zh-CN" sz="1600" b="1" dirty="0">
                <a:solidFill>
                  <a:srgbClr val="006600"/>
                </a:solidFill>
                <a:latin typeface="Times New Roman" panose="02020603050405020304" pitchFamily="18" charset="0"/>
                <a:cs typeface="Times New Roman" panose="02020603050405020304" pitchFamily="18" charset="0"/>
              </a:rPr>
              <a:t> *</a:t>
            </a:r>
            <a:r>
              <a:rPr lang="en-US" altLang="zh-CN" sz="1600" b="1" dirty="0" smtClean="0">
                <a:solidFill>
                  <a:srgbClr val="006600"/>
                </a:solidFill>
                <a:latin typeface="Times New Roman" panose="02020603050405020304" pitchFamily="18" charset="0"/>
                <a:cs typeface="Times New Roman" panose="02020603050405020304" pitchFamily="18" charset="0"/>
              </a:rPr>
              <a:t>p;</a:t>
            </a:r>
          </a:p>
          <a:p>
            <a:pPr marL="971550" lvl="1">
              <a:buFont typeface="Wingdings" panose="05000000000000000000" pitchFamily="2" charset="2"/>
              <a:buChar char="l"/>
            </a:pPr>
            <a:r>
              <a:rPr lang="en-US" altLang="zh-CN" sz="1800" dirty="0" smtClean="0">
                <a:latin typeface="Times New Roman" panose="02020603050405020304" pitchFamily="18" charset="0"/>
                <a:cs typeface="Times New Roman" panose="02020603050405020304" pitchFamily="18" charset="0"/>
              </a:rPr>
              <a:t>p=&amp;a, p=&amp;b</a:t>
            </a:r>
            <a:r>
              <a:rPr lang="zh-CN" altLang="en-US" sz="1800" dirty="0" smtClean="0">
                <a:latin typeface="Times New Roman" panose="02020603050405020304" pitchFamily="18" charset="0"/>
                <a:cs typeface="Times New Roman" panose="02020603050405020304" pitchFamily="18" charset="0"/>
              </a:rPr>
              <a:t>是</a:t>
            </a:r>
            <a:r>
              <a:rPr lang="zh-CN" altLang="en-US" sz="1800" dirty="0">
                <a:latin typeface="Times New Roman" panose="02020603050405020304" pitchFamily="18" charset="0"/>
                <a:cs typeface="Times New Roman" panose="02020603050405020304" pitchFamily="18" charset="0"/>
              </a:rPr>
              <a:t>允许的；</a:t>
            </a:r>
            <a:endParaRPr lang="en-US" altLang="zh-C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n"/>
            </a:pPr>
            <a:r>
              <a:rPr lang="zh-CN" altLang="en-US" sz="1800" b="1" i="1" u="sng" dirty="0" smtClean="0"/>
              <a:t>指针变量</a:t>
            </a:r>
            <a:r>
              <a:rPr lang="en-US" altLang="zh-CN" sz="1800" b="1" i="1" u="sng" dirty="0" smtClean="0"/>
              <a:t>P</a:t>
            </a:r>
            <a:r>
              <a:rPr lang="zh-CN" altLang="en-US" sz="1800" b="1" i="1" u="sng" dirty="0" smtClean="0"/>
              <a:t>一旦指向了一个整型变量，不可以通过*</a:t>
            </a:r>
            <a:r>
              <a:rPr lang="en-US" altLang="zh-CN" sz="1800" b="1" i="1" u="sng" dirty="0" smtClean="0"/>
              <a:t>p</a:t>
            </a:r>
            <a:r>
              <a:rPr lang="zh-CN" altLang="en-US" sz="1800" b="1" i="1" u="sng" dirty="0" smtClean="0"/>
              <a:t>修改其指向的内容</a:t>
            </a:r>
            <a:endParaRPr lang="en-US" altLang="zh-CN" sz="1800" b="1" i="1" u="sng" dirty="0" smtClean="0"/>
          </a:p>
          <a:p>
            <a:pPr marL="971550" lvl="1">
              <a:buFont typeface="Wingdings" panose="05000000000000000000" pitchFamily="2" charset="2"/>
              <a:buChar char="l"/>
            </a:pPr>
            <a:r>
              <a:rPr lang="zh-CN" altLang="en-US" sz="1600" dirty="0" smtClean="0">
                <a:latin typeface="Times New Roman" panose="02020603050405020304" pitchFamily="18" charset="0"/>
                <a:cs typeface="Times New Roman" panose="02020603050405020304" pitchFamily="18" charset="0"/>
              </a:rPr>
              <a:t>如 </a:t>
            </a:r>
            <a:r>
              <a:rPr lang="en-US" altLang="zh-CN" sz="1600" dirty="0" smtClean="0">
                <a:latin typeface="Times New Roman" panose="02020603050405020304" pitchFamily="18" charset="0"/>
                <a:cs typeface="Times New Roman" panose="02020603050405020304" pitchFamily="18" charset="0"/>
              </a:rPr>
              <a:t>p=&amp;a, </a:t>
            </a:r>
            <a:r>
              <a:rPr lang="zh-CN" altLang="en-US" sz="1600" dirty="0" smtClean="0">
                <a:latin typeface="Times New Roman" panose="02020603050405020304" pitchFamily="18" charset="0"/>
                <a:cs typeface="Times New Roman" panose="02020603050405020304" pitchFamily="18" charset="0"/>
              </a:rPr>
              <a:t>再执行</a:t>
            </a:r>
            <a:r>
              <a:rPr lang="en-US" altLang="zh-CN" sz="1600" dirty="0" smtClean="0">
                <a:latin typeface="Times New Roman" panose="02020603050405020304" pitchFamily="18" charset="0"/>
                <a:cs typeface="Times New Roman" panose="02020603050405020304" pitchFamily="18" charset="0"/>
              </a:rPr>
              <a:t>*p=3</a:t>
            </a:r>
            <a:r>
              <a:rPr lang="zh-CN" altLang="en-US" sz="1600" dirty="0">
                <a:latin typeface="Times New Roman" panose="02020603050405020304" pitchFamily="18" charset="0"/>
                <a:cs typeface="Times New Roman" panose="02020603050405020304" pitchFamily="18" charset="0"/>
              </a:rPr>
              <a:t>是</a:t>
            </a:r>
            <a:r>
              <a:rPr lang="zh-CN" altLang="en-US" sz="1600" dirty="0">
                <a:solidFill>
                  <a:srgbClr val="C00000"/>
                </a:solidFill>
                <a:latin typeface="Times New Roman" panose="02020603050405020304" pitchFamily="18" charset="0"/>
                <a:cs typeface="Times New Roman" panose="02020603050405020304" pitchFamily="18" charset="0"/>
              </a:rPr>
              <a:t>不允许</a:t>
            </a:r>
            <a:r>
              <a:rPr lang="zh-CN" altLang="en-US" sz="1600" dirty="0" smtClean="0">
                <a:latin typeface="Times New Roman" panose="02020603050405020304" pitchFamily="18" charset="0"/>
                <a:cs typeface="Times New Roman" panose="02020603050405020304" pitchFamily="18" charset="0"/>
              </a:rPr>
              <a:t>的</a:t>
            </a:r>
            <a:endParaRPr lang="en-US" altLang="zh-CN" sz="1600" dirty="0" smtClean="0">
              <a:latin typeface="Times New Roman" panose="02020603050405020304" pitchFamily="18" charset="0"/>
              <a:cs typeface="Times New Roman" panose="02020603050405020304" pitchFamily="18" charset="0"/>
            </a:endParaRPr>
          </a:p>
          <a:p>
            <a:pPr marL="971550" lvl="1">
              <a:buFont typeface="Wingdings" panose="05000000000000000000" pitchFamily="2" charset="2"/>
              <a:buChar char="l"/>
            </a:pPr>
            <a:r>
              <a:rPr lang="zh-CN" altLang="en-US" sz="1600" dirty="0" smtClean="0"/>
              <a:t>但</a:t>
            </a:r>
            <a:r>
              <a:rPr lang="en-US" altLang="zh-CN" sz="1600" dirty="0" smtClean="0"/>
              <a:t>a=3</a:t>
            </a:r>
            <a:r>
              <a:rPr lang="zh-CN" altLang="en-US" sz="1600" dirty="0" smtClean="0"/>
              <a:t>是允许的</a:t>
            </a:r>
            <a:endParaRPr lang="en-US" altLang="zh-CN" sz="1600" dirty="0"/>
          </a:p>
        </p:txBody>
      </p:sp>
    </p:spTree>
    <p:extLst>
      <p:ext uri="{BB962C8B-B14F-4D97-AF65-F5344CB8AC3E}">
        <p14:creationId xmlns:p14="http://schemas.microsoft.com/office/powerpoint/2010/main" val="34882890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t>关于</a:t>
            </a:r>
            <a:r>
              <a:rPr lang="zh-CN" altLang="en-US" dirty="0" smtClean="0">
                <a:solidFill>
                  <a:srgbClr val="C00000"/>
                </a:solidFill>
              </a:rPr>
              <a:t>指针常量 </a:t>
            </a:r>
            <a:r>
              <a:rPr lang="en-US" altLang="zh-CN" b="1" dirty="0" err="1" smtClean="0">
                <a:solidFill>
                  <a:srgbClr val="006600"/>
                </a:solidFill>
                <a:latin typeface="Times New Roman" panose="02020603050405020304" pitchFamily="18" charset="0"/>
                <a:cs typeface="Times New Roman" panose="02020603050405020304" pitchFamily="18" charset="0"/>
              </a:rPr>
              <a:t>const</a:t>
            </a:r>
            <a:r>
              <a:rPr lang="en-US" altLang="zh-CN" b="1" dirty="0" smtClean="0">
                <a:solidFill>
                  <a:srgbClr val="006600"/>
                </a:solidFill>
                <a:latin typeface="Times New Roman" panose="02020603050405020304" pitchFamily="18" charset="0"/>
                <a:cs typeface="Times New Roman" panose="02020603050405020304" pitchFamily="18" charset="0"/>
              </a:rPr>
              <a:t> </a:t>
            </a:r>
            <a:r>
              <a:rPr lang="en-US" altLang="zh-CN" b="1" dirty="0" err="1">
                <a:solidFill>
                  <a:srgbClr val="006600"/>
                </a:solidFill>
                <a:latin typeface="Times New Roman" panose="02020603050405020304" pitchFamily="18" charset="0"/>
                <a:cs typeface="Times New Roman" panose="02020603050405020304" pitchFamily="18" charset="0"/>
              </a:rPr>
              <a:t>int</a:t>
            </a:r>
            <a:r>
              <a:rPr lang="en-US" altLang="zh-CN" b="1" dirty="0">
                <a:solidFill>
                  <a:srgbClr val="006600"/>
                </a:solidFill>
                <a:latin typeface="Times New Roman" panose="02020603050405020304" pitchFamily="18" charset="0"/>
                <a:cs typeface="Times New Roman" panose="02020603050405020304" pitchFamily="18" charset="0"/>
              </a:rPr>
              <a:t> *</a:t>
            </a:r>
            <a:r>
              <a:rPr lang="en-US" altLang="zh-CN" b="1" dirty="0" smtClean="0">
                <a:solidFill>
                  <a:srgbClr val="006600"/>
                </a:solidFill>
                <a:latin typeface="Times New Roman" panose="02020603050405020304" pitchFamily="18" charset="0"/>
                <a:cs typeface="Times New Roman" panose="02020603050405020304" pitchFamily="18" charset="0"/>
              </a:rPr>
              <a:t>p</a:t>
            </a:r>
            <a:r>
              <a:rPr lang="zh-CN" altLang="en-US" dirty="0" smtClean="0">
                <a:solidFill>
                  <a:srgbClr val="7030A0"/>
                </a:solidFill>
              </a:rPr>
              <a:t> </a:t>
            </a:r>
            <a:endParaRPr lang="zh-CN" altLang="en-US" dirty="0">
              <a:solidFill>
                <a:srgbClr val="7030A0"/>
              </a:solidFill>
            </a:endParaRP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8338655" cy="1195826"/>
          </a:xfrm>
        </p:spPr>
        <p:txBody>
          <a:bodyPr/>
          <a:lstStyle/>
          <a:p>
            <a:pPr marL="342900" indent="-342900">
              <a:buFont typeface="Wingdings" panose="05000000000000000000" pitchFamily="2" charset="2"/>
              <a:buChar char="n"/>
            </a:pPr>
            <a:r>
              <a:rPr lang="zh-CN" altLang="en-US" sz="2000" b="1" dirty="0">
                <a:solidFill>
                  <a:srgbClr val="030DCD"/>
                </a:solidFill>
              </a:rPr>
              <a:t>指针常量：指针指向的内容是一个常量；</a:t>
            </a:r>
            <a:endParaRPr lang="en-US" altLang="zh-CN" sz="2000" b="1" dirty="0">
              <a:solidFill>
                <a:srgbClr val="030DCD"/>
              </a:solidFill>
            </a:endParaRPr>
          </a:p>
          <a:p>
            <a:pPr marL="971550" lvl="1">
              <a:buFont typeface="Wingdings" panose="05000000000000000000" pitchFamily="2" charset="2"/>
              <a:buChar char="l"/>
            </a:pPr>
            <a:r>
              <a:rPr lang="en-US" altLang="zh-CN" sz="1800" dirty="0" err="1">
                <a:latin typeface="Times New Roman" panose="02020603050405020304" pitchFamily="18" charset="0"/>
                <a:cs typeface="Times New Roman" panose="02020603050405020304" pitchFamily="18" charset="0"/>
              </a:rPr>
              <a:t>int</a:t>
            </a:r>
            <a:r>
              <a:rPr lang="zh-CN" altLang="en-US" sz="1800" dirty="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a=12,b=15; </a:t>
            </a:r>
          </a:p>
          <a:p>
            <a:pPr marL="971550" lvl="1">
              <a:buFont typeface="Wingdings" panose="05000000000000000000" pitchFamily="2" charset="2"/>
              <a:buChar char="l"/>
            </a:pPr>
            <a:r>
              <a:rPr lang="en-US" altLang="zh-CN" sz="1800" b="1" dirty="0" err="1" smtClean="0">
                <a:solidFill>
                  <a:srgbClr val="006600"/>
                </a:solidFill>
                <a:latin typeface="Times New Roman" panose="02020603050405020304" pitchFamily="18" charset="0"/>
                <a:cs typeface="Times New Roman" panose="02020603050405020304" pitchFamily="18" charset="0"/>
              </a:rPr>
              <a:t>const</a:t>
            </a:r>
            <a:r>
              <a:rPr lang="en-US" altLang="zh-CN" sz="1800" b="1" dirty="0" smtClean="0">
                <a:solidFill>
                  <a:srgbClr val="006600"/>
                </a:solidFill>
                <a:latin typeface="Times New Roman" panose="02020603050405020304" pitchFamily="18" charset="0"/>
                <a:cs typeface="Times New Roman" panose="02020603050405020304" pitchFamily="18" charset="0"/>
              </a:rPr>
              <a:t> </a:t>
            </a:r>
            <a:r>
              <a:rPr lang="en-US" altLang="zh-CN" sz="1800" b="1" dirty="0" err="1">
                <a:solidFill>
                  <a:srgbClr val="006600"/>
                </a:solidFill>
                <a:latin typeface="Times New Roman" panose="02020603050405020304" pitchFamily="18" charset="0"/>
                <a:cs typeface="Times New Roman" panose="02020603050405020304" pitchFamily="18" charset="0"/>
              </a:rPr>
              <a:t>int</a:t>
            </a:r>
            <a:r>
              <a:rPr lang="en-US" altLang="zh-CN" sz="1800" b="1" dirty="0">
                <a:solidFill>
                  <a:srgbClr val="006600"/>
                </a:solidFill>
                <a:latin typeface="Times New Roman" panose="02020603050405020304" pitchFamily="18" charset="0"/>
                <a:cs typeface="Times New Roman" panose="02020603050405020304" pitchFamily="18" charset="0"/>
              </a:rPr>
              <a:t> *p=&amp;a;   </a:t>
            </a:r>
            <a:r>
              <a:rPr lang="en-US" altLang="zh-CN" sz="1800" dirty="0">
                <a:latin typeface="Times New Roman" panose="02020603050405020304" pitchFamily="18" charset="0"/>
                <a:cs typeface="Times New Roman" panose="02020603050405020304" pitchFamily="18" charset="0"/>
              </a:rPr>
              <a:t>//</a:t>
            </a:r>
            <a:r>
              <a:rPr lang="en-US" altLang="zh-CN" sz="1800" b="1" dirty="0">
                <a:solidFill>
                  <a:srgbClr val="006600"/>
                </a:solidFill>
                <a:latin typeface="Times New Roman" panose="02020603050405020304" pitchFamily="18" charset="0"/>
                <a:cs typeface="Times New Roman" panose="02020603050405020304" pitchFamily="18" charset="0"/>
              </a:rPr>
              <a:t> </a:t>
            </a:r>
            <a:r>
              <a:rPr lang="zh-CN" altLang="en-US" sz="1800" b="1" dirty="0">
                <a:solidFill>
                  <a:srgbClr val="006600"/>
                </a:solidFill>
                <a:latin typeface="Times New Roman" panose="02020603050405020304" pitchFamily="18" charset="0"/>
                <a:cs typeface="Times New Roman" panose="02020603050405020304" pitchFamily="18" charset="0"/>
              </a:rPr>
              <a:t>或 </a:t>
            </a:r>
            <a:r>
              <a:rPr lang="en-US" altLang="zh-CN" sz="1800" b="1" dirty="0" err="1">
                <a:solidFill>
                  <a:srgbClr val="006600"/>
                </a:solidFill>
                <a:latin typeface="Times New Roman" panose="02020603050405020304" pitchFamily="18" charset="0"/>
                <a:cs typeface="Times New Roman" panose="02020603050405020304" pitchFamily="18" charset="0"/>
              </a:rPr>
              <a:t>int</a:t>
            </a:r>
            <a:r>
              <a:rPr lang="en-US" altLang="zh-CN" sz="1800" b="1" dirty="0">
                <a:solidFill>
                  <a:srgbClr val="006600"/>
                </a:solidFill>
                <a:latin typeface="Times New Roman" panose="02020603050405020304" pitchFamily="18" charset="0"/>
                <a:cs typeface="Times New Roman" panose="02020603050405020304" pitchFamily="18" charset="0"/>
              </a:rPr>
              <a:t> </a:t>
            </a:r>
            <a:r>
              <a:rPr lang="en-US" altLang="zh-CN" sz="1800" b="1" dirty="0" err="1">
                <a:solidFill>
                  <a:srgbClr val="006600"/>
                </a:solidFill>
                <a:latin typeface="Times New Roman" panose="02020603050405020304" pitchFamily="18" charset="0"/>
                <a:cs typeface="Times New Roman" panose="02020603050405020304" pitchFamily="18" charset="0"/>
              </a:rPr>
              <a:t>const</a:t>
            </a:r>
            <a:r>
              <a:rPr lang="en-US" altLang="zh-CN" sz="1800" b="1" dirty="0">
                <a:solidFill>
                  <a:srgbClr val="006600"/>
                </a:solidFill>
                <a:latin typeface="Times New Roman" panose="02020603050405020304" pitchFamily="18" charset="0"/>
                <a:cs typeface="Times New Roman" panose="02020603050405020304" pitchFamily="18" charset="0"/>
              </a:rPr>
              <a:t> *p</a:t>
            </a:r>
            <a:r>
              <a:rPr lang="zh-CN" altLang="en-US" sz="1800" b="1" dirty="0">
                <a:solidFill>
                  <a:srgbClr val="006600"/>
                </a:solidFill>
                <a:latin typeface="Times New Roman" panose="02020603050405020304" pitchFamily="18" charset="0"/>
                <a:cs typeface="Times New Roman" panose="02020603050405020304" pitchFamily="18" charset="0"/>
              </a:rPr>
              <a:t>；</a:t>
            </a:r>
            <a:r>
              <a:rPr lang="en-US" altLang="zh-CN" sz="1800" b="1" dirty="0">
                <a:solidFill>
                  <a:srgbClr val="006600"/>
                </a:solidFill>
                <a:latin typeface="Times New Roman" panose="02020603050405020304" pitchFamily="18" charset="0"/>
                <a:cs typeface="Times New Roman" panose="02020603050405020304" pitchFamily="18" charset="0"/>
              </a:rPr>
              <a:t>p=&amp;a;</a:t>
            </a:r>
            <a:r>
              <a:rPr lang="en-US" altLang="zh-CN" sz="1800" dirty="0">
                <a:latin typeface="Times New Roman" panose="02020603050405020304" pitchFamily="18" charset="0"/>
                <a:cs typeface="Times New Roman" panose="02020603050405020304" pitchFamily="18" charset="0"/>
              </a:rPr>
              <a:t> </a:t>
            </a:r>
            <a:endParaRPr lang="en-US" altLang="zh-CN" sz="1800" dirty="0" smtClean="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530927211"/>
              </p:ext>
            </p:extLst>
          </p:nvPr>
        </p:nvGraphicFramePr>
        <p:xfrm>
          <a:off x="4934712" y="2243778"/>
          <a:ext cx="2901696" cy="3718560"/>
        </p:xfrm>
        <a:graphic>
          <a:graphicData uri="http://schemas.openxmlformats.org/drawingml/2006/table">
            <a:tbl>
              <a:tblPr firstRow="1" bandRow="1">
                <a:tableStyleId>{5C22544A-7EE6-4342-B048-85BDC9FD1C3A}</a:tableStyleId>
              </a:tblPr>
              <a:tblGrid>
                <a:gridCol w="967232">
                  <a:extLst>
                    <a:ext uri="{9D8B030D-6E8A-4147-A177-3AD203B41FA5}">
                      <a16:colId xmlns:a16="http://schemas.microsoft.com/office/drawing/2014/main" val="917558813"/>
                    </a:ext>
                  </a:extLst>
                </a:gridCol>
                <a:gridCol w="967232">
                  <a:extLst>
                    <a:ext uri="{9D8B030D-6E8A-4147-A177-3AD203B41FA5}">
                      <a16:colId xmlns:a16="http://schemas.microsoft.com/office/drawing/2014/main" val="3990365962"/>
                    </a:ext>
                  </a:extLst>
                </a:gridCol>
                <a:gridCol w="967232">
                  <a:extLst>
                    <a:ext uri="{9D8B030D-6E8A-4147-A177-3AD203B41FA5}">
                      <a16:colId xmlns:a16="http://schemas.microsoft.com/office/drawing/2014/main" val="1410880828"/>
                    </a:ext>
                  </a:extLst>
                </a:gridCol>
              </a:tblGrid>
              <a:tr h="371856">
                <a:tc>
                  <a:txBody>
                    <a:bodyPr/>
                    <a:lstStyle/>
                    <a:p>
                      <a:pPr algn="r"/>
                      <a:r>
                        <a:rPr lang="zh-CN" altLang="en-US" sz="1600" dirty="0" smtClean="0">
                          <a:solidFill>
                            <a:srgbClr val="080808"/>
                          </a:solidFill>
                        </a:rPr>
                        <a:t>地址</a:t>
                      </a:r>
                      <a:endParaRPr lang="zh-CN" altLang="en-US" sz="1600" dirty="0">
                        <a:solidFill>
                          <a:srgbClr val="080808"/>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dirty="0" smtClean="0">
                          <a:solidFill>
                            <a:srgbClr val="080808"/>
                          </a:solidFill>
                        </a:rPr>
                        <a:t>内容</a:t>
                      </a:r>
                      <a:endParaRPr lang="zh-CN" altLang="en-US" sz="1600" dirty="0">
                        <a:solidFill>
                          <a:srgbClr val="08080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smtClean="0">
                          <a:solidFill>
                            <a:srgbClr val="080808"/>
                          </a:solidFill>
                        </a:rPr>
                        <a:t>变量名</a:t>
                      </a:r>
                      <a:endParaRPr lang="zh-CN" altLang="en-US" sz="1600" dirty="0">
                        <a:solidFill>
                          <a:srgbClr val="080808"/>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322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t>… …</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1740775"/>
                  </a:ext>
                </a:extLst>
              </a:tr>
              <a:tr h="371856">
                <a:tc>
                  <a:txBody>
                    <a:bodyPr/>
                    <a:lstStyle/>
                    <a:p>
                      <a:pPr algn="r"/>
                      <a:r>
                        <a:rPr lang="en-US" altLang="zh-CN" dirty="0" smtClean="0"/>
                        <a:t>2000</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solidFill>
                            <a:srgbClr val="7030A0"/>
                          </a:solidFill>
                        </a:rPr>
                        <a:t>12</a:t>
                      </a:r>
                      <a:endParaRPr lang="zh-CN" altLang="en-US" sz="1800" dirty="0">
                        <a:solidFill>
                          <a:srgbClr val="7030A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a</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9808624"/>
                  </a:ext>
                </a:extLst>
              </a:tr>
              <a:tr h="371856">
                <a:tc>
                  <a:txBody>
                    <a:bodyPr/>
                    <a:lstStyle/>
                    <a:p>
                      <a:pPr algn="r"/>
                      <a:r>
                        <a:rPr lang="en-US" altLang="zh-CN" dirty="0" smtClean="0"/>
                        <a:t>2004</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solidFill>
                            <a:srgbClr val="7030A0"/>
                          </a:solidFill>
                        </a:rPr>
                        <a:t>15</a:t>
                      </a:r>
                      <a:endParaRPr lang="zh-CN" altLang="en-US" sz="1800" dirty="0">
                        <a:solidFill>
                          <a:srgbClr val="7030A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b</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234072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516319"/>
                  </a:ext>
                </a:extLst>
              </a:tr>
              <a:tr h="371856">
                <a:tc>
                  <a:txBody>
                    <a:bodyPr/>
                    <a:lstStyle/>
                    <a:p>
                      <a:pPr algn="r"/>
                      <a:r>
                        <a:rPr lang="en-US" altLang="zh-CN" dirty="0" smtClean="0"/>
                        <a:t>4000</a:t>
                      </a: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smtClean="0">
                          <a:solidFill>
                            <a:srgbClr val="080808"/>
                          </a:solidFill>
                        </a:rPr>
                        <a:t>2000</a:t>
                      </a:r>
                      <a:endParaRPr lang="zh-CN" altLang="en-US" sz="1800" dirty="0">
                        <a:solidFill>
                          <a:srgbClr val="08080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smtClean="0"/>
                        <a:t>p</a:t>
                      </a:r>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5745693"/>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55580"/>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361018"/>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7635303"/>
                  </a:ext>
                </a:extLst>
              </a:tr>
              <a:tr h="371856">
                <a:tc>
                  <a:txBody>
                    <a:bodyPr/>
                    <a:lstStyle/>
                    <a:p>
                      <a:pPr algn="r"/>
                      <a:endParaRPr lang="zh-CN"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53812"/>
                  </a:ext>
                </a:extLst>
              </a:tr>
            </a:tbl>
          </a:graphicData>
        </a:graphic>
      </p:graphicFrame>
      <p:sp>
        <p:nvSpPr>
          <p:cNvPr id="5" name="环形箭头 4"/>
          <p:cNvSpPr/>
          <p:nvPr/>
        </p:nvSpPr>
        <p:spPr bwMode="auto">
          <a:xfrm rot="16200000" flipV="1">
            <a:off x="6640701" y="3598812"/>
            <a:ext cx="908319" cy="623558"/>
          </a:xfrm>
          <a:prstGeom prst="circular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内容占位符 2"/>
          <p:cNvSpPr txBox="1">
            <a:spLocks/>
          </p:cNvSpPr>
          <p:nvPr/>
        </p:nvSpPr>
        <p:spPr bwMode="auto">
          <a:xfrm>
            <a:off x="565023" y="2267194"/>
            <a:ext cx="4369689" cy="338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1200"/>
              </a:spcBef>
              <a:buFont typeface="Wingdings" panose="05000000000000000000" pitchFamily="2" charset="2"/>
              <a:buChar char="n"/>
            </a:pPr>
            <a:r>
              <a:rPr lang="zh-CN" altLang="en-US" sz="2000" dirty="0" smtClean="0">
                <a:solidFill>
                  <a:srgbClr val="080808"/>
                </a:solidFill>
              </a:rPr>
              <a:t>指针</a:t>
            </a:r>
            <a:r>
              <a:rPr lang="en-US" altLang="zh-CN" sz="2000" dirty="0" smtClean="0">
                <a:solidFill>
                  <a:srgbClr val="080808"/>
                </a:solidFill>
              </a:rPr>
              <a:t>p</a:t>
            </a:r>
            <a:r>
              <a:rPr lang="zh-CN" altLang="en-US" sz="2000" dirty="0" smtClean="0">
                <a:solidFill>
                  <a:srgbClr val="080808"/>
                </a:solidFill>
              </a:rPr>
              <a:t>是一个变量</a:t>
            </a:r>
            <a:endParaRPr lang="en-US" altLang="zh-CN" sz="2000" dirty="0" smtClean="0">
              <a:solidFill>
                <a:srgbClr val="080808"/>
              </a:solidFill>
            </a:endParaRPr>
          </a:p>
          <a:p>
            <a:pPr marL="342900" indent="-342900">
              <a:lnSpc>
                <a:spcPct val="100000"/>
              </a:lnSpc>
              <a:spcBef>
                <a:spcPts val="1200"/>
              </a:spcBef>
              <a:buFont typeface="Wingdings" panose="05000000000000000000" pitchFamily="2" charset="2"/>
              <a:buChar char="n"/>
            </a:pPr>
            <a:r>
              <a:rPr lang="zh-CN" altLang="en-US" sz="2000" dirty="0">
                <a:solidFill>
                  <a:srgbClr val="080808"/>
                </a:solidFill>
              </a:rPr>
              <a:t>但</a:t>
            </a:r>
            <a:r>
              <a:rPr lang="en-US" altLang="zh-CN" sz="2000" dirty="0">
                <a:solidFill>
                  <a:srgbClr val="080808"/>
                </a:solidFill>
              </a:rPr>
              <a:t>p</a:t>
            </a:r>
            <a:r>
              <a:rPr lang="zh-CN" altLang="en-US" sz="2000" dirty="0">
                <a:solidFill>
                  <a:srgbClr val="080808"/>
                </a:solidFill>
              </a:rPr>
              <a:t>指向的单元的值</a:t>
            </a:r>
            <a:r>
              <a:rPr lang="zh-CN" altLang="en-US" sz="2000" dirty="0">
                <a:solidFill>
                  <a:srgbClr val="C00000"/>
                </a:solidFill>
              </a:rPr>
              <a:t>不能通过</a:t>
            </a:r>
            <a:r>
              <a:rPr lang="en-US" altLang="zh-CN" sz="2000" dirty="0">
                <a:solidFill>
                  <a:srgbClr val="C00000"/>
                </a:solidFill>
              </a:rPr>
              <a:t>p</a:t>
            </a:r>
            <a:r>
              <a:rPr lang="zh-CN" altLang="en-US" sz="2000" dirty="0">
                <a:solidFill>
                  <a:srgbClr val="C00000"/>
                </a:solidFill>
              </a:rPr>
              <a:t>改变，</a:t>
            </a:r>
            <a:r>
              <a:rPr lang="zh-CN" altLang="en-US" sz="2000" dirty="0">
                <a:solidFill>
                  <a:srgbClr val="0000CC"/>
                </a:solidFill>
              </a:rPr>
              <a:t>如 </a:t>
            </a:r>
            <a:r>
              <a:rPr lang="en-US" altLang="zh-CN" sz="2000" dirty="0">
                <a:solidFill>
                  <a:srgbClr val="0000CC"/>
                </a:solidFill>
              </a:rPr>
              <a:t>*p=3</a:t>
            </a:r>
            <a:r>
              <a:rPr lang="zh-CN" altLang="en-US" sz="2000" dirty="0">
                <a:solidFill>
                  <a:srgbClr val="C00000"/>
                </a:solidFill>
              </a:rPr>
              <a:t>不允许</a:t>
            </a:r>
            <a:r>
              <a:rPr lang="zh-CN" altLang="en-US" sz="2000" dirty="0" smtClean="0">
                <a:solidFill>
                  <a:srgbClr val="C00000"/>
                </a:solidFill>
              </a:rPr>
              <a:t>的</a:t>
            </a:r>
            <a:endParaRPr lang="en-US" altLang="zh-CN" sz="2000" dirty="0" smtClean="0">
              <a:solidFill>
                <a:srgbClr val="C00000"/>
              </a:solidFill>
            </a:endParaRPr>
          </a:p>
          <a:p>
            <a:pPr marL="971550" lvl="1">
              <a:lnSpc>
                <a:spcPct val="100000"/>
              </a:lnSpc>
              <a:spcBef>
                <a:spcPts val="1200"/>
              </a:spcBef>
              <a:buFont typeface="Wingdings" panose="05000000000000000000" pitchFamily="2" charset="2"/>
              <a:buChar char="l"/>
            </a:pPr>
            <a:r>
              <a:rPr lang="zh-CN" altLang="en-US" sz="1600" dirty="0" smtClean="0">
                <a:solidFill>
                  <a:srgbClr val="006600"/>
                </a:solidFill>
              </a:rPr>
              <a:t>但</a:t>
            </a:r>
            <a:r>
              <a:rPr lang="en-US" altLang="zh-CN" sz="1600" dirty="0" smtClean="0">
                <a:solidFill>
                  <a:srgbClr val="006600"/>
                </a:solidFill>
              </a:rPr>
              <a:t>a=20</a:t>
            </a:r>
            <a:r>
              <a:rPr lang="zh-CN" altLang="en-US" sz="1600" dirty="0" smtClean="0">
                <a:solidFill>
                  <a:srgbClr val="006600"/>
                </a:solidFill>
              </a:rPr>
              <a:t>是允许的</a:t>
            </a:r>
            <a:endParaRPr lang="zh-CN" altLang="en-US" sz="1600" dirty="0">
              <a:solidFill>
                <a:srgbClr val="006600"/>
              </a:solidFill>
            </a:endParaRPr>
          </a:p>
          <a:p>
            <a:pPr marL="342900" indent="-342900">
              <a:lnSpc>
                <a:spcPct val="100000"/>
              </a:lnSpc>
              <a:spcBef>
                <a:spcPts val="1200"/>
              </a:spcBef>
              <a:buFont typeface="Wingdings" panose="05000000000000000000" pitchFamily="2" charset="2"/>
              <a:buChar char="n"/>
            </a:pPr>
            <a:r>
              <a:rPr lang="en-US" altLang="zh-CN" sz="2000" dirty="0" smtClean="0">
                <a:solidFill>
                  <a:srgbClr val="080808"/>
                </a:solidFill>
              </a:rPr>
              <a:t>p</a:t>
            </a:r>
            <a:r>
              <a:rPr lang="zh-CN" altLang="en-US" sz="2000" dirty="0">
                <a:solidFill>
                  <a:srgbClr val="080808"/>
                </a:solidFill>
              </a:rPr>
              <a:t>指向</a:t>
            </a:r>
            <a:r>
              <a:rPr lang="zh-CN" altLang="en-US" sz="2000" dirty="0" smtClean="0">
                <a:solidFill>
                  <a:srgbClr val="080808"/>
                </a:solidFill>
              </a:rPr>
              <a:t>值可以改变，如</a:t>
            </a:r>
            <a:endParaRPr lang="en-US" altLang="zh-CN" sz="2000" dirty="0" smtClean="0">
              <a:solidFill>
                <a:srgbClr val="080808"/>
              </a:solidFill>
            </a:endParaRPr>
          </a:p>
          <a:p>
            <a:pPr marL="971550" lvl="1">
              <a:lnSpc>
                <a:spcPct val="100000"/>
              </a:lnSpc>
              <a:spcBef>
                <a:spcPts val="1200"/>
              </a:spcBef>
              <a:buFont typeface="Wingdings" panose="05000000000000000000" pitchFamily="2" charset="2"/>
              <a:buChar char="l"/>
            </a:pPr>
            <a:r>
              <a:rPr lang="zh-CN" altLang="en-US" sz="1800" dirty="0" smtClean="0">
                <a:solidFill>
                  <a:srgbClr val="006600"/>
                </a:solidFill>
              </a:rPr>
              <a:t>可以通过</a:t>
            </a:r>
            <a:r>
              <a:rPr lang="en-US" altLang="zh-CN" sz="1800" dirty="0" smtClean="0">
                <a:solidFill>
                  <a:srgbClr val="C00000"/>
                </a:solidFill>
              </a:rPr>
              <a:t>p=&amp;b</a:t>
            </a:r>
            <a:r>
              <a:rPr lang="zh-CN" altLang="en-US" sz="1800" dirty="0" smtClean="0">
                <a:solidFill>
                  <a:srgbClr val="006600"/>
                </a:solidFill>
              </a:rPr>
              <a:t>让</a:t>
            </a:r>
            <a:r>
              <a:rPr lang="en-US" altLang="zh-CN" sz="1800" dirty="0" smtClean="0">
                <a:solidFill>
                  <a:srgbClr val="006600"/>
                </a:solidFill>
              </a:rPr>
              <a:t>p</a:t>
            </a:r>
            <a:r>
              <a:rPr lang="zh-CN" altLang="en-US" sz="1800" dirty="0" smtClean="0">
                <a:solidFill>
                  <a:srgbClr val="006600"/>
                </a:solidFill>
              </a:rPr>
              <a:t>指向</a:t>
            </a:r>
            <a:r>
              <a:rPr lang="en-US" altLang="zh-CN" sz="1800" dirty="0" smtClean="0">
                <a:solidFill>
                  <a:srgbClr val="006600"/>
                </a:solidFill>
              </a:rPr>
              <a:t>b</a:t>
            </a:r>
          </a:p>
          <a:p>
            <a:pPr marL="971550" lvl="1">
              <a:lnSpc>
                <a:spcPct val="100000"/>
              </a:lnSpc>
              <a:spcBef>
                <a:spcPts val="1200"/>
              </a:spcBef>
              <a:buFont typeface="Wingdings" panose="05000000000000000000" pitchFamily="2" charset="2"/>
              <a:buChar char="l"/>
            </a:pPr>
            <a:r>
              <a:rPr lang="zh-CN" altLang="en-US" sz="1800" dirty="0" smtClean="0">
                <a:solidFill>
                  <a:srgbClr val="0070C0"/>
                </a:solidFill>
              </a:rPr>
              <a:t>此时不能通过</a:t>
            </a:r>
            <a:r>
              <a:rPr lang="en-US" altLang="zh-CN" sz="1800" dirty="0" smtClean="0">
                <a:solidFill>
                  <a:srgbClr val="0070C0"/>
                </a:solidFill>
              </a:rPr>
              <a:t>p</a:t>
            </a:r>
            <a:r>
              <a:rPr lang="zh-CN" altLang="en-US" sz="1800" dirty="0" smtClean="0">
                <a:solidFill>
                  <a:srgbClr val="0070C0"/>
                </a:solidFill>
              </a:rPr>
              <a:t>修改</a:t>
            </a:r>
            <a:r>
              <a:rPr lang="en-US" altLang="zh-CN" sz="1800" dirty="0" smtClean="0">
                <a:solidFill>
                  <a:srgbClr val="0070C0"/>
                </a:solidFill>
              </a:rPr>
              <a:t>b</a:t>
            </a:r>
            <a:r>
              <a:rPr lang="zh-CN" altLang="en-US" sz="1800" dirty="0" smtClean="0">
                <a:solidFill>
                  <a:srgbClr val="0070C0"/>
                </a:solidFill>
              </a:rPr>
              <a:t>的内容</a:t>
            </a:r>
            <a:endParaRPr lang="en-US" altLang="zh-CN" sz="1800" dirty="0" smtClean="0">
              <a:solidFill>
                <a:srgbClr val="0070C0"/>
              </a:solidFill>
            </a:endParaRPr>
          </a:p>
          <a:p>
            <a:pPr marL="971550" lvl="1">
              <a:lnSpc>
                <a:spcPct val="100000"/>
              </a:lnSpc>
              <a:spcBef>
                <a:spcPts val="1200"/>
              </a:spcBef>
              <a:buFont typeface="Wingdings" panose="05000000000000000000" pitchFamily="2" charset="2"/>
              <a:buChar char="l"/>
            </a:pPr>
            <a:r>
              <a:rPr lang="zh-CN" altLang="en-US" sz="1800" dirty="0" smtClean="0">
                <a:solidFill>
                  <a:srgbClr val="0070C0"/>
                </a:solidFill>
              </a:rPr>
              <a:t>但</a:t>
            </a:r>
            <a:r>
              <a:rPr lang="en-US" altLang="zh-CN" sz="1800" dirty="0" smtClean="0">
                <a:solidFill>
                  <a:srgbClr val="0070C0"/>
                </a:solidFill>
              </a:rPr>
              <a:t>b=25</a:t>
            </a:r>
            <a:r>
              <a:rPr lang="zh-CN" altLang="en-US" sz="1800" dirty="0" smtClean="0">
                <a:solidFill>
                  <a:srgbClr val="0070C0"/>
                </a:solidFill>
              </a:rPr>
              <a:t>是允许的</a:t>
            </a:r>
            <a:endParaRPr lang="en-US" altLang="zh-CN" sz="1800" dirty="0" smtClean="0">
              <a:solidFill>
                <a:srgbClr val="0070C0"/>
              </a:solidFill>
            </a:endParaRPr>
          </a:p>
          <a:p>
            <a:pPr marL="971550" lvl="1">
              <a:lnSpc>
                <a:spcPct val="100000"/>
              </a:lnSpc>
              <a:spcBef>
                <a:spcPts val="1200"/>
              </a:spcBef>
              <a:buFont typeface="Wingdings" panose="05000000000000000000" pitchFamily="2" charset="2"/>
              <a:buChar char="l"/>
            </a:pPr>
            <a:endParaRPr lang="en-US" altLang="zh-CN" sz="1800" dirty="0">
              <a:solidFill>
                <a:srgbClr val="0070C0"/>
              </a:solidFill>
            </a:endParaRPr>
          </a:p>
          <a:p>
            <a:pPr marL="342900" indent="-342900">
              <a:lnSpc>
                <a:spcPct val="100000"/>
              </a:lnSpc>
              <a:spcBef>
                <a:spcPts val="1200"/>
              </a:spcBef>
              <a:buFont typeface="Wingdings" panose="05000000000000000000" pitchFamily="2" charset="2"/>
              <a:buChar char="n"/>
            </a:pPr>
            <a:endParaRPr lang="en-US" altLang="zh-CN" sz="2000" dirty="0" smtClean="0">
              <a:solidFill>
                <a:srgbClr val="080808"/>
              </a:solidFill>
            </a:endParaRPr>
          </a:p>
        </p:txBody>
      </p:sp>
      <p:sp>
        <p:nvSpPr>
          <p:cNvPr id="7" name="环形箭头 6"/>
          <p:cNvSpPr/>
          <p:nvPr/>
        </p:nvSpPr>
        <p:spPr bwMode="auto">
          <a:xfrm rot="16200000" flipV="1">
            <a:off x="6454781" y="3290957"/>
            <a:ext cx="1435608" cy="1053326"/>
          </a:xfrm>
          <a:prstGeom prst="circularArrow">
            <a:avLst>
              <a:gd name="adj1" fmla="val 12500"/>
              <a:gd name="adj2" fmla="val 1142319"/>
              <a:gd name="adj3" fmla="val 20457681"/>
              <a:gd name="adj4" fmla="val 11665010"/>
              <a:gd name="adj5" fmla="val 12500"/>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39086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t>关于</a:t>
            </a:r>
            <a:r>
              <a:rPr lang="zh-CN" altLang="en-US" dirty="0" smtClean="0">
                <a:solidFill>
                  <a:srgbClr val="7030A0"/>
                </a:solidFill>
              </a:rPr>
              <a:t>指针常量 </a:t>
            </a:r>
            <a:r>
              <a:rPr lang="en-US" altLang="zh-CN" b="1" dirty="0" err="1" smtClean="0">
                <a:solidFill>
                  <a:srgbClr val="006600"/>
                </a:solidFill>
                <a:latin typeface="Times New Roman" panose="02020603050405020304" pitchFamily="18" charset="0"/>
                <a:cs typeface="Times New Roman" panose="02020603050405020304" pitchFamily="18" charset="0"/>
              </a:rPr>
              <a:t>const</a:t>
            </a:r>
            <a:r>
              <a:rPr lang="en-US" altLang="zh-CN" b="1" dirty="0" smtClean="0">
                <a:solidFill>
                  <a:srgbClr val="006600"/>
                </a:solidFill>
                <a:latin typeface="Times New Roman" panose="02020603050405020304" pitchFamily="18" charset="0"/>
                <a:cs typeface="Times New Roman" panose="02020603050405020304" pitchFamily="18" charset="0"/>
              </a:rPr>
              <a:t> </a:t>
            </a:r>
            <a:r>
              <a:rPr lang="en-US" altLang="zh-CN" b="1" dirty="0" err="1">
                <a:solidFill>
                  <a:srgbClr val="006600"/>
                </a:solidFill>
                <a:latin typeface="Times New Roman" panose="02020603050405020304" pitchFamily="18" charset="0"/>
                <a:cs typeface="Times New Roman" panose="02020603050405020304" pitchFamily="18" charset="0"/>
              </a:rPr>
              <a:t>int</a:t>
            </a:r>
            <a:r>
              <a:rPr lang="en-US" altLang="zh-CN" b="1" dirty="0">
                <a:solidFill>
                  <a:srgbClr val="006600"/>
                </a:solidFill>
                <a:latin typeface="Times New Roman" panose="02020603050405020304" pitchFamily="18" charset="0"/>
                <a:cs typeface="Times New Roman" panose="02020603050405020304" pitchFamily="18" charset="0"/>
              </a:rPr>
              <a:t> *</a:t>
            </a:r>
            <a:r>
              <a:rPr lang="en-US" altLang="zh-CN" b="1" dirty="0" smtClean="0">
                <a:solidFill>
                  <a:srgbClr val="006600"/>
                </a:solidFill>
                <a:latin typeface="Times New Roman" panose="02020603050405020304" pitchFamily="18" charset="0"/>
                <a:cs typeface="Times New Roman" panose="02020603050405020304" pitchFamily="18" charset="0"/>
              </a:rPr>
              <a:t>p</a:t>
            </a:r>
            <a:r>
              <a:rPr lang="zh-CN" altLang="en-US" dirty="0" smtClean="0">
                <a:solidFill>
                  <a:srgbClr val="7030A0"/>
                </a:solidFill>
              </a:rPr>
              <a:t> </a:t>
            </a:r>
            <a:endParaRPr lang="zh-CN" altLang="en-US" dirty="0">
              <a:solidFill>
                <a:srgbClr val="7030A0"/>
              </a:solidFill>
            </a:endParaRP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6578899" cy="1049522"/>
          </a:xfrm>
        </p:spPr>
        <p:txBody>
          <a:bodyPr/>
          <a:lstStyle/>
          <a:p>
            <a:pPr marL="342900" indent="-342900">
              <a:buFont typeface="Wingdings" panose="05000000000000000000" pitchFamily="2" charset="2"/>
              <a:buChar char="n"/>
            </a:pPr>
            <a:endParaRPr lang="en-US" altLang="zh-CN" sz="1600" dirty="0"/>
          </a:p>
        </p:txBody>
      </p:sp>
      <p:pic>
        <p:nvPicPr>
          <p:cNvPr id="9" name="图片 8"/>
          <p:cNvPicPr>
            <a:picLocks noChangeAspect="1"/>
          </p:cNvPicPr>
          <p:nvPr/>
        </p:nvPicPr>
        <p:blipFill>
          <a:blip r:embed="rId2"/>
          <a:stretch>
            <a:fillRect/>
          </a:stretch>
        </p:blipFill>
        <p:spPr>
          <a:xfrm>
            <a:off x="485775" y="961206"/>
            <a:ext cx="6877050" cy="5256714"/>
          </a:xfrm>
          <a:prstGeom prst="rect">
            <a:avLst/>
          </a:prstGeom>
        </p:spPr>
      </p:pic>
      <p:sp>
        <p:nvSpPr>
          <p:cNvPr id="5" name="矩形 4"/>
          <p:cNvSpPr/>
          <p:nvPr/>
        </p:nvSpPr>
        <p:spPr bwMode="auto">
          <a:xfrm>
            <a:off x="4192396" y="5641848"/>
            <a:ext cx="2491867" cy="370332"/>
          </a:xfrm>
          <a:prstGeom prst="rect">
            <a:avLst/>
          </a:prstGeom>
          <a:noFill/>
          <a:ln w="1905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no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37692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solidFill>
                  <a:srgbClr val="7030A0"/>
                </a:solidFill>
              </a:rPr>
              <a:t>指针常量 </a:t>
            </a:r>
            <a:r>
              <a:rPr lang="en-US" altLang="zh-CN" b="1" dirty="0" err="1" smtClean="0">
                <a:solidFill>
                  <a:srgbClr val="006600"/>
                </a:solidFill>
                <a:latin typeface="Times New Roman" panose="02020603050405020304" pitchFamily="18" charset="0"/>
                <a:cs typeface="Times New Roman" panose="02020603050405020304" pitchFamily="18" charset="0"/>
              </a:rPr>
              <a:t>const</a:t>
            </a:r>
            <a:r>
              <a:rPr lang="en-US" altLang="zh-CN" b="1" dirty="0" smtClean="0">
                <a:solidFill>
                  <a:srgbClr val="006600"/>
                </a:solidFill>
                <a:latin typeface="Times New Roman" panose="02020603050405020304" pitchFamily="18" charset="0"/>
                <a:cs typeface="Times New Roman" panose="02020603050405020304" pitchFamily="18" charset="0"/>
              </a:rPr>
              <a:t> </a:t>
            </a:r>
            <a:r>
              <a:rPr lang="en-US" altLang="zh-CN" b="1" dirty="0" err="1">
                <a:solidFill>
                  <a:srgbClr val="006600"/>
                </a:solidFill>
                <a:latin typeface="Times New Roman" panose="02020603050405020304" pitchFamily="18" charset="0"/>
                <a:cs typeface="Times New Roman" panose="02020603050405020304" pitchFamily="18" charset="0"/>
              </a:rPr>
              <a:t>int</a:t>
            </a:r>
            <a:r>
              <a:rPr lang="en-US" altLang="zh-CN" b="1" dirty="0">
                <a:solidFill>
                  <a:srgbClr val="006600"/>
                </a:solidFill>
                <a:latin typeface="Times New Roman" panose="02020603050405020304" pitchFamily="18" charset="0"/>
                <a:cs typeface="Times New Roman" panose="02020603050405020304" pitchFamily="18" charset="0"/>
              </a:rPr>
              <a:t> *</a:t>
            </a:r>
            <a:r>
              <a:rPr lang="en-US" altLang="zh-CN" b="1" dirty="0" smtClean="0">
                <a:solidFill>
                  <a:srgbClr val="006600"/>
                </a:solidFill>
                <a:latin typeface="Times New Roman" panose="02020603050405020304" pitchFamily="18" charset="0"/>
                <a:cs typeface="Times New Roman" panose="02020603050405020304" pitchFamily="18" charset="0"/>
              </a:rPr>
              <a:t>p</a:t>
            </a:r>
            <a:r>
              <a:rPr lang="zh-CN" altLang="en-US" dirty="0" smtClean="0">
                <a:solidFill>
                  <a:srgbClr val="7030A0"/>
                </a:solidFill>
              </a:rPr>
              <a:t> </a:t>
            </a:r>
            <a:endParaRPr lang="zh-CN" altLang="en-US" dirty="0">
              <a:solidFill>
                <a:srgbClr val="7030A0"/>
              </a:solidFill>
            </a:endParaRP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8191500" cy="1369562"/>
          </a:xfrm>
        </p:spPr>
        <p:txBody>
          <a:bodyPr/>
          <a:lstStyle/>
          <a:p>
            <a:pPr marL="342900" indent="-342900">
              <a:buFont typeface="Wingdings" panose="05000000000000000000" pitchFamily="2" charset="2"/>
              <a:buChar char="n"/>
            </a:pPr>
            <a:r>
              <a:rPr lang="zh-CN" altLang="en-US" sz="2000" dirty="0" smtClean="0">
                <a:solidFill>
                  <a:srgbClr val="C00000"/>
                </a:solidFill>
              </a:rPr>
              <a:t>常量指针可以用来声明一个字符串常量</a:t>
            </a:r>
            <a:endParaRPr lang="en-US" altLang="zh-CN" sz="2000" dirty="0" smtClean="0">
              <a:solidFill>
                <a:srgbClr val="C00000"/>
              </a:solidFill>
            </a:endParaRPr>
          </a:p>
          <a:p>
            <a:pPr marL="342900" indent="-342900">
              <a:buFont typeface="Wingdings" panose="05000000000000000000" pitchFamily="2" charset="2"/>
              <a:buChar char="n"/>
            </a:pPr>
            <a:r>
              <a:rPr lang="zh-CN" altLang="en-US" sz="2000" dirty="0" smtClean="0"/>
              <a:t>如 </a:t>
            </a:r>
            <a:r>
              <a:rPr lang="en-US" altLang="zh-CN" sz="2000" dirty="0" smtClean="0">
                <a:solidFill>
                  <a:srgbClr val="080808"/>
                </a:solidFill>
              </a:rPr>
              <a:t>char *</a:t>
            </a:r>
            <a:r>
              <a:rPr lang="en-US" altLang="zh-CN" sz="2000" dirty="0" err="1" smtClean="0">
                <a:solidFill>
                  <a:srgbClr val="080808"/>
                </a:solidFill>
              </a:rPr>
              <a:t>str</a:t>
            </a:r>
            <a:r>
              <a:rPr lang="en-US" altLang="zh-CN" sz="2000" dirty="0" smtClean="0">
                <a:solidFill>
                  <a:srgbClr val="080808"/>
                </a:solidFill>
              </a:rPr>
              <a:t>=“Hello World”;  </a:t>
            </a:r>
            <a:r>
              <a:rPr lang="en-US" altLang="zh-CN" sz="2000" dirty="0" smtClean="0"/>
              <a:t>//</a:t>
            </a:r>
            <a:r>
              <a:rPr lang="zh-CN" altLang="en-US" sz="2000" dirty="0" smtClean="0"/>
              <a:t>现在的编译给出警告，但可以执行</a:t>
            </a:r>
            <a:endParaRPr lang="en-US" altLang="zh-CN" sz="2000" dirty="0" smtClean="0"/>
          </a:p>
          <a:p>
            <a:pPr marL="342900" indent="-342900">
              <a:buFont typeface="Wingdings" panose="05000000000000000000" pitchFamily="2" charset="2"/>
              <a:buChar char="n"/>
            </a:pPr>
            <a:r>
              <a:rPr lang="zh-CN" altLang="en-US" sz="2000" dirty="0" smtClean="0">
                <a:solidFill>
                  <a:srgbClr val="0000CC"/>
                </a:solidFill>
              </a:rPr>
              <a:t>编译器将字符串常量</a:t>
            </a:r>
            <a:r>
              <a:rPr lang="en-US" altLang="zh-CN" sz="2000" dirty="0" smtClean="0">
                <a:solidFill>
                  <a:srgbClr val="0000CC"/>
                </a:solidFill>
              </a:rPr>
              <a:t>“</a:t>
            </a:r>
            <a:r>
              <a:rPr lang="en-US" altLang="zh-CN" sz="2000" dirty="0">
                <a:solidFill>
                  <a:srgbClr val="0000CC"/>
                </a:solidFill>
              </a:rPr>
              <a:t>Hello World</a:t>
            </a:r>
            <a:r>
              <a:rPr lang="en-US" altLang="zh-CN" sz="2000" dirty="0" smtClean="0">
                <a:solidFill>
                  <a:srgbClr val="0000CC"/>
                </a:solidFill>
              </a:rPr>
              <a:t>”</a:t>
            </a:r>
            <a:r>
              <a:rPr lang="zh-CN" altLang="en-US" sz="2000" dirty="0" smtClean="0">
                <a:solidFill>
                  <a:srgbClr val="0000CC"/>
                </a:solidFill>
              </a:rPr>
              <a:t>放到</a:t>
            </a:r>
            <a:r>
              <a:rPr lang="zh-CN" altLang="en-US" sz="2000" dirty="0" smtClean="0">
                <a:solidFill>
                  <a:srgbClr val="7030A0"/>
                </a:solidFill>
              </a:rPr>
              <a:t>内存的常量区</a:t>
            </a:r>
            <a:endParaRPr lang="en-US" altLang="zh-CN" sz="2000" dirty="0">
              <a:solidFill>
                <a:srgbClr val="7030A0"/>
              </a:solidFill>
            </a:endParaRPr>
          </a:p>
        </p:txBody>
      </p:sp>
      <p:sp>
        <p:nvSpPr>
          <p:cNvPr id="5" name="矩形 4"/>
          <p:cNvSpPr/>
          <p:nvPr/>
        </p:nvSpPr>
        <p:spPr bwMode="auto">
          <a:xfrm>
            <a:off x="4292980" y="5468112"/>
            <a:ext cx="2491867" cy="237744"/>
          </a:xfrm>
          <a:prstGeom prst="rect">
            <a:avLst/>
          </a:prstGeom>
          <a:noFill/>
          <a:ln w="1905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noFill/>
              <a:effectLst/>
              <a:latin typeface="Arial" panose="020B0604020202020204" pitchFamily="34" charset="0"/>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384175" y="2426208"/>
            <a:ext cx="8191500" cy="3810000"/>
          </a:xfrm>
          <a:prstGeom prst="rect">
            <a:avLst/>
          </a:prstGeom>
        </p:spPr>
      </p:pic>
    </p:spTree>
    <p:extLst>
      <p:ext uri="{BB962C8B-B14F-4D97-AF65-F5344CB8AC3E}">
        <p14:creationId xmlns:p14="http://schemas.microsoft.com/office/powerpoint/2010/main" val="1812559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solidFill>
                  <a:srgbClr val="7030A0"/>
                </a:solidFill>
              </a:rPr>
              <a:t>指针常量 </a:t>
            </a:r>
            <a:r>
              <a:rPr lang="en-US" altLang="zh-CN" b="1" dirty="0" err="1" smtClean="0">
                <a:solidFill>
                  <a:srgbClr val="006600"/>
                </a:solidFill>
                <a:latin typeface="Times New Roman" panose="02020603050405020304" pitchFamily="18" charset="0"/>
                <a:cs typeface="Times New Roman" panose="02020603050405020304" pitchFamily="18" charset="0"/>
              </a:rPr>
              <a:t>const</a:t>
            </a:r>
            <a:r>
              <a:rPr lang="en-US" altLang="zh-CN" b="1" dirty="0" smtClean="0">
                <a:solidFill>
                  <a:srgbClr val="006600"/>
                </a:solidFill>
                <a:latin typeface="Times New Roman" panose="02020603050405020304" pitchFamily="18" charset="0"/>
                <a:cs typeface="Times New Roman" panose="02020603050405020304" pitchFamily="18" charset="0"/>
              </a:rPr>
              <a:t> </a:t>
            </a:r>
            <a:r>
              <a:rPr lang="en-US" altLang="zh-CN" b="1" dirty="0" err="1">
                <a:solidFill>
                  <a:srgbClr val="006600"/>
                </a:solidFill>
                <a:latin typeface="Times New Roman" panose="02020603050405020304" pitchFamily="18" charset="0"/>
                <a:cs typeface="Times New Roman" panose="02020603050405020304" pitchFamily="18" charset="0"/>
              </a:rPr>
              <a:t>int</a:t>
            </a:r>
            <a:r>
              <a:rPr lang="en-US" altLang="zh-CN" b="1" dirty="0">
                <a:solidFill>
                  <a:srgbClr val="006600"/>
                </a:solidFill>
                <a:latin typeface="Times New Roman" panose="02020603050405020304" pitchFamily="18" charset="0"/>
                <a:cs typeface="Times New Roman" panose="02020603050405020304" pitchFamily="18" charset="0"/>
              </a:rPr>
              <a:t> *</a:t>
            </a:r>
            <a:r>
              <a:rPr lang="en-US" altLang="zh-CN" b="1" dirty="0" smtClean="0">
                <a:solidFill>
                  <a:srgbClr val="006600"/>
                </a:solidFill>
                <a:latin typeface="Times New Roman" panose="02020603050405020304" pitchFamily="18" charset="0"/>
                <a:cs typeface="Times New Roman" panose="02020603050405020304" pitchFamily="18" charset="0"/>
              </a:rPr>
              <a:t>p</a:t>
            </a:r>
            <a:r>
              <a:rPr lang="zh-CN" altLang="en-US" dirty="0" smtClean="0">
                <a:solidFill>
                  <a:srgbClr val="7030A0"/>
                </a:solidFill>
              </a:rPr>
              <a:t> </a:t>
            </a:r>
            <a:endParaRPr lang="zh-CN" altLang="en-US" dirty="0">
              <a:solidFill>
                <a:srgbClr val="7030A0"/>
              </a:solidFill>
            </a:endParaRP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8191500" cy="951986"/>
          </a:xfrm>
        </p:spPr>
        <p:txBody>
          <a:bodyPr/>
          <a:lstStyle/>
          <a:p>
            <a:pPr marL="342900" indent="-342900">
              <a:buFont typeface="Wingdings" panose="05000000000000000000" pitchFamily="2" charset="2"/>
              <a:buChar char="n"/>
            </a:pPr>
            <a:r>
              <a:rPr lang="zh-CN" altLang="en-US" sz="2000" dirty="0" smtClean="0">
                <a:solidFill>
                  <a:srgbClr val="C00000"/>
                </a:solidFill>
              </a:rPr>
              <a:t>常量指针可以用来声明一个字符串常量</a:t>
            </a:r>
            <a:endParaRPr lang="en-US" altLang="zh-CN" sz="2000" dirty="0" smtClean="0">
              <a:solidFill>
                <a:srgbClr val="C00000"/>
              </a:solidFill>
            </a:endParaRPr>
          </a:p>
          <a:p>
            <a:pPr marL="342900" indent="-342900">
              <a:buFont typeface="Wingdings" panose="05000000000000000000" pitchFamily="2" charset="2"/>
              <a:buChar char="n"/>
            </a:pPr>
            <a:r>
              <a:rPr lang="zh-CN" altLang="en-US" sz="2000" dirty="0" smtClean="0"/>
              <a:t>如 </a:t>
            </a:r>
            <a:r>
              <a:rPr lang="en-US" altLang="zh-CN" sz="2000" dirty="0" err="1" smtClean="0">
                <a:solidFill>
                  <a:srgbClr val="080808"/>
                </a:solidFill>
              </a:rPr>
              <a:t>const</a:t>
            </a:r>
            <a:r>
              <a:rPr lang="en-US" altLang="zh-CN" sz="2000" dirty="0" smtClean="0">
                <a:solidFill>
                  <a:srgbClr val="080808"/>
                </a:solidFill>
              </a:rPr>
              <a:t> char *</a:t>
            </a:r>
            <a:r>
              <a:rPr lang="en-US" altLang="zh-CN" sz="2000" dirty="0" err="1" smtClean="0">
                <a:solidFill>
                  <a:srgbClr val="080808"/>
                </a:solidFill>
              </a:rPr>
              <a:t>str</a:t>
            </a:r>
            <a:r>
              <a:rPr lang="en-US" altLang="zh-CN" sz="2000" dirty="0" smtClean="0">
                <a:solidFill>
                  <a:srgbClr val="080808"/>
                </a:solidFill>
              </a:rPr>
              <a:t>=“Hello World”;  </a:t>
            </a:r>
            <a:r>
              <a:rPr lang="en-US" altLang="zh-CN" sz="2000" dirty="0" smtClean="0"/>
              <a:t>// </a:t>
            </a:r>
            <a:r>
              <a:rPr lang="zh-CN" altLang="en-US" sz="2000" dirty="0" smtClean="0">
                <a:solidFill>
                  <a:srgbClr val="006600"/>
                </a:solidFill>
              </a:rPr>
              <a:t>正确</a:t>
            </a:r>
            <a:endParaRPr lang="en-US" altLang="zh-CN" sz="2000" dirty="0">
              <a:solidFill>
                <a:srgbClr val="006600"/>
              </a:solidFill>
            </a:endParaRPr>
          </a:p>
        </p:txBody>
      </p:sp>
      <p:pic>
        <p:nvPicPr>
          <p:cNvPr id="4" name="图片 3"/>
          <p:cNvPicPr>
            <a:picLocks noChangeAspect="1"/>
          </p:cNvPicPr>
          <p:nvPr/>
        </p:nvPicPr>
        <p:blipFill>
          <a:blip r:embed="rId2"/>
          <a:stretch>
            <a:fillRect/>
          </a:stretch>
        </p:blipFill>
        <p:spPr>
          <a:xfrm>
            <a:off x="434975" y="2090928"/>
            <a:ext cx="8191500" cy="3810000"/>
          </a:xfrm>
          <a:prstGeom prst="rect">
            <a:avLst/>
          </a:prstGeom>
        </p:spPr>
      </p:pic>
    </p:spTree>
    <p:extLst>
      <p:ext uri="{BB962C8B-B14F-4D97-AF65-F5344CB8AC3E}">
        <p14:creationId xmlns:p14="http://schemas.microsoft.com/office/powerpoint/2010/main" val="570768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1833-11CF-4EEA-8DC6-D591D842B425}"/>
              </a:ext>
            </a:extLst>
          </p:cNvPr>
          <p:cNvSpPr>
            <a:spLocks noGrp="1"/>
          </p:cNvSpPr>
          <p:nvPr>
            <p:ph type="title"/>
          </p:nvPr>
        </p:nvSpPr>
        <p:spPr/>
        <p:txBody>
          <a:bodyPr/>
          <a:lstStyle/>
          <a:p>
            <a:r>
              <a:rPr lang="zh-CN" altLang="en-US" dirty="0" smtClean="0">
                <a:solidFill>
                  <a:srgbClr val="7030A0"/>
                </a:solidFill>
              </a:rPr>
              <a:t>复习与思考：</a:t>
            </a:r>
            <a:r>
              <a:rPr lang="zh-CN" altLang="en-US" dirty="0"/>
              <a:t>关于</a:t>
            </a:r>
            <a:r>
              <a:rPr lang="zh-CN" altLang="en-US" dirty="0">
                <a:solidFill>
                  <a:srgbClr val="7030A0"/>
                </a:solidFill>
              </a:rPr>
              <a:t>常量指针</a:t>
            </a:r>
            <a:r>
              <a:rPr lang="zh-CN" altLang="en-US" dirty="0"/>
              <a:t>与</a:t>
            </a:r>
            <a:r>
              <a:rPr lang="zh-CN" altLang="en-US" dirty="0">
                <a:solidFill>
                  <a:srgbClr val="7030A0"/>
                </a:solidFill>
              </a:rPr>
              <a:t>指针常量</a:t>
            </a:r>
          </a:p>
        </p:txBody>
      </p:sp>
      <p:sp>
        <p:nvSpPr>
          <p:cNvPr id="3" name="内容占位符 2">
            <a:extLst>
              <a:ext uri="{FF2B5EF4-FFF2-40B4-BE49-F238E27FC236}">
                <a16:creationId xmlns:a16="http://schemas.microsoft.com/office/drawing/2014/main" id="{6359D399-D2F4-4DCC-9C1B-3034AEF143BE}"/>
              </a:ext>
            </a:extLst>
          </p:cNvPr>
          <p:cNvSpPr>
            <a:spLocks noGrp="1"/>
          </p:cNvSpPr>
          <p:nvPr>
            <p:ph idx="1"/>
          </p:nvPr>
        </p:nvSpPr>
        <p:spPr>
          <a:xfrm>
            <a:off x="361397" y="943870"/>
            <a:ext cx="8338655" cy="5557514"/>
          </a:xfrm>
        </p:spPr>
        <p:txBody>
          <a:bodyPr/>
          <a:lstStyle/>
          <a:p>
            <a:pPr marL="342900" indent="-342900">
              <a:buFont typeface="Wingdings" panose="05000000000000000000" pitchFamily="2" charset="2"/>
              <a:buChar char="l"/>
            </a:pPr>
            <a:r>
              <a:rPr lang="zh-CN" altLang="en-US" sz="2000" b="1" i="1" u="sng" dirty="0"/>
              <a:t>按照教材的观点</a:t>
            </a:r>
            <a:endParaRPr lang="en-US" altLang="zh-CN" sz="2000" b="1" i="1" u="sng" dirty="0"/>
          </a:p>
          <a:p>
            <a:pPr marL="971550" lvl="1"/>
            <a:r>
              <a:rPr lang="zh-CN" altLang="en-US" b="1" dirty="0">
                <a:solidFill>
                  <a:srgbClr val="030DCD"/>
                </a:solidFill>
              </a:rPr>
              <a:t>常量指针：指针本身是一个常量；</a:t>
            </a:r>
            <a:endParaRPr lang="en-US" altLang="zh-CN" b="1" dirty="0">
              <a:solidFill>
                <a:srgbClr val="030DCD"/>
              </a:solidFill>
            </a:endParaRPr>
          </a:p>
          <a:p>
            <a:pPr marL="1200150" lvl="2"/>
            <a:r>
              <a:rPr lang="en-US" altLang="zh-CN" sz="1800" dirty="0">
                <a:latin typeface="Times New Roman" panose="02020603050405020304" pitchFamily="18" charset="0"/>
                <a:cs typeface="Times New Roman" panose="02020603050405020304" pitchFamily="18" charset="0"/>
              </a:rPr>
              <a:t>int</a:t>
            </a:r>
            <a:r>
              <a:rPr lang="zh-CN" altLang="en-US"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a,b</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r>
              <a:rPr lang="en-US" altLang="zh-CN" sz="1800" b="1" dirty="0">
                <a:solidFill>
                  <a:srgbClr val="006600"/>
                </a:solidFill>
                <a:latin typeface="Times New Roman" panose="02020603050405020304" pitchFamily="18" charset="0"/>
                <a:cs typeface="Times New Roman" panose="02020603050405020304" pitchFamily="18" charset="0"/>
              </a:rPr>
              <a:t>int* const p=&amp;a</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定义</a:t>
            </a:r>
            <a:r>
              <a:rPr lang="en-US" altLang="zh-CN" sz="1800" dirty="0">
                <a:latin typeface="Times New Roman" panose="02020603050405020304" pitchFamily="18" charset="0"/>
                <a:cs typeface="Times New Roman" panose="02020603050405020304" pitchFamily="18" charset="0"/>
              </a:rPr>
              <a:t>p</a:t>
            </a:r>
            <a:r>
              <a:rPr lang="zh-CN" altLang="en-US" sz="1800" dirty="0">
                <a:latin typeface="Times New Roman" panose="02020603050405020304" pitchFamily="18" charset="0"/>
                <a:cs typeface="Times New Roman" panose="02020603050405020304" pitchFamily="18" charset="0"/>
              </a:rPr>
              <a:t>是一个常量指针；</a:t>
            </a:r>
            <a:r>
              <a:rPr lang="en-US" altLang="zh-CN" sz="1800" dirty="0">
                <a:latin typeface="Times New Roman" panose="02020603050405020304" pitchFamily="18" charset="0"/>
                <a:cs typeface="Times New Roman" panose="02020603050405020304" pitchFamily="18" charset="0"/>
              </a:rPr>
              <a:t> </a:t>
            </a:r>
          </a:p>
          <a:p>
            <a:pPr marL="1543050" lvl="3">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理解：</a:t>
            </a:r>
            <a:r>
              <a:rPr lang="zh-CN" altLang="en-US" b="1" dirty="0">
                <a:solidFill>
                  <a:srgbClr val="C00000"/>
                </a:solidFill>
                <a:latin typeface="Times New Roman" panose="02020603050405020304" pitchFamily="18" charset="0"/>
                <a:cs typeface="Times New Roman" panose="02020603050405020304" pitchFamily="18" charset="0"/>
              </a:rPr>
              <a:t>从右往左</a:t>
            </a:r>
            <a:r>
              <a:rPr lang="zh-CN" altLang="en-US" dirty="0">
                <a:latin typeface="Times New Roman" panose="02020603050405020304" pitchFamily="18" charset="0"/>
                <a:cs typeface="Times New Roman" panose="02020603050405020304" pitchFamily="18" charset="0"/>
              </a:rPr>
              <a:t>解读</a:t>
            </a:r>
            <a:r>
              <a:rPr lang="en-US" altLang="zh-CN" b="1" dirty="0">
                <a:solidFill>
                  <a:srgbClr val="C00000"/>
                </a:solidFill>
                <a:latin typeface="Times New Roman" panose="02020603050405020304" pitchFamily="18" charset="0"/>
                <a:cs typeface="Times New Roman" panose="02020603050405020304" pitchFamily="18" charset="0"/>
              </a:rPr>
              <a:t> </a:t>
            </a:r>
            <a:r>
              <a:rPr lang="en-US" altLang="zh-CN" b="1" i="1" u="sng" dirty="0">
                <a:solidFill>
                  <a:srgbClr val="C00000"/>
                </a:solidFill>
                <a:latin typeface="Times New Roman" panose="02020603050405020304" pitchFamily="18" charset="0"/>
                <a:cs typeface="Times New Roman" panose="02020603050405020304" pitchFamily="18" charset="0"/>
              </a:rPr>
              <a:t>int* const p</a:t>
            </a:r>
            <a:r>
              <a:rPr lang="zh-CN" altLang="en-US" dirty="0">
                <a:latin typeface="Times New Roman" panose="02020603050405020304" pitchFamily="18" charset="0"/>
                <a:cs typeface="Times New Roman" panose="02020603050405020304" pitchFamily="18" charset="0"/>
              </a:rPr>
              <a:t>：</a:t>
            </a:r>
            <a:r>
              <a:rPr lang="en-US" altLang="zh-CN" b="1" i="1" u="sng" dirty="0">
                <a:solidFill>
                  <a:srgbClr val="030DCD"/>
                </a:solidFill>
                <a:latin typeface="Times New Roman" panose="02020603050405020304" pitchFamily="18" charset="0"/>
                <a:cs typeface="Times New Roman" panose="02020603050405020304" pitchFamily="18" charset="0"/>
              </a:rPr>
              <a:t>p</a:t>
            </a:r>
            <a:r>
              <a:rPr lang="zh-CN" altLang="en-US" b="1" i="1" u="sng" dirty="0">
                <a:solidFill>
                  <a:srgbClr val="030DCD"/>
                </a:solidFill>
                <a:latin typeface="Times New Roman" panose="02020603050405020304" pitchFamily="18" charset="0"/>
                <a:cs typeface="Times New Roman" panose="02020603050405020304" pitchFamily="18" charset="0"/>
              </a:rPr>
              <a:t>是一个常量</a:t>
            </a:r>
            <a:r>
              <a:rPr lang="zh-CN" altLang="en-US" i="1" u="sng" dirty="0">
                <a:latin typeface="Times New Roman" panose="02020603050405020304" pitchFamily="18" charset="0"/>
                <a:cs typeface="Times New Roman" panose="02020603050405020304" pitchFamily="18" charset="0"/>
              </a:rPr>
              <a:t>，</a:t>
            </a:r>
            <a:r>
              <a:rPr lang="zh-CN" altLang="en-US" b="1" i="1" u="sng" dirty="0">
                <a:solidFill>
                  <a:srgbClr val="7030A0"/>
                </a:solidFill>
                <a:latin typeface="Times New Roman" panose="02020603050405020304" pitchFamily="18" charset="0"/>
                <a:cs typeface="Times New Roman" panose="02020603050405020304" pitchFamily="18" charset="0"/>
              </a:rPr>
              <a:t>其类型是整型指针</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1657350" lvl="3" indent="-285750">
              <a:lnSpc>
                <a:spcPct val="100000"/>
              </a:lnSpc>
              <a:buFont typeface="Wingdings" panose="05000000000000000000" pitchFamily="2" charset="2"/>
              <a:buChar char="ü"/>
            </a:pPr>
            <a:r>
              <a:rPr lang="en-US" altLang="zh-CN" b="1" dirty="0">
                <a:solidFill>
                  <a:srgbClr val="C00000"/>
                </a:solidFill>
                <a:latin typeface="Times New Roman" panose="02020603050405020304" pitchFamily="18" charset="0"/>
                <a:cs typeface="Times New Roman" panose="02020603050405020304" pitchFamily="18" charset="0"/>
              </a:rPr>
              <a:t>p</a:t>
            </a:r>
            <a:r>
              <a:rPr lang="zh-CN" altLang="en-US" b="1" dirty="0">
                <a:solidFill>
                  <a:srgbClr val="C00000"/>
                </a:solidFill>
                <a:latin typeface="Times New Roman" panose="02020603050405020304" pitchFamily="18" charset="0"/>
                <a:cs typeface="Times New Roman" panose="02020603050405020304" pitchFamily="18" charset="0"/>
              </a:rPr>
              <a:t>只能在初始化时赋值</a:t>
            </a:r>
            <a:r>
              <a:rPr lang="zh-CN" altLang="en-US" dirty="0">
                <a:latin typeface="Times New Roman" panose="02020603050405020304" pitchFamily="18" charset="0"/>
                <a:cs typeface="Times New Roman" panose="02020603050405020304" pitchFamily="18" charset="0"/>
              </a:rPr>
              <a:t>。一旦被初始化，其本身的值（指向的位置）不能修改，如</a:t>
            </a:r>
            <a:r>
              <a:rPr lang="en-US" altLang="zh-CN" b="1" i="1" u="sng" dirty="0">
                <a:latin typeface="Times New Roman" panose="02020603050405020304" pitchFamily="18" charset="0"/>
                <a:cs typeface="Times New Roman" panose="02020603050405020304" pitchFamily="18" charset="0"/>
              </a:rPr>
              <a:t>p=&amp;b</a:t>
            </a:r>
            <a:r>
              <a:rPr lang="zh-CN" altLang="en-US" b="1" i="1" u="sng" dirty="0">
                <a:latin typeface="Times New Roman" panose="02020603050405020304" pitchFamily="18" charset="0"/>
                <a:cs typeface="Times New Roman" panose="02020603050405020304" pitchFamily="18" charset="0"/>
              </a:rPr>
              <a:t>是不允许的</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marL="1657350" lvl="3" indent="-285750">
              <a:lnSpc>
                <a:spcPct val="100000"/>
              </a:lnSpc>
              <a:buFont typeface="Wingdings" panose="05000000000000000000" pitchFamily="2" charset="2"/>
              <a:buChar char="ü"/>
            </a:pPr>
            <a:r>
              <a:rPr lang="zh-CN" altLang="en-US" b="1" i="1" u="sng" dirty="0" smtClean="0">
                <a:solidFill>
                  <a:srgbClr val="0070C0"/>
                </a:solidFill>
                <a:latin typeface="Times New Roman" panose="02020603050405020304" pitchFamily="18" charset="0"/>
                <a:cs typeface="Times New Roman" panose="02020603050405020304" pitchFamily="18" charset="0"/>
              </a:rPr>
              <a:t>因此声明</a:t>
            </a:r>
            <a:r>
              <a:rPr lang="en-US" altLang="zh-CN" b="1" i="1" u="sng" dirty="0" smtClean="0">
                <a:solidFill>
                  <a:srgbClr val="0070C0"/>
                </a:solidFill>
                <a:latin typeface="Times New Roman" panose="02020603050405020304" pitchFamily="18" charset="0"/>
                <a:cs typeface="Times New Roman" panose="02020603050405020304" pitchFamily="18" charset="0"/>
              </a:rPr>
              <a:t>p</a:t>
            </a:r>
            <a:r>
              <a:rPr lang="zh-CN" altLang="en-US" b="1" i="1" u="sng" dirty="0" smtClean="0">
                <a:solidFill>
                  <a:srgbClr val="0070C0"/>
                </a:solidFill>
                <a:latin typeface="Times New Roman" panose="02020603050405020304" pitchFamily="18" charset="0"/>
                <a:cs typeface="Times New Roman" panose="02020603050405020304" pitchFamily="18" charset="0"/>
              </a:rPr>
              <a:t>的时候必须初始化</a:t>
            </a:r>
            <a:r>
              <a:rPr lang="en-US" altLang="zh-CN" b="1" i="1" u="sng" dirty="0" smtClean="0">
                <a:solidFill>
                  <a:srgbClr val="0070C0"/>
                </a:solidFill>
                <a:latin typeface="Times New Roman" panose="02020603050405020304" pitchFamily="18" charset="0"/>
                <a:cs typeface="Times New Roman" panose="02020603050405020304" pitchFamily="18" charset="0"/>
              </a:rPr>
              <a:t>p</a:t>
            </a:r>
            <a:r>
              <a:rPr lang="zh-CN" altLang="en-US" b="1" i="1" u="sng" dirty="0" smtClean="0">
                <a:solidFill>
                  <a:srgbClr val="0070C0"/>
                </a:solidFill>
                <a:latin typeface="Times New Roman" panose="02020603050405020304" pitchFamily="18" charset="0"/>
                <a:cs typeface="Times New Roman" panose="02020603050405020304" pitchFamily="18" charset="0"/>
              </a:rPr>
              <a:t>的值，如 </a:t>
            </a:r>
            <a:r>
              <a:rPr lang="en-US" altLang="zh-CN" b="1" i="1" u="sng" dirty="0" err="1" smtClean="0">
                <a:solidFill>
                  <a:srgbClr val="C00000"/>
                </a:solidFill>
                <a:latin typeface="Times New Roman" panose="02020603050405020304" pitchFamily="18" charset="0"/>
                <a:cs typeface="Times New Roman" panose="02020603050405020304" pitchFamily="18" charset="0"/>
              </a:rPr>
              <a:t>int</a:t>
            </a:r>
            <a:r>
              <a:rPr lang="en-US" altLang="zh-CN" b="1" i="1" u="sng" dirty="0">
                <a:solidFill>
                  <a:srgbClr val="C00000"/>
                </a:solidFill>
                <a:latin typeface="Times New Roman" panose="02020603050405020304" pitchFamily="18" charset="0"/>
                <a:cs typeface="Times New Roman" panose="02020603050405020304" pitchFamily="18" charset="0"/>
              </a:rPr>
              <a:t>* </a:t>
            </a:r>
            <a:r>
              <a:rPr lang="en-US" altLang="zh-CN" b="1" i="1" u="sng" dirty="0" err="1">
                <a:solidFill>
                  <a:srgbClr val="C00000"/>
                </a:solidFill>
                <a:latin typeface="Times New Roman" panose="02020603050405020304" pitchFamily="18" charset="0"/>
                <a:cs typeface="Times New Roman" panose="02020603050405020304" pitchFamily="18" charset="0"/>
              </a:rPr>
              <a:t>const</a:t>
            </a:r>
            <a:r>
              <a:rPr lang="en-US" altLang="zh-CN" b="1" i="1" u="sng" dirty="0">
                <a:solidFill>
                  <a:srgbClr val="C00000"/>
                </a:solidFill>
                <a:latin typeface="Times New Roman" panose="02020603050405020304" pitchFamily="18" charset="0"/>
                <a:cs typeface="Times New Roman" panose="02020603050405020304" pitchFamily="18" charset="0"/>
              </a:rPr>
              <a:t> </a:t>
            </a:r>
            <a:r>
              <a:rPr lang="en-US" altLang="zh-CN" b="1" i="1" u="sng" dirty="0" smtClean="0">
                <a:solidFill>
                  <a:srgbClr val="C00000"/>
                </a:solidFill>
                <a:latin typeface="Times New Roman" panose="02020603050405020304" pitchFamily="18" charset="0"/>
                <a:cs typeface="Times New Roman" panose="02020603050405020304" pitchFamily="18" charset="0"/>
              </a:rPr>
              <a:t>p=&amp;a;</a:t>
            </a:r>
            <a:endParaRPr lang="en-US" altLang="zh-CN" b="1" i="1" u="sng" dirty="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但</a:t>
            </a:r>
            <a:r>
              <a:rPr lang="zh-CN" altLang="en-US" b="1" dirty="0">
                <a:solidFill>
                  <a:srgbClr val="006600"/>
                </a:solidFill>
                <a:latin typeface="Times New Roman" panose="02020603050405020304" pitchFamily="18" charset="0"/>
                <a:cs typeface="Times New Roman" panose="02020603050405020304" pitchFamily="18" charset="0"/>
              </a:rPr>
              <a:t>指向的地址单元中的内容是</a:t>
            </a:r>
            <a:r>
              <a:rPr lang="zh-CN" altLang="en-US" b="1" dirty="0">
                <a:solidFill>
                  <a:srgbClr val="C00000"/>
                </a:solidFill>
                <a:latin typeface="Times New Roman" panose="02020603050405020304" pitchFamily="18" charset="0"/>
                <a:cs typeface="Times New Roman" panose="02020603050405020304" pitchFamily="18" charset="0"/>
              </a:rPr>
              <a:t>可以</a:t>
            </a:r>
            <a:r>
              <a:rPr lang="zh-CN" altLang="en-US" b="1" dirty="0">
                <a:solidFill>
                  <a:srgbClr val="006600"/>
                </a:solidFill>
                <a:latin typeface="Times New Roman" panose="02020603050405020304" pitchFamily="18" charset="0"/>
                <a:cs typeface="Times New Roman" panose="02020603050405020304" pitchFamily="18" charset="0"/>
              </a:rPr>
              <a:t>修改的</a:t>
            </a:r>
            <a:r>
              <a:rPr lang="zh-CN" altLang="en-US" dirty="0">
                <a:latin typeface="Times New Roman" panose="02020603050405020304" pitchFamily="18" charset="0"/>
                <a:cs typeface="Times New Roman" panose="02020603050405020304" pitchFamily="18" charset="0"/>
              </a:rPr>
              <a:t>，如</a:t>
            </a:r>
            <a:r>
              <a:rPr lang="en-US" altLang="zh-CN" dirty="0">
                <a:latin typeface="Times New Roman" panose="02020603050405020304" pitchFamily="18" charset="0"/>
                <a:cs typeface="Times New Roman" panose="02020603050405020304" pitchFamily="18" charset="0"/>
              </a:rPr>
              <a:t>*p=3</a:t>
            </a:r>
            <a:r>
              <a:rPr lang="zh-CN" altLang="en-US" dirty="0">
                <a:latin typeface="Times New Roman" panose="02020603050405020304" pitchFamily="18" charset="0"/>
                <a:cs typeface="Times New Roman" panose="02020603050405020304" pitchFamily="18" charset="0"/>
              </a:rPr>
              <a:t>是</a:t>
            </a:r>
            <a:r>
              <a:rPr lang="zh-CN" altLang="en-US" dirty="0">
                <a:solidFill>
                  <a:srgbClr val="C00000"/>
                </a:solidFill>
                <a:latin typeface="Times New Roman" panose="02020603050405020304" pitchFamily="18" charset="0"/>
                <a:cs typeface="Times New Roman" panose="02020603050405020304" pitchFamily="18" charset="0"/>
              </a:rPr>
              <a:t>允许</a:t>
            </a:r>
            <a:r>
              <a:rPr lang="zh-CN" altLang="en-US" dirty="0">
                <a:latin typeface="Times New Roman" panose="02020603050405020304" pitchFamily="18" charset="0"/>
                <a:cs typeface="Times New Roman" panose="02020603050405020304" pitchFamily="18" charset="0"/>
              </a:rPr>
              <a:t>的；</a:t>
            </a:r>
            <a:endParaRPr lang="en-US" altLang="zh-CN" dirty="0">
              <a:latin typeface="Times New Roman" panose="02020603050405020304" pitchFamily="18" charset="0"/>
              <a:cs typeface="Times New Roman" panose="02020603050405020304" pitchFamily="18" charset="0"/>
            </a:endParaRPr>
          </a:p>
          <a:p>
            <a:pPr marL="1371600" lvl="2" indent="-342900">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int a[4],b[4]; </a:t>
            </a:r>
            <a:r>
              <a:rPr lang="zh-CN" altLang="en-US" sz="1800" dirty="0">
                <a:latin typeface="Times New Roman" panose="02020603050405020304" pitchFamily="18" charset="0"/>
                <a:cs typeface="Times New Roman" panose="02020603050405020304" pitchFamily="18" charset="0"/>
              </a:rPr>
              <a:t>数组名</a:t>
            </a:r>
            <a:r>
              <a:rPr lang="en-US" altLang="zh-CN" sz="1800" dirty="0" err="1">
                <a:latin typeface="Times New Roman" panose="02020603050405020304" pitchFamily="18" charset="0"/>
                <a:cs typeface="Times New Roman" panose="02020603050405020304" pitchFamily="18" charset="0"/>
              </a:rPr>
              <a:t>a,b</a:t>
            </a:r>
            <a:r>
              <a:rPr lang="zh-CN" altLang="en-US" sz="1800" dirty="0">
                <a:latin typeface="Times New Roman" panose="02020603050405020304" pitchFamily="18" charset="0"/>
                <a:cs typeface="Times New Roman" panose="02020603050405020304" pitchFamily="18" charset="0"/>
              </a:rPr>
              <a:t>是两个常量指针，</a:t>
            </a:r>
            <a:r>
              <a:rPr lang="en-US" altLang="zh-CN" sz="1800" dirty="0">
                <a:solidFill>
                  <a:srgbClr val="CC3300"/>
                </a:solidFill>
                <a:latin typeface="Times New Roman" panose="02020603050405020304" pitchFamily="18" charset="0"/>
                <a:cs typeface="Times New Roman" panose="02020603050405020304" pitchFamily="18" charset="0"/>
              </a:rPr>
              <a:t>a=b</a:t>
            </a:r>
            <a:r>
              <a:rPr lang="zh-CN" altLang="en-US" sz="1800" dirty="0">
                <a:solidFill>
                  <a:srgbClr val="CC3300"/>
                </a:solidFill>
                <a:latin typeface="Times New Roman" panose="02020603050405020304" pitchFamily="18" charset="0"/>
                <a:cs typeface="Times New Roman" panose="02020603050405020304" pitchFamily="18" charset="0"/>
              </a:rPr>
              <a:t>是不允许的</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 </a:t>
            </a:r>
          </a:p>
          <a:p>
            <a:pPr marL="971550" lvl="1"/>
            <a:r>
              <a:rPr lang="zh-CN" altLang="en-US" b="1" dirty="0">
                <a:solidFill>
                  <a:srgbClr val="030DCD"/>
                </a:solidFill>
              </a:rPr>
              <a:t>指针常量：指针指向的内容是一个常量；</a:t>
            </a:r>
            <a:endParaRPr lang="en-US" altLang="zh-CN" b="1" dirty="0">
              <a:solidFill>
                <a:srgbClr val="030DCD"/>
              </a:solidFill>
            </a:endParaRPr>
          </a:p>
          <a:p>
            <a:pPr marL="1200150" lvl="2"/>
            <a:r>
              <a:rPr lang="en-US" altLang="zh-CN" sz="1800" dirty="0">
                <a:latin typeface="Times New Roman" panose="02020603050405020304" pitchFamily="18" charset="0"/>
                <a:cs typeface="Times New Roman" panose="02020603050405020304" pitchFamily="18" charset="0"/>
              </a:rPr>
              <a:t>int</a:t>
            </a:r>
            <a:r>
              <a:rPr lang="zh-CN" altLang="en-US"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a,b</a:t>
            </a:r>
            <a:r>
              <a:rPr lang="en-US" altLang="zh-CN" sz="1800" dirty="0">
                <a:latin typeface="Times New Roman" panose="02020603050405020304" pitchFamily="18" charset="0"/>
                <a:cs typeface="Times New Roman" panose="02020603050405020304" pitchFamily="18" charset="0"/>
              </a:rPr>
              <a:t>; </a:t>
            </a:r>
            <a:r>
              <a:rPr lang="en-US" altLang="zh-CN" sz="1800" b="1" dirty="0">
                <a:solidFill>
                  <a:srgbClr val="006600"/>
                </a:solidFill>
                <a:latin typeface="Times New Roman" panose="02020603050405020304" pitchFamily="18" charset="0"/>
                <a:cs typeface="Times New Roman" panose="02020603050405020304" pitchFamily="18" charset="0"/>
              </a:rPr>
              <a:t>const int *p=&amp;a;   </a:t>
            </a:r>
            <a:r>
              <a:rPr lang="en-US" altLang="zh-CN" sz="1800" dirty="0">
                <a:latin typeface="Times New Roman" panose="02020603050405020304" pitchFamily="18" charset="0"/>
                <a:cs typeface="Times New Roman" panose="02020603050405020304" pitchFamily="18" charset="0"/>
              </a:rPr>
              <a:t>//</a:t>
            </a:r>
            <a:r>
              <a:rPr lang="en-US" altLang="zh-CN" sz="1800" b="1" dirty="0">
                <a:solidFill>
                  <a:srgbClr val="006600"/>
                </a:solidFill>
                <a:latin typeface="Times New Roman" panose="02020603050405020304" pitchFamily="18" charset="0"/>
                <a:cs typeface="Times New Roman" panose="02020603050405020304" pitchFamily="18" charset="0"/>
              </a:rPr>
              <a:t> </a:t>
            </a:r>
            <a:r>
              <a:rPr lang="zh-CN" altLang="en-US" sz="1800" b="1" dirty="0">
                <a:solidFill>
                  <a:srgbClr val="006600"/>
                </a:solidFill>
                <a:latin typeface="Times New Roman" panose="02020603050405020304" pitchFamily="18" charset="0"/>
                <a:cs typeface="Times New Roman" panose="02020603050405020304" pitchFamily="18" charset="0"/>
              </a:rPr>
              <a:t>或 </a:t>
            </a:r>
            <a:r>
              <a:rPr lang="en-US" altLang="zh-CN" sz="1800" b="1" dirty="0">
                <a:solidFill>
                  <a:srgbClr val="006600"/>
                </a:solidFill>
                <a:latin typeface="Times New Roman" panose="02020603050405020304" pitchFamily="18" charset="0"/>
                <a:cs typeface="Times New Roman" panose="02020603050405020304" pitchFamily="18" charset="0"/>
              </a:rPr>
              <a:t>int const *p</a:t>
            </a:r>
            <a:r>
              <a:rPr lang="zh-CN" altLang="en-US" sz="1800" b="1" dirty="0">
                <a:solidFill>
                  <a:srgbClr val="006600"/>
                </a:solidFill>
                <a:latin typeface="Times New Roman" panose="02020603050405020304" pitchFamily="18" charset="0"/>
                <a:cs typeface="Times New Roman" panose="02020603050405020304" pitchFamily="18" charset="0"/>
              </a:rPr>
              <a:t>；</a:t>
            </a:r>
            <a:r>
              <a:rPr lang="en-US" altLang="zh-CN" sz="1800" b="1" dirty="0">
                <a:solidFill>
                  <a:srgbClr val="006600"/>
                </a:solidFill>
                <a:latin typeface="Times New Roman" panose="02020603050405020304" pitchFamily="18" charset="0"/>
                <a:cs typeface="Times New Roman" panose="02020603050405020304" pitchFamily="18" charset="0"/>
              </a:rPr>
              <a:t>p=&amp;a;</a:t>
            </a:r>
            <a:r>
              <a:rPr lang="en-US" altLang="zh-CN" sz="1800" dirty="0">
                <a:latin typeface="Times New Roman" panose="02020603050405020304" pitchFamily="18" charset="0"/>
                <a:cs typeface="Times New Roman" panose="02020603050405020304" pitchFamily="18" charset="0"/>
              </a:rPr>
              <a:t> </a:t>
            </a:r>
          </a:p>
          <a:p>
            <a:pPr marL="1543050" lvl="3">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理解：</a:t>
            </a:r>
            <a:r>
              <a:rPr lang="zh-CN" altLang="en-US" b="1" dirty="0">
                <a:solidFill>
                  <a:srgbClr val="C00000"/>
                </a:solidFill>
                <a:latin typeface="Times New Roman" panose="02020603050405020304" pitchFamily="18" charset="0"/>
                <a:cs typeface="Times New Roman" panose="02020603050405020304" pitchFamily="18" charset="0"/>
              </a:rPr>
              <a:t>从右往左</a:t>
            </a:r>
            <a:r>
              <a:rPr lang="zh-CN" altLang="en-US" dirty="0">
                <a:latin typeface="Times New Roman" panose="02020603050405020304" pitchFamily="18" charset="0"/>
                <a:cs typeface="Times New Roman" panose="02020603050405020304" pitchFamily="18" charset="0"/>
              </a:rPr>
              <a:t>解读 </a:t>
            </a:r>
            <a:r>
              <a:rPr lang="en-US" altLang="zh-CN" b="1" i="1" u="sng" dirty="0">
                <a:solidFill>
                  <a:srgbClr val="C00000"/>
                </a:solidFill>
                <a:latin typeface="Times New Roman" panose="02020603050405020304" pitchFamily="18" charset="0"/>
                <a:cs typeface="Times New Roman" panose="02020603050405020304" pitchFamily="18" charset="0"/>
              </a:rPr>
              <a:t>const int *p</a:t>
            </a:r>
            <a:r>
              <a:rPr lang="zh-CN" altLang="en-US" dirty="0">
                <a:latin typeface="Times New Roman" panose="02020603050405020304" pitchFamily="18" charset="0"/>
                <a:cs typeface="Times New Roman" panose="02020603050405020304" pitchFamily="18" charset="0"/>
              </a:rPr>
              <a:t>：</a:t>
            </a:r>
            <a:r>
              <a:rPr lang="en-US" altLang="zh-CN" b="1" i="1" u="sng" dirty="0">
                <a:solidFill>
                  <a:srgbClr val="030DCD"/>
                </a:solidFill>
                <a:latin typeface="Times New Roman" panose="02020603050405020304" pitchFamily="18" charset="0"/>
                <a:cs typeface="Times New Roman" panose="02020603050405020304" pitchFamily="18" charset="0"/>
              </a:rPr>
              <a:t>p</a:t>
            </a:r>
            <a:r>
              <a:rPr lang="zh-CN" altLang="en-US" b="1" i="1" u="sng" dirty="0">
                <a:solidFill>
                  <a:srgbClr val="030DCD"/>
                </a:solidFill>
                <a:latin typeface="Times New Roman" panose="02020603050405020304" pitchFamily="18" charset="0"/>
                <a:cs typeface="Times New Roman" panose="02020603050405020304" pitchFamily="18" charset="0"/>
              </a:rPr>
              <a:t>是一个整型指针</a:t>
            </a:r>
            <a:r>
              <a:rPr lang="zh-CN" altLang="en-US" i="1" u="sng" dirty="0">
                <a:latin typeface="Times New Roman" panose="02020603050405020304" pitchFamily="18" charset="0"/>
                <a:cs typeface="Times New Roman" panose="02020603050405020304" pitchFamily="18" charset="0"/>
              </a:rPr>
              <a:t>，</a:t>
            </a:r>
            <a:r>
              <a:rPr lang="zh-CN" altLang="en-US" b="1" i="1" u="sng" dirty="0">
                <a:solidFill>
                  <a:srgbClr val="7030A0"/>
                </a:solidFill>
                <a:latin typeface="Times New Roman" panose="02020603050405020304" pitchFamily="18" charset="0"/>
                <a:cs typeface="Times New Roman" panose="02020603050405020304" pitchFamily="18" charset="0"/>
              </a:rPr>
              <a:t>指向一个整型常量</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1657350" lvl="3" indent="-285750">
              <a:lnSpc>
                <a:spcPct val="100000"/>
              </a:lnSpc>
              <a:buFont typeface="Wingdings" panose="05000000000000000000" pitchFamily="2" charset="2"/>
              <a:buChar char="ü"/>
            </a:pPr>
            <a:r>
              <a:rPr lang="en-US" altLang="zh-CN" dirty="0">
                <a:solidFill>
                  <a:srgbClr val="C00000"/>
                </a:solidFill>
                <a:latin typeface="Times New Roman" panose="02020603050405020304" pitchFamily="18" charset="0"/>
                <a:cs typeface="Times New Roman" panose="02020603050405020304" pitchFamily="18" charset="0"/>
              </a:rPr>
              <a:t>p</a:t>
            </a:r>
            <a:r>
              <a:rPr lang="zh-CN" altLang="en-US" dirty="0">
                <a:solidFill>
                  <a:srgbClr val="C00000"/>
                </a:solidFill>
                <a:latin typeface="Times New Roman" panose="02020603050405020304" pitchFamily="18" charset="0"/>
                <a:cs typeface="Times New Roman" panose="02020603050405020304" pitchFamily="18" charset="0"/>
              </a:rPr>
              <a:t>可以被多次赋值</a:t>
            </a:r>
            <a:r>
              <a:rPr lang="zh-CN" altLang="en-US" dirty="0">
                <a:latin typeface="Times New Roman" panose="02020603050405020304" pitchFamily="18" charset="0"/>
                <a:cs typeface="Times New Roman" panose="02020603050405020304" pitchFamily="18" charset="0"/>
              </a:rPr>
              <a:t>，指向不同的位置，如</a:t>
            </a:r>
            <a:r>
              <a:rPr lang="en-US" altLang="zh-CN" dirty="0">
                <a:latin typeface="Times New Roman" panose="02020603050405020304" pitchFamily="18" charset="0"/>
                <a:cs typeface="Times New Roman" panose="02020603050405020304" pitchFamily="18" charset="0"/>
              </a:rPr>
              <a:t>p=&amp;b</a:t>
            </a:r>
            <a:r>
              <a:rPr lang="zh-CN" altLang="en-US" dirty="0">
                <a:latin typeface="Times New Roman" panose="02020603050405020304" pitchFamily="18" charset="0"/>
                <a:cs typeface="Times New Roman" panose="02020603050405020304" pitchFamily="18" charset="0"/>
              </a:rPr>
              <a:t>是允许的；</a:t>
            </a:r>
            <a:endParaRPr lang="en-US" altLang="zh-CN" dirty="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但</a:t>
            </a:r>
            <a:r>
              <a:rPr lang="zh-CN" altLang="en-US" b="1" dirty="0">
                <a:solidFill>
                  <a:srgbClr val="006600"/>
                </a:solidFill>
                <a:latin typeface="Times New Roman" panose="02020603050405020304" pitchFamily="18" charset="0"/>
                <a:cs typeface="Times New Roman" panose="02020603050405020304" pitchFamily="18" charset="0"/>
              </a:rPr>
              <a:t>指向的地址单元中的内容是</a:t>
            </a:r>
            <a:r>
              <a:rPr lang="zh-CN" altLang="en-US" b="1" dirty="0">
                <a:solidFill>
                  <a:srgbClr val="C00000"/>
                </a:solidFill>
                <a:latin typeface="Times New Roman" panose="02020603050405020304" pitchFamily="18" charset="0"/>
                <a:cs typeface="Times New Roman" panose="02020603050405020304" pitchFamily="18" charset="0"/>
              </a:rPr>
              <a:t>不允许</a:t>
            </a:r>
            <a:r>
              <a:rPr lang="zh-CN" altLang="en-US" b="1" dirty="0">
                <a:solidFill>
                  <a:srgbClr val="006600"/>
                </a:solidFill>
                <a:latin typeface="Times New Roman" panose="02020603050405020304" pitchFamily="18" charset="0"/>
                <a:cs typeface="Times New Roman" panose="02020603050405020304" pitchFamily="18" charset="0"/>
              </a:rPr>
              <a:t>修改的</a:t>
            </a:r>
            <a:r>
              <a:rPr lang="zh-CN" altLang="en-US" dirty="0">
                <a:latin typeface="Times New Roman" panose="02020603050405020304" pitchFamily="18" charset="0"/>
                <a:cs typeface="Times New Roman" panose="02020603050405020304" pitchFamily="18" charset="0"/>
              </a:rPr>
              <a:t>，如</a:t>
            </a:r>
            <a:r>
              <a:rPr lang="en-US" altLang="zh-CN" dirty="0">
                <a:latin typeface="Times New Roman" panose="02020603050405020304" pitchFamily="18" charset="0"/>
                <a:cs typeface="Times New Roman" panose="02020603050405020304" pitchFamily="18" charset="0"/>
              </a:rPr>
              <a:t>*p=3</a:t>
            </a:r>
            <a:r>
              <a:rPr lang="zh-CN" altLang="en-US" dirty="0">
                <a:latin typeface="Times New Roman" panose="02020603050405020304" pitchFamily="18" charset="0"/>
                <a:cs typeface="Times New Roman" panose="02020603050405020304" pitchFamily="18" charset="0"/>
              </a:rPr>
              <a:t>是</a:t>
            </a:r>
            <a:r>
              <a:rPr lang="zh-CN" altLang="en-US" dirty="0">
                <a:solidFill>
                  <a:srgbClr val="C00000"/>
                </a:solidFill>
                <a:latin typeface="Times New Roman" panose="02020603050405020304" pitchFamily="18" charset="0"/>
                <a:cs typeface="Times New Roman" panose="02020603050405020304" pitchFamily="18" charset="0"/>
              </a:rPr>
              <a:t>不允许</a:t>
            </a:r>
            <a:r>
              <a:rPr lang="zh-CN" altLang="en-US" dirty="0">
                <a:latin typeface="Times New Roman" panose="02020603050405020304" pitchFamily="18" charset="0"/>
                <a:cs typeface="Times New Roman" panose="02020603050405020304" pitchFamily="18" charset="0"/>
              </a:rPr>
              <a:t>的；</a:t>
            </a:r>
            <a:endParaRPr lang="en-US" altLang="zh-CN" dirty="0">
              <a:latin typeface="Times New Roman" panose="02020603050405020304" pitchFamily="18" charset="0"/>
              <a:cs typeface="Times New Roman" panose="02020603050405020304" pitchFamily="18" charset="0"/>
            </a:endParaRPr>
          </a:p>
          <a:p>
            <a:pPr marL="1371600" lvl="2" indent="-342900">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const char  *str=“Hello word!”,</a:t>
            </a:r>
            <a:r>
              <a:rPr lang="zh-CN" altLang="en-US" sz="1800" dirty="0">
                <a:latin typeface="Times New Roman" panose="02020603050405020304" pitchFamily="18" charset="0"/>
                <a:cs typeface="Times New Roman" panose="02020603050405020304" pitchFamily="18" charset="0"/>
              </a:rPr>
              <a:t>字符串的内容不允许修改</a:t>
            </a:r>
            <a:r>
              <a:rPr lang="en-US" altLang="zh-CN" sz="18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l"/>
            </a:pPr>
            <a:r>
              <a:rPr lang="zh-CN" altLang="en-US" sz="2000" b="1" i="1" u="sng" dirty="0">
                <a:solidFill>
                  <a:srgbClr val="C00000"/>
                </a:solidFill>
              </a:rPr>
              <a:t>需要指出的是</a:t>
            </a:r>
            <a:r>
              <a:rPr lang="zh-CN" altLang="en-US" sz="2000" dirty="0"/>
              <a:t>：有的资料中将上述两者的理解与教材中的理解</a:t>
            </a:r>
            <a:r>
              <a:rPr lang="zh-CN" altLang="en-US" sz="2000" dirty="0">
                <a:solidFill>
                  <a:srgbClr val="C00000"/>
                </a:solidFill>
              </a:rPr>
              <a:t>相反</a:t>
            </a:r>
            <a:r>
              <a:rPr lang="zh-CN" altLang="en-US" sz="2000" dirty="0"/>
              <a:t>。</a:t>
            </a:r>
            <a:endParaRPr lang="en-US" altLang="zh-CN" sz="2000" dirty="0"/>
          </a:p>
          <a:p>
            <a:pPr marL="971550" lvl="1">
              <a:lnSpc>
                <a:spcPct val="100000"/>
              </a:lnSpc>
            </a:pPr>
            <a:r>
              <a:rPr lang="zh-CN" altLang="en-US" sz="1600" dirty="0">
                <a:solidFill>
                  <a:srgbClr val="0000CC"/>
                </a:solidFill>
              </a:rPr>
              <a:t>常量指针</a:t>
            </a:r>
            <a:r>
              <a:rPr lang="en-US" altLang="zh-CN" sz="1600" dirty="0"/>
              <a:t>—</a:t>
            </a:r>
            <a:r>
              <a:rPr lang="zh-CN" altLang="en-US" sz="1600" dirty="0"/>
              <a:t>指向一个常量；</a:t>
            </a:r>
            <a:endParaRPr lang="en-US" altLang="zh-CN" sz="1600" dirty="0"/>
          </a:p>
          <a:p>
            <a:pPr marL="971550" lvl="1">
              <a:lnSpc>
                <a:spcPct val="100000"/>
              </a:lnSpc>
            </a:pPr>
            <a:r>
              <a:rPr lang="zh-CN" altLang="en-US" sz="1600" dirty="0">
                <a:solidFill>
                  <a:srgbClr val="7030A0"/>
                </a:solidFill>
              </a:rPr>
              <a:t>指针常量</a:t>
            </a:r>
            <a:r>
              <a:rPr lang="en-US" altLang="zh-CN" sz="1600" dirty="0"/>
              <a:t>—</a:t>
            </a:r>
            <a:r>
              <a:rPr lang="zh-CN" altLang="en-US" sz="1600" dirty="0"/>
              <a:t>指针是一个常量；</a:t>
            </a:r>
            <a:endParaRPr lang="en-US" altLang="zh-CN" sz="1600"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3900932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数组之间的</a:t>
            </a:r>
            <a:r>
              <a:rPr lang="zh-CN" altLang="en-US" dirty="0" smtClean="0">
                <a:solidFill>
                  <a:srgbClr val="7030A0"/>
                </a:solidFill>
              </a:rPr>
              <a:t>复制</a:t>
            </a:r>
            <a:endParaRPr lang="zh-CN" altLang="en-US" dirty="0">
              <a:solidFill>
                <a:srgbClr val="7030A0"/>
              </a:solidFill>
            </a:endParaRPr>
          </a:p>
        </p:txBody>
      </p:sp>
      <p:sp>
        <p:nvSpPr>
          <p:cNvPr id="3" name="内容占位符 2"/>
          <p:cNvSpPr>
            <a:spLocks noGrp="1"/>
          </p:cNvSpPr>
          <p:nvPr>
            <p:ph idx="1"/>
          </p:nvPr>
        </p:nvSpPr>
        <p:spPr/>
        <p:txBody>
          <a:bodyPr/>
          <a:lstStyle/>
          <a:p>
            <a:pPr marL="342900" indent="-342900">
              <a:buFont typeface="Wingdings" panose="05000000000000000000" pitchFamily="2" charset="2"/>
              <a:buChar char="n"/>
            </a:pPr>
            <a:r>
              <a:rPr lang="en-US" altLang="zh-CN" dirty="0" err="1"/>
              <a:t>i</a:t>
            </a:r>
            <a:r>
              <a:rPr lang="en-US" altLang="zh-CN" dirty="0" err="1" smtClean="0"/>
              <a:t>nt</a:t>
            </a:r>
            <a:r>
              <a:rPr lang="en-US" altLang="zh-CN" dirty="0" smtClean="0"/>
              <a:t> a[20], b[10]={1,2,3,4,5};</a:t>
            </a:r>
          </a:p>
          <a:p>
            <a:pPr marL="342900" indent="-342900">
              <a:buFont typeface="Wingdings" panose="05000000000000000000" pitchFamily="2" charset="2"/>
              <a:buChar char="n"/>
            </a:pPr>
            <a:r>
              <a:rPr lang="zh-CN" altLang="en-US" dirty="0" smtClean="0"/>
              <a:t>如何 </a:t>
            </a:r>
            <a:r>
              <a:rPr lang="en-US" altLang="zh-CN" dirty="0" err="1" smtClean="0"/>
              <a:t>b</a:t>
            </a:r>
            <a:r>
              <a:rPr lang="en-US" altLang="zh-CN" dirty="0" err="1" smtClean="0">
                <a:sym typeface="Wingdings" panose="05000000000000000000" pitchFamily="2" charset="2"/>
              </a:rPr>
              <a:t></a:t>
            </a:r>
            <a:r>
              <a:rPr lang="en-US" altLang="zh-CN" dirty="0" err="1" smtClean="0"/>
              <a:t>a</a:t>
            </a:r>
            <a:r>
              <a:rPr lang="zh-CN" altLang="en-US" dirty="0" smtClean="0"/>
              <a:t>？</a:t>
            </a:r>
            <a:endParaRPr lang="en-US" altLang="zh-CN" dirty="0" smtClean="0"/>
          </a:p>
          <a:p>
            <a:pPr marL="342900" indent="-342900">
              <a:buFont typeface="Wingdings" panose="05000000000000000000" pitchFamily="2" charset="2"/>
              <a:buChar char="n"/>
            </a:pPr>
            <a:r>
              <a:rPr lang="zh-CN" altLang="en-US" dirty="0" smtClean="0"/>
              <a:t>两种常用的方法</a:t>
            </a:r>
            <a:endParaRPr lang="en-US" altLang="zh-CN" dirty="0" smtClean="0"/>
          </a:p>
          <a:p>
            <a:pPr marL="971550" lvl="1">
              <a:buFont typeface="Wingdings" panose="05000000000000000000" pitchFamily="2" charset="2"/>
              <a:buChar char="l"/>
            </a:pPr>
            <a:r>
              <a:rPr lang="zh-CN" altLang="en-US" dirty="0" smtClean="0">
                <a:solidFill>
                  <a:srgbClr val="0303DF"/>
                </a:solidFill>
              </a:rPr>
              <a:t>逐个元素之间复制</a:t>
            </a:r>
            <a:endParaRPr lang="en-US" altLang="zh-CN" dirty="0" smtClean="0">
              <a:solidFill>
                <a:srgbClr val="0303DF"/>
              </a:solidFill>
            </a:endParaRPr>
          </a:p>
          <a:p>
            <a:pPr marL="1371600" lvl="2" indent="-342900">
              <a:buFont typeface="Arial" panose="020B0604020202020204" pitchFamily="34" charset="0"/>
              <a:buChar char="•"/>
            </a:pPr>
            <a:r>
              <a:rPr lang="en-US" altLang="zh-CN" sz="1800" dirty="0"/>
              <a:t>f</a:t>
            </a:r>
            <a:r>
              <a:rPr lang="en-US" altLang="zh-CN" sz="1800" dirty="0" smtClean="0"/>
              <a:t>or (</a:t>
            </a:r>
            <a:r>
              <a:rPr lang="en-US" altLang="zh-CN" sz="1800" dirty="0" err="1" smtClean="0"/>
              <a:t>int</a:t>
            </a:r>
            <a:r>
              <a:rPr lang="en-US" altLang="zh-CN" sz="1800" dirty="0" smtClean="0"/>
              <a:t> </a:t>
            </a:r>
            <a:r>
              <a:rPr lang="en-US" altLang="zh-CN" sz="1800" dirty="0" err="1" smtClean="0"/>
              <a:t>i</a:t>
            </a:r>
            <a:r>
              <a:rPr lang="en-US" altLang="zh-CN" sz="1800" dirty="0" smtClean="0"/>
              <a:t>=0;i&lt;10;i++)</a:t>
            </a:r>
          </a:p>
          <a:p>
            <a:pPr marL="1028700" lvl="2" indent="0">
              <a:buNone/>
            </a:pPr>
            <a:r>
              <a:rPr lang="en-US" altLang="zh-CN" sz="1800" dirty="0"/>
              <a:t> </a:t>
            </a:r>
            <a:r>
              <a:rPr lang="en-US" altLang="zh-CN" sz="1800" dirty="0" smtClean="0"/>
              <a:t>        a[</a:t>
            </a:r>
            <a:r>
              <a:rPr lang="en-US" altLang="zh-CN" sz="1800" dirty="0" err="1" smtClean="0"/>
              <a:t>i</a:t>
            </a:r>
            <a:r>
              <a:rPr lang="en-US" altLang="zh-CN" sz="1800" dirty="0" smtClean="0"/>
              <a:t>]=b[</a:t>
            </a:r>
            <a:r>
              <a:rPr lang="en-US" altLang="zh-CN" sz="1800" dirty="0" err="1" smtClean="0"/>
              <a:t>i</a:t>
            </a:r>
            <a:r>
              <a:rPr lang="en-US" altLang="zh-CN" sz="1800" dirty="0" smtClean="0"/>
              <a:t>];</a:t>
            </a:r>
            <a:endParaRPr lang="en-US" altLang="zh-CN" sz="1800" dirty="0"/>
          </a:p>
          <a:p>
            <a:pPr marL="971550" lvl="1">
              <a:buFont typeface="Wingdings" panose="05000000000000000000" pitchFamily="2" charset="2"/>
              <a:buChar char="l"/>
            </a:pPr>
            <a:r>
              <a:rPr lang="zh-CN" altLang="en-US" dirty="0" smtClean="0">
                <a:solidFill>
                  <a:srgbClr val="006600"/>
                </a:solidFill>
              </a:rPr>
              <a:t>利用函数</a:t>
            </a:r>
            <a:r>
              <a:rPr lang="en-US" altLang="zh-CN" dirty="0" err="1" smtClean="0">
                <a:solidFill>
                  <a:srgbClr val="006600"/>
                </a:solidFill>
              </a:rPr>
              <a:t>memcpy</a:t>
            </a:r>
            <a:r>
              <a:rPr lang="zh-CN" altLang="en-US" dirty="0" smtClean="0">
                <a:solidFill>
                  <a:srgbClr val="006600"/>
                </a:solidFill>
              </a:rPr>
              <a:t>整体复制</a:t>
            </a:r>
            <a:endParaRPr lang="en-US" altLang="zh-CN" dirty="0" smtClean="0">
              <a:solidFill>
                <a:srgbClr val="006600"/>
              </a:solidFill>
            </a:endParaRPr>
          </a:p>
          <a:p>
            <a:pPr marL="1371600" lvl="2" indent="-342900">
              <a:buFont typeface="Arial" panose="020B0604020202020204" pitchFamily="34" charset="0"/>
              <a:buChar char="•"/>
            </a:pPr>
            <a:r>
              <a:rPr lang="en-US" altLang="zh-CN" sz="1800" dirty="0" err="1" smtClean="0"/>
              <a:t>memcpy</a:t>
            </a:r>
            <a:r>
              <a:rPr lang="en-US" altLang="zh-CN" sz="1800" dirty="0" smtClean="0"/>
              <a:t>(a, b, 10*</a:t>
            </a:r>
            <a:r>
              <a:rPr lang="en-US" altLang="zh-CN" sz="1800" dirty="0" err="1" smtClean="0"/>
              <a:t>sizeof</a:t>
            </a:r>
            <a:r>
              <a:rPr lang="en-US" altLang="zh-CN" sz="1800" dirty="0" smtClean="0"/>
              <a:t>(</a:t>
            </a:r>
            <a:r>
              <a:rPr lang="en-US" altLang="zh-CN" sz="1800" dirty="0" err="1" smtClean="0"/>
              <a:t>int</a:t>
            </a:r>
            <a:r>
              <a:rPr lang="en-US" altLang="zh-CN" sz="1800" dirty="0" smtClean="0"/>
              <a:t>));</a:t>
            </a:r>
          </a:p>
          <a:p>
            <a:pPr marL="1371600" lvl="2" indent="-342900">
              <a:buFont typeface="Arial" panose="020B0604020202020204" pitchFamily="34" charset="0"/>
              <a:buChar char="•"/>
            </a:pPr>
            <a:r>
              <a:rPr lang="en-US" altLang="zh-CN" sz="1800" dirty="0" err="1" smtClean="0"/>
              <a:t>memcpy</a:t>
            </a:r>
            <a:r>
              <a:rPr lang="en-US" altLang="zh-CN" sz="1800" dirty="0" smtClean="0"/>
              <a:t>(a, b, </a:t>
            </a:r>
            <a:r>
              <a:rPr lang="en-US" altLang="zh-CN" sz="1800" dirty="0" err="1" smtClean="0"/>
              <a:t>sizeof</a:t>
            </a:r>
            <a:r>
              <a:rPr lang="en-US" altLang="zh-CN" sz="1800" dirty="0" smtClean="0"/>
              <a:t>(b));</a:t>
            </a:r>
          </a:p>
          <a:p>
            <a:pPr marL="1371600" lvl="2" indent="-342900">
              <a:buFont typeface="Arial" panose="020B0604020202020204" pitchFamily="34" charset="0"/>
              <a:buChar char="•"/>
            </a:pPr>
            <a:r>
              <a:rPr lang="en-US" altLang="zh-CN" sz="1800" dirty="0" err="1" smtClean="0"/>
              <a:t>int</a:t>
            </a:r>
            <a:r>
              <a:rPr lang="en-US" altLang="zh-CN" sz="1800" dirty="0" smtClean="0"/>
              <a:t> </a:t>
            </a:r>
            <a:r>
              <a:rPr lang="zh-CN" altLang="en-US" sz="1800" dirty="0" smtClean="0"/>
              <a:t>*</a:t>
            </a:r>
            <a:r>
              <a:rPr lang="en-US" altLang="zh-CN" sz="1800" dirty="0" smtClean="0"/>
              <a:t>p=(</a:t>
            </a:r>
            <a:r>
              <a:rPr lang="en-US" altLang="zh-CN" sz="1800" dirty="0" err="1" smtClean="0"/>
              <a:t>int</a:t>
            </a:r>
            <a:r>
              <a:rPr lang="en-US" altLang="zh-CN" sz="1800" dirty="0" smtClean="0"/>
              <a:t> *)</a:t>
            </a:r>
            <a:r>
              <a:rPr lang="en-US" altLang="zh-CN" sz="1800" dirty="0"/>
              <a:t> </a:t>
            </a:r>
            <a:r>
              <a:rPr lang="en-US" altLang="zh-CN" sz="1800" dirty="0" err="1"/>
              <a:t>memcpy</a:t>
            </a:r>
            <a:r>
              <a:rPr lang="en-US" altLang="zh-CN" sz="1800" dirty="0"/>
              <a:t>(</a:t>
            </a:r>
            <a:r>
              <a:rPr lang="en-US" altLang="zh-CN" sz="1800" dirty="0" err="1"/>
              <a:t>a,b,sizeof</a:t>
            </a:r>
            <a:r>
              <a:rPr lang="en-US" altLang="zh-CN" sz="1800" dirty="0"/>
              <a:t>(b</a:t>
            </a:r>
            <a:r>
              <a:rPr lang="en-US" altLang="zh-CN" sz="1800" dirty="0" smtClean="0"/>
              <a:t>)); //</a:t>
            </a:r>
            <a:r>
              <a:rPr lang="zh-CN" altLang="en-US" sz="1800" dirty="0" smtClean="0"/>
              <a:t>返回值</a:t>
            </a:r>
            <a:r>
              <a:rPr lang="en-US" altLang="zh-CN" sz="1800" dirty="0" smtClean="0"/>
              <a:t>p</a:t>
            </a:r>
            <a:r>
              <a:rPr lang="zh-CN" altLang="en-US" sz="1800" dirty="0" smtClean="0"/>
              <a:t>指向</a:t>
            </a:r>
            <a:r>
              <a:rPr lang="en-US" altLang="zh-CN" sz="1800" dirty="0" smtClean="0"/>
              <a:t>a[0]</a:t>
            </a:r>
            <a:endParaRPr lang="en-US" altLang="zh-CN" sz="1800" dirty="0"/>
          </a:p>
          <a:p>
            <a:pPr marL="1371600" lvl="2" indent="-342900">
              <a:buFont typeface="Arial" panose="020B0604020202020204" pitchFamily="34" charset="0"/>
              <a:buChar char="•"/>
            </a:pPr>
            <a:endParaRPr lang="en-US" altLang="zh-CN" sz="1800" dirty="0"/>
          </a:p>
          <a:p>
            <a:pPr marL="1371600" lvl="2" indent="-342900">
              <a:buFont typeface="Arial" panose="020B0604020202020204" pitchFamily="34" charset="0"/>
              <a:buChar char="•"/>
            </a:pPr>
            <a:endParaRPr lang="en-US" altLang="zh-CN" sz="1800" dirty="0"/>
          </a:p>
          <a:p>
            <a:pPr marL="342900" indent="-342900">
              <a:buFont typeface="Wingdings" panose="05000000000000000000" pitchFamily="2" charset="2"/>
              <a:buChar char="n"/>
            </a:pPr>
            <a:endParaRPr lang="zh-CN" altLang="en-US" dirty="0"/>
          </a:p>
        </p:txBody>
      </p:sp>
    </p:spTree>
    <p:extLst>
      <p:ext uri="{BB962C8B-B14F-4D97-AF65-F5344CB8AC3E}">
        <p14:creationId xmlns:p14="http://schemas.microsoft.com/office/powerpoint/2010/main" val="3744164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函数</a:t>
            </a:r>
            <a:r>
              <a:rPr lang="en-US" altLang="zh-CN" dirty="0" err="1" smtClean="0">
                <a:solidFill>
                  <a:srgbClr val="7030A0"/>
                </a:solidFill>
              </a:rPr>
              <a:t>memcpy</a:t>
            </a:r>
            <a:endParaRPr lang="zh-CN" altLang="en-US" dirty="0">
              <a:solidFill>
                <a:srgbClr val="7030A0"/>
              </a:solidFill>
            </a:endParaRPr>
          </a:p>
        </p:txBody>
      </p:sp>
      <p:sp>
        <p:nvSpPr>
          <p:cNvPr id="3" name="内容占位符 2"/>
          <p:cNvSpPr>
            <a:spLocks noGrp="1"/>
          </p:cNvSpPr>
          <p:nvPr>
            <p:ph idx="1"/>
          </p:nvPr>
        </p:nvSpPr>
        <p:spPr/>
        <p:txBody>
          <a:bodyPr/>
          <a:lstStyle/>
          <a:p>
            <a:pPr marL="342900" indent="-342900">
              <a:buFont typeface="Wingdings" panose="05000000000000000000" pitchFamily="2" charset="2"/>
              <a:buChar char="n"/>
            </a:pPr>
            <a:r>
              <a:rPr lang="zh-CN" altLang="en-US" sz="1800" dirty="0" smtClean="0"/>
              <a:t>头文件：</a:t>
            </a:r>
            <a:r>
              <a:rPr lang="en-US" altLang="zh-CN" sz="1800" dirty="0" smtClean="0"/>
              <a:t>&lt;</a:t>
            </a:r>
            <a:r>
              <a:rPr lang="en-US" altLang="zh-CN" sz="1800" dirty="0" err="1" smtClean="0"/>
              <a:t>string.h</a:t>
            </a:r>
            <a:r>
              <a:rPr lang="en-US" altLang="zh-CN" sz="1800" dirty="0" smtClean="0"/>
              <a:t>&gt;</a:t>
            </a:r>
          </a:p>
          <a:p>
            <a:pPr marL="342900" indent="-342900">
              <a:buFont typeface="Wingdings" panose="05000000000000000000" pitchFamily="2" charset="2"/>
              <a:buChar char="n"/>
            </a:pPr>
            <a:r>
              <a:rPr lang="zh-CN" altLang="en-US" sz="1800" dirty="0" smtClean="0"/>
              <a:t>原型：</a:t>
            </a:r>
            <a:r>
              <a:rPr lang="en-US" altLang="zh-CN" sz="1800" dirty="0" smtClean="0">
                <a:solidFill>
                  <a:srgbClr val="080808"/>
                </a:solidFill>
              </a:rPr>
              <a:t>void </a:t>
            </a:r>
            <a:r>
              <a:rPr lang="en-US" altLang="zh-CN" sz="1800" dirty="0">
                <a:solidFill>
                  <a:srgbClr val="080808"/>
                </a:solidFill>
              </a:rPr>
              <a:t>*</a:t>
            </a:r>
            <a:r>
              <a:rPr lang="en-US" altLang="zh-CN" sz="1800" dirty="0" err="1">
                <a:solidFill>
                  <a:srgbClr val="080808"/>
                </a:solidFill>
              </a:rPr>
              <a:t>memcpy</a:t>
            </a:r>
            <a:r>
              <a:rPr lang="en-US" altLang="zh-CN" sz="1800" dirty="0">
                <a:solidFill>
                  <a:srgbClr val="080808"/>
                </a:solidFill>
              </a:rPr>
              <a:t>(void *</a:t>
            </a:r>
            <a:r>
              <a:rPr lang="en-US" altLang="zh-CN" sz="1800" dirty="0" err="1">
                <a:solidFill>
                  <a:srgbClr val="080808"/>
                </a:solidFill>
              </a:rPr>
              <a:t>destin</a:t>
            </a:r>
            <a:r>
              <a:rPr lang="en-US" altLang="zh-CN" sz="1800" dirty="0">
                <a:solidFill>
                  <a:srgbClr val="080808"/>
                </a:solidFill>
              </a:rPr>
              <a:t>, void *source, unsigned n</a:t>
            </a:r>
            <a:r>
              <a:rPr lang="en-US" altLang="zh-CN" sz="1800" dirty="0" smtClean="0">
                <a:solidFill>
                  <a:srgbClr val="080808"/>
                </a:solidFill>
              </a:rPr>
              <a:t>);</a:t>
            </a:r>
          </a:p>
          <a:p>
            <a:pPr marL="342900" indent="-342900">
              <a:buFont typeface="Wingdings" panose="05000000000000000000" pitchFamily="2" charset="2"/>
              <a:buChar char="n"/>
            </a:pPr>
            <a:r>
              <a:rPr lang="zh-CN" altLang="en-US" sz="1800" dirty="0" smtClean="0"/>
              <a:t>参数</a:t>
            </a:r>
            <a:endParaRPr lang="en-US" altLang="zh-CN" sz="1800" dirty="0" smtClean="0"/>
          </a:p>
          <a:p>
            <a:pPr marL="971550" lvl="1">
              <a:buFont typeface="Wingdings" panose="05000000000000000000" pitchFamily="2" charset="2"/>
              <a:buChar char="l"/>
            </a:pPr>
            <a:r>
              <a:rPr lang="en-US" altLang="zh-CN" sz="1600" dirty="0" err="1"/>
              <a:t>destin</a:t>
            </a:r>
            <a:r>
              <a:rPr lang="en-US" altLang="zh-CN" sz="1600" dirty="0"/>
              <a:t>-- </a:t>
            </a:r>
            <a:r>
              <a:rPr lang="zh-CN" altLang="en-US" sz="1600" dirty="0"/>
              <a:t>指向用于存储复制内容的目标数组，类型强制转换为 </a:t>
            </a:r>
            <a:r>
              <a:rPr lang="en-US" altLang="zh-CN" sz="1600" dirty="0"/>
              <a:t>void* </a:t>
            </a:r>
            <a:r>
              <a:rPr lang="zh-CN" altLang="en-US" sz="1600" dirty="0"/>
              <a:t>指针。</a:t>
            </a:r>
          </a:p>
          <a:p>
            <a:pPr marL="971550" lvl="1">
              <a:buFont typeface="Wingdings" panose="05000000000000000000" pitchFamily="2" charset="2"/>
              <a:buChar char="l"/>
            </a:pPr>
            <a:r>
              <a:rPr lang="en-US" altLang="zh-CN" sz="1600" dirty="0"/>
              <a:t>source-- </a:t>
            </a:r>
            <a:r>
              <a:rPr lang="zh-CN" altLang="en-US" sz="1600" dirty="0"/>
              <a:t>指向要复制的数据源，类型强制转换为 </a:t>
            </a:r>
            <a:r>
              <a:rPr lang="en-US" altLang="zh-CN" sz="1600" dirty="0"/>
              <a:t>void* </a:t>
            </a:r>
            <a:r>
              <a:rPr lang="zh-CN" altLang="en-US" sz="1600" dirty="0"/>
              <a:t>指针。</a:t>
            </a:r>
          </a:p>
          <a:p>
            <a:pPr marL="971550" lvl="1">
              <a:buFont typeface="Wingdings" panose="05000000000000000000" pitchFamily="2" charset="2"/>
              <a:buChar char="l"/>
            </a:pPr>
            <a:r>
              <a:rPr lang="en-US" altLang="zh-CN" sz="1600" dirty="0"/>
              <a:t>n-- </a:t>
            </a:r>
            <a:r>
              <a:rPr lang="zh-CN" altLang="en-US" sz="1600" dirty="0" smtClean="0"/>
              <a:t>要复制</a:t>
            </a:r>
            <a:r>
              <a:rPr lang="zh-CN" altLang="en-US" sz="1600" dirty="0"/>
              <a:t>的字节数</a:t>
            </a:r>
            <a:r>
              <a:rPr lang="zh-CN" altLang="en-US" sz="1600" dirty="0" smtClean="0"/>
              <a:t>。</a:t>
            </a:r>
            <a:endParaRPr lang="en-US" altLang="zh-CN" sz="1400" dirty="0" smtClean="0"/>
          </a:p>
          <a:p>
            <a:pPr marL="342900" indent="-342900">
              <a:buFont typeface="Wingdings" panose="05000000000000000000" pitchFamily="2" charset="2"/>
              <a:buChar char="n"/>
            </a:pPr>
            <a:r>
              <a:rPr lang="zh-CN" altLang="en-US" sz="1800" dirty="0" smtClean="0"/>
              <a:t>返回值</a:t>
            </a:r>
            <a:endParaRPr lang="en-US" altLang="zh-CN" sz="1800" dirty="0" smtClean="0"/>
          </a:p>
          <a:p>
            <a:pPr marL="971550" lvl="1">
              <a:buFont typeface="Wingdings" panose="05000000000000000000" pitchFamily="2" charset="2"/>
              <a:buChar char="l"/>
            </a:pPr>
            <a:r>
              <a:rPr lang="zh-CN" altLang="en-US" sz="1600" dirty="0" smtClean="0"/>
              <a:t>函数</a:t>
            </a:r>
            <a:r>
              <a:rPr lang="zh-CN" altLang="en-US" sz="1600" dirty="0"/>
              <a:t>返回一个指向目标存储区</a:t>
            </a:r>
            <a:r>
              <a:rPr lang="en-US" altLang="zh-CN" sz="1600" dirty="0" err="1"/>
              <a:t>destin</a:t>
            </a:r>
            <a:r>
              <a:rPr lang="zh-CN" altLang="en-US" sz="1600" dirty="0"/>
              <a:t>的指针。</a:t>
            </a:r>
            <a:endParaRPr lang="en-US" altLang="zh-CN" sz="1600" dirty="0"/>
          </a:p>
          <a:p>
            <a:pPr marL="342900" indent="-342900">
              <a:buFont typeface="Wingdings" panose="05000000000000000000" pitchFamily="2" charset="2"/>
              <a:buChar char="n"/>
            </a:pPr>
            <a:r>
              <a:rPr lang="zh-CN" altLang="en-US" sz="1800" dirty="0" smtClean="0"/>
              <a:t>功能</a:t>
            </a:r>
            <a:endParaRPr lang="en-US" altLang="zh-CN" sz="1800" dirty="0" smtClean="0"/>
          </a:p>
          <a:p>
            <a:pPr marL="971550" lvl="1">
              <a:buFont typeface="Wingdings" panose="05000000000000000000" pitchFamily="2" charset="2"/>
              <a:buChar char="l"/>
            </a:pPr>
            <a:r>
              <a:rPr lang="zh-CN" altLang="en-US" sz="1600" dirty="0"/>
              <a:t>从源</a:t>
            </a:r>
            <a:r>
              <a:rPr lang="en-US" altLang="zh-CN" sz="1600" dirty="0"/>
              <a:t>source</a:t>
            </a:r>
            <a:r>
              <a:rPr lang="zh-CN" altLang="en-US" sz="1600" dirty="0"/>
              <a:t>所指的内存地址的起始位置开始拷贝</a:t>
            </a:r>
            <a:r>
              <a:rPr lang="en-US" altLang="zh-CN" sz="1600" dirty="0"/>
              <a:t>n</a:t>
            </a:r>
            <a:r>
              <a:rPr lang="zh-CN" altLang="en-US" sz="1600" dirty="0"/>
              <a:t>个字节到目标</a:t>
            </a:r>
            <a:r>
              <a:rPr lang="en-US" altLang="zh-CN" sz="1600" dirty="0" err="1"/>
              <a:t>destin</a:t>
            </a:r>
            <a:r>
              <a:rPr lang="zh-CN" altLang="en-US" sz="1600" dirty="0"/>
              <a:t>所指的内存地址的起始位置中。</a:t>
            </a:r>
            <a:endParaRPr lang="en-US" altLang="zh-CN" sz="1600" dirty="0"/>
          </a:p>
          <a:p>
            <a:pPr marL="342900" indent="-342900">
              <a:buFont typeface="Wingdings" panose="05000000000000000000" pitchFamily="2" charset="2"/>
              <a:buChar char="n"/>
            </a:pPr>
            <a:r>
              <a:rPr lang="zh-CN" altLang="en-US" sz="1800" dirty="0"/>
              <a:t>注</a:t>
            </a:r>
            <a:r>
              <a:rPr lang="zh-CN" altLang="en-US" sz="1800" dirty="0" smtClean="0"/>
              <a:t>：</a:t>
            </a:r>
            <a:endParaRPr lang="en-US" altLang="zh-CN" sz="1800" dirty="0" smtClean="0"/>
          </a:p>
          <a:p>
            <a:pPr marL="971550" lvl="1">
              <a:buFont typeface="Wingdings" panose="05000000000000000000" pitchFamily="2" charset="2"/>
              <a:buChar char="l"/>
            </a:pPr>
            <a:r>
              <a:rPr lang="en-US" altLang="zh-CN" sz="1600" dirty="0" err="1" smtClean="0"/>
              <a:t>memcpy</a:t>
            </a:r>
            <a:r>
              <a:rPr lang="en-US" altLang="zh-CN" sz="1600" dirty="0"/>
              <a:t>() </a:t>
            </a:r>
            <a:r>
              <a:rPr lang="zh-CN" altLang="en-US" sz="1600" dirty="0"/>
              <a:t>并不关心被复制的</a:t>
            </a:r>
            <a:r>
              <a:rPr lang="zh-CN" altLang="en-US" sz="1600" dirty="0" smtClean="0"/>
              <a:t>数据类型，</a:t>
            </a:r>
            <a:r>
              <a:rPr lang="zh-CN" altLang="en-US" sz="1600" dirty="0"/>
              <a:t>只是逐字节地进行复制</a:t>
            </a:r>
            <a:endParaRPr lang="en-US" altLang="zh-CN" sz="1600" dirty="0"/>
          </a:p>
          <a:p>
            <a:pPr marL="342900" indent="-342900">
              <a:buFont typeface="Wingdings" panose="05000000000000000000" pitchFamily="2" charset="2"/>
              <a:buChar char="n"/>
            </a:pPr>
            <a:endParaRPr lang="en-US" altLang="zh-CN" sz="2000" dirty="0"/>
          </a:p>
          <a:p>
            <a:pPr marL="342900" indent="-342900">
              <a:buFont typeface="Wingdings" panose="05000000000000000000" pitchFamily="2" charset="2"/>
              <a:buChar char="n"/>
            </a:pPr>
            <a:endParaRPr lang="en-US" altLang="zh-CN" sz="2000" dirty="0"/>
          </a:p>
          <a:p>
            <a:pPr marL="342900" indent="-342900">
              <a:buFont typeface="Wingdings" panose="05000000000000000000" pitchFamily="2" charset="2"/>
              <a:buChar char="n"/>
            </a:pPr>
            <a:endParaRPr lang="en-US" altLang="zh-CN" sz="2000" dirty="0" smtClean="0"/>
          </a:p>
          <a:p>
            <a:pPr marL="342900">
              <a:buFont typeface="Wingdings" panose="05000000000000000000" pitchFamily="2" charset="2"/>
              <a:buChar char="l"/>
            </a:pPr>
            <a:endParaRPr lang="en-US" altLang="zh-CN" sz="2200" dirty="0"/>
          </a:p>
        </p:txBody>
      </p:sp>
    </p:spTree>
    <p:extLst>
      <p:ext uri="{BB962C8B-B14F-4D97-AF65-F5344CB8AC3E}">
        <p14:creationId xmlns:p14="http://schemas.microsoft.com/office/powerpoint/2010/main" val="41075733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函数</a:t>
            </a:r>
            <a:r>
              <a:rPr lang="en-US" altLang="zh-CN" dirty="0" err="1" smtClean="0">
                <a:solidFill>
                  <a:srgbClr val="7030A0"/>
                </a:solidFill>
              </a:rPr>
              <a:t>memcpy</a:t>
            </a:r>
            <a:r>
              <a:rPr lang="zh-CN" altLang="en-US" dirty="0" smtClean="0">
                <a:solidFill>
                  <a:srgbClr val="7030A0"/>
                </a:solidFill>
              </a:rPr>
              <a:t>例</a:t>
            </a:r>
            <a:endParaRPr lang="zh-CN" altLang="en-US" dirty="0">
              <a:solidFill>
                <a:srgbClr val="7030A0"/>
              </a:solidFill>
            </a:endParaRPr>
          </a:p>
        </p:txBody>
      </p:sp>
      <p:sp>
        <p:nvSpPr>
          <p:cNvPr id="3" name="内容占位符 2"/>
          <p:cNvSpPr>
            <a:spLocks noGrp="1"/>
          </p:cNvSpPr>
          <p:nvPr>
            <p:ph idx="1"/>
          </p:nvPr>
        </p:nvSpPr>
        <p:spPr/>
        <p:txBody>
          <a:bodyPr/>
          <a:lstStyle/>
          <a:p>
            <a:pPr marL="342900" indent="-342900">
              <a:buFont typeface="Wingdings" panose="05000000000000000000" pitchFamily="2" charset="2"/>
              <a:buChar char="n"/>
            </a:pPr>
            <a:endParaRPr lang="en-US" altLang="zh-CN" sz="1800" dirty="0" smtClean="0"/>
          </a:p>
        </p:txBody>
      </p:sp>
      <p:pic>
        <p:nvPicPr>
          <p:cNvPr id="6" name="图片 5"/>
          <p:cNvPicPr>
            <a:picLocks noChangeAspect="1"/>
          </p:cNvPicPr>
          <p:nvPr/>
        </p:nvPicPr>
        <p:blipFill>
          <a:blip r:embed="rId2"/>
          <a:stretch>
            <a:fillRect/>
          </a:stretch>
        </p:blipFill>
        <p:spPr>
          <a:xfrm>
            <a:off x="591121" y="1135063"/>
            <a:ext cx="6334125" cy="5076825"/>
          </a:xfrm>
          <a:prstGeom prst="rect">
            <a:avLst/>
          </a:prstGeom>
        </p:spPr>
      </p:pic>
    </p:spTree>
    <p:extLst>
      <p:ext uri="{BB962C8B-B14F-4D97-AF65-F5344CB8AC3E}">
        <p14:creationId xmlns:p14="http://schemas.microsoft.com/office/powerpoint/2010/main" val="20702734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函数</a:t>
            </a:r>
            <a:r>
              <a:rPr lang="en-US" altLang="zh-CN" dirty="0" err="1" smtClean="0">
                <a:solidFill>
                  <a:srgbClr val="7030A0"/>
                </a:solidFill>
              </a:rPr>
              <a:t>memcpy</a:t>
            </a:r>
            <a:r>
              <a:rPr lang="zh-CN" altLang="en-US" dirty="0" smtClean="0">
                <a:solidFill>
                  <a:srgbClr val="7030A0"/>
                </a:solidFill>
              </a:rPr>
              <a:t>例</a:t>
            </a:r>
            <a:endParaRPr lang="zh-CN" altLang="en-US" dirty="0">
              <a:solidFill>
                <a:srgbClr val="7030A0"/>
              </a:solidFill>
            </a:endParaRPr>
          </a:p>
        </p:txBody>
      </p:sp>
      <p:sp>
        <p:nvSpPr>
          <p:cNvPr id="3" name="内容占位符 2"/>
          <p:cNvSpPr>
            <a:spLocks noGrp="1"/>
          </p:cNvSpPr>
          <p:nvPr>
            <p:ph idx="1"/>
          </p:nvPr>
        </p:nvSpPr>
        <p:spPr>
          <a:xfrm>
            <a:off x="6638543" y="1135063"/>
            <a:ext cx="1937131" cy="5076825"/>
          </a:xfrm>
        </p:spPr>
        <p:txBody>
          <a:bodyPr/>
          <a:lstStyle/>
          <a:p>
            <a:pPr marL="342900" indent="-342900">
              <a:buFont typeface="Wingdings" panose="05000000000000000000" pitchFamily="2" charset="2"/>
              <a:buChar char="n"/>
            </a:pPr>
            <a:r>
              <a:rPr lang="en-US" altLang="zh-CN" sz="1800" dirty="0" err="1"/>
              <a:t>memcpy</a:t>
            </a:r>
            <a:r>
              <a:rPr lang="en-US" altLang="zh-CN" sz="1800" dirty="0"/>
              <a:t>() </a:t>
            </a:r>
            <a:r>
              <a:rPr lang="zh-CN" altLang="en-US" sz="1800" dirty="0"/>
              <a:t>并不关心被复制的</a:t>
            </a:r>
            <a:r>
              <a:rPr lang="zh-CN" altLang="en-US" sz="1800" dirty="0" smtClean="0"/>
              <a:t>数据类型，只是</a:t>
            </a:r>
            <a:r>
              <a:rPr lang="zh-CN" altLang="en-US" sz="1800" dirty="0"/>
              <a:t>逐字节地</a:t>
            </a:r>
            <a:r>
              <a:rPr lang="zh-CN" altLang="en-US" sz="1800" dirty="0" smtClean="0"/>
              <a:t>进行复制</a:t>
            </a:r>
            <a:endParaRPr lang="en-US" altLang="zh-CN" sz="1800" dirty="0" smtClean="0"/>
          </a:p>
          <a:p>
            <a:pPr marL="342900" indent="-342900">
              <a:buFont typeface="Wingdings" panose="05000000000000000000" pitchFamily="2" charset="2"/>
              <a:buChar char="n"/>
            </a:pPr>
            <a:r>
              <a:rPr lang="zh-CN" altLang="en-US" sz="1800" dirty="0" smtClean="0"/>
              <a:t>这里将整型数组</a:t>
            </a:r>
            <a:r>
              <a:rPr lang="en-US" altLang="zh-CN" sz="1800" dirty="0" smtClean="0"/>
              <a:t>a</a:t>
            </a:r>
            <a:r>
              <a:rPr lang="zh-CN" altLang="en-US" sz="1800" dirty="0" smtClean="0">
                <a:solidFill>
                  <a:srgbClr val="C00000"/>
                </a:solidFill>
              </a:rPr>
              <a:t>按字节复制</a:t>
            </a:r>
            <a:r>
              <a:rPr lang="zh-CN" altLang="en-US" sz="1800" dirty="0" smtClean="0"/>
              <a:t>给浮点型数组</a:t>
            </a:r>
            <a:r>
              <a:rPr lang="en-US" altLang="zh-CN" sz="1800" dirty="0" smtClean="0"/>
              <a:t>f</a:t>
            </a:r>
            <a:r>
              <a:rPr lang="zh-CN" altLang="en-US" sz="1800" dirty="0" smtClean="0"/>
              <a:t>；</a:t>
            </a:r>
            <a:endParaRPr lang="en-US" altLang="zh-CN" sz="1800" dirty="0" smtClean="0"/>
          </a:p>
          <a:p>
            <a:pPr marL="342900" indent="-342900">
              <a:buFont typeface="Wingdings" panose="05000000000000000000" pitchFamily="2" charset="2"/>
              <a:buChar char="n"/>
            </a:pPr>
            <a:r>
              <a:rPr lang="en-US" altLang="zh-CN" sz="1800" dirty="0" smtClean="0"/>
              <a:t>f[</a:t>
            </a:r>
            <a:r>
              <a:rPr lang="en-US" altLang="zh-CN" sz="1800" dirty="0" err="1" smtClean="0"/>
              <a:t>i</a:t>
            </a:r>
            <a:r>
              <a:rPr lang="en-US" altLang="zh-CN" sz="1800" dirty="0" smtClean="0"/>
              <a:t>]</a:t>
            </a:r>
            <a:r>
              <a:rPr lang="zh-CN" altLang="en-US" sz="1800" dirty="0" smtClean="0"/>
              <a:t>中的值仍然是</a:t>
            </a:r>
            <a:r>
              <a:rPr lang="en-US" altLang="zh-CN" sz="1800" dirty="0" smtClean="0"/>
              <a:t>a[</a:t>
            </a:r>
            <a:r>
              <a:rPr lang="en-US" altLang="zh-CN" sz="1800" dirty="0" err="1" smtClean="0"/>
              <a:t>i</a:t>
            </a:r>
            <a:r>
              <a:rPr lang="en-US" altLang="zh-CN" sz="1800" dirty="0" smtClean="0"/>
              <a:t>]</a:t>
            </a:r>
            <a:r>
              <a:rPr lang="zh-CN" altLang="en-US" sz="1800" dirty="0" smtClean="0"/>
              <a:t>的机器数，即整型数据</a:t>
            </a:r>
            <a:r>
              <a:rPr lang="en-US" altLang="zh-CN" sz="1800" dirty="0" smtClean="0"/>
              <a:t>a[</a:t>
            </a:r>
            <a:r>
              <a:rPr lang="en-US" altLang="zh-CN" sz="1800" dirty="0" err="1" smtClean="0"/>
              <a:t>i</a:t>
            </a:r>
            <a:r>
              <a:rPr lang="en-US" altLang="zh-CN" sz="1800" dirty="0" smtClean="0"/>
              <a:t>]</a:t>
            </a:r>
            <a:r>
              <a:rPr lang="zh-CN" altLang="en-US" sz="1800" dirty="0" smtClean="0"/>
              <a:t>的补码</a:t>
            </a:r>
            <a:endParaRPr lang="en-US" altLang="zh-CN" sz="1800" dirty="0" smtClean="0"/>
          </a:p>
          <a:p>
            <a:pPr marL="342900" indent="-342900">
              <a:buFont typeface="Wingdings" panose="05000000000000000000" pitchFamily="2" charset="2"/>
              <a:buChar char="n"/>
            </a:pPr>
            <a:r>
              <a:rPr lang="zh-CN" altLang="en-US" sz="1800" dirty="0" smtClean="0"/>
              <a:t>因此，</a:t>
            </a:r>
            <a:r>
              <a:rPr lang="en-US" altLang="zh-CN" sz="1800" dirty="0" smtClean="0"/>
              <a:t>f[</a:t>
            </a:r>
            <a:r>
              <a:rPr lang="en-US" altLang="zh-CN" sz="1800" dirty="0" err="1" smtClean="0"/>
              <a:t>i</a:t>
            </a:r>
            <a:r>
              <a:rPr lang="en-US" altLang="zh-CN" sz="1800" dirty="0" smtClean="0"/>
              <a:t>]</a:t>
            </a:r>
            <a:r>
              <a:rPr lang="zh-CN" altLang="en-US" sz="1800" smtClean="0"/>
              <a:t>可以按照整型数据格式输出</a:t>
            </a:r>
            <a:endParaRPr lang="en-US" altLang="zh-CN" sz="1800" dirty="0" smtClean="0"/>
          </a:p>
          <a:p>
            <a:pPr marL="342900" indent="-342900">
              <a:buFont typeface="Wingdings" panose="05000000000000000000" pitchFamily="2" charset="2"/>
              <a:buChar char="n"/>
            </a:pPr>
            <a:endParaRPr lang="en-US" altLang="zh-CN" sz="1800" dirty="0" smtClean="0"/>
          </a:p>
        </p:txBody>
      </p:sp>
      <p:pic>
        <p:nvPicPr>
          <p:cNvPr id="5" name="图片 4"/>
          <p:cNvPicPr>
            <a:picLocks noChangeAspect="1"/>
          </p:cNvPicPr>
          <p:nvPr/>
        </p:nvPicPr>
        <p:blipFill>
          <a:blip r:embed="rId2"/>
          <a:stretch>
            <a:fillRect/>
          </a:stretch>
        </p:blipFill>
        <p:spPr>
          <a:xfrm>
            <a:off x="319087" y="1135063"/>
            <a:ext cx="6219825" cy="5076825"/>
          </a:xfrm>
          <a:prstGeom prst="rect">
            <a:avLst/>
          </a:prstGeom>
        </p:spPr>
      </p:pic>
    </p:spTree>
    <p:extLst>
      <p:ext uri="{BB962C8B-B14F-4D97-AF65-F5344CB8AC3E}">
        <p14:creationId xmlns:p14="http://schemas.microsoft.com/office/powerpoint/2010/main" val="25998537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数组的动态</a:t>
            </a:r>
            <a:r>
              <a:rPr lang="zh-CN" altLang="en-US" dirty="0" smtClean="0"/>
              <a:t>定义</a:t>
            </a:r>
            <a:endParaRPr lang="zh-CN" altLang="en-US"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en-US" altLang="zh-CN" sz="2000" dirty="0"/>
              <a:t>C</a:t>
            </a:r>
            <a:r>
              <a:rPr lang="zh-CN" altLang="en-US" sz="2000" dirty="0"/>
              <a:t>语言早期的版本要求在编译时，需要确定数组元素的个数，并为其分配存储空间；</a:t>
            </a:r>
            <a:endParaRPr lang="en-US" altLang="zh-CN" sz="2000" dirty="0"/>
          </a:p>
          <a:p>
            <a:pPr marL="971550" lvl="1"/>
            <a:r>
              <a:rPr lang="zh-CN" altLang="en-US" sz="1800" b="1" dirty="0">
                <a:solidFill>
                  <a:srgbClr val="7030A0"/>
                </a:solidFill>
                <a:ea typeface=""/>
                <a:cs typeface=""/>
              </a:rPr>
              <a:t>编译时</a:t>
            </a:r>
            <a:r>
              <a:rPr lang="zh-CN" altLang="en-US" sz="1800" dirty="0">
                <a:solidFill>
                  <a:srgbClr val="0000CC"/>
                </a:solidFill>
                <a:ea typeface=""/>
                <a:cs typeface=""/>
              </a:rPr>
              <a:t>就能确定数组大小，如：</a:t>
            </a:r>
            <a:endParaRPr lang="en-US" altLang="zh-CN" sz="1800" dirty="0">
              <a:solidFill>
                <a:srgbClr val="0000CC"/>
              </a:solidFill>
              <a:ea typeface=""/>
              <a:cs typeface=""/>
            </a:endParaRPr>
          </a:p>
          <a:p>
            <a:pPr marL="1200150" lvl="2"/>
            <a:r>
              <a:rPr lang="en-US" altLang="zh-CN" sz="1800" dirty="0" smtClean="0"/>
              <a:t>  </a:t>
            </a:r>
            <a:r>
              <a:rPr lang="en-US" altLang="zh-CN" sz="1800" dirty="0" err="1" smtClean="0"/>
              <a:t>int</a:t>
            </a:r>
            <a:r>
              <a:rPr lang="en-US" altLang="zh-CN" sz="1800" dirty="0" smtClean="0"/>
              <a:t> a[20</a:t>
            </a:r>
            <a:r>
              <a:rPr lang="en-US" altLang="zh-CN" sz="1800" dirty="0"/>
              <a:t>];</a:t>
            </a:r>
            <a:endParaRPr lang="en-US" altLang="zh-CN" sz="1800" dirty="0">
              <a:ea typeface=""/>
              <a:cs typeface=""/>
            </a:endParaRPr>
          </a:p>
          <a:p>
            <a:pPr marL="1314450" lvl="2" indent="-285750">
              <a:buFont typeface="Arial" panose="020B0604020202020204" pitchFamily="34" charset="0"/>
              <a:buChar char="•"/>
            </a:pPr>
            <a:r>
              <a:rPr lang="en-US" altLang="zh-CN" sz="1800" dirty="0" err="1" smtClean="0">
                <a:ea typeface=""/>
                <a:cs typeface=""/>
              </a:rPr>
              <a:t>const</a:t>
            </a:r>
            <a:r>
              <a:rPr lang="en-US" altLang="zh-CN" sz="1800" dirty="0" smtClean="0">
                <a:ea typeface=""/>
                <a:cs typeface=""/>
              </a:rPr>
              <a:t> </a:t>
            </a:r>
            <a:r>
              <a:rPr lang="en-US" altLang="zh-CN" sz="1800" dirty="0" err="1">
                <a:ea typeface=""/>
                <a:cs typeface=""/>
              </a:rPr>
              <a:t>int</a:t>
            </a:r>
            <a:r>
              <a:rPr lang="en-US" altLang="zh-CN" sz="1800" dirty="0">
                <a:ea typeface=""/>
                <a:cs typeface=""/>
              </a:rPr>
              <a:t> </a:t>
            </a:r>
            <a:r>
              <a:rPr lang="en-US" altLang="zh-CN" sz="1800" dirty="0" smtClean="0">
                <a:ea typeface=""/>
                <a:cs typeface=""/>
              </a:rPr>
              <a:t>N=20  //</a:t>
            </a:r>
            <a:r>
              <a:rPr lang="zh-CN" altLang="en-US" sz="1800" dirty="0" smtClean="0">
                <a:ea typeface=""/>
                <a:cs typeface=""/>
              </a:rPr>
              <a:t>或利用宏</a:t>
            </a:r>
            <a:r>
              <a:rPr lang="en-US" altLang="zh-CN" sz="1800" dirty="0" smtClean="0">
                <a:ea typeface=""/>
                <a:cs typeface=""/>
              </a:rPr>
              <a:t> #</a:t>
            </a:r>
            <a:r>
              <a:rPr lang="en-US" altLang="zh-CN" sz="1800" dirty="0">
                <a:ea typeface=""/>
                <a:cs typeface=""/>
              </a:rPr>
              <a:t>define N </a:t>
            </a:r>
            <a:r>
              <a:rPr lang="en-US" altLang="zh-CN" sz="1800" dirty="0" smtClean="0">
                <a:ea typeface=""/>
                <a:cs typeface=""/>
              </a:rPr>
              <a:t>20;  </a:t>
            </a:r>
            <a:endParaRPr lang="en-US" altLang="zh-CN" sz="1800" dirty="0">
              <a:ea typeface=""/>
              <a:cs typeface=""/>
            </a:endParaRPr>
          </a:p>
          <a:p>
            <a:pPr marL="1028700" lvl="2" indent="0">
              <a:buNone/>
            </a:pPr>
            <a:r>
              <a:rPr lang="en-US" altLang="zh-CN" sz="1800" dirty="0">
                <a:ea typeface=""/>
                <a:cs typeface=""/>
              </a:rPr>
              <a:t>     </a:t>
            </a:r>
            <a:r>
              <a:rPr lang="en-US" altLang="zh-CN" sz="1800" dirty="0" err="1">
                <a:ea typeface=""/>
                <a:cs typeface=""/>
              </a:rPr>
              <a:t>int</a:t>
            </a:r>
            <a:r>
              <a:rPr lang="en-US" altLang="zh-CN" sz="1800" dirty="0">
                <a:ea typeface=""/>
                <a:cs typeface=""/>
              </a:rPr>
              <a:t> </a:t>
            </a:r>
            <a:r>
              <a:rPr lang="en-US" altLang="zh-CN" sz="1800" dirty="0" smtClean="0">
                <a:ea typeface=""/>
                <a:cs typeface=""/>
              </a:rPr>
              <a:t>b[N</a:t>
            </a:r>
            <a:r>
              <a:rPr lang="en-US" altLang="zh-CN" sz="1800" dirty="0">
                <a:ea typeface=""/>
                <a:cs typeface=""/>
              </a:rPr>
              <a:t>];    //</a:t>
            </a:r>
            <a:r>
              <a:rPr lang="zh-CN" altLang="en-US" sz="1800" dirty="0">
                <a:solidFill>
                  <a:srgbClr val="FF0000"/>
                </a:solidFill>
                <a:ea typeface=""/>
                <a:cs typeface=""/>
              </a:rPr>
              <a:t>编译时就能确定</a:t>
            </a:r>
            <a:r>
              <a:rPr lang="en-US" altLang="zh-CN" sz="1800" dirty="0">
                <a:solidFill>
                  <a:srgbClr val="FF0000"/>
                </a:solidFill>
                <a:ea typeface=""/>
                <a:cs typeface=""/>
              </a:rPr>
              <a:t>N</a:t>
            </a:r>
            <a:r>
              <a:rPr lang="zh-CN" altLang="en-US" sz="1800" dirty="0">
                <a:solidFill>
                  <a:srgbClr val="FF0000"/>
                </a:solidFill>
                <a:ea typeface=""/>
                <a:cs typeface=""/>
              </a:rPr>
              <a:t>的</a:t>
            </a:r>
            <a:r>
              <a:rPr lang="zh-CN" altLang="en-US" sz="1800" dirty="0" smtClean="0">
                <a:solidFill>
                  <a:srgbClr val="FF0000"/>
                </a:solidFill>
                <a:ea typeface=""/>
                <a:cs typeface=""/>
              </a:rPr>
              <a:t>值</a:t>
            </a:r>
            <a:r>
              <a:rPr lang="zh-CN" altLang="en-US" sz="1800" dirty="0">
                <a:solidFill>
                  <a:srgbClr val="FF0000"/>
                </a:solidFill>
                <a:ea typeface=""/>
                <a:cs typeface=""/>
              </a:rPr>
              <a:t>；</a:t>
            </a:r>
            <a:endParaRPr lang="en-US" altLang="zh-CN" sz="1800" dirty="0">
              <a:solidFill>
                <a:srgbClr val="FF0000"/>
              </a:solidFill>
              <a:ea typeface=""/>
              <a:cs typeface=""/>
            </a:endParaRPr>
          </a:p>
          <a:p>
            <a:pPr marL="971550" lvl="1"/>
            <a:r>
              <a:rPr lang="en-US" altLang="zh-CN" sz="1800" b="1" dirty="0" err="1">
                <a:solidFill>
                  <a:srgbClr val="0000CC"/>
                </a:solidFill>
              </a:rPr>
              <a:t>int</a:t>
            </a:r>
            <a:r>
              <a:rPr lang="en-US" altLang="zh-CN" sz="1800" b="1" dirty="0">
                <a:solidFill>
                  <a:srgbClr val="0000CC"/>
                </a:solidFill>
              </a:rPr>
              <a:t> </a:t>
            </a:r>
            <a:r>
              <a:rPr lang="en-US" altLang="zh-CN" sz="1800" b="1" dirty="0" smtClean="0">
                <a:solidFill>
                  <a:srgbClr val="0000CC"/>
                </a:solidFill>
              </a:rPr>
              <a:t>c[ </a:t>
            </a:r>
            <a:r>
              <a:rPr lang="en-US" altLang="zh-CN" sz="1800" b="1" dirty="0">
                <a:solidFill>
                  <a:srgbClr val="0000CC"/>
                </a:solidFill>
              </a:rPr>
              <a:t>] </a:t>
            </a:r>
            <a:r>
              <a:rPr lang="en-US" altLang="zh-CN" sz="1800" b="1" dirty="0"/>
              <a:t>= {1,2,3,4,5};    //</a:t>
            </a:r>
            <a:r>
              <a:rPr lang="zh-CN" altLang="en-US" sz="1800" b="1" dirty="0"/>
              <a:t>编译器根据数组元素的初始化确定数组大小；</a:t>
            </a:r>
            <a:endParaRPr lang="en-US" altLang="zh-CN" dirty="0"/>
          </a:p>
          <a:p>
            <a:pPr marL="342900" indent="-342900">
              <a:buFont typeface="Wingdings" panose="05000000000000000000" pitchFamily="2" charset="2"/>
              <a:buChar char="l"/>
            </a:pPr>
            <a:r>
              <a:rPr lang="en-US" altLang="zh-CN" sz="2000" dirty="0">
                <a:solidFill>
                  <a:srgbClr val="FF0000"/>
                </a:solidFill>
                <a:latin typeface="宋体" panose="02010600030101010101" pitchFamily="2" charset="-122"/>
              </a:rPr>
              <a:t>C</a:t>
            </a:r>
            <a:r>
              <a:rPr lang="zh-CN" altLang="en-US" sz="2000" dirty="0">
                <a:solidFill>
                  <a:srgbClr val="FF0000"/>
                </a:solidFill>
                <a:latin typeface="宋体" panose="02010600030101010101" pitchFamily="2" charset="-122"/>
              </a:rPr>
              <a:t>语言</a:t>
            </a:r>
            <a:r>
              <a:rPr lang="zh-CN" altLang="en-US" sz="2000" dirty="0">
                <a:solidFill>
                  <a:srgbClr val="030DCD"/>
                </a:solidFill>
                <a:latin typeface="宋体" panose="02010600030101010101" pitchFamily="2" charset="-122"/>
              </a:rPr>
              <a:t>早期的版本不允许</a:t>
            </a:r>
            <a:r>
              <a:rPr lang="zh-CN" altLang="en-US" sz="2000" dirty="0">
                <a:solidFill>
                  <a:srgbClr val="FF0000"/>
                </a:solidFill>
                <a:latin typeface="宋体" panose="02010600030101010101" pitchFamily="2" charset="-122"/>
              </a:rPr>
              <a:t>对数组的大小做动态</a:t>
            </a:r>
            <a:r>
              <a:rPr lang="zh-CN" altLang="en-US" sz="2000" dirty="0" smtClean="0">
                <a:solidFill>
                  <a:srgbClr val="FF0000"/>
                </a:solidFill>
                <a:latin typeface="宋体" panose="02010600030101010101" pitchFamily="2" charset="-122"/>
              </a:rPr>
              <a:t>定义</a:t>
            </a:r>
            <a:endParaRPr lang="en-US" altLang="zh-CN" sz="2000" dirty="0" smtClean="0">
              <a:solidFill>
                <a:srgbClr val="FF0000"/>
              </a:solidFill>
              <a:latin typeface="宋体" panose="02010600030101010101" pitchFamily="2" charset="-122"/>
            </a:endParaRPr>
          </a:p>
          <a:p>
            <a:pPr marL="342900" indent="-342900">
              <a:buFont typeface="Wingdings" panose="05000000000000000000" pitchFamily="2" charset="2"/>
              <a:buChar char="l"/>
            </a:pPr>
            <a:r>
              <a:rPr lang="zh-CN" altLang="en-US" sz="1800" dirty="0" smtClean="0">
                <a:solidFill>
                  <a:srgbClr val="0000CC"/>
                </a:solidFill>
                <a:ea typeface=""/>
                <a:cs typeface=""/>
              </a:rPr>
              <a:t>下面</a:t>
            </a:r>
            <a:r>
              <a:rPr lang="zh-CN" altLang="en-US" sz="1800" dirty="0">
                <a:solidFill>
                  <a:srgbClr val="0000CC"/>
                </a:solidFill>
                <a:ea typeface=""/>
                <a:cs typeface=""/>
              </a:rPr>
              <a:t>的</a:t>
            </a:r>
            <a:r>
              <a:rPr lang="zh-CN" altLang="en-US" sz="1800" dirty="0" smtClean="0">
                <a:solidFill>
                  <a:srgbClr val="0000CC"/>
                </a:solidFill>
                <a:ea typeface=""/>
                <a:cs typeface=""/>
              </a:rPr>
              <a:t>定义方式，在早期</a:t>
            </a:r>
            <a:r>
              <a:rPr lang="zh-CN" altLang="en-US" sz="1800" dirty="0">
                <a:solidFill>
                  <a:srgbClr val="0000CC"/>
                </a:solidFill>
                <a:ea typeface=""/>
                <a:cs typeface=""/>
              </a:rPr>
              <a:t>的编译器不支持，</a:t>
            </a:r>
            <a:r>
              <a:rPr lang="zh-CN" altLang="en-US" sz="1800" dirty="0" smtClean="0">
                <a:solidFill>
                  <a:srgbClr val="0000CC"/>
                </a:solidFill>
                <a:ea typeface=""/>
                <a:cs typeface=""/>
              </a:rPr>
              <a:t>现在</a:t>
            </a:r>
            <a:r>
              <a:rPr lang="zh-CN" altLang="en-US" sz="1800" b="1" dirty="0" smtClean="0">
                <a:solidFill>
                  <a:srgbClr val="7030A0"/>
                </a:solidFill>
                <a:ea typeface=""/>
                <a:cs typeface=""/>
              </a:rPr>
              <a:t>有的</a:t>
            </a:r>
            <a:r>
              <a:rPr lang="zh-CN" altLang="en-US" sz="1800" dirty="0" smtClean="0">
                <a:solidFill>
                  <a:srgbClr val="0000CC"/>
                </a:solidFill>
                <a:ea typeface=""/>
                <a:cs typeface=""/>
              </a:rPr>
              <a:t>编译器支持</a:t>
            </a:r>
            <a:r>
              <a:rPr lang="zh-CN" altLang="en-US" sz="1800" dirty="0">
                <a:solidFill>
                  <a:srgbClr val="0000CC"/>
                </a:solidFill>
                <a:ea typeface=""/>
                <a:cs typeface=""/>
              </a:rPr>
              <a:t>：</a:t>
            </a:r>
            <a:endParaRPr lang="en-US" altLang="zh-CN" sz="1800" dirty="0">
              <a:solidFill>
                <a:srgbClr val="0000CC"/>
              </a:solidFill>
              <a:ea typeface=""/>
              <a:cs typeface=""/>
            </a:endParaRPr>
          </a:p>
          <a:p>
            <a:pPr marL="1028700" lvl="2" indent="0">
              <a:buNone/>
            </a:pPr>
            <a:r>
              <a:rPr lang="en-US" altLang="zh-CN" sz="1600" dirty="0">
                <a:ea typeface=""/>
                <a:cs typeface=""/>
              </a:rPr>
              <a:t>int n;</a:t>
            </a:r>
          </a:p>
          <a:p>
            <a:pPr marL="1028700" lvl="2" indent="0">
              <a:buNone/>
            </a:pPr>
            <a:r>
              <a:rPr lang="en-US" altLang="zh-CN" sz="1600" dirty="0" err="1">
                <a:ea typeface=""/>
                <a:cs typeface=""/>
              </a:rPr>
              <a:t>scanf</a:t>
            </a:r>
            <a:r>
              <a:rPr lang="en-US" altLang="zh-CN" sz="1600" dirty="0">
                <a:ea typeface=""/>
                <a:cs typeface=""/>
              </a:rPr>
              <a:t>(“%</a:t>
            </a:r>
            <a:r>
              <a:rPr lang="en-US" altLang="zh-CN" sz="1600" dirty="0" err="1">
                <a:ea typeface=""/>
                <a:cs typeface=""/>
              </a:rPr>
              <a:t>d”,&amp;n</a:t>
            </a:r>
            <a:r>
              <a:rPr lang="en-US" altLang="zh-CN" sz="1600" dirty="0">
                <a:ea typeface=""/>
                <a:cs typeface=""/>
              </a:rPr>
              <a:t>);   //</a:t>
            </a:r>
            <a:r>
              <a:rPr lang="zh-CN" altLang="en-US" sz="1600" dirty="0">
                <a:solidFill>
                  <a:srgbClr val="006600"/>
                </a:solidFill>
                <a:ea typeface=""/>
                <a:cs typeface=""/>
              </a:rPr>
              <a:t>由于编译时无法确定</a:t>
            </a:r>
            <a:r>
              <a:rPr lang="en-US" altLang="zh-CN" sz="1600" dirty="0">
                <a:solidFill>
                  <a:srgbClr val="006600"/>
                </a:solidFill>
                <a:ea typeface=""/>
                <a:cs typeface=""/>
              </a:rPr>
              <a:t>n</a:t>
            </a:r>
            <a:r>
              <a:rPr lang="zh-CN" altLang="en-US" sz="1600" dirty="0">
                <a:solidFill>
                  <a:srgbClr val="006600"/>
                </a:solidFill>
                <a:ea typeface=""/>
                <a:cs typeface=""/>
              </a:rPr>
              <a:t>的值</a:t>
            </a:r>
            <a:r>
              <a:rPr lang="zh-CN" altLang="en-US" sz="1600" dirty="0" smtClean="0">
                <a:solidFill>
                  <a:srgbClr val="006600"/>
                </a:solidFill>
                <a:ea typeface=""/>
                <a:cs typeface=""/>
              </a:rPr>
              <a:t>，</a:t>
            </a:r>
            <a:r>
              <a:rPr lang="zh-CN" altLang="en-US" sz="1600" b="1" dirty="0" smtClean="0">
                <a:solidFill>
                  <a:srgbClr val="7030A0"/>
                </a:solidFill>
                <a:ea typeface=""/>
                <a:cs typeface=""/>
              </a:rPr>
              <a:t>运行时</a:t>
            </a:r>
            <a:r>
              <a:rPr lang="zh-CN" altLang="en-US" sz="1600" dirty="0">
                <a:solidFill>
                  <a:srgbClr val="006600"/>
                </a:solidFill>
                <a:ea typeface=""/>
                <a:cs typeface=""/>
              </a:rPr>
              <a:t>才能确定</a:t>
            </a:r>
            <a:r>
              <a:rPr lang="zh-CN" altLang="en-US" sz="1600" dirty="0">
                <a:ea typeface=""/>
                <a:cs typeface=""/>
              </a:rPr>
              <a:t>；</a:t>
            </a:r>
            <a:endParaRPr lang="en-US" altLang="zh-CN" sz="1600" dirty="0">
              <a:ea typeface=""/>
              <a:cs typeface=""/>
            </a:endParaRPr>
          </a:p>
          <a:p>
            <a:pPr marL="1028700" lvl="2" indent="0">
              <a:buNone/>
            </a:pPr>
            <a:r>
              <a:rPr lang="en-US" altLang="zh-CN" sz="1600" dirty="0">
                <a:ea typeface=""/>
                <a:cs typeface=""/>
              </a:rPr>
              <a:t>int a[n];                  //</a:t>
            </a:r>
            <a:r>
              <a:rPr lang="zh-CN" altLang="en-US" sz="1600" dirty="0">
                <a:solidFill>
                  <a:srgbClr val="006600"/>
                </a:solidFill>
                <a:ea typeface=""/>
                <a:cs typeface=""/>
              </a:rPr>
              <a:t>有的编译器不允许这样定义（</a:t>
            </a:r>
            <a:r>
              <a:rPr lang="en-US" altLang="zh-CN" sz="1600" dirty="0">
                <a:solidFill>
                  <a:srgbClr val="006600"/>
                </a:solidFill>
                <a:ea typeface=""/>
                <a:cs typeface=""/>
              </a:rPr>
              <a:t>ISO C99</a:t>
            </a:r>
            <a:r>
              <a:rPr lang="zh-CN" altLang="en-US" sz="1600" dirty="0" smtClean="0">
                <a:solidFill>
                  <a:srgbClr val="006600"/>
                </a:solidFill>
                <a:ea typeface=""/>
                <a:cs typeface=""/>
              </a:rPr>
              <a:t>开始支持</a:t>
            </a:r>
            <a:r>
              <a:rPr lang="zh-CN" altLang="en-US" sz="1600" dirty="0" smtClean="0">
                <a:ea typeface=""/>
                <a:cs typeface=""/>
              </a:rPr>
              <a:t>）</a:t>
            </a:r>
            <a:endParaRPr lang="en-US" altLang="zh-CN" sz="1600" dirty="0" smtClean="0">
              <a:ea typeface=""/>
              <a:cs typeface=""/>
            </a:endParaRPr>
          </a:p>
          <a:p>
            <a:pPr marL="1028700" lvl="2" indent="0">
              <a:buNone/>
            </a:pPr>
            <a:r>
              <a:rPr lang="en-US" altLang="zh-CN" sz="1600" dirty="0">
                <a:solidFill>
                  <a:srgbClr val="C00000"/>
                </a:solidFill>
                <a:ea typeface=""/>
                <a:cs typeface=""/>
              </a:rPr>
              <a:t> </a:t>
            </a:r>
            <a:r>
              <a:rPr lang="en-US" altLang="zh-CN" sz="1600" dirty="0" smtClean="0">
                <a:solidFill>
                  <a:srgbClr val="C00000"/>
                </a:solidFill>
                <a:ea typeface=""/>
                <a:cs typeface=""/>
              </a:rPr>
              <a:t>                              // </a:t>
            </a:r>
            <a:r>
              <a:rPr lang="en-US" altLang="zh-CN" sz="1600" dirty="0" err="1" smtClean="0">
                <a:solidFill>
                  <a:srgbClr val="C00000"/>
                </a:solidFill>
                <a:ea typeface=""/>
                <a:cs typeface=""/>
              </a:rPr>
              <a:t>Devcpp</a:t>
            </a:r>
            <a:r>
              <a:rPr lang="zh-CN" altLang="en-US" sz="1600" dirty="0" smtClean="0">
                <a:solidFill>
                  <a:srgbClr val="C00000"/>
                </a:solidFill>
                <a:ea typeface=""/>
                <a:cs typeface=""/>
              </a:rPr>
              <a:t>支持，</a:t>
            </a:r>
            <a:r>
              <a:rPr lang="en-US" altLang="zh-CN" sz="1600" dirty="0" smtClean="0">
                <a:solidFill>
                  <a:srgbClr val="C00000"/>
                </a:solidFill>
                <a:ea typeface=""/>
                <a:cs typeface=""/>
              </a:rPr>
              <a:t>VS</a:t>
            </a:r>
            <a:r>
              <a:rPr lang="zh-CN" altLang="en-US" sz="1600" dirty="0" smtClean="0">
                <a:solidFill>
                  <a:srgbClr val="C00000"/>
                </a:solidFill>
                <a:ea typeface=""/>
                <a:cs typeface=""/>
              </a:rPr>
              <a:t>不支持   </a:t>
            </a:r>
            <a:r>
              <a:rPr lang="en-US" altLang="zh-CN" sz="1600" b="1" i="1" u="sng" dirty="0" smtClean="0">
                <a:solidFill>
                  <a:srgbClr val="C00000"/>
                </a:solidFill>
                <a:ea typeface=""/>
                <a:cs typeface=""/>
              </a:rPr>
              <a:t>//</a:t>
            </a:r>
            <a:r>
              <a:rPr lang="zh-CN" altLang="en-US" sz="1600" b="1" i="1" u="sng" dirty="0" smtClean="0">
                <a:solidFill>
                  <a:srgbClr val="C00000"/>
                </a:solidFill>
                <a:ea typeface=""/>
                <a:cs typeface=""/>
              </a:rPr>
              <a:t>不建议这样使用</a:t>
            </a:r>
            <a:endParaRPr lang="en-US" altLang="zh-CN" sz="1600" b="1" i="1" u="sng" dirty="0">
              <a:solidFill>
                <a:srgbClr val="C00000"/>
              </a:solidFill>
              <a:ea typeface=""/>
              <a:cs typeface=""/>
            </a:endParaRPr>
          </a:p>
          <a:p>
            <a:pPr marL="971550" lvl="1"/>
            <a:r>
              <a:rPr lang="zh-CN" altLang="en-US" sz="1800" dirty="0">
                <a:solidFill>
                  <a:srgbClr val="0000CC"/>
                </a:solidFill>
                <a:ea typeface=""/>
                <a:cs typeface=""/>
              </a:rPr>
              <a:t>下面的定义方法</a:t>
            </a:r>
            <a:r>
              <a:rPr lang="zh-CN" altLang="en-US" sz="1800" dirty="0" smtClean="0">
                <a:solidFill>
                  <a:srgbClr val="0000CC"/>
                </a:solidFill>
                <a:ea typeface=""/>
                <a:cs typeface=""/>
              </a:rPr>
              <a:t>现在</a:t>
            </a:r>
            <a:r>
              <a:rPr lang="zh-CN" altLang="en-US" sz="1800" b="1" dirty="0" smtClean="0">
                <a:solidFill>
                  <a:srgbClr val="7030A0"/>
                </a:solidFill>
                <a:ea typeface=""/>
                <a:cs typeface=""/>
              </a:rPr>
              <a:t>有的</a:t>
            </a:r>
            <a:r>
              <a:rPr lang="zh-CN" altLang="en-US" sz="1800" dirty="0">
                <a:solidFill>
                  <a:srgbClr val="0000CC"/>
                </a:solidFill>
                <a:ea typeface=""/>
                <a:cs typeface=""/>
              </a:rPr>
              <a:t>编译器</a:t>
            </a:r>
            <a:r>
              <a:rPr lang="zh-CN" altLang="en-US" sz="1800" dirty="0" smtClean="0">
                <a:solidFill>
                  <a:srgbClr val="0000CC"/>
                </a:solidFill>
                <a:ea typeface=""/>
                <a:cs typeface=""/>
              </a:rPr>
              <a:t>也支持</a:t>
            </a:r>
            <a:r>
              <a:rPr lang="zh-CN" altLang="en-US" sz="1800" dirty="0">
                <a:solidFill>
                  <a:srgbClr val="0000CC"/>
                </a:solidFill>
                <a:ea typeface=""/>
                <a:cs typeface=""/>
              </a:rPr>
              <a:t>；</a:t>
            </a:r>
            <a:endParaRPr lang="en-US" altLang="zh-CN" sz="1800" dirty="0">
              <a:solidFill>
                <a:srgbClr val="0000CC"/>
              </a:solidFill>
              <a:ea typeface=""/>
              <a:cs typeface=""/>
            </a:endParaRPr>
          </a:p>
          <a:p>
            <a:pPr marL="1028700" lvl="2" indent="0">
              <a:buNone/>
            </a:pPr>
            <a:r>
              <a:rPr lang="en-US" altLang="zh-CN" sz="1600" dirty="0">
                <a:ea typeface=""/>
                <a:cs typeface=""/>
              </a:rPr>
              <a:t>int N=6; </a:t>
            </a:r>
            <a:r>
              <a:rPr lang="zh-CN" altLang="en-US" sz="1600" dirty="0">
                <a:ea typeface=""/>
                <a:cs typeface=""/>
              </a:rPr>
              <a:t>（变量的初始化相当于一条赋值语句）</a:t>
            </a:r>
            <a:endParaRPr lang="en-US" altLang="zh-CN" sz="1600" dirty="0">
              <a:ea typeface=""/>
              <a:cs typeface=""/>
            </a:endParaRPr>
          </a:p>
          <a:p>
            <a:pPr marL="1028700" lvl="2" indent="0">
              <a:buNone/>
            </a:pPr>
            <a:r>
              <a:rPr lang="en-US" altLang="zh-CN" sz="1600" dirty="0">
                <a:ea typeface=""/>
                <a:cs typeface=""/>
              </a:rPr>
              <a:t>int a[N]; </a:t>
            </a:r>
            <a:r>
              <a:rPr lang="en-US" altLang="zh-CN" sz="1600" dirty="0" smtClean="0">
                <a:ea typeface=""/>
                <a:cs typeface=""/>
              </a:rPr>
              <a:t>   </a:t>
            </a:r>
            <a:r>
              <a:rPr lang="en-US" altLang="zh-CN" sz="1600" dirty="0" smtClean="0">
                <a:solidFill>
                  <a:srgbClr val="C00000"/>
                </a:solidFill>
                <a:ea typeface=""/>
                <a:cs typeface=""/>
              </a:rPr>
              <a:t>//</a:t>
            </a:r>
            <a:r>
              <a:rPr lang="zh-CN" altLang="en-US" sz="1600" dirty="0">
                <a:solidFill>
                  <a:srgbClr val="C00000"/>
                </a:solidFill>
                <a:ea typeface=""/>
                <a:cs typeface=""/>
              </a:rPr>
              <a:t>不</a:t>
            </a:r>
            <a:r>
              <a:rPr lang="zh-CN" altLang="en-US" sz="1600" dirty="0" smtClean="0">
                <a:solidFill>
                  <a:srgbClr val="C00000"/>
                </a:solidFill>
                <a:ea typeface=""/>
                <a:cs typeface=""/>
              </a:rPr>
              <a:t>建议这样使用</a:t>
            </a:r>
            <a:endParaRPr lang="en-US" altLang="zh-CN" sz="1600" dirty="0">
              <a:solidFill>
                <a:srgbClr val="FF0000"/>
              </a:solidFill>
              <a:ea typeface=""/>
              <a:cs typeface=""/>
            </a:endParaRPr>
          </a:p>
          <a:p>
            <a:pPr marL="971550" lvl="1"/>
            <a:endParaRPr lang="zh-CN" altLang="en-US" sz="1800" dirty="0">
              <a:solidFill>
                <a:srgbClr val="FF0000"/>
              </a:solidFill>
              <a:latin typeface="宋体" panose="02010600030101010101" pitchFamily="2" charset="-122"/>
            </a:endParaRPr>
          </a:p>
          <a:p>
            <a:pPr lvl="1"/>
            <a:endParaRPr lang="en-US" altLang="zh-CN" dirty="0">
              <a:solidFill>
                <a:srgbClr val="0000CC"/>
              </a:solidFill>
              <a:ea typeface=""/>
              <a:cs typeface=""/>
            </a:endParaRPr>
          </a:p>
          <a:p>
            <a:pPr marL="685800" lvl="2" indent="0">
              <a:buNone/>
            </a:pPr>
            <a:endParaRPr lang="en-US" altLang="zh-CN" dirty="0">
              <a:ea typeface=""/>
              <a:cs typeface=""/>
            </a:endParaRPr>
          </a:p>
          <a:p>
            <a:pPr lvl="1"/>
            <a:endParaRPr lang="en-US" altLang="zh-CN" dirty="0"/>
          </a:p>
          <a:p>
            <a:endParaRPr lang="zh-CN" altLang="en-US" dirty="0"/>
          </a:p>
        </p:txBody>
      </p:sp>
    </p:spTree>
    <p:extLst>
      <p:ext uri="{BB962C8B-B14F-4D97-AF65-F5344CB8AC3E}">
        <p14:creationId xmlns:p14="http://schemas.microsoft.com/office/powerpoint/2010/main" val="29465516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Rectangle 4"/>
          <p:cNvSpPr>
            <a:spLocks noChangeArrowheads="1"/>
          </p:cNvSpPr>
          <p:nvPr/>
        </p:nvSpPr>
        <p:spPr bwMode="auto">
          <a:xfrm>
            <a:off x="468313" y="1411560"/>
            <a:ext cx="6846887"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spcBef>
                <a:spcPct val="5000"/>
              </a:spcBef>
            </a:pPr>
            <a:r>
              <a:rPr lang="zh-CN" altLang="en-US" sz="2000" b="1" dirty="0">
                <a:solidFill>
                  <a:srgbClr val="000000"/>
                </a:solidFill>
                <a:latin typeface="宋体" panose="02010600030101010101" pitchFamily="2" charset="-122"/>
              </a:rPr>
              <a:t>一维数组： </a:t>
            </a:r>
            <a:r>
              <a:rPr lang="en-US" altLang="en-US" sz="2000" b="1" dirty="0">
                <a:solidFill>
                  <a:srgbClr val="CC0000"/>
                </a:solidFill>
                <a:latin typeface="宋体" panose="02010600030101010101" pitchFamily="2" charset="-122"/>
              </a:rPr>
              <a:t>float</a:t>
            </a:r>
            <a:r>
              <a:rPr lang="en-US" altLang="en-US" sz="2000" b="1" dirty="0">
                <a:solidFill>
                  <a:srgbClr val="9CFEB8"/>
                </a:solidFill>
                <a:latin typeface="宋体" panose="02010600030101010101" pitchFamily="2" charset="-122"/>
              </a:rPr>
              <a:t> </a:t>
            </a:r>
            <a:r>
              <a:rPr lang="en-US" altLang="en-US" sz="2000" b="1" dirty="0">
                <a:solidFill>
                  <a:srgbClr val="000000"/>
                </a:solidFill>
                <a:latin typeface="宋体" panose="02010600030101010101" pitchFamily="2" charset="-122"/>
              </a:rPr>
              <a:t>mark</a:t>
            </a:r>
            <a:r>
              <a:rPr lang="en-US" altLang="en-US" sz="2000" b="1" dirty="0">
                <a:solidFill>
                  <a:srgbClr val="336600"/>
                </a:solidFill>
                <a:latin typeface="宋体" panose="02010600030101010101" pitchFamily="2" charset="-122"/>
              </a:rPr>
              <a:t>[100</a:t>
            </a:r>
            <a:r>
              <a:rPr lang="en-US" altLang="en-US" sz="2000" b="1" dirty="0" smtClean="0">
                <a:solidFill>
                  <a:srgbClr val="336600"/>
                </a:solidFill>
                <a:latin typeface="宋体" panose="02010600030101010101" pitchFamily="2" charset="-122"/>
              </a:rPr>
              <a:t>];  //</a:t>
            </a:r>
            <a:r>
              <a:rPr lang="en-US" altLang="en-US" sz="2000" b="1" dirty="0">
                <a:solidFill>
                  <a:srgbClr val="CC0000"/>
                </a:solidFill>
                <a:latin typeface="宋体" panose="02010600030101010101" pitchFamily="2" charset="-122"/>
              </a:rPr>
              <a:t> </a:t>
            </a:r>
            <a:r>
              <a:rPr lang="en-US" altLang="en-US" sz="2000" b="1" dirty="0" smtClean="0">
                <a:solidFill>
                  <a:srgbClr val="CC0000"/>
                </a:solidFill>
                <a:latin typeface="宋体" panose="02010600030101010101" pitchFamily="2" charset="-122"/>
              </a:rPr>
              <a:t>double</a:t>
            </a:r>
            <a:r>
              <a:rPr lang="en-US" altLang="en-US" sz="2000" b="1" dirty="0" smtClean="0">
                <a:solidFill>
                  <a:srgbClr val="9CFEB8"/>
                </a:solidFill>
                <a:latin typeface="宋体" panose="02010600030101010101" pitchFamily="2" charset="-122"/>
              </a:rPr>
              <a:t> </a:t>
            </a:r>
            <a:r>
              <a:rPr lang="en-US" altLang="en-US" sz="2000" b="1" dirty="0">
                <a:solidFill>
                  <a:srgbClr val="000000"/>
                </a:solidFill>
                <a:latin typeface="宋体" panose="02010600030101010101" pitchFamily="2" charset="-122"/>
              </a:rPr>
              <a:t>mark</a:t>
            </a:r>
            <a:r>
              <a:rPr lang="en-US" altLang="en-US" sz="2000" b="1" dirty="0">
                <a:solidFill>
                  <a:srgbClr val="336600"/>
                </a:solidFill>
                <a:latin typeface="宋体" panose="02010600030101010101" pitchFamily="2" charset="-122"/>
              </a:rPr>
              <a:t>[100]; </a:t>
            </a:r>
            <a:endParaRPr lang="en-US" altLang="zh-CN" sz="2000" b="1" dirty="0">
              <a:solidFill>
                <a:srgbClr val="336600"/>
              </a:solidFill>
              <a:latin typeface="宋体" panose="02010600030101010101" pitchFamily="2" charset="-122"/>
            </a:endParaRPr>
          </a:p>
        </p:txBody>
      </p:sp>
      <p:grpSp>
        <p:nvGrpSpPr>
          <p:cNvPr id="243717" name="Group 5"/>
          <p:cNvGrpSpPr>
            <a:grpSpLocks/>
          </p:cNvGrpSpPr>
          <p:nvPr/>
        </p:nvGrpSpPr>
        <p:grpSpPr bwMode="auto">
          <a:xfrm>
            <a:off x="3161291" y="1823376"/>
            <a:ext cx="4684713" cy="3345474"/>
            <a:chOff x="2208" y="1283"/>
            <a:chExt cx="2951" cy="2439"/>
          </a:xfrm>
        </p:grpSpPr>
        <p:sp>
          <p:nvSpPr>
            <p:cNvPr id="243718" name="Rectangle 6"/>
            <p:cNvSpPr>
              <a:spLocks noChangeArrowheads="1"/>
            </p:cNvSpPr>
            <p:nvPr/>
          </p:nvSpPr>
          <p:spPr bwMode="auto">
            <a:xfrm>
              <a:off x="2976" y="1486"/>
              <a:ext cx="1440" cy="220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3333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p>
              <a:endParaRPr lang="zh-CN" altLang="en-US"/>
            </a:p>
          </p:txBody>
        </p:sp>
        <p:sp>
          <p:nvSpPr>
            <p:cNvPr id="243719" name="Line 7"/>
            <p:cNvSpPr>
              <a:spLocks noChangeShapeType="1"/>
            </p:cNvSpPr>
            <p:nvPr/>
          </p:nvSpPr>
          <p:spPr bwMode="auto">
            <a:xfrm>
              <a:off x="2960" y="2540"/>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3720" name="Line 8"/>
            <p:cNvSpPr>
              <a:spLocks noChangeShapeType="1"/>
            </p:cNvSpPr>
            <p:nvPr/>
          </p:nvSpPr>
          <p:spPr bwMode="auto">
            <a:xfrm>
              <a:off x="2971" y="1763"/>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3721" name="Line 9"/>
            <p:cNvSpPr>
              <a:spLocks noChangeShapeType="1"/>
            </p:cNvSpPr>
            <p:nvPr/>
          </p:nvSpPr>
          <p:spPr bwMode="auto">
            <a:xfrm>
              <a:off x="2987" y="2042"/>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3722" name="Line 10"/>
            <p:cNvSpPr>
              <a:spLocks noChangeShapeType="1"/>
            </p:cNvSpPr>
            <p:nvPr/>
          </p:nvSpPr>
          <p:spPr bwMode="auto">
            <a:xfrm>
              <a:off x="2971" y="2269"/>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3723" name="Line 11"/>
            <p:cNvSpPr>
              <a:spLocks noChangeShapeType="1"/>
            </p:cNvSpPr>
            <p:nvPr/>
          </p:nvSpPr>
          <p:spPr bwMode="auto">
            <a:xfrm>
              <a:off x="2976" y="3364"/>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3724" name="Line 12"/>
            <p:cNvSpPr>
              <a:spLocks noChangeShapeType="1"/>
            </p:cNvSpPr>
            <p:nvPr/>
          </p:nvSpPr>
          <p:spPr bwMode="auto">
            <a:xfrm>
              <a:off x="2982" y="2952"/>
              <a:ext cx="0" cy="336"/>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3725" name="Line 13"/>
            <p:cNvSpPr>
              <a:spLocks noChangeShapeType="1"/>
            </p:cNvSpPr>
            <p:nvPr/>
          </p:nvSpPr>
          <p:spPr bwMode="auto">
            <a:xfrm>
              <a:off x="4416" y="2952"/>
              <a:ext cx="0" cy="336"/>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3726" name="Text Box 14"/>
            <p:cNvSpPr txBox="1">
              <a:spLocks noChangeArrowheads="1"/>
            </p:cNvSpPr>
            <p:nvPr/>
          </p:nvSpPr>
          <p:spPr bwMode="auto">
            <a:xfrm>
              <a:off x="4397" y="1469"/>
              <a:ext cx="762" cy="2177"/>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mark[</a:t>
              </a:r>
              <a:r>
                <a:rPr kumimoji="1" lang="en-US" altLang="en-US" sz="2000" b="1" dirty="0">
                  <a:solidFill>
                    <a:srgbClr val="C00000"/>
                  </a:solidFill>
                  <a:latin typeface="Times New Roman" panose="02020603050405020304" pitchFamily="18" charset="0"/>
                  <a:sym typeface="Monotype Sorts" pitchFamily="2" charset="2"/>
                </a:rPr>
                <a:t>0</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mark[</a:t>
              </a:r>
              <a:r>
                <a:rPr kumimoji="1" lang="en-US" altLang="en-US" sz="2000" b="1" dirty="0">
                  <a:solidFill>
                    <a:srgbClr val="C00000"/>
                  </a:solidFill>
                  <a:latin typeface="Times New Roman" panose="02020603050405020304" pitchFamily="18" charset="0"/>
                  <a:sym typeface="Monotype Sorts" pitchFamily="2" charset="2"/>
                </a:rPr>
                <a:t>1</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mark[</a:t>
              </a:r>
              <a:r>
                <a:rPr kumimoji="1" lang="en-US" altLang="en-US" sz="2000" b="1" dirty="0">
                  <a:solidFill>
                    <a:srgbClr val="C00000"/>
                  </a:solidFill>
                  <a:latin typeface="Times New Roman" panose="02020603050405020304" pitchFamily="18" charset="0"/>
                  <a:sym typeface="Monotype Sorts" pitchFamily="2" charset="2"/>
                </a:rPr>
                <a:t>2</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mark[</a:t>
              </a:r>
              <a:r>
                <a:rPr kumimoji="1" lang="en-US" altLang="en-US" sz="2000" b="1" dirty="0">
                  <a:solidFill>
                    <a:srgbClr val="C00000"/>
                  </a:solidFill>
                  <a:latin typeface="Times New Roman" panose="02020603050405020304" pitchFamily="18" charset="0"/>
                  <a:sym typeface="Monotype Sorts" pitchFamily="2" charset="2"/>
                </a:rPr>
                <a:t>3</a:t>
              </a:r>
              <a:r>
                <a:rPr kumimoji="1" lang="en-US" altLang="en-US" sz="2000" b="1" dirty="0">
                  <a:solidFill>
                    <a:srgbClr val="336600"/>
                  </a:solidFill>
                  <a:latin typeface="Times New Roman" panose="02020603050405020304" pitchFamily="18"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p>
            <a:p>
              <a:pPr algn="ctr">
                <a:spcBef>
                  <a:spcPct val="20000"/>
                </a:spcBef>
                <a:buClr>
                  <a:srgbClr val="CC99FF"/>
                </a:buClr>
                <a:buFont typeface="Monotype Sorts" pitchFamily="2" charset="2"/>
                <a:buNone/>
              </a:pPr>
              <a:r>
                <a:rPr kumimoji="1" lang="en-US" altLang="en-US" sz="2000" b="1" dirty="0">
                  <a:solidFill>
                    <a:srgbClr val="336600"/>
                  </a:solidFill>
                  <a:latin typeface="Arial Black" panose="020B0A04020102020204" pitchFamily="34" charset="0"/>
                  <a:sym typeface="Monotype Sorts" pitchFamily="2" charset="2"/>
                </a:rPr>
                <a:t>.</a:t>
              </a:r>
              <a:endParaRPr kumimoji="1" lang="en-US" altLang="en-US" sz="2000" b="1" dirty="0">
                <a:solidFill>
                  <a:srgbClr val="336600"/>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en-US" altLang="en-US" sz="2000" b="1" dirty="0">
                  <a:solidFill>
                    <a:srgbClr val="336600"/>
                  </a:solidFill>
                  <a:latin typeface="Times New Roman" panose="02020603050405020304" pitchFamily="18" charset="0"/>
                  <a:sym typeface="Monotype Sorts" pitchFamily="2" charset="2"/>
                </a:rPr>
                <a:t>mark[</a:t>
              </a:r>
              <a:r>
                <a:rPr kumimoji="1" lang="en-US" altLang="en-US" sz="2000" b="1" dirty="0">
                  <a:solidFill>
                    <a:srgbClr val="C00000"/>
                  </a:solidFill>
                  <a:latin typeface="Times New Roman" panose="02020603050405020304" pitchFamily="18" charset="0"/>
                  <a:sym typeface="Monotype Sorts" pitchFamily="2" charset="2"/>
                </a:rPr>
                <a:t>99</a:t>
              </a:r>
              <a:r>
                <a:rPr kumimoji="1" lang="en-US" altLang="en-US" sz="2000" b="1" dirty="0">
                  <a:solidFill>
                    <a:srgbClr val="336600"/>
                  </a:solidFill>
                  <a:latin typeface="Times New Roman" panose="02020603050405020304" pitchFamily="18" charset="0"/>
                  <a:sym typeface="Monotype Sorts" pitchFamily="2" charset="2"/>
                </a:rPr>
                <a:t>]</a:t>
              </a:r>
              <a:endParaRPr kumimoji="1" lang="en-US" altLang="zh-CN" sz="2000" b="1" dirty="0">
                <a:solidFill>
                  <a:srgbClr val="336600"/>
                </a:solidFill>
                <a:latin typeface="Times New Roman" panose="02020603050405020304" pitchFamily="18" charset="0"/>
                <a:sym typeface="Monotype Sorts" pitchFamily="2" charset="2"/>
              </a:endParaRPr>
            </a:p>
          </p:txBody>
        </p:sp>
        <p:sp>
          <p:nvSpPr>
            <p:cNvPr id="243727" name="Text Box 15"/>
            <p:cNvSpPr txBox="1">
              <a:spLocks noChangeArrowheads="1"/>
            </p:cNvSpPr>
            <p:nvPr/>
          </p:nvSpPr>
          <p:spPr bwMode="auto">
            <a:xfrm>
              <a:off x="3594" y="1456"/>
              <a:ext cx="399" cy="2266"/>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86.5</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92.0</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77.5</a:t>
              </a: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52.0</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p>
            <a:p>
              <a:pPr algn="ctr">
                <a:spcBef>
                  <a:spcPts val="0"/>
                </a:spcBef>
                <a:buClr>
                  <a:srgbClr val="CC99FF"/>
                </a:buClr>
                <a:buFont typeface="Monotype Sorts" pitchFamily="2" charset="2"/>
                <a:buNone/>
              </a:pPr>
              <a:r>
                <a:rPr kumimoji="1" lang="en-US" altLang="zh-CN" sz="2000" b="1" dirty="0">
                  <a:solidFill>
                    <a:srgbClr val="000000"/>
                  </a:solidFill>
                  <a:latin typeface="Arial Black" panose="020B0A04020102020204" pitchFamily="34" charset="0"/>
                  <a:sym typeface="Monotype Sorts" pitchFamily="2" charset="2"/>
                </a:rPr>
                <a:t>.</a:t>
              </a:r>
              <a:endParaRPr kumimoji="1" lang="en-US" altLang="zh-CN" sz="2000" b="1" dirty="0">
                <a:solidFill>
                  <a:srgbClr val="000000"/>
                </a:solidFill>
                <a:latin typeface="Times New Roman" panose="02020603050405020304" pitchFamily="18" charset="0"/>
                <a:sym typeface="Monotype Sorts" pitchFamily="2" charset="2"/>
              </a:endParaRPr>
            </a:p>
            <a:p>
              <a:pPr algn="ctr">
                <a:spcBef>
                  <a:spcPts val="0"/>
                </a:spcBef>
                <a:buClr>
                  <a:srgbClr val="CC99FF"/>
                </a:buClr>
                <a:buFont typeface="Monotype Sorts" pitchFamily="2" charset="2"/>
                <a:buNone/>
              </a:pPr>
              <a:endParaRPr kumimoji="1" lang="en-US" altLang="zh-CN" sz="2000" b="1" dirty="0">
                <a:solidFill>
                  <a:srgbClr val="000000"/>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en-US" altLang="zh-CN" sz="2000" b="1" dirty="0">
                  <a:solidFill>
                    <a:srgbClr val="000000"/>
                  </a:solidFill>
                  <a:latin typeface="Times New Roman" panose="02020603050405020304" pitchFamily="18" charset="0"/>
                  <a:sym typeface="Monotype Sorts" pitchFamily="2" charset="2"/>
                </a:rPr>
                <a:t>94.0</a:t>
              </a:r>
              <a:endParaRPr kumimoji="1" lang="zh-CN" altLang="zh-CN" sz="2000" b="1" dirty="0">
                <a:solidFill>
                  <a:srgbClr val="000000"/>
                </a:solidFill>
                <a:latin typeface="Times New Roman" panose="02020603050405020304" pitchFamily="18" charset="0"/>
                <a:sym typeface="Monotype Sorts" pitchFamily="2" charset="2"/>
              </a:endParaRPr>
            </a:p>
          </p:txBody>
        </p:sp>
        <p:sp>
          <p:nvSpPr>
            <p:cNvPr id="243728" name="Text Box 16"/>
            <p:cNvSpPr txBox="1">
              <a:spLocks noChangeArrowheads="1"/>
            </p:cNvSpPr>
            <p:nvPr/>
          </p:nvSpPr>
          <p:spPr bwMode="auto">
            <a:xfrm>
              <a:off x="2208" y="1283"/>
              <a:ext cx="601" cy="2432"/>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CC99FF"/>
                </a:buClr>
                <a:buFont typeface="Monotype Sorts" pitchFamily="2" charset="2"/>
                <a:buNone/>
              </a:pPr>
              <a:r>
                <a:rPr kumimoji="1" lang="zh-CN" altLang="en-US" sz="2000" b="1" dirty="0">
                  <a:solidFill>
                    <a:srgbClr val="336600"/>
                  </a:solidFill>
                  <a:latin typeface="Times New Roman" panose="02020603050405020304" pitchFamily="18" charset="0"/>
                  <a:sym typeface="Monotype Sorts" pitchFamily="2" charset="2"/>
                </a:rPr>
                <a:t>低地址</a:t>
              </a: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zh-CN" altLang="en-US" sz="2000" b="1" dirty="0">
                  <a:solidFill>
                    <a:srgbClr val="66FFFF"/>
                  </a:solidFill>
                  <a:latin typeface="Arial Black" panose="020B0A04020102020204" pitchFamily="34" charset="0"/>
                  <a:sym typeface="Monotype Sorts" pitchFamily="2" charset="2"/>
                </a:rPr>
                <a:t> </a:t>
              </a:r>
            </a:p>
            <a:p>
              <a:pPr algn="ctr">
                <a:spcBef>
                  <a:spcPct val="20000"/>
                </a:spcBef>
                <a:buClr>
                  <a:srgbClr val="CC99FF"/>
                </a:buClr>
                <a:buFont typeface="Monotype Sorts" pitchFamily="2" charset="2"/>
                <a:buNone/>
              </a:pPr>
              <a:endParaRPr kumimoji="1" lang="en-US" altLang="zh-CN"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en-US" altLang="zh-CN"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endParaRPr kumimoji="1" lang="zh-CN" altLang="en-US" sz="2000" b="1" dirty="0">
                <a:solidFill>
                  <a:srgbClr val="66FFFF"/>
                </a:solidFill>
                <a:latin typeface="Times New Roman" panose="02020603050405020304" pitchFamily="18" charset="0"/>
                <a:sym typeface="Monotype Sorts" pitchFamily="2" charset="2"/>
              </a:endParaRPr>
            </a:p>
            <a:p>
              <a:pPr algn="ctr">
                <a:spcBef>
                  <a:spcPct val="20000"/>
                </a:spcBef>
                <a:buClr>
                  <a:srgbClr val="CC99FF"/>
                </a:buClr>
                <a:buFont typeface="Monotype Sorts" pitchFamily="2" charset="2"/>
                <a:buNone/>
              </a:pPr>
              <a:r>
                <a:rPr kumimoji="1" lang="zh-CN" altLang="zh-CN" sz="2000" b="1" dirty="0">
                  <a:solidFill>
                    <a:srgbClr val="336600"/>
                  </a:solidFill>
                  <a:latin typeface="Times New Roman" panose="02020603050405020304" pitchFamily="18" charset="0"/>
                  <a:sym typeface="Monotype Sorts" pitchFamily="2" charset="2"/>
                </a:rPr>
                <a:t>高地址</a:t>
              </a:r>
              <a:endParaRPr kumimoji="1" lang="zh-CN" altLang="en-US" sz="2000" b="1" dirty="0">
                <a:solidFill>
                  <a:srgbClr val="336600"/>
                </a:solidFill>
                <a:latin typeface="Times New Roman" panose="02020603050405020304" pitchFamily="18" charset="0"/>
                <a:sym typeface="Monotype Sorts" pitchFamily="2" charset="2"/>
              </a:endParaRPr>
            </a:p>
          </p:txBody>
        </p:sp>
      </p:grpSp>
      <p:sp>
        <p:nvSpPr>
          <p:cNvPr id="243729" name="AutoShape 17"/>
          <p:cNvSpPr>
            <a:spLocks noChangeArrowheads="1"/>
          </p:cNvSpPr>
          <p:nvPr/>
        </p:nvSpPr>
        <p:spPr bwMode="auto">
          <a:xfrm>
            <a:off x="3566104" y="2195912"/>
            <a:ext cx="285750" cy="2590800"/>
          </a:xfrm>
          <a:prstGeom prst="downArrow">
            <a:avLst>
              <a:gd name="adj1" fmla="val 50000"/>
              <a:gd name="adj2" fmla="val 133333"/>
            </a:avLst>
          </a:prstGeom>
          <a:gradFill rotWithShape="0">
            <a:gsLst>
              <a:gs pos="0">
                <a:srgbClr val="99FFCC"/>
              </a:gs>
              <a:gs pos="100000">
                <a:srgbClr val="FFFF00"/>
              </a:gs>
            </a:gsLst>
            <a:lin ang="540000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43730" name="AutoShape 18"/>
          <p:cNvSpPr>
            <a:spLocks noChangeArrowheads="1"/>
          </p:cNvSpPr>
          <p:nvPr/>
        </p:nvSpPr>
        <p:spPr bwMode="auto">
          <a:xfrm>
            <a:off x="357299" y="2905492"/>
            <a:ext cx="4332755" cy="1489865"/>
          </a:xfrm>
          <a:prstGeom prst="cloudCallout">
            <a:avLst>
              <a:gd name="adj1" fmla="val 59681"/>
              <a:gd name="adj2" fmla="val -43889"/>
            </a:avLst>
          </a:prstGeom>
          <a:noFill/>
          <a:ln w="38100">
            <a:solidFill>
              <a:srgbClr val="FF3300"/>
            </a:solidFill>
            <a:round/>
            <a:headEnd/>
            <a:tailEnd/>
          </a:ln>
          <a:effectLst/>
          <a:extLst>
            <a:ext uri="{909E8E84-426E-40DD-AFC4-6F175D3DCCD1}">
              <a14:hiddenFill xmlns:a14="http://schemas.microsoft.com/office/drawing/2010/main">
                <a:solidFill>
                  <a:srgbClr val="3333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20000"/>
              </a:spcBef>
              <a:buClr>
                <a:srgbClr val="CC99FF"/>
              </a:buClr>
              <a:buFont typeface="Monotype Sorts" pitchFamily="2" charset="2"/>
              <a:buNone/>
            </a:pPr>
            <a:r>
              <a:rPr kumimoji="1" lang="zh-CN" altLang="en-US" b="1" dirty="0">
                <a:solidFill>
                  <a:schemeClr val="accent2"/>
                </a:solidFill>
                <a:latin typeface="Times New Roman" panose="02020603050405020304" pitchFamily="18" charset="0"/>
                <a:ea typeface="+mn-ea"/>
                <a:cs typeface="Times New Roman" panose="02020603050405020304" pitchFamily="18" charset="0"/>
                <a:sym typeface="Monotype Sorts" pitchFamily="2" charset="2"/>
              </a:rPr>
              <a:t>每个数据元素占用的字节数，就是</a:t>
            </a:r>
            <a:r>
              <a:rPr kumimoji="1" lang="zh-CN" altLang="en-US" b="1" dirty="0">
                <a:solidFill>
                  <a:srgbClr val="CC0000"/>
                </a:solidFill>
                <a:latin typeface="Times New Roman" panose="02020603050405020304" pitchFamily="18" charset="0"/>
                <a:ea typeface="+mn-ea"/>
                <a:cs typeface="Times New Roman" panose="02020603050405020304" pitchFamily="18" charset="0"/>
                <a:sym typeface="Monotype Sorts" pitchFamily="2" charset="2"/>
              </a:rPr>
              <a:t>基类型</a:t>
            </a:r>
            <a:r>
              <a:rPr kumimoji="1" lang="zh-CN" altLang="en-US" b="1" dirty="0">
                <a:solidFill>
                  <a:schemeClr val="accent2"/>
                </a:solidFill>
                <a:latin typeface="Times New Roman" panose="02020603050405020304" pitchFamily="18" charset="0"/>
                <a:ea typeface="+mn-ea"/>
                <a:cs typeface="Times New Roman" panose="02020603050405020304" pitchFamily="18" charset="0"/>
                <a:sym typeface="Monotype Sorts" pitchFamily="2" charset="2"/>
              </a:rPr>
              <a:t>的字节数</a:t>
            </a:r>
          </a:p>
          <a:p>
            <a:pPr algn="ctr">
              <a:spcBef>
                <a:spcPct val="20000"/>
              </a:spcBef>
              <a:buClr>
                <a:srgbClr val="CC99FF"/>
              </a:buClr>
              <a:buFont typeface="Monotype Sorts" pitchFamily="2" charset="2"/>
              <a:buNone/>
            </a:pPr>
            <a:r>
              <a:rPr kumimoji="1" lang="zh-CN" altLang="en-US" b="1" dirty="0">
                <a:solidFill>
                  <a:srgbClr val="336600"/>
                </a:solidFill>
                <a:latin typeface="Times New Roman" panose="02020603050405020304" pitchFamily="18" charset="0"/>
                <a:ea typeface="+mn-ea"/>
                <a:cs typeface="Times New Roman" panose="02020603050405020304" pitchFamily="18" charset="0"/>
                <a:sym typeface="Monotype Sorts" pitchFamily="2" charset="2"/>
              </a:rPr>
              <a:t>一个元素占</a:t>
            </a:r>
            <a:r>
              <a:rPr kumimoji="1" lang="en-US" altLang="zh-CN" b="1" dirty="0">
                <a:solidFill>
                  <a:srgbClr val="0000CC"/>
                </a:solidFill>
                <a:latin typeface="Times New Roman" panose="02020603050405020304" pitchFamily="18" charset="0"/>
                <a:ea typeface="+mn-ea"/>
                <a:cs typeface="Times New Roman" panose="02020603050405020304" pitchFamily="18" charset="0"/>
                <a:sym typeface="Monotype Sorts" pitchFamily="2" charset="2"/>
              </a:rPr>
              <a:t>4</a:t>
            </a:r>
            <a:r>
              <a:rPr kumimoji="1" lang="zh-CN" altLang="en-US" b="1" dirty="0">
                <a:solidFill>
                  <a:srgbClr val="0000CC"/>
                </a:solidFill>
                <a:latin typeface="Times New Roman" panose="02020603050405020304" pitchFamily="18" charset="0"/>
                <a:ea typeface="+mn-ea"/>
                <a:cs typeface="Times New Roman" panose="02020603050405020304" pitchFamily="18" charset="0"/>
                <a:sym typeface="Monotype Sorts" pitchFamily="2" charset="2"/>
              </a:rPr>
              <a:t>个</a:t>
            </a:r>
            <a:r>
              <a:rPr kumimoji="1" lang="zh-CN" altLang="en-US" b="1" dirty="0">
                <a:solidFill>
                  <a:srgbClr val="336600"/>
                </a:solidFill>
                <a:latin typeface="Times New Roman" panose="02020603050405020304" pitchFamily="18" charset="0"/>
                <a:ea typeface="+mn-ea"/>
                <a:cs typeface="Times New Roman" panose="02020603050405020304" pitchFamily="18" charset="0"/>
                <a:sym typeface="Monotype Sorts" pitchFamily="2" charset="2"/>
              </a:rPr>
              <a:t>字节</a:t>
            </a:r>
          </a:p>
        </p:txBody>
      </p:sp>
      <p:sp>
        <p:nvSpPr>
          <p:cNvPr id="17" name="标题 1"/>
          <p:cNvSpPr>
            <a:spLocks noGrp="1"/>
          </p:cNvSpPr>
          <p:nvPr>
            <p:ph type="title"/>
          </p:nvPr>
        </p:nvSpPr>
        <p:spPr>
          <a:xfrm>
            <a:off x="485775" y="255588"/>
            <a:ext cx="8089900" cy="584200"/>
          </a:xfrm>
        </p:spPr>
        <p:txBody>
          <a:bodyPr/>
          <a:lstStyle/>
          <a:p>
            <a:r>
              <a:rPr lang="zh-CN" altLang="en-US" dirty="0"/>
              <a:t>一维</a:t>
            </a:r>
            <a:r>
              <a:rPr lang="zh-CN" altLang="en-US" dirty="0">
                <a:solidFill>
                  <a:srgbClr val="030DCD"/>
                </a:solidFill>
              </a:rPr>
              <a:t>浮点型</a:t>
            </a:r>
            <a:r>
              <a:rPr lang="zh-CN" altLang="en-US" dirty="0"/>
              <a:t>数组</a:t>
            </a:r>
          </a:p>
        </p:txBody>
      </p:sp>
      <p:sp>
        <p:nvSpPr>
          <p:cNvPr id="2" name="矩形 1">
            <a:extLst>
              <a:ext uri="{FF2B5EF4-FFF2-40B4-BE49-F238E27FC236}">
                <a16:creationId xmlns:a16="http://schemas.microsoft.com/office/drawing/2014/main" id="{E10094D6-D904-4A18-AE4C-B3163D925DA7}"/>
              </a:ext>
            </a:extLst>
          </p:cNvPr>
          <p:cNvSpPr/>
          <p:nvPr/>
        </p:nvSpPr>
        <p:spPr>
          <a:xfrm>
            <a:off x="357298" y="940525"/>
            <a:ext cx="7343795" cy="400110"/>
          </a:xfrm>
          <a:prstGeom prst="rect">
            <a:avLst/>
          </a:prstGeom>
        </p:spPr>
        <p:txBody>
          <a:bodyPr wrap="square">
            <a:spAutoFit/>
          </a:bodyPr>
          <a:lstStyle/>
          <a:p>
            <a:pPr marL="285750" indent="-285750">
              <a:buFont typeface="Arial" panose="020B0604020202020204" pitchFamily="34" charset="0"/>
              <a:buChar char="•"/>
            </a:pPr>
            <a:r>
              <a:rPr lang="en-US" altLang="zh-CN" sz="2000" dirty="0">
                <a:solidFill>
                  <a:srgbClr val="030DCD"/>
                </a:solidFill>
                <a:latin typeface="Times New Roman" panose="02020603050405020304" pitchFamily="18" charset="0"/>
                <a:ea typeface="+mn-ea"/>
                <a:cs typeface="Times New Roman" panose="02020603050405020304" pitchFamily="18" charset="0"/>
              </a:rPr>
              <a:t>C</a:t>
            </a:r>
            <a:r>
              <a:rPr lang="zh-CN" altLang="en-US" sz="2000" dirty="0">
                <a:solidFill>
                  <a:srgbClr val="030DCD"/>
                </a:solidFill>
                <a:latin typeface="Times New Roman" panose="02020603050405020304" pitchFamily="18" charset="0"/>
                <a:ea typeface="+mn-ea"/>
                <a:cs typeface="Times New Roman" panose="02020603050405020304" pitchFamily="18" charset="0"/>
              </a:rPr>
              <a:t>编译程序为数组分配了一片</a:t>
            </a:r>
            <a:r>
              <a:rPr lang="zh-CN" altLang="en-US" sz="2000" dirty="0" smtClean="0">
                <a:solidFill>
                  <a:srgbClr val="C00000"/>
                </a:solidFill>
                <a:latin typeface="Times New Roman" panose="02020603050405020304" pitchFamily="18" charset="0"/>
                <a:ea typeface="+mn-ea"/>
                <a:cs typeface="Times New Roman" panose="02020603050405020304" pitchFamily="18" charset="0"/>
              </a:rPr>
              <a:t>连续</a:t>
            </a:r>
            <a:r>
              <a:rPr lang="zh-CN" altLang="en-US" sz="2000" dirty="0" smtClean="0">
                <a:solidFill>
                  <a:srgbClr val="7030A0"/>
                </a:solidFill>
                <a:latin typeface="Times New Roman" panose="02020603050405020304" pitchFamily="18" charset="0"/>
                <a:ea typeface="+mn-ea"/>
                <a:cs typeface="Times New Roman" panose="02020603050405020304" pitchFamily="18" charset="0"/>
              </a:rPr>
              <a:t>的存储空间</a:t>
            </a:r>
            <a:r>
              <a:rPr lang="zh-CN" altLang="en-US" sz="2000" dirty="0">
                <a:solidFill>
                  <a:srgbClr val="030DCD"/>
                </a:solidFill>
                <a:latin typeface="Times New Roman" panose="02020603050405020304" pitchFamily="18" charset="0"/>
                <a:ea typeface="+mn-ea"/>
                <a:cs typeface="Times New Roman" panose="02020603050405020304" pitchFamily="18" charset="0"/>
              </a:rPr>
              <a:t>；</a:t>
            </a:r>
            <a:endParaRPr lang="en-US" altLang="zh-CN" sz="2000" dirty="0">
              <a:solidFill>
                <a:srgbClr val="030DCD"/>
              </a:solidFill>
              <a:latin typeface="Times New Roman" panose="02020603050405020304" pitchFamily="18" charset="0"/>
              <a:ea typeface="+mn-ea"/>
              <a:cs typeface="Times New Roman" panose="02020603050405020304" pitchFamily="18" charset="0"/>
            </a:endParaRPr>
          </a:p>
        </p:txBody>
      </p:sp>
      <p:sp>
        <p:nvSpPr>
          <p:cNvPr id="19" name="矩形 18"/>
          <p:cNvSpPr/>
          <p:nvPr/>
        </p:nvSpPr>
        <p:spPr>
          <a:xfrm>
            <a:off x="178853" y="5391775"/>
            <a:ext cx="8250877" cy="646331"/>
          </a:xfrm>
          <a:prstGeom prst="rect">
            <a:avLst/>
          </a:prstGeom>
        </p:spPr>
        <p:txBody>
          <a:bodyPr wrap="square">
            <a:spAutoFit/>
          </a:bodyPr>
          <a:lstStyle/>
          <a:p>
            <a:pPr marL="457200" indent="-457200" algn="just">
              <a:lnSpc>
                <a:spcPct val="100000"/>
              </a:lnSpc>
              <a:buFont typeface="Wingdings" panose="05000000000000000000" pitchFamily="2" charset="2"/>
              <a:buChar char="l"/>
            </a:pPr>
            <a:r>
              <a:rPr lang="zh-CN" altLang="en-US" b="1" u="sng" dirty="0">
                <a:solidFill>
                  <a:srgbClr val="7030A0"/>
                </a:solidFill>
              </a:rPr>
              <a:t>每个数组元素</a:t>
            </a:r>
            <a:r>
              <a:rPr lang="zh-CN" altLang="en-US" b="1" u="sng" dirty="0" smtClean="0">
                <a:solidFill>
                  <a:srgbClr val="000000"/>
                </a:solidFill>
              </a:rPr>
              <a:t>，实质上</a:t>
            </a:r>
            <a:r>
              <a:rPr lang="zh-CN" altLang="en-US" b="1" u="sng" dirty="0">
                <a:solidFill>
                  <a:srgbClr val="000000"/>
                </a:solidFill>
              </a:rPr>
              <a:t>就是</a:t>
            </a:r>
            <a:r>
              <a:rPr lang="zh-CN" altLang="en-US" b="1" u="sng" dirty="0">
                <a:solidFill>
                  <a:srgbClr val="9900FF"/>
                </a:solidFill>
              </a:rPr>
              <a:t>1个变量</a:t>
            </a:r>
            <a:r>
              <a:rPr lang="zh-CN" altLang="en-US" b="1" u="sng" dirty="0">
                <a:solidFill>
                  <a:srgbClr val="000000"/>
                </a:solidFill>
              </a:rPr>
              <a:t>，它具有和</a:t>
            </a:r>
            <a:r>
              <a:rPr lang="zh-CN" altLang="en-US" b="1" u="sng" dirty="0">
                <a:solidFill>
                  <a:srgbClr val="7030A0"/>
                </a:solidFill>
              </a:rPr>
              <a:t>相同类型单个变量</a:t>
            </a:r>
            <a:r>
              <a:rPr lang="zh-CN" altLang="en-US" b="1" u="sng" dirty="0">
                <a:solidFill>
                  <a:srgbClr val="000000"/>
                </a:solidFill>
              </a:rPr>
              <a:t>一样的属性，可以对它进行赋值和参与各种运算。</a:t>
            </a:r>
            <a:endParaRPr lang="zh-CN" altLang="en-US" b="1" u="sng" dirty="0"/>
          </a:p>
        </p:txBody>
      </p:sp>
    </p:spTree>
    <p:extLst>
      <p:ext uri="{BB962C8B-B14F-4D97-AF65-F5344CB8AC3E}">
        <p14:creationId xmlns:p14="http://schemas.microsoft.com/office/powerpoint/2010/main" val="9840064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508144" y="301336"/>
            <a:ext cx="7772400" cy="457200"/>
          </a:xfrm>
        </p:spPr>
        <p:txBody>
          <a:bodyPr/>
          <a:lstStyle/>
          <a:p>
            <a:r>
              <a:rPr lang="zh-CN" altLang="en-US" dirty="0"/>
              <a:t>一维数组元素的赋值 </a:t>
            </a:r>
          </a:p>
        </p:txBody>
      </p:sp>
      <p:sp>
        <p:nvSpPr>
          <p:cNvPr id="29699" name="Rectangle 3"/>
          <p:cNvSpPr>
            <a:spLocks noGrp="1" noRot="1" noChangeArrowheads="1"/>
          </p:cNvSpPr>
          <p:nvPr>
            <p:ph type="body" idx="1"/>
          </p:nvPr>
        </p:nvSpPr>
        <p:spPr>
          <a:xfrm>
            <a:off x="390670" y="1126259"/>
            <a:ext cx="7772400" cy="5348288"/>
          </a:xfrm>
        </p:spPr>
        <p:txBody>
          <a:bodyPr/>
          <a:lstStyle/>
          <a:p>
            <a:pPr marL="457200" indent="-457200">
              <a:lnSpc>
                <a:spcPct val="100000"/>
              </a:lnSpc>
              <a:spcBef>
                <a:spcPts val="600"/>
              </a:spcBef>
              <a:buFont typeface="Wingdings" panose="05000000000000000000" pitchFamily="2" charset="2"/>
              <a:buChar char="n"/>
            </a:pPr>
            <a:r>
              <a:rPr lang="zh-CN" altLang="en-US" dirty="0">
                <a:solidFill>
                  <a:srgbClr val="7030A0"/>
                </a:solidFill>
              </a:rPr>
              <a:t>使用赋值语句</a:t>
            </a:r>
            <a:endParaRPr lang="en-US" altLang="zh-CN" dirty="0"/>
          </a:p>
          <a:p>
            <a:pPr marL="1085850" lvl="1" indent="-457200">
              <a:lnSpc>
                <a:spcPct val="100000"/>
              </a:lnSpc>
              <a:spcBef>
                <a:spcPts val="600"/>
              </a:spcBef>
            </a:pPr>
            <a:r>
              <a:rPr lang="zh-CN" altLang="en-US" dirty="0"/>
              <a:t>在程序运行时把值赋给数组变量，如</a:t>
            </a:r>
            <a:r>
              <a:rPr lang="en-US" altLang="zh-CN" dirty="0"/>
              <a:t>a[0] = 2。</a:t>
            </a:r>
          </a:p>
          <a:p>
            <a:pPr marL="457200" indent="-457200">
              <a:lnSpc>
                <a:spcPct val="100000"/>
              </a:lnSpc>
              <a:spcBef>
                <a:spcPts val="600"/>
              </a:spcBef>
              <a:buFont typeface="Wingdings" panose="05000000000000000000" pitchFamily="2" charset="2"/>
              <a:buChar char="l"/>
            </a:pPr>
            <a:r>
              <a:rPr lang="zh-CN" altLang="en-US" dirty="0"/>
              <a:t>使用输入语句</a:t>
            </a:r>
            <a:endParaRPr lang="en-US" altLang="zh-CN" dirty="0"/>
          </a:p>
          <a:p>
            <a:pPr marL="1085850" lvl="1" indent="-457200">
              <a:lnSpc>
                <a:spcPct val="100000"/>
              </a:lnSpc>
              <a:spcBef>
                <a:spcPts val="600"/>
              </a:spcBef>
            </a:pPr>
            <a:r>
              <a:rPr lang="en-US" altLang="zh-CN" dirty="0"/>
              <a:t>long </a:t>
            </a:r>
            <a:r>
              <a:rPr lang="en-US" altLang="zh-CN" dirty="0" err="1"/>
              <a:t>long</a:t>
            </a:r>
            <a:r>
              <a:rPr lang="en-US" altLang="zh-CN" dirty="0"/>
              <a:t> a[100];</a:t>
            </a:r>
          </a:p>
          <a:p>
            <a:pPr marL="1085850" lvl="1" indent="-457200">
              <a:lnSpc>
                <a:spcPct val="100000"/>
              </a:lnSpc>
              <a:spcBef>
                <a:spcPts val="600"/>
              </a:spcBef>
            </a:pPr>
            <a:r>
              <a:rPr lang="en-US" altLang="zh-CN" dirty="0" err="1"/>
              <a:t>scanf</a:t>
            </a:r>
            <a:r>
              <a:rPr lang="en-US" altLang="zh-CN" dirty="0"/>
              <a:t>(“%d”, &amp;a[0</a:t>
            </a:r>
            <a:r>
              <a:rPr lang="en-US" altLang="zh-CN" dirty="0" smtClean="0"/>
              <a:t>]); </a:t>
            </a:r>
            <a:endParaRPr lang="en-US" altLang="zh-CN" dirty="0"/>
          </a:p>
          <a:p>
            <a:pPr marL="457200" indent="-457200">
              <a:lnSpc>
                <a:spcPct val="100000"/>
              </a:lnSpc>
              <a:spcBef>
                <a:spcPts val="600"/>
              </a:spcBef>
              <a:buFont typeface="Wingdings" panose="05000000000000000000" pitchFamily="2" charset="2"/>
              <a:buChar char="n"/>
            </a:pPr>
            <a:r>
              <a:rPr lang="zh-CN" altLang="en-US" dirty="0" smtClean="0">
                <a:solidFill>
                  <a:srgbClr val="030DCD"/>
                </a:solidFill>
              </a:rPr>
              <a:t>初始化</a:t>
            </a:r>
            <a:endParaRPr lang="en-US" altLang="zh-CN" dirty="0" smtClean="0"/>
          </a:p>
          <a:p>
            <a:pPr marL="1085850" lvl="1" indent="-457200">
              <a:lnSpc>
                <a:spcPct val="100000"/>
              </a:lnSpc>
              <a:spcBef>
                <a:spcPts val="600"/>
              </a:spcBef>
            </a:pPr>
            <a:r>
              <a:rPr lang="zh-CN" altLang="en-US" dirty="0" smtClean="0"/>
              <a:t>在</a:t>
            </a:r>
            <a:r>
              <a:rPr lang="zh-CN" altLang="en-US" dirty="0"/>
              <a:t>定义</a:t>
            </a:r>
            <a:r>
              <a:rPr lang="zh-CN" altLang="en-US" dirty="0" smtClean="0"/>
              <a:t>时为数组元素</a:t>
            </a:r>
            <a:r>
              <a:rPr lang="zh-CN" altLang="en-US" dirty="0" smtClean="0">
                <a:solidFill>
                  <a:srgbClr val="9900FF"/>
                </a:solidFill>
              </a:rPr>
              <a:t>指定</a:t>
            </a:r>
            <a:r>
              <a:rPr lang="zh-CN" altLang="en-US" dirty="0">
                <a:solidFill>
                  <a:srgbClr val="9900FF"/>
                </a:solidFill>
              </a:rPr>
              <a:t>初始值</a:t>
            </a:r>
            <a:r>
              <a:rPr lang="zh-CN" altLang="en-US" dirty="0"/>
              <a:t>，编译器把初值赋给数组变量</a:t>
            </a:r>
            <a:r>
              <a:rPr lang="zh-CN" altLang="en-US" dirty="0" smtClean="0"/>
              <a:t>；</a:t>
            </a:r>
            <a:endParaRPr lang="zh-CN" altLang="en-US" dirty="0"/>
          </a:p>
          <a:p>
            <a:pPr marL="342900" indent="-342900">
              <a:lnSpc>
                <a:spcPct val="100000"/>
              </a:lnSpc>
              <a:spcBef>
                <a:spcPts val="600"/>
              </a:spcBef>
              <a:buFont typeface="Wingdings" panose="05000000000000000000" pitchFamily="2" charset="2"/>
              <a:buChar char="n"/>
            </a:pPr>
            <a:r>
              <a:rPr lang="zh-CN" altLang="en-US" dirty="0">
                <a:solidFill>
                  <a:srgbClr val="030DCD"/>
                </a:solidFill>
              </a:rPr>
              <a:t>初始化</a:t>
            </a:r>
            <a:r>
              <a:rPr lang="zh-CN" altLang="en-US" dirty="0" smtClean="0">
                <a:solidFill>
                  <a:srgbClr val="030DCD"/>
                </a:solidFill>
              </a:rPr>
              <a:t>格式</a:t>
            </a:r>
            <a:endParaRPr lang="en-US" altLang="zh-CN" dirty="0" smtClean="0">
              <a:solidFill>
                <a:srgbClr val="030DCD"/>
              </a:solidFill>
            </a:endParaRPr>
          </a:p>
          <a:p>
            <a:pPr marL="971550" lvl="1">
              <a:lnSpc>
                <a:spcPct val="100000"/>
              </a:lnSpc>
              <a:spcBef>
                <a:spcPts val="600"/>
              </a:spcBef>
            </a:pPr>
            <a:r>
              <a:rPr lang="zh-CN" altLang="en-US" dirty="0">
                <a:solidFill>
                  <a:srgbClr val="FF3300"/>
                </a:solidFill>
              </a:rPr>
              <a:t>数据类型  数组名[常量表达式]＝{初值表}</a:t>
            </a:r>
          </a:p>
          <a:p>
            <a:pPr>
              <a:lnSpc>
                <a:spcPct val="90000"/>
              </a:lnSpc>
            </a:pPr>
            <a:endParaRPr lang="zh-CN" altLang="en-US" sz="2800" b="1" dirty="0">
              <a:latin typeface="宋体" panose="02010600030101010101" pitchFamily="2" charset="-122"/>
            </a:endParaRPr>
          </a:p>
          <a:p>
            <a:pPr>
              <a:lnSpc>
                <a:spcPct val="90000"/>
              </a:lnSpc>
            </a:pPr>
            <a:endParaRPr lang="zh-CN" altLang="en-US" sz="2800" b="1" dirty="0">
              <a:latin typeface="宋体" panose="02010600030101010101" pitchFamily="2" charset="-122"/>
            </a:endParaRPr>
          </a:p>
          <a:p>
            <a:pPr>
              <a:lnSpc>
                <a:spcPct val="90000"/>
              </a:lnSpc>
            </a:pPr>
            <a:endParaRPr lang="en-US" altLang="zh-CN" sz="2800" b="1" dirty="0">
              <a:latin typeface="宋体" panose="02010600030101010101" pitchFamily="2" charset="-122"/>
            </a:endParaRPr>
          </a:p>
        </p:txBody>
      </p:sp>
    </p:spTree>
    <p:extLst>
      <p:ext uri="{BB962C8B-B14F-4D97-AF65-F5344CB8AC3E}">
        <p14:creationId xmlns:p14="http://schemas.microsoft.com/office/powerpoint/2010/main" val="11953019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Rot="1" noChangeArrowheads="1"/>
          </p:cNvSpPr>
          <p:nvPr>
            <p:ph type="body" idx="1"/>
          </p:nvPr>
        </p:nvSpPr>
        <p:spPr>
          <a:xfrm>
            <a:off x="496888" y="1188605"/>
            <a:ext cx="7783656" cy="5111611"/>
          </a:xfrm>
        </p:spPr>
        <p:txBody>
          <a:bodyPr/>
          <a:lstStyle/>
          <a:p>
            <a:pPr marL="342900" indent="-342900">
              <a:buFont typeface="Wingdings" panose="05000000000000000000" pitchFamily="2" charset="2"/>
              <a:buChar char="l"/>
            </a:pPr>
            <a:r>
              <a:rPr lang="zh-CN" altLang="en-US" sz="2000" dirty="0" smtClean="0"/>
              <a:t>声明数组时，初始化</a:t>
            </a:r>
            <a:r>
              <a:rPr lang="zh-CN" altLang="en-US" sz="2000" b="1" dirty="0" smtClean="0">
                <a:solidFill>
                  <a:srgbClr val="C00000"/>
                </a:solidFill>
              </a:rPr>
              <a:t>所有</a:t>
            </a:r>
            <a:r>
              <a:rPr lang="zh-CN" altLang="en-US" sz="2000" dirty="0" smtClean="0"/>
              <a:t>数组元素的值，</a:t>
            </a:r>
            <a:r>
              <a:rPr lang="zh-CN" altLang="en-US" sz="2000" dirty="0"/>
              <a:t>例如</a:t>
            </a:r>
            <a:r>
              <a:rPr lang="en-US" altLang="zh-CN" sz="2000" dirty="0"/>
              <a:t>:</a:t>
            </a:r>
          </a:p>
          <a:p>
            <a:pPr marL="971550" lvl="1"/>
            <a:r>
              <a:rPr lang="en-US" altLang="zh-CN" sz="1800" dirty="0"/>
              <a:t>int a[</a:t>
            </a:r>
            <a:r>
              <a:rPr lang="en-US" altLang="zh-CN" sz="1800" dirty="0">
                <a:solidFill>
                  <a:srgbClr val="C00000"/>
                </a:solidFill>
              </a:rPr>
              <a:t>10</a:t>
            </a:r>
            <a:r>
              <a:rPr lang="en-US" altLang="zh-CN" sz="1800" dirty="0"/>
              <a:t>]= { 0,1,2,3,4,5,6,7,8,9}</a:t>
            </a:r>
            <a:r>
              <a:rPr lang="zh-CN" altLang="en-US" sz="1800" dirty="0" smtClean="0"/>
              <a:t>； </a:t>
            </a:r>
            <a:r>
              <a:rPr lang="en-US" altLang="zh-CN" sz="1800" dirty="0" smtClean="0"/>
              <a:t>//10</a:t>
            </a:r>
            <a:r>
              <a:rPr lang="zh-CN" altLang="en-US" sz="1800" dirty="0" smtClean="0"/>
              <a:t>个元素初始化</a:t>
            </a:r>
            <a:endParaRPr lang="en-US" altLang="zh-CN" sz="1800" dirty="0"/>
          </a:p>
          <a:p>
            <a:pPr lvl="1" indent="0">
              <a:buNone/>
            </a:pPr>
            <a:r>
              <a:rPr lang="en-US" altLang="zh-CN" sz="1800" dirty="0"/>
              <a:t>         </a:t>
            </a:r>
            <a:r>
              <a:rPr lang="zh-CN" altLang="en-US" sz="1800" dirty="0" smtClean="0"/>
              <a:t>即：</a:t>
            </a:r>
            <a:r>
              <a:rPr lang="en-US" altLang="zh-CN" sz="1800" dirty="0" smtClean="0"/>
              <a:t> </a:t>
            </a:r>
            <a:r>
              <a:rPr lang="en-US" altLang="zh-CN" sz="1800" dirty="0">
                <a:solidFill>
                  <a:srgbClr val="006600"/>
                </a:solidFill>
              </a:rPr>
              <a:t>a[0]=0, a[1]=1, a[2]=2, …, a[8]=8, a[9]=9; </a:t>
            </a:r>
          </a:p>
          <a:p>
            <a:pPr marL="342900" indent="-342900">
              <a:buFont typeface="Wingdings" panose="05000000000000000000" pitchFamily="2" charset="2"/>
              <a:buChar char="l"/>
            </a:pPr>
            <a:r>
              <a:rPr lang="zh-CN" altLang="en-US" sz="2000" dirty="0"/>
              <a:t>声明数组</a:t>
            </a:r>
            <a:r>
              <a:rPr lang="zh-CN" altLang="en-US" sz="2000" dirty="0" smtClean="0"/>
              <a:t>时，</a:t>
            </a:r>
            <a:r>
              <a:rPr lang="zh-CN" altLang="en-US" sz="2000" b="1" dirty="0" smtClean="0">
                <a:solidFill>
                  <a:srgbClr val="C00000"/>
                </a:solidFill>
              </a:rPr>
              <a:t>部分</a:t>
            </a:r>
            <a:r>
              <a:rPr lang="zh-CN" altLang="en-US" sz="2000" dirty="0"/>
              <a:t>元素初始化</a:t>
            </a:r>
            <a:r>
              <a:rPr lang="zh-CN" altLang="en-US" sz="2000" dirty="0" smtClean="0"/>
              <a:t>，</a:t>
            </a:r>
            <a:r>
              <a:rPr lang="zh-CN" altLang="en-US" sz="2000" b="1" u="sng" dirty="0" smtClean="0">
                <a:solidFill>
                  <a:srgbClr val="7030A0"/>
                </a:solidFill>
              </a:rPr>
              <a:t>未被</a:t>
            </a:r>
            <a:r>
              <a:rPr lang="zh-CN" altLang="en-US" sz="2000" b="1" u="sng" dirty="0">
                <a:solidFill>
                  <a:srgbClr val="7030A0"/>
                </a:solidFill>
              </a:rPr>
              <a:t>初始化的元素的值</a:t>
            </a:r>
            <a:r>
              <a:rPr lang="zh-CN" altLang="en-US" sz="2000" u="sng" dirty="0">
                <a:solidFill>
                  <a:srgbClr val="FF3300"/>
                </a:solidFill>
              </a:rPr>
              <a:t>不确定</a:t>
            </a:r>
            <a:r>
              <a:rPr lang="zh-CN" altLang="en-US" sz="2000" dirty="0">
                <a:solidFill>
                  <a:srgbClr val="FF3300"/>
                </a:solidFill>
              </a:rPr>
              <a:t>，</a:t>
            </a:r>
            <a:r>
              <a:rPr lang="zh-CN" altLang="en-US" sz="2000" dirty="0"/>
              <a:t>例如：</a:t>
            </a:r>
          </a:p>
          <a:p>
            <a:pPr marL="971550" lvl="1"/>
            <a:r>
              <a:rPr lang="zh-CN" altLang="en-US" sz="1800" dirty="0"/>
              <a:t>  </a:t>
            </a:r>
            <a:r>
              <a:rPr lang="en-US" altLang="zh-CN" sz="1800" dirty="0" err="1"/>
              <a:t>int</a:t>
            </a:r>
            <a:r>
              <a:rPr lang="en-US" altLang="zh-CN" sz="1800" dirty="0"/>
              <a:t> a[</a:t>
            </a:r>
            <a:r>
              <a:rPr lang="en-US" altLang="zh-CN" sz="1800" dirty="0">
                <a:solidFill>
                  <a:srgbClr val="C00000"/>
                </a:solidFill>
              </a:rPr>
              <a:t>10</a:t>
            </a:r>
            <a:r>
              <a:rPr lang="en-US" altLang="zh-CN" sz="1800" dirty="0"/>
              <a:t>] = {0,1,2,3,4}；</a:t>
            </a:r>
          </a:p>
          <a:p>
            <a:pPr marL="971550" lvl="1"/>
            <a:r>
              <a:rPr lang="zh-CN" altLang="en-US" sz="1800" dirty="0"/>
              <a:t>  </a:t>
            </a:r>
            <a:r>
              <a:rPr lang="zh-CN" altLang="en-US" sz="1800" b="1" dirty="0">
                <a:solidFill>
                  <a:srgbClr val="030DCD"/>
                </a:solidFill>
              </a:rPr>
              <a:t>仅前5个元素赋初值，后5个元素的值不确定。</a:t>
            </a:r>
            <a:endParaRPr lang="en-US" altLang="zh-CN" sz="1800" b="1" dirty="0">
              <a:solidFill>
                <a:srgbClr val="030DCD"/>
              </a:solidFill>
            </a:endParaRPr>
          </a:p>
          <a:p>
            <a:pPr marL="971550" lvl="1"/>
            <a:r>
              <a:rPr lang="en-US" altLang="zh-CN" sz="1800" b="1" dirty="0">
                <a:solidFill>
                  <a:srgbClr val="006600"/>
                </a:solidFill>
              </a:rPr>
              <a:t>a[0]=0, a[1]=1, a[2]=2,  a[3]=3, a[4]=4 , </a:t>
            </a:r>
            <a:r>
              <a:rPr lang="en-US" altLang="zh-CN" sz="1800" b="1" dirty="0">
                <a:solidFill>
                  <a:srgbClr val="7030A0"/>
                </a:solidFill>
              </a:rPr>
              <a:t>a[5]~a[9]</a:t>
            </a:r>
            <a:r>
              <a:rPr lang="zh-CN" altLang="en-US" sz="1800" b="1" dirty="0">
                <a:solidFill>
                  <a:srgbClr val="7030A0"/>
                </a:solidFill>
              </a:rPr>
              <a:t>的值</a:t>
            </a:r>
            <a:r>
              <a:rPr lang="zh-CN" altLang="en-US" sz="1800" b="1" dirty="0" smtClean="0">
                <a:solidFill>
                  <a:srgbClr val="7030A0"/>
                </a:solidFill>
              </a:rPr>
              <a:t>：未知</a:t>
            </a:r>
            <a:r>
              <a:rPr lang="en-US" altLang="zh-CN" sz="1800" b="1" dirty="0" smtClean="0">
                <a:solidFill>
                  <a:srgbClr val="006600"/>
                </a:solidFill>
              </a:rPr>
              <a:t>;</a:t>
            </a:r>
            <a:endParaRPr lang="en-US" altLang="zh-CN" sz="1800" b="1" dirty="0">
              <a:solidFill>
                <a:srgbClr val="006600"/>
              </a:solidFill>
            </a:endParaRPr>
          </a:p>
          <a:p>
            <a:pPr marL="971550" lvl="1"/>
            <a:r>
              <a:rPr lang="zh-CN" altLang="en-US" sz="1800" b="1" dirty="0">
                <a:solidFill>
                  <a:srgbClr val="C00000"/>
                </a:solidFill>
              </a:rPr>
              <a:t>注：有的</a:t>
            </a:r>
            <a:r>
              <a:rPr lang="zh-CN" altLang="en-US" sz="1800" b="1" dirty="0" smtClean="0">
                <a:solidFill>
                  <a:srgbClr val="C00000"/>
                </a:solidFill>
              </a:rPr>
              <a:t>编译器可能将</a:t>
            </a:r>
            <a:r>
              <a:rPr lang="en-US" altLang="zh-CN" sz="1800" b="1" dirty="0">
                <a:solidFill>
                  <a:srgbClr val="C00000"/>
                </a:solidFill>
              </a:rPr>
              <a:t>a[5]~a[9]</a:t>
            </a:r>
            <a:r>
              <a:rPr lang="zh-CN" altLang="en-US" sz="1800" b="1" dirty="0">
                <a:solidFill>
                  <a:srgbClr val="C00000"/>
                </a:solidFill>
              </a:rPr>
              <a:t>的值自动赋值为</a:t>
            </a:r>
            <a:r>
              <a:rPr lang="en-US" altLang="zh-CN" sz="1800" b="1" dirty="0">
                <a:solidFill>
                  <a:srgbClr val="C00000"/>
                </a:solidFill>
              </a:rPr>
              <a:t>0</a:t>
            </a:r>
            <a:r>
              <a:rPr lang="zh-CN" altLang="en-US" sz="1800" b="1" dirty="0" smtClean="0">
                <a:solidFill>
                  <a:srgbClr val="C00000"/>
                </a:solidFill>
              </a:rPr>
              <a:t>；</a:t>
            </a:r>
            <a:endParaRPr lang="zh-CN" altLang="en-US" sz="1800" b="1" dirty="0">
              <a:solidFill>
                <a:srgbClr val="C00000"/>
              </a:solidFill>
            </a:endParaRPr>
          </a:p>
          <a:p>
            <a:pPr marL="342900" indent="-342900">
              <a:buFont typeface="Wingdings" panose="05000000000000000000" pitchFamily="2" charset="2"/>
              <a:buChar char="l"/>
            </a:pPr>
            <a:r>
              <a:rPr lang="zh-CN" altLang="en-US" sz="2000" dirty="0"/>
              <a:t>全部元素均初始化为0；</a:t>
            </a:r>
          </a:p>
          <a:p>
            <a:pPr marL="971550" lvl="1"/>
            <a:r>
              <a:rPr lang="en-US" altLang="zh-CN" dirty="0"/>
              <a:t>  </a:t>
            </a:r>
            <a:r>
              <a:rPr lang="en-US" altLang="zh-CN" sz="1800" dirty="0" err="1" smtClean="0"/>
              <a:t>int</a:t>
            </a:r>
            <a:r>
              <a:rPr lang="en-US" altLang="zh-CN" sz="1800" dirty="0" smtClean="0"/>
              <a:t> </a:t>
            </a:r>
            <a:r>
              <a:rPr lang="en-US" altLang="zh-CN" sz="1800" dirty="0"/>
              <a:t>a[10] = {0,0,0,0,0,0,0,0,0,0};  </a:t>
            </a:r>
            <a:endParaRPr lang="en-US" altLang="zh-CN" sz="1800" dirty="0">
              <a:solidFill>
                <a:srgbClr val="C00000"/>
              </a:solidFill>
            </a:endParaRPr>
          </a:p>
          <a:p>
            <a:pPr marL="457200" indent="-457200">
              <a:buFont typeface="Wingdings" panose="05000000000000000000" pitchFamily="2" charset="2"/>
              <a:buChar char="l"/>
            </a:pPr>
            <a:r>
              <a:rPr lang="zh-CN" altLang="en-US" sz="2000" b="1" dirty="0" smtClean="0">
                <a:solidFill>
                  <a:srgbClr val="030DCD"/>
                </a:solidFill>
                <a:latin typeface="宋体" panose="02010600030101010101" pitchFamily="2" charset="-122"/>
              </a:rPr>
              <a:t>最好不要采用</a:t>
            </a:r>
            <a:r>
              <a:rPr lang="zh-CN" altLang="en-US" sz="2000" dirty="0" smtClean="0">
                <a:solidFill>
                  <a:srgbClr val="030DCD"/>
                </a:solidFill>
              </a:rPr>
              <a:t>：</a:t>
            </a:r>
            <a:r>
              <a:rPr lang="en-US" altLang="zh-CN" sz="2000" dirty="0" err="1">
                <a:solidFill>
                  <a:srgbClr val="030DCD"/>
                </a:solidFill>
              </a:rPr>
              <a:t>int</a:t>
            </a:r>
            <a:r>
              <a:rPr lang="en-US" altLang="zh-CN" sz="2000" dirty="0">
                <a:solidFill>
                  <a:srgbClr val="030DCD"/>
                </a:solidFill>
              </a:rPr>
              <a:t> a</a:t>
            </a:r>
            <a:r>
              <a:rPr lang="zh-CN" altLang="en-US" sz="2000" dirty="0">
                <a:solidFill>
                  <a:srgbClr val="030DCD"/>
                </a:solidFill>
              </a:rPr>
              <a:t>［</a:t>
            </a:r>
            <a:r>
              <a:rPr lang="en-US" altLang="zh-CN" sz="2000" dirty="0">
                <a:solidFill>
                  <a:srgbClr val="030DCD"/>
                </a:solidFill>
              </a:rPr>
              <a:t>10</a:t>
            </a:r>
            <a:r>
              <a:rPr lang="zh-CN" altLang="en-US" sz="2000" dirty="0">
                <a:solidFill>
                  <a:srgbClr val="030DCD"/>
                </a:solidFill>
              </a:rPr>
              <a:t>］</a:t>
            </a:r>
            <a:r>
              <a:rPr lang="en-US" altLang="zh-CN" sz="2000" dirty="0">
                <a:solidFill>
                  <a:srgbClr val="030DCD"/>
                </a:solidFill>
              </a:rPr>
              <a:t>={0*10</a:t>
            </a:r>
            <a:r>
              <a:rPr lang="en-US" altLang="zh-CN" sz="2000" dirty="0" smtClean="0">
                <a:solidFill>
                  <a:srgbClr val="030DCD"/>
                </a:solidFill>
              </a:rPr>
              <a:t>}; </a:t>
            </a:r>
            <a:r>
              <a:rPr lang="zh-CN" altLang="en-US" sz="2000" dirty="0" smtClean="0">
                <a:solidFill>
                  <a:srgbClr val="030DCD"/>
                </a:solidFill>
              </a:rPr>
              <a:t>或</a:t>
            </a:r>
            <a:r>
              <a:rPr lang="en-US" altLang="zh-CN" sz="2000" dirty="0" err="1">
                <a:solidFill>
                  <a:srgbClr val="030DCD"/>
                </a:solidFill>
              </a:rPr>
              <a:t>int</a:t>
            </a:r>
            <a:r>
              <a:rPr lang="en-US" altLang="zh-CN" sz="2000" dirty="0">
                <a:solidFill>
                  <a:srgbClr val="030DCD"/>
                </a:solidFill>
              </a:rPr>
              <a:t> a</a:t>
            </a:r>
            <a:r>
              <a:rPr lang="zh-CN" altLang="en-US" sz="2000" dirty="0">
                <a:solidFill>
                  <a:srgbClr val="030DCD"/>
                </a:solidFill>
              </a:rPr>
              <a:t>［</a:t>
            </a:r>
            <a:r>
              <a:rPr lang="en-US" altLang="zh-CN" sz="2000" dirty="0">
                <a:solidFill>
                  <a:srgbClr val="030DCD"/>
                </a:solidFill>
              </a:rPr>
              <a:t>10</a:t>
            </a:r>
            <a:r>
              <a:rPr lang="zh-CN" altLang="en-US" sz="2000" dirty="0">
                <a:solidFill>
                  <a:srgbClr val="030DCD"/>
                </a:solidFill>
              </a:rPr>
              <a:t>］</a:t>
            </a:r>
            <a:r>
              <a:rPr lang="en-US" altLang="zh-CN" sz="2000" dirty="0">
                <a:solidFill>
                  <a:srgbClr val="030DCD"/>
                </a:solidFill>
              </a:rPr>
              <a:t>={</a:t>
            </a:r>
            <a:r>
              <a:rPr lang="en-US" altLang="zh-CN" sz="2000" dirty="0" smtClean="0">
                <a:solidFill>
                  <a:srgbClr val="030DCD"/>
                </a:solidFill>
              </a:rPr>
              <a:t>0}; </a:t>
            </a:r>
          </a:p>
          <a:p>
            <a:pPr marL="1085850" lvl="1" indent="-457200"/>
            <a:r>
              <a:rPr lang="zh-CN" altLang="en-US" sz="1800" dirty="0" smtClean="0">
                <a:solidFill>
                  <a:srgbClr val="006600"/>
                </a:solidFill>
              </a:rPr>
              <a:t>注：有些编译器可能不支持</a:t>
            </a:r>
            <a:r>
              <a:rPr lang="zh-CN" altLang="en-US" sz="1800" smtClean="0">
                <a:solidFill>
                  <a:srgbClr val="006600"/>
                </a:solidFill>
              </a:rPr>
              <a:t>；（影响程序的可移植性）</a:t>
            </a:r>
            <a:endParaRPr lang="zh-CN" altLang="en-US" sz="2400" b="1" dirty="0">
              <a:latin typeface="宋体" panose="02010600030101010101" pitchFamily="2" charset="-122"/>
            </a:endParaRPr>
          </a:p>
        </p:txBody>
      </p:sp>
      <p:sp>
        <p:nvSpPr>
          <p:cNvPr id="4" name="Rectangle 2"/>
          <p:cNvSpPr>
            <a:spLocks noGrp="1" noRot="1" noChangeArrowheads="1"/>
          </p:cNvSpPr>
          <p:nvPr>
            <p:ph type="title"/>
          </p:nvPr>
        </p:nvSpPr>
        <p:spPr>
          <a:xfrm>
            <a:off x="508144" y="301336"/>
            <a:ext cx="7772400" cy="457200"/>
          </a:xfrm>
        </p:spPr>
        <p:txBody>
          <a:bodyPr/>
          <a:lstStyle/>
          <a:p>
            <a:r>
              <a:rPr lang="zh-CN" altLang="en-US" dirty="0"/>
              <a:t>一维数组的初始化 </a:t>
            </a:r>
          </a:p>
        </p:txBody>
      </p:sp>
    </p:spTree>
    <p:extLst>
      <p:ext uri="{BB962C8B-B14F-4D97-AF65-F5344CB8AC3E}">
        <p14:creationId xmlns:p14="http://schemas.microsoft.com/office/powerpoint/2010/main" val="14137596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a:xfrm>
            <a:off x="408709" y="322118"/>
            <a:ext cx="7772400" cy="457200"/>
          </a:xfrm>
        </p:spPr>
        <p:txBody>
          <a:bodyPr/>
          <a:lstStyle/>
          <a:p>
            <a:r>
              <a:rPr lang="zh-CN" altLang="en-US" dirty="0"/>
              <a:t>一维数组的初始化 </a:t>
            </a:r>
          </a:p>
        </p:txBody>
      </p:sp>
      <p:sp>
        <p:nvSpPr>
          <p:cNvPr id="30723" name="Rectangle 3"/>
          <p:cNvSpPr>
            <a:spLocks noGrp="1" noRot="1" noChangeArrowheads="1"/>
          </p:cNvSpPr>
          <p:nvPr>
            <p:ph type="body" idx="1"/>
          </p:nvPr>
        </p:nvSpPr>
        <p:spPr>
          <a:xfrm>
            <a:off x="332509" y="1073727"/>
            <a:ext cx="8188036" cy="6324600"/>
          </a:xfrm>
        </p:spPr>
        <p:txBody>
          <a:bodyPr/>
          <a:lstStyle/>
          <a:p>
            <a:pPr marL="342900" indent="-342900">
              <a:buFont typeface="Wingdings" panose="05000000000000000000" pitchFamily="2" charset="2"/>
              <a:buChar char="l"/>
            </a:pPr>
            <a:r>
              <a:rPr lang="zh-CN" altLang="en-US" dirty="0"/>
              <a:t>如果全部元素均指定初值，定义中</a:t>
            </a:r>
            <a:r>
              <a:rPr lang="zh-CN" altLang="en-US" dirty="0">
                <a:solidFill>
                  <a:srgbClr val="FF3300"/>
                </a:solidFill>
              </a:rPr>
              <a:t>可以省略元素的</a:t>
            </a:r>
            <a:r>
              <a:rPr lang="zh-CN" altLang="en-US" dirty="0" smtClean="0">
                <a:solidFill>
                  <a:srgbClr val="FF3300"/>
                </a:solidFill>
              </a:rPr>
              <a:t>个数</a:t>
            </a:r>
            <a:r>
              <a:rPr lang="zh-CN" altLang="en-US" dirty="0" smtClean="0"/>
              <a:t>；</a:t>
            </a:r>
            <a:endParaRPr lang="en-US" altLang="zh-CN" dirty="0" smtClean="0"/>
          </a:p>
          <a:p>
            <a:pPr marL="342900" indent="-342900">
              <a:buFont typeface="Wingdings" panose="05000000000000000000" pitchFamily="2" charset="2"/>
              <a:buChar char="l"/>
            </a:pPr>
            <a:r>
              <a:rPr lang="zh-CN" altLang="en-US" dirty="0" smtClean="0"/>
              <a:t>例</a:t>
            </a:r>
            <a:r>
              <a:rPr lang="en-US" altLang="zh-CN" dirty="0"/>
              <a:t>:</a:t>
            </a:r>
          </a:p>
          <a:p>
            <a:pPr marL="971550" lvl="1"/>
            <a:r>
              <a:rPr lang="en-US" altLang="zh-CN" dirty="0" err="1">
                <a:solidFill>
                  <a:srgbClr val="0000CC"/>
                </a:solidFill>
              </a:rPr>
              <a:t>int</a:t>
            </a:r>
            <a:r>
              <a:rPr lang="en-US" altLang="zh-CN" dirty="0">
                <a:solidFill>
                  <a:srgbClr val="0000CC"/>
                </a:solidFill>
              </a:rPr>
              <a:t> a[5] </a:t>
            </a:r>
            <a:r>
              <a:rPr lang="en-US" altLang="zh-CN" dirty="0"/>
              <a:t>= {1,2,3,4,5};</a:t>
            </a:r>
          </a:p>
          <a:p>
            <a:pPr marL="342900" indent="-342900">
              <a:buFont typeface="Wingdings" panose="05000000000000000000" pitchFamily="2" charset="2"/>
              <a:buChar char="l"/>
            </a:pPr>
            <a:r>
              <a:rPr lang="zh-CN" altLang="en-US" dirty="0">
                <a:solidFill>
                  <a:srgbClr val="030DCD"/>
                </a:solidFill>
              </a:rPr>
              <a:t>可以写</a:t>
            </a:r>
            <a:r>
              <a:rPr lang="zh-CN" altLang="en-US" dirty="0" smtClean="0">
                <a:solidFill>
                  <a:srgbClr val="030DCD"/>
                </a:solidFill>
              </a:rPr>
              <a:t>为：</a:t>
            </a:r>
            <a:endParaRPr lang="zh-CN" altLang="en-US" dirty="0">
              <a:solidFill>
                <a:srgbClr val="7030A0"/>
              </a:solidFill>
            </a:endParaRPr>
          </a:p>
          <a:p>
            <a:pPr marL="971550" lvl="1"/>
            <a:r>
              <a:rPr lang="en-US" altLang="zh-CN" b="1" dirty="0">
                <a:solidFill>
                  <a:srgbClr val="0000CC"/>
                </a:solidFill>
              </a:rPr>
              <a:t>int a[ ] </a:t>
            </a:r>
            <a:r>
              <a:rPr lang="en-US" altLang="zh-CN" b="1" dirty="0"/>
              <a:t>= {1,2,3,4,5};  </a:t>
            </a:r>
          </a:p>
          <a:p>
            <a:pPr marL="971550" lvl="1"/>
            <a:r>
              <a:rPr lang="zh-CN" altLang="en-US" dirty="0">
                <a:solidFill>
                  <a:srgbClr val="006600"/>
                </a:solidFill>
              </a:rPr>
              <a:t>编译器首先根据初始化数据的个数</a:t>
            </a:r>
            <a:r>
              <a:rPr lang="zh-CN" altLang="en-US" dirty="0">
                <a:solidFill>
                  <a:srgbClr val="030DCD"/>
                </a:solidFill>
              </a:rPr>
              <a:t>确定数组元素的个数</a:t>
            </a:r>
            <a:r>
              <a:rPr lang="zh-CN" altLang="en-US" dirty="0">
                <a:solidFill>
                  <a:srgbClr val="006600"/>
                </a:solidFill>
              </a:rPr>
              <a:t>；</a:t>
            </a:r>
            <a:endParaRPr lang="en-US" altLang="zh-CN" dirty="0">
              <a:solidFill>
                <a:srgbClr val="006600"/>
              </a:solidFill>
            </a:endParaRPr>
          </a:p>
          <a:p>
            <a:pPr marL="971550" lvl="1"/>
            <a:r>
              <a:rPr lang="zh-CN" altLang="en-US" dirty="0">
                <a:solidFill>
                  <a:srgbClr val="030DCD"/>
                </a:solidFill>
              </a:rPr>
              <a:t>然后根据基类型及元素的个数为数组分配内存空间</a:t>
            </a:r>
            <a:r>
              <a:rPr lang="zh-CN" altLang="en-US" dirty="0" smtClean="0">
                <a:solidFill>
                  <a:srgbClr val="030DCD"/>
                </a:solidFill>
              </a:rPr>
              <a:t>；</a:t>
            </a:r>
            <a:endParaRPr lang="en-US" altLang="zh-CN" dirty="0" smtClean="0">
              <a:solidFill>
                <a:srgbClr val="030DCD"/>
              </a:solidFill>
            </a:endParaRPr>
          </a:p>
          <a:p>
            <a:pPr marL="971550" lvl="1"/>
            <a:r>
              <a:rPr lang="zh-CN" altLang="en-US" b="1" dirty="0" smtClean="0">
                <a:solidFill>
                  <a:srgbClr val="7030A0"/>
                </a:solidFill>
              </a:rPr>
              <a:t>建议</a:t>
            </a:r>
            <a:r>
              <a:rPr lang="zh-CN" altLang="en-US" b="1" dirty="0">
                <a:solidFill>
                  <a:srgbClr val="7030A0"/>
                </a:solidFill>
              </a:rPr>
              <a:t>：</a:t>
            </a:r>
            <a:r>
              <a:rPr lang="zh-CN" altLang="en-US" dirty="0" smtClean="0">
                <a:solidFill>
                  <a:srgbClr val="7030A0"/>
                </a:solidFill>
              </a:rPr>
              <a:t>采用</a:t>
            </a:r>
            <a:r>
              <a:rPr lang="en-US" altLang="zh-CN" dirty="0" err="1">
                <a:solidFill>
                  <a:srgbClr val="7030A0"/>
                </a:solidFill>
              </a:rPr>
              <a:t>int</a:t>
            </a:r>
            <a:r>
              <a:rPr lang="en-US" altLang="zh-CN" dirty="0">
                <a:solidFill>
                  <a:srgbClr val="7030A0"/>
                </a:solidFill>
              </a:rPr>
              <a:t> a[5] = {1,2,3,4,5}</a:t>
            </a:r>
            <a:r>
              <a:rPr lang="zh-CN" altLang="en-US" dirty="0">
                <a:solidFill>
                  <a:srgbClr val="7030A0"/>
                </a:solidFill>
              </a:rPr>
              <a:t>的</a:t>
            </a:r>
            <a:r>
              <a:rPr lang="zh-CN" altLang="en-US" dirty="0" smtClean="0">
                <a:solidFill>
                  <a:srgbClr val="7030A0"/>
                </a:solidFill>
              </a:rPr>
              <a:t>形式；</a:t>
            </a:r>
            <a:endParaRPr lang="zh-CN" altLang="en-US" dirty="0">
              <a:solidFill>
                <a:srgbClr val="030DCD"/>
              </a:solidFill>
            </a:endParaRPr>
          </a:p>
          <a:p>
            <a:endParaRPr lang="en-US" altLang="zh-CN" b="1" dirty="0">
              <a:latin typeface="宋体" panose="02010600030101010101" pitchFamily="2" charset="-122"/>
            </a:endParaRPr>
          </a:p>
          <a:p>
            <a:endParaRPr lang="zh-CN" altLang="en-US" b="1" dirty="0">
              <a:latin typeface="宋体" panose="02010600030101010101" pitchFamily="2" charset="-122"/>
            </a:endParaRPr>
          </a:p>
          <a:p>
            <a:endParaRPr lang="zh-CN" altLang="en-US" b="1" dirty="0">
              <a:latin typeface="宋体" panose="02010600030101010101" pitchFamily="2" charset="-122"/>
            </a:endParaRPr>
          </a:p>
        </p:txBody>
      </p:sp>
    </p:spTree>
    <p:extLst>
      <p:ext uri="{BB962C8B-B14F-4D97-AF65-F5344CB8AC3E}">
        <p14:creationId xmlns:p14="http://schemas.microsoft.com/office/powerpoint/2010/main" val="10137744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自学与练习：</a:t>
            </a:r>
            <a:r>
              <a:rPr lang="zh-CN" altLang="en-US" dirty="0" smtClean="0"/>
              <a:t>一</a:t>
            </a:r>
            <a:r>
              <a:rPr lang="zh-CN" altLang="en-US" dirty="0"/>
              <a:t>维数组的初始化：</a:t>
            </a:r>
            <a:r>
              <a:rPr lang="en-US" altLang="zh-CN" dirty="0"/>
              <a:t> </a:t>
            </a:r>
            <a:r>
              <a:rPr lang="en-US" altLang="zh-CN" dirty="0" err="1">
                <a:solidFill>
                  <a:srgbClr val="C00000"/>
                </a:solidFill>
              </a:rPr>
              <a:t>memset</a:t>
            </a:r>
            <a:r>
              <a:rPr lang="en-US" altLang="zh-CN" dirty="0"/>
              <a:t> </a:t>
            </a:r>
            <a:r>
              <a:rPr lang="zh-CN" altLang="en-US" dirty="0"/>
              <a:t>函数 </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b="1" u="sng" dirty="0">
                <a:solidFill>
                  <a:srgbClr val="003300"/>
                </a:solidFill>
                <a:latin typeface="Times New Roman" panose="02020603050405020304" pitchFamily="18" charset="0"/>
                <a:cs typeface="Times New Roman" panose="02020603050405020304" pitchFamily="18" charset="0"/>
              </a:rPr>
              <a:t>使用</a:t>
            </a:r>
            <a:r>
              <a:rPr lang="zh-CN" altLang="en-US" sz="2000" b="1" u="sng" dirty="0">
                <a:solidFill>
                  <a:srgbClr val="C00000"/>
                </a:solidFill>
                <a:latin typeface="Times New Roman" panose="02020603050405020304" pitchFamily="18" charset="0"/>
                <a:cs typeface="Times New Roman" panose="02020603050405020304" pitchFamily="18" charset="0"/>
              </a:rPr>
              <a:t> </a:t>
            </a:r>
            <a:r>
              <a:rPr lang="en-US" altLang="zh-CN" sz="2000" b="1" u="sng" dirty="0" err="1">
                <a:solidFill>
                  <a:srgbClr val="C00000"/>
                </a:solidFill>
                <a:latin typeface="Times New Roman" panose="02020603050405020304" pitchFamily="18" charset="0"/>
                <a:cs typeface="Times New Roman" panose="02020603050405020304" pitchFamily="18" charset="0"/>
              </a:rPr>
              <a:t>memset</a:t>
            </a:r>
            <a:r>
              <a:rPr lang="en-US" altLang="zh-CN" sz="2000" b="1" u="sng" dirty="0">
                <a:solidFill>
                  <a:srgbClr val="C00000"/>
                </a:solidFill>
                <a:latin typeface="Times New Roman" panose="02020603050405020304" pitchFamily="18" charset="0"/>
                <a:cs typeface="Times New Roman" panose="02020603050405020304" pitchFamily="18" charset="0"/>
              </a:rPr>
              <a:t> </a:t>
            </a:r>
            <a:r>
              <a:rPr lang="zh-CN" altLang="en-US" sz="2000" b="1" u="sng" dirty="0">
                <a:solidFill>
                  <a:srgbClr val="C00000"/>
                </a:solidFill>
                <a:latin typeface="Times New Roman" panose="02020603050405020304" pitchFamily="18" charset="0"/>
                <a:cs typeface="Times New Roman" panose="02020603050405020304" pitchFamily="18" charset="0"/>
              </a:rPr>
              <a:t>函数 </a:t>
            </a:r>
            <a:r>
              <a:rPr lang="zh-CN" altLang="en-US" sz="2000" b="1" u="sng" dirty="0">
                <a:solidFill>
                  <a:srgbClr val="7030A0"/>
                </a:solidFill>
                <a:latin typeface="Times New Roman" panose="02020603050405020304" pitchFamily="18" charset="0"/>
                <a:cs typeface="Times New Roman" panose="02020603050405020304" pitchFamily="18" charset="0"/>
              </a:rPr>
              <a:t>（</a:t>
            </a:r>
            <a:r>
              <a:rPr lang="zh-CN" altLang="en-US" sz="2000" b="1" u="sng" dirty="0" smtClean="0">
                <a:solidFill>
                  <a:srgbClr val="7030A0"/>
                </a:solidFill>
                <a:latin typeface="Times New Roman" panose="02020603050405020304" pitchFamily="18" charset="0"/>
                <a:cs typeface="Times New Roman" panose="02020603050405020304" pitchFamily="18" charset="0"/>
              </a:rPr>
              <a:t>头文件</a:t>
            </a:r>
            <a:r>
              <a:rPr lang="en-US" altLang="zh-CN" sz="2000" b="1" u="sng" dirty="0" err="1">
                <a:solidFill>
                  <a:srgbClr val="7030A0"/>
                </a:solidFill>
                <a:latin typeface="Times New Roman" panose="02020603050405020304" pitchFamily="18" charset="0"/>
                <a:cs typeface="Times New Roman" panose="02020603050405020304" pitchFamily="18" charset="0"/>
              </a:rPr>
              <a:t>string.h</a:t>
            </a:r>
            <a:r>
              <a:rPr lang="en-US" altLang="zh-CN" sz="2000" b="1" u="sng" dirty="0">
                <a:solidFill>
                  <a:srgbClr val="7030A0"/>
                </a:solidFill>
                <a:latin typeface="Times New Roman" panose="02020603050405020304" pitchFamily="18" charset="0"/>
                <a:cs typeface="Times New Roman" panose="02020603050405020304" pitchFamily="18" charset="0"/>
              </a:rPr>
              <a:t> </a:t>
            </a:r>
            <a:r>
              <a:rPr lang="zh-CN" altLang="en-US" sz="2000" b="1" u="sng" dirty="0" smtClean="0">
                <a:solidFill>
                  <a:srgbClr val="7030A0"/>
                </a:solidFill>
                <a:latin typeface="Times New Roman" panose="02020603050405020304" pitchFamily="18" charset="0"/>
                <a:cs typeface="Times New Roman" panose="02020603050405020304" pitchFamily="18" charset="0"/>
              </a:rPr>
              <a:t>或 </a:t>
            </a:r>
            <a:r>
              <a:rPr lang="en-US" altLang="zh-CN" sz="2000" b="1" u="sng" dirty="0" err="1" smtClean="0">
                <a:solidFill>
                  <a:srgbClr val="7030A0"/>
                </a:solidFill>
                <a:latin typeface="Times New Roman" panose="02020603050405020304" pitchFamily="18" charset="0"/>
                <a:cs typeface="Times New Roman" panose="02020603050405020304" pitchFamily="18" charset="0"/>
              </a:rPr>
              <a:t>memory.h</a:t>
            </a:r>
            <a:r>
              <a:rPr lang="zh-CN" altLang="en-US" sz="2000" b="1" u="sng" dirty="0" smtClean="0">
                <a:solidFill>
                  <a:srgbClr val="7030A0"/>
                </a:solidFill>
                <a:latin typeface="Times New Roman" panose="02020603050405020304" pitchFamily="18" charset="0"/>
                <a:cs typeface="Times New Roman" panose="02020603050405020304" pitchFamily="18" charset="0"/>
              </a:rPr>
              <a:t>）</a:t>
            </a:r>
            <a:endParaRPr lang="en-US" altLang="zh-CN" sz="2000" b="1" u="sng" dirty="0">
              <a:solidFill>
                <a:srgbClr val="7030A0"/>
              </a:solidFill>
              <a:latin typeface="Times New Roman" panose="02020603050405020304" pitchFamily="18" charset="0"/>
              <a:cs typeface="Times New Roman" panose="02020603050405020304" pitchFamily="18" charset="0"/>
            </a:endParaRPr>
          </a:p>
          <a:p>
            <a:pPr marL="971550" lvl="1"/>
            <a:r>
              <a:rPr lang="zh-CN" altLang="en-US" sz="1800" b="1" dirty="0" smtClean="0">
                <a:latin typeface="Times New Roman" panose="02020603050405020304" pitchFamily="18" charset="0"/>
                <a:cs typeface="Times New Roman" panose="02020603050405020304" pitchFamily="18" charset="0"/>
              </a:rPr>
              <a:t>原型：</a:t>
            </a:r>
            <a:r>
              <a:rPr lang="en-US" altLang="zh-CN" sz="1800" b="1" dirty="0" smtClean="0">
                <a:latin typeface="Times New Roman" panose="02020603050405020304" pitchFamily="18" charset="0"/>
                <a:cs typeface="Times New Roman" panose="02020603050405020304" pitchFamily="18" charset="0"/>
              </a:rPr>
              <a:t>void </a:t>
            </a:r>
            <a:r>
              <a:rPr lang="en-US" altLang="zh-CN" sz="1800" b="1" dirty="0">
                <a:latin typeface="Times New Roman" panose="02020603050405020304" pitchFamily="18" charset="0"/>
                <a:cs typeface="Times New Roman" panose="02020603050405020304" pitchFamily="18" charset="0"/>
              </a:rPr>
              <a:t>*</a:t>
            </a:r>
            <a:r>
              <a:rPr lang="en-US" altLang="zh-CN" sz="1800" b="1" dirty="0" err="1">
                <a:latin typeface="Times New Roman" panose="02020603050405020304" pitchFamily="18" charset="0"/>
                <a:cs typeface="Times New Roman" panose="02020603050405020304" pitchFamily="18" charset="0"/>
              </a:rPr>
              <a:t>memset</a:t>
            </a:r>
            <a:r>
              <a:rPr lang="en-US" altLang="zh-CN" sz="1800" b="1" dirty="0">
                <a:latin typeface="Times New Roman" panose="02020603050405020304" pitchFamily="18" charset="0"/>
                <a:cs typeface="Times New Roman" panose="02020603050405020304" pitchFamily="18" charset="0"/>
              </a:rPr>
              <a:t>(void *</a:t>
            </a:r>
            <a:r>
              <a:rPr lang="en-US" altLang="zh-CN" sz="1800" b="1" dirty="0">
                <a:solidFill>
                  <a:srgbClr val="006600"/>
                </a:solidFill>
                <a:latin typeface="Times New Roman" panose="02020603050405020304" pitchFamily="18" charset="0"/>
                <a:cs typeface="Times New Roman" panose="02020603050405020304" pitchFamily="18" charset="0"/>
              </a:rPr>
              <a:t>s</a:t>
            </a:r>
            <a:r>
              <a:rPr lang="en-US" altLang="zh-CN" sz="1800" b="1" dirty="0">
                <a:latin typeface="Times New Roman" panose="02020603050405020304" pitchFamily="18" charset="0"/>
                <a:cs typeface="Times New Roman" panose="02020603050405020304" pitchFamily="18" charset="0"/>
              </a:rPr>
              <a:t>, int </a:t>
            </a:r>
            <a:r>
              <a:rPr lang="en-US" altLang="zh-CN" sz="1800" b="1" dirty="0" err="1">
                <a:solidFill>
                  <a:srgbClr val="006600"/>
                </a:solidFill>
                <a:latin typeface="Times New Roman" panose="02020603050405020304" pitchFamily="18" charset="0"/>
                <a:cs typeface="Times New Roman" panose="02020603050405020304" pitchFamily="18" charset="0"/>
              </a:rPr>
              <a:t>val</a:t>
            </a:r>
            <a:r>
              <a:rPr lang="en-US" altLang="zh-CN" sz="1800" b="1" dirty="0">
                <a:latin typeface="Times New Roman" panose="02020603050405020304" pitchFamily="18" charset="0"/>
                <a:cs typeface="Times New Roman" panose="02020603050405020304" pitchFamily="18" charset="0"/>
              </a:rPr>
              <a:t>, int </a:t>
            </a:r>
            <a:r>
              <a:rPr lang="en-US" altLang="zh-CN" sz="1800" b="1" dirty="0">
                <a:solidFill>
                  <a:srgbClr val="006600"/>
                </a:solidFill>
                <a:latin typeface="Times New Roman" panose="02020603050405020304" pitchFamily="18" charset="0"/>
                <a:cs typeface="Times New Roman" panose="02020603050405020304" pitchFamily="18" charset="0"/>
              </a:rPr>
              <a:t>n</a:t>
            </a:r>
            <a:r>
              <a:rPr lang="en-US" altLang="zh-CN" sz="1800" b="1" dirty="0">
                <a:latin typeface="Times New Roman" panose="02020603050405020304" pitchFamily="18" charset="0"/>
                <a:cs typeface="Times New Roman" panose="02020603050405020304" pitchFamily="18" charset="0"/>
              </a:rPr>
              <a:t>);</a:t>
            </a:r>
          </a:p>
          <a:p>
            <a:pPr marL="1200150" lvl="2"/>
            <a:r>
              <a:rPr lang="zh-CN" altLang="en-US" sz="1600" b="1" dirty="0">
                <a:solidFill>
                  <a:srgbClr val="030DCD"/>
                </a:solidFill>
                <a:latin typeface="Times New Roman" panose="02020603050405020304" pitchFamily="18" charset="0"/>
                <a:cs typeface="Times New Roman" panose="02020603050405020304" pitchFamily="18" charset="0"/>
              </a:rPr>
              <a:t>功能：从</a:t>
            </a:r>
            <a:r>
              <a:rPr lang="en-US" altLang="zh-CN" sz="1600" b="1" dirty="0">
                <a:solidFill>
                  <a:srgbClr val="030DCD"/>
                </a:solidFill>
                <a:latin typeface="Times New Roman" panose="02020603050405020304" pitchFamily="18" charset="0"/>
                <a:cs typeface="Times New Roman" panose="02020603050405020304" pitchFamily="18" charset="0"/>
              </a:rPr>
              <a:t>s</a:t>
            </a:r>
            <a:r>
              <a:rPr lang="zh-CN" altLang="en-US" sz="1600" b="1" dirty="0">
                <a:solidFill>
                  <a:srgbClr val="030DCD"/>
                </a:solidFill>
                <a:latin typeface="Times New Roman" panose="02020603050405020304" pitchFamily="18" charset="0"/>
                <a:cs typeface="Times New Roman" panose="02020603050405020304" pitchFamily="18" charset="0"/>
              </a:rPr>
              <a:t>之后的</a:t>
            </a:r>
            <a:r>
              <a:rPr lang="en-US" altLang="zh-CN" sz="1600" b="1" dirty="0">
                <a:solidFill>
                  <a:srgbClr val="030DCD"/>
                </a:solidFill>
                <a:latin typeface="Times New Roman" panose="02020603050405020304" pitchFamily="18" charset="0"/>
                <a:cs typeface="Times New Roman" panose="02020603050405020304" pitchFamily="18" charset="0"/>
              </a:rPr>
              <a:t>n</a:t>
            </a:r>
            <a:r>
              <a:rPr lang="zh-CN" altLang="en-US" sz="1600" b="1" dirty="0">
                <a:solidFill>
                  <a:srgbClr val="030DCD"/>
                </a:solidFill>
                <a:latin typeface="Times New Roman" panose="02020603050405020304" pitchFamily="18" charset="0"/>
                <a:cs typeface="Times New Roman" panose="02020603050405020304" pitchFamily="18" charset="0"/>
              </a:rPr>
              <a:t>个</a:t>
            </a:r>
            <a:r>
              <a:rPr lang="zh-CN" altLang="en-US" sz="1600" b="1" dirty="0">
                <a:solidFill>
                  <a:srgbClr val="C00000"/>
                </a:solidFill>
                <a:latin typeface="Times New Roman" panose="02020603050405020304" pitchFamily="18" charset="0"/>
                <a:cs typeface="Times New Roman" panose="02020603050405020304" pitchFamily="18" charset="0"/>
              </a:rPr>
              <a:t>字节</a:t>
            </a:r>
            <a:r>
              <a:rPr lang="zh-CN" altLang="en-US" sz="1600" b="1" dirty="0">
                <a:solidFill>
                  <a:srgbClr val="030DCD"/>
                </a:solidFill>
                <a:latin typeface="Times New Roman" panose="02020603050405020304" pitchFamily="18" charset="0"/>
                <a:cs typeface="Times New Roman" panose="02020603050405020304" pitchFamily="18" charset="0"/>
              </a:rPr>
              <a:t>用</a:t>
            </a:r>
            <a:r>
              <a:rPr lang="en-US" altLang="zh-CN" sz="1600" b="1" dirty="0" err="1">
                <a:solidFill>
                  <a:srgbClr val="030DCD"/>
                </a:solidFill>
                <a:latin typeface="Times New Roman" panose="02020603050405020304" pitchFamily="18" charset="0"/>
                <a:cs typeface="Times New Roman" panose="02020603050405020304" pitchFamily="18" charset="0"/>
              </a:rPr>
              <a:t>val</a:t>
            </a:r>
            <a:r>
              <a:rPr lang="zh-CN" altLang="en-US" sz="1600" b="1" dirty="0">
                <a:solidFill>
                  <a:srgbClr val="030DCD"/>
                </a:solidFill>
                <a:latin typeface="Times New Roman" panose="02020603050405020304" pitchFamily="18" charset="0"/>
                <a:cs typeface="Times New Roman" panose="02020603050405020304" pitchFamily="18" charset="0"/>
              </a:rPr>
              <a:t>值填充</a:t>
            </a:r>
            <a:r>
              <a:rPr lang="en-US" altLang="zh-CN" sz="1600" b="1" dirty="0">
                <a:solidFill>
                  <a:srgbClr val="030DCD"/>
                </a:solidFill>
                <a:latin typeface="Times New Roman" panose="02020603050405020304" pitchFamily="18" charset="0"/>
                <a:cs typeface="Times New Roman" panose="02020603050405020304" pitchFamily="18" charset="0"/>
              </a:rPr>
              <a:t>;</a:t>
            </a:r>
          </a:p>
          <a:p>
            <a:pPr marL="971550" lvl="1"/>
            <a:r>
              <a:rPr lang="zh-CN" altLang="en-US" sz="1800" dirty="0">
                <a:latin typeface="Times New Roman" panose="02020603050405020304" pitchFamily="18" charset="0"/>
                <a:cs typeface="Times New Roman" panose="02020603050405020304" pitchFamily="18" charset="0"/>
              </a:rPr>
              <a:t>作用是在一段内存块中的</a:t>
            </a:r>
            <a:r>
              <a:rPr lang="zh-CN" altLang="en-US" sz="1800" b="1" i="1" u="sng" dirty="0">
                <a:solidFill>
                  <a:srgbClr val="C00000"/>
                </a:solidFill>
                <a:latin typeface="Times New Roman" panose="02020603050405020304" pitchFamily="18" charset="0"/>
                <a:cs typeface="Times New Roman" panose="02020603050405020304" pitchFamily="18" charset="0"/>
              </a:rPr>
              <a:t>每个字节</a:t>
            </a:r>
            <a:r>
              <a:rPr lang="zh-CN" altLang="en-US" sz="1800" dirty="0">
                <a:solidFill>
                  <a:srgbClr val="006600"/>
                </a:solidFill>
                <a:latin typeface="Times New Roman" panose="02020603050405020304" pitchFamily="18" charset="0"/>
                <a:cs typeface="Times New Roman" panose="02020603050405020304" pitchFamily="18" charset="0"/>
              </a:rPr>
              <a:t>填充</a:t>
            </a:r>
            <a:r>
              <a:rPr lang="zh-CN" altLang="en-US" sz="1800" dirty="0">
                <a:latin typeface="Times New Roman" panose="02020603050405020304" pitchFamily="18" charset="0"/>
                <a:cs typeface="Times New Roman" panose="02020603050405020304" pitchFamily="18" charset="0"/>
              </a:rPr>
              <a:t>某个给定的值，它是对较大的结构体或数组进行</a:t>
            </a:r>
            <a:r>
              <a:rPr lang="zh-CN" altLang="en-US" sz="1800" b="1" i="1" u="sng" dirty="0">
                <a:solidFill>
                  <a:srgbClr val="0070C0"/>
                </a:solidFill>
                <a:latin typeface="Times New Roman" panose="02020603050405020304" pitchFamily="18" charset="0"/>
                <a:cs typeface="Times New Roman" panose="02020603050405020304" pitchFamily="18" charset="0"/>
              </a:rPr>
              <a:t>清零操作</a:t>
            </a:r>
            <a:r>
              <a:rPr lang="zh-CN" altLang="en-US" sz="1800" dirty="0">
                <a:latin typeface="Times New Roman" panose="02020603050405020304" pitchFamily="18" charset="0"/>
                <a:cs typeface="Times New Roman" panose="02020603050405020304" pitchFamily="18" charset="0"/>
              </a:rPr>
              <a:t>的一种最快方法</a:t>
            </a: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marL="971550" lvl="1"/>
            <a:r>
              <a:rPr lang="en-US" altLang="zh-CN" sz="1800" dirty="0">
                <a:solidFill>
                  <a:srgbClr val="030DCD"/>
                </a:solidFill>
                <a:latin typeface="Times New Roman" panose="02020603050405020304" pitchFamily="18" charset="0"/>
                <a:cs typeface="Times New Roman" panose="02020603050405020304" pitchFamily="18" charset="0"/>
              </a:rPr>
              <a:t>int a[10];  </a:t>
            </a:r>
            <a:r>
              <a:rPr lang="en-US" altLang="zh-CN" sz="1800" dirty="0" err="1">
                <a:solidFill>
                  <a:srgbClr val="030DCD"/>
                </a:solidFill>
                <a:latin typeface="Times New Roman" panose="02020603050405020304" pitchFamily="18" charset="0"/>
                <a:cs typeface="Times New Roman" panose="02020603050405020304" pitchFamily="18" charset="0"/>
              </a:rPr>
              <a:t>memset</a:t>
            </a:r>
            <a:r>
              <a:rPr lang="en-US" altLang="zh-CN" sz="1800" dirty="0">
                <a:solidFill>
                  <a:srgbClr val="030DCD"/>
                </a:solidFill>
                <a:latin typeface="Times New Roman" panose="02020603050405020304" pitchFamily="18" charset="0"/>
                <a:cs typeface="Times New Roman" panose="02020603050405020304" pitchFamily="18" charset="0"/>
              </a:rPr>
              <a:t>(a,0,</a:t>
            </a:r>
            <a:r>
              <a:rPr lang="en-US" altLang="zh-CN" sz="1800" b="1" dirty="0">
                <a:solidFill>
                  <a:srgbClr val="7030A0"/>
                </a:solidFill>
                <a:latin typeface="Times New Roman" panose="02020603050405020304" pitchFamily="18" charset="0"/>
                <a:cs typeface="Times New Roman" panose="02020603050405020304" pitchFamily="18" charset="0"/>
              </a:rPr>
              <a:t>sizeof(a)</a:t>
            </a:r>
            <a:r>
              <a:rPr lang="en-US" altLang="zh-CN" sz="1800" dirty="0">
                <a:solidFill>
                  <a:srgbClr val="030DCD"/>
                </a:solidFill>
                <a:latin typeface="Times New Roman" panose="02020603050405020304" pitchFamily="18" charset="0"/>
                <a:cs typeface="Times New Roman" panose="02020603050405020304" pitchFamily="18" charset="0"/>
              </a:rPr>
              <a:t>);</a:t>
            </a:r>
          </a:p>
          <a:p>
            <a:pPr marL="1200150" lvl="2"/>
            <a:r>
              <a:rPr lang="zh-CN" altLang="en-US" sz="1600" dirty="0">
                <a:solidFill>
                  <a:srgbClr val="006600"/>
                </a:solidFill>
                <a:latin typeface="Times New Roman" panose="02020603050405020304" pitchFamily="18" charset="0"/>
                <a:cs typeface="Times New Roman" panose="02020603050405020304" pitchFamily="18" charset="0"/>
              </a:rPr>
              <a:t>将数组</a:t>
            </a:r>
            <a:r>
              <a:rPr lang="en-US" altLang="zh-CN" sz="1600" dirty="0">
                <a:solidFill>
                  <a:srgbClr val="006600"/>
                </a:solidFill>
                <a:latin typeface="Times New Roman" panose="02020603050405020304" pitchFamily="18" charset="0"/>
                <a:cs typeface="Times New Roman" panose="02020603050405020304" pitchFamily="18" charset="0"/>
              </a:rPr>
              <a:t>a</a:t>
            </a:r>
            <a:r>
              <a:rPr lang="zh-CN" altLang="en-US" sz="1600" dirty="0">
                <a:solidFill>
                  <a:srgbClr val="006600"/>
                </a:solidFill>
                <a:latin typeface="Times New Roman" panose="02020603050405020304" pitchFamily="18" charset="0"/>
                <a:cs typeface="Times New Roman" panose="02020603050405020304" pitchFamily="18" charset="0"/>
              </a:rPr>
              <a:t>清零；一般参数</a:t>
            </a:r>
            <a:r>
              <a:rPr lang="en-US" altLang="zh-CN" sz="1600" dirty="0">
                <a:solidFill>
                  <a:srgbClr val="006600"/>
                </a:solidFill>
                <a:latin typeface="Times New Roman" panose="02020603050405020304" pitchFamily="18" charset="0"/>
                <a:cs typeface="Times New Roman" panose="02020603050405020304" pitchFamily="18" charset="0"/>
              </a:rPr>
              <a:t>n</a:t>
            </a:r>
            <a:r>
              <a:rPr lang="zh-CN" altLang="en-US" sz="1600" dirty="0">
                <a:solidFill>
                  <a:srgbClr val="006600"/>
                </a:solidFill>
                <a:latin typeface="Times New Roman" panose="02020603050405020304" pitchFamily="18" charset="0"/>
                <a:cs typeface="Times New Roman" panose="02020603050405020304" pitchFamily="18" charset="0"/>
              </a:rPr>
              <a:t>用</a:t>
            </a:r>
            <a:r>
              <a:rPr lang="en-US" altLang="zh-CN" sz="1600" dirty="0" err="1">
                <a:solidFill>
                  <a:srgbClr val="006600"/>
                </a:solidFill>
                <a:latin typeface="Times New Roman" panose="02020603050405020304" pitchFamily="18" charset="0"/>
                <a:cs typeface="Times New Roman" panose="02020603050405020304" pitchFamily="18" charset="0"/>
              </a:rPr>
              <a:t>sizeof</a:t>
            </a:r>
            <a:r>
              <a:rPr lang="en-US" altLang="zh-CN" sz="1600" dirty="0">
                <a:solidFill>
                  <a:srgbClr val="006600"/>
                </a:solidFill>
                <a:latin typeface="Times New Roman" panose="02020603050405020304" pitchFamily="18" charset="0"/>
                <a:cs typeface="Times New Roman" panose="02020603050405020304" pitchFamily="18" charset="0"/>
              </a:rPr>
              <a:t>()</a:t>
            </a:r>
            <a:r>
              <a:rPr lang="zh-CN" altLang="en-US" sz="1600" dirty="0">
                <a:solidFill>
                  <a:srgbClr val="006600"/>
                </a:solidFill>
                <a:latin typeface="Times New Roman" panose="02020603050405020304" pitchFamily="18" charset="0"/>
                <a:cs typeface="Times New Roman" panose="02020603050405020304" pitchFamily="18" charset="0"/>
              </a:rPr>
              <a:t>传递</a:t>
            </a:r>
            <a:r>
              <a:rPr lang="en-US" altLang="zh-CN" sz="1600" dirty="0">
                <a:solidFill>
                  <a:srgbClr val="006600"/>
                </a:solidFill>
                <a:latin typeface="Times New Roman" panose="02020603050405020304" pitchFamily="18" charset="0"/>
                <a:cs typeface="Times New Roman" panose="02020603050405020304" pitchFamily="18" charset="0"/>
              </a:rPr>
              <a:t>;</a:t>
            </a:r>
          </a:p>
          <a:p>
            <a:pPr marL="971550" lvl="1"/>
            <a:r>
              <a:rPr lang="en-US" altLang="zh-CN" sz="1800" dirty="0">
                <a:solidFill>
                  <a:srgbClr val="030DCD"/>
                </a:solidFill>
                <a:latin typeface="Times New Roman" panose="02020603050405020304" pitchFamily="18" charset="0"/>
                <a:cs typeface="Times New Roman" panose="02020603050405020304" pitchFamily="18" charset="0"/>
              </a:rPr>
              <a:t>int a[10];  </a:t>
            </a:r>
            <a:r>
              <a:rPr lang="en-US" altLang="zh-CN" sz="1800" dirty="0" err="1">
                <a:solidFill>
                  <a:srgbClr val="030DCD"/>
                </a:solidFill>
                <a:latin typeface="Times New Roman" panose="02020603050405020304" pitchFamily="18" charset="0"/>
                <a:cs typeface="Times New Roman" panose="02020603050405020304" pitchFamily="18" charset="0"/>
              </a:rPr>
              <a:t>memset</a:t>
            </a:r>
            <a:r>
              <a:rPr lang="en-US" altLang="zh-CN" sz="1800" dirty="0">
                <a:solidFill>
                  <a:srgbClr val="030DCD"/>
                </a:solidFill>
                <a:latin typeface="Times New Roman" panose="02020603050405020304" pitchFamily="18" charset="0"/>
                <a:cs typeface="Times New Roman" panose="02020603050405020304" pitchFamily="18" charset="0"/>
              </a:rPr>
              <a:t>(a,-1,sizeof(a)); //</a:t>
            </a:r>
            <a:r>
              <a:rPr lang="zh-CN" altLang="en-US" sz="1800" b="1" dirty="0">
                <a:solidFill>
                  <a:srgbClr val="C00000"/>
                </a:solidFill>
                <a:latin typeface="Times New Roman" panose="02020603050405020304" pitchFamily="18" charset="0"/>
                <a:cs typeface="Times New Roman" panose="02020603050405020304" pitchFamily="18" charset="0"/>
              </a:rPr>
              <a:t>所有字节</a:t>
            </a:r>
            <a:r>
              <a:rPr lang="zh-CN" altLang="en-US" sz="1800" dirty="0">
                <a:solidFill>
                  <a:srgbClr val="030DCD"/>
                </a:solidFill>
                <a:latin typeface="Times New Roman" panose="02020603050405020304" pitchFamily="18" charset="0"/>
                <a:cs typeface="Times New Roman" panose="02020603050405020304" pitchFamily="18" charset="0"/>
              </a:rPr>
              <a:t>初始化为</a:t>
            </a:r>
            <a:r>
              <a:rPr lang="en-US" altLang="zh-CN" sz="1800" dirty="0">
                <a:solidFill>
                  <a:srgbClr val="030DCD"/>
                </a:solidFill>
                <a:latin typeface="Times New Roman" panose="02020603050405020304" pitchFamily="18" charset="0"/>
                <a:cs typeface="Times New Roman" panose="02020603050405020304" pitchFamily="18" charset="0"/>
              </a:rPr>
              <a:t>-1(0xFF)</a:t>
            </a:r>
          </a:p>
          <a:p>
            <a:pPr marL="971550" lvl="1"/>
            <a:r>
              <a:rPr lang="en-US" altLang="zh-CN" sz="1800" dirty="0">
                <a:solidFill>
                  <a:srgbClr val="030DCD"/>
                </a:solidFill>
                <a:latin typeface="Times New Roman" panose="02020603050405020304" pitchFamily="18" charset="0"/>
                <a:cs typeface="Times New Roman" panose="02020603050405020304" pitchFamily="18" charset="0"/>
              </a:rPr>
              <a:t>int a[10];  </a:t>
            </a:r>
            <a:r>
              <a:rPr lang="en-US" altLang="zh-CN" sz="1800" dirty="0" err="1">
                <a:solidFill>
                  <a:srgbClr val="030DCD"/>
                </a:solidFill>
                <a:latin typeface="Times New Roman" panose="02020603050405020304" pitchFamily="18" charset="0"/>
                <a:cs typeface="Times New Roman" panose="02020603050405020304" pitchFamily="18" charset="0"/>
              </a:rPr>
              <a:t>memset</a:t>
            </a:r>
            <a:r>
              <a:rPr lang="en-US" altLang="zh-CN" sz="1800" dirty="0">
                <a:solidFill>
                  <a:srgbClr val="030DCD"/>
                </a:solidFill>
                <a:latin typeface="Times New Roman" panose="02020603050405020304" pitchFamily="18" charset="0"/>
                <a:cs typeface="Times New Roman" panose="02020603050405020304" pitchFamily="18" charset="0"/>
              </a:rPr>
              <a:t>(a,10,sizeof(a)); //</a:t>
            </a:r>
            <a:r>
              <a:rPr lang="zh-CN" altLang="en-US" sz="1800" b="1" dirty="0">
                <a:solidFill>
                  <a:srgbClr val="C00000"/>
                </a:solidFill>
                <a:latin typeface="Times New Roman" panose="02020603050405020304" pitchFamily="18" charset="0"/>
                <a:cs typeface="Times New Roman" panose="02020603050405020304" pitchFamily="18" charset="0"/>
              </a:rPr>
              <a:t>所有字节</a:t>
            </a:r>
            <a:r>
              <a:rPr lang="zh-CN" altLang="en-US" sz="1800" dirty="0">
                <a:solidFill>
                  <a:srgbClr val="030DCD"/>
                </a:solidFill>
                <a:latin typeface="Times New Roman" panose="02020603050405020304" pitchFamily="18" charset="0"/>
                <a:cs typeface="Times New Roman" panose="02020603050405020304" pitchFamily="18" charset="0"/>
              </a:rPr>
              <a:t>初始化为</a:t>
            </a:r>
            <a:r>
              <a:rPr lang="en-US" altLang="zh-CN" sz="1800" dirty="0">
                <a:solidFill>
                  <a:srgbClr val="030DCD"/>
                </a:solidFill>
                <a:latin typeface="Times New Roman" panose="02020603050405020304" pitchFamily="18" charset="0"/>
                <a:cs typeface="Times New Roman" panose="02020603050405020304" pitchFamily="18" charset="0"/>
              </a:rPr>
              <a:t>10(0x0A)</a:t>
            </a:r>
          </a:p>
          <a:p>
            <a:pPr marL="342900" indent="-342900">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注：</a:t>
            </a:r>
            <a:r>
              <a:rPr lang="en-US" altLang="zh-CN" sz="2000" dirty="0">
                <a:latin typeface="Times New Roman" panose="02020603050405020304" pitchFamily="18" charset="0"/>
                <a:cs typeface="Times New Roman" panose="02020603050405020304" pitchFamily="18" charset="0"/>
              </a:rPr>
              <a:t> </a:t>
            </a:r>
          </a:p>
          <a:p>
            <a:pPr marL="971550" lvl="1"/>
            <a:r>
              <a:rPr lang="en-US" altLang="zh-CN" sz="1800" dirty="0" err="1">
                <a:latin typeface="Times New Roman" panose="02020603050405020304" pitchFamily="18" charset="0"/>
                <a:cs typeface="Times New Roman" panose="02020603050405020304" pitchFamily="18" charset="0"/>
              </a:rPr>
              <a:t>memset</a:t>
            </a:r>
            <a:r>
              <a:rPr lang="zh-CN" altLang="en-US" sz="1800" dirty="0">
                <a:latin typeface="Times New Roman" panose="02020603050405020304" pitchFamily="18" charset="0"/>
                <a:cs typeface="Times New Roman" panose="02020603050405020304" pitchFamily="18" charset="0"/>
              </a:rPr>
              <a:t>对</a:t>
            </a:r>
            <a:r>
              <a:rPr lang="zh-CN" altLang="en-US" sz="1800" dirty="0">
                <a:solidFill>
                  <a:srgbClr val="C00000"/>
                </a:solidFill>
                <a:latin typeface="Times New Roman" panose="02020603050405020304" pitchFamily="18" charset="0"/>
                <a:cs typeface="Times New Roman" panose="02020603050405020304" pitchFamily="18" charset="0"/>
              </a:rPr>
              <a:t>每个字节</a:t>
            </a:r>
            <a:r>
              <a:rPr lang="zh-CN" altLang="en-US" sz="1800" dirty="0">
                <a:latin typeface="Times New Roman" panose="02020603050405020304" pitchFamily="18" charset="0"/>
                <a:cs typeface="Times New Roman" panose="02020603050405020304" pitchFamily="18" charset="0"/>
              </a:rPr>
              <a:t>都设置为给定的值；</a:t>
            </a:r>
            <a:endParaRPr lang="en-US" altLang="zh-CN" sz="1800" dirty="0">
              <a:latin typeface="Times New Roman" panose="02020603050405020304" pitchFamily="18" charset="0"/>
              <a:cs typeface="Times New Roman" panose="02020603050405020304" pitchFamily="18" charset="0"/>
            </a:endParaRPr>
          </a:p>
          <a:p>
            <a:pPr marL="971550" lvl="1"/>
            <a:r>
              <a:rPr lang="en-US" altLang="zh-CN" sz="1800" dirty="0">
                <a:solidFill>
                  <a:srgbClr val="030DCD"/>
                </a:solidFill>
                <a:latin typeface="Times New Roman" panose="02020603050405020304" pitchFamily="18" charset="0"/>
                <a:cs typeface="Times New Roman" panose="02020603050405020304" pitchFamily="18" charset="0"/>
              </a:rPr>
              <a:t>int a[10];  </a:t>
            </a:r>
            <a:r>
              <a:rPr lang="en-US" altLang="zh-CN" sz="1800" dirty="0" err="1">
                <a:solidFill>
                  <a:srgbClr val="030DCD"/>
                </a:solidFill>
                <a:latin typeface="Times New Roman" panose="02020603050405020304" pitchFamily="18" charset="0"/>
                <a:cs typeface="Times New Roman" panose="02020603050405020304" pitchFamily="18" charset="0"/>
              </a:rPr>
              <a:t>memset</a:t>
            </a:r>
            <a:r>
              <a:rPr lang="en-US" altLang="zh-CN" sz="1800" dirty="0">
                <a:solidFill>
                  <a:srgbClr val="030DCD"/>
                </a:solidFill>
                <a:latin typeface="Times New Roman" panose="02020603050405020304" pitchFamily="18" charset="0"/>
                <a:cs typeface="Times New Roman" panose="02020603050405020304" pitchFamily="18" charset="0"/>
              </a:rPr>
              <a:t>(a,9,sizeof(a)); //</a:t>
            </a:r>
            <a:r>
              <a:rPr lang="zh-CN" altLang="en-US" sz="1800" dirty="0">
                <a:solidFill>
                  <a:srgbClr val="C00000"/>
                </a:solidFill>
                <a:latin typeface="Times New Roman" panose="02020603050405020304" pitchFamily="18" charset="0"/>
                <a:cs typeface="Times New Roman" panose="02020603050405020304" pitchFamily="18" charset="0"/>
              </a:rPr>
              <a:t>所有字节</a:t>
            </a:r>
            <a:r>
              <a:rPr lang="zh-CN" altLang="en-US" sz="1800" dirty="0">
                <a:solidFill>
                  <a:srgbClr val="030DCD"/>
                </a:solidFill>
                <a:latin typeface="Times New Roman" panose="02020603050405020304" pitchFamily="18" charset="0"/>
                <a:cs typeface="Times New Roman" panose="02020603050405020304" pitchFamily="18" charset="0"/>
              </a:rPr>
              <a:t>初始化为</a:t>
            </a:r>
            <a:r>
              <a:rPr lang="en-US" altLang="zh-CN" sz="1800" dirty="0" smtClean="0">
                <a:solidFill>
                  <a:srgbClr val="030DCD"/>
                </a:solidFill>
                <a:latin typeface="Times New Roman" panose="02020603050405020304" pitchFamily="18" charset="0"/>
                <a:cs typeface="Times New Roman" panose="02020603050405020304" pitchFamily="18" charset="0"/>
              </a:rPr>
              <a:t>9(0x09)</a:t>
            </a:r>
            <a:endParaRPr lang="en-US" altLang="zh-CN" sz="1800" dirty="0">
              <a:solidFill>
                <a:srgbClr val="030DCD"/>
              </a:solidFill>
              <a:latin typeface="Times New Roman" panose="02020603050405020304" pitchFamily="18" charset="0"/>
              <a:cs typeface="Times New Roman" panose="02020603050405020304" pitchFamily="18" charset="0"/>
            </a:endParaRPr>
          </a:p>
          <a:p>
            <a:pPr marL="971550" lvl="1"/>
            <a:r>
              <a:rPr lang="zh-CN" altLang="en-US" sz="1800" dirty="0">
                <a:latin typeface="Times New Roman" panose="02020603050405020304" pitchFamily="18" charset="0"/>
                <a:cs typeface="Times New Roman" panose="02020603050405020304" pitchFamily="18" charset="0"/>
              </a:rPr>
              <a:t>因此，</a:t>
            </a:r>
            <a:r>
              <a:rPr lang="zh-CN" altLang="en-US" sz="1800" b="1" dirty="0">
                <a:solidFill>
                  <a:srgbClr val="C00000"/>
                </a:solidFill>
                <a:latin typeface="Times New Roman" panose="02020603050405020304" pitchFamily="18" charset="0"/>
                <a:cs typeface="Times New Roman" panose="02020603050405020304" pitchFamily="18" charset="0"/>
              </a:rPr>
              <a:t>数组</a:t>
            </a:r>
            <a:r>
              <a:rPr lang="en-US" altLang="zh-CN" sz="1800" b="1" dirty="0">
                <a:solidFill>
                  <a:srgbClr val="C00000"/>
                </a:solidFill>
                <a:latin typeface="Times New Roman" panose="02020603050405020304" pitchFamily="18" charset="0"/>
                <a:cs typeface="Times New Roman" panose="02020603050405020304" pitchFamily="18" charset="0"/>
              </a:rPr>
              <a:t>a</a:t>
            </a:r>
            <a:r>
              <a:rPr lang="zh-CN" altLang="en-US" sz="1800" b="1" dirty="0">
                <a:solidFill>
                  <a:srgbClr val="C00000"/>
                </a:solidFill>
                <a:latin typeface="Times New Roman" panose="02020603050405020304" pitchFamily="18" charset="0"/>
                <a:cs typeface="Times New Roman" panose="02020603050405020304" pitchFamily="18" charset="0"/>
              </a:rPr>
              <a:t>的每个元素</a:t>
            </a:r>
            <a:r>
              <a:rPr lang="en-US" altLang="zh-CN" sz="1800" b="1" dirty="0">
                <a:solidFill>
                  <a:srgbClr val="C00000"/>
                </a:solidFill>
                <a:latin typeface="Times New Roman" panose="02020603050405020304" pitchFamily="18" charset="0"/>
                <a:cs typeface="Times New Roman" panose="02020603050405020304" pitchFamily="18" charset="0"/>
              </a:rPr>
              <a:t>a[</a:t>
            </a:r>
            <a:r>
              <a:rPr lang="en-US" altLang="zh-CN" sz="1800" b="1" dirty="0" err="1">
                <a:solidFill>
                  <a:srgbClr val="C00000"/>
                </a:solidFill>
                <a:latin typeface="Times New Roman" panose="02020603050405020304" pitchFamily="18" charset="0"/>
                <a:cs typeface="Times New Roman" panose="02020603050405020304" pitchFamily="18" charset="0"/>
              </a:rPr>
              <a:t>i</a:t>
            </a:r>
            <a:r>
              <a:rPr lang="en-US" altLang="zh-CN" sz="1800" b="1" dirty="0">
                <a:solidFill>
                  <a:srgbClr val="C00000"/>
                </a:solidFill>
                <a:latin typeface="Times New Roman" panose="02020603050405020304" pitchFamily="18" charset="0"/>
                <a:cs typeface="Times New Roman" panose="02020603050405020304" pitchFamily="18" charset="0"/>
              </a:rPr>
              <a:t>]</a:t>
            </a:r>
            <a:r>
              <a:rPr lang="zh-CN" altLang="en-US" sz="1800" b="1" dirty="0">
                <a:solidFill>
                  <a:srgbClr val="C00000"/>
                </a:solidFill>
                <a:latin typeface="Times New Roman" panose="02020603050405020304" pitchFamily="18" charset="0"/>
                <a:cs typeface="Times New Roman" panose="02020603050405020304" pitchFamily="18" charset="0"/>
              </a:rPr>
              <a:t>的值是</a:t>
            </a:r>
            <a:r>
              <a:rPr lang="en-US" altLang="zh-CN" sz="1800" b="1" dirty="0">
                <a:solidFill>
                  <a:srgbClr val="C00000"/>
                </a:solidFill>
                <a:latin typeface="Times New Roman" panose="02020603050405020304" pitchFamily="18" charset="0"/>
                <a:cs typeface="Times New Roman" panose="02020603050405020304" pitchFamily="18" charset="0"/>
              </a:rPr>
              <a:t>0x09090909</a:t>
            </a:r>
            <a:r>
              <a:rPr lang="zh-CN" altLang="en-US" sz="1800" b="1" dirty="0">
                <a:solidFill>
                  <a:srgbClr val="C00000"/>
                </a:solidFill>
                <a:latin typeface="Times New Roman" panose="02020603050405020304" pitchFamily="18" charset="0"/>
                <a:cs typeface="Times New Roman" panose="02020603050405020304" pitchFamily="18" charset="0"/>
              </a:rPr>
              <a:t>，不是</a:t>
            </a:r>
            <a:r>
              <a:rPr lang="en-US" altLang="zh-CN" sz="1800" b="1" dirty="0">
                <a:solidFill>
                  <a:srgbClr val="C00000"/>
                </a:solidFill>
                <a:latin typeface="Times New Roman" panose="02020603050405020304" pitchFamily="18" charset="0"/>
                <a:cs typeface="Times New Roman" panose="02020603050405020304" pitchFamily="18" charset="0"/>
              </a:rPr>
              <a:t>9</a:t>
            </a:r>
            <a:r>
              <a:rPr lang="zh-CN" altLang="en-US" sz="1800" b="1" dirty="0">
                <a:solidFill>
                  <a:srgbClr val="C00000"/>
                </a:solidFill>
                <a:latin typeface="Times New Roman" panose="02020603050405020304" pitchFamily="18" charset="0"/>
                <a:cs typeface="Times New Roman" panose="02020603050405020304" pitchFamily="18" charset="0"/>
              </a:rPr>
              <a:t>；</a:t>
            </a:r>
            <a:endParaRPr lang="en-US" altLang="zh-CN" sz="1800" b="1" dirty="0">
              <a:solidFill>
                <a:srgbClr val="C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zh-CN" altLang="en-US" sz="2000" b="1" dirty="0">
                <a:solidFill>
                  <a:srgbClr val="7030A0"/>
                </a:solidFill>
                <a:latin typeface="Times New Roman" panose="02020603050405020304" pitchFamily="18" charset="0"/>
                <a:cs typeface="Times New Roman" panose="02020603050405020304" pitchFamily="18" charset="0"/>
              </a:rPr>
              <a:t>一般用于清</a:t>
            </a:r>
            <a:r>
              <a:rPr lang="zh-CN" altLang="en-US" sz="2000" b="1" dirty="0" smtClean="0">
                <a:solidFill>
                  <a:srgbClr val="7030A0"/>
                </a:solidFill>
                <a:latin typeface="Times New Roman" panose="02020603050405020304" pitchFamily="18" charset="0"/>
                <a:cs typeface="Times New Roman" panose="02020603050405020304" pitchFamily="18" charset="0"/>
              </a:rPr>
              <a:t>零某段存储区域；</a:t>
            </a:r>
            <a:endParaRPr lang="zh-CN" altLang="en-US" sz="20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5351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Rot="1" noChangeArrowheads="1"/>
          </p:cNvSpPr>
          <p:nvPr>
            <p:ph type="body" idx="1"/>
          </p:nvPr>
        </p:nvSpPr>
        <p:spPr>
          <a:xfrm>
            <a:off x="528350" y="1087293"/>
            <a:ext cx="7772400" cy="4968875"/>
          </a:xfrm>
        </p:spPr>
        <p:txBody>
          <a:bodyPr/>
          <a:lstStyle/>
          <a:p>
            <a:pPr marL="342900" indent="-342900">
              <a:lnSpc>
                <a:spcPct val="100000"/>
              </a:lnSpc>
              <a:buFont typeface="Wingdings" panose="05000000000000000000" pitchFamily="2" charset="2"/>
              <a:buChar char="l"/>
            </a:pPr>
            <a:r>
              <a:rPr lang="en-US" altLang="zh-CN" sz="2000" dirty="0"/>
              <a:t>C</a:t>
            </a:r>
            <a:r>
              <a:rPr lang="zh-CN" altLang="en-US" sz="2000" dirty="0"/>
              <a:t>语言</a:t>
            </a:r>
            <a:r>
              <a:rPr lang="zh-CN" altLang="en-US" sz="2000" dirty="0" smtClean="0"/>
              <a:t>规定</a:t>
            </a:r>
            <a:endParaRPr lang="en-US" altLang="zh-CN" sz="2000" dirty="0" smtClean="0"/>
          </a:p>
          <a:p>
            <a:pPr marL="971550" lvl="1">
              <a:lnSpc>
                <a:spcPct val="100000"/>
              </a:lnSpc>
            </a:pPr>
            <a:r>
              <a:rPr lang="zh-CN" altLang="en-US" sz="1800" dirty="0" smtClean="0">
                <a:solidFill>
                  <a:srgbClr val="FF3300"/>
                </a:solidFill>
              </a:rPr>
              <a:t>不能</a:t>
            </a:r>
            <a:r>
              <a:rPr lang="zh-CN" altLang="en-US" sz="1800" dirty="0">
                <a:solidFill>
                  <a:srgbClr val="FF3300"/>
                </a:solidFill>
              </a:rPr>
              <a:t>引用</a:t>
            </a:r>
            <a:r>
              <a:rPr lang="zh-CN" altLang="en-US" sz="1800" b="1" dirty="0">
                <a:solidFill>
                  <a:srgbClr val="7030A0"/>
                </a:solidFill>
              </a:rPr>
              <a:t>整个</a:t>
            </a:r>
            <a:r>
              <a:rPr lang="zh-CN" altLang="en-US" sz="1800" b="1" dirty="0" smtClean="0">
                <a:solidFill>
                  <a:srgbClr val="7030A0"/>
                </a:solidFill>
              </a:rPr>
              <a:t>数组</a:t>
            </a:r>
            <a:endParaRPr lang="en-US" altLang="zh-CN" sz="1800" b="1" dirty="0" smtClean="0">
              <a:solidFill>
                <a:srgbClr val="7030A0"/>
              </a:solidFill>
            </a:endParaRPr>
          </a:p>
          <a:p>
            <a:pPr marL="971550" lvl="1">
              <a:lnSpc>
                <a:spcPct val="100000"/>
              </a:lnSpc>
            </a:pPr>
            <a:r>
              <a:rPr lang="zh-CN" altLang="en-US" sz="1800" dirty="0" smtClean="0"/>
              <a:t>只能</a:t>
            </a:r>
            <a:r>
              <a:rPr lang="zh-CN" altLang="en-US" sz="1800" b="1" dirty="0">
                <a:solidFill>
                  <a:srgbClr val="FF3300"/>
                </a:solidFill>
              </a:rPr>
              <a:t>逐个引用</a:t>
            </a:r>
            <a:r>
              <a:rPr lang="zh-CN" altLang="en-US" sz="1800" dirty="0">
                <a:solidFill>
                  <a:srgbClr val="FF3300"/>
                </a:solidFill>
              </a:rPr>
              <a:t>元素</a:t>
            </a:r>
            <a:r>
              <a:rPr lang="zh-CN" altLang="en-US" sz="1800" dirty="0" smtClean="0">
                <a:solidFill>
                  <a:srgbClr val="FF3300"/>
                </a:solidFill>
              </a:rPr>
              <a:t>；</a:t>
            </a:r>
            <a:endParaRPr lang="en-US" altLang="zh-CN" sz="1800" dirty="0" smtClean="0">
              <a:solidFill>
                <a:srgbClr val="FF3300"/>
              </a:solidFill>
            </a:endParaRPr>
          </a:p>
          <a:p>
            <a:pPr marL="971550" lvl="1">
              <a:lnSpc>
                <a:spcPct val="100000"/>
              </a:lnSpc>
            </a:pPr>
            <a:r>
              <a:rPr lang="zh-CN" altLang="en-US" sz="1800" dirty="0"/>
              <a:t>如：</a:t>
            </a:r>
            <a:r>
              <a:rPr lang="en-US" altLang="zh-CN" sz="1800" dirty="0" err="1"/>
              <a:t>int</a:t>
            </a:r>
            <a:r>
              <a:rPr lang="en-US" altLang="zh-CN" sz="1800" dirty="0"/>
              <a:t> a[10], b[10];  </a:t>
            </a:r>
            <a:r>
              <a:rPr lang="en-US" altLang="zh-CN" sz="1800" dirty="0" smtClean="0">
                <a:solidFill>
                  <a:srgbClr val="030DCD"/>
                </a:solidFill>
              </a:rPr>
              <a:t>a=b</a:t>
            </a:r>
            <a:r>
              <a:rPr lang="en-US" altLang="zh-CN" sz="1800" dirty="0">
                <a:solidFill>
                  <a:srgbClr val="030DCD"/>
                </a:solidFill>
              </a:rPr>
              <a:t>;  //</a:t>
            </a:r>
            <a:r>
              <a:rPr lang="zh-CN" altLang="en-US" sz="1800" dirty="0">
                <a:solidFill>
                  <a:srgbClr val="030DCD"/>
                </a:solidFill>
              </a:rPr>
              <a:t>不</a:t>
            </a:r>
            <a:r>
              <a:rPr lang="zh-CN" altLang="en-US" sz="1800" dirty="0" smtClean="0">
                <a:solidFill>
                  <a:srgbClr val="030DCD"/>
                </a:solidFill>
              </a:rPr>
              <a:t>允许</a:t>
            </a:r>
            <a:endParaRPr lang="en-US" altLang="zh-CN" dirty="0">
              <a:solidFill>
                <a:srgbClr val="FF3300"/>
              </a:solidFill>
            </a:endParaRPr>
          </a:p>
          <a:p>
            <a:pPr marL="342900" indent="-342900">
              <a:lnSpc>
                <a:spcPct val="100000"/>
              </a:lnSpc>
              <a:buFont typeface="Wingdings" panose="05000000000000000000" pitchFamily="2" charset="2"/>
              <a:buChar char="l"/>
            </a:pPr>
            <a:r>
              <a:rPr lang="zh-CN" altLang="en-US" sz="2000" dirty="0" smtClean="0"/>
              <a:t>元素</a:t>
            </a:r>
            <a:r>
              <a:rPr lang="zh-CN" altLang="en-US" sz="2000" dirty="0"/>
              <a:t>引用方式：</a:t>
            </a:r>
            <a:endParaRPr lang="en-US" altLang="zh-CN" sz="2000" dirty="0"/>
          </a:p>
          <a:p>
            <a:pPr marL="971550" lvl="1">
              <a:lnSpc>
                <a:spcPct val="100000"/>
              </a:lnSpc>
            </a:pPr>
            <a:r>
              <a:rPr lang="zh-CN" altLang="en-US" sz="1800" dirty="0">
                <a:solidFill>
                  <a:srgbClr val="FF3300"/>
                </a:solidFill>
              </a:rPr>
              <a:t>数组名[</a:t>
            </a:r>
            <a:r>
              <a:rPr lang="zh-CN" altLang="en-US" sz="1800" dirty="0">
                <a:solidFill>
                  <a:srgbClr val="0000CC"/>
                </a:solidFill>
              </a:rPr>
              <a:t>下标表达式</a:t>
            </a:r>
            <a:r>
              <a:rPr lang="zh-CN" altLang="en-US" sz="1800" dirty="0">
                <a:solidFill>
                  <a:srgbClr val="FF3300"/>
                </a:solidFill>
              </a:rPr>
              <a:t>]</a:t>
            </a:r>
            <a:r>
              <a:rPr lang="zh-CN" altLang="en-US" sz="1800" dirty="0"/>
              <a:t>    </a:t>
            </a:r>
            <a:endParaRPr lang="en-US" altLang="zh-CN" sz="1800" dirty="0"/>
          </a:p>
          <a:p>
            <a:pPr marL="1200150" lvl="2">
              <a:lnSpc>
                <a:spcPct val="100000"/>
              </a:lnSpc>
            </a:pPr>
            <a:r>
              <a:rPr lang="zh-CN" altLang="en-US" sz="1600" dirty="0"/>
              <a:t>其中下标表达式必须能够计算出一个确定的整数；</a:t>
            </a:r>
            <a:endParaRPr lang="en-US" altLang="zh-CN" sz="1600" dirty="0"/>
          </a:p>
          <a:p>
            <a:pPr marL="1200150" lvl="2">
              <a:lnSpc>
                <a:spcPct val="100000"/>
              </a:lnSpc>
            </a:pPr>
            <a:r>
              <a:rPr lang="zh-CN" altLang="en-US" sz="1600" dirty="0"/>
              <a:t>可以是</a:t>
            </a:r>
            <a:r>
              <a:rPr lang="zh-CN" altLang="en-US" sz="1600" dirty="0" smtClean="0"/>
              <a:t>算术表达式，或其它有值的表达式；</a:t>
            </a:r>
            <a:endParaRPr lang="en-US" altLang="zh-CN" sz="1600" dirty="0"/>
          </a:p>
          <a:p>
            <a:pPr marL="1200150" lvl="2">
              <a:lnSpc>
                <a:spcPct val="100000"/>
              </a:lnSpc>
            </a:pPr>
            <a:r>
              <a:rPr lang="zh-CN" altLang="en-US" sz="1600" dirty="0"/>
              <a:t>注意下标不要超出数据定义时确定的范围；</a:t>
            </a:r>
            <a:endParaRPr lang="en-US" altLang="zh-CN" sz="1600" dirty="0"/>
          </a:p>
          <a:p>
            <a:pPr marL="971550" lvl="1">
              <a:lnSpc>
                <a:spcPct val="100000"/>
              </a:lnSpc>
            </a:pPr>
            <a:r>
              <a:rPr lang="zh-CN" altLang="en-US" sz="1800" dirty="0">
                <a:solidFill>
                  <a:srgbClr val="7030A0"/>
                </a:solidFill>
              </a:rPr>
              <a:t>例如</a:t>
            </a:r>
            <a:r>
              <a:rPr lang="en-US" altLang="zh-CN" sz="1800" dirty="0">
                <a:solidFill>
                  <a:srgbClr val="7030A0"/>
                </a:solidFill>
              </a:rPr>
              <a:t>: a[0] = a[5] + a[7] - a[</a:t>
            </a:r>
            <a:r>
              <a:rPr lang="en-US" altLang="zh-CN" sz="1800" dirty="0">
                <a:solidFill>
                  <a:srgbClr val="C00000"/>
                </a:solidFill>
              </a:rPr>
              <a:t>2*3</a:t>
            </a:r>
            <a:r>
              <a:rPr lang="en-US" altLang="zh-CN" sz="1800" dirty="0">
                <a:solidFill>
                  <a:srgbClr val="7030A0"/>
                </a:solidFill>
              </a:rPr>
              <a:t>]</a:t>
            </a:r>
            <a:r>
              <a:rPr lang="zh-CN" altLang="en-US" sz="1800" dirty="0">
                <a:solidFill>
                  <a:srgbClr val="7030A0"/>
                </a:solidFill>
              </a:rPr>
              <a:t>， </a:t>
            </a:r>
            <a:r>
              <a:rPr lang="en-US" altLang="zh-CN" sz="1800" dirty="0">
                <a:solidFill>
                  <a:srgbClr val="7030A0"/>
                </a:solidFill>
              </a:rPr>
              <a:t>b[2]=a[4]; </a:t>
            </a:r>
            <a:r>
              <a:rPr lang="en-US" altLang="zh-CN" sz="1800" dirty="0" smtClean="0">
                <a:solidFill>
                  <a:srgbClr val="7030A0"/>
                </a:solidFill>
              </a:rPr>
              <a:t>//</a:t>
            </a:r>
            <a:r>
              <a:rPr lang="zh-CN" altLang="en-US" sz="1800" dirty="0" smtClean="0">
                <a:solidFill>
                  <a:srgbClr val="C00000"/>
                </a:solidFill>
              </a:rPr>
              <a:t>都是</a:t>
            </a:r>
            <a:r>
              <a:rPr lang="zh-CN" altLang="en-US" sz="1800" dirty="0">
                <a:solidFill>
                  <a:srgbClr val="C00000"/>
                </a:solidFill>
              </a:rPr>
              <a:t>允许的；</a:t>
            </a:r>
          </a:p>
          <a:p>
            <a:pPr marL="457200" indent="-457200" algn="just">
              <a:lnSpc>
                <a:spcPct val="100000"/>
              </a:lnSpc>
              <a:buFont typeface="Wingdings" panose="05000000000000000000" pitchFamily="2" charset="2"/>
              <a:buChar char="l"/>
            </a:pPr>
            <a:r>
              <a:rPr lang="zh-CN" altLang="en-US" sz="2000" b="1" dirty="0" smtClean="0">
                <a:solidFill>
                  <a:srgbClr val="7030A0"/>
                </a:solidFill>
              </a:rPr>
              <a:t>每个数组</a:t>
            </a:r>
            <a:r>
              <a:rPr lang="zh-CN" altLang="en-US" sz="2000" b="1" dirty="0">
                <a:solidFill>
                  <a:srgbClr val="7030A0"/>
                </a:solidFill>
              </a:rPr>
              <a:t>元素</a:t>
            </a:r>
            <a:r>
              <a:rPr lang="zh-CN" altLang="en-US" sz="2000" b="1" dirty="0">
                <a:solidFill>
                  <a:srgbClr val="000000"/>
                </a:solidFill>
              </a:rPr>
              <a:t>，</a:t>
            </a:r>
            <a:r>
              <a:rPr lang="zh-CN" altLang="en-US" sz="2000" b="1" u="sng" dirty="0">
                <a:solidFill>
                  <a:srgbClr val="000000"/>
                </a:solidFill>
              </a:rPr>
              <a:t>实质上就是</a:t>
            </a:r>
            <a:r>
              <a:rPr lang="zh-CN" altLang="en-US" sz="2000" b="1" u="sng" dirty="0">
                <a:solidFill>
                  <a:srgbClr val="9900FF"/>
                </a:solidFill>
              </a:rPr>
              <a:t>1</a:t>
            </a:r>
            <a:r>
              <a:rPr lang="zh-CN" altLang="en-US" sz="2000" b="1" u="sng" dirty="0" smtClean="0">
                <a:solidFill>
                  <a:srgbClr val="9900FF"/>
                </a:solidFill>
              </a:rPr>
              <a:t>个变量</a:t>
            </a:r>
            <a:r>
              <a:rPr lang="zh-CN" altLang="en-US" sz="2000" b="1" dirty="0">
                <a:solidFill>
                  <a:srgbClr val="000000"/>
                </a:solidFill>
              </a:rPr>
              <a:t>，它具有和相同类型单个变量一样的属性，可以对它进行赋值和参与各种运算。</a:t>
            </a:r>
            <a:endParaRPr lang="zh-CN" altLang="en-US" sz="2000" b="1" dirty="0"/>
          </a:p>
          <a:p>
            <a:pPr marL="1085850" lvl="1" indent="-457200" algn="just">
              <a:lnSpc>
                <a:spcPct val="100000"/>
              </a:lnSpc>
            </a:pPr>
            <a:endParaRPr lang="zh-CN" altLang="en-US" sz="1600" dirty="0">
              <a:solidFill>
                <a:srgbClr val="000000"/>
              </a:solidFill>
              <a:latin typeface="宋体" panose="02010600030101010101" pitchFamily="2" charset="-122"/>
            </a:endParaRPr>
          </a:p>
          <a:p>
            <a:pPr algn="just">
              <a:lnSpc>
                <a:spcPct val="100000"/>
              </a:lnSpc>
            </a:pPr>
            <a:endParaRPr lang="zh-CN" altLang="en-US" b="1" dirty="0">
              <a:solidFill>
                <a:srgbClr val="000000"/>
              </a:solidFill>
              <a:latin typeface="宋体" panose="02010600030101010101" pitchFamily="2" charset="-122"/>
            </a:endParaRPr>
          </a:p>
        </p:txBody>
      </p:sp>
      <p:sp>
        <p:nvSpPr>
          <p:cNvPr id="2" name="矩形 1"/>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a:solidFill>
                  <a:srgbClr val="1A93C8"/>
                </a:solidFill>
                <a:latin typeface="+mj-lt"/>
                <a:ea typeface="+mj-ea"/>
                <a:cs typeface="+mj-cs"/>
              </a:rPr>
              <a:t>数组元素的引用</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17757199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Rot="1" noChangeArrowheads="1"/>
          </p:cNvSpPr>
          <p:nvPr>
            <p:ph type="body" idx="1"/>
          </p:nvPr>
        </p:nvSpPr>
        <p:spPr>
          <a:xfrm>
            <a:off x="611188" y="1007918"/>
            <a:ext cx="7970837" cy="5330537"/>
          </a:xfrm>
        </p:spPr>
        <p:txBody>
          <a:bodyPr/>
          <a:lstStyle/>
          <a:p>
            <a:pPr marL="342900" indent="-342900">
              <a:buFont typeface="Wingdings" panose="05000000000000000000" pitchFamily="2" charset="2"/>
              <a:buChar char="l"/>
            </a:pPr>
            <a:r>
              <a:rPr lang="zh-CN" altLang="en-US" sz="2000" b="1" dirty="0" smtClean="0"/>
              <a:t>数组一般用</a:t>
            </a:r>
            <a:r>
              <a:rPr lang="zh-CN" altLang="en-US" sz="2000" b="1" dirty="0" smtClean="0">
                <a:solidFill>
                  <a:srgbClr val="C00000"/>
                </a:solidFill>
              </a:rPr>
              <a:t>循环</a:t>
            </a:r>
            <a:r>
              <a:rPr lang="zh-CN" altLang="en-US" sz="2000" b="1" dirty="0">
                <a:solidFill>
                  <a:srgbClr val="C00000"/>
                </a:solidFill>
              </a:rPr>
              <a:t>结构</a:t>
            </a:r>
            <a:r>
              <a:rPr lang="zh-CN" altLang="en-US" sz="2000" b="1" dirty="0"/>
              <a:t>访问数组元素；</a:t>
            </a:r>
            <a:endParaRPr lang="en-US" altLang="zh-CN" sz="2000" b="1" dirty="0"/>
          </a:p>
          <a:p>
            <a:pPr marL="342900" indent="-342900">
              <a:buFont typeface="Wingdings" panose="05000000000000000000" pitchFamily="2" charset="2"/>
              <a:buChar char="l"/>
            </a:pPr>
            <a:r>
              <a:rPr lang="zh-CN" altLang="en-US" sz="2000" dirty="0"/>
              <a:t>使数组元素</a:t>
            </a:r>
            <a:r>
              <a:rPr lang="en-US" altLang="zh-CN" sz="2000" dirty="0"/>
              <a:t>a[0]～a[9]</a:t>
            </a:r>
            <a:r>
              <a:rPr lang="zh-CN" altLang="en-US" sz="2000" dirty="0"/>
              <a:t>的值为0～9，然后逆序输出。</a:t>
            </a:r>
          </a:p>
          <a:p>
            <a:pPr marL="285750" lvl="1" indent="0">
              <a:buNone/>
            </a:pPr>
            <a:r>
              <a:rPr lang="en-US" altLang="zh-CN" sz="1800" dirty="0" err="1"/>
              <a:t>int</a:t>
            </a:r>
            <a:r>
              <a:rPr lang="en-US" altLang="zh-CN" sz="1800" dirty="0"/>
              <a:t> main()</a:t>
            </a:r>
          </a:p>
          <a:p>
            <a:pPr marL="285750" lvl="1" indent="0">
              <a:buNone/>
            </a:pPr>
            <a:r>
              <a:rPr lang="en-US" altLang="zh-CN" sz="1800" dirty="0"/>
              <a:t>{</a:t>
            </a:r>
          </a:p>
          <a:p>
            <a:pPr marL="285750" lvl="1" indent="0">
              <a:buNone/>
            </a:pPr>
            <a:r>
              <a:rPr lang="en-US" altLang="zh-CN" sz="1800" dirty="0"/>
              <a:t>    </a:t>
            </a:r>
            <a:r>
              <a:rPr lang="en-US" altLang="zh-CN" sz="1800" dirty="0" err="1" smtClean="0"/>
              <a:t>int</a:t>
            </a:r>
            <a:r>
              <a:rPr lang="en-US" altLang="zh-CN" sz="1800" dirty="0" smtClean="0"/>
              <a:t> a[10</a:t>
            </a:r>
            <a:r>
              <a:rPr lang="en-US" altLang="zh-CN" sz="1800" dirty="0"/>
              <a:t>];</a:t>
            </a:r>
          </a:p>
          <a:p>
            <a:pPr marL="285750" lvl="1" indent="0">
              <a:buNone/>
            </a:pPr>
            <a:r>
              <a:rPr lang="en-US" altLang="zh-CN" sz="1800" dirty="0"/>
              <a:t> </a:t>
            </a:r>
            <a:r>
              <a:rPr lang="en-US" altLang="zh-CN" sz="1800" dirty="0">
                <a:solidFill>
                  <a:srgbClr val="0000CC"/>
                </a:solidFill>
              </a:rPr>
              <a:t>   for </a:t>
            </a:r>
            <a:r>
              <a:rPr lang="en-US" altLang="zh-CN" sz="1800" dirty="0" smtClean="0">
                <a:solidFill>
                  <a:srgbClr val="0000CC"/>
                </a:solidFill>
              </a:rPr>
              <a:t>(</a:t>
            </a:r>
            <a:r>
              <a:rPr lang="en-US" altLang="zh-CN" sz="1800" dirty="0" err="1" smtClean="0">
                <a:solidFill>
                  <a:srgbClr val="0000CC"/>
                </a:solidFill>
              </a:rPr>
              <a:t>int</a:t>
            </a:r>
            <a:r>
              <a:rPr lang="en-US" altLang="zh-CN" sz="1800" dirty="0" smtClean="0">
                <a:solidFill>
                  <a:srgbClr val="0000CC"/>
                </a:solidFill>
              </a:rPr>
              <a:t> </a:t>
            </a:r>
            <a:r>
              <a:rPr lang="en-US" altLang="zh-CN" sz="1800" dirty="0" err="1" smtClean="0">
                <a:solidFill>
                  <a:srgbClr val="0000CC"/>
                </a:solidFill>
              </a:rPr>
              <a:t>i</a:t>
            </a:r>
            <a:r>
              <a:rPr lang="en-US" altLang="zh-CN" sz="1800" dirty="0" smtClean="0">
                <a:solidFill>
                  <a:srgbClr val="0000CC"/>
                </a:solidFill>
              </a:rPr>
              <a:t>=0;i</a:t>
            </a:r>
            <a:r>
              <a:rPr lang="en-US" altLang="zh-CN" sz="1800" dirty="0">
                <a:solidFill>
                  <a:srgbClr val="0000CC"/>
                </a:solidFill>
              </a:rPr>
              <a:t>&lt;=9;i++)</a:t>
            </a:r>
          </a:p>
          <a:p>
            <a:pPr marL="285750" lvl="1" indent="0">
              <a:buNone/>
            </a:pPr>
            <a:r>
              <a:rPr lang="en-US" altLang="zh-CN" sz="1800" dirty="0">
                <a:solidFill>
                  <a:srgbClr val="0000CC"/>
                </a:solidFill>
              </a:rPr>
              <a:t>        a[</a:t>
            </a:r>
            <a:r>
              <a:rPr lang="en-US" altLang="zh-CN" sz="1800" dirty="0" err="1">
                <a:solidFill>
                  <a:srgbClr val="0000CC"/>
                </a:solidFill>
              </a:rPr>
              <a:t>i</a:t>
            </a:r>
            <a:r>
              <a:rPr lang="en-US" altLang="zh-CN" sz="1800" dirty="0">
                <a:solidFill>
                  <a:srgbClr val="0000CC"/>
                </a:solidFill>
              </a:rPr>
              <a:t>] = </a:t>
            </a:r>
            <a:r>
              <a:rPr lang="en-US" altLang="zh-CN" sz="1800" dirty="0" err="1">
                <a:solidFill>
                  <a:srgbClr val="0000CC"/>
                </a:solidFill>
              </a:rPr>
              <a:t>i</a:t>
            </a:r>
            <a:r>
              <a:rPr lang="en-US" altLang="zh-CN" sz="1800" dirty="0" smtClean="0">
                <a:solidFill>
                  <a:srgbClr val="0000CC"/>
                </a:solidFill>
              </a:rPr>
              <a:t>;  </a:t>
            </a:r>
            <a:r>
              <a:rPr lang="en-US" altLang="zh-CN" sz="1800" dirty="0" smtClean="0"/>
              <a:t>//</a:t>
            </a:r>
            <a:r>
              <a:rPr lang="zh-CN" altLang="en-US" sz="1800" dirty="0" smtClean="0"/>
              <a:t>数组元素赋值</a:t>
            </a:r>
            <a:endParaRPr lang="en-US" altLang="zh-CN" sz="1800" dirty="0"/>
          </a:p>
          <a:p>
            <a:pPr marL="285750" lvl="1" indent="0">
              <a:buNone/>
            </a:pPr>
            <a:endParaRPr lang="en-US" altLang="zh-CN" sz="1800" dirty="0"/>
          </a:p>
          <a:p>
            <a:pPr marL="285750" lvl="1" indent="0">
              <a:buNone/>
            </a:pPr>
            <a:r>
              <a:rPr lang="en-US" altLang="zh-CN" sz="1800" dirty="0"/>
              <a:t>    </a:t>
            </a:r>
            <a:r>
              <a:rPr lang="en-US" altLang="zh-CN" sz="1800" dirty="0" smtClean="0"/>
              <a:t>for(</a:t>
            </a:r>
            <a:r>
              <a:rPr lang="en-US" altLang="zh-CN" sz="1800" dirty="0" err="1" smtClean="0"/>
              <a:t>int</a:t>
            </a:r>
            <a:r>
              <a:rPr lang="en-US" altLang="zh-CN" sz="1800" dirty="0" smtClean="0"/>
              <a:t> </a:t>
            </a:r>
            <a:r>
              <a:rPr lang="en-US" altLang="zh-CN" sz="1800" dirty="0" err="1" smtClean="0"/>
              <a:t>i</a:t>
            </a:r>
            <a:r>
              <a:rPr lang="en-US" altLang="zh-CN" sz="1800" dirty="0" smtClean="0"/>
              <a:t>=9;i</a:t>
            </a:r>
            <a:r>
              <a:rPr lang="en-US" altLang="zh-CN" sz="1800" dirty="0"/>
              <a:t>&gt;=0; </a:t>
            </a:r>
            <a:r>
              <a:rPr lang="en-US" altLang="zh-CN" sz="1800" dirty="0" err="1"/>
              <a:t>i</a:t>
            </a:r>
            <a:r>
              <a:rPr lang="en-US" altLang="zh-CN" sz="1800" dirty="0"/>
              <a:t>--)</a:t>
            </a:r>
          </a:p>
          <a:p>
            <a:pPr marL="285750" lvl="1" indent="0">
              <a:buNone/>
            </a:pPr>
            <a:r>
              <a:rPr lang="en-US" altLang="zh-CN" sz="1800" dirty="0"/>
              <a:t>        </a:t>
            </a:r>
            <a:r>
              <a:rPr lang="en-US" altLang="zh-CN" sz="1800" dirty="0" err="1"/>
              <a:t>printf</a:t>
            </a:r>
            <a:r>
              <a:rPr lang="en-US" altLang="zh-CN" sz="1800" dirty="0" smtClean="0"/>
              <a:t>(“%</a:t>
            </a:r>
            <a:r>
              <a:rPr lang="en-US" altLang="zh-CN" sz="1800" dirty="0"/>
              <a:t>d </a:t>
            </a:r>
            <a:r>
              <a:rPr lang="en-US" altLang="zh-CN" sz="1800" dirty="0" smtClean="0"/>
              <a:t>”,</a:t>
            </a:r>
            <a:r>
              <a:rPr lang="en-US" altLang="zh-CN" sz="1800" dirty="0"/>
              <a:t>a[</a:t>
            </a:r>
            <a:r>
              <a:rPr lang="en-US" altLang="zh-CN" sz="1800" dirty="0" err="1"/>
              <a:t>i</a:t>
            </a:r>
            <a:r>
              <a:rPr lang="en-US" altLang="zh-CN" sz="1800" dirty="0" smtClean="0"/>
              <a:t>]);   //</a:t>
            </a:r>
            <a:r>
              <a:rPr lang="zh-CN" altLang="en-US" sz="1800" dirty="0" smtClean="0"/>
              <a:t>逆序输出各数组元素的值</a:t>
            </a:r>
            <a:endParaRPr lang="en-US" altLang="zh-CN" sz="1800" dirty="0"/>
          </a:p>
          <a:p>
            <a:pPr marL="285750" lvl="1" indent="0">
              <a:buNone/>
            </a:pPr>
            <a:r>
              <a:rPr lang="en-US" altLang="zh-CN" sz="1800" dirty="0"/>
              <a:t>    return 0;</a:t>
            </a:r>
          </a:p>
          <a:p>
            <a:pPr marL="285750" lvl="1" indent="0">
              <a:buNone/>
            </a:pPr>
            <a:r>
              <a:rPr lang="en-US" altLang="zh-CN" sz="1800" dirty="0"/>
              <a:t>}</a:t>
            </a:r>
          </a:p>
          <a:p>
            <a:pPr marL="342900" indent="-342900">
              <a:buFont typeface="Wingdings" panose="05000000000000000000" pitchFamily="2" charset="2"/>
              <a:buChar char="l"/>
            </a:pPr>
            <a:r>
              <a:rPr lang="en-US" altLang="zh-CN" sz="2000" dirty="0"/>
              <a:t> </a:t>
            </a:r>
            <a:r>
              <a:rPr lang="zh-CN" altLang="en-US" sz="2000" dirty="0"/>
              <a:t>运行输出： 9 8 7 6 5 4 3 2 1 0</a:t>
            </a:r>
          </a:p>
          <a:p>
            <a:endParaRPr lang="zh-CN" altLang="en-US" b="1" dirty="0">
              <a:latin typeface="宋体" panose="02010600030101010101" pitchFamily="2" charset="-122"/>
            </a:endParaRPr>
          </a:p>
        </p:txBody>
      </p:sp>
      <p:sp>
        <p:nvSpPr>
          <p:cNvPr id="3" name="矩形 2"/>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数组</a:t>
            </a:r>
            <a:r>
              <a:rPr lang="zh-CN" altLang="en-US" sz="2800" dirty="0">
                <a:solidFill>
                  <a:srgbClr val="1A93C8"/>
                </a:solidFill>
                <a:latin typeface="+mj-lt"/>
                <a:ea typeface="+mj-ea"/>
                <a:cs typeface="+mj-cs"/>
              </a:rPr>
              <a:t>的使用</a:t>
            </a:r>
            <a:r>
              <a:rPr lang="en-US" altLang="zh-CN" sz="2800" dirty="0">
                <a:solidFill>
                  <a:srgbClr val="1A93C8"/>
                </a:solidFill>
                <a:latin typeface="+mj-lt"/>
                <a:ea typeface="+mj-ea"/>
                <a:cs typeface="+mj-cs"/>
              </a:rPr>
              <a:t>---</a:t>
            </a:r>
            <a:r>
              <a:rPr lang="zh-CN" altLang="en-US" sz="2800" dirty="0">
                <a:solidFill>
                  <a:srgbClr val="0000CC"/>
                </a:solidFill>
                <a:latin typeface="+mj-lt"/>
                <a:ea typeface="+mj-ea"/>
                <a:cs typeface="+mj-cs"/>
              </a:rPr>
              <a:t>逆序输出数组元素</a:t>
            </a:r>
            <a:endParaRPr lang="en-US" altLang="zh-CN" sz="2800" dirty="0">
              <a:solidFill>
                <a:srgbClr val="0000CC"/>
              </a:solidFill>
              <a:latin typeface="+mj-lt"/>
              <a:ea typeface="+mj-ea"/>
              <a:cs typeface="+mj-cs"/>
            </a:endParaRPr>
          </a:p>
        </p:txBody>
      </p:sp>
    </p:spTree>
    <p:extLst>
      <p:ext uri="{BB962C8B-B14F-4D97-AF65-F5344CB8AC3E}">
        <p14:creationId xmlns:p14="http://schemas.microsoft.com/office/powerpoint/2010/main" val="3184670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1" name="Rectangle 3"/>
              <p:cNvSpPr>
                <a:spLocks noGrp="1" noRot="1" noChangeArrowheads="1"/>
              </p:cNvSpPr>
              <p:nvPr>
                <p:ph type="body" idx="1"/>
              </p:nvPr>
            </p:nvSpPr>
            <p:spPr>
              <a:xfrm>
                <a:off x="611188" y="1007918"/>
                <a:ext cx="7970837" cy="1559113"/>
              </a:xfrm>
            </p:spPr>
            <p:txBody>
              <a:bodyPr/>
              <a:lstStyle/>
              <a:p>
                <a:pPr marL="342900" indent="-342900">
                  <a:lnSpc>
                    <a:spcPct val="100000"/>
                  </a:lnSpc>
                  <a:buFont typeface="Wingdings" panose="05000000000000000000" pitchFamily="2" charset="2"/>
                  <a:buChar char="l"/>
                </a:pPr>
                <a:r>
                  <a:rPr lang="zh-CN" altLang="en-US" sz="2000" dirty="0"/>
                  <a:t>给定整数 </a:t>
                </a:r>
                <a14:m>
                  <m:oMath xmlns:m="http://schemas.openxmlformats.org/officeDocument/2006/math">
                    <m:r>
                      <m:rPr>
                        <m:sty m:val="p"/>
                      </m:rPr>
                      <a:rPr lang="en-US" altLang="zh-CN" sz="2000" i="1">
                        <a:latin typeface="Cambria Math" panose="02040503050406030204" pitchFamily="18" charset="0"/>
                      </a:rPr>
                      <m:t>a</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𝑛</m:t>
                        </m:r>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𝑛</m:t>
                        </m:r>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m:t>
                        </m:r>
                        <m:r>
                          <a:rPr lang="en-US" altLang="zh-CN" sz="2000" i="1">
                            <a:latin typeface="Cambria Math" panose="02040503050406030204" pitchFamily="18" charset="0"/>
                          </a:rPr>
                          <m:t>𝑎</m:t>
                        </m:r>
                      </m:e>
                      <m:sub>
                        <m:r>
                          <a:rPr lang="en-US" altLang="zh-CN" sz="2000" i="1">
                            <a:latin typeface="Cambria Math" panose="02040503050406030204" pitchFamily="18" charset="0"/>
                          </a:rPr>
                          <m:t>3</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0</m:t>
                        </m:r>
                      </m:sub>
                    </m:sSub>
                  </m:oMath>
                </a14:m>
                <a:r>
                  <a:rPr lang="zh-CN" altLang="en-US" sz="2000" dirty="0"/>
                  <a:t>，将其每一位分解到一个数组</a:t>
                </a:r>
                <a:r>
                  <a:rPr lang="en-US" altLang="zh-CN" sz="2000" dirty="0"/>
                  <a:t>b</a:t>
                </a:r>
                <a:r>
                  <a:rPr lang="zh-CN" altLang="en-US" sz="2000" dirty="0"/>
                  <a:t>中，</a:t>
                </a:r>
                <a:r>
                  <a:rPr lang="zh-CN" altLang="en-US" sz="2000" dirty="0">
                    <a:solidFill>
                      <a:srgbClr val="030DCD"/>
                    </a:solidFill>
                  </a:rPr>
                  <a:t>数组的下标对应该位在整数中的权值</a:t>
                </a:r>
                <a:r>
                  <a:rPr lang="zh-CN" altLang="en-US" sz="2000" dirty="0"/>
                  <a:t>。</a:t>
                </a:r>
                <a:endParaRPr lang="en-US" altLang="zh-CN" sz="2000" dirty="0"/>
              </a:p>
              <a:p>
                <a:pPr marL="342900" indent="-342900">
                  <a:lnSpc>
                    <a:spcPct val="100000"/>
                  </a:lnSpc>
                  <a:buFont typeface="Wingdings" panose="05000000000000000000" pitchFamily="2" charset="2"/>
                  <a:buChar char="l"/>
                </a:pPr>
                <a14:m>
                  <m:oMath xmlns:m="http://schemas.openxmlformats.org/officeDocument/2006/math">
                    <m:r>
                      <a:rPr lang="zh-CN" altLang="en-US" sz="2000" b="0" i="1" smtClean="0">
                        <a:latin typeface="Cambria Math" panose="02040503050406030204" pitchFamily="18" charset="0"/>
                      </a:rPr>
                      <m:t>即：</m:t>
                    </m:r>
                    <m:r>
                      <a:rPr lang="en-US" altLang="zh-CN" sz="2000" b="0" i="1" smtClean="0">
                        <a:latin typeface="Cambria Math" panose="02040503050406030204" pitchFamily="18" charset="0"/>
                      </a:rPr>
                      <m:t>𝑏</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sub>
                    </m:sSub>
                    <m:r>
                      <a:rPr lang="en-US" altLang="zh-CN" sz="2000" i="1">
                        <a:latin typeface="Cambria Math" panose="02040503050406030204" pitchFamily="18" charset="0"/>
                      </a:rPr>
                      <m:t>, </m:t>
                    </m:r>
                    <m:r>
                      <a:rPr lang="en-US" altLang="zh-CN" sz="2000" b="0" i="1" smtClean="0">
                        <a:latin typeface="Cambria Math" panose="02040503050406030204" pitchFamily="18" charset="0"/>
                      </a:rPr>
                      <m:t>𝑏</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𝑛</m:t>
                        </m:r>
                        <m:r>
                          <a:rPr lang="en-US" altLang="zh-CN" sz="2000" i="1">
                            <a:latin typeface="Cambria Math" panose="02040503050406030204" pitchFamily="18" charset="0"/>
                          </a:rPr>
                          <m:t>−2</m:t>
                        </m:r>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𝑛</m:t>
                        </m:r>
                        <m:r>
                          <a:rPr lang="en-US" altLang="zh-CN" sz="2000" i="1">
                            <a:latin typeface="Cambria Math" panose="02040503050406030204" pitchFamily="18" charset="0"/>
                          </a:rPr>
                          <m:t>−2</m:t>
                        </m:r>
                      </m:sub>
                    </m:sSub>
                    <m:r>
                      <a:rPr lang="zh-CN" altLang="en-US" sz="2000" b="0" i="1" smtClean="0">
                        <a:latin typeface="Cambria Math" panose="02040503050406030204" pitchFamily="18" charset="0"/>
                      </a:rPr>
                      <m:t>，</m:t>
                    </m:r>
                    <m:r>
                      <a:rPr lang="en-US" altLang="zh-CN" sz="2000" b="0" i="1" smtClean="0">
                        <a:latin typeface="Cambria Math" panose="02040503050406030204" pitchFamily="18" charset="0"/>
                      </a:rPr>
                      <m:t> ……</m:t>
                    </m:r>
                    <m:r>
                      <m:rPr>
                        <m:sty m:val="p"/>
                      </m:rPr>
                      <a:rPr lang="en-US" altLang="zh-CN" sz="2000" b="0" i="0" smtClean="0">
                        <a:latin typeface="Cambria Math" panose="02040503050406030204" pitchFamily="18" charset="0"/>
                      </a:rPr>
                      <m:t>b</m:t>
                    </m:r>
                    <m:d>
                      <m:dPr>
                        <m:begChr m:val="["/>
                        <m:endChr m:val="]"/>
                        <m:ctrlPr>
                          <a:rPr lang="en-US" altLang="zh-CN" sz="2000" b="0" i="1" smtClean="0">
                            <a:latin typeface="Cambria Math" panose="02040503050406030204" pitchFamily="18" charset="0"/>
                          </a:rPr>
                        </m:ctrlPr>
                      </m:dPr>
                      <m:e>
                        <m:r>
                          <a:rPr lang="en-US" altLang="zh-CN" sz="2000" b="0" i="0" smtClean="0">
                            <a:latin typeface="Cambria Math" panose="02040503050406030204" pitchFamily="18" charset="0"/>
                          </a:rPr>
                          <m:t>1</m:t>
                        </m:r>
                      </m:e>
                    </m:d>
                    <m:r>
                      <a:rPr lang="en-US" altLang="zh-CN" sz="2000" b="0" i="0"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𝑏</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0</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0</m:t>
                        </m:r>
                      </m:sub>
                    </m:sSub>
                  </m:oMath>
                </a14:m>
                <a:endParaRPr lang="zh-CN" altLang="en-US" sz="2000" dirty="0"/>
              </a:p>
              <a:p>
                <a:pPr marL="285750" lvl="1" indent="0">
                  <a:lnSpc>
                    <a:spcPct val="100000"/>
                  </a:lnSpc>
                  <a:buNone/>
                </a:pPr>
                <a:r>
                  <a:rPr lang="zh-CN" altLang="en-US" sz="1800" dirty="0"/>
                  <a:t> 如：</a:t>
                </a:r>
                <a:r>
                  <a:rPr lang="en-US" altLang="zh-CN" sz="1800" dirty="0"/>
                  <a:t>2345</a:t>
                </a:r>
                <a:r>
                  <a:rPr lang="en-US" altLang="zh-CN" sz="1800" dirty="0">
                    <a:sym typeface="Wingdings" panose="05000000000000000000" pitchFamily="2" charset="2"/>
                  </a:rPr>
                  <a:t> a[0</a:t>
                </a:r>
                <a:r>
                  <a:rPr lang="en-US" altLang="zh-CN" sz="1800" dirty="0" smtClean="0">
                    <a:sym typeface="Wingdings" panose="05000000000000000000" pitchFamily="2" charset="2"/>
                  </a:rPr>
                  <a:t>]=5, </a:t>
                </a:r>
                <a:r>
                  <a:rPr lang="en-US" altLang="zh-CN" sz="1800" dirty="0">
                    <a:sym typeface="Wingdings" panose="05000000000000000000" pitchFamily="2" charset="2"/>
                  </a:rPr>
                  <a:t>a[1</a:t>
                </a:r>
                <a:r>
                  <a:rPr lang="en-US" altLang="zh-CN" sz="1800" dirty="0" smtClean="0">
                    <a:sym typeface="Wingdings" panose="05000000000000000000" pitchFamily="2" charset="2"/>
                  </a:rPr>
                  <a:t>]=4, </a:t>
                </a:r>
                <a:r>
                  <a:rPr lang="en-US" altLang="zh-CN" sz="1800" dirty="0">
                    <a:sym typeface="Wingdings" panose="05000000000000000000" pitchFamily="2" charset="2"/>
                  </a:rPr>
                  <a:t>a[2</a:t>
                </a:r>
                <a:r>
                  <a:rPr lang="en-US" altLang="zh-CN" sz="1800" dirty="0" smtClean="0">
                    <a:sym typeface="Wingdings" panose="05000000000000000000" pitchFamily="2" charset="2"/>
                  </a:rPr>
                  <a:t>]=3,  </a:t>
                </a:r>
                <a:r>
                  <a:rPr lang="en-US" altLang="zh-CN" sz="1800" dirty="0">
                    <a:sym typeface="Wingdings" panose="05000000000000000000" pitchFamily="2" charset="2"/>
                  </a:rPr>
                  <a:t>a[3</a:t>
                </a:r>
                <a:r>
                  <a:rPr lang="en-US" altLang="zh-CN" sz="1800" dirty="0" smtClean="0">
                    <a:sym typeface="Wingdings" panose="05000000000000000000" pitchFamily="2" charset="2"/>
                  </a:rPr>
                  <a:t>]=2;</a:t>
                </a:r>
                <a:endParaRPr lang="en-US" altLang="zh-CN" sz="1800" dirty="0"/>
              </a:p>
              <a:p>
                <a:pPr marL="285750" lvl="1" indent="0">
                  <a:buNone/>
                </a:pPr>
                <a:endParaRPr lang="en-US" altLang="zh-CN" sz="1800" dirty="0"/>
              </a:p>
              <a:p>
                <a:pPr marL="285750" lvl="1" indent="0">
                  <a:buNone/>
                </a:pPr>
                <a:endParaRPr lang="en-US" altLang="zh-CN" sz="1800" dirty="0"/>
              </a:p>
              <a:p>
                <a:endParaRPr lang="zh-CN" altLang="en-US" b="1" dirty="0">
                  <a:latin typeface="宋体" panose="02010600030101010101" pitchFamily="2" charset="-122"/>
                </a:endParaRPr>
              </a:p>
            </p:txBody>
          </p:sp>
        </mc:Choice>
        <mc:Fallback xmlns="">
          <p:sp>
            <p:nvSpPr>
              <p:cNvPr id="32771" name="Rectangle 3"/>
              <p:cNvSpPr>
                <a:spLocks noGrp="1" noRot="1" noChangeAspect="1" noMove="1" noResize="1" noEditPoints="1" noAdjustHandles="1" noChangeArrowheads="1" noChangeShapeType="1" noTextEdit="1"/>
              </p:cNvSpPr>
              <p:nvPr>
                <p:ph type="body" idx="1"/>
              </p:nvPr>
            </p:nvSpPr>
            <p:spPr>
              <a:xfrm>
                <a:off x="611188" y="1007918"/>
                <a:ext cx="7970837" cy="1559113"/>
              </a:xfrm>
              <a:blipFill>
                <a:blip r:embed="rId2"/>
                <a:stretch>
                  <a:fillRect t="-2734"/>
                </a:stretch>
              </a:blipFill>
            </p:spPr>
            <p:txBody>
              <a:bodyPr/>
              <a:lstStyle/>
              <a:p>
                <a:r>
                  <a:rPr lang="zh-CN" altLang="en-US">
                    <a:noFill/>
                  </a:rPr>
                  <a:t> </a:t>
                </a:r>
              </a:p>
            </p:txBody>
          </p:sp>
        </mc:Fallback>
      </mc:AlternateContent>
      <p:sp>
        <p:nvSpPr>
          <p:cNvPr id="3" name="矩形 2"/>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数组</a:t>
            </a:r>
            <a:r>
              <a:rPr lang="zh-CN" altLang="en-US" sz="2800" dirty="0">
                <a:solidFill>
                  <a:srgbClr val="1A93C8"/>
                </a:solidFill>
                <a:latin typeface="+mj-lt"/>
                <a:ea typeface="+mj-ea"/>
                <a:cs typeface="+mj-cs"/>
              </a:rPr>
              <a:t>的使用</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分解十进制整数</a:t>
            </a:r>
            <a:endParaRPr lang="en-US" altLang="zh-CN" sz="2800" dirty="0">
              <a:solidFill>
                <a:srgbClr val="1A93C8"/>
              </a:solidFill>
              <a:latin typeface="+mj-lt"/>
              <a:ea typeface="+mj-ea"/>
              <a:cs typeface="+mj-cs"/>
            </a:endParaRPr>
          </a:p>
        </p:txBody>
      </p:sp>
      <p:sp>
        <p:nvSpPr>
          <p:cNvPr id="4" name="Rectangle 3"/>
          <p:cNvSpPr txBox="1">
            <a:spLocks noRot="1" noChangeArrowheads="1"/>
          </p:cNvSpPr>
          <p:nvPr/>
        </p:nvSpPr>
        <p:spPr bwMode="auto">
          <a:xfrm>
            <a:off x="528350" y="2634143"/>
            <a:ext cx="3939741" cy="375626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0">
              <a:lnSpc>
                <a:spcPct val="100000"/>
              </a:lnSpc>
              <a:buNone/>
            </a:pPr>
            <a:r>
              <a:rPr lang="en-US" altLang="zh-CN" sz="1600" dirty="0"/>
              <a:t>#include "</a:t>
            </a:r>
            <a:r>
              <a:rPr lang="en-US" altLang="zh-CN" sz="1600" dirty="0" err="1"/>
              <a:t>stdio.h</a:t>
            </a:r>
            <a:r>
              <a:rPr lang="en-US" altLang="zh-CN" sz="1600" dirty="0"/>
              <a:t>"</a:t>
            </a:r>
          </a:p>
          <a:p>
            <a:pPr marL="285750" lvl="1" indent="0">
              <a:lnSpc>
                <a:spcPct val="100000"/>
              </a:lnSpc>
              <a:buNone/>
            </a:pPr>
            <a:r>
              <a:rPr lang="en-US" altLang="zh-CN" sz="1600" dirty="0" err="1"/>
              <a:t>int</a:t>
            </a:r>
            <a:r>
              <a:rPr lang="en-US" altLang="zh-CN" sz="1600" dirty="0"/>
              <a:t> main()</a:t>
            </a:r>
          </a:p>
          <a:p>
            <a:pPr marL="285750" lvl="1" indent="0">
              <a:lnSpc>
                <a:spcPct val="100000"/>
              </a:lnSpc>
              <a:buNone/>
            </a:pPr>
            <a:r>
              <a:rPr lang="en-US" altLang="zh-CN" sz="1600" dirty="0"/>
              <a:t>{</a:t>
            </a:r>
          </a:p>
          <a:p>
            <a:pPr marL="285750" lvl="1" indent="0">
              <a:lnSpc>
                <a:spcPct val="100000"/>
              </a:lnSpc>
              <a:buNone/>
            </a:pPr>
            <a:r>
              <a:rPr lang="en-US" altLang="zh-CN" sz="1600" dirty="0" smtClean="0"/>
              <a:t>    long </a:t>
            </a:r>
            <a:r>
              <a:rPr lang="en-US" altLang="zh-CN" sz="1600" dirty="0" err="1"/>
              <a:t>long</a:t>
            </a:r>
            <a:r>
              <a:rPr lang="en-US" altLang="zh-CN" sz="1600" dirty="0"/>
              <a:t>  a, t;</a:t>
            </a:r>
          </a:p>
          <a:p>
            <a:pPr marL="285750" lvl="1" indent="0">
              <a:lnSpc>
                <a:spcPct val="100000"/>
              </a:lnSpc>
              <a:buNone/>
            </a:pPr>
            <a:r>
              <a:rPr lang="en-US" altLang="zh-CN" sz="1600" dirty="0"/>
              <a:t>    </a:t>
            </a:r>
            <a:r>
              <a:rPr lang="en-US" altLang="zh-CN" sz="1600" dirty="0" err="1"/>
              <a:t>int</a:t>
            </a:r>
            <a:r>
              <a:rPr lang="en-US" altLang="zh-CN" sz="1600" dirty="0"/>
              <a:t> b[20];</a:t>
            </a:r>
          </a:p>
          <a:p>
            <a:pPr marL="285750" lvl="1" indent="0">
              <a:lnSpc>
                <a:spcPct val="100000"/>
              </a:lnSpc>
              <a:buNone/>
            </a:pPr>
            <a:r>
              <a:rPr lang="en-US" altLang="zh-CN" sz="1600" dirty="0" smtClean="0"/>
              <a:t>    </a:t>
            </a:r>
            <a:r>
              <a:rPr lang="en-US" altLang="zh-CN" sz="1600" dirty="0" err="1" smtClean="0"/>
              <a:t>int</a:t>
            </a:r>
            <a:r>
              <a:rPr lang="en-US" altLang="zh-CN" sz="1600" dirty="0" smtClean="0"/>
              <a:t> </a:t>
            </a:r>
            <a:r>
              <a:rPr lang="en-US" altLang="zh-CN" sz="1600" dirty="0" err="1"/>
              <a:t>len</a:t>
            </a:r>
            <a:r>
              <a:rPr lang="en-US" altLang="zh-CN" sz="1600" dirty="0"/>
              <a:t>=0,lena=0;</a:t>
            </a:r>
          </a:p>
          <a:p>
            <a:pPr marL="285750" lvl="1" indent="0">
              <a:lnSpc>
                <a:spcPct val="100000"/>
              </a:lnSpc>
              <a:buNone/>
            </a:pPr>
            <a:r>
              <a:rPr lang="en-US" altLang="zh-CN" sz="1600" dirty="0" smtClean="0"/>
              <a:t>    </a:t>
            </a:r>
            <a:r>
              <a:rPr lang="en-US" altLang="zh-CN" sz="1600" dirty="0" err="1" smtClean="0"/>
              <a:t>printf</a:t>
            </a:r>
            <a:r>
              <a:rPr lang="en-US" altLang="zh-CN" sz="1600" dirty="0"/>
              <a:t>("Input a number:");</a:t>
            </a:r>
          </a:p>
          <a:p>
            <a:pPr marL="285750" lvl="1" indent="0">
              <a:lnSpc>
                <a:spcPct val="100000"/>
              </a:lnSpc>
              <a:buNone/>
            </a:pPr>
            <a:r>
              <a:rPr lang="en-US" altLang="zh-CN" sz="1600" dirty="0"/>
              <a:t>    </a:t>
            </a:r>
            <a:r>
              <a:rPr lang="en-US" altLang="zh-CN" sz="1600" dirty="0" err="1"/>
              <a:t>scanf</a:t>
            </a:r>
            <a:r>
              <a:rPr lang="en-US" altLang="zh-CN" sz="1600" dirty="0"/>
              <a:t>("%</a:t>
            </a:r>
            <a:r>
              <a:rPr lang="en-US" altLang="zh-CN" sz="1600" dirty="0" err="1"/>
              <a:t>lld</a:t>
            </a:r>
            <a:r>
              <a:rPr lang="en-US" altLang="zh-CN" sz="1600" dirty="0"/>
              <a:t>", &amp;a);</a:t>
            </a:r>
          </a:p>
          <a:p>
            <a:pPr marL="285750" lvl="1" indent="0">
              <a:lnSpc>
                <a:spcPct val="100000"/>
              </a:lnSpc>
              <a:buNone/>
            </a:pPr>
            <a:r>
              <a:rPr lang="en-US" altLang="zh-CN" sz="1600" dirty="0"/>
              <a:t>    t=a;</a:t>
            </a:r>
          </a:p>
          <a:p>
            <a:pPr marL="285750" lvl="1" indent="0">
              <a:lnSpc>
                <a:spcPct val="100000"/>
              </a:lnSpc>
              <a:buNone/>
            </a:pPr>
            <a:r>
              <a:rPr lang="en-US" altLang="zh-CN" sz="1600" dirty="0"/>
              <a:t>    while (t&gt;0)   //</a:t>
            </a:r>
            <a:r>
              <a:rPr lang="zh-CN" altLang="en-US" sz="1600" dirty="0"/>
              <a:t>计算整数</a:t>
            </a:r>
            <a:r>
              <a:rPr lang="en-US" altLang="zh-CN" sz="1600" dirty="0"/>
              <a:t>a</a:t>
            </a:r>
            <a:r>
              <a:rPr lang="zh-CN" altLang="en-US" sz="1600" dirty="0"/>
              <a:t>的位数</a:t>
            </a:r>
          </a:p>
          <a:p>
            <a:pPr marL="285750" lvl="1" indent="0">
              <a:lnSpc>
                <a:spcPct val="100000"/>
              </a:lnSpc>
              <a:buNone/>
            </a:pPr>
            <a:r>
              <a:rPr lang="zh-CN" altLang="en-US" sz="1600" dirty="0"/>
              <a:t>    </a:t>
            </a:r>
            <a:r>
              <a:rPr lang="en-US" altLang="zh-CN" sz="1600" dirty="0"/>
              <a:t>{</a:t>
            </a:r>
          </a:p>
          <a:p>
            <a:pPr marL="285750" lvl="1" indent="0">
              <a:lnSpc>
                <a:spcPct val="100000"/>
              </a:lnSpc>
              <a:buNone/>
            </a:pPr>
            <a:r>
              <a:rPr lang="en-US" altLang="zh-CN" sz="1600" dirty="0"/>
              <a:t>     </a:t>
            </a:r>
            <a:r>
              <a:rPr lang="en-US" altLang="zh-CN" sz="1600" dirty="0" smtClean="0"/>
              <a:t>  </a:t>
            </a:r>
            <a:r>
              <a:rPr lang="en-US" altLang="zh-CN" sz="1600" dirty="0"/>
              <a:t>t=t/10;</a:t>
            </a:r>
          </a:p>
          <a:p>
            <a:pPr marL="285750" lvl="1" indent="0">
              <a:lnSpc>
                <a:spcPct val="100000"/>
              </a:lnSpc>
              <a:buNone/>
            </a:pPr>
            <a:r>
              <a:rPr lang="en-US" altLang="zh-CN" sz="1600" dirty="0"/>
              <a:t>    </a:t>
            </a:r>
            <a:r>
              <a:rPr lang="en-US" altLang="zh-CN" sz="1600" dirty="0" smtClean="0"/>
              <a:t>   </a:t>
            </a:r>
            <a:r>
              <a:rPr lang="en-US" altLang="zh-CN" sz="1600" dirty="0" err="1"/>
              <a:t>len</a:t>
            </a:r>
            <a:r>
              <a:rPr lang="en-US" altLang="zh-CN" sz="1600" dirty="0"/>
              <a:t>++;</a:t>
            </a:r>
          </a:p>
          <a:p>
            <a:pPr marL="285750" lvl="1" indent="0">
              <a:lnSpc>
                <a:spcPct val="100000"/>
              </a:lnSpc>
              <a:buNone/>
            </a:pPr>
            <a:r>
              <a:rPr lang="en-US" altLang="zh-CN" sz="1600" dirty="0"/>
              <a:t>    }</a:t>
            </a:r>
          </a:p>
          <a:p>
            <a:pPr marL="285750" lvl="1" indent="0">
              <a:lnSpc>
                <a:spcPct val="100000"/>
              </a:lnSpc>
              <a:buNone/>
            </a:pPr>
            <a:endParaRPr lang="zh-CN" altLang="en-US" b="1" dirty="0">
              <a:latin typeface="宋体" panose="02010600030101010101" pitchFamily="2" charset="-122"/>
            </a:endParaRPr>
          </a:p>
        </p:txBody>
      </p:sp>
      <p:sp>
        <p:nvSpPr>
          <p:cNvPr id="5" name="Rectangle 3"/>
          <p:cNvSpPr txBox="1">
            <a:spLocks noRot="1" noChangeArrowheads="1"/>
          </p:cNvSpPr>
          <p:nvPr/>
        </p:nvSpPr>
        <p:spPr bwMode="auto">
          <a:xfrm>
            <a:off x="4642284" y="2634143"/>
            <a:ext cx="3939741" cy="375626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0">
              <a:lnSpc>
                <a:spcPct val="100000"/>
              </a:lnSpc>
              <a:buNone/>
            </a:pPr>
            <a:r>
              <a:rPr lang="en-US" altLang="zh-CN" sz="1600" dirty="0" err="1"/>
              <a:t>lena</a:t>
            </a:r>
            <a:r>
              <a:rPr lang="en-US" altLang="zh-CN" sz="1600" dirty="0"/>
              <a:t>=</a:t>
            </a:r>
            <a:r>
              <a:rPr lang="en-US" altLang="zh-CN" sz="1600" dirty="0" err="1"/>
              <a:t>len</a:t>
            </a:r>
            <a:r>
              <a:rPr lang="en-US" altLang="zh-CN" sz="1600" dirty="0" smtClean="0"/>
              <a:t>;    </a:t>
            </a:r>
            <a:endParaRPr lang="en-US" altLang="zh-CN" sz="1600" dirty="0"/>
          </a:p>
          <a:p>
            <a:pPr marL="285750" lvl="1" indent="0">
              <a:lnSpc>
                <a:spcPct val="100000"/>
              </a:lnSpc>
              <a:buNone/>
            </a:pPr>
            <a:r>
              <a:rPr lang="en-US" altLang="zh-CN" sz="1600" dirty="0" smtClean="0"/>
              <a:t>t=a</a:t>
            </a:r>
            <a:r>
              <a:rPr lang="en-US" altLang="zh-CN" sz="1600" dirty="0"/>
              <a:t>;</a:t>
            </a:r>
          </a:p>
          <a:p>
            <a:pPr marL="285750" lvl="1" indent="0">
              <a:lnSpc>
                <a:spcPct val="100000"/>
              </a:lnSpc>
              <a:buNone/>
            </a:pPr>
            <a:r>
              <a:rPr lang="en-US" altLang="zh-CN" sz="1600" dirty="0" smtClean="0"/>
              <a:t>while </a:t>
            </a:r>
            <a:r>
              <a:rPr lang="en-US" altLang="zh-CN" sz="1600" dirty="0"/>
              <a:t>(t&gt;0)</a:t>
            </a:r>
          </a:p>
          <a:p>
            <a:pPr marL="285750" lvl="1" indent="0">
              <a:lnSpc>
                <a:spcPct val="100000"/>
              </a:lnSpc>
              <a:buNone/>
            </a:pPr>
            <a:r>
              <a:rPr lang="en-US" altLang="zh-CN" sz="1600" dirty="0" smtClean="0"/>
              <a:t>{</a:t>
            </a:r>
            <a:endParaRPr lang="en-US" altLang="zh-CN" sz="1600" dirty="0"/>
          </a:p>
          <a:p>
            <a:pPr marL="285750" lvl="1" indent="0">
              <a:lnSpc>
                <a:spcPct val="100000"/>
              </a:lnSpc>
              <a:buNone/>
            </a:pPr>
            <a:r>
              <a:rPr lang="en-US" altLang="zh-CN" sz="1600" dirty="0"/>
              <a:t>      b[len-1]=t%10;</a:t>
            </a:r>
          </a:p>
          <a:p>
            <a:pPr marL="285750" lvl="1" indent="0">
              <a:lnSpc>
                <a:spcPct val="100000"/>
              </a:lnSpc>
              <a:buNone/>
            </a:pPr>
            <a:r>
              <a:rPr lang="en-US" altLang="zh-CN" sz="1600" dirty="0"/>
              <a:t>      t=t/10;</a:t>
            </a:r>
          </a:p>
          <a:p>
            <a:pPr marL="285750" lvl="1" indent="0">
              <a:lnSpc>
                <a:spcPct val="100000"/>
              </a:lnSpc>
              <a:buNone/>
            </a:pPr>
            <a:r>
              <a:rPr lang="en-US" altLang="zh-CN" sz="1600" dirty="0"/>
              <a:t>      </a:t>
            </a:r>
            <a:r>
              <a:rPr lang="en-US" altLang="zh-CN" sz="1600" dirty="0" err="1"/>
              <a:t>len</a:t>
            </a:r>
            <a:r>
              <a:rPr lang="en-US" altLang="zh-CN" sz="1600" dirty="0"/>
              <a:t>--;</a:t>
            </a:r>
          </a:p>
          <a:p>
            <a:pPr marL="285750" lvl="1" indent="0">
              <a:lnSpc>
                <a:spcPct val="100000"/>
              </a:lnSpc>
              <a:buNone/>
            </a:pPr>
            <a:r>
              <a:rPr lang="en-US" altLang="zh-CN" sz="1600" dirty="0" smtClean="0"/>
              <a:t>}</a:t>
            </a:r>
            <a:endParaRPr lang="en-US" altLang="zh-CN" sz="1600" dirty="0"/>
          </a:p>
          <a:p>
            <a:pPr marL="285750" lvl="1" indent="0">
              <a:lnSpc>
                <a:spcPct val="100000"/>
              </a:lnSpc>
              <a:buNone/>
            </a:pPr>
            <a:r>
              <a:rPr lang="en-US" altLang="zh-CN" sz="1600" dirty="0"/>
              <a:t>	</a:t>
            </a:r>
          </a:p>
          <a:p>
            <a:pPr marL="285750" lvl="1" indent="0">
              <a:lnSpc>
                <a:spcPct val="100000"/>
              </a:lnSpc>
              <a:buNone/>
            </a:pPr>
            <a:r>
              <a:rPr lang="en-US" altLang="zh-CN" sz="1600" dirty="0" smtClean="0"/>
              <a:t>for </a:t>
            </a:r>
            <a:r>
              <a:rPr lang="en-US" altLang="zh-CN" sz="1600" dirty="0"/>
              <a:t>(</a:t>
            </a:r>
            <a:r>
              <a:rPr lang="en-US" altLang="zh-CN" sz="1600" dirty="0" err="1"/>
              <a:t>int</a:t>
            </a:r>
            <a:r>
              <a:rPr lang="en-US" altLang="zh-CN" sz="1600" dirty="0"/>
              <a:t> </a:t>
            </a:r>
            <a:r>
              <a:rPr lang="en-US" altLang="zh-CN" sz="1600" dirty="0" err="1"/>
              <a:t>i</a:t>
            </a:r>
            <a:r>
              <a:rPr lang="en-US" altLang="zh-CN" sz="1600" dirty="0"/>
              <a:t>=0;i&lt;</a:t>
            </a:r>
            <a:r>
              <a:rPr lang="en-US" altLang="zh-CN" sz="1600" dirty="0" err="1"/>
              <a:t>lena;i</a:t>
            </a:r>
            <a:r>
              <a:rPr lang="en-US" altLang="zh-CN" sz="1600" dirty="0"/>
              <a:t>++)</a:t>
            </a:r>
          </a:p>
          <a:p>
            <a:pPr marL="285750" lvl="1" indent="0">
              <a:lnSpc>
                <a:spcPct val="100000"/>
              </a:lnSpc>
              <a:buNone/>
            </a:pPr>
            <a:r>
              <a:rPr lang="en-US" altLang="zh-CN" sz="1600" dirty="0" smtClean="0"/>
              <a:t>    </a:t>
            </a:r>
            <a:r>
              <a:rPr lang="en-US" altLang="zh-CN" sz="1600" dirty="0" err="1"/>
              <a:t>printf</a:t>
            </a:r>
            <a:r>
              <a:rPr lang="en-US" altLang="zh-CN" sz="1600" dirty="0"/>
              <a:t>("%d ",b[</a:t>
            </a:r>
            <a:r>
              <a:rPr lang="en-US" altLang="zh-CN" sz="1600" dirty="0" err="1"/>
              <a:t>i</a:t>
            </a:r>
            <a:r>
              <a:rPr lang="en-US" altLang="zh-CN" sz="1600" dirty="0"/>
              <a:t>]);</a:t>
            </a:r>
          </a:p>
          <a:p>
            <a:pPr marL="285750" lvl="1" indent="0">
              <a:lnSpc>
                <a:spcPct val="100000"/>
              </a:lnSpc>
              <a:buNone/>
            </a:pPr>
            <a:r>
              <a:rPr lang="en-US" altLang="zh-CN" sz="1600" dirty="0" smtClean="0"/>
              <a:t>return </a:t>
            </a:r>
            <a:r>
              <a:rPr lang="en-US" altLang="zh-CN" sz="1600" dirty="0"/>
              <a:t>0</a:t>
            </a:r>
            <a:r>
              <a:rPr lang="en-US" altLang="zh-CN" sz="1600" dirty="0" smtClean="0"/>
              <a:t>;</a:t>
            </a:r>
          </a:p>
          <a:p>
            <a:pPr marL="0" lvl="1" indent="0">
              <a:lnSpc>
                <a:spcPct val="100000"/>
              </a:lnSpc>
              <a:buNone/>
            </a:pPr>
            <a:r>
              <a:rPr lang="en-US" altLang="zh-CN" sz="1600" dirty="0"/>
              <a:t> </a:t>
            </a:r>
            <a:r>
              <a:rPr lang="en-US" altLang="zh-CN" sz="1600" dirty="0" smtClean="0"/>
              <a:t>}</a:t>
            </a:r>
            <a:r>
              <a:rPr lang="en-US" altLang="zh-CN" sz="1600" b="1" dirty="0" smtClean="0">
                <a:latin typeface="宋体" panose="02010600030101010101" pitchFamily="2" charset="-122"/>
              </a:rPr>
              <a:t>  </a:t>
            </a:r>
            <a:endParaRPr lang="zh-CN" altLang="en-US" sz="1600" b="1" dirty="0">
              <a:latin typeface="宋体" panose="02010600030101010101" pitchFamily="2" charset="-122"/>
            </a:endParaRPr>
          </a:p>
        </p:txBody>
      </p:sp>
    </p:spTree>
    <p:extLst>
      <p:ext uri="{BB962C8B-B14F-4D97-AF65-F5344CB8AC3E}">
        <p14:creationId xmlns:p14="http://schemas.microsoft.com/office/powerpoint/2010/main" val="3202707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1" name="Rectangle 3"/>
          <p:cNvSpPr>
            <a:spLocks noGrp="1" noRot="1" noChangeArrowheads="1"/>
          </p:cNvSpPr>
          <p:nvPr>
            <p:ph type="body" idx="1"/>
          </p:nvPr>
        </p:nvSpPr>
        <p:spPr>
          <a:xfrm>
            <a:off x="611188" y="1007918"/>
            <a:ext cx="7970837" cy="3127854"/>
          </a:xfrm>
        </p:spPr>
        <p:txBody>
          <a:bodyPr/>
          <a:lstStyle/>
          <a:p>
            <a:pPr marL="342900" indent="-342900">
              <a:buFont typeface="Wingdings" panose="05000000000000000000" pitchFamily="2" charset="2"/>
              <a:buChar char="l"/>
            </a:pPr>
            <a:r>
              <a:rPr lang="zh-CN" altLang="en-US" dirty="0"/>
              <a:t>利用类似的思想，可实现</a:t>
            </a:r>
            <a:endParaRPr lang="en-US" altLang="zh-CN" dirty="0"/>
          </a:p>
          <a:p>
            <a:pPr marL="971550" lvl="1"/>
            <a:r>
              <a:rPr lang="en-US" altLang="zh-CN" dirty="0"/>
              <a:t>10</a:t>
            </a:r>
            <a:r>
              <a:rPr lang="zh-CN" altLang="en-US" dirty="0"/>
              <a:t>进制</a:t>
            </a:r>
            <a:r>
              <a:rPr lang="en-US" altLang="zh-CN" dirty="0">
                <a:sym typeface="Wingdings" panose="05000000000000000000" pitchFamily="2" charset="2"/>
              </a:rPr>
              <a:t>2</a:t>
            </a:r>
            <a:r>
              <a:rPr lang="zh-CN" altLang="en-US" dirty="0">
                <a:sym typeface="Wingdings" panose="05000000000000000000" pitchFamily="2" charset="2"/>
              </a:rPr>
              <a:t>进制；</a:t>
            </a:r>
            <a:endParaRPr lang="en-US" altLang="zh-CN" dirty="0">
              <a:sym typeface="Wingdings" panose="05000000000000000000" pitchFamily="2" charset="2"/>
            </a:endParaRPr>
          </a:p>
          <a:p>
            <a:pPr marL="971550" lvl="1"/>
            <a:r>
              <a:rPr lang="en-US" altLang="zh-CN" dirty="0"/>
              <a:t>10</a:t>
            </a:r>
            <a:r>
              <a:rPr lang="zh-CN" altLang="en-US" dirty="0"/>
              <a:t>进制</a:t>
            </a:r>
            <a:r>
              <a:rPr lang="en-US" altLang="zh-CN" dirty="0">
                <a:sym typeface="Wingdings" panose="05000000000000000000" pitchFamily="2" charset="2"/>
              </a:rPr>
              <a:t>8</a:t>
            </a:r>
            <a:r>
              <a:rPr lang="zh-CN" altLang="en-US" dirty="0">
                <a:sym typeface="Wingdings" panose="05000000000000000000" pitchFamily="2" charset="2"/>
              </a:rPr>
              <a:t>进制；</a:t>
            </a:r>
            <a:endParaRPr lang="en-US" altLang="zh-CN" dirty="0">
              <a:sym typeface="Wingdings" panose="05000000000000000000" pitchFamily="2" charset="2"/>
            </a:endParaRPr>
          </a:p>
          <a:p>
            <a:pPr marL="971550" lvl="1"/>
            <a:r>
              <a:rPr lang="en-US" altLang="zh-CN" dirty="0"/>
              <a:t>10</a:t>
            </a:r>
            <a:r>
              <a:rPr lang="zh-CN" altLang="en-US" dirty="0"/>
              <a:t>进制</a:t>
            </a:r>
            <a:r>
              <a:rPr lang="en-US" altLang="zh-CN" dirty="0">
                <a:sym typeface="Wingdings" panose="05000000000000000000" pitchFamily="2" charset="2"/>
              </a:rPr>
              <a:t>16</a:t>
            </a:r>
            <a:r>
              <a:rPr lang="zh-CN" altLang="en-US" dirty="0">
                <a:sym typeface="Wingdings" panose="05000000000000000000" pitchFamily="2" charset="2"/>
              </a:rPr>
              <a:t>进制；（使用字符数组）</a:t>
            </a:r>
            <a:endParaRPr lang="en-US" altLang="zh-CN" dirty="0">
              <a:sym typeface="Wingdings" panose="05000000000000000000" pitchFamily="2" charset="2"/>
            </a:endParaRPr>
          </a:p>
          <a:p>
            <a:pPr marL="342900" indent="-342900">
              <a:buFont typeface="Wingdings" panose="05000000000000000000" pitchFamily="2" charset="2"/>
              <a:buChar char="l"/>
            </a:pPr>
            <a:endParaRPr lang="en-US" altLang="zh-CN" sz="2000" dirty="0">
              <a:sym typeface="Wingdings" panose="05000000000000000000" pitchFamily="2" charset="2"/>
            </a:endParaRPr>
          </a:p>
          <a:p>
            <a:pPr marL="342900" indent="-342900">
              <a:buFont typeface="Wingdings" panose="05000000000000000000" pitchFamily="2" charset="2"/>
              <a:buChar char="l"/>
            </a:pPr>
            <a:endParaRPr lang="en-US" altLang="zh-CN" sz="2000" dirty="0"/>
          </a:p>
          <a:p>
            <a:pPr marL="285750" lvl="1" indent="0">
              <a:buNone/>
            </a:pPr>
            <a:endParaRPr lang="en-US" altLang="zh-CN" sz="1800" dirty="0"/>
          </a:p>
          <a:p>
            <a:pPr marL="285750" lvl="1" indent="0">
              <a:buNone/>
            </a:pPr>
            <a:endParaRPr lang="en-US" altLang="zh-CN" sz="1800" dirty="0"/>
          </a:p>
          <a:p>
            <a:endParaRPr lang="zh-CN" altLang="en-US" b="1" dirty="0">
              <a:latin typeface="宋体" panose="02010600030101010101" pitchFamily="2" charset="-122"/>
            </a:endParaRPr>
          </a:p>
        </p:txBody>
      </p:sp>
      <p:sp>
        <p:nvSpPr>
          <p:cNvPr id="3" name="矩形 2"/>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smtClean="0">
                <a:solidFill>
                  <a:srgbClr val="7030A0"/>
                </a:solidFill>
                <a:latin typeface="+mj-lt"/>
                <a:ea typeface="+mj-ea"/>
                <a:cs typeface="+mj-cs"/>
              </a:rPr>
              <a:t>实验：</a:t>
            </a:r>
            <a:r>
              <a:rPr lang="zh-CN" altLang="en-US" sz="2800" dirty="0" smtClean="0">
                <a:solidFill>
                  <a:srgbClr val="1A93C8"/>
                </a:solidFill>
                <a:latin typeface="+mj-lt"/>
                <a:ea typeface="+mj-ea"/>
                <a:cs typeface="+mj-cs"/>
              </a:rPr>
              <a:t>数组</a:t>
            </a:r>
            <a:r>
              <a:rPr lang="zh-CN" altLang="en-US" sz="2800" dirty="0">
                <a:solidFill>
                  <a:srgbClr val="1A93C8"/>
                </a:solidFill>
                <a:latin typeface="+mj-lt"/>
                <a:ea typeface="+mj-ea"/>
                <a:cs typeface="+mj-cs"/>
              </a:rPr>
              <a:t>的使用</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进制转换</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9240631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Rot="1" noChangeArrowheads="1"/>
          </p:cNvSpPr>
          <p:nvPr>
            <p:ph type="body" idx="1"/>
          </p:nvPr>
        </p:nvSpPr>
        <p:spPr>
          <a:xfrm>
            <a:off x="611188" y="1007918"/>
            <a:ext cx="7970837" cy="3127854"/>
          </a:xfrm>
        </p:spPr>
        <p:txBody>
          <a:bodyPr/>
          <a:lstStyle/>
          <a:p>
            <a:pPr marL="342900" indent="-342900">
              <a:buFont typeface="Wingdings" panose="05000000000000000000" pitchFamily="2" charset="2"/>
              <a:buChar char="l"/>
            </a:pPr>
            <a:r>
              <a:rPr lang="zh-CN" altLang="zh-CN" dirty="0"/>
              <a:t>密码学中经常涉及到两个大整数的运算</a:t>
            </a:r>
            <a:r>
              <a:rPr lang="zh-CN" altLang="zh-CN" dirty="0" smtClean="0"/>
              <a:t>。</a:t>
            </a:r>
            <a:endParaRPr lang="en-US" altLang="zh-CN" dirty="0" smtClean="0"/>
          </a:p>
          <a:p>
            <a:pPr marL="342900" indent="-342900">
              <a:buFont typeface="Wingdings" panose="05000000000000000000" pitchFamily="2" charset="2"/>
              <a:buChar char="l"/>
            </a:pPr>
            <a:r>
              <a:rPr lang="zh-CN" altLang="zh-CN" dirty="0" smtClean="0"/>
              <a:t>请</a:t>
            </a:r>
            <a:r>
              <a:rPr lang="zh-CN" altLang="zh-CN" dirty="0"/>
              <a:t>编程实现两</a:t>
            </a:r>
            <a:r>
              <a:rPr lang="zh-CN" altLang="zh-CN" dirty="0" smtClean="0"/>
              <a:t>个</a:t>
            </a:r>
            <a:r>
              <a:rPr lang="en-US" altLang="zh-CN" dirty="0"/>
              <a:t>4</a:t>
            </a:r>
            <a:r>
              <a:rPr lang="en-US" altLang="zh-CN" dirty="0" smtClean="0"/>
              <a:t>0</a:t>
            </a:r>
            <a:r>
              <a:rPr lang="zh-CN" altLang="zh-CN" dirty="0"/>
              <a:t>位十进制正整数的加法运算</a:t>
            </a:r>
            <a:r>
              <a:rPr lang="zh-CN" altLang="zh-CN" dirty="0" smtClean="0"/>
              <a:t>。</a:t>
            </a:r>
            <a:endParaRPr lang="en-US" altLang="zh-CN" dirty="0" smtClean="0"/>
          </a:p>
          <a:p>
            <a:pPr marL="342900" indent="-342900">
              <a:buFont typeface="Wingdings" panose="05000000000000000000" pitchFamily="2" charset="2"/>
              <a:buChar char="l"/>
            </a:pPr>
            <a:r>
              <a:rPr lang="zh-CN" altLang="en-US" dirty="0">
                <a:sym typeface="Wingdings" panose="05000000000000000000" pitchFamily="2" charset="2"/>
              </a:rPr>
              <a:t>思考</a:t>
            </a:r>
            <a:r>
              <a:rPr lang="zh-CN" altLang="en-US" dirty="0" smtClean="0">
                <a:sym typeface="Wingdings" panose="05000000000000000000" pitchFamily="2" charset="2"/>
              </a:rPr>
              <a:t>：</a:t>
            </a:r>
            <a:endParaRPr lang="en-US" altLang="zh-CN" dirty="0" smtClean="0">
              <a:sym typeface="Wingdings" panose="05000000000000000000" pitchFamily="2" charset="2"/>
            </a:endParaRPr>
          </a:p>
          <a:p>
            <a:pPr marL="971550" lvl="1">
              <a:buFont typeface="Wingdings" panose="05000000000000000000" pitchFamily="2" charset="2"/>
              <a:buChar char="Ø"/>
            </a:pPr>
            <a:r>
              <a:rPr lang="zh-CN" altLang="zh-CN" dirty="0" smtClean="0"/>
              <a:t>两个</a:t>
            </a:r>
            <a:r>
              <a:rPr lang="en-US" altLang="zh-CN" dirty="0"/>
              <a:t>4</a:t>
            </a:r>
            <a:r>
              <a:rPr lang="en-US" altLang="zh-CN" dirty="0" smtClean="0"/>
              <a:t>0</a:t>
            </a:r>
            <a:r>
              <a:rPr lang="zh-CN" altLang="zh-CN" dirty="0"/>
              <a:t>位十进制正整数</a:t>
            </a:r>
            <a:r>
              <a:rPr lang="zh-CN" altLang="zh-CN" dirty="0" smtClean="0"/>
              <a:t>的</a:t>
            </a:r>
            <a:r>
              <a:rPr lang="zh-CN" altLang="en-US" dirty="0" smtClean="0"/>
              <a:t>减</a:t>
            </a:r>
            <a:r>
              <a:rPr lang="zh-CN" altLang="zh-CN" dirty="0" smtClean="0"/>
              <a:t>法运算</a:t>
            </a:r>
            <a:r>
              <a:rPr lang="zh-CN" altLang="en-US" dirty="0" smtClean="0"/>
              <a:t>如何实现？</a:t>
            </a:r>
            <a:endParaRPr lang="en-US" altLang="zh-CN" dirty="0">
              <a:sym typeface="Wingdings" panose="05000000000000000000" pitchFamily="2" charset="2"/>
            </a:endParaRPr>
          </a:p>
          <a:p>
            <a:pPr marL="342900" indent="-342900">
              <a:buFont typeface="Wingdings" panose="05000000000000000000" pitchFamily="2" charset="2"/>
              <a:buChar char="l"/>
            </a:pPr>
            <a:endParaRPr lang="en-US" altLang="zh-CN" sz="2000" dirty="0"/>
          </a:p>
          <a:p>
            <a:pPr marL="285750" lvl="1" indent="0">
              <a:buNone/>
            </a:pPr>
            <a:endParaRPr lang="en-US" altLang="zh-CN" sz="1800" dirty="0"/>
          </a:p>
          <a:p>
            <a:pPr marL="285750" lvl="1" indent="0">
              <a:buNone/>
            </a:pPr>
            <a:endParaRPr lang="en-US" altLang="zh-CN" sz="1800" dirty="0"/>
          </a:p>
          <a:p>
            <a:endParaRPr lang="zh-CN" altLang="en-US" b="1" dirty="0">
              <a:latin typeface="宋体" panose="02010600030101010101" pitchFamily="2" charset="-122"/>
            </a:endParaRPr>
          </a:p>
        </p:txBody>
      </p:sp>
      <p:sp>
        <p:nvSpPr>
          <p:cNvPr id="3" name="矩形 2"/>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大整数四则运算</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387759263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en-US" dirty="0"/>
              <a:t>筛法</a:t>
            </a:r>
          </a:p>
        </p:txBody>
      </p:sp>
      <p:sp>
        <p:nvSpPr>
          <p:cNvPr id="3" name="内容占位符 2"/>
          <p:cNvSpPr>
            <a:spLocks noGrp="1"/>
          </p:cNvSpPr>
          <p:nvPr>
            <p:ph idx="1"/>
          </p:nvPr>
        </p:nvSpPr>
        <p:spPr>
          <a:xfrm>
            <a:off x="485775" y="1135063"/>
            <a:ext cx="8089900" cy="4085330"/>
          </a:xfrm>
        </p:spPr>
        <p:txBody>
          <a:bodyPr/>
          <a:lstStyle/>
          <a:p>
            <a:pPr marL="342900" indent="-342900">
              <a:buFont typeface="Wingdings" panose="05000000000000000000" pitchFamily="2" charset="2"/>
              <a:buChar char="l"/>
            </a:pPr>
            <a:r>
              <a:rPr lang="zh-CN" altLang="en-US" sz="2000" dirty="0"/>
              <a:t>筛法是一种</a:t>
            </a:r>
            <a:r>
              <a:rPr lang="zh-CN" altLang="en-US" sz="2000" b="1" dirty="0"/>
              <a:t>算法的设计思想；</a:t>
            </a:r>
            <a:endParaRPr lang="en-US" altLang="zh-CN" sz="2000" b="1" dirty="0"/>
          </a:p>
          <a:p>
            <a:pPr marL="342900" indent="-342900">
              <a:buFont typeface="Wingdings" panose="05000000000000000000" pitchFamily="2" charset="2"/>
              <a:buChar char="l"/>
            </a:pPr>
            <a:r>
              <a:rPr lang="zh-CN" altLang="en-US" sz="2000" b="1" u="sng" dirty="0">
                <a:solidFill>
                  <a:srgbClr val="C00000"/>
                </a:solidFill>
              </a:rPr>
              <a:t>筛法最通俗的例子就是从数组中找出满足条件的数据</a:t>
            </a:r>
            <a:r>
              <a:rPr lang="en-US" altLang="zh-CN" sz="2000" b="1" u="sng" dirty="0"/>
              <a:t>;</a:t>
            </a:r>
          </a:p>
          <a:p>
            <a:pPr marL="342900" indent="-342900">
              <a:buFont typeface="Wingdings" panose="05000000000000000000" pitchFamily="2" charset="2"/>
              <a:buChar char="l"/>
            </a:pPr>
            <a:r>
              <a:rPr lang="zh-CN" altLang="en-US" sz="2000" dirty="0"/>
              <a:t>使用筛法求</a:t>
            </a:r>
            <a:r>
              <a:rPr lang="en-US" altLang="zh-CN" sz="2000" dirty="0"/>
              <a:t>100</a:t>
            </a:r>
            <a:r>
              <a:rPr lang="zh-CN" altLang="en-US" sz="2000" dirty="0"/>
              <a:t>以内的所有素数；</a:t>
            </a:r>
            <a:endParaRPr lang="en-US" altLang="zh-CN" sz="2000" dirty="0"/>
          </a:p>
          <a:p>
            <a:pPr marL="971550" lvl="1"/>
            <a:r>
              <a:rPr lang="zh-CN" altLang="en-US" sz="1800" b="1" dirty="0">
                <a:solidFill>
                  <a:srgbClr val="006600"/>
                </a:solidFill>
              </a:rPr>
              <a:t>想象将100个数看作沙子和小石头子，让小石头子代表素数；让沙子当作非素数（合数）；</a:t>
            </a:r>
            <a:endParaRPr lang="en-US" altLang="zh-CN" sz="1800" b="1" dirty="0">
              <a:solidFill>
                <a:srgbClr val="006600"/>
              </a:solidFill>
            </a:endParaRPr>
          </a:p>
          <a:p>
            <a:pPr marL="971550" lvl="1"/>
            <a:r>
              <a:rPr lang="zh-CN" altLang="en-US" sz="1800" b="1" dirty="0">
                <a:solidFill>
                  <a:srgbClr val="0000CC"/>
                </a:solidFill>
              </a:rPr>
              <a:t>弄一个筛子，只要将沙子（合数）筛走，剩下的就是素数</a:t>
            </a:r>
            <a:r>
              <a:rPr lang="zh-CN" altLang="en-US" sz="1800" dirty="0"/>
              <a:t>；</a:t>
            </a:r>
            <a:endParaRPr lang="en-US" altLang="zh-CN" sz="1800" dirty="0"/>
          </a:p>
          <a:p>
            <a:pPr marL="971550" lvl="1"/>
            <a:r>
              <a:rPr lang="zh-CN" altLang="en-US" sz="1800" dirty="0"/>
              <a:t>非素数一定是 2、3、4 </a:t>
            </a:r>
            <a:r>
              <a:rPr lang="en-US" altLang="zh-CN" sz="1800" dirty="0"/>
              <a:t>…… </a:t>
            </a:r>
            <a:r>
              <a:rPr lang="zh-CN" altLang="en-US" sz="1800" dirty="0"/>
              <a:t>的倍数；</a:t>
            </a:r>
            <a:endParaRPr lang="en-US" altLang="zh-CN" sz="1800" dirty="0"/>
          </a:p>
          <a:p>
            <a:pPr marL="971550" lvl="1"/>
            <a:r>
              <a:rPr lang="zh-CN" altLang="en-US" sz="1800" dirty="0"/>
              <a:t>定义一个数组</a:t>
            </a:r>
            <a:r>
              <a:rPr lang="en-US" altLang="zh-CN" sz="1800" dirty="0"/>
              <a:t>prime[101] </a:t>
            </a:r>
            <a:r>
              <a:rPr lang="zh-CN" altLang="en-US" sz="1800" dirty="0"/>
              <a:t>，让下标</a:t>
            </a:r>
            <a:r>
              <a:rPr lang="en-US" altLang="zh-CN" sz="1800" dirty="0"/>
              <a:t>1~100</a:t>
            </a:r>
            <a:r>
              <a:rPr lang="zh-CN" altLang="en-US" sz="1800" dirty="0"/>
              <a:t>对应100以内的数，让数组元素的值作为筛去与否的标志；</a:t>
            </a:r>
            <a:endParaRPr lang="en-US" altLang="zh-CN" sz="1800" dirty="0"/>
          </a:p>
          <a:p>
            <a:pPr marL="971550" lvl="1"/>
            <a:r>
              <a:rPr lang="zh-CN" altLang="en-US" sz="1800" dirty="0"/>
              <a:t>筛去以后的数对应的数组元素值为1，否则为</a:t>
            </a:r>
            <a:r>
              <a:rPr lang="en-US" altLang="zh-CN" sz="1800" dirty="0"/>
              <a:t>0</a:t>
            </a:r>
            <a:r>
              <a:rPr lang="zh-CN" altLang="en-US" sz="1800" dirty="0"/>
              <a:t>；</a:t>
            </a:r>
          </a:p>
          <a:p>
            <a:pPr marL="971550" lvl="1"/>
            <a:endParaRPr lang="en-US" altLang="zh-CN" dirty="0"/>
          </a:p>
          <a:p>
            <a:pPr eaLnBrk="1" hangingPunct="1">
              <a:lnSpc>
                <a:spcPct val="110000"/>
              </a:lnSpc>
              <a:spcBef>
                <a:spcPct val="20000"/>
              </a:spcBef>
              <a:buClr>
                <a:schemeClr val="tx1"/>
              </a:buClr>
              <a:buNone/>
              <a:defRPr/>
            </a:pPr>
            <a:endParaRPr lang="zh-CN" altLang="en-US" dirty="0"/>
          </a:p>
          <a:p>
            <a:pPr eaLnBrk="1" hangingPunct="1">
              <a:lnSpc>
                <a:spcPct val="110000"/>
              </a:lnSpc>
              <a:spcBef>
                <a:spcPct val="20000"/>
              </a:spcBef>
              <a:buClr>
                <a:schemeClr val="tx1"/>
              </a:buClr>
              <a:buFont typeface="Wingdings" panose="05000000000000000000" pitchFamily="2" charset="2"/>
              <a:buAutoNum type="arabicPeriod"/>
              <a:defRPr/>
            </a:pPr>
            <a:endParaRPr lang="zh-CN" altLang="en-US" dirty="0"/>
          </a:p>
        </p:txBody>
      </p:sp>
    </p:spTree>
    <p:extLst>
      <p:ext uri="{BB962C8B-B14F-4D97-AF65-F5344CB8AC3E}">
        <p14:creationId xmlns:p14="http://schemas.microsoft.com/office/powerpoint/2010/main" val="2291811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t>利用</a:t>
            </a:r>
            <a:r>
              <a:rPr lang="zh-CN" altLang="en-US" dirty="0"/>
              <a:t>筛法求</a:t>
            </a:r>
            <a:r>
              <a:rPr lang="zh-CN" altLang="en-US" dirty="0">
                <a:solidFill>
                  <a:srgbClr val="0000CC"/>
                </a:solidFill>
              </a:rPr>
              <a:t>素数</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1至100这些自然数可以分为三类：</a:t>
            </a:r>
            <a:endParaRPr lang="en-US" altLang="zh-CN" dirty="0"/>
          </a:p>
          <a:p>
            <a:pPr marL="971550" lvl="1"/>
            <a:r>
              <a:rPr lang="zh-CN" altLang="en-US" dirty="0">
                <a:solidFill>
                  <a:srgbClr val="C00000"/>
                </a:solidFill>
              </a:rPr>
              <a:t>单位数</a:t>
            </a:r>
            <a:r>
              <a:rPr lang="zh-CN" altLang="en-US" dirty="0"/>
              <a:t>：仅有一个数1。</a:t>
            </a:r>
          </a:p>
          <a:p>
            <a:pPr marL="971550" lvl="1"/>
            <a:r>
              <a:rPr lang="zh-CN" altLang="en-US" dirty="0">
                <a:solidFill>
                  <a:srgbClr val="C00000"/>
                </a:solidFill>
              </a:rPr>
              <a:t>素数</a:t>
            </a:r>
            <a:r>
              <a:rPr lang="zh-CN" altLang="en-US" dirty="0"/>
              <a:t>：  是这样一个数，它大于1，且只有1和它自身这样两个正因数；即只能被</a:t>
            </a:r>
            <a:r>
              <a:rPr lang="en-US" altLang="zh-CN" dirty="0"/>
              <a:t>1</a:t>
            </a:r>
            <a:r>
              <a:rPr lang="zh-CN" altLang="en-US" dirty="0"/>
              <a:t>与自身整除；</a:t>
            </a:r>
          </a:p>
          <a:p>
            <a:pPr marL="971550" lvl="1"/>
            <a:r>
              <a:rPr lang="zh-CN" altLang="en-US" dirty="0">
                <a:solidFill>
                  <a:srgbClr val="C00000"/>
                </a:solidFill>
              </a:rPr>
              <a:t>合数</a:t>
            </a:r>
            <a:r>
              <a:rPr lang="zh-CN" altLang="en-US" dirty="0"/>
              <a:t>：  除了1和自身以外，还有其它正因数（还能被其它数整除）；</a:t>
            </a:r>
          </a:p>
          <a:p>
            <a:pPr marL="971550" lvl="1"/>
            <a:endParaRPr lang="zh-CN" altLang="en-US" dirty="0"/>
          </a:p>
          <a:p>
            <a:pPr marL="342900" indent="-342900">
              <a:buFont typeface="Wingdings" panose="05000000000000000000" pitchFamily="2" charset="2"/>
              <a:buChar char="l"/>
            </a:pPr>
            <a:r>
              <a:rPr lang="zh-CN" altLang="en-US" dirty="0"/>
              <a:t>1不是素数；</a:t>
            </a:r>
            <a:endParaRPr lang="en-US" altLang="zh-CN" dirty="0"/>
          </a:p>
          <a:p>
            <a:pPr marL="342900" indent="-342900">
              <a:buFont typeface="Wingdings" panose="05000000000000000000" pitchFamily="2" charset="2"/>
              <a:buChar char="l"/>
            </a:pPr>
            <a:r>
              <a:rPr lang="zh-CN" altLang="en-US" dirty="0"/>
              <a:t>除1以外的自然数，有素数与合数；</a:t>
            </a:r>
            <a:endParaRPr lang="en-US" altLang="zh-CN" dirty="0"/>
          </a:p>
          <a:p>
            <a:pPr marL="342900" indent="-342900">
              <a:buFont typeface="Wingdings" panose="05000000000000000000" pitchFamily="2" charset="2"/>
              <a:buChar char="l"/>
            </a:pPr>
            <a:r>
              <a:rPr lang="zh-CN" altLang="en-US" dirty="0" smtClean="0">
                <a:solidFill>
                  <a:srgbClr val="0000CC"/>
                </a:solidFill>
              </a:rPr>
              <a:t>利用筛法求素数，筛</a:t>
            </a:r>
            <a:r>
              <a:rPr lang="zh-CN" altLang="en-US" dirty="0">
                <a:solidFill>
                  <a:srgbClr val="0000CC"/>
                </a:solidFill>
              </a:rPr>
              <a:t>去合数，留下素数；</a:t>
            </a:r>
            <a:endParaRPr lang="en-US" altLang="zh-CN" dirty="0">
              <a:solidFill>
                <a:srgbClr val="0000CC"/>
              </a:solidFill>
            </a:endParaRPr>
          </a:p>
          <a:p>
            <a:endParaRPr lang="zh-CN" altLang="en-US" dirty="0"/>
          </a:p>
        </p:txBody>
      </p:sp>
    </p:spTree>
    <p:extLst>
      <p:ext uri="{BB962C8B-B14F-4D97-AF65-F5344CB8AC3E}">
        <p14:creationId xmlns:p14="http://schemas.microsoft.com/office/powerpoint/2010/main" val="17168365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课后练习：</a:t>
            </a:r>
            <a:r>
              <a:rPr lang="zh-CN" altLang="en-US" dirty="0" smtClean="0"/>
              <a:t>利用</a:t>
            </a:r>
            <a:r>
              <a:rPr lang="zh-CN" altLang="en-US" dirty="0"/>
              <a:t>筛法求素数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342900" indent="-342900">
                  <a:lnSpc>
                    <a:spcPct val="100000"/>
                  </a:lnSpc>
                  <a:buFont typeface="Wingdings" panose="05000000000000000000" pitchFamily="2" charset="2"/>
                  <a:buChar char="l"/>
                </a:pPr>
                <a:r>
                  <a:rPr lang="zh-CN" altLang="en-US" dirty="0"/>
                  <a:t>令 </a:t>
                </a:r>
                <a:r>
                  <a:rPr lang="en-US" altLang="zh-CN" dirty="0"/>
                  <a:t>n </a:t>
                </a:r>
                <a:r>
                  <a:rPr lang="zh-CN" altLang="en-US" dirty="0"/>
                  <a:t>为一个自然数；</a:t>
                </a:r>
                <a:endParaRPr lang="en-US" altLang="zh-CN" dirty="0"/>
              </a:p>
              <a:p>
                <a:pPr marL="342900" indent="-342900">
                  <a:lnSpc>
                    <a:spcPct val="100000"/>
                  </a:lnSpc>
                  <a:buFont typeface="Wingdings" panose="05000000000000000000" pitchFamily="2" charset="2"/>
                  <a:buChar char="l"/>
                </a:pPr>
                <a:r>
                  <a:rPr lang="zh-CN" altLang="en-US" dirty="0"/>
                  <a:t>根据初等数论，</a:t>
                </a:r>
                <a:r>
                  <a:rPr lang="zh-CN" altLang="en-US" b="1" dirty="0">
                    <a:solidFill>
                      <a:srgbClr val="006600"/>
                    </a:solidFill>
                  </a:rPr>
                  <a:t>一个大于</a:t>
                </a:r>
                <a:r>
                  <a:rPr lang="en-US" altLang="zh-CN" b="1" dirty="0">
                    <a:solidFill>
                      <a:srgbClr val="006600"/>
                    </a:solidFill>
                  </a:rPr>
                  <a:t>1</a:t>
                </a:r>
                <a:r>
                  <a:rPr lang="zh-CN" altLang="en-US" b="1" dirty="0">
                    <a:solidFill>
                      <a:srgbClr val="006600"/>
                    </a:solidFill>
                  </a:rPr>
                  <a:t>的自然数</a:t>
                </a:r>
                <a:r>
                  <a:rPr lang="en-US" altLang="zh-CN" b="1" dirty="0">
                    <a:solidFill>
                      <a:srgbClr val="006600"/>
                    </a:solidFill>
                  </a:rPr>
                  <a:t>n</a:t>
                </a:r>
                <a:r>
                  <a:rPr lang="zh-CN" altLang="en-US" b="1" dirty="0">
                    <a:solidFill>
                      <a:srgbClr val="006600"/>
                    </a:solidFill>
                  </a:rPr>
                  <a:t>，只要不能被</a:t>
                </a:r>
                <a:r>
                  <a:rPr lang="en-US" altLang="zh-CN" b="1" dirty="0">
                    <a:solidFill>
                      <a:srgbClr val="006600"/>
                    </a:solidFill>
                  </a:rPr>
                  <a:t>2</a:t>
                </a:r>
                <a:r>
                  <a:rPr lang="zh-CN" altLang="en-US" b="1" dirty="0">
                    <a:solidFill>
                      <a:srgbClr val="006600"/>
                    </a:solidFill>
                  </a:rPr>
                  <a:t>到</a:t>
                </a:r>
                <a14:m>
                  <m:oMath xmlns:m="http://schemas.openxmlformats.org/officeDocument/2006/math">
                    <m:rad>
                      <m:radPr>
                        <m:degHide m:val="on"/>
                        <m:ctrlPr>
                          <a:rPr lang="zh-CN" altLang="en-US" b="1" i="1">
                            <a:solidFill>
                              <a:srgbClr val="006600"/>
                            </a:solidFill>
                            <a:latin typeface="Cambria Math" panose="02040503050406030204" pitchFamily="18" charset="0"/>
                          </a:rPr>
                        </m:ctrlPr>
                      </m:radPr>
                      <m:deg/>
                      <m:e>
                        <m:r>
                          <a:rPr lang="en-US" altLang="zh-CN" b="1" i="1">
                            <a:solidFill>
                              <a:srgbClr val="006600"/>
                            </a:solidFill>
                            <a:latin typeface="Cambria Math" panose="02040503050406030204" pitchFamily="18" charset="0"/>
                          </a:rPr>
                          <m:t>𝒏</m:t>
                        </m:r>
                      </m:e>
                    </m:rad>
                  </m:oMath>
                </a14:m>
                <a:r>
                  <a:rPr lang="zh-CN" altLang="en-US" b="1" dirty="0">
                    <a:solidFill>
                      <a:srgbClr val="006600"/>
                    </a:solidFill>
                  </a:rPr>
                  <a:t>之间的自然数整除</a:t>
                </a:r>
                <a:r>
                  <a:rPr lang="zh-CN" altLang="en-US" dirty="0"/>
                  <a:t>，则该自然数就是</a:t>
                </a:r>
                <a:r>
                  <a:rPr lang="zh-CN" altLang="en-US" dirty="0">
                    <a:solidFill>
                      <a:srgbClr val="7030A0"/>
                    </a:solidFill>
                  </a:rPr>
                  <a:t>素数</a:t>
                </a:r>
                <a:r>
                  <a:rPr lang="zh-CN" altLang="en-US" dirty="0"/>
                  <a:t>，否则为</a:t>
                </a:r>
                <a:r>
                  <a:rPr lang="zh-CN" altLang="en-US" dirty="0">
                    <a:solidFill>
                      <a:srgbClr val="7030A0"/>
                    </a:solidFill>
                  </a:rPr>
                  <a:t>合数</a:t>
                </a:r>
                <a:r>
                  <a:rPr lang="zh-CN" altLang="en-US" dirty="0"/>
                  <a:t>；</a:t>
                </a:r>
                <a:endParaRPr lang="en-US" altLang="zh-CN" dirty="0"/>
              </a:p>
              <a:p>
                <a:pPr marL="342900" indent="-342900">
                  <a:lnSpc>
                    <a:spcPct val="100000"/>
                  </a:lnSpc>
                  <a:buFont typeface="Wingdings" panose="05000000000000000000" pitchFamily="2" charset="2"/>
                  <a:buChar char="l"/>
                </a:pPr>
                <a:r>
                  <a:rPr lang="zh-CN" altLang="en-US" dirty="0"/>
                  <a:t>利用筛法，根据上述定义，找出</a:t>
                </a:r>
                <a:r>
                  <a:rPr lang="en-US" altLang="zh-CN" dirty="0"/>
                  <a:t>1~N</a:t>
                </a:r>
                <a:r>
                  <a:rPr lang="zh-CN" altLang="en-US" dirty="0"/>
                  <a:t>之间的素数</a:t>
                </a:r>
                <a:r>
                  <a:rPr lang="en-US" altLang="zh-CN" dirty="0"/>
                  <a:t>;</a:t>
                </a:r>
              </a:p>
              <a:p>
                <a:pPr marL="342900" indent="-342900">
                  <a:lnSpc>
                    <a:spcPct val="100000"/>
                  </a:lnSpc>
                  <a:buFont typeface="Wingdings" panose="05000000000000000000" pitchFamily="2" charset="2"/>
                  <a:buChar char="l"/>
                </a:pPr>
                <a:endParaRPr lang="en-US" altLang="zh-CN" dirty="0"/>
              </a:p>
              <a:p>
                <a:pPr marL="342900" indent="-342900">
                  <a:lnSpc>
                    <a:spcPct val="100000"/>
                  </a:lnSpc>
                  <a:buFont typeface="Wingdings" panose="05000000000000000000" pitchFamily="2" charset="2"/>
                  <a:buChar char="l"/>
                </a:pPr>
                <a:r>
                  <a:rPr lang="zh-CN" altLang="en-US" dirty="0" smtClean="0">
                    <a:solidFill>
                      <a:srgbClr val="0000CC"/>
                    </a:solidFill>
                  </a:rPr>
                  <a:t>课后练习：</a:t>
                </a:r>
                <a:r>
                  <a:rPr lang="zh-CN" altLang="en-US" dirty="0">
                    <a:solidFill>
                      <a:srgbClr val="0000CC"/>
                    </a:solidFill>
                  </a:rPr>
                  <a:t>如何利用</a:t>
                </a:r>
                <a:r>
                  <a:rPr lang="en-US" altLang="zh-CN" dirty="0">
                    <a:solidFill>
                      <a:srgbClr val="0000CC"/>
                    </a:solidFill>
                  </a:rPr>
                  <a:t>C</a:t>
                </a:r>
                <a:r>
                  <a:rPr lang="zh-CN" altLang="en-US" dirty="0">
                    <a:solidFill>
                      <a:srgbClr val="0000CC"/>
                    </a:solidFill>
                  </a:rPr>
                  <a:t>语言编程实现</a:t>
                </a:r>
                <a:r>
                  <a:rPr lang="zh-CN" altLang="en-US" dirty="0"/>
                  <a:t>？</a:t>
                </a:r>
                <a:endParaRPr lang="en-US" altLang="zh-CN" dirty="0"/>
              </a:p>
              <a:p>
                <a:pPr marL="342900" indent="-342900">
                  <a:buFont typeface="Wingdings" panose="05000000000000000000" pitchFamily="2" charset="2"/>
                  <a:buChar char="l"/>
                </a:pPr>
                <a:r>
                  <a:rPr lang="zh-CN" altLang="en-US" dirty="0"/>
                  <a:t/>
                </a:r>
                <a:br>
                  <a:rPr lang="zh-CN" altLang="en-US" dirty="0"/>
                </a:br>
                <a:endParaRPr lang="zh-CN" altLang="en-US"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eaLnBrk="1" hangingPunct="1">
                  <a:buFont typeface="Wingdings" panose="05000000000000000000" pitchFamily="2" charset="2"/>
                  <a:buNone/>
                  <a:defRPr/>
                </a:pPr>
                <a:endParaRPr lang="zh-CN" altLang="en-US" dirty="0"/>
              </a:p>
              <a:p>
                <a:pPr eaLnBrk="1" hangingPunct="1">
                  <a:buFont typeface="Wingdings" panose="05000000000000000000" pitchFamily="2" charset="2"/>
                  <a:buNone/>
                  <a:defRPr/>
                </a:pPr>
                <a:r>
                  <a:rPr lang="zh-CN" altLang="en-US"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51" t="-12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27148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线性查找和折半查找</a:t>
            </a:r>
          </a:p>
        </p:txBody>
      </p:sp>
      <p:sp>
        <p:nvSpPr>
          <p:cNvPr id="3" name="内容占位符 2"/>
          <p:cNvSpPr>
            <a:spLocks noGrp="1"/>
          </p:cNvSpPr>
          <p:nvPr>
            <p:ph idx="1"/>
          </p:nvPr>
        </p:nvSpPr>
        <p:spPr>
          <a:xfrm>
            <a:off x="347085" y="1135062"/>
            <a:ext cx="8367280" cy="5286519"/>
          </a:xfrm>
        </p:spPr>
        <p:txBody>
          <a:bodyPr/>
          <a:lstStyle/>
          <a:p>
            <a:pPr marL="342900" indent="-342900">
              <a:lnSpc>
                <a:spcPct val="100000"/>
              </a:lnSpc>
              <a:spcBef>
                <a:spcPts val="600"/>
              </a:spcBef>
              <a:buFont typeface="Wingdings" panose="05000000000000000000" pitchFamily="2" charset="2"/>
              <a:buChar char="l"/>
            </a:pPr>
            <a:r>
              <a:rPr lang="zh-CN" altLang="en-US" sz="2000" b="1" dirty="0">
                <a:solidFill>
                  <a:srgbClr val="7030A0"/>
                </a:solidFill>
              </a:rPr>
              <a:t>查找：从一组数据中查找一个特定的数据（关键字</a:t>
            </a:r>
            <a:r>
              <a:rPr lang="en-US" altLang="zh-CN" sz="2000" b="1" dirty="0">
                <a:solidFill>
                  <a:srgbClr val="7030A0"/>
                </a:solidFill>
              </a:rPr>
              <a:t>key</a:t>
            </a:r>
            <a:r>
              <a:rPr lang="zh-CN" altLang="en-US" sz="2000" b="1" dirty="0">
                <a:solidFill>
                  <a:srgbClr val="7030A0"/>
                </a:solidFill>
              </a:rPr>
              <a:t>）；</a:t>
            </a:r>
            <a:endParaRPr lang="en-US" altLang="zh-CN" sz="2000" b="1" dirty="0">
              <a:solidFill>
                <a:srgbClr val="7030A0"/>
              </a:solidFill>
            </a:endParaRPr>
          </a:p>
          <a:p>
            <a:pPr marL="342900" indent="-342900">
              <a:lnSpc>
                <a:spcPct val="100000"/>
              </a:lnSpc>
              <a:spcBef>
                <a:spcPts val="600"/>
              </a:spcBef>
              <a:buFont typeface="Wingdings" panose="05000000000000000000" pitchFamily="2" charset="2"/>
              <a:buChar char="l"/>
            </a:pPr>
            <a:r>
              <a:rPr lang="zh-CN" altLang="en-US" sz="2000" b="1" dirty="0">
                <a:solidFill>
                  <a:srgbClr val="0000CC"/>
                </a:solidFill>
              </a:rPr>
              <a:t>顺序查找（线性查找）</a:t>
            </a:r>
            <a:r>
              <a:rPr lang="zh-CN" altLang="en-US" sz="2000" dirty="0"/>
              <a:t>：在</a:t>
            </a:r>
            <a:r>
              <a:rPr lang="zh-CN" altLang="en-US" sz="2000" b="1" dirty="0">
                <a:solidFill>
                  <a:srgbClr val="000000"/>
                </a:solidFill>
              </a:rPr>
              <a:t>一组数据中</a:t>
            </a:r>
            <a:r>
              <a:rPr lang="zh-CN" altLang="en-US" sz="2000" b="1" dirty="0">
                <a:solidFill>
                  <a:srgbClr val="C00000"/>
                </a:solidFill>
              </a:rPr>
              <a:t>（</a:t>
            </a:r>
            <a:r>
              <a:rPr lang="zh-CN" altLang="en-US" sz="2000" b="1" u="sng" dirty="0">
                <a:solidFill>
                  <a:srgbClr val="C00000"/>
                </a:solidFill>
              </a:rPr>
              <a:t>有序或无序</a:t>
            </a:r>
            <a:r>
              <a:rPr lang="zh-CN" altLang="en-US" sz="2000" b="1" dirty="0">
                <a:solidFill>
                  <a:srgbClr val="C00000"/>
                </a:solidFill>
              </a:rPr>
              <a:t>）</a:t>
            </a:r>
            <a:r>
              <a:rPr lang="zh-CN" altLang="en-US" sz="2000" dirty="0"/>
              <a:t>从头到尾顺序查找关键字</a:t>
            </a:r>
            <a:r>
              <a:rPr lang="en-US" altLang="zh-CN" sz="2000" dirty="0"/>
              <a:t>key</a:t>
            </a:r>
            <a:r>
              <a:rPr lang="zh-CN" altLang="en-US" sz="2000" dirty="0"/>
              <a:t>；</a:t>
            </a:r>
            <a:endParaRPr lang="en-US" altLang="zh-CN" sz="2000" dirty="0"/>
          </a:p>
          <a:p>
            <a:pPr marL="971550" lvl="1">
              <a:lnSpc>
                <a:spcPct val="100000"/>
              </a:lnSpc>
              <a:spcBef>
                <a:spcPts val="600"/>
              </a:spcBef>
            </a:pPr>
            <a:r>
              <a:rPr lang="zh-CN" altLang="en-US" sz="1600" dirty="0"/>
              <a:t>找到，或者没有找到；</a:t>
            </a:r>
            <a:endParaRPr lang="en-US" altLang="zh-CN" sz="1600" dirty="0"/>
          </a:p>
          <a:p>
            <a:pPr marL="342900" indent="-342900">
              <a:lnSpc>
                <a:spcPct val="100000"/>
              </a:lnSpc>
              <a:spcBef>
                <a:spcPts val="600"/>
              </a:spcBef>
              <a:buFont typeface="Wingdings" panose="05000000000000000000" pitchFamily="2" charset="2"/>
              <a:buChar char="l"/>
            </a:pPr>
            <a:r>
              <a:rPr lang="zh-CN" altLang="en-US" sz="2000" b="1" dirty="0">
                <a:solidFill>
                  <a:srgbClr val="0000CC"/>
                </a:solidFill>
              </a:rPr>
              <a:t>折半</a:t>
            </a:r>
            <a:r>
              <a:rPr lang="zh-CN" altLang="en-US" sz="2000" b="1" dirty="0" smtClean="0">
                <a:solidFill>
                  <a:srgbClr val="0000CC"/>
                </a:solidFill>
              </a:rPr>
              <a:t>查找（</a:t>
            </a:r>
            <a:r>
              <a:rPr lang="zh-CN" altLang="en-US" sz="2000" b="1" dirty="0" smtClean="0">
                <a:solidFill>
                  <a:srgbClr val="006600"/>
                </a:solidFill>
              </a:rPr>
              <a:t>对半查找、二分查找</a:t>
            </a:r>
            <a:r>
              <a:rPr lang="zh-CN" altLang="en-US" sz="2000" b="1" dirty="0" smtClean="0">
                <a:solidFill>
                  <a:srgbClr val="0000CC"/>
                </a:solidFill>
              </a:rPr>
              <a:t>）</a:t>
            </a:r>
            <a:r>
              <a:rPr lang="zh-CN" altLang="en-US" sz="2000" dirty="0" smtClean="0"/>
              <a:t>：</a:t>
            </a:r>
            <a:r>
              <a:rPr lang="zh-CN" altLang="en-US" sz="2000" dirty="0"/>
              <a:t>在</a:t>
            </a:r>
            <a:r>
              <a:rPr lang="zh-CN" altLang="en-US" sz="2000" b="1" dirty="0"/>
              <a:t>一组</a:t>
            </a:r>
            <a:r>
              <a:rPr lang="zh-CN" altLang="en-US" sz="2000" b="1" u="sng" dirty="0">
                <a:solidFill>
                  <a:srgbClr val="C00000"/>
                </a:solidFill>
              </a:rPr>
              <a:t>有序数据</a:t>
            </a:r>
            <a:r>
              <a:rPr lang="zh-CN" altLang="en-US" sz="2000" b="1" dirty="0"/>
              <a:t>中查找关键字</a:t>
            </a:r>
            <a:r>
              <a:rPr lang="en-US" altLang="zh-CN" sz="2000" b="1" dirty="0"/>
              <a:t>key</a:t>
            </a:r>
            <a:r>
              <a:rPr lang="zh-CN" altLang="en-US" sz="2000" dirty="0"/>
              <a:t>；</a:t>
            </a:r>
            <a:endParaRPr lang="en-US" altLang="zh-CN" sz="2000" dirty="0"/>
          </a:p>
          <a:p>
            <a:pPr marL="971550" lvl="1">
              <a:lnSpc>
                <a:spcPct val="100000"/>
              </a:lnSpc>
              <a:spcBef>
                <a:spcPts val="600"/>
              </a:spcBef>
            </a:pPr>
            <a:r>
              <a:rPr lang="zh-CN" altLang="en-US" sz="1800" dirty="0"/>
              <a:t>假设表中元素是按</a:t>
            </a:r>
            <a:r>
              <a:rPr lang="zh-CN" altLang="en-US" sz="1800" b="1" dirty="0">
                <a:solidFill>
                  <a:srgbClr val="C00000"/>
                </a:solidFill>
              </a:rPr>
              <a:t>升序排列</a:t>
            </a:r>
            <a:r>
              <a:rPr lang="zh-CN" altLang="en-US" sz="1800" dirty="0"/>
              <a:t>，将表</a:t>
            </a:r>
            <a:r>
              <a:rPr lang="zh-CN" altLang="en-US" sz="1800" dirty="0">
                <a:solidFill>
                  <a:srgbClr val="7030A0"/>
                </a:solidFill>
              </a:rPr>
              <a:t>中间位置</a:t>
            </a:r>
            <a:r>
              <a:rPr lang="zh-CN" altLang="en-US" sz="1800" dirty="0"/>
              <a:t>记录的关键字与查找关键字比较，如果两者相等，则查找成功；</a:t>
            </a:r>
            <a:endParaRPr lang="en-US" altLang="zh-CN" sz="1800" dirty="0"/>
          </a:p>
          <a:p>
            <a:pPr marL="971550" lvl="1">
              <a:lnSpc>
                <a:spcPct val="100000"/>
              </a:lnSpc>
              <a:spcBef>
                <a:spcPts val="600"/>
              </a:spcBef>
            </a:pPr>
            <a:r>
              <a:rPr lang="zh-CN" altLang="en-US" sz="1800" dirty="0"/>
              <a:t>否则利用中间</a:t>
            </a:r>
            <a:r>
              <a:rPr lang="zh-CN" altLang="en-US" sz="1800" dirty="0" smtClean="0"/>
              <a:t>位置将</a:t>
            </a:r>
            <a:r>
              <a:rPr lang="zh-CN" altLang="en-US" sz="1800" dirty="0"/>
              <a:t>表分成前、后两个子表，如果中间位置记录的关键字大于查找关键字，则进一步查找前一子表，否则进一步查找后一子表。</a:t>
            </a:r>
            <a:endParaRPr lang="en-US" altLang="zh-CN" sz="1800" dirty="0"/>
          </a:p>
          <a:p>
            <a:pPr marL="971550" lvl="1">
              <a:lnSpc>
                <a:spcPct val="100000"/>
              </a:lnSpc>
              <a:spcBef>
                <a:spcPts val="600"/>
              </a:spcBef>
            </a:pPr>
            <a:r>
              <a:rPr lang="zh-CN" altLang="en-US" sz="1800" dirty="0"/>
              <a:t>重复以上过程，直到找到满足条件的记录，则</a:t>
            </a:r>
            <a:r>
              <a:rPr lang="zh-CN" altLang="en-US" sz="1800" dirty="0">
                <a:solidFill>
                  <a:srgbClr val="030DCD"/>
                </a:solidFill>
              </a:rPr>
              <a:t>查找成功</a:t>
            </a:r>
            <a:r>
              <a:rPr lang="zh-CN" altLang="en-US" sz="1800" dirty="0"/>
              <a:t>；如果直到子表为空，若仍然为找到，此时</a:t>
            </a:r>
            <a:r>
              <a:rPr lang="zh-CN" altLang="en-US" sz="1800" dirty="0">
                <a:solidFill>
                  <a:srgbClr val="030DCD"/>
                </a:solidFill>
              </a:rPr>
              <a:t>查找不成功</a:t>
            </a:r>
            <a:r>
              <a:rPr lang="zh-CN" altLang="en-US" sz="1800" dirty="0"/>
              <a:t>。</a:t>
            </a:r>
            <a:endParaRPr lang="en-US" altLang="zh-CN" sz="1800" dirty="0"/>
          </a:p>
          <a:p>
            <a:pPr marL="971550" lvl="1"/>
            <a:endParaRPr lang="en-US" altLang="zh-CN" sz="1800"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34053038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t>顺序</a:t>
            </a:r>
            <a:r>
              <a:rPr lang="zh-CN" altLang="en-US" dirty="0"/>
              <a:t>查找</a:t>
            </a:r>
          </a:p>
        </p:txBody>
      </p:sp>
      <p:sp>
        <p:nvSpPr>
          <p:cNvPr id="3" name="内容占位符 2"/>
          <p:cNvSpPr>
            <a:spLocks noGrp="1"/>
          </p:cNvSpPr>
          <p:nvPr>
            <p:ph idx="1"/>
          </p:nvPr>
        </p:nvSpPr>
        <p:spPr>
          <a:xfrm>
            <a:off x="485775" y="1135063"/>
            <a:ext cx="8089900" cy="589828"/>
          </a:xfrm>
        </p:spPr>
        <p:txBody>
          <a:bodyPr/>
          <a:lstStyle/>
          <a:p>
            <a:pPr marL="342900" indent="-342900">
              <a:buFont typeface="Wingdings" panose="05000000000000000000" pitchFamily="2" charset="2"/>
              <a:buChar char="l"/>
            </a:pPr>
            <a:r>
              <a:rPr lang="zh-CN" altLang="en-US" dirty="0"/>
              <a:t>从</a:t>
            </a:r>
            <a:r>
              <a:rPr lang="zh-CN" altLang="en-US" dirty="0">
                <a:solidFill>
                  <a:srgbClr val="0000CC"/>
                </a:solidFill>
              </a:rPr>
              <a:t>一组数据中</a:t>
            </a:r>
            <a:r>
              <a:rPr lang="zh-CN" altLang="en-US" dirty="0"/>
              <a:t>查找关键字</a:t>
            </a:r>
            <a:r>
              <a:rPr lang="en-US" altLang="zh-CN" dirty="0"/>
              <a:t>key</a:t>
            </a:r>
            <a:r>
              <a:rPr lang="zh-CN" altLang="en-US" dirty="0"/>
              <a:t>，返回找到数据的位置；</a:t>
            </a:r>
            <a:endParaRPr lang="en-US" altLang="zh-CN" dirty="0"/>
          </a:p>
          <a:p>
            <a:pPr marL="342900" indent="-342900">
              <a:buFont typeface="Wingdings" panose="05000000000000000000" pitchFamily="2" charset="2"/>
              <a:buChar char="l"/>
            </a:pPr>
            <a:endParaRPr lang="zh-CN" altLang="en-US" dirty="0"/>
          </a:p>
        </p:txBody>
      </p:sp>
      <p:sp>
        <p:nvSpPr>
          <p:cNvPr id="5" name="内容占位符 2"/>
          <p:cNvSpPr txBox="1">
            <a:spLocks/>
          </p:cNvSpPr>
          <p:nvPr/>
        </p:nvSpPr>
        <p:spPr bwMode="auto">
          <a:xfrm>
            <a:off x="790072" y="1696557"/>
            <a:ext cx="7165208" cy="464023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chemeClr val="dk1"/>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chemeClr val="dk1"/>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chemeClr val="dk1"/>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chemeClr val="dk1"/>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chemeClr val="dk1"/>
                </a:solidFill>
                <a:latin typeface="+mn-lt"/>
                <a:ea typeface="+mn-ea"/>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spcBef>
                <a:spcPts val="0"/>
              </a:spcBef>
              <a:buNone/>
            </a:pPr>
            <a:r>
              <a:rPr lang="en-US" altLang="zh-CN" sz="1600" dirty="0" smtClean="0">
                <a:solidFill>
                  <a:srgbClr val="080808"/>
                </a:solidFill>
                <a:latin typeface="Times New Roman" panose="02020603050405020304" pitchFamily="18" charset="0"/>
                <a:cs typeface="Times New Roman" panose="02020603050405020304" pitchFamily="18" charset="0"/>
              </a:rPr>
              <a:t>//</a:t>
            </a:r>
            <a:r>
              <a:rPr lang="zh-CN" altLang="en-US" sz="1600" dirty="0" smtClean="0">
                <a:solidFill>
                  <a:srgbClr val="080808"/>
                </a:solidFill>
                <a:latin typeface="Times New Roman" panose="02020603050405020304" pitchFamily="18" charset="0"/>
                <a:cs typeface="Times New Roman" panose="02020603050405020304" pitchFamily="18" charset="0"/>
              </a:rPr>
              <a:t>参考代码</a:t>
            </a:r>
            <a:endParaRPr lang="en-US" altLang="zh-CN" sz="1600" dirty="0" smtClean="0">
              <a:solidFill>
                <a:srgbClr val="080808"/>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err="1" smtClean="0">
                <a:solidFill>
                  <a:srgbClr val="080808"/>
                </a:solidFill>
                <a:latin typeface="Times New Roman" panose="02020603050405020304" pitchFamily="18" charset="0"/>
                <a:cs typeface="Times New Roman" panose="02020603050405020304" pitchFamily="18" charset="0"/>
              </a:rPr>
              <a:t>int</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a:solidFill>
                  <a:srgbClr val="080808"/>
                </a:solidFill>
                <a:latin typeface="Times New Roman" panose="02020603050405020304" pitchFamily="18" charset="0"/>
                <a:cs typeface="Times New Roman" panose="02020603050405020304" pitchFamily="18" charset="0"/>
              </a:rPr>
              <a:t>main(int </a:t>
            </a:r>
            <a:r>
              <a:rPr lang="en-US" altLang="zh-CN" sz="1600" dirty="0" err="1">
                <a:solidFill>
                  <a:srgbClr val="080808"/>
                </a:solidFill>
                <a:latin typeface="Times New Roman" panose="02020603050405020304" pitchFamily="18" charset="0"/>
                <a:cs typeface="Times New Roman" panose="02020603050405020304" pitchFamily="18" charset="0"/>
              </a:rPr>
              <a:t>argc</a:t>
            </a:r>
            <a:r>
              <a:rPr lang="en-US" altLang="zh-CN" sz="1600" dirty="0">
                <a:solidFill>
                  <a:srgbClr val="080808"/>
                </a:solidFill>
                <a:latin typeface="Times New Roman" panose="02020603050405020304" pitchFamily="18" charset="0"/>
                <a:cs typeface="Times New Roman" panose="02020603050405020304" pitchFamily="18" charset="0"/>
              </a:rPr>
              <a:t>, char *</a:t>
            </a:r>
            <a:r>
              <a:rPr lang="en-US" altLang="zh-CN" sz="1600" dirty="0" err="1">
                <a:solidFill>
                  <a:srgbClr val="080808"/>
                </a:solidFill>
                <a:latin typeface="Times New Roman" panose="02020603050405020304" pitchFamily="18" charset="0"/>
                <a:cs typeface="Times New Roman" panose="02020603050405020304" pitchFamily="18" charset="0"/>
              </a:rPr>
              <a:t>argv</a:t>
            </a: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err="1" smtClean="0">
                <a:solidFill>
                  <a:srgbClr val="080808"/>
                </a:solidFill>
                <a:latin typeface="Times New Roman" panose="02020603050405020304" pitchFamily="18" charset="0"/>
                <a:cs typeface="Times New Roman" panose="02020603050405020304" pitchFamily="18" charset="0"/>
              </a:rPr>
              <a:t>int</a:t>
            </a:r>
            <a:r>
              <a:rPr lang="en-US" altLang="zh-CN" sz="1600" dirty="0" smtClean="0">
                <a:solidFill>
                  <a:srgbClr val="080808"/>
                </a:solidFill>
                <a:latin typeface="Times New Roman" panose="02020603050405020304" pitchFamily="18" charset="0"/>
                <a:cs typeface="Times New Roman" panose="02020603050405020304" pitchFamily="18" charset="0"/>
              </a:rPr>
              <a:t> main()</a:t>
            </a:r>
            <a:endParaRPr lang="en-US" altLang="zh-CN" sz="1600" dirty="0">
              <a:solidFill>
                <a:srgbClr val="080808"/>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a:t>
            </a: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err="1">
                <a:solidFill>
                  <a:srgbClr val="080808"/>
                </a:solidFill>
                <a:latin typeface="Times New Roman" panose="02020603050405020304" pitchFamily="18" charset="0"/>
                <a:cs typeface="Times New Roman" panose="02020603050405020304" pitchFamily="18" charset="0"/>
              </a:rPr>
              <a:t>int</a:t>
            </a: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data[7</a:t>
            </a:r>
            <a:r>
              <a:rPr lang="en-US" altLang="zh-CN" sz="1600" dirty="0">
                <a:solidFill>
                  <a:srgbClr val="080808"/>
                </a:solidFill>
                <a:latin typeface="Times New Roman" panose="02020603050405020304" pitchFamily="18" charset="0"/>
                <a:cs typeface="Times New Roman" panose="02020603050405020304" pitchFamily="18" charset="0"/>
              </a:rPr>
              <a:t>]={</a:t>
            </a:r>
            <a:r>
              <a:rPr lang="en-US" altLang="zh-CN" sz="1600" dirty="0" smtClean="0">
                <a:solidFill>
                  <a:srgbClr val="080808"/>
                </a:solidFill>
                <a:latin typeface="Times New Roman" panose="02020603050405020304" pitchFamily="18" charset="0"/>
                <a:cs typeface="Times New Roman" panose="02020603050405020304" pitchFamily="18" charset="0"/>
              </a:rPr>
              <a:t>1,2,4,3,6,9,8};</a:t>
            </a:r>
            <a:endParaRPr lang="en-US" altLang="zh-CN" sz="1600" dirty="0">
              <a:solidFill>
                <a:srgbClr val="080808"/>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err="1">
                <a:solidFill>
                  <a:srgbClr val="080808"/>
                </a:solidFill>
                <a:latin typeface="Times New Roman" panose="02020603050405020304" pitchFamily="18" charset="0"/>
                <a:cs typeface="Times New Roman" panose="02020603050405020304" pitchFamily="18" charset="0"/>
              </a:rPr>
              <a:t>int</a:t>
            </a:r>
            <a:r>
              <a:rPr lang="en-US" altLang="zh-CN" sz="1600" dirty="0">
                <a:solidFill>
                  <a:srgbClr val="080808"/>
                </a:solidFill>
                <a:latin typeface="Times New Roman" panose="02020603050405020304" pitchFamily="18" charset="0"/>
                <a:cs typeface="Times New Roman" panose="02020603050405020304" pitchFamily="18" charset="0"/>
              </a:rPr>
              <a:t> key=3</a:t>
            </a:r>
            <a:r>
              <a:rPr lang="en-US" altLang="zh-CN" sz="1600" dirty="0">
                <a:solidFill>
                  <a:srgbClr val="0303DF"/>
                </a:solidFill>
                <a:latin typeface="Times New Roman" panose="02020603050405020304" pitchFamily="18" charset="0"/>
                <a:cs typeface="Times New Roman" panose="02020603050405020304" pitchFamily="18" charset="0"/>
              </a:rPr>
              <a:t>;  //</a:t>
            </a:r>
            <a:r>
              <a:rPr lang="zh-CN" altLang="en-US" sz="1600" dirty="0">
                <a:solidFill>
                  <a:srgbClr val="0303DF"/>
                </a:solidFill>
                <a:latin typeface="Times New Roman" panose="02020603050405020304" pitchFamily="18" charset="0"/>
                <a:cs typeface="Times New Roman" panose="02020603050405020304" pitchFamily="18" charset="0"/>
              </a:rPr>
              <a:t>查找</a:t>
            </a:r>
            <a:r>
              <a:rPr lang="en-US" altLang="zh-CN" sz="1600" dirty="0">
                <a:solidFill>
                  <a:srgbClr val="0303DF"/>
                </a:solidFill>
                <a:latin typeface="Times New Roman" panose="02020603050405020304" pitchFamily="18" charset="0"/>
                <a:cs typeface="Times New Roman" panose="02020603050405020304" pitchFamily="18" charset="0"/>
              </a:rPr>
              <a:t>3</a:t>
            </a:r>
          </a:p>
          <a:p>
            <a:pPr>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char found=0;</a:t>
            </a:r>
          </a:p>
          <a:p>
            <a:pPr marL="111125">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for (</a:t>
            </a:r>
            <a:r>
              <a:rPr lang="en-US" altLang="zh-CN" sz="1600" dirty="0" err="1" smtClean="0">
                <a:solidFill>
                  <a:srgbClr val="080808"/>
                </a:solidFill>
                <a:latin typeface="Times New Roman" panose="02020603050405020304" pitchFamily="18" charset="0"/>
                <a:cs typeface="Times New Roman" panose="02020603050405020304" pitchFamily="18" charset="0"/>
              </a:rPr>
              <a:t>int</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err="1" smtClean="0">
                <a:solidFill>
                  <a:srgbClr val="080808"/>
                </a:solidFill>
                <a:latin typeface="Times New Roman" panose="02020603050405020304" pitchFamily="18" charset="0"/>
                <a:cs typeface="Times New Roman" panose="02020603050405020304" pitchFamily="18" charset="0"/>
              </a:rPr>
              <a:t>i</a:t>
            </a:r>
            <a:r>
              <a:rPr lang="en-US" altLang="zh-CN" sz="1600" dirty="0" smtClean="0">
                <a:solidFill>
                  <a:srgbClr val="080808"/>
                </a:solidFill>
                <a:latin typeface="Times New Roman" panose="02020603050405020304" pitchFamily="18" charset="0"/>
                <a:cs typeface="Times New Roman" panose="02020603050405020304" pitchFamily="18" charset="0"/>
              </a:rPr>
              <a:t>=0;i&lt;=6;i++)  </a:t>
            </a:r>
            <a:r>
              <a:rPr lang="en-US" altLang="zh-CN" sz="1600" dirty="0" smtClean="0">
                <a:solidFill>
                  <a:srgbClr val="7030A0"/>
                </a:solidFill>
                <a:latin typeface="Times New Roman" panose="02020603050405020304" pitchFamily="18" charset="0"/>
                <a:cs typeface="Times New Roman" panose="02020603050405020304" pitchFamily="18" charset="0"/>
              </a:rPr>
              <a:t>//data[0]~data[6] 7</a:t>
            </a:r>
            <a:r>
              <a:rPr lang="zh-CN" altLang="en-US" sz="1600" dirty="0" smtClean="0">
                <a:solidFill>
                  <a:srgbClr val="7030A0"/>
                </a:solidFill>
                <a:latin typeface="Times New Roman" panose="02020603050405020304" pitchFamily="18" charset="0"/>
                <a:cs typeface="Times New Roman" panose="02020603050405020304" pitchFamily="18" charset="0"/>
              </a:rPr>
              <a:t>个数</a:t>
            </a:r>
            <a:endParaRPr lang="en-US" altLang="zh-CN" sz="1600" dirty="0">
              <a:solidFill>
                <a:srgbClr val="7030A0"/>
              </a:solidFill>
              <a:latin typeface="Times New Roman" panose="02020603050405020304" pitchFamily="18" charset="0"/>
              <a:cs typeface="Times New Roman" panose="02020603050405020304" pitchFamily="18" charset="0"/>
            </a:endParaRPr>
          </a:p>
          <a:p>
            <a:pPr marL="111125">
              <a:lnSpc>
                <a:spcPct val="100000"/>
              </a:lnSpc>
              <a:spcBef>
                <a:spcPts val="0"/>
              </a:spcBef>
              <a:buNone/>
            </a:pPr>
            <a:r>
              <a:rPr lang="en-US" altLang="zh-CN" sz="1600" dirty="0" smtClean="0">
                <a:solidFill>
                  <a:srgbClr val="080808"/>
                </a:solidFill>
                <a:latin typeface="Times New Roman" panose="02020603050405020304" pitchFamily="18" charset="0"/>
                <a:cs typeface="Times New Roman" panose="02020603050405020304" pitchFamily="18" charset="0"/>
              </a:rPr>
              <a:t>      if </a:t>
            </a:r>
            <a:r>
              <a:rPr lang="en-US" altLang="zh-CN" sz="1600" dirty="0">
                <a:solidFill>
                  <a:srgbClr val="080808"/>
                </a:solidFill>
                <a:latin typeface="Times New Roman" panose="02020603050405020304" pitchFamily="18" charset="0"/>
                <a:cs typeface="Times New Roman" panose="02020603050405020304" pitchFamily="18" charset="0"/>
              </a:rPr>
              <a:t>(</a:t>
            </a:r>
            <a:r>
              <a:rPr lang="en-US" altLang="zh-CN" sz="1600" dirty="0" smtClean="0">
                <a:solidFill>
                  <a:srgbClr val="080808"/>
                </a:solidFill>
                <a:latin typeface="Times New Roman" panose="02020603050405020304" pitchFamily="18" charset="0"/>
                <a:cs typeface="Times New Roman" panose="02020603050405020304" pitchFamily="18" charset="0"/>
              </a:rPr>
              <a:t>data[</a:t>
            </a:r>
            <a:r>
              <a:rPr lang="en-US" altLang="zh-CN" sz="1600" dirty="0" err="1" smtClean="0">
                <a:solidFill>
                  <a:srgbClr val="080808"/>
                </a:solidFill>
                <a:latin typeface="Times New Roman" panose="02020603050405020304" pitchFamily="18" charset="0"/>
                <a:cs typeface="Times New Roman" panose="02020603050405020304" pitchFamily="18" charset="0"/>
              </a:rPr>
              <a:t>i</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a:solidFill>
                  <a:srgbClr val="080808"/>
                </a:solidFill>
                <a:latin typeface="Times New Roman" panose="02020603050405020304" pitchFamily="18" charset="0"/>
                <a:cs typeface="Times New Roman" panose="02020603050405020304" pitchFamily="18" charset="0"/>
              </a:rPr>
              <a:t>key) </a:t>
            </a:r>
          </a:p>
          <a:p>
            <a:pPr>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a:t>
            </a:r>
          </a:p>
          <a:p>
            <a:pPr>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a:t>
            </a:r>
            <a:r>
              <a:rPr lang="en-US" altLang="zh-CN" sz="1600" dirty="0" err="1">
                <a:solidFill>
                  <a:srgbClr val="080808"/>
                </a:solidFill>
                <a:latin typeface="Times New Roman" panose="02020603050405020304" pitchFamily="18" charset="0"/>
                <a:cs typeface="Times New Roman" panose="02020603050405020304" pitchFamily="18" charset="0"/>
              </a:rPr>
              <a:t>printf</a:t>
            </a:r>
            <a:r>
              <a:rPr lang="en-US" altLang="zh-CN" sz="1600" dirty="0">
                <a:solidFill>
                  <a:srgbClr val="080808"/>
                </a:solidFill>
                <a:latin typeface="Times New Roman" panose="02020603050405020304" pitchFamily="18" charset="0"/>
                <a:cs typeface="Times New Roman" panose="02020603050405020304" pitchFamily="18" charset="0"/>
              </a:rPr>
              <a:t>("found %d at </a:t>
            </a:r>
            <a:r>
              <a:rPr lang="en-US" altLang="zh-CN" sz="1600" dirty="0" smtClean="0">
                <a:solidFill>
                  <a:srgbClr val="080808"/>
                </a:solidFill>
                <a:latin typeface="Times New Roman" panose="02020603050405020304" pitchFamily="18" charset="0"/>
                <a:cs typeface="Times New Roman" panose="02020603050405020304" pitchFamily="18" charset="0"/>
              </a:rPr>
              <a:t>position %</a:t>
            </a:r>
            <a:r>
              <a:rPr lang="en-US" altLang="zh-CN" sz="1600" dirty="0">
                <a:solidFill>
                  <a:srgbClr val="080808"/>
                </a:solidFill>
                <a:latin typeface="Times New Roman" panose="02020603050405020304" pitchFamily="18" charset="0"/>
                <a:cs typeface="Times New Roman" panose="02020603050405020304" pitchFamily="18" charset="0"/>
              </a:rPr>
              <a:t>d.\n",</a:t>
            </a:r>
            <a:r>
              <a:rPr lang="en-US" altLang="zh-CN" sz="1600" dirty="0" err="1" smtClean="0">
                <a:solidFill>
                  <a:srgbClr val="080808"/>
                </a:solidFill>
                <a:latin typeface="Times New Roman" panose="02020603050405020304" pitchFamily="18" charset="0"/>
                <a:cs typeface="Times New Roman" panose="02020603050405020304" pitchFamily="18" charset="0"/>
              </a:rPr>
              <a:t>key,i</a:t>
            </a:r>
            <a:r>
              <a:rPr lang="en-US" altLang="zh-CN" sz="1600" dirty="0" smtClean="0">
                <a:solidFill>
                  <a:srgbClr val="080808"/>
                </a:solidFill>
                <a:latin typeface="Times New Roman" panose="02020603050405020304" pitchFamily="18" charset="0"/>
                <a:cs typeface="Times New Roman" panose="02020603050405020304" pitchFamily="18" charset="0"/>
              </a:rPr>
              <a:t>);</a:t>
            </a:r>
          </a:p>
          <a:p>
            <a:pPr>
              <a:lnSpc>
                <a:spcPct val="100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smtClean="0">
                <a:solidFill>
                  <a:srgbClr val="0070C0"/>
                </a:solidFill>
                <a:latin typeface="Times New Roman" panose="02020603050405020304" pitchFamily="18" charset="0"/>
                <a:cs typeface="Times New Roman" panose="02020603050405020304" pitchFamily="18" charset="0"/>
              </a:rPr>
              <a:t>            </a:t>
            </a:r>
            <a:r>
              <a:rPr lang="en-US" altLang="zh-CN" sz="1600" dirty="0" smtClean="0">
                <a:solidFill>
                  <a:srgbClr val="006600"/>
                </a:solidFill>
                <a:latin typeface="Times New Roman" panose="02020603050405020304" pitchFamily="18" charset="0"/>
                <a:cs typeface="Times New Roman" panose="02020603050405020304" pitchFamily="18" charset="0"/>
              </a:rPr>
              <a:t>found=1;</a:t>
            </a:r>
            <a:endParaRPr lang="en-US" altLang="zh-CN" sz="1600" dirty="0">
              <a:solidFill>
                <a:srgbClr val="006600"/>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303DF"/>
                </a:solidFill>
                <a:latin typeface="Times New Roman" panose="02020603050405020304" pitchFamily="18" charset="0"/>
                <a:cs typeface="Times New Roman" panose="02020603050405020304" pitchFamily="18" charset="0"/>
              </a:rPr>
              <a:t>break;</a:t>
            </a: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b="1" dirty="0" smtClean="0">
                <a:solidFill>
                  <a:srgbClr val="7030A0"/>
                </a:solidFill>
                <a:latin typeface="Times New Roman" panose="02020603050405020304" pitchFamily="18" charset="0"/>
                <a:cs typeface="Times New Roman" panose="02020603050405020304" pitchFamily="18" charset="0"/>
              </a:rPr>
              <a:t>//return 0; </a:t>
            </a:r>
            <a:r>
              <a:rPr lang="en-US" altLang="zh-CN" sz="1600" b="1" dirty="0" err="1" smtClean="0">
                <a:solidFill>
                  <a:srgbClr val="7030A0"/>
                </a:solidFill>
                <a:latin typeface="Times New Roman" panose="02020603050405020304" pitchFamily="18" charset="0"/>
                <a:cs typeface="Times New Roman" panose="02020603050405020304" pitchFamily="18" charset="0"/>
              </a:rPr>
              <a:t>goto</a:t>
            </a:r>
            <a:r>
              <a:rPr lang="en-US" altLang="zh-CN" sz="1600" b="1" dirty="0" smtClean="0">
                <a:solidFill>
                  <a:srgbClr val="7030A0"/>
                </a:solidFill>
                <a:latin typeface="Times New Roman" panose="02020603050405020304" pitchFamily="18" charset="0"/>
                <a:cs typeface="Times New Roman" panose="02020603050405020304" pitchFamily="18" charset="0"/>
              </a:rPr>
              <a:t> Exit</a:t>
            </a:r>
            <a:r>
              <a:rPr lang="en-US" altLang="zh-CN" sz="1600" b="1" dirty="0">
                <a:solidFill>
                  <a:srgbClr val="7030A0"/>
                </a:solidFill>
                <a:latin typeface="Times New Roman" panose="02020603050405020304" pitchFamily="18" charset="0"/>
                <a:cs typeface="Times New Roman" panose="02020603050405020304" pitchFamily="18" charset="0"/>
              </a:rPr>
              <a:t>;</a:t>
            </a:r>
            <a:endParaRPr lang="en-US" altLang="zh-CN" sz="1600" b="1" dirty="0" smtClean="0">
              <a:solidFill>
                <a:srgbClr val="7030A0"/>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a:t>
            </a:r>
          </a:p>
          <a:p>
            <a:pPr>
              <a:lnSpc>
                <a:spcPct val="100000"/>
              </a:lnSpc>
              <a:spcBef>
                <a:spcPts val="0"/>
              </a:spcBef>
              <a:buNone/>
            </a:pPr>
            <a:r>
              <a:rPr lang="en-US" altLang="zh-CN" sz="1600" dirty="0" smtClean="0">
                <a:solidFill>
                  <a:srgbClr val="006600"/>
                </a:solidFill>
                <a:latin typeface="Times New Roman" panose="02020603050405020304" pitchFamily="18" charset="0"/>
                <a:cs typeface="Times New Roman" panose="02020603050405020304" pitchFamily="18" charset="0"/>
              </a:rPr>
              <a:t>    if (!found)</a:t>
            </a:r>
            <a:endParaRPr lang="en-US" altLang="zh-CN" sz="1600" dirty="0">
              <a:solidFill>
                <a:srgbClr val="006600"/>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smtClean="0">
                <a:solidFill>
                  <a:srgbClr val="080808"/>
                </a:solidFill>
                <a:latin typeface="Times New Roman" panose="02020603050405020304" pitchFamily="18" charset="0"/>
                <a:cs typeface="Times New Roman" panose="02020603050405020304" pitchFamily="18" charset="0"/>
              </a:rPr>
              <a:t>         </a:t>
            </a:r>
            <a:r>
              <a:rPr lang="en-US" altLang="zh-CN" sz="1600" dirty="0" err="1" smtClean="0">
                <a:solidFill>
                  <a:srgbClr val="080808"/>
                </a:solidFill>
                <a:latin typeface="Times New Roman" panose="02020603050405020304" pitchFamily="18" charset="0"/>
                <a:cs typeface="Times New Roman" panose="02020603050405020304" pitchFamily="18" charset="0"/>
              </a:rPr>
              <a:t>printf</a:t>
            </a:r>
            <a:r>
              <a:rPr lang="en-US" altLang="zh-CN" sz="1600" dirty="0">
                <a:solidFill>
                  <a:srgbClr val="080808"/>
                </a:solidFill>
                <a:latin typeface="Times New Roman" panose="02020603050405020304" pitchFamily="18" charset="0"/>
                <a:cs typeface="Times New Roman" panose="02020603050405020304" pitchFamily="18" charset="0"/>
              </a:rPr>
              <a:t>("not </a:t>
            </a:r>
            <a:r>
              <a:rPr lang="en-US" altLang="zh-CN" sz="1600" dirty="0" smtClean="0">
                <a:solidFill>
                  <a:srgbClr val="080808"/>
                </a:solidFill>
                <a:latin typeface="Times New Roman" panose="02020603050405020304" pitchFamily="18" charset="0"/>
                <a:cs typeface="Times New Roman" panose="02020603050405020304" pitchFamily="18" charset="0"/>
              </a:rPr>
              <a:t>found %d in array data[7]\</a:t>
            </a:r>
            <a:r>
              <a:rPr lang="en-US" altLang="zh-CN" sz="1600" dirty="0" err="1" smtClean="0">
                <a:solidFill>
                  <a:srgbClr val="080808"/>
                </a:solidFill>
                <a:latin typeface="Times New Roman" panose="02020603050405020304" pitchFamily="18" charset="0"/>
                <a:cs typeface="Times New Roman" panose="02020603050405020304" pitchFamily="18" charset="0"/>
              </a:rPr>
              <a:t>n“,key</a:t>
            </a:r>
            <a:r>
              <a:rPr lang="en-US" altLang="zh-CN" sz="1600" dirty="0" smtClean="0">
                <a:solidFill>
                  <a:srgbClr val="080808"/>
                </a:solidFill>
                <a:latin typeface="Times New Roman" panose="02020603050405020304" pitchFamily="18" charset="0"/>
                <a:cs typeface="Times New Roman" panose="02020603050405020304" pitchFamily="18" charset="0"/>
              </a:rPr>
              <a:t>);</a:t>
            </a: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  Exit:</a:t>
            </a:r>
            <a:endParaRPr lang="en-US" altLang="zh-CN" sz="1600" dirty="0">
              <a:solidFill>
                <a:srgbClr val="080808"/>
              </a:solidFill>
              <a:latin typeface="Times New Roman" panose="02020603050405020304" pitchFamily="18" charset="0"/>
              <a:cs typeface="Times New Roman" panose="02020603050405020304" pitchFamily="18" charset="0"/>
            </a:endParaRP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  </a:t>
            </a:r>
            <a:r>
              <a:rPr lang="en-US" altLang="zh-CN" sz="1600" dirty="0" smtClean="0">
                <a:solidFill>
                  <a:srgbClr val="080808"/>
                </a:solidFill>
                <a:latin typeface="Times New Roman" panose="02020603050405020304" pitchFamily="18" charset="0"/>
                <a:cs typeface="Times New Roman" panose="02020603050405020304" pitchFamily="18" charset="0"/>
              </a:rPr>
              <a:t>  return </a:t>
            </a:r>
            <a:r>
              <a:rPr lang="en-US" altLang="zh-CN" sz="1600" dirty="0">
                <a:solidFill>
                  <a:srgbClr val="080808"/>
                </a:solidFill>
                <a:latin typeface="Times New Roman" panose="02020603050405020304" pitchFamily="18" charset="0"/>
                <a:cs typeface="Times New Roman" panose="02020603050405020304" pitchFamily="18" charset="0"/>
              </a:rPr>
              <a:t>0;</a:t>
            </a:r>
          </a:p>
          <a:p>
            <a:pPr>
              <a:lnSpc>
                <a:spcPct val="100000"/>
              </a:lnSpc>
              <a:spcBef>
                <a:spcPts val="0"/>
              </a:spcBef>
              <a:buNone/>
            </a:pPr>
            <a:r>
              <a:rPr lang="en-US" altLang="zh-CN" sz="1600" dirty="0">
                <a:solidFill>
                  <a:srgbClr val="080808"/>
                </a:solidFill>
                <a:latin typeface="Times New Roman" panose="02020603050405020304" pitchFamily="18" charset="0"/>
                <a:cs typeface="Times New Roman" panose="02020603050405020304" pitchFamily="18" charset="0"/>
              </a:rPr>
              <a:t>}</a:t>
            </a:r>
            <a:endParaRPr lang="zh-CN" altLang="en-US" sz="16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3730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912" y="255588"/>
            <a:ext cx="8089900" cy="584200"/>
          </a:xfrm>
        </p:spPr>
        <p:txBody>
          <a:bodyPr>
            <a:normAutofit/>
          </a:bodyPr>
          <a:lstStyle/>
          <a:p>
            <a:r>
              <a:rPr lang="zh-CN" altLang="en-US" dirty="0"/>
              <a:t>顺序查找</a:t>
            </a:r>
            <a:r>
              <a:rPr lang="en-US" altLang="zh-CN" dirty="0"/>
              <a:t>--</a:t>
            </a:r>
            <a:r>
              <a:rPr lang="zh-CN" altLang="en-US" dirty="0"/>
              <a:t>时间复杂度分析</a:t>
            </a:r>
          </a:p>
        </p:txBody>
      </p:sp>
      <p:sp>
        <p:nvSpPr>
          <p:cNvPr id="3" name="内容占位符 2"/>
          <p:cNvSpPr>
            <a:spLocks noGrp="1"/>
          </p:cNvSpPr>
          <p:nvPr>
            <p:ph idx="1"/>
          </p:nvPr>
        </p:nvSpPr>
        <p:spPr>
          <a:xfrm>
            <a:off x="485774" y="1135063"/>
            <a:ext cx="8356889" cy="5345112"/>
          </a:xfrm>
        </p:spPr>
        <p:txBody>
          <a:bodyPr>
            <a:normAutofit/>
          </a:bodyPr>
          <a:lstStyle/>
          <a:p>
            <a:pPr marL="342900" indent="-342900">
              <a:lnSpc>
                <a:spcPct val="100000"/>
              </a:lnSpc>
              <a:spcBef>
                <a:spcPts val="1200"/>
              </a:spcBef>
              <a:buFont typeface="Wingdings" panose="05000000000000000000" pitchFamily="2" charset="2"/>
              <a:buChar char="l"/>
            </a:pPr>
            <a:r>
              <a:rPr lang="zh-CN" altLang="en-US" sz="1800" dirty="0"/>
              <a:t>算法</a:t>
            </a:r>
            <a:r>
              <a:rPr lang="zh-CN" altLang="en-US" sz="1800" dirty="0">
                <a:solidFill>
                  <a:srgbClr val="006600"/>
                </a:solidFill>
              </a:rPr>
              <a:t>时间复杂度分析</a:t>
            </a:r>
            <a:endParaRPr lang="en-US" altLang="zh-CN" sz="1800" dirty="0">
              <a:solidFill>
                <a:srgbClr val="006600"/>
              </a:solidFill>
            </a:endParaRPr>
          </a:p>
          <a:p>
            <a:pPr marL="971550" lvl="1">
              <a:lnSpc>
                <a:spcPct val="100000"/>
              </a:lnSpc>
              <a:spcBef>
                <a:spcPts val="1200"/>
              </a:spcBef>
            </a:pPr>
            <a:r>
              <a:rPr lang="zh-CN" altLang="en-US" sz="1600" dirty="0">
                <a:solidFill>
                  <a:srgbClr val="0303DF"/>
                </a:solidFill>
              </a:rPr>
              <a:t>对于一个具体的算法</a:t>
            </a:r>
            <a:r>
              <a:rPr lang="en-US" altLang="zh-CN" sz="1600" dirty="0">
                <a:solidFill>
                  <a:srgbClr val="0303DF"/>
                </a:solidFill>
              </a:rPr>
              <a:t>A</a:t>
            </a:r>
            <a:r>
              <a:rPr lang="zh-CN" altLang="en-US" sz="1600" dirty="0">
                <a:solidFill>
                  <a:srgbClr val="0303DF"/>
                </a:solidFill>
              </a:rPr>
              <a:t>，其时间复杂度函数</a:t>
            </a:r>
            <a:r>
              <a:rPr lang="en-US" altLang="zh-CN" sz="1600" dirty="0">
                <a:solidFill>
                  <a:srgbClr val="0303DF"/>
                </a:solidFill>
              </a:rPr>
              <a:t>T</a:t>
            </a:r>
            <a:r>
              <a:rPr lang="en-US" altLang="zh-CN" sz="1600" baseline="-25000" dirty="0">
                <a:solidFill>
                  <a:srgbClr val="0303DF"/>
                </a:solidFill>
              </a:rPr>
              <a:t>A</a:t>
            </a:r>
            <a:r>
              <a:rPr lang="en-US" altLang="zh-CN" sz="1600" dirty="0">
                <a:solidFill>
                  <a:srgbClr val="0303DF"/>
                </a:solidFill>
              </a:rPr>
              <a:t>(n)</a:t>
            </a:r>
            <a:r>
              <a:rPr lang="zh-CN" altLang="en-US" sz="1600" dirty="0">
                <a:solidFill>
                  <a:srgbClr val="0303DF"/>
                </a:solidFill>
              </a:rPr>
              <a:t>，是对所有输入长度为</a:t>
            </a:r>
            <a:r>
              <a:rPr lang="en-US" altLang="zh-CN" sz="1600" dirty="0">
                <a:solidFill>
                  <a:srgbClr val="0303DF"/>
                </a:solidFill>
              </a:rPr>
              <a:t>n</a:t>
            </a:r>
            <a:r>
              <a:rPr lang="zh-CN" altLang="en-US" sz="1600" dirty="0">
                <a:solidFill>
                  <a:srgbClr val="0303DF"/>
                </a:solidFill>
              </a:rPr>
              <a:t>的</a:t>
            </a:r>
            <a:r>
              <a:rPr lang="zh-CN" altLang="en-US" sz="1600" b="1" u="sng" dirty="0">
                <a:solidFill>
                  <a:srgbClr val="C00000"/>
                </a:solidFill>
              </a:rPr>
              <a:t>各种实例</a:t>
            </a:r>
            <a:r>
              <a:rPr lang="zh-CN" altLang="en-US" sz="1600" dirty="0">
                <a:solidFill>
                  <a:srgbClr val="0303DF"/>
                </a:solidFill>
              </a:rPr>
              <a:t>，估计</a:t>
            </a:r>
            <a:r>
              <a:rPr lang="zh-CN" altLang="en-US" sz="1600" b="1" u="sng" dirty="0">
                <a:solidFill>
                  <a:srgbClr val="C00000"/>
                </a:solidFill>
              </a:rPr>
              <a:t>其最坏情况下</a:t>
            </a:r>
            <a:r>
              <a:rPr lang="zh-CN" altLang="en-US" sz="1600" dirty="0">
                <a:solidFill>
                  <a:srgbClr val="0303DF"/>
                </a:solidFill>
              </a:rPr>
              <a:t>的</a:t>
            </a:r>
            <a:r>
              <a:rPr lang="zh-CN" altLang="en-US" sz="1600" b="1" i="1" u="sng" dirty="0">
                <a:solidFill>
                  <a:srgbClr val="7030A0"/>
                </a:solidFill>
              </a:rPr>
              <a:t>基本操作</a:t>
            </a:r>
            <a:r>
              <a:rPr lang="zh-CN" altLang="en-US" sz="1600" b="1" u="sng" dirty="0">
                <a:solidFill>
                  <a:srgbClr val="FF0000"/>
                </a:solidFill>
              </a:rPr>
              <a:t>次数</a:t>
            </a:r>
            <a:r>
              <a:rPr lang="en-US" altLang="zh-CN" sz="1600" dirty="0">
                <a:solidFill>
                  <a:srgbClr val="0303DF"/>
                </a:solidFill>
              </a:rPr>
              <a:t>(</a:t>
            </a:r>
            <a:r>
              <a:rPr lang="zh-CN" altLang="en-US" sz="1600" dirty="0">
                <a:solidFill>
                  <a:srgbClr val="7030A0"/>
                </a:solidFill>
              </a:rPr>
              <a:t>上界估计</a:t>
            </a:r>
            <a:r>
              <a:rPr lang="en-US" altLang="zh-CN" sz="1600" dirty="0">
                <a:solidFill>
                  <a:srgbClr val="0303DF"/>
                </a:solidFill>
              </a:rPr>
              <a:t>)</a:t>
            </a:r>
          </a:p>
          <a:p>
            <a:pPr marL="342900" indent="-342900">
              <a:lnSpc>
                <a:spcPct val="100000"/>
              </a:lnSpc>
              <a:spcBef>
                <a:spcPts val="1200"/>
              </a:spcBef>
              <a:buFont typeface="Wingdings" panose="05000000000000000000" pitchFamily="2" charset="2"/>
              <a:buChar char="l"/>
            </a:pPr>
            <a:r>
              <a:rPr lang="zh-CN" altLang="en-US" sz="1800" dirty="0" smtClean="0">
                <a:solidFill>
                  <a:srgbClr val="7030A0"/>
                </a:solidFill>
              </a:rPr>
              <a:t>对于</a:t>
            </a:r>
            <a:r>
              <a:rPr lang="zh-CN" altLang="en-US" sz="1800" dirty="0">
                <a:solidFill>
                  <a:srgbClr val="7030A0"/>
                </a:solidFill>
              </a:rPr>
              <a:t>顺序</a:t>
            </a:r>
            <a:r>
              <a:rPr lang="zh-CN" altLang="en-US" sz="1800" dirty="0" smtClean="0">
                <a:solidFill>
                  <a:srgbClr val="7030A0"/>
                </a:solidFill>
              </a:rPr>
              <a:t>查找算法，要估算对于</a:t>
            </a:r>
            <a:r>
              <a:rPr lang="en-US" altLang="zh-CN" sz="1800" dirty="0" smtClean="0">
                <a:solidFill>
                  <a:srgbClr val="7030A0"/>
                </a:solidFill>
              </a:rPr>
              <a:t>n</a:t>
            </a:r>
            <a:r>
              <a:rPr lang="zh-CN" altLang="en-US" sz="1800" dirty="0" smtClean="0">
                <a:solidFill>
                  <a:srgbClr val="7030A0"/>
                </a:solidFill>
              </a:rPr>
              <a:t>个元素的各种实例，算法所需要的时间</a:t>
            </a:r>
            <a:r>
              <a:rPr lang="zh-CN" altLang="en-US" sz="1800" b="1" i="1" u="sng" dirty="0" smtClean="0">
                <a:solidFill>
                  <a:srgbClr val="C00000"/>
                </a:solidFill>
              </a:rPr>
              <a:t>最多是多少</a:t>
            </a:r>
            <a:r>
              <a:rPr lang="zh-CN" altLang="en-US" sz="1800" dirty="0" smtClean="0">
                <a:solidFill>
                  <a:srgbClr val="7030A0"/>
                </a:solidFill>
              </a:rPr>
              <a:t>；</a:t>
            </a:r>
            <a:endParaRPr lang="en-US" altLang="zh-CN" sz="1800" dirty="0" smtClean="0">
              <a:solidFill>
                <a:srgbClr val="7030A0"/>
              </a:solidFill>
            </a:endParaRPr>
          </a:p>
          <a:p>
            <a:pPr marL="342900" indent="-342900">
              <a:lnSpc>
                <a:spcPct val="100000"/>
              </a:lnSpc>
              <a:spcBef>
                <a:spcPts val="1200"/>
              </a:spcBef>
              <a:buFont typeface="Wingdings" panose="05000000000000000000" pitchFamily="2" charset="2"/>
              <a:buChar char="l"/>
            </a:pPr>
            <a:r>
              <a:rPr lang="zh-CN" altLang="en-US" sz="1800" dirty="0" smtClean="0">
                <a:solidFill>
                  <a:srgbClr val="7030A0"/>
                </a:solidFill>
              </a:rPr>
              <a:t>无法枚举</a:t>
            </a:r>
            <a:r>
              <a:rPr lang="en-US" altLang="zh-CN" sz="1800" dirty="0" smtClean="0">
                <a:solidFill>
                  <a:srgbClr val="7030A0"/>
                </a:solidFill>
              </a:rPr>
              <a:t>n</a:t>
            </a:r>
            <a:r>
              <a:rPr lang="zh-CN" altLang="en-US" sz="1800" dirty="0">
                <a:solidFill>
                  <a:srgbClr val="7030A0"/>
                </a:solidFill>
              </a:rPr>
              <a:t>个元素</a:t>
            </a:r>
            <a:r>
              <a:rPr lang="zh-CN" altLang="en-US" sz="1800" dirty="0" smtClean="0">
                <a:solidFill>
                  <a:srgbClr val="7030A0"/>
                </a:solidFill>
              </a:rPr>
              <a:t>的所有实例，只能进行数学上的估计</a:t>
            </a:r>
            <a:r>
              <a:rPr lang="en-US" altLang="zh-CN" sz="1800" dirty="0">
                <a:solidFill>
                  <a:srgbClr val="7030A0"/>
                </a:solidFill>
              </a:rPr>
              <a:t>;</a:t>
            </a:r>
            <a:endParaRPr lang="en-US" altLang="zh-CN" sz="1800" dirty="0" smtClean="0">
              <a:solidFill>
                <a:srgbClr val="7030A0"/>
              </a:solidFill>
            </a:endParaRPr>
          </a:p>
          <a:p>
            <a:pPr marL="342900" indent="-342900">
              <a:lnSpc>
                <a:spcPct val="100000"/>
              </a:lnSpc>
              <a:spcBef>
                <a:spcPts val="1200"/>
              </a:spcBef>
              <a:buFont typeface="Wingdings" panose="05000000000000000000" pitchFamily="2" charset="2"/>
              <a:buChar char="l"/>
            </a:pPr>
            <a:r>
              <a:rPr lang="zh-CN" altLang="en-US" sz="1800" dirty="0">
                <a:solidFill>
                  <a:srgbClr val="080808"/>
                </a:solidFill>
                <a:latin typeface="Times New Roman" panose="02020603050405020304" pitchFamily="18" charset="0"/>
                <a:cs typeface="Times New Roman" panose="02020603050405020304" pitchFamily="18" charset="0"/>
              </a:rPr>
              <a:t>查找算法中的</a:t>
            </a:r>
            <a:r>
              <a:rPr lang="zh-CN" altLang="en-US" sz="1800" b="1" i="1" u="sng" dirty="0">
                <a:solidFill>
                  <a:srgbClr val="080808"/>
                </a:solidFill>
                <a:latin typeface="Times New Roman" panose="02020603050405020304" pitchFamily="18" charset="0"/>
                <a:cs typeface="Times New Roman" panose="02020603050405020304" pitchFamily="18" charset="0"/>
              </a:rPr>
              <a:t>基本</a:t>
            </a:r>
            <a:r>
              <a:rPr lang="zh-CN" altLang="en-US" sz="1800" b="1" i="1" u="sng" dirty="0" smtClean="0">
                <a:solidFill>
                  <a:srgbClr val="080808"/>
                </a:solidFill>
                <a:latin typeface="Times New Roman" panose="02020603050405020304" pitchFamily="18" charset="0"/>
                <a:cs typeface="Times New Roman" panose="02020603050405020304" pitchFamily="18" charset="0"/>
              </a:rPr>
              <a:t>操作</a:t>
            </a:r>
            <a:r>
              <a:rPr lang="zh-CN" altLang="en-US" sz="1800" dirty="0" smtClean="0">
                <a:solidFill>
                  <a:srgbClr val="080808"/>
                </a:solidFill>
                <a:latin typeface="Times New Roman" panose="02020603050405020304" pitchFamily="18" charset="0"/>
                <a:cs typeface="Times New Roman" panose="02020603050405020304" pitchFamily="18" charset="0"/>
              </a:rPr>
              <a:t>是</a:t>
            </a:r>
            <a:r>
              <a:rPr lang="zh-CN" altLang="en-US" sz="1800" b="1" dirty="0" smtClean="0">
                <a:solidFill>
                  <a:srgbClr val="0303DF"/>
                </a:solidFill>
                <a:latin typeface="Times New Roman" panose="02020603050405020304" pitchFamily="18" charset="0"/>
                <a:cs typeface="Times New Roman" panose="02020603050405020304" pitchFamily="18" charset="0"/>
              </a:rPr>
              <a:t>比较语句</a:t>
            </a:r>
            <a:r>
              <a:rPr lang="en-US" altLang="zh-CN" sz="1800" b="1" dirty="0">
                <a:solidFill>
                  <a:srgbClr val="0303DF"/>
                </a:solidFill>
                <a:latin typeface="Times New Roman" panose="02020603050405020304" pitchFamily="18" charset="0"/>
                <a:cs typeface="Times New Roman" panose="02020603050405020304" pitchFamily="18" charset="0"/>
              </a:rPr>
              <a:t>data[</a:t>
            </a:r>
            <a:r>
              <a:rPr lang="en-US" altLang="zh-CN" sz="1800" b="1" dirty="0" err="1">
                <a:solidFill>
                  <a:srgbClr val="0303DF"/>
                </a:solidFill>
                <a:latin typeface="Times New Roman" panose="02020603050405020304" pitchFamily="18" charset="0"/>
                <a:cs typeface="Times New Roman" panose="02020603050405020304" pitchFamily="18" charset="0"/>
              </a:rPr>
              <a:t>i</a:t>
            </a:r>
            <a:r>
              <a:rPr lang="en-US" altLang="zh-CN" sz="1800" b="1" dirty="0">
                <a:solidFill>
                  <a:srgbClr val="0303DF"/>
                </a:solidFill>
                <a:latin typeface="Times New Roman" panose="02020603050405020304" pitchFamily="18" charset="0"/>
                <a:cs typeface="Times New Roman" panose="02020603050405020304" pitchFamily="18" charset="0"/>
              </a:rPr>
              <a:t>]==</a:t>
            </a:r>
            <a:r>
              <a:rPr lang="en-US" altLang="zh-CN" sz="1800" b="1" dirty="0" smtClean="0">
                <a:solidFill>
                  <a:srgbClr val="0303DF"/>
                </a:solidFill>
                <a:latin typeface="Times New Roman" panose="02020603050405020304" pitchFamily="18" charset="0"/>
                <a:cs typeface="Times New Roman" panose="02020603050405020304" pitchFamily="18" charset="0"/>
              </a:rPr>
              <a:t>key</a:t>
            </a:r>
            <a:r>
              <a:rPr lang="en-US" altLang="zh-CN" sz="1800" dirty="0">
                <a:solidFill>
                  <a:srgbClr val="080808"/>
                </a:solidFill>
                <a:latin typeface="Times New Roman" panose="02020603050405020304" pitchFamily="18" charset="0"/>
                <a:cs typeface="Times New Roman" panose="02020603050405020304" pitchFamily="18" charset="0"/>
              </a:rPr>
              <a:t>;</a:t>
            </a:r>
            <a:endParaRPr lang="en-US" altLang="zh-CN" sz="1800" dirty="0">
              <a:solidFill>
                <a:srgbClr val="7030A0"/>
              </a:solidFill>
            </a:endParaRPr>
          </a:p>
          <a:p>
            <a:pPr marL="342900" indent="-342900">
              <a:lnSpc>
                <a:spcPct val="100000"/>
              </a:lnSpc>
              <a:spcBef>
                <a:spcPts val="1200"/>
              </a:spcBef>
              <a:buFont typeface="Wingdings" panose="05000000000000000000" pitchFamily="2" charset="2"/>
              <a:buChar char="l"/>
            </a:pPr>
            <a:r>
              <a:rPr lang="zh-CN" altLang="en-US" sz="1800" dirty="0"/>
              <a:t>因此，</a:t>
            </a:r>
            <a:r>
              <a:rPr lang="zh-CN" altLang="en-US" sz="1800" b="1" i="1" u="sng" dirty="0">
                <a:solidFill>
                  <a:srgbClr val="C00000"/>
                </a:solidFill>
              </a:rPr>
              <a:t>顺序查找算法的时间复杂度（所需的时间）取决于比较的次数</a:t>
            </a:r>
            <a:r>
              <a:rPr lang="zh-CN" altLang="en-US" sz="1800" i="1" dirty="0"/>
              <a:t>；</a:t>
            </a:r>
            <a:endParaRPr lang="en-US" altLang="zh-CN" sz="1800" i="1" dirty="0"/>
          </a:p>
          <a:p>
            <a:pPr marL="342900" indent="-342900">
              <a:lnSpc>
                <a:spcPct val="100000"/>
              </a:lnSpc>
              <a:spcBef>
                <a:spcPts val="1200"/>
              </a:spcBef>
              <a:buFont typeface="Wingdings" panose="05000000000000000000" pitchFamily="2" charset="2"/>
              <a:buChar char="l"/>
            </a:pPr>
            <a:r>
              <a:rPr lang="zh-CN" altLang="en-US" sz="1800" dirty="0" smtClean="0"/>
              <a:t>一条比较</a:t>
            </a:r>
            <a:r>
              <a:rPr lang="zh-CN" altLang="en-US" sz="1800" dirty="0"/>
              <a:t>语句 </a:t>
            </a:r>
            <a:r>
              <a:rPr lang="en-US" altLang="zh-CN" sz="1800" dirty="0" smtClean="0">
                <a:solidFill>
                  <a:srgbClr val="080808"/>
                </a:solidFill>
                <a:latin typeface="Times New Roman" panose="02020603050405020304" pitchFamily="18" charset="0"/>
                <a:cs typeface="Times New Roman" panose="02020603050405020304" pitchFamily="18" charset="0"/>
              </a:rPr>
              <a:t>data[</a:t>
            </a:r>
            <a:r>
              <a:rPr lang="en-US" altLang="zh-CN" sz="1800" dirty="0" err="1" smtClean="0">
                <a:solidFill>
                  <a:srgbClr val="080808"/>
                </a:solidFill>
                <a:latin typeface="Times New Roman" panose="02020603050405020304" pitchFamily="18" charset="0"/>
                <a:cs typeface="Times New Roman" panose="02020603050405020304" pitchFamily="18" charset="0"/>
              </a:rPr>
              <a:t>i</a:t>
            </a:r>
            <a:r>
              <a:rPr lang="en-US" altLang="zh-CN" sz="1800" dirty="0" smtClean="0">
                <a:solidFill>
                  <a:srgbClr val="080808"/>
                </a:solidFill>
                <a:latin typeface="Times New Roman" panose="02020603050405020304" pitchFamily="18" charset="0"/>
                <a:cs typeface="Times New Roman" panose="02020603050405020304" pitchFamily="18" charset="0"/>
              </a:rPr>
              <a:t>]==key</a:t>
            </a:r>
            <a:r>
              <a:rPr lang="zh-CN" altLang="en-US" sz="1800" b="1" dirty="0" smtClean="0">
                <a:solidFill>
                  <a:srgbClr val="C00000"/>
                </a:solidFill>
              </a:rPr>
              <a:t>所</a:t>
            </a:r>
            <a:r>
              <a:rPr lang="zh-CN" altLang="en-US" sz="1800" b="1" dirty="0">
                <a:solidFill>
                  <a:srgbClr val="C00000"/>
                </a:solidFill>
              </a:rPr>
              <a:t>耗费的时间是</a:t>
            </a:r>
            <a:r>
              <a:rPr lang="zh-CN" altLang="en-US" sz="1800" b="1" i="1" u="sng" dirty="0">
                <a:solidFill>
                  <a:srgbClr val="0303DF"/>
                </a:solidFill>
              </a:rPr>
              <a:t>与</a:t>
            </a:r>
            <a:r>
              <a:rPr lang="en-US" altLang="zh-CN" sz="1800" b="1" i="1" u="sng" dirty="0">
                <a:solidFill>
                  <a:srgbClr val="0303DF"/>
                </a:solidFill>
              </a:rPr>
              <a:t>n</a:t>
            </a:r>
            <a:r>
              <a:rPr lang="zh-CN" altLang="en-US" sz="1800" b="1" i="1" u="sng" dirty="0">
                <a:solidFill>
                  <a:srgbClr val="0303DF"/>
                </a:solidFill>
              </a:rPr>
              <a:t>无关的常数</a:t>
            </a:r>
            <a:r>
              <a:rPr lang="zh-CN" altLang="en-US" sz="1800" dirty="0"/>
              <a:t>，</a:t>
            </a:r>
            <a:r>
              <a:rPr lang="zh-CN" altLang="en-US" sz="1800" dirty="0">
                <a:solidFill>
                  <a:srgbClr val="006600"/>
                </a:solidFill>
              </a:rPr>
              <a:t>其所需时间记为</a:t>
            </a:r>
            <a:r>
              <a:rPr lang="en-US" altLang="zh-CN" sz="1800" b="1" dirty="0">
                <a:solidFill>
                  <a:srgbClr val="C00000"/>
                </a:solidFill>
              </a:rPr>
              <a:t>O(1</a:t>
            </a:r>
            <a:r>
              <a:rPr lang="en-US" altLang="zh-CN" sz="1800" b="1" dirty="0" smtClean="0">
                <a:solidFill>
                  <a:srgbClr val="C00000"/>
                </a:solidFill>
              </a:rPr>
              <a:t>)</a:t>
            </a:r>
            <a:r>
              <a:rPr lang="en-US" altLang="zh-CN" sz="1800" b="1" dirty="0">
                <a:solidFill>
                  <a:srgbClr val="C00000"/>
                </a:solidFill>
              </a:rPr>
              <a:t>;</a:t>
            </a:r>
          </a:p>
          <a:p>
            <a:pPr marL="342900" indent="-342900">
              <a:buFont typeface="Wingdings" panose="05000000000000000000" pitchFamily="2" charset="2"/>
              <a:buChar char="l"/>
            </a:pPr>
            <a:r>
              <a:rPr lang="zh-CN" altLang="en-US" sz="1800" dirty="0" smtClean="0">
                <a:solidFill>
                  <a:srgbClr val="0303DF"/>
                </a:solidFill>
              </a:rPr>
              <a:t>我们</a:t>
            </a:r>
            <a:r>
              <a:rPr lang="zh-CN" altLang="en-US" sz="1800" dirty="0">
                <a:solidFill>
                  <a:srgbClr val="0303DF"/>
                </a:solidFill>
              </a:rPr>
              <a:t>考虑</a:t>
            </a:r>
            <a:r>
              <a:rPr lang="zh-CN" altLang="en-US" sz="1800" b="1" u="sng" dirty="0">
                <a:solidFill>
                  <a:srgbClr val="006600"/>
                </a:solidFill>
              </a:rPr>
              <a:t>最坏情况</a:t>
            </a:r>
            <a:r>
              <a:rPr lang="zh-CN" altLang="en-US" sz="1800" dirty="0">
                <a:solidFill>
                  <a:srgbClr val="0303DF"/>
                </a:solidFill>
              </a:rPr>
              <a:t>下的运行时间，需要考虑</a:t>
            </a:r>
            <a:r>
              <a:rPr lang="zh-CN" altLang="en-US" sz="1800" b="1" u="sng" dirty="0">
                <a:solidFill>
                  <a:srgbClr val="7030A0"/>
                </a:solidFill>
              </a:rPr>
              <a:t>比较次数</a:t>
            </a:r>
            <a:r>
              <a:rPr lang="zh-CN" altLang="en-US" sz="1800" b="1" u="sng" dirty="0">
                <a:solidFill>
                  <a:srgbClr val="006600"/>
                </a:solidFill>
              </a:rPr>
              <a:t>最多</a:t>
            </a:r>
            <a:r>
              <a:rPr lang="zh-CN" altLang="en-US" sz="1800" dirty="0">
                <a:solidFill>
                  <a:srgbClr val="0303DF"/>
                </a:solidFill>
              </a:rPr>
              <a:t>的情况；</a:t>
            </a:r>
            <a:endParaRPr lang="en-US" altLang="zh-CN" sz="1800" dirty="0">
              <a:solidFill>
                <a:srgbClr val="0303DF"/>
              </a:solidFill>
            </a:endParaRPr>
          </a:p>
          <a:p>
            <a:pPr marL="342900" indent="-342900">
              <a:buFont typeface="Wingdings" panose="05000000000000000000" pitchFamily="2" charset="2"/>
              <a:buChar char="l"/>
            </a:pPr>
            <a:r>
              <a:rPr lang="zh-CN" altLang="en-US" sz="1800" b="1" dirty="0">
                <a:solidFill>
                  <a:srgbClr val="C00000"/>
                </a:solidFill>
              </a:rPr>
              <a:t>若查找不成功，或最后一个元素是要查找的元素，</a:t>
            </a:r>
            <a:r>
              <a:rPr lang="zh-CN" altLang="en-US" sz="1800" b="1" i="1" u="sng" dirty="0">
                <a:solidFill>
                  <a:srgbClr val="0303DF"/>
                </a:solidFill>
              </a:rPr>
              <a:t>需要做</a:t>
            </a:r>
            <a:r>
              <a:rPr lang="en-US" altLang="zh-CN" sz="1800" b="1" i="1" u="sng" dirty="0">
                <a:solidFill>
                  <a:srgbClr val="0303DF"/>
                </a:solidFill>
              </a:rPr>
              <a:t>n</a:t>
            </a:r>
            <a:r>
              <a:rPr lang="zh-CN" altLang="en-US" sz="1800" b="1" i="1" u="sng" dirty="0">
                <a:solidFill>
                  <a:srgbClr val="0303DF"/>
                </a:solidFill>
              </a:rPr>
              <a:t>次</a:t>
            </a:r>
            <a:r>
              <a:rPr lang="zh-CN" altLang="en-US" sz="1800" b="1" i="1" u="sng" dirty="0" smtClean="0">
                <a:solidFill>
                  <a:srgbClr val="0303DF"/>
                </a:solidFill>
              </a:rPr>
              <a:t>比较（</a:t>
            </a:r>
            <a:r>
              <a:rPr lang="zh-CN" altLang="en-US" sz="1800" b="1" i="1" u="sng" dirty="0" smtClean="0">
                <a:solidFill>
                  <a:srgbClr val="0070C0"/>
                </a:solidFill>
              </a:rPr>
              <a:t>基本操作</a:t>
            </a:r>
            <a:r>
              <a:rPr lang="zh-CN" altLang="en-US" sz="1800" b="1" i="1" u="sng" dirty="0" smtClean="0">
                <a:solidFill>
                  <a:srgbClr val="0303DF"/>
                </a:solidFill>
              </a:rPr>
              <a:t>）</a:t>
            </a:r>
            <a:r>
              <a:rPr lang="zh-CN" altLang="en-US" sz="1800" dirty="0" smtClean="0"/>
              <a:t>，</a:t>
            </a:r>
            <a:r>
              <a:rPr lang="zh-CN" altLang="en-US" sz="1800" b="1" dirty="0">
                <a:solidFill>
                  <a:srgbClr val="000000"/>
                </a:solidFill>
              </a:rPr>
              <a:t>因此时间复杂度</a:t>
            </a:r>
            <a:r>
              <a:rPr lang="zh-CN" altLang="en-US" sz="1800" b="1" dirty="0" smtClean="0">
                <a:solidFill>
                  <a:srgbClr val="000000"/>
                </a:solidFill>
              </a:rPr>
              <a:t>是：</a:t>
            </a:r>
            <a:r>
              <a:rPr lang="en-US" altLang="zh-CN" sz="1800" dirty="0" smtClean="0">
                <a:solidFill>
                  <a:srgbClr val="0000CC"/>
                </a:solidFill>
              </a:rPr>
              <a:t>O(n</a:t>
            </a:r>
            <a:r>
              <a:rPr lang="en-US" altLang="zh-CN" sz="1800" dirty="0">
                <a:solidFill>
                  <a:srgbClr val="0000CC"/>
                </a:solidFill>
              </a:rPr>
              <a:t>)</a:t>
            </a:r>
            <a:r>
              <a:rPr lang="en-US" altLang="zh-CN" sz="1800" dirty="0"/>
              <a:t>;</a:t>
            </a:r>
          </a:p>
          <a:p>
            <a:pPr marL="342900" indent="-342900">
              <a:buFont typeface="Wingdings" panose="05000000000000000000" pitchFamily="2" charset="2"/>
              <a:buChar char="l"/>
            </a:pPr>
            <a:endParaRPr lang="en-US" altLang="zh-CN" sz="1800"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
        <p:nvSpPr>
          <p:cNvPr id="4" name="圆角矩形标注 3"/>
          <p:cNvSpPr/>
          <p:nvPr/>
        </p:nvSpPr>
        <p:spPr bwMode="auto">
          <a:xfrm>
            <a:off x="4975114" y="839788"/>
            <a:ext cx="3765665" cy="2285797"/>
          </a:xfrm>
          <a:prstGeom prst="wedgeRoundRectCallout">
            <a:avLst>
              <a:gd name="adj1" fmla="val -22546"/>
              <a:gd name="adj2" fmla="val 49543"/>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111125">
              <a:spcBef>
                <a:spcPts val="0"/>
              </a:spcBef>
              <a:buFont typeface="Wingdings 2" panose="05020102010507070707" pitchFamily="18" charset="2"/>
              <a:buNone/>
            </a:pPr>
            <a:r>
              <a:rPr lang="en-US" altLang="zh-CN" sz="1600" dirty="0" smtClean="0">
                <a:solidFill>
                  <a:srgbClr val="000000"/>
                </a:solidFill>
                <a:latin typeface="+mn-lt"/>
                <a:ea typeface="+mn-ea"/>
                <a:cs typeface="Times New Roman" panose="02020603050405020304" pitchFamily="18" charset="0"/>
              </a:rPr>
              <a:t>//</a:t>
            </a:r>
            <a:r>
              <a:rPr lang="zh-CN" altLang="en-US" sz="1600" dirty="0" smtClean="0">
                <a:solidFill>
                  <a:srgbClr val="000000"/>
                </a:solidFill>
                <a:latin typeface="+mn-lt"/>
                <a:ea typeface="+mn-ea"/>
                <a:cs typeface="Times New Roman" panose="02020603050405020304" pitchFamily="18" charset="0"/>
              </a:rPr>
              <a:t>从</a:t>
            </a:r>
            <a:r>
              <a:rPr lang="en-US" altLang="zh-CN" sz="1600" dirty="0" smtClean="0">
                <a:solidFill>
                  <a:srgbClr val="000000"/>
                </a:solidFill>
                <a:latin typeface="+mn-lt"/>
                <a:ea typeface="+mn-ea"/>
                <a:cs typeface="Times New Roman" panose="02020603050405020304" pitchFamily="18" charset="0"/>
              </a:rPr>
              <a:t>n</a:t>
            </a:r>
            <a:r>
              <a:rPr lang="zh-CN" altLang="en-US" sz="1600" dirty="0" smtClean="0">
                <a:solidFill>
                  <a:srgbClr val="000000"/>
                </a:solidFill>
                <a:latin typeface="+mn-lt"/>
                <a:ea typeface="+mn-ea"/>
                <a:cs typeface="Times New Roman" panose="02020603050405020304" pitchFamily="18" charset="0"/>
              </a:rPr>
              <a:t>个元素</a:t>
            </a:r>
            <a:r>
              <a:rPr lang="en-US" altLang="zh-CN" sz="1600" dirty="0" smtClean="0">
                <a:solidFill>
                  <a:srgbClr val="000000"/>
                </a:solidFill>
                <a:latin typeface="+mn-lt"/>
                <a:ea typeface="+mn-ea"/>
                <a:cs typeface="Times New Roman" panose="02020603050405020304" pitchFamily="18" charset="0"/>
              </a:rPr>
              <a:t>data[n]</a:t>
            </a:r>
            <a:r>
              <a:rPr lang="zh-CN" altLang="en-US" sz="1600" dirty="0" smtClean="0">
                <a:solidFill>
                  <a:srgbClr val="000000"/>
                </a:solidFill>
                <a:latin typeface="+mn-lt"/>
                <a:ea typeface="+mn-ea"/>
                <a:cs typeface="Times New Roman" panose="02020603050405020304" pitchFamily="18" charset="0"/>
              </a:rPr>
              <a:t>中查找</a:t>
            </a:r>
            <a:r>
              <a:rPr lang="en-US" altLang="zh-CN" sz="1600" dirty="0" smtClean="0">
                <a:solidFill>
                  <a:srgbClr val="000000"/>
                </a:solidFill>
                <a:latin typeface="+mn-lt"/>
                <a:ea typeface="+mn-ea"/>
                <a:cs typeface="Times New Roman" panose="02020603050405020304" pitchFamily="18" charset="0"/>
              </a:rPr>
              <a:t>key</a:t>
            </a:r>
          </a:p>
          <a:p>
            <a:pPr marL="111125">
              <a:spcBef>
                <a:spcPts val="0"/>
              </a:spcBef>
              <a:buFont typeface="Wingdings 2" panose="05020102010507070707" pitchFamily="18" charset="2"/>
              <a:buNone/>
            </a:pPr>
            <a:r>
              <a:rPr lang="en-US" altLang="zh-CN" sz="1600" dirty="0" err="1" smtClean="0">
                <a:solidFill>
                  <a:srgbClr val="000000"/>
                </a:solidFill>
                <a:latin typeface="+mn-lt"/>
                <a:ea typeface="+mn-ea"/>
                <a:cs typeface="Times New Roman" panose="02020603050405020304" pitchFamily="18" charset="0"/>
              </a:rPr>
              <a:t>int</a:t>
            </a:r>
            <a:r>
              <a:rPr lang="en-US" altLang="zh-CN" sz="1600" dirty="0" smtClean="0">
                <a:solidFill>
                  <a:srgbClr val="000000"/>
                </a:solidFill>
                <a:latin typeface="+mn-lt"/>
                <a:ea typeface="+mn-ea"/>
                <a:cs typeface="Times New Roman" panose="02020603050405020304" pitchFamily="18" charset="0"/>
              </a:rPr>
              <a:t> </a:t>
            </a:r>
            <a:r>
              <a:rPr lang="en-US" altLang="zh-CN" sz="1600" dirty="0" err="1">
                <a:solidFill>
                  <a:srgbClr val="000000"/>
                </a:solidFill>
                <a:latin typeface="+mn-lt"/>
                <a:ea typeface="+mn-ea"/>
                <a:cs typeface="Times New Roman" panose="02020603050405020304" pitchFamily="18" charset="0"/>
              </a:rPr>
              <a:t>LinearSearch</a:t>
            </a:r>
            <a:r>
              <a:rPr lang="en-US" altLang="zh-CN" sz="1600" dirty="0">
                <a:solidFill>
                  <a:srgbClr val="000000"/>
                </a:solidFill>
                <a:latin typeface="+mn-lt"/>
                <a:ea typeface="+mn-ea"/>
                <a:cs typeface="Times New Roman" panose="02020603050405020304" pitchFamily="18" charset="0"/>
              </a:rPr>
              <a:t>(</a:t>
            </a:r>
            <a:r>
              <a:rPr lang="en-US" altLang="zh-CN" sz="1600" dirty="0" err="1">
                <a:solidFill>
                  <a:srgbClr val="000000"/>
                </a:solidFill>
                <a:latin typeface="+mn-lt"/>
                <a:ea typeface="+mn-ea"/>
                <a:cs typeface="Times New Roman" panose="02020603050405020304" pitchFamily="18" charset="0"/>
              </a:rPr>
              <a:t>int</a:t>
            </a:r>
            <a:r>
              <a:rPr lang="en-US" altLang="zh-CN" sz="1600" dirty="0">
                <a:solidFill>
                  <a:srgbClr val="000000"/>
                </a:solidFill>
                <a:latin typeface="+mn-lt"/>
                <a:ea typeface="+mn-ea"/>
                <a:cs typeface="Times New Roman" panose="02020603050405020304" pitchFamily="18" charset="0"/>
              </a:rPr>
              <a:t> </a:t>
            </a:r>
            <a:r>
              <a:rPr lang="en-US" altLang="zh-CN" sz="1600" dirty="0" smtClean="0">
                <a:solidFill>
                  <a:srgbClr val="000000"/>
                </a:solidFill>
                <a:latin typeface="+mn-lt"/>
                <a:ea typeface="+mn-ea"/>
                <a:cs typeface="Times New Roman" panose="02020603050405020304" pitchFamily="18" charset="0"/>
              </a:rPr>
              <a:t>data[],</a:t>
            </a:r>
            <a:r>
              <a:rPr lang="en-US" altLang="zh-CN" sz="1600" dirty="0" err="1">
                <a:solidFill>
                  <a:srgbClr val="000000"/>
                </a:solidFill>
                <a:latin typeface="+mn-lt"/>
                <a:ea typeface="+mn-ea"/>
                <a:cs typeface="Times New Roman" panose="02020603050405020304" pitchFamily="18" charset="0"/>
              </a:rPr>
              <a:t>int</a:t>
            </a:r>
            <a:r>
              <a:rPr lang="en-US" altLang="zh-CN" sz="1600" dirty="0">
                <a:solidFill>
                  <a:srgbClr val="000000"/>
                </a:solidFill>
                <a:latin typeface="+mn-lt"/>
                <a:ea typeface="+mn-ea"/>
                <a:cs typeface="Times New Roman" panose="02020603050405020304" pitchFamily="18" charset="0"/>
              </a:rPr>
              <a:t> </a:t>
            </a:r>
            <a:r>
              <a:rPr lang="en-US" altLang="zh-CN" sz="1600" dirty="0" err="1">
                <a:solidFill>
                  <a:srgbClr val="000000"/>
                </a:solidFill>
                <a:latin typeface="+mn-lt"/>
                <a:ea typeface="+mn-ea"/>
                <a:cs typeface="Times New Roman" panose="02020603050405020304" pitchFamily="18" charset="0"/>
              </a:rPr>
              <a:t>key,int</a:t>
            </a:r>
            <a:r>
              <a:rPr lang="en-US" altLang="zh-CN" sz="1600" dirty="0">
                <a:solidFill>
                  <a:srgbClr val="000000"/>
                </a:solidFill>
                <a:latin typeface="+mn-lt"/>
                <a:ea typeface="+mn-ea"/>
                <a:cs typeface="Times New Roman" panose="02020603050405020304" pitchFamily="18" charset="0"/>
              </a:rPr>
              <a:t> n)</a:t>
            </a:r>
          </a:p>
          <a:p>
            <a:pPr marL="111125">
              <a:spcBef>
                <a:spcPts val="0"/>
              </a:spcBef>
              <a:buFont typeface="Wingdings 2" panose="05020102010507070707" pitchFamily="18" charset="2"/>
              <a:buNone/>
            </a:pPr>
            <a:r>
              <a:rPr lang="en-US" altLang="zh-CN" sz="1600" dirty="0">
                <a:solidFill>
                  <a:srgbClr val="000000"/>
                </a:solidFill>
                <a:latin typeface="+mn-lt"/>
                <a:ea typeface="+mn-ea"/>
                <a:cs typeface="Times New Roman" panose="02020603050405020304" pitchFamily="18" charset="0"/>
              </a:rPr>
              <a:t>{</a:t>
            </a:r>
          </a:p>
          <a:p>
            <a:pPr marL="111125">
              <a:spcBef>
                <a:spcPts val="0"/>
              </a:spcBef>
              <a:buFont typeface="Wingdings 2" panose="05020102010507070707" pitchFamily="18" charset="2"/>
              <a:buNone/>
            </a:pPr>
            <a:r>
              <a:rPr lang="en-US" altLang="zh-CN" sz="1600" dirty="0">
                <a:solidFill>
                  <a:srgbClr val="000000"/>
                </a:solidFill>
                <a:latin typeface="+mn-lt"/>
                <a:ea typeface="+mn-ea"/>
                <a:cs typeface="Times New Roman" panose="02020603050405020304" pitchFamily="18" charset="0"/>
              </a:rPr>
              <a:t>   </a:t>
            </a:r>
            <a:r>
              <a:rPr lang="en-US" altLang="zh-CN" sz="1600" dirty="0" smtClean="0">
                <a:solidFill>
                  <a:srgbClr val="000000"/>
                </a:solidFill>
                <a:latin typeface="+mn-lt"/>
                <a:ea typeface="+mn-ea"/>
                <a:cs typeface="Times New Roman" panose="02020603050405020304" pitchFamily="18" charset="0"/>
              </a:rPr>
              <a:t> for (</a:t>
            </a:r>
            <a:r>
              <a:rPr lang="en-US" altLang="zh-CN" sz="1600" dirty="0" err="1" smtClean="0">
                <a:solidFill>
                  <a:srgbClr val="000000"/>
                </a:solidFill>
                <a:latin typeface="+mn-lt"/>
                <a:ea typeface="+mn-ea"/>
                <a:cs typeface="Times New Roman" panose="02020603050405020304" pitchFamily="18" charset="0"/>
              </a:rPr>
              <a:t>int</a:t>
            </a:r>
            <a:r>
              <a:rPr lang="en-US" altLang="zh-CN" sz="1600" dirty="0" smtClean="0">
                <a:solidFill>
                  <a:srgbClr val="000000"/>
                </a:solidFill>
                <a:latin typeface="+mn-lt"/>
                <a:ea typeface="+mn-ea"/>
                <a:cs typeface="Times New Roman" panose="02020603050405020304" pitchFamily="18" charset="0"/>
              </a:rPr>
              <a:t> </a:t>
            </a:r>
            <a:r>
              <a:rPr lang="en-US" altLang="zh-CN" sz="1600" dirty="0" err="1" smtClean="0">
                <a:solidFill>
                  <a:srgbClr val="000000"/>
                </a:solidFill>
                <a:latin typeface="+mn-lt"/>
                <a:ea typeface="+mn-ea"/>
                <a:cs typeface="Times New Roman" panose="02020603050405020304" pitchFamily="18" charset="0"/>
              </a:rPr>
              <a:t>i</a:t>
            </a:r>
            <a:r>
              <a:rPr lang="en-US" altLang="zh-CN" sz="1600" dirty="0" smtClean="0">
                <a:solidFill>
                  <a:srgbClr val="000000"/>
                </a:solidFill>
                <a:latin typeface="+mn-lt"/>
                <a:ea typeface="+mn-ea"/>
                <a:cs typeface="Times New Roman" panose="02020603050405020304" pitchFamily="18" charset="0"/>
              </a:rPr>
              <a:t>=0;i&lt;</a:t>
            </a:r>
            <a:r>
              <a:rPr lang="en-US" altLang="zh-CN" sz="1600" dirty="0" err="1" smtClean="0">
                <a:solidFill>
                  <a:srgbClr val="000000"/>
                </a:solidFill>
                <a:latin typeface="+mn-lt"/>
                <a:ea typeface="+mn-ea"/>
                <a:cs typeface="Times New Roman" panose="02020603050405020304" pitchFamily="18" charset="0"/>
              </a:rPr>
              <a:t>n;i</a:t>
            </a:r>
            <a:r>
              <a:rPr lang="en-US" altLang="zh-CN" sz="1600" dirty="0" smtClean="0">
                <a:solidFill>
                  <a:srgbClr val="000000"/>
                </a:solidFill>
                <a:latin typeface="+mn-lt"/>
                <a:ea typeface="+mn-ea"/>
                <a:cs typeface="Times New Roman" panose="02020603050405020304" pitchFamily="18" charset="0"/>
              </a:rPr>
              <a:t>++)</a:t>
            </a:r>
          </a:p>
          <a:p>
            <a:pPr marL="111125">
              <a:spcBef>
                <a:spcPts val="0"/>
              </a:spcBef>
              <a:buFont typeface="Wingdings 2" panose="05020102010507070707" pitchFamily="18" charset="2"/>
              <a:buNone/>
            </a:pPr>
            <a:r>
              <a:rPr lang="en-US" altLang="zh-CN" sz="1600" dirty="0">
                <a:solidFill>
                  <a:srgbClr val="000000"/>
                </a:solidFill>
                <a:latin typeface="+mn-lt"/>
                <a:ea typeface="+mn-ea"/>
                <a:cs typeface="Times New Roman" panose="02020603050405020304" pitchFamily="18" charset="0"/>
              </a:rPr>
              <a:t> </a:t>
            </a:r>
            <a:r>
              <a:rPr lang="en-US" altLang="zh-CN" sz="1600" dirty="0" smtClean="0">
                <a:solidFill>
                  <a:srgbClr val="000000"/>
                </a:solidFill>
                <a:latin typeface="+mn-lt"/>
                <a:ea typeface="+mn-ea"/>
                <a:cs typeface="Times New Roman" panose="02020603050405020304" pitchFamily="18" charset="0"/>
              </a:rPr>
              <a:t>       </a:t>
            </a:r>
            <a:r>
              <a:rPr lang="en-US" altLang="zh-CN" sz="1600" dirty="0">
                <a:solidFill>
                  <a:srgbClr val="000000"/>
                </a:solidFill>
                <a:latin typeface="+mn-lt"/>
                <a:ea typeface="+mn-ea"/>
                <a:cs typeface="Times New Roman" panose="02020603050405020304" pitchFamily="18" charset="0"/>
              </a:rPr>
              <a:t>if (</a:t>
            </a:r>
            <a:r>
              <a:rPr lang="en-US" altLang="zh-CN" sz="1600" b="1" dirty="0">
                <a:solidFill>
                  <a:srgbClr val="7030A0"/>
                </a:solidFill>
                <a:latin typeface="+mn-lt"/>
                <a:ea typeface="+mn-ea"/>
                <a:cs typeface="Times New Roman" panose="02020603050405020304" pitchFamily="18" charset="0"/>
              </a:rPr>
              <a:t>data[</a:t>
            </a:r>
            <a:r>
              <a:rPr lang="en-US" altLang="zh-CN" sz="1600" b="1" dirty="0" err="1">
                <a:solidFill>
                  <a:srgbClr val="7030A0"/>
                </a:solidFill>
                <a:latin typeface="+mn-lt"/>
                <a:ea typeface="+mn-ea"/>
                <a:cs typeface="Times New Roman" panose="02020603050405020304" pitchFamily="18" charset="0"/>
              </a:rPr>
              <a:t>i</a:t>
            </a:r>
            <a:r>
              <a:rPr lang="en-US" altLang="zh-CN" sz="1600" b="1" dirty="0">
                <a:solidFill>
                  <a:srgbClr val="7030A0"/>
                </a:solidFill>
                <a:latin typeface="+mn-lt"/>
                <a:ea typeface="+mn-ea"/>
                <a:cs typeface="Times New Roman" panose="02020603050405020304" pitchFamily="18" charset="0"/>
              </a:rPr>
              <a:t>]==key</a:t>
            </a:r>
            <a:r>
              <a:rPr lang="en-US" altLang="zh-CN" sz="1600" dirty="0">
                <a:solidFill>
                  <a:srgbClr val="000000"/>
                </a:solidFill>
                <a:latin typeface="+mn-lt"/>
                <a:ea typeface="+mn-ea"/>
                <a:cs typeface="Times New Roman" panose="02020603050405020304" pitchFamily="18" charset="0"/>
              </a:rPr>
              <a:t>) </a:t>
            </a:r>
          </a:p>
          <a:p>
            <a:pPr marL="111125">
              <a:spcBef>
                <a:spcPts val="0"/>
              </a:spcBef>
              <a:buFont typeface="Wingdings 2" panose="05020102010507070707" pitchFamily="18" charset="2"/>
              <a:buNone/>
            </a:pPr>
            <a:r>
              <a:rPr lang="en-US" altLang="zh-CN" sz="1600" dirty="0">
                <a:solidFill>
                  <a:srgbClr val="000000"/>
                </a:solidFill>
                <a:latin typeface="+mn-lt"/>
                <a:ea typeface="+mn-ea"/>
                <a:cs typeface="Times New Roman" panose="02020603050405020304" pitchFamily="18" charset="0"/>
              </a:rPr>
              <a:t>     </a:t>
            </a:r>
            <a:r>
              <a:rPr lang="en-US" altLang="zh-CN" sz="1600" dirty="0" smtClean="0">
                <a:solidFill>
                  <a:srgbClr val="000000"/>
                </a:solidFill>
                <a:latin typeface="+mn-lt"/>
                <a:ea typeface="+mn-ea"/>
                <a:cs typeface="Times New Roman" panose="02020603050405020304" pitchFamily="18" charset="0"/>
              </a:rPr>
              <a:t>        </a:t>
            </a:r>
            <a:r>
              <a:rPr lang="en-US" altLang="zh-CN" sz="1600" dirty="0">
                <a:solidFill>
                  <a:srgbClr val="000000"/>
                </a:solidFill>
                <a:latin typeface="+mn-lt"/>
                <a:ea typeface="+mn-ea"/>
                <a:cs typeface="Times New Roman" panose="02020603050405020304" pitchFamily="18" charset="0"/>
              </a:rPr>
              <a:t>return </a:t>
            </a:r>
            <a:r>
              <a:rPr lang="en-US" altLang="zh-CN" sz="1600" dirty="0" err="1">
                <a:solidFill>
                  <a:srgbClr val="000000"/>
                </a:solidFill>
                <a:latin typeface="+mn-lt"/>
                <a:ea typeface="+mn-ea"/>
                <a:cs typeface="Times New Roman" panose="02020603050405020304" pitchFamily="18" charset="0"/>
              </a:rPr>
              <a:t>i</a:t>
            </a:r>
            <a:r>
              <a:rPr lang="en-US" altLang="zh-CN" sz="1600" dirty="0">
                <a:solidFill>
                  <a:srgbClr val="000000"/>
                </a:solidFill>
                <a:latin typeface="+mn-lt"/>
                <a:ea typeface="+mn-ea"/>
                <a:cs typeface="Times New Roman" panose="02020603050405020304" pitchFamily="18" charset="0"/>
              </a:rPr>
              <a:t>;   //</a:t>
            </a:r>
            <a:r>
              <a:rPr lang="zh-CN" altLang="en-US" sz="1600" dirty="0">
                <a:solidFill>
                  <a:srgbClr val="000000"/>
                </a:solidFill>
                <a:latin typeface="+mn-lt"/>
                <a:ea typeface="+mn-ea"/>
                <a:cs typeface="Times New Roman" panose="02020603050405020304" pitchFamily="18" charset="0"/>
              </a:rPr>
              <a:t>找到</a:t>
            </a:r>
            <a:endParaRPr lang="en-US" altLang="zh-CN" sz="1600" dirty="0">
              <a:solidFill>
                <a:srgbClr val="000000"/>
              </a:solidFill>
              <a:latin typeface="+mn-lt"/>
              <a:ea typeface="+mn-ea"/>
              <a:cs typeface="Times New Roman" panose="02020603050405020304" pitchFamily="18" charset="0"/>
            </a:endParaRPr>
          </a:p>
          <a:p>
            <a:pPr marL="111125">
              <a:spcBef>
                <a:spcPts val="0"/>
              </a:spcBef>
              <a:buFont typeface="Wingdings 2" panose="05020102010507070707" pitchFamily="18" charset="2"/>
              <a:buNone/>
            </a:pPr>
            <a:r>
              <a:rPr lang="en-US" altLang="zh-CN" sz="1600" dirty="0" smtClean="0">
                <a:solidFill>
                  <a:srgbClr val="000000"/>
                </a:solidFill>
                <a:latin typeface="+mn-lt"/>
                <a:ea typeface="+mn-ea"/>
                <a:cs typeface="Times New Roman" panose="02020603050405020304" pitchFamily="18" charset="0"/>
              </a:rPr>
              <a:t>    return </a:t>
            </a:r>
            <a:r>
              <a:rPr lang="en-US" altLang="zh-CN" sz="1600" dirty="0">
                <a:solidFill>
                  <a:srgbClr val="000000"/>
                </a:solidFill>
                <a:latin typeface="+mn-lt"/>
                <a:ea typeface="+mn-ea"/>
                <a:cs typeface="Times New Roman" panose="02020603050405020304" pitchFamily="18" charset="0"/>
              </a:rPr>
              <a:t>-1; </a:t>
            </a:r>
            <a:r>
              <a:rPr lang="en-US" altLang="zh-CN" sz="1600" dirty="0" smtClean="0">
                <a:solidFill>
                  <a:srgbClr val="000000"/>
                </a:solidFill>
                <a:latin typeface="+mn-lt"/>
                <a:ea typeface="+mn-ea"/>
                <a:cs typeface="Times New Roman" panose="02020603050405020304" pitchFamily="18" charset="0"/>
              </a:rPr>
              <a:t>         //</a:t>
            </a:r>
            <a:r>
              <a:rPr lang="zh-CN" altLang="en-US" sz="1600" dirty="0" smtClean="0">
                <a:solidFill>
                  <a:srgbClr val="000000"/>
                </a:solidFill>
                <a:latin typeface="+mn-lt"/>
                <a:ea typeface="+mn-ea"/>
                <a:cs typeface="Times New Roman" panose="02020603050405020304" pitchFamily="18" charset="0"/>
              </a:rPr>
              <a:t>没有找到</a:t>
            </a:r>
            <a:endParaRPr lang="en-US" altLang="zh-CN" sz="1600" dirty="0">
              <a:solidFill>
                <a:srgbClr val="000000"/>
              </a:solidFill>
              <a:latin typeface="+mn-lt"/>
              <a:ea typeface="+mn-ea"/>
              <a:cs typeface="Times New Roman" panose="02020603050405020304" pitchFamily="18" charset="0"/>
            </a:endParaRPr>
          </a:p>
          <a:p>
            <a:pPr marL="111125">
              <a:spcBef>
                <a:spcPts val="0"/>
              </a:spcBef>
              <a:buFont typeface="Wingdings 2" panose="05020102010507070707" pitchFamily="18" charset="2"/>
              <a:buNone/>
            </a:pPr>
            <a:r>
              <a:rPr lang="en-US" altLang="zh-CN" sz="1600" dirty="0">
                <a:solidFill>
                  <a:srgbClr val="000000"/>
                </a:solidFill>
                <a:latin typeface="+mn-lt"/>
                <a:ea typeface="+mn-ea"/>
                <a:cs typeface="Times New Roman" panose="02020603050405020304" pitchFamily="18" charset="0"/>
              </a:rPr>
              <a:t>} </a:t>
            </a:r>
          </a:p>
        </p:txBody>
      </p:sp>
    </p:spTree>
    <p:extLst>
      <p:ext uri="{BB962C8B-B14F-4D97-AF65-F5344CB8AC3E}">
        <p14:creationId xmlns:p14="http://schemas.microsoft.com/office/powerpoint/2010/main" val="85313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顺序查找</a:t>
            </a:r>
            <a:r>
              <a:rPr lang="en-US" altLang="zh-CN" dirty="0"/>
              <a:t>--</a:t>
            </a:r>
            <a:r>
              <a:rPr lang="zh-CN" altLang="en-US" dirty="0"/>
              <a:t>时间复杂度分析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454025" indent="-342900">
                  <a:lnSpc>
                    <a:spcPct val="100000"/>
                  </a:lnSpc>
                  <a:spcBef>
                    <a:spcPts val="600"/>
                  </a:spcBef>
                  <a:buFont typeface="Wingdings" panose="05000000000000000000" pitchFamily="2" charset="2"/>
                  <a:buChar char="l"/>
                </a:pPr>
                <a:r>
                  <a:rPr lang="zh-CN" altLang="en-US" dirty="0" smtClean="0">
                    <a:solidFill>
                      <a:srgbClr val="0303DF"/>
                    </a:solidFill>
                    <a:latin typeface="Times New Roman" panose="02020603050405020304" pitchFamily="18" charset="0"/>
                    <a:cs typeface="Times New Roman" panose="02020603050405020304" pitchFamily="18" charset="0"/>
                  </a:rPr>
                  <a:t>最好的情况：所查数据在第一个位置，查找</a:t>
                </a:r>
                <a:r>
                  <a:rPr lang="zh-CN" altLang="en-US" dirty="0" smtClean="0">
                    <a:solidFill>
                      <a:srgbClr val="006600"/>
                    </a:solidFill>
                  </a:rPr>
                  <a:t>所</a:t>
                </a:r>
                <a:r>
                  <a:rPr lang="zh-CN" altLang="en-US" dirty="0">
                    <a:solidFill>
                      <a:srgbClr val="006600"/>
                    </a:solidFill>
                  </a:rPr>
                  <a:t>需</a:t>
                </a:r>
                <a:r>
                  <a:rPr lang="zh-CN" altLang="en-US" dirty="0" smtClean="0">
                    <a:solidFill>
                      <a:srgbClr val="006600"/>
                    </a:solidFill>
                  </a:rPr>
                  <a:t>时间</a:t>
                </a:r>
                <a:r>
                  <a:rPr lang="zh-CN" altLang="en-US" dirty="0" smtClean="0">
                    <a:solidFill>
                      <a:srgbClr val="C00000"/>
                    </a:solidFill>
                  </a:rPr>
                  <a:t>与</a:t>
                </a:r>
                <a:r>
                  <a:rPr lang="en-US" altLang="zh-CN" dirty="0" smtClean="0">
                    <a:solidFill>
                      <a:srgbClr val="C00000"/>
                    </a:solidFill>
                  </a:rPr>
                  <a:t>n</a:t>
                </a:r>
                <a:r>
                  <a:rPr lang="zh-CN" altLang="en-US" dirty="0" smtClean="0">
                    <a:solidFill>
                      <a:srgbClr val="C00000"/>
                    </a:solidFill>
                  </a:rPr>
                  <a:t>无关</a:t>
                </a:r>
                <a:r>
                  <a:rPr lang="zh-CN" altLang="en-US" dirty="0" smtClean="0">
                    <a:solidFill>
                      <a:srgbClr val="006600"/>
                    </a:solidFill>
                  </a:rPr>
                  <a:t>，</a:t>
                </a:r>
                <a:r>
                  <a:rPr lang="zh-CN" altLang="en-US" b="1" u="sng" dirty="0" smtClean="0">
                    <a:solidFill>
                      <a:srgbClr val="006600"/>
                    </a:solidFill>
                  </a:rPr>
                  <a:t>是确定的一个值</a:t>
                </a:r>
                <a:r>
                  <a:rPr lang="zh-CN" altLang="en-US" dirty="0" smtClean="0">
                    <a:solidFill>
                      <a:srgbClr val="006600"/>
                    </a:solidFill>
                  </a:rPr>
                  <a:t>，</a:t>
                </a:r>
                <a:r>
                  <a:rPr lang="zh-CN" altLang="en-US" dirty="0" smtClean="0">
                    <a:solidFill>
                      <a:srgbClr val="0303DF"/>
                    </a:solidFill>
                    <a:latin typeface="Times New Roman" panose="02020603050405020304" pitchFamily="18" charset="0"/>
                    <a:cs typeface="Times New Roman" panose="02020603050405020304" pitchFamily="18" charset="0"/>
                  </a:rPr>
                  <a:t>时间复杂度为</a:t>
                </a:r>
                <a:r>
                  <a:rPr lang="en-US" altLang="zh-CN" dirty="0">
                    <a:solidFill>
                      <a:srgbClr val="7030A0"/>
                    </a:solidFill>
                    <a:latin typeface="Times New Roman" panose="02020603050405020304" pitchFamily="18" charset="0"/>
                    <a:cs typeface="Times New Roman" panose="02020603050405020304" pitchFamily="18" charset="0"/>
                  </a:rPr>
                  <a:t>O(1</a:t>
                </a:r>
                <a:r>
                  <a:rPr lang="en-US" altLang="zh-CN" dirty="0" smtClean="0">
                    <a:solidFill>
                      <a:srgbClr val="7030A0"/>
                    </a:solidFill>
                    <a:latin typeface="Times New Roman" panose="02020603050405020304" pitchFamily="18" charset="0"/>
                    <a:cs typeface="Times New Roman" panose="02020603050405020304" pitchFamily="18" charset="0"/>
                  </a:rPr>
                  <a:t>);</a:t>
                </a:r>
                <a:endParaRPr lang="en-US" altLang="zh-CN" dirty="0">
                  <a:solidFill>
                    <a:srgbClr val="7030A0"/>
                  </a:solidFill>
                  <a:latin typeface="Times New Roman" panose="02020603050405020304" pitchFamily="18" charset="0"/>
                  <a:cs typeface="Times New Roman" panose="02020603050405020304" pitchFamily="18" charset="0"/>
                </a:endParaRPr>
              </a:p>
              <a:p>
                <a:pPr marL="454025" indent="-342900">
                  <a:lnSpc>
                    <a:spcPct val="100000"/>
                  </a:lnSpc>
                  <a:spcBef>
                    <a:spcPts val="600"/>
                  </a:spcBef>
                  <a:buFont typeface="Wingdings" panose="05000000000000000000" pitchFamily="2" charset="2"/>
                  <a:buChar char="l"/>
                </a:pPr>
                <a:r>
                  <a:rPr lang="zh-CN" altLang="en-US" dirty="0">
                    <a:solidFill>
                      <a:srgbClr val="0303DF"/>
                    </a:solidFill>
                    <a:latin typeface="Times New Roman" panose="02020603050405020304" pitchFamily="18" charset="0"/>
                    <a:cs typeface="Times New Roman" panose="02020603050405020304" pitchFamily="18" charset="0"/>
                  </a:rPr>
                  <a:t>最坏的情况：是所查数据在</a:t>
                </a:r>
                <a:r>
                  <a:rPr lang="zh-CN" altLang="en-US" dirty="0">
                    <a:solidFill>
                      <a:srgbClr val="C00000"/>
                    </a:solidFill>
                    <a:latin typeface="Times New Roman" panose="02020603050405020304" pitchFamily="18" charset="0"/>
                    <a:cs typeface="Times New Roman" panose="02020603050405020304" pitchFamily="18" charset="0"/>
                  </a:rPr>
                  <a:t>最后一个位置</a:t>
                </a:r>
                <a:r>
                  <a:rPr lang="zh-CN" altLang="en-US" dirty="0">
                    <a:solidFill>
                      <a:srgbClr val="0303DF"/>
                    </a:solidFill>
                    <a:latin typeface="Times New Roman" panose="02020603050405020304" pitchFamily="18" charset="0"/>
                    <a:cs typeface="Times New Roman" panose="02020603050405020304" pitchFamily="18" charset="0"/>
                  </a:rPr>
                  <a:t>，时间复杂度为</a:t>
                </a:r>
                <a:r>
                  <a:rPr lang="en-US" altLang="zh-CN" dirty="0">
                    <a:solidFill>
                      <a:srgbClr val="7030A0"/>
                    </a:solidFill>
                    <a:latin typeface="Times New Roman" panose="02020603050405020304" pitchFamily="18" charset="0"/>
                    <a:cs typeface="Times New Roman" panose="02020603050405020304" pitchFamily="18" charset="0"/>
                  </a:rPr>
                  <a:t>O(n</a:t>
                </a:r>
                <a:r>
                  <a:rPr lang="en-US" altLang="zh-CN" dirty="0" smtClean="0">
                    <a:solidFill>
                      <a:srgbClr val="7030A0"/>
                    </a:solidFill>
                    <a:latin typeface="Times New Roman" panose="02020603050405020304" pitchFamily="18" charset="0"/>
                    <a:cs typeface="Times New Roman" panose="02020603050405020304" pitchFamily="18" charset="0"/>
                  </a:rPr>
                  <a:t>)</a:t>
                </a:r>
                <a:r>
                  <a:rPr lang="zh-CN" altLang="en-US" dirty="0" smtClean="0">
                    <a:solidFill>
                      <a:srgbClr val="7030A0"/>
                    </a:solidFill>
                    <a:latin typeface="Times New Roman" panose="02020603050405020304" pitchFamily="18" charset="0"/>
                    <a:cs typeface="Times New Roman" panose="02020603050405020304" pitchFamily="18" charset="0"/>
                  </a:rPr>
                  <a:t>；</a:t>
                </a:r>
                <a:endParaRPr lang="en-US" altLang="zh-CN" dirty="0">
                  <a:solidFill>
                    <a:srgbClr val="7030A0"/>
                  </a:solidFill>
                  <a:latin typeface="Times New Roman" panose="02020603050405020304" pitchFamily="18" charset="0"/>
                  <a:cs typeface="Times New Roman" panose="02020603050405020304" pitchFamily="18" charset="0"/>
                </a:endParaRPr>
              </a:p>
              <a:p>
                <a:pPr marL="454025" indent="-342900">
                  <a:lnSpc>
                    <a:spcPct val="100000"/>
                  </a:lnSpc>
                  <a:spcBef>
                    <a:spcPts val="600"/>
                  </a:spcBef>
                  <a:buFont typeface="Wingdings" panose="05000000000000000000" pitchFamily="2" charset="2"/>
                  <a:buChar char="l"/>
                </a:pPr>
                <a:endParaRPr lang="en-US" altLang="zh-CN" dirty="0">
                  <a:solidFill>
                    <a:srgbClr val="0303DF"/>
                  </a:solidFill>
                  <a:latin typeface="Times New Roman" panose="02020603050405020304" pitchFamily="18" charset="0"/>
                  <a:cs typeface="Times New Roman" panose="02020603050405020304" pitchFamily="18" charset="0"/>
                </a:endParaRPr>
              </a:p>
              <a:p>
                <a:pPr marL="454025" indent="-342900">
                  <a:lnSpc>
                    <a:spcPct val="100000"/>
                  </a:lnSpc>
                  <a:spcBef>
                    <a:spcPts val="600"/>
                  </a:spcBef>
                  <a:buFont typeface="Wingdings" panose="05000000000000000000" pitchFamily="2" charset="2"/>
                  <a:buChar char="l"/>
                </a:pPr>
                <a:r>
                  <a:rPr lang="zh-CN" altLang="en-US" dirty="0"/>
                  <a:t>如果假设查找每个元素是</a:t>
                </a:r>
                <a:r>
                  <a:rPr lang="zh-CN" altLang="en-US" dirty="0">
                    <a:solidFill>
                      <a:srgbClr val="7030A0"/>
                    </a:solidFill>
                  </a:rPr>
                  <a:t>等概率的</a:t>
                </a:r>
                <a:r>
                  <a:rPr lang="zh-CN" altLang="en-US" dirty="0"/>
                  <a:t>，则</a:t>
                </a:r>
                <a:r>
                  <a:rPr lang="zh-CN" altLang="en-US" dirty="0">
                    <a:solidFill>
                      <a:srgbClr val="7030A0"/>
                    </a:solidFill>
                  </a:rPr>
                  <a:t>平均查找次数</a:t>
                </a:r>
                <a:r>
                  <a:rPr lang="zh-CN" altLang="en-US" dirty="0"/>
                  <a:t>（查找长度）</a:t>
                </a:r>
                <a:r>
                  <a:rPr lang="zh-CN" altLang="en-US" dirty="0" smtClean="0"/>
                  <a:t>是</a:t>
                </a:r>
                <a14:m>
                  <m:oMath xmlns:m="http://schemas.openxmlformats.org/officeDocument/2006/math">
                    <m:f>
                      <m:fPr>
                        <m:ctrlPr>
                          <a:rPr lang="en-US" altLang="zh-CN" i="1" smtClean="0">
                            <a:solidFill>
                              <a:srgbClr val="7030A0"/>
                            </a:solidFill>
                            <a:latin typeface="Cambria Math" panose="02040503050406030204" pitchFamily="18" charset="0"/>
                          </a:rPr>
                        </m:ctrlPr>
                      </m:fPr>
                      <m:num>
                        <m:r>
                          <a:rPr lang="en-US" altLang="zh-CN" b="0" i="1" smtClean="0">
                            <a:solidFill>
                              <a:srgbClr val="7030A0"/>
                            </a:solidFill>
                            <a:latin typeface="Cambria Math" panose="02040503050406030204" pitchFamily="18" charset="0"/>
                          </a:rPr>
                          <m:t>𝑛</m:t>
                        </m:r>
                        <m:r>
                          <a:rPr lang="en-US" altLang="zh-CN" b="0" i="1" smtClean="0">
                            <a:solidFill>
                              <a:srgbClr val="7030A0"/>
                            </a:solidFill>
                            <a:latin typeface="Cambria Math" panose="02040503050406030204" pitchFamily="18" charset="0"/>
                          </a:rPr>
                          <m:t>+1</m:t>
                        </m:r>
                      </m:num>
                      <m:den>
                        <m:r>
                          <a:rPr lang="en-US" altLang="zh-CN" b="0" i="1" smtClean="0">
                            <a:solidFill>
                              <a:srgbClr val="7030A0"/>
                            </a:solidFill>
                            <a:latin typeface="Cambria Math" panose="02040503050406030204" pitchFamily="18" charset="0"/>
                          </a:rPr>
                          <m:t>2</m:t>
                        </m:r>
                      </m:den>
                    </m:f>
                  </m:oMath>
                </a14:m>
                <a:r>
                  <a:rPr lang="zh-CN" altLang="en-US" dirty="0" smtClean="0"/>
                  <a:t>，</a:t>
                </a:r>
                <a:r>
                  <a:rPr lang="zh-CN" altLang="en-US" dirty="0">
                    <a:solidFill>
                      <a:srgbClr val="FF0000"/>
                    </a:solidFill>
                  </a:rPr>
                  <a:t>算法复杂度是</a:t>
                </a:r>
                <a:r>
                  <a:rPr lang="en-US" altLang="zh-CN" dirty="0" smtClean="0">
                    <a:solidFill>
                      <a:srgbClr val="0303DF"/>
                    </a:solidFill>
                  </a:rPr>
                  <a:t>O(</a:t>
                </a:r>
                <a14:m>
                  <m:oMath xmlns:m="http://schemas.openxmlformats.org/officeDocument/2006/math">
                    <m:f>
                      <m:fPr>
                        <m:ctrlPr>
                          <a:rPr lang="en-US" altLang="zh-CN" i="1">
                            <a:solidFill>
                              <a:srgbClr val="0303DF"/>
                            </a:solidFill>
                            <a:latin typeface="Cambria Math" panose="02040503050406030204" pitchFamily="18" charset="0"/>
                          </a:rPr>
                        </m:ctrlPr>
                      </m:fPr>
                      <m:num>
                        <m:r>
                          <a:rPr lang="en-US" altLang="zh-CN" i="1">
                            <a:solidFill>
                              <a:srgbClr val="0303DF"/>
                            </a:solidFill>
                            <a:latin typeface="Cambria Math" panose="02040503050406030204" pitchFamily="18" charset="0"/>
                          </a:rPr>
                          <m:t>𝑛</m:t>
                        </m:r>
                        <m:r>
                          <a:rPr lang="en-US" altLang="zh-CN" i="1">
                            <a:solidFill>
                              <a:srgbClr val="0303DF"/>
                            </a:solidFill>
                            <a:latin typeface="Cambria Math" panose="02040503050406030204" pitchFamily="18" charset="0"/>
                          </a:rPr>
                          <m:t>+1</m:t>
                        </m:r>
                      </m:num>
                      <m:den>
                        <m:r>
                          <a:rPr lang="en-US" altLang="zh-CN" i="1">
                            <a:solidFill>
                              <a:srgbClr val="0303DF"/>
                            </a:solidFill>
                            <a:latin typeface="Cambria Math" panose="02040503050406030204" pitchFamily="18" charset="0"/>
                          </a:rPr>
                          <m:t>2</m:t>
                        </m:r>
                      </m:den>
                    </m:f>
                  </m:oMath>
                </a14:m>
                <a:r>
                  <a:rPr lang="en-US" altLang="zh-CN" dirty="0" smtClean="0">
                    <a:solidFill>
                      <a:srgbClr val="0303DF"/>
                    </a:solidFill>
                  </a:rPr>
                  <a:t>)</a:t>
                </a:r>
                <a:r>
                  <a:rPr lang="en-US" altLang="zh-CN" dirty="0" smtClean="0">
                    <a:solidFill>
                      <a:srgbClr val="FF0000"/>
                    </a:solidFill>
                  </a:rPr>
                  <a:t>=O(n)</a:t>
                </a:r>
                <a:r>
                  <a:rPr lang="zh-CN" altLang="en-US" dirty="0" smtClean="0">
                    <a:solidFill>
                      <a:srgbClr val="FF0000"/>
                    </a:solidFill>
                  </a:rPr>
                  <a:t>；</a:t>
                </a:r>
                <a:endParaRPr lang="en-US" altLang="zh-CN" dirty="0" smtClean="0">
                  <a:solidFill>
                    <a:srgbClr val="FF0000"/>
                  </a:solidFill>
                </a:endParaRPr>
              </a:p>
              <a:p>
                <a:pPr marL="1082675" lvl="1">
                  <a:lnSpc>
                    <a:spcPct val="100000"/>
                  </a:lnSpc>
                  <a:spcBef>
                    <a:spcPts val="600"/>
                  </a:spcBef>
                </a:pPr>
                <a:r>
                  <a:rPr lang="en-US" altLang="zh-CN" dirty="0" smtClean="0">
                    <a:solidFill>
                      <a:srgbClr val="000000"/>
                    </a:solidFill>
                    <a:sym typeface="Arial" panose="020B0604020202020204" pitchFamily="34" charset="0"/>
                  </a:rPr>
                  <a:t>O(</a:t>
                </a:r>
                <a14:m>
                  <m:oMath xmlns:m="http://schemas.openxmlformats.org/officeDocument/2006/math">
                    <m:f>
                      <m:fPr>
                        <m:ctrlPr>
                          <a:rPr lang="en-US" altLang="zh-CN" i="1">
                            <a:solidFill>
                              <a:srgbClr val="000000"/>
                            </a:solidFill>
                            <a:latin typeface="Cambria Math" panose="02040503050406030204" pitchFamily="18" charset="0"/>
                            <a:sym typeface="Arial" panose="020B0604020202020204" pitchFamily="34" charset="0"/>
                          </a:rPr>
                        </m:ctrlPr>
                      </m:fPr>
                      <m:num>
                        <m:r>
                          <a:rPr lang="en-US" altLang="zh-CN">
                            <a:solidFill>
                              <a:srgbClr val="000000"/>
                            </a:solidFill>
                            <a:latin typeface="Cambria Math" panose="02040503050406030204" pitchFamily="18" charset="0"/>
                            <a:sym typeface="Arial" panose="020B0604020202020204" pitchFamily="34" charset="0"/>
                          </a:rPr>
                          <m:t>𝑛</m:t>
                        </m:r>
                        <m:r>
                          <a:rPr lang="en-US" altLang="zh-CN">
                            <a:solidFill>
                              <a:srgbClr val="000000"/>
                            </a:solidFill>
                            <a:latin typeface="Cambria Math" panose="02040503050406030204" pitchFamily="18" charset="0"/>
                            <a:sym typeface="Arial" panose="020B0604020202020204" pitchFamily="34" charset="0"/>
                          </a:rPr>
                          <m:t>+1</m:t>
                        </m:r>
                      </m:num>
                      <m:den>
                        <m:r>
                          <a:rPr lang="en-US" altLang="zh-CN">
                            <a:solidFill>
                              <a:srgbClr val="000000"/>
                            </a:solidFill>
                            <a:latin typeface="Cambria Math" panose="02040503050406030204" pitchFamily="18" charset="0"/>
                            <a:sym typeface="Arial" panose="020B0604020202020204" pitchFamily="34" charset="0"/>
                          </a:rPr>
                          <m:t>2</m:t>
                        </m:r>
                      </m:den>
                    </m:f>
                  </m:oMath>
                </a14:m>
                <a:r>
                  <a:rPr lang="en-US" altLang="zh-CN" dirty="0">
                    <a:solidFill>
                      <a:srgbClr val="000000"/>
                    </a:solidFill>
                    <a:sym typeface="Arial" panose="020B0604020202020204" pitchFamily="34" charset="0"/>
                  </a:rPr>
                  <a:t>)</a:t>
                </a:r>
                <a:r>
                  <a:rPr lang="zh-CN" altLang="en-US" dirty="0">
                    <a:solidFill>
                      <a:srgbClr val="000000"/>
                    </a:solidFill>
                    <a:sym typeface="Arial" panose="020B0604020202020204" pitchFamily="34" charset="0"/>
                  </a:rPr>
                  <a:t>与</a:t>
                </a:r>
                <a:r>
                  <a:rPr lang="en-US" altLang="zh-CN" dirty="0">
                    <a:solidFill>
                      <a:srgbClr val="000000"/>
                    </a:solidFill>
                    <a:sym typeface="Arial" panose="020B0604020202020204" pitchFamily="34" charset="0"/>
                  </a:rPr>
                  <a:t>O(n)</a:t>
                </a:r>
                <a:r>
                  <a:rPr lang="zh-CN" altLang="en-US" dirty="0">
                    <a:solidFill>
                      <a:srgbClr val="000000"/>
                    </a:solidFill>
                    <a:sym typeface="Arial" panose="020B0604020202020204" pitchFamily="34" charset="0"/>
                  </a:rPr>
                  <a:t>在同一个</a:t>
                </a:r>
                <a:r>
                  <a:rPr lang="zh-CN" altLang="en-US" dirty="0" smtClean="0">
                    <a:solidFill>
                      <a:srgbClr val="000000"/>
                    </a:solidFill>
                    <a:sym typeface="Arial" panose="020B0604020202020204" pitchFamily="34" charset="0"/>
                  </a:rPr>
                  <a:t>数量级，简记为</a:t>
                </a:r>
                <a:r>
                  <a:rPr lang="en-US" altLang="zh-CN" dirty="0" smtClean="0">
                    <a:solidFill>
                      <a:srgbClr val="000000"/>
                    </a:solidFill>
                    <a:sym typeface="Arial" panose="020B0604020202020204" pitchFamily="34" charset="0"/>
                  </a:rPr>
                  <a:t>O(n)</a:t>
                </a:r>
                <a:r>
                  <a:rPr lang="zh-CN" altLang="en-US" dirty="0" smtClean="0">
                    <a:solidFill>
                      <a:srgbClr val="000000"/>
                    </a:solidFill>
                    <a:sym typeface="Arial" panose="020B0604020202020204" pitchFamily="34" charset="0"/>
                  </a:rPr>
                  <a:t>；</a:t>
                </a:r>
                <a:endParaRPr lang="en-US" altLang="zh-CN" dirty="0" smtClean="0">
                  <a:solidFill>
                    <a:srgbClr val="000000"/>
                  </a:solidFill>
                  <a:sym typeface="Arial" panose="020B0604020202020204" pitchFamily="34" charset="0"/>
                </a:endParaRPr>
              </a:p>
              <a:p>
                <a:pPr marL="1082675" lvl="1">
                  <a:lnSpc>
                    <a:spcPct val="100000"/>
                  </a:lnSpc>
                  <a:spcBef>
                    <a:spcPts val="600"/>
                  </a:spcBef>
                </a:pPr>
                <a:r>
                  <a:rPr lang="en-US" altLang="zh-CN" dirty="0" smtClean="0">
                    <a:sym typeface="Arial" panose="020B0604020202020204" pitchFamily="34" charset="0"/>
                  </a:rPr>
                  <a:t>O(100n)</a:t>
                </a:r>
                <a:r>
                  <a:rPr lang="zh-CN" altLang="en-US" dirty="0">
                    <a:sym typeface="Arial" panose="020B0604020202020204" pitchFamily="34" charset="0"/>
                  </a:rPr>
                  <a:t>与</a:t>
                </a:r>
                <a:r>
                  <a:rPr lang="en-US" altLang="zh-CN" dirty="0">
                    <a:sym typeface="Arial" panose="020B0604020202020204" pitchFamily="34" charset="0"/>
                  </a:rPr>
                  <a:t>O(n</a:t>
                </a:r>
                <a:r>
                  <a:rPr lang="en-US" altLang="zh-CN" dirty="0" smtClean="0">
                    <a:sym typeface="Arial" panose="020B0604020202020204" pitchFamily="34" charset="0"/>
                  </a:rPr>
                  <a:t>)</a:t>
                </a:r>
                <a:r>
                  <a:rPr lang="zh-CN" altLang="en-US" dirty="0" smtClean="0">
                    <a:sym typeface="Arial" panose="020B0604020202020204" pitchFamily="34" charset="0"/>
                  </a:rPr>
                  <a:t>也在</a:t>
                </a:r>
                <a:r>
                  <a:rPr lang="zh-CN" altLang="en-US" dirty="0">
                    <a:sym typeface="Arial" panose="020B0604020202020204" pitchFamily="34" charset="0"/>
                  </a:rPr>
                  <a:t>同一个数量级</a:t>
                </a:r>
                <a:r>
                  <a:rPr lang="zh-CN" altLang="en-US" dirty="0" smtClean="0">
                    <a:sym typeface="Arial" panose="020B0604020202020204" pitchFamily="34" charset="0"/>
                  </a:rPr>
                  <a:t>，同样简记</a:t>
                </a:r>
                <a:r>
                  <a:rPr lang="zh-CN" altLang="en-US" dirty="0">
                    <a:sym typeface="Arial" panose="020B0604020202020204" pitchFamily="34" charset="0"/>
                  </a:rPr>
                  <a:t>为</a:t>
                </a:r>
                <a:r>
                  <a:rPr lang="en-US" altLang="zh-CN" dirty="0">
                    <a:sym typeface="Arial" panose="020B0604020202020204" pitchFamily="34" charset="0"/>
                  </a:rPr>
                  <a:t>O(n)</a:t>
                </a:r>
                <a:r>
                  <a:rPr lang="zh-CN" altLang="en-US" dirty="0" smtClean="0">
                    <a:sym typeface="Arial" panose="020B0604020202020204" pitchFamily="34" charset="0"/>
                  </a:rPr>
                  <a:t>；</a:t>
                </a:r>
                <a:endParaRPr lang="en-US" altLang="zh-CN" dirty="0" smtClean="0">
                  <a:sym typeface="Arial" panose="020B0604020202020204" pitchFamily="34" charset="0"/>
                </a:endParaRPr>
              </a:p>
              <a:p>
                <a:pPr marL="1082675" lvl="1">
                  <a:lnSpc>
                    <a:spcPct val="100000"/>
                  </a:lnSpc>
                  <a:spcBef>
                    <a:spcPts val="600"/>
                  </a:spcBef>
                </a:pPr>
                <a:r>
                  <a:rPr lang="zh-CN" altLang="en-US" dirty="0" smtClean="0">
                    <a:sym typeface="Arial" panose="020B0604020202020204" pitchFamily="34" charset="0"/>
                  </a:rPr>
                  <a:t>对于任何常数</a:t>
                </a:r>
                <a:r>
                  <a:rPr lang="en-US" altLang="zh-CN" dirty="0" smtClean="0">
                    <a:sym typeface="Arial" panose="020B0604020202020204" pitchFamily="34" charset="0"/>
                  </a:rPr>
                  <a:t>C</a:t>
                </a:r>
                <a:r>
                  <a:rPr lang="zh-CN" altLang="en-US" dirty="0" smtClean="0">
                    <a:sym typeface="Arial" panose="020B0604020202020204" pitchFamily="34" charset="0"/>
                  </a:rPr>
                  <a:t>，</a:t>
                </a:r>
                <a:r>
                  <a:rPr lang="en-US" altLang="zh-CN" dirty="0" smtClean="0">
                    <a:sym typeface="Arial" panose="020B0604020202020204" pitchFamily="34" charset="0"/>
                  </a:rPr>
                  <a:t>O(Cn)</a:t>
                </a:r>
                <a:r>
                  <a:rPr lang="en-US" altLang="zh-CN" dirty="0" smtClean="0">
                    <a:sym typeface="Wingdings" panose="05000000000000000000" pitchFamily="2" charset="2"/>
                  </a:rPr>
                  <a:t>O(n)</a:t>
                </a:r>
                <a:endParaRPr lang="en-US" altLang="zh-CN" dirty="0">
                  <a:sym typeface="Arial" panose="020B0604020202020204" pitchFamily="34" charset="0"/>
                </a:endParaRPr>
              </a:p>
              <a:p>
                <a:pPr marL="1082675" lvl="1">
                  <a:lnSpc>
                    <a:spcPct val="100000"/>
                  </a:lnSpc>
                  <a:spcBef>
                    <a:spcPts val="600"/>
                  </a:spcBef>
                </a:pPr>
                <a:endParaRPr lang="en-US" altLang="zh-CN" dirty="0">
                  <a:solidFill>
                    <a:srgbClr val="000000"/>
                  </a:solidFill>
                  <a:sym typeface="Arial" panose="020B0604020202020204" pitchFamily="34" charset="0"/>
                </a:endParaRPr>
              </a:p>
              <a:p>
                <a:pPr marL="454025" indent="-342900">
                  <a:lnSpc>
                    <a:spcPct val="100000"/>
                  </a:lnSpc>
                  <a:spcBef>
                    <a:spcPts val="600"/>
                  </a:spcBef>
                  <a:buFont typeface="Wingdings" panose="05000000000000000000" pitchFamily="2" charset="2"/>
                  <a:buChar char="l"/>
                </a:pPr>
                <a:endParaRPr lang="en-US" altLang="zh-CN" dirty="0">
                  <a:solidFill>
                    <a:srgbClr val="FF0000"/>
                  </a:solidFill>
                </a:endParaRPr>
              </a:p>
              <a:p>
                <a:pPr marL="454025" indent="-342900">
                  <a:spcBef>
                    <a:spcPts val="0"/>
                  </a:spcBef>
                  <a:buFont typeface="Wingdings" panose="05000000000000000000" pitchFamily="2" charset="2"/>
                  <a:buChar char="l"/>
                </a:pP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9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608735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自学与课后练习</a:t>
            </a:r>
            <a:r>
              <a:rPr lang="zh-CN" altLang="en-US" dirty="0" smtClean="0"/>
              <a:t>：线性</a:t>
            </a:r>
            <a:r>
              <a:rPr lang="zh-CN" altLang="en-US" dirty="0"/>
              <a:t>查找算法的改进</a:t>
            </a:r>
          </a:p>
        </p:txBody>
      </p:sp>
      <p:sp>
        <p:nvSpPr>
          <p:cNvPr id="3" name="内容占位符 2"/>
          <p:cNvSpPr>
            <a:spLocks noGrp="1"/>
          </p:cNvSpPr>
          <p:nvPr>
            <p:ph idx="1"/>
          </p:nvPr>
        </p:nvSpPr>
        <p:spPr/>
        <p:txBody>
          <a:bodyPr/>
          <a:lstStyle/>
          <a:p>
            <a:pPr marL="0" lvl="1">
              <a:lnSpc>
                <a:spcPct val="100000"/>
              </a:lnSpc>
              <a:spcBef>
                <a:spcPts val="600"/>
              </a:spcBef>
              <a:buNone/>
            </a:pPr>
            <a:r>
              <a:rPr lang="en-US" altLang="zh-CN" sz="1800" dirty="0" err="1">
                <a:solidFill>
                  <a:srgbClr val="080808"/>
                </a:solidFill>
                <a:latin typeface="Times New Roman" panose="02020603050405020304" pitchFamily="18" charset="0"/>
                <a:cs typeface="Times New Roman" panose="02020603050405020304" pitchFamily="18" charset="0"/>
              </a:rPr>
              <a:t>int</a:t>
            </a:r>
            <a:r>
              <a:rPr lang="en-US" altLang="zh-CN" sz="1800" dirty="0">
                <a:solidFill>
                  <a:srgbClr val="080808"/>
                </a:solidFill>
                <a:latin typeface="Times New Roman" panose="02020603050405020304" pitchFamily="18" charset="0"/>
                <a:cs typeface="Times New Roman" panose="02020603050405020304" pitchFamily="18" charset="0"/>
              </a:rPr>
              <a:t> </a:t>
            </a:r>
            <a:r>
              <a:rPr lang="en-US" altLang="zh-CN" sz="1800" dirty="0" err="1">
                <a:solidFill>
                  <a:srgbClr val="080808"/>
                </a:solidFill>
                <a:latin typeface="Times New Roman" panose="02020603050405020304" pitchFamily="18" charset="0"/>
                <a:cs typeface="Times New Roman" panose="02020603050405020304" pitchFamily="18" charset="0"/>
              </a:rPr>
              <a:t>LinearSearch</a:t>
            </a:r>
            <a:r>
              <a:rPr lang="en-US" altLang="zh-CN" sz="1800" dirty="0">
                <a:solidFill>
                  <a:srgbClr val="080808"/>
                </a:solidFill>
                <a:latin typeface="Times New Roman" panose="02020603050405020304" pitchFamily="18" charset="0"/>
                <a:cs typeface="Times New Roman" panose="02020603050405020304" pitchFamily="18" charset="0"/>
              </a:rPr>
              <a:t>(</a:t>
            </a:r>
            <a:r>
              <a:rPr lang="en-US" altLang="zh-CN" sz="1800" dirty="0" err="1">
                <a:solidFill>
                  <a:srgbClr val="080808"/>
                </a:solidFill>
                <a:latin typeface="Times New Roman" panose="02020603050405020304" pitchFamily="18" charset="0"/>
                <a:cs typeface="Times New Roman" panose="02020603050405020304" pitchFamily="18" charset="0"/>
              </a:rPr>
              <a:t>int</a:t>
            </a:r>
            <a:r>
              <a:rPr lang="en-US" altLang="zh-CN" sz="1800" dirty="0">
                <a:solidFill>
                  <a:srgbClr val="080808"/>
                </a:solidFill>
                <a:latin typeface="Times New Roman" panose="02020603050405020304" pitchFamily="18" charset="0"/>
                <a:cs typeface="Times New Roman" panose="02020603050405020304" pitchFamily="18" charset="0"/>
              </a:rPr>
              <a:t> data[],</a:t>
            </a:r>
            <a:r>
              <a:rPr lang="en-US" altLang="zh-CN" sz="1800" dirty="0" err="1">
                <a:solidFill>
                  <a:srgbClr val="080808"/>
                </a:solidFill>
                <a:latin typeface="Times New Roman" panose="02020603050405020304" pitchFamily="18" charset="0"/>
                <a:cs typeface="Times New Roman" panose="02020603050405020304" pitchFamily="18" charset="0"/>
              </a:rPr>
              <a:t>int</a:t>
            </a:r>
            <a:r>
              <a:rPr lang="en-US" altLang="zh-CN" sz="1800" dirty="0">
                <a:solidFill>
                  <a:srgbClr val="080808"/>
                </a:solidFill>
                <a:latin typeface="Times New Roman" panose="02020603050405020304" pitchFamily="18" charset="0"/>
                <a:cs typeface="Times New Roman" panose="02020603050405020304" pitchFamily="18" charset="0"/>
              </a:rPr>
              <a:t> </a:t>
            </a:r>
            <a:r>
              <a:rPr lang="en-US" altLang="zh-CN" sz="1800" dirty="0" err="1">
                <a:solidFill>
                  <a:srgbClr val="080808"/>
                </a:solidFill>
                <a:latin typeface="Times New Roman" panose="02020603050405020304" pitchFamily="18" charset="0"/>
                <a:cs typeface="Times New Roman" panose="02020603050405020304" pitchFamily="18" charset="0"/>
              </a:rPr>
              <a:t>key,int</a:t>
            </a:r>
            <a:r>
              <a:rPr lang="en-US" altLang="zh-CN" sz="1800" dirty="0">
                <a:solidFill>
                  <a:srgbClr val="080808"/>
                </a:solidFill>
                <a:latin typeface="Times New Roman" panose="02020603050405020304" pitchFamily="18" charset="0"/>
                <a:cs typeface="Times New Roman" panose="02020603050405020304" pitchFamily="18" charset="0"/>
              </a:rPr>
              <a:t> n)</a:t>
            </a:r>
          </a:p>
          <a:p>
            <a:pPr marL="0" lvl="1">
              <a:lnSpc>
                <a:spcPct val="100000"/>
              </a:lnSpc>
              <a:spcBef>
                <a:spcPts val="600"/>
              </a:spcBef>
              <a:buNone/>
            </a:pPr>
            <a:r>
              <a:rPr lang="en-US" altLang="zh-CN" sz="1800" dirty="0"/>
              <a:t>{</a:t>
            </a:r>
          </a:p>
          <a:p>
            <a:pPr marL="0" lvl="1" indent="0">
              <a:lnSpc>
                <a:spcPct val="100000"/>
              </a:lnSpc>
              <a:spcBef>
                <a:spcPts val="600"/>
              </a:spcBef>
              <a:buNone/>
            </a:pPr>
            <a:r>
              <a:rPr lang="en-US" altLang="zh-CN" sz="1800" dirty="0"/>
              <a:t>        </a:t>
            </a:r>
            <a:r>
              <a:rPr lang="en-US" altLang="zh-CN" sz="1800" dirty="0" err="1"/>
              <a:t>i</a:t>
            </a:r>
            <a:r>
              <a:rPr lang="en-US" altLang="zh-CN" sz="1800" dirty="0"/>
              <a:t> = 0;</a:t>
            </a:r>
          </a:p>
          <a:p>
            <a:pPr marL="0" lvl="1" indent="0">
              <a:lnSpc>
                <a:spcPct val="100000"/>
              </a:lnSpc>
              <a:spcBef>
                <a:spcPts val="600"/>
              </a:spcBef>
              <a:buNone/>
            </a:pPr>
            <a:r>
              <a:rPr lang="en-US" altLang="zh-CN" sz="1800" dirty="0">
                <a:solidFill>
                  <a:srgbClr val="C00000"/>
                </a:solidFill>
              </a:rPr>
              <a:t>        data[n] = key;   //</a:t>
            </a:r>
            <a:r>
              <a:rPr lang="zh-CN" altLang="en-US" sz="1800" dirty="0">
                <a:solidFill>
                  <a:srgbClr val="C00000"/>
                </a:solidFill>
              </a:rPr>
              <a:t>标记循环结束条件</a:t>
            </a:r>
            <a:endParaRPr lang="en-US" altLang="zh-CN" sz="1800" dirty="0">
              <a:solidFill>
                <a:srgbClr val="C00000"/>
              </a:solidFill>
            </a:endParaRPr>
          </a:p>
          <a:p>
            <a:pPr marL="0" lvl="1" indent="0">
              <a:lnSpc>
                <a:spcPct val="100000"/>
              </a:lnSpc>
              <a:spcBef>
                <a:spcPts val="600"/>
              </a:spcBef>
              <a:buNone/>
            </a:pPr>
            <a:r>
              <a:rPr lang="en-US" altLang="zh-CN" sz="1800" dirty="0"/>
              <a:t>        while (data[</a:t>
            </a:r>
            <a:r>
              <a:rPr lang="en-US" altLang="zh-CN" sz="1800" dirty="0" err="1"/>
              <a:t>i</a:t>
            </a:r>
            <a:r>
              <a:rPr lang="en-US" altLang="zh-CN" sz="1800" dirty="0"/>
              <a:t>] != key)    </a:t>
            </a:r>
          </a:p>
          <a:p>
            <a:pPr marL="0" lvl="1" indent="0">
              <a:lnSpc>
                <a:spcPct val="100000"/>
              </a:lnSpc>
              <a:spcBef>
                <a:spcPts val="600"/>
              </a:spcBef>
              <a:buNone/>
            </a:pPr>
            <a:r>
              <a:rPr lang="en-US" altLang="zh-CN" sz="1800" dirty="0"/>
              <a:t>             </a:t>
            </a:r>
            <a:r>
              <a:rPr lang="en-US" altLang="zh-CN" sz="1800" dirty="0" err="1"/>
              <a:t>i</a:t>
            </a:r>
            <a:r>
              <a:rPr lang="en-US" altLang="zh-CN" sz="1800" dirty="0"/>
              <a:t>++; </a:t>
            </a:r>
          </a:p>
          <a:p>
            <a:pPr marL="0" lvl="1" indent="0">
              <a:lnSpc>
                <a:spcPct val="100000"/>
              </a:lnSpc>
              <a:spcBef>
                <a:spcPts val="600"/>
              </a:spcBef>
              <a:buNone/>
            </a:pPr>
            <a:r>
              <a:rPr lang="en-US" altLang="zh-CN" sz="1800" dirty="0">
                <a:solidFill>
                  <a:srgbClr val="C00000"/>
                </a:solidFill>
              </a:rPr>
              <a:t>       if (</a:t>
            </a:r>
            <a:r>
              <a:rPr lang="en-US" altLang="zh-CN" sz="1800" dirty="0" err="1">
                <a:solidFill>
                  <a:srgbClr val="C00000"/>
                </a:solidFill>
              </a:rPr>
              <a:t>i</a:t>
            </a:r>
            <a:r>
              <a:rPr lang="en-US" altLang="zh-CN" sz="1800" dirty="0">
                <a:solidFill>
                  <a:srgbClr val="C00000"/>
                </a:solidFill>
              </a:rPr>
              <a:t> == n) return -1;    //</a:t>
            </a:r>
            <a:r>
              <a:rPr lang="zh-CN" altLang="en-US" sz="1800" dirty="0">
                <a:solidFill>
                  <a:srgbClr val="C00000"/>
                </a:solidFill>
              </a:rPr>
              <a:t>比较</a:t>
            </a:r>
            <a:r>
              <a:rPr lang="en-US" altLang="zh-CN" sz="1800" dirty="0">
                <a:solidFill>
                  <a:srgbClr val="C00000"/>
                </a:solidFill>
              </a:rPr>
              <a:t>1</a:t>
            </a:r>
            <a:r>
              <a:rPr lang="zh-CN" altLang="en-US" sz="1800" dirty="0">
                <a:solidFill>
                  <a:srgbClr val="C00000"/>
                </a:solidFill>
              </a:rPr>
              <a:t>次；</a:t>
            </a:r>
            <a:endParaRPr lang="en-US" altLang="zh-CN" sz="1800" dirty="0">
              <a:solidFill>
                <a:srgbClr val="C00000"/>
              </a:solidFill>
            </a:endParaRPr>
          </a:p>
          <a:p>
            <a:pPr marL="0" lvl="1" indent="0">
              <a:lnSpc>
                <a:spcPct val="100000"/>
              </a:lnSpc>
              <a:spcBef>
                <a:spcPts val="600"/>
              </a:spcBef>
              <a:buNone/>
            </a:pPr>
            <a:r>
              <a:rPr lang="en-US" altLang="zh-CN" sz="1800" dirty="0"/>
              <a:t>       return </a:t>
            </a:r>
            <a:r>
              <a:rPr lang="en-US" altLang="zh-CN" sz="1800" dirty="0" err="1"/>
              <a:t>i</a:t>
            </a:r>
            <a:r>
              <a:rPr lang="en-US" altLang="zh-CN" sz="1800" dirty="0"/>
              <a:t>;</a:t>
            </a:r>
          </a:p>
          <a:p>
            <a:pPr marL="0" lvl="1" indent="0">
              <a:lnSpc>
                <a:spcPct val="100000"/>
              </a:lnSpc>
              <a:spcBef>
                <a:spcPts val="600"/>
              </a:spcBef>
              <a:buNone/>
            </a:pPr>
            <a:r>
              <a:rPr lang="en-US" altLang="zh-CN" sz="1800" dirty="0"/>
              <a:t> }</a:t>
            </a:r>
            <a:endParaRPr lang="zh-CN" altLang="en-US" sz="1800" dirty="0"/>
          </a:p>
          <a:p>
            <a:pPr marL="342900" indent="-342900">
              <a:buFont typeface="Wingdings" panose="05000000000000000000" pitchFamily="2" charset="2"/>
              <a:buChar char="l"/>
            </a:pPr>
            <a:r>
              <a:rPr lang="zh-CN" altLang="en-US" sz="2000" dirty="0"/>
              <a:t>减少一次比较次数；</a:t>
            </a:r>
            <a:endParaRPr lang="en-US" altLang="zh-CN" sz="2000" dirty="0"/>
          </a:p>
          <a:p>
            <a:pPr lvl="1"/>
            <a:r>
              <a:rPr lang="zh-CN" altLang="en-US" sz="1800" dirty="0">
                <a:solidFill>
                  <a:srgbClr val="C00000"/>
                </a:solidFill>
              </a:rPr>
              <a:t>上页的算法中</a:t>
            </a:r>
            <a:r>
              <a:rPr lang="zh-CN" altLang="en-US" sz="1800" dirty="0"/>
              <a:t>，一个是</a:t>
            </a:r>
            <a:r>
              <a:rPr lang="en-US" altLang="zh-CN" sz="1800" dirty="0"/>
              <a:t>for</a:t>
            </a:r>
            <a:r>
              <a:rPr lang="zh-CN" altLang="en-US" sz="1800" dirty="0"/>
              <a:t>循环的结束条件</a:t>
            </a:r>
            <a:r>
              <a:rPr lang="en-US" altLang="zh-CN" sz="1800" dirty="0"/>
              <a:t>for </a:t>
            </a:r>
            <a:r>
              <a:rPr lang="en-US" altLang="zh-CN" sz="1800" dirty="0" err="1"/>
              <a:t>i</a:t>
            </a:r>
            <a:r>
              <a:rPr lang="en-US" altLang="zh-CN" sz="1800" dirty="0"/>
              <a:t>=0 to n - 1 </a:t>
            </a:r>
            <a:r>
              <a:rPr lang="zh-CN" altLang="en-US" sz="1800" dirty="0"/>
              <a:t>，还有一个是关键字的比较</a:t>
            </a:r>
            <a:r>
              <a:rPr lang="en-US" altLang="zh-CN" sz="1800" dirty="0"/>
              <a:t>data[</a:t>
            </a:r>
            <a:r>
              <a:rPr lang="en-US" altLang="zh-CN" sz="1800" dirty="0" err="1"/>
              <a:t>i</a:t>
            </a:r>
            <a:r>
              <a:rPr lang="en-US" altLang="zh-CN" sz="1800" dirty="0"/>
              <a:t>] == key</a:t>
            </a:r>
            <a:r>
              <a:rPr lang="zh-CN" altLang="en-US" sz="1800" dirty="0"/>
              <a:t>；</a:t>
            </a:r>
            <a:r>
              <a:rPr lang="zh-CN" altLang="en-US" sz="1800" dirty="0">
                <a:solidFill>
                  <a:srgbClr val="0000CC"/>
                </a:solidFill>
              </a:rPr>
              <a:t>都需比较</a:t>
            </a:r>
            <a:r>
              <a:rPr lang="en-US" altLang="zh-CN" sz="1800" dirty="0">
                <a:solidFill>
                  <a:srgbClr val="0000CC"/>
                </a:solidFill>
              </a:rPr>
              <a:t>n</a:t>
            </a:r>
            <a:r>
              <a:rPr lang="zh-CN" altLang="en-US" sz="1800" dirty="0">
                <a:solidFill>
                  <a:srgbClr val="0000CC"/>
                </a:solidFill>
              </a:rPr>
              <a:t>次，共需</a:t>
            </a:r>
            <a:r>
              <a:rPr lang="en-US" altLang="zh-CN" sz="1800" dirty="0">
                <a:solidFill>
                  <a:srgbClr val="0000CC"/>
                </a:solidFill>
              </a:rPr>
              <a:t>2n</a:t>
            </a:r>
            <a:r>
              <a:rPr lang="zh-CN" altLang="en-US" sz="1800" dirty="0">
                <a:solidFill>
                  <a:srgbClr val="0000CC"/>
                </a:solidFill>
              </a:rPr>
              <a:t>次比较运算</a:t>
            </a:r>
            <a:r>
              <a:rPr lang="zh-CN" altLang="en-US" sz="1800" dirty="0"/>
              <a:t>；</a:t>
            </a:r>
            <a:endParaRPr lang="en-US" altLang="zh-CN" sz="1800" dirty="0"/>
          </a:p>
          <a:p>
            <a:pPr lvl="1"/>
            <a:r>
              <a:rPr lang="zh-CN" altLang="en-US" sz="1800" dirty="0">
                <a:solidFill>
                  <a:srgbClr val="C00000"/>
                </a:solidFill>
              </a:rPr>
              <a:t>该算法中</a:t>
            </a:r>
            <a:r>
              <a:rPr lang="zh-CN" altLang="en-US" sz="1800" dirty="0"/>
              <a:t>，由于标记能确保</a:t>
            </a:r>
            <a:r>
              <a:rPr lang="en-US" altLang="zh-CN" sz="1800" dirty="0"/>
              <a:t>while</a:t>
            </a:r>
            <a:r>
              <a:rPr lang="zh-CN" altLang="en-US" sz="1800" dirty="0"/>
              <a:t>不会死循环，因此可以省去</a:t>
            </a:r>
            <a:r>
              <a:rPr lang="en-US" altLang="zh-CN" sz="1800" dirty="0"/>
              <a:t>while</a:t>
            </a:r>
            <a:r>
              <a:rPr lang="zh-CN" altLang="en-US" sz="1800" dirty="0"/>
              <a:t>循环结束条件；</a:t>
            </a:r>
            <a:r>
              <a:rPr lang="zh-CN" altLang="en-US" sz="1800" dirty="0">
                <a:solidFill>
                  <a:srgbClr val="0000CC"/>
                </a:solidFill>
              </a:rPr>
              <a:t>共需</a:t>
            </a:r>
            <a:r>
              <a:rPr lang="en-US" altLang="zh-CN" sz="1800" dirty="0">
                <a:solidFill>
                  <a:srgbClr val="0000CC"/>
                </a:solidFill>
              </a:rPr>
              <a:t>n+1+1</a:t>
            </a:r>
            <a:r>
              <a:rPr lang="zh-CN" altLang="en-US" sz="1800" dirty="0">
                <a:solidFill>
                  <a:srgbClr val="0000CC"/>
                </a:solidFill>
              </a:rPr>
              <a:t>次比较运算</a:t>
            </a:r>
            <a:r>
              <a:rPr lang="zh-CN" altLang="en-US" sz="1800" dirty="0"/>
              <a:t>；算法复杂度仍为</a:t>
            </a:r>
            <a:r>
              <a:rPr lang="en-US" altLang="zh-CN" sz="1800" dirty="0"/>
              <a:t>O(n)</a:t>
            </a:r>
            <a:r>
              <a:rPr lang="zh-CN" altLang="en-US" sz="1800" dirty="0"/>
              <a:t>；</a:t>
            </a:r>
            <a:endParaRPr lang="en-US" altLang="zh-CN" sz="1800"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21799336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在</a:t>
            </a:r>
            <a:r>
              <a:rPr lang="zh-CN" altLang="en-US" sz="2400" dirty="0">
                <a:solidFill>
                  <a:srgbClr val="7030A0"/>
                </a:solidFill>
              </a:rPr>
              <a:t>有序数据</a:t>
            </a:r>
            <a:r>
              <a:rPr lang="zh-CN" altLang="en-US" sz="2400" dirty="0"/>
              <a:t>中查找</a:t>
            </a:r>
            <a:r>
              <a:rPr lang="en-US" altLang="zh-CN" sz="2400" dirty="0"/>
              <a:t>--</a:t>
            </a:r>
            <a:r>
              <a:rPr lang="zh-CN" altLang="en-US" sz="2400" dirty="0"/>
              <a:t>二分查找，对半查找，折半查找</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更多的情况，是在一组</a:t>
            </a:r>
            <a:r>
              <a:rPr lang="zh-CN" altLang="en-US" u="sng" dirty="0">
                <a:solidFill>
                  <a:srgbClr val="C00000"/>
                </a:solidFill>
              </a:rPr>
              <a:t>有序</a:t>
            </a:r>
            <a:r>
              <a:rPr lang="zh-CN" altLang="en-US" dirty="0"/>
              <a:t>的数据中查找一个数；</a:t>
            </a:r>
            <a:endParaRPr lang="en-US" altLang="zh-CN" dirty="0"/>
          </a:p>
          <a:p>
            <a:pPr marL="342900" indent="-342900">
              <a:buFont typeface="Wingdings" panose="05000000000000000000" pitchFamily="2" charset="2"/>
              <a:buChar char="l"/>
            </a:pPr>
            <a:r>
              <a:rPr lang="zh-CN" altLang="en-US" dirty="0" smtClean="0"/>
              <a:t>如</a:t>
            </a:r>
            <a:r>
              <a:rPr lang="zh-CN" altLang="en-US" dirty="0"/>
              <a:t>在一个</a:t>
            </a:r>
            <a:r>
              <a:rPr lang="zh-CN" altLang="en-US" dirty="0">
                <a:solidFill>
                  <a:srgbClr val="030DCD"/>
                </a:solidFill>
              </a:rPr>
              <a:t>数据库中根据关键字</a:t>
            </a:r>
            <a:r>
              <a:rPr lang="zh-CN" altLang="en-US" dirty="0"/>
              <a:t>进行</a:t>
            </a:r>
            <a:r>
              <a:rPr lang="zh-CN" altLang="en-US" dirty="0" smtClean="0"/>
              <a:t>搜索</a:t>
            </a:r>
            <a:endParaRPr lang="en-US" altLang="zh-CN" dirty="0" smtClean="0"/>
          </a:p>
          <a:p>
            <a:pPr marL="971550" lvl="1"/>
            <a:r>
              <a:rPr lang="zh-CN" altLang="en-US" dirty="0" smtClean="0"/>
              <a:t>一般</a:t>
            </a:r>
            <a:r>
              <a:rPr lang="zh-CN" altLang="en-US" dirty="0"/>
              <a:t>是先根据要查找的关键字</a:t>
            </a:r>
            <a:r>
              <a:rPr lang="zh-CN" altLang="en-US" dirty="0">
                <a:solidFill>
                  <a:srgbClr val="7030A0"/>
                </a:solidFill>
              </a:rPr>
              <a:t>建立</a:t>
            </a:r>
            <a:r>
              <a:rPr lang="zh-CN" altLang="en-US" dirty="0" smtClean="0">
                <a:solidFill>
                  <a:srgbClr val="7030A0"/>
                </a:solidFill>
              </a:rPr>
              <a:t>索引</a:t>
            </a:r>
            <a:r>
              <a:rPr lang="zh-CN" altLang="en-US" dirty="0" smtClean="0"/>
              <a:t>；</a:t>
            </a:r>
            <a:endParaRPr lang="en-US" altLang="zh-CN" dirty="0" smtClean="0"/>
          </a:p>
          <a:p>
            <a:pPr marL="971550" lvl="1"/>
            <a:r>
              <a:rPr lang="zh-CN" altLang="en-US" dirty="0" smtClean="0"/>
              <a:t>即将</a:t>
            </a:r>
            <a:r>
              <a:rPr lang="zh-CN" altLang="en-US" dirty="0"/>
              <a:t>数据库中的记录按关键字</a:t>
            </a:r>
            <a:r>
              <a:rPr lang="zh-CN" altLang="en-US" dirty="0" smtClean="0">
                <a:solidFill>
                  <a:srgbClr val="7030A0"/>
                </a:solidFill>
              </a:rPr>
              <a:t>排序</a:t>
            </a:r>
            <a:r>
              <a:rPr lang="zh-CN" altLang="en-US" dirty="0" smtClean="0"/>
              <a:t>；</a:t>
            </a:r>
            <a:endParaRPr lang="en-US" altLang="zh-CN" dirty="0" smtClean="0"/>
          </a:p>
          <a:p>
            <a:pPr marL="971550" lvl="1"/>
            <a:r>
              <a:rPr lang="zh-CN" altLang="en-US" dirty="0" smtClean="0"/>
              <a:t>然后再根据关键字检索相应的记录；</a:t>
            </a:r>
            <a:endParaRPr lang="en-US" altLang="zh-CN" dirty="0"/>
          </a:p>
          <a:p>
            <a:pPr marL="971550" lvl="1"/>
            <a:r>
              <a:rPr lang="zh-CN" altLang="en-US" dirty="0"/>
              <a:t>提高查找</a:t>
            </a:r>
            <a:r>
              <a:rPr lang="zh-CN" altLang="en-US" dirty="0" smtClean="0"/>
              <a:t>效率，降低查找的时间复杂度；</a:t>
            </a:r>
            <a:endParaRPr lang="en-US" altLang="zh-CN" dirty="0"/>
          </a:p>
          <a:p>
            <a:endParaRPr lang="zh-CN" altLang="en-US" dirty="0"/>
          </a:p>
        </p:txBody>
      </p:sp>
    </p:spTree>
    <p:extLst>
      <p:ext uri="{BB962C8B-B14F-4D97-AF65-F5344CB8AC3E}">
        <p14:creationId xmlns:p14="http://schemas.microsoft.com/office/powerpoint/2010/main" val="11795302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二分查找，对半查找，折半查找</a:t>
            </a:r>
          </a:p>
        </p:txBody>
      </p:sp>
      <p:sp>
        <p:nvSpPr>
          <p:cNvPr id="3" name="内容占位符 2"/>
          <p:cNvSpPr>
            <a:spLocks noGrp="1"/>
          </p:cNvSpPr>
          <p:nvPr>
            <p:ph idx="1"/>
          </p:nvPr>
        </p:nvSpPr>
        <p:spPr>
          <a:xfrm>
            <a:off x="485775" y="1135063"/>
            <a:ext cx="8089900" cy="2321523"/>
          </a:xfrm>
        </p:spPr>
        <p:txBody>
          <a:bodyPr/>
          <a:lstStyle/>
          <a:p>
            <a:pPr marL="342900" indent="-342900">
              <a:buFont typeface="Wingdings" panose="05000000000000000000" pitchFamily="2" charset="2"/>
              <a:buChar char="l"/>
            </a:pPr>
            <a:r>
              <a:rPr lang="zh-CN" altLang="en-US" sz="2000" dirty="0" smtClean="0">
                <a:solidFill>
                  <a:srgbClr val="7030A0"/>
                </a:solidFill>
              </a:rPr>
              <a:t>折半查找</a:t>
            </a:r>
            <a:endParaRPr lang="en-US" altLang="zh-CN" sz="2000" dirty="0" smtClean="0">
              <a:solidFill>
                <a:srgbClr val="7030A0"/>
              </a:solidFill>
            </a:endParaRPr>
          </a:p>
          <a:p>
            <a:pPr marL="971550" lvl="1">
              <a:buFont typeface="Wingdings" panose="05000000000000000000" pitchFamily="2" charset="2"/>
              <a:buChar char="l"/>
            </a:pPr>
            <a:r>
              <a:rPr lang="zh-CN" altLang="en-US" sz="1800" dirty="0" smtClean="0"/>
              <a:t>就是</a:t>
            </a:r>
            <a:r>
              <a:rPr lang="zh-CN" altLang="en-US" sz="1800" dirty="0"/>
              <a:t>不断</a:t>
            </a:r>
            <a:r>
              <a:rPr lang="zh-CN" altLang="en-US" sz="1800" dirty="0">
                <a:solidFill>
                  <a:srgbClr val="0000CC"/>
                </a:solidFill>
              </a:rPr>
              <a:t>将</a:t>
            </a:r>
            <a:r>
              <a:rPr lang="zh-CN" altLang="en-US" sz="1800" dirty="0" smtClean="0">
                <a:solidFill>
                  <a:srgbClr val="0000CC"/>
                </a:solidFill>
              </a:rPr>
              <a:t>数进行</a:t>
            </a:r>
            <a:r>
              <a:rPr lang="zh-CN" altLang="en-US" sz="1800" b="1" dirty="0">
                <a:solidFill>
                  <a:srgbClr val="C00000"/>
                </a:solidFill>
              </a:rPr>
              <a:t>对半</a:t>
            </a:r>
            <a:r>
              <a:rPr lang="zh-CN" altLang="en-US" sz="1800" b="1" dirty="0" smtClean="0">
                <a:solidFill>
                  <a:srgbClr val="C00000"/>
                </a:solidFill>
              </a:rPr>
              <a:t>分割</a:t>
            </a:r>
            <a:endParaRPr lang="en-US" altLang="zh-CN" sz="1800" b="1" dirty="0" smtClean="0">
              <a:solidFill>
                <a:srgbClr val="C00000"/>
              </a:solidFill>
            </a:endParaRPr>
          </a:p>
          <a:p>
            <a:pPr marL="971550" lvl="1">
              <a:buFont typeface="Wingdings" panose="05000000000000000000" pitchFamily="2" charset="2"/>
              <a:buChar char="l"/>
            </a:pPr>
            <a:r>
              <a:rPr lang="zh-CN" altLang="en-US" sz="1800" dirty="0" smtClean="0"/>
              <a:t>每次</a:t>
            </a:r>
            <a:r>
              <a:rPr lang="zh-CN" altLang="en-US" sz="1800" dirty="0"/>
              <a:t>拿中间元素和要查找的数据进行比较，以便确定后续在哪部分查找；</a:t>
            </a:r>
            <a:endParaRPr lang="en-US" altLang="zh-CN" sz="1800" dirty="0"/>
          </a:p>
          <a:p>
            <a:pPr marL="342900" indent="-342900">
              <a:buFont typeface="Wingdings" panose="05000000000000000000" pitchFamily="2" charset="2"/>
              <a:buChar char="l"/>
            </a:pPr>
            <a:r>
              <a:rPr lang="zh-CN" altLang="en-US" sz="2000" dirty="0" smtClean="0"/>
              <a:t>假设有</a:t>
            </a:r>
            <a:r>
              <a:rPr lang="en-US" altLang="zh-CN" sz="2000" dirty="0" smtClean="0"/>
              <a:t>21</a:t>
            </a:r>
            <a:r>
              <a:rPr lang="zh-CN" altLang="en-US" sz="2000" dirty="0" smtClean="0"/>
              <a:t>个数据，已经按照升序排列，其</a:t>
            </a:r>
            <a:r>
              <a:rPr lang="zh-CN" altLang="en-US" sz="2000" dirty="0" smtClean="0">
                <a:solidFill>
                  <a:srgbClr val="0000CC"/>
                </a:solidFill>
              </a:rPr>
              <a:t>中间元素</a:t>
            </a:r>
            <a:r>
              <a:rPr lang="en-US" altLang="zh-CN" sz="2000" dirty="0" smtClean="0">
                <a:solidFill>
                  <a:srgbClr val="0000CC"/>
                </a:solidFill>
              </a:rPr>
              <a:t>a[10]=310</a:t>
            </a:r>
          </a:p>
          <a:p>
            <a:pPr marL="342900" indent="-342900">
              <a:buFont typeface="Wingdings" panose="05000000000000000000" pitchFamily="2" charset="2"/>
              <a:buChar char="l"/>
            </a:pPr>
            <a:r>
              <a:rPr lang="zh-CN" altLang="en-US" sz="2000" dirty="0" smtClean="0"/>
              <a:t>设要查找的元素是</a:t>
            </a:r>
            <a:r>
              <a:rPr lang="en-US" altLang="zh-CN" sz="2000" dirty="0" smtClean="0">
                <a:solidFill>
                  <a:srgbClr val="7030A0"/>
                </a:solidFill>
              </a:rPr>
              <a:t>key=230</a:t>
            </a:r>
          </a:p>
          <a:p>
            <a:pPr marL="342900" indent="-342900">
              <a:buFont typeface="Wingdings" panose="05000000000000000000" pitchFamily="2" charset="2"/>
              <a:buChar char="l"/>
            </a:pPr>
            <a:r>
              <a:rPr lang="en-US" altLang="zh-CN" sz="2000" dirty="0" smtClean="0">
                <a:solidFill>
                  <a:srgbClr val="0000CC"/>
                </a:solidFill>
              </a:rPr>
              <a:t>a</a:t>
            </a:r>
            <a:endParaRPr lang="zh-CN" altLang="en-US" sz="2000" dirty="0">
              <a:solidFill>
                <a:srgbClr val="0000CC"/>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3332048629"/>
              </p:ext>
            </p:extLst>
          </p:nvPr>
        </p:nvGraphicFramePr>
        <p:xfrm>
          <a:off x="1139952" y="3579019"/>
          <a:ext cx="7717710" cy="735529"/>
        </p:xfrm>
        <a:graphic>
          <a:graphicData uri="http://schemas.openxmlformats.org/drawingml/2006/table">
            <a:tbl>
              <a:tblPr firstRow="1" bandRow="1">
                <a:tableStyleId>{5C22544A-7EE6-4342-B048-85BDC9FD1C3A}</a:tableStyleId>
              </a:tblPr>
              <a:tblGrid>
                <a:gridCol w="296571">
                  <a:extLst>
                    <a:ext uri="{9D8B030D-6E8A-4147-A177-3AD203B41FA5}">
                      <a16:colId xmlns:a16="http://schemas.microsoft.com/office/drawing/2014/main" val="2814389374"/>
                    </a:ext>
                  </a:extLst>
                </a:gridCol>
                <a:gridCol w="296571">
                  <a:extLst>
                    <a:ext uri="{9D8B030D-6E8A-4147-A177-3AD203B41FA5}">
                      <a16:colId xmlns:a16="http://schemas.microsoft.com/office/drawing/2014/main" val="234312013"/>
                    </a:ext>
                  </a:extLst>
                </a:gridCol>
                <a:gridCol w="296571">
                  <a:extLst>
                    <a:ext uri="{9D8B030D-6E8A-4147-A177-3AD203B41FA5}">
                      <a16:colId xmlns:a16="http://schemas.microsoft.com/office/drawing/2014/main" val="3936613648"/>
                    </a:ext>
                  </a:extLst>
                </a:gridCol>
                <a:gridCol w="296571">
                  <a:extLst>
                    <a:ext uri="{9D8B030D-6E8A-4147-A177-3AD203B41FA5}">
                      <a16:colId xmlns:a16="http://schemas.microsoft.com/office/drawing/2014/main" val="3752006072"/>
                    </a:ext>
                  </a:extLst>
                </a:gridCol>
                <a:gridCol w="296571">
                  <a:extLst>
                    <a:ext uri="{9D8B030D-6E8A-4147-A177-3AD203B41FA5}">
                      <a16:colId xmlns:a16="http://schemas.microsoft.com/office/drawing/2014/main" val="1889648134"/>
                    </a:ext>
                  </a:extLst>
                </a:gridCol>
                <a:gridCol w="296571">
                  <a:extLst>
                    <a:ext uri="{9D8B030D-6E8A-4147-A177-3AD203B41FA5}">
                      <a16:colId xmlns:a16="http://schemas.microsoft.com/office/drawing/2014/main" val="244672158"/>
                    </a:ext>
                  </a:extLst>
                </a:gridCol>
                <a:gridCol w="296571">
                  <a:extLst>
                    <a:ext uri="{9D8B030D-6E8A-4147-A177-3AD203B41FA5}">
                      <a16:colId xmlns:a16="http://schemas.microsoft.com/office/drawing/2014/main" val="1706950799"/>
                    </a:ext>
                  </a:extLst>
                </a:gridCol>
                <a:gridCol w="296571">
                  <a:extLst>
                    <a:ext uri="{9D8B030D-6E8A-4147-A177-3AD203B41FA5}">
                      <a16:colId xmlns:a16="http://schemas.microsoft.com/office/drawing/2014/main" val="2874033326"/>
                    </a:ext>
                  </a:extLst>
                </a:gridCol>
                <a:gridCol w="296571">
                  <a:extLst>
                    <a:ext uri="{9D8B030D-6E8A-4147-A177-3AD203B41FA5}">
                      <a16:colId xmlns:a16="http://schemas.microsoft.com/office/drawing/2014/main" val="2708960173"/>
                    </a:ext>
                  </a:extLst>
                </a:gridCol>
                <a:gridCol w="296571">
                  <a:extLst>
                    <a:ext uri="{9D8B030D-6E8A-4147-A177-3AD203B41FA5}">
                      <a16:colId xmlns:a16="http://schemas.microsoft.com/office/drawing/2014/main" val="1955625846"/>
                    </a:ext>
                  </a:extLst>
                </a:gridCol>
                <a:gridCol w="432000">
                  <a:extLst>
                    <a:ext uri="{9D8B030D-6E8A-4147-A177-3AD203B41FA5}">
                      <a16:colId xmlns:a16="http://schemas.microsoft.com/office/drawing/2014/main" val="831254288"/>
                    </a:ext>
                  </a:extLst>
                </a:gridCol>
                <a:gridCol w="432000">
                  <a:extLst>
                    <a:ext uri="{9D8B030D-6E8A-4147-A177-3AD203B41FA5}">
                      <a16:colId xmlns:a16="http://schemas.microsoft.com/office/drawing/2014/main" val="949750539"/>
                    </a:ext>
                  </a:extLst>
                </a:gridCol>
                <a:gridCol w="432000">
                  <a:extLst>
                    <a:ext uri="{9D8B030D-6E8A-4147-A177-3AD203B41FA5}">
                      <a16:colId xmlns:a16="http://schemas.microsoft.com/office/drawing/2014/main" val="878530700"/>
                    </a:ext>
                  </a:extLst>
                </a:gridCol>
                <a:gridCol w="432000">
                  <a:extLst>
                    <a:ext uri="{9D8B030D-6E8A-4147-A177-3AD203B41FA5}">
                      <a16:colId xmlns:a16="http://schemas.microsoft.com/office/drawing/2014/main" val="1989674893"/>
                    </a:ext>
                  </a:extLst>
                </a:gridCol>
                <a:gridCol w="432000">
                  <a:extLst>
                    <a:ext uri="{9D8B030D-6E8A-4147-A177-3AD203B41FA5}">
                      <a16:colId xmlns:a16="http://schemas.microsoft.com/office/drawing/2014/main" val="3525321165"/>
                    </a:ext>
                  </a:extLst>
                </a:gridCol>
                <a:gridCol w="432000">
                  <a:extLst>
                    <a:ext uri="{9D8B030D-6E8A-4147-A177-3AD203B41FA5}">
                      <a16:colId xmlns:a16="http://schemas.microsoft.com/office/drawing/2014/main" val="1301985184"/>
                    </a:ext>
                  </a:extLst>
                </a:gridCol>
                <a:gridCol w="432000">
                  <a:extLst>
                    <a:ext uri="{9D8B030D-6E8A-4147-A177-3AD203B41FA5}">
                      <a16:colId xmlns:a16="http://schemas.microsoft.com/office/drawing/2014/main" val="2897871825"/>
                    </a:ext>
                  </a:extLst>
                </a:gridCol>
                <a:gridCol w="432000">
                  <a:extLst>
                    <a:ext uri="{9D8B030D-6E8A-4147-A177-3AD203B41FA5}">
                      <a16:colId xmlns:a16="http://schemas.microsoft.com/office/drawing/2014/main" val="3561338181"/>
                    </a:ext>
                  </a:extLst>
                </a:gridCol>
                <a:gridCol w="432000">
                  <a:extLst>
                    <a:ext uri="{9D8B030D-6E8A-4147-A177-3AD203B41FA5}">
                      <a16:colId xmlns:a16="http://schemas.microsoft.com/office/drawing/2014/main" val="3198397191"/>
                    </a:ext>
                  </a:extLst>
                </a:gridCol>
                <a:gridCol w="432000">
                  <a:extLst>
                    <a:ext uri="{9D8B030D-6E8A-4147-A177-3AD203B41FA5}">
                      <a16:colId xmlns:a16="http://schemas.microsoft.com/office/drawing/2014/main" val="1635134074"/>
                    </a:ext>
                  </a:extLst>
                </a:gridCol>
                <a:gridCol w="432000">
                  <a:extLst>
                    <a:ext uri="{9D8B030D-6E8A-4147-A177-3AD203B41FA5}">
                      <a16:colId xmlns:a16="http://schemas.microsoft.com/office/drawing/2014/main" val="2436687470"/>
                    </a:ext>
                  </a:extLst>
                </a:gridCol>
              </a:tblGrid>
              <a:tr h="352901">
                <a:tc>
                  <a:txBody>
                    <a:bodyPr/>
                    <a:lstStyle/>
                    <a:p>
                      <a:pPr algn="ctr"/>
                      <a:r>
                        <a:rPr lang="en-US" altLang="zh-CN" b="0" dirty="0" smtClean="0">
                          <a:solidFill>
                            <a:srgbClr val="000000"/>
                          </a:solidFill>
                        </a:rPr>
                        <a:t>0</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2</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3</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4</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5</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6</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7</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8</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9</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800" b="0" kern="1200" dirty="0" smtClean="0">
                          <a:solidFill>
                            <a:srgbClr val="000000"/>
                          </a:solidFill>
                          <a:latin typeface="+mn-lt"/>
                          <a:ea typeface="+mn-ea"/>
                          <a:cs typeface="+mn-cs"/>
                        </a:rPr>
                        <a:t>10</a:t>
                      </a:r>
                      <a:endParaRPr lang="zh-CN" altLang="en-US" sz="18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800" b="0" kern="1200" dirty="0" smtClean="0">
                          <a:solidFill>
                            <a:srgbClr val="000000"/>
                          </a:solidFill>
                          <a:latin typeface="+mn-lt"/>
                          <a:ea typeface="+mn-ea"/>
                          <a:cs typeface="+mn-cs"/>
                        </a:rPr>
                        <a:t>11</a:t>
                      </a:r>
                      <a:endParaRPr lang="zh-CN" altLang="en-US" sz="18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12</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13</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14</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15</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16</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17</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18</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19</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20</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318818745"/>
                  </a:ext>
                </a:extLst>
              </a:tr>
              <a:tr h="36976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sz="1200" kern="1200" dirty="0">
                        <a:solidFill>
                          <a:srgbClr val="C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en-US" altLang="zh-CN" sz="1200" dirty="0" smtClean="0">
                          <a:solidFill>
                            <a:srgbClr val="C00000"/>
                          </a:solidFill>
                        </a:rPr>
                        <a:t>310</a:t>
                      </a:r>
                      <a:endParaRPr lang="zh-CN" altLang="en-US" sz="1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4119464413"/>
                  </a:ext>
                </a:extLst>
              </a:tr>
            </a:tbl>
          </a:graphicData>
        </a:graphic>
      </p:graphicFrame>
      <p:cxnSp>
        <p:nvCxnSpPr>
          <p:cNvPr id="6" name="直接箭头连接符 5"/>
          <p:cNvCxnSpPr/>
          <p:nvPr/>
        </p:nvCxnSpPr>
        <p:spPr bwMode="auto">
          <a:xfrm flipV="1">
            <a:off x="4325096" y="4305404"/>
            <a:ext cx="0" cy="1545685"/>
          </a:xfrm>
          <a:prstGeom prst="straightConnector1">
            <a:avLst/>
          </a:prstGeom>
          <a:solidFill>
            <a:schemeClr val="accent1"/>
          </a:solidFill>
          <a:ln w="57150" cap="flat" cmpd="sng" algn="ctr">
            <a:solidFill>
              <a:schemeClr val="tx1"/>
            </a:solidFill>
            <a:prstDash val="solid"/>
            <a:round/>
            <a:headEnd type="none" w="med" len="med"/>
            <a:tailEnd type="triangle"/>
          </a:ln>
        </p:spPr>
      </p:cxnSp>
      <p:cxnSp>
        <p:nvCxnSpPr>
          <p:cNvPr id="11" name="直接箭头连接符 10"/>
          <p:cNvCxnSpPr/>
          <p:nvPr/>
        </p:nvCxnSpPr>
        <p:spPr bwMode="auto">
          <a:xfrm flipV="1">
            <a:off x="2478008" y="4284222"/>
            <a:ext cx="0" cy="1405168"/>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2" name="文本框 11"/>
          <p:cNvSpPr txBox="1"/>
          <p:nvPr/>
        </p:nvSpPr>
        <p:spPr>
          <a:xfrm>
            <a:off x="3813048" y="5848399"/>
            <a:ext cx="1088136" cy="338554"/>
          </a:xfrm>
          <a:prstGeom prst="rect">
            <a:avLst/>
          </a:prstGeom>
          <a:noFill/>
        </p:spPr>
        <p:txBody>
          <a:bodyPr wrap="square" rtlCol="0">
            <a:spAutoFit/>
          </a:bodyPr>
          <a:lstStyle/>
          <a:p>
            <a:r>
              <a:rPr lang="en-US" altLang="zh-CN" sz="1600" dirty="0" smtClean="0">
                <a:solidFill>
                  <a:srgbClr val="080808"/>
                </a:solidFill>
                <a:latin typeface="+mn-lt"/>
              </a:rPr>
              <a:t>a[10]&gt;key</a:t>
            </a:r>
            <a:endParaRPr lang="zh-CN" altLang="en-US" sz="1600" dirty="0">
              <a:solidFill>
                <a:srgbClr val="080808"/>
              </a:solidFill>
              <a:latin typeface="+mn-lt"/>
            </a:endParaRPr>
          </a:p>
        </p:txBody>
      </p:sp>
      <p:sp>
        <p:nvSpPr>
          <p:cNvPr id="13" name="文本框 12"/>
          <p:cNvSpPr txBox="1"/>
          <p:nvPr/>
        </p:nvSpPr>
        <p:spPr>
          <a:xfrm>
            <a:off x="1938513" y="5663579"/>
            <a:ext cx="932688" cy="338554"/>
          </a:xfrm>
          <a:prstGeom prst="rect">
            <a:avLst/>
          </a:prstGeom>
          <a:noFill/>
        </p:spPr>
        <p:txBody>
          <a:bodyPr wrap="square" rtlCol="0">
            <a:spAutoFit/>
          </a:bodyPr>
          <a:lstStyle/>
          <a:p>
            <a:r>
              <a:rPr lang="en-US" altLang="zh-CN" sz="1600" dirty="0" smtClean="0">
                <a:solidFill>
                  <a:srgbClr val="080808"/>
                </a:solidFill>
                <a:latin typeface="+mn-lt"/>
              </a:rPr>
              <a:t>a[4]&lt;key</a:t>
            </a:r>
            <a:endParaRPr lang="zh-CN" altLang="en-US" sz="1600" dirty="0">
              <a:solidFill>
                <a:srgbClr val="080808"/>
              </a:solidFill>
              <a:latin typeface="+mn-lt"/>
            </a:endParaRPr>
          </a:p>
        </p:txBody>
      </p:sp>
      <p:cxnSp>
        <p:nvCxnSpPr>
          <p:cNvPr id="14" name="直接箭头连接符 13"/>
          <p:cNvCxnSpPr/>
          <p:nvPr/>
        </p:nvCxnSpPr>
        <p:spPr bwMode="auto">
          <a:xfrm flipV="1">
            <a:off x="3328400" y="4314548"/>
            <a:ext cx="0" cy="1161295"/>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5" name="文本框 14"/>
          <p:cNvSpPr txBox="1"/>
          <p:nvPr/>
        </p:nvSpPr>
        <p:spPr>
          <a:xfrm>
            <a:off x="2871201" y="5520113"/>
            <a:ext cx="996695" cy="338554"/>
          </a:xfrm>
          <a:prstGeom prst="rect">
            <a:avLst/>
          </a:prstGeom>
          <a:noFill/>
        </p:spPr>
        <p:txBody>
          <a:bodyPr wrap="square" rtlCol="0">
            <a:spAutoFit/>
          </a:bodyPr>
          <a:lstStyle/>
          <a:p>
            <a:r>
              <a:rPr lang="en-US" altLang="zh-CN" sz="1600" dirty="0" smtClean="0">
                <a:solidFill>
                  <a:srgbClr val="080808"/>
                </a:solidFill>
                <a:latin typeface="+mn-lt"/>
              </a:rPr>
              <a:t>a[7]=key</a:t>
            </a:r>
            <a:endParaRPr lang="zh-CN" altLang="en-US" sz="1600" dirty="0">
              <a:solidFill>
                <a:srgbClr val="080808"/>
              </a:solidFill>
              <a:latin typeface="+mn-lt"/>
            </a:endParaRPr>
          </a:p>
        </p:txBody>
      </p:sp>
      <p:sp>
        <p:nvSpPr>
          <p:cNvPr id="19" name="文本框 18"/>
          <p:cNvSpPr txBox="1"/>
          <p:nvPr/>
        </p:nvSpPr>
        <p:spPr>
          <a:xfrm>
            <a:off x="5175489" y="4864435"/>
            <a:ext cx="3191272" cy="400110"/>
          </a:xfrm>
          <a:prstGeom prst="rect">
            <a:avLst/>
          </a:prstGeom>
          <a:noFill/>
        </p:spPr>
        <p:txBody>
          <a:bodyPr wrap="square" rtlCol="0">
            <a:spAutoFit/>
          </a:bodyPr>
          <a:lstStyle/>
          <a:p>
            <a:r>
              <a:rPr lang="zh-CN" altLang="en-US" sz="2000" dirty="0" smtClean="0">
                <a:solidFill>
                  <a:srgbClr val="080808"/>
                </a:solidFill>
                <a:latin typeface="+mn-ea"/>
                <a:ea typeface="+mn-ea"/>
              </a:rPr>
              <a:t>找到</a:t>
            </a:r>
            <a:r>
              <a:rPr lang="en-US" altLang="zh-CN" sz="2000" dirty="0" smtClean="0">
                <a:solidFill>
                  <a:srgbClr val="080808"/>
                </a:solidFill>
                <a:latin typeface="+mn-ea"/>
                <a:ea typeface="+mn-ea"/>
              </a:rPr>
              <a:t>key</a:t>
            </a:r>
            <a:r>
              <a:rPr lang="zh-CN" altLang="en-US" sz="2000" dirty="0" smtClean="0">
                <a:solidFill>
                  <a:srgbClr val="080808"/>
                </a:solidFill>
                <a:latin typeface="+mn-ea"/>
                <a:ea typeface="+mn-ea"/>
              </a:rPr>
              <a:t>在数组</a:t>
            </a:r>
            <a:r>
              <a:rPr lang="en-US" altLang="zh-CN" sz="2000" dirty="0" smtClean="0">
                <a:solidFill>
                  <a:srgbClr val="080808"/>
                </a:solidFill>
                <a:latin typeface="+mn-ea"/>
                <a:ea typeface="+mn-ea"/>
              </a:rPr>
              <a:t>a[7]</a:t>
            </a:r>
            <a:r>
              <a:rPr lang="zh-CN" altLang="en-US" sz="2000" dirty="0" smtClean="0">
                <a:solidFill>
                  <a:srgbClr val="080808"/>
                </a:solidFill>
                <a:latin typeface="+mn-ea"/>
                <a:ea typeface="+mn-ea"/>
              </a:rPr>
              <a:t>的位置</a:t>
            </a:r>
            <a:endParaRPr lang="zh-CN" altLang="en-US" sz="2000" dirty="0">
              <a:solidFill>
                <a:srgbClr val="080808"/>
              </a:solidFill>
              <a:latin typeface="+mn-ea"/>
              <a:ea typeface="+mn-ea"/>
            </a:endParaRPr>
          </a:p>
        </p:txBody>
      </p:sp>
    </p:spTree>
    <p:extLst>
      <p:ext uri="{BB962C8B-B14F-4D97-AF65-F5344CB8AC3E}">
        <p14:creationId xmlns:p14="http://schemas.microsoft.com/office/powerpoint/2010/main" val="380770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二分查找，对半查找，折半查找</a:t>
            </a:r>
          </a:p>
        </p:txBody>
      </p:sp>
      <p:sp>
        <p:nvSpPr>
          <p:cNvPr id="3" name="内容占位符 2"/>
          <p:cNvSpPr>
            <a:spLocks noGrp="1"/>
          </p:cNvSpPr>
          <p:nvPr>
            <p:ph idx="1"/>
          </p:nvPr>
        </p:nvSpPr>
        <p:spPr>
          <a:xfrm>
            <a:off x="485775" y="1135063"/>
            <a:ext cx="8089900" cy="2321523"/>
          </a:xfrm>
        </p:spPr>
        <p:txBody>
          <a:bodyPr/>
          <a:lstStyle/>
          <a:p>
            <a:pPr marL="342900" indent="-342900">
              <a:buFont typeface="Wingdings" panose="05000000000000000000" pitchFamily="2" charset="2"/>
              <a:buChar char="l"/>
            </a:pPr>
            <a:r>
              <a:rPr lang="zh-CN" altLang="en-US" sz="2000" dirty="0" smtClean="0">
                <a:solidFill>
                  <a:srgbClr val="7030A0"/>
                </a:solidFill>
              </a:rPr>
              <a:t>折半查找</a:t>
            </a:r>
            <a:endParaRPr lang="en-US" altLang="zh-CN" sz="2000" dirty="0" smtClean="0">
              <a:solidFill>
                <a:srgbClr val="7030A0"/>
              </a:solidFill>
            </a:endParaRPr>
          </a:p>
          <a:p>
            <a:pPr marL="971550" lvl="1">
              <a:buFont typeface="Wingdings" panose="05000000000000000000" pitchFamily="2" charset="2"/>
              <a:buChar char="l"/>
            </a:pPr>
            <a:r>
              <a:rPr lang="zh-CN" altLang="en-US" sz="1800" dirty="0" smtClean="0"/>
              <a:t>就是</a:t>
            </a:r>
            <a:r>
              <a:rPr lang="zh-CN" altLang="en-US" sz="1800" dirty="0"/>
              <a:t>不断</a:t>
            </a:r>
            <a:r>
              <a:rPr lang="zh-CN" altLang="en-US" sz="1800" dirty="0">
                <a:solidFill>
                  <a:srgbClr val="0000CC"/>
                </a:solidFill>
              </a:rPr>
              <a:t>将</a:t>
            </a:r>
            <a:r>
              <a:rPr lang="zh-CN" altLang="en-US" sz="1800" dirty="0" smtClean="0">
                <a:solidFill>
                  <a:srgbClr val="0000CC"/>
                </a:solidFill>
              </a:rPr>
              <a:t>数进行</a:t>
            </a:r>
            <a:r>
              <a:rPr lang="zh-CN" altLang="en-US" sz="1800" b="1" dirty="0">
                <a:solidFill>
                  <a:srgbClr val="C00000"/>
                </a:solidFill>
              </a:rPr>
              <a:t>对半</a:t>
            </a:r>
            <a:r>
              <a:rPr lang="zh-CN" altLang="en-US" sz="1800" b="1" dirty="0" smtClean="0">
                <a:solidFill>
                  <a:srgbClr val="C00000"/>
                </a:solidFill>
              </a:rPr>
              <a:t>分割</a:t>
            </a:r>
            <a:endParaRPr lang="en-US" altLang="zh-CN" sz="1800" b="1" dirty="0" smtClean="0">
              <a:solidFill>
                <a:srgbClr val="C00000"/>
              </a:solidFill>
            </a:endParaRPr>
          </a:p>
          <a:p>
            <a:pPr marL="971550" lvl="1">
              <a:buFont typeface="Wingdings" panose="05000000000000000000" pitchFamily="2" charset="2"/>
              <a:buChar char="l"/>
            </a:pPr>
            <a:r>
              <a:rPr lang="zh-CN" altLang="en-US" sz="1800" dirty="0" smtClean="0"/>
              <a:t>每次</a:t>
            </a:r>
            <a:r>
              <a:rPr lang="zh-CN" altLang="en-US" sz="1800" dirty="0"/>
              <a:t>拿中间元素和要查找的数据进行比较，以便确定后续在哪部分查找；</a:t>
            </a:r>
            <a:endParaRPr lang="en-US" altLang="zh-CN" sz="1800" dirty="0"/>
          </a:p>
          <a:p>
            <a:pPr marL="342900" indent="-342900">
              <a:buFont typeface="Wingdings" panose="05000000000000000000" pitchFamily="2" charset="2"/>
              <a:buChar char="l"/>
            </a:pPr>
            <a:r>
              <a:rPr lang="zh-CN" altLang="en-US" sz="2000" dirty="0" smtClean="0"/>
              <a:t>假设有</a:t>
            </a:r>
            <a:r>
              <a:rPr lang="en-US" altLang="zh-CN" sz="2000" dirty="0" smtClean="0"/>
              <a:t>21</a:t>
            </a:r>
            <a:r>
              <a:rPr lang="zh-CN" altLang="en-US" sz="2000" dirty="0" smtClean="0"/>
              <a:t>个数据，已经按照升序排列，其</a:t>
            </a:r>
            <a:r>
              <a:rPr lang="zh-CN" altLang="en-US" sz="2000" dirty="0" smtClean="0">
                <a:solidFill>
                  <a:srgbClr val="0000CC"/>
                </a:solidFill>
              </a:rPr>
              <a:t>中间元素</a:t>
            </a:r>
            <a:r>
              <a:rPr lang="en-US" altLang="zh-CN" sz="2000" dirty="0" smtClean="0">
                <a:solidFill>
                  <a:srgbClr val="0000CC"/>
                </a:solidFill>
              </a:rPr>
              <a:t>a[10]=310</a:t>
            </a:r>
          </a:p>
          <a:p>
            <a:pPr marL="342900" indent="-342900">
              <a:buFont typeface="Wingdings" panose="05000000000000000000" pitchFamily="2" charset="2"/>
              <a:buChar char="l"/>
            </a:pPr>
            <a:r>
              <a:rPr lang="zh-CN" altLang="en-US" sz="2000" dirty="0" smtClean="0"/>
              <a:t>设要查找的元素是</a:t>
            </a:r>
            <a:r>
              <a:rPr lang="en-US" altLang="zh-CN" sz="2000" dirty="0" smtClean="0">
                <a:solidFill>
                  <a:srgbClr val="7030A0"/>
                </a:solidFill>
              </a:rPr>
              <a:t>key=230</a:t>
            </a:r>
          </a:p>
          <a:p>
            <a:pPr marL="342900" indent="-342900">
              <a:buFont typeface="Wingdings" panose="05000000000000000000" pitchFamily="2" charset="2"/>
              <a:buChar char="l"/>
            </a:pPr>
            <a:r>
              <a:rPr lang="en-US" altLang="zh-CN" sz="2000" dirty="0" smtClean="0">
                <a:solidFill>
                  <a:srgbClr val="0000CC"/>
                </a:solidFill>
              </a:rPr>
              <a:t>a</a:t>
            </a:r>
            <a:endParaRPr lang="zh-CN" altLang="en-US" sz="2000" dirty="0">
              <a:solidFill>
                <a:srgbClr val="0000CC"/>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3332048629"/>
              </p:ext>
            </p:extLst>
          </p:nvPr>
        </p:nvGraphicFramePr>
        <p:xfrm>
          <a:off x="1139952" y="3579019"/>
          <a:ext cx="7717710" cy="735529"/>
        </p:xfrm>
        <a:graphic>
          <a:graphicData uri="http://schemas.openxmlformats.org/drawingml/2006/table">
            <a:tbl>
              <a:tblPr firstRow="1" bandRow="1">
                <a:tableStyleId>{5C22544A-7EE6-4342-B048-85BDC9FD1C3A}</a:tableStyleId>
              </a:tblPr>
              <a:tblGrid>
                <a:gridCol w="296571">
                  <a:extLst>
                    <a:ext uri="{9D8B030D-6E8A-4147-A177-3AD203B41FA5}">
                      <a16:colId xmlns:a16="http://schemas.microsoft.com/office/drawing/2014/main" val="2814389374"/>
                    </a:ext>
                  </a:extLst>
                </a:gridCol>
                <a:gridCol w="296571">
                  <a:extLst>
                    <a:ext uri="{9D8B030D-6E8A-4147-A177-3AD203B41FA5}">
                      <a16:colId xmlns:a16="http://schemas.microsoft.com/office/drawing/2014/main" val="234312013"/>
                    </a:ext>
                  </a:extLst>
                </a:gridCol>
                <a:gridCol w="296571">
                  <a:extLst>
                    <a:ext uri="{9D8B030D-6E8A-4147-A177-3AD203B41FA5}">
                      <a16:colId xmlns:a16="http://schemas.microsoft.com/office/drawing/2014/main" val="3936613648"/>
                    </a:ext>
                  </a:extLst>
                </a:gridCol>
                <a:gridCol w="296571">
                  <a:extLst>
                    <a:ext uri="{9D8B030D-6E8A-4147-A177-3AD203B41FA5}">
                      <a16:colId xmlns:a16="http://schemas.microsoft.com/office/drawing/2014/main" val="3752006072"/>
                    </a:ext>
                  </a:extLst>
                </a:gridCol>
                <a:gridCol w="296571">
                  <a:extLst>
                    <a:ext uri="{9D8B030D-6E8A-4147-A177-3AD203B41FA5}">
                      <a16:colId xmlns:a16="http://schemas.microsoft.com/office/drawing/2014/main" val="1889648134"/>
                    </a:ext>
                  </a:extLst>
                </a:gridCol>
                <a:gridCol w="296571">
                  <a:extLst>
                    <a:ext uri="{9D8B030D-6E8A-4147-A177-3AD203B41FA5}">
                      <a16:colId xmlns:a16="http://schemas.microsoft.com/office/drawing/2014/main" val="244672158"/>
                    </a:ext>
                  </a:extLst>
                </a:gridCol>
                <a:gridCol w="296571">
                  <a:extLst>
                    <a:ext uri="{9D8B030D-6E8A-4147-A177-3AD203B41FA5}">
                      <a16:colId xmlns:a16="http://schemas.microsoft.com/office/drawing/2014/main" val="1706950799"/>
                    </a:ext>
                  </a:extLst>
                </a:gridCol>
                <a:gridCol w="296571">
                  <a:extLst>
                    <a:ext uri="{9D8B030D-6E8A-4147-A177-3AD203B41FA5}">
                      <a16:colId xmlns:a16="http://schemas.microsoft.com/office/drawing/2014/main" val="2874033326"/>
                    </a:ext>
                  </a:extLst>
                </a:gridCol>
                <a:gridCol w="296571">
                  <a:extLst>
                    <a:ext uri="{9D8B030D-6E8A-4147-A177-3AD203B41FA5}">
                      <a16:colId xmlns:a16="http://schemas.microsoft.com/office/drawing/2014/main" val="2708960173"/>
                    </a:ext>
                  </a:extLst>
                </a:gridCol>
                <a:gridCol w="296571">
                  <a:extLst>
                    <a:ext uri="{9D8B030D-6E8A-4147-A177-3AD203B41FA5}">
                      <a16:colId xmlns:a16="http://schemas.microsoft.com/office/drawing/2014/main" val="1955625846"/>
                    </a:ext>
                  </a:extLst>
                </a:gridCol>
                <a:gridCol w="432000">
                  <a:extLst>
                    <a:ext uri="{9D8B030D-6E8A-4147-A177-3AD203B41FA5}">
                      <a16:colId xmlns:a16="http://schemas.microsoft.com/office/drawing/2014/main" val="831254288"/>
                    </a:ext>
                  </a:extLst>
                </a:gridCol>
                <a:gridCol w="432000">
                  <a:extLst>
                    <a:ext uri="{9D8B030D-6E8A-4147-A177-3AD203B41FA5}">
                      <a16:colId xmlns:a16="http://schemas.microsoft.com/office/drawing/2014/main" val="949750539"/>
                    </a:ext>
                  </a:extLst>
                </a:gridCol>
                <a:gridCol w="432000">
                  <a:extLst>
                    <a:ext uri="{9D8B030D-6E8A-4147-A177-3AD203B41FA5}">
                      <a16:colId xmlns:a16="http://schemas.microsoft.com/office/drawing/2014/main" val="878530700"/>
                    </a:ext>
                  </a:extLst>
                </a:gridCol>
                <a:gridCol w="432000">
                  <a:extLst>
                    <a:ext uri="{9D8B030D-6E8A-4147-A177-3AD203B41FA5}">
                      <a16:colId xmlns:a16="http://schemas.microsoft.com/office/drawing/2014/main" val="1989674893"/>
                    </a:ext>
                  </a:extLst>
                </a:gridCol>
                <a:gridCol w="432000">
                  <a:extLst>
                    <a:ext uri="{9D8B030D-6E8A-4147-A177-3AD203B41FA5}">
                      <a16:colId xmlns:a16="http://schemas.microsoft.com/office/drawing/2014/main" val="3525321165"/>
                    </a:ext>
                  </a:extLst>
                </a:gridCol>
                <a:gridCol w="432000">
                  <a:extLst>
                    <a:ext uri="{9D8B030D-6E8A-4147-A177-3AD203B41FA5}">
                      <a16:colId xmlns:a16="http://schemas.microsoft.com/office/drawing/2014/main" val="1301985184"/>
                    </a:ext>
                  </a:extLst>
                </a:gridCol>
                <a:gridCol w="432000">
                  <a:extLst>
                    <a:ext uri="{9D8B030D-6E8A-4147-A177-3AD203B41FA5}">
                      <a16:colId xmlns:a16="http://schemas.microsoft.com/office/drawing/2014/main" val="2897871825"/>
                    </a:ext>
                  </a:extLst>
                </a:gridCol>
                <a:gridCol w="432000">
                  <a:extLst>
                    <a:ext uri="{9D8B030D-6E8A-4147-A177-3AD203B41FA5}">
                      <a16:colId xmlns:a16="http://schemas.microsoft.com/office/drawing/2014/main" val="3561338181"/>
                    </a:ext>
                  </a:extLst>
                </a:gridCol>
                <a:gridCol w="432000">
                  <a:extLst>
                    <a:ext uri="{9D8B030D-6E8A-4147-A177-3AD203B41FA5}">
                      <a16:colId xmlns:a16="http://schemas.microsoft.com/office/drawing/2014/main" val="3198397191"/>
                    </a:ext>
                  </a:extLst>
                </a:gridCol>
                <a:gridCol w="432000">
                  <a:extLst>
                    <a:ext uri="{9D8B030D-6E8A-4147-A177-3AD203B41FA5}">
                      <a16:colId xmlns:a16="http://schemas.microsoft.com/office/drawing/2014/main" val="1635134074"/>
                    </a:ext>
                  </a:extLst>
                </a:gridCol>
                <a:gridCol w="432000">
                  <a:extLst>
                    <a:ext uri="{9D8B030D-6E8A-4147-A177-3AD203B41FA5}">
                      <a16:colId xmlns:a16="http://schemas.microsoft.com/office/drawing/2014/main" val="2436687470"/>
                    </a:ext>
                  </a:extLst>
                </a:gridCol>
              </a:tblGrid>
              <a:tr h="352901">
                <a:tc>
                  <a:txBody>
                    <a:bodyPr/>
                    <a:lstStyle/>
                    <a:p>
                      <a:pPr algn="ctr"/>
                      <a:r>
                        <a:rPr lang="en-US" altLang="zh-CN" b="0" dirty="0" smtClean="0">
                          <a:solidFill>
                            <a:srgbClr val="000000"/>
                          </a:solidFill>
                        </a:rPr>
                        <a:t>0</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2</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3</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4</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5</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6</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7</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8</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9</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800" b="0" kern="1200" dirty="0" smtClean="0">
                          <a:solidFill>
                            <a:srgbClr val="000000"/>
                          </a:solidFill>
                          <a:latin typeface="+mn-lt"/>
                          <a:ea typeface="+mn-ea"/>
                          <a:cs typeface="+mn-cs"/>
                        </a:rPr>
                        <a:t>10</a:t>
                      </a:r>
                      <a:endParaRPr lang="zh-CN" altLang="en-US" sz="18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800" b="0" kern="1200" dirty="0" smtClean="0">
                          <a:solidFill>
                            <a:srgbClr val="000000"/>
                          </a:solidFill>
                          <a:latin typeface="+mn-lt"/>
                          <a:ea typeface="+mn-ea"/>
                          <a:cs typeface="+mn-cs"/>
                        </a:rPr>
                        <a:t>11</a:t>
                      </a:r>
                      <a:endParaRPr lang="zh-CN" altLang="en-US" sz="18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12</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13</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14</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15</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16</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17</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18</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19</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altLang="zh-CN" b="0" dirty="0" smtClean="0">
                          <a:solidFill>
                            <a:srgbClr val="000000"/>
                          </a:solidFill>
                        </a:rPr>
                        <a:t>20</a:t>
                      </a:r>
                      <a:endParaRPr lang="zh-CN" alt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318818745"/>
                  </a:ext>
                </a:extLst>
              </a:tr>
              <a:tr h="36976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sz="1200" kern="1200" dirty="0">
                        <a:solidFill>
                          <a:srgbClr val="C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en-US" altLang="zh-CN" sz="1200" dirty="0" smtClean="0">
                          <a:solidFill>
                            <a:srgbClr val="C00000"/>
                          </a:solidFill>
                        </a:rPr>
                        <a:t>310</a:t>
                      </a:r>
                      <a:endParaRPr lang="zh-CN" altLang="en-US" sz="1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4119464413"/>
                  </a:ext>
                </a:extLst>
              </a:tr>
            </a:tbl>
          </a:graphicData>
        </a:graphic>
      </p:graphicFrame>
      <p:cxnSp>
        <p:nvCxnSpPr>
          <p:cNvPr id="6" name="直接箭头连接符 5"/>
          <p:cNvCxnSpPr/>
          <p:nvPr/>
        </p:nvCxnSpPr>
        <p:spPr bwMode="auto">
          <a:xfrm flipV="1">
            <a:off x="4325096" y="4305404"/>
            <a:ext cx="0" cy="1545685"/>
          </a:xfrm>
          <a:prstGeom prst="straightConnector1">
            <a:avLst/>
          </a:prstGeom>
          <a:solidFill>
            <a:schemeClr val="accent1"/>
          </a:solidFill>
          <a:ln w="57150" cap="flat" cmpd="sng" algn="ctr">
            <a:solidFill>
              <a:schemeClr val="tx1"/>
            </a:solidFill>
            <a:prstDash val="solid"/>
            <a:round/>
            <a:headEnd type="none" w="med" len="med"/>
            <a:tailEnd type="triangle"/>
          </a:ln>
        </p:spPr>
      </p:cxnSp>
      <p:cxnSp>
        <p:nvCxnSpPr>
          <p:cNvPr id="11" name="直接箭头连接符 10"/>
          <p:cNvCxnSpPr/>
          <p:nvPr/>
        </p:nvCxnSpPr>
        <p:spPr bwMode="auto">
          <a:xfrm flipV="1">
            <a:off x="2478008" y="4284222"/>
            <a:ext cx="0" cy="1405168"/>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2" name="文本框 11"/>
          <p:cNvSpPr txBox="1"/>
          <p:nvPr/>
        </p:nvSpPr>
        <p:spPr>
          <a:xfrm>
            <a:off x="3813048" y="5848399"/>
            <a:ext cx="1088136" cy="338554"/>
          </a:xfrm>
          <a:prstGeom prst="rect">
            <a:avLst/>
          </a:prstGeom>
          <a:noFill/>
        </p:spPr>
        <p:txBody>
          <a:bodyPr wrap="square" rtlCol="0">
            <a:spAutoFit/>
          </a:bodyPr>
          <a:lstStyle/>
          <a:p>
            <a:r>
              <a:rPr lang="en-US" altLang="zh-CN" sz="1600" dirty="0" smtClean="0">
                <a:solidFill>
                  <a:srgbClr val="080808"/>
                </a:solidFill>
                <a:latin typeface="+mn-lt"/>
              </a:rPr>
              <a:t>a[10]&gt;key</a:t>
            </a:r>
            <a:endParaRPr lang="zh-CN" altLang="en-US" sz="1600" dirty="0">
              <a:solidFill>
                <a:srgbClr val="080808"/>
              </a:solidFill>
              <a:latin typeface="+mn-lt"/>
            </a:endParaRPr>
          </a:p>
        </p:txBody>
      </p:sp>
      <p:sp>
        <p:nvSpPr>
          <p:cNvPr id="13" name="文本框 12"/>
          <p:cNvSpPr txBox="1"/>
          <p:nvPr/>
        </p:nvSpPr>
        <p:spPr>
          <a:xfrm>
            <a:off x="1938513" y="5663579"/>
            <a:ext cx="932688" cy="338554"/>
          </a:xfrm>
          <a:prstGeom prst="rect">
            <a:avLst/>
          </a:prstGeom>
          <a:noFill/>
        </p:spPr>
        <p:txBody>
          <a:bodyPr wrap="square" rtlCol="0">
            <a:spAutoFit/>
          </a:bodyPr>
          <a:lstStyle/>
          <a:p>
            <a:r>
              <a:rPr lang="en-US" altLang="zh-CN" sz="1600" dirty="0" smtClean="0">
                <a:solidFill>
                  <a:srgbClr val="080808"/>
                </a:solidFill>
                <a:latin typeface="+mn-lt"/>
              </a:rPr>
              <a:t>a[4]&lt;key</a:t>
            </a:r>
            <a:endParaRPr lang="zh-CN" altLang="en-US" sz="1600" dirty="0">
              <a:solidFill>
                <a:srgbClr val="080808"/>
              </a:solidFill>
              <a:latin typeface="+mn-lt"/>
            </a:endParaRPr>
          </a:p>
        </p:txBody>
      </p:sp>
      <p:cxnSp>
        <p:nvCxnSpPr>
          <p:cNvPr id="14" name="直接箭头连接符 13"/>
          <p:cNvCxnSpPr/>
          <p:nvPr/>
        </p:nvCxnSpPr>
        <p:spPr bwMode="auto">
          <a:xfrm flipV="1">
            <a:off x="3328400" y="4314548"/>
            <a:ext cx="0" cy="1161295"/>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5" name="文本框 14"/>
          <p:cNvSpPr txBox="1"/>
          <p:nvPr/>
        </p:nvSpPr>
        <p:spPr>
          <a:xfrm>
            <a:off x="2871201" y="5520113"/>
            <a:ext cx="996695" cy="338554"/>
          </a:xfrm>
          <a:prstGeom prst="rect">
            <a:avLst/>
          </a:prstGeom>
          <a:noFill/>
        </p:spPr>
        <p:txBody>
          <a:bodyPr wrap="square" rtlCol="0">
            <a:spAutoFit/>
          </a:bodyPr>
          <a:lstStyle/>
          <a:p>
            <a:r>
              <a:rPr lang="en-US" altLang="zh-CN" sz="1600" dirty="0" smtClean="0">
                <a:solidFill>
                  <a:srgbClr val="080808"/>
                </a:solidFill>
                <a:latin typeface="+mn-lt"/>
              </a:rPr>
              <a:t>a[7]&lt;key</a:t>
            </a:r>
            <a:endParaRPr lang="zh-CN" altLang="en-US" sz="1600" dirty="0">
              <a:solidFill>
                <a:srgbClr val="080808"/>
              </a:solidFill>
              <a:latin typeface="+mn-lt"/>
            </a:endParaRPr>
          </a:p>
        </p:txBody>
      </p:sp>
      <p:cxnSp>
        <p:nvCxnSpPr>
          <p:cNvPr id="17" name="直接箭头连接符 16"/>
          <p:cNvCxnSpPr/>
          <p:nvPr/>
        </p:nvCxnSpPr>
        <p:spPr bwMode="auto">
          <a:xfrm flipV="1">
            <a:off x="3657584" y="4349407"/>
            <a:ext cx="0" cy="793180"/>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8" name="文本框 17"/>
          <p:cNvSpPr txBox="1"/>
          <p:nvPr/>
        </p:nvSpPr>
        <p:spPr>
          <a:xfrm>
            <a:off x="3328401" y="5165439"/>
            <a:ext cx="996696" cy="338554"/>
          </a:xfrm>
          <a:prstGeom prst="rect">
            <a:avLst/>
          </a:prstGeom>
          <a:noFill/>
        </p:spPr>
        <p:txBody>
          <a:bodyPr wrap="square" rtlCol="0">
            <a:spAutoFit/>
          </a:bodyPr>
          <a:lstStyle/>
          <a:p>
            <a:r>
              <a:rPr lang="en-US" altLang="zh-CN" sz="1600" dirty="0" smtClean="0">
                <a:solidFill>
                  <a:srgbClr val="080808"/>
                </a:solidFill>
                <a:latin typeface="+mn-lt"/>
              </a:rPr>
              <a:t>a[8]&lt;key</a:t>
            </a:r>
            <a:endParaRPr lang="zh-CN" altLang="en-US" sz="1600" dirty="0">
              <a:solidFill>
                <a:srgbClr val="080808"/>
              </a:solidFill>
              <a:latin typeface="+mn-lt"/>
            </a:endParaRPr>
          </a:p>
        </p:txBody>
      </p:sp>
      <p:sp>
        <p:nvSpPr>
          <p:cNvPr id="19" name="文本框 18"/>
          <p:cNvSpPr txBox="1"/>
          <p:nvPr/>
        </p:nvSpPr>
        <p:spPr>
          <a:xfrm>
            <a:off x="5769849" y="4765329"/>
            <a:ext cx="1051576" cy="400110"/>
          </a:xfrm>
          <a:prstGeom prst="rect">
            <a:avLst/>
          </a:prstGeom>
          <a:noFill/>
        </p:spPr>
        <p:txBody>
          <a:bodyPr wrap="square" rtlCol="0">
            <a:spAutoFit/>
          </a:bodyPr>
          <a:lstStyle/>
          <a:p>
            <a:r>
              <a:rPr lang="zh-CN" altLang="en-US" sz="2000" dirty="0" smtClean="0">
                <a:solidFill>
                  <a:srgbClr val="080808"/>
                </a:solidFill>
                <a:latin typeface="+mn-ea"/>
                <a:ea typeface="+mn-ea"/>
              </a:rPr>
              <a:t>没找到</a:t>
            </a:r>
            <a:endParaRPr lang="zh-CN" altLang="en-US" sz="2000" dirty="0">
              <a:solidFill>
                <a:srgbClr val="080808"/>
              </a:solidFill>
              <a:latin typeface="+mn-ea"/>
              <a:ea typeface="+mn-ea"/>
            </a:endParaRPr>
          </a:p>
        </p:txBody>
      </p:sp>
    </p:spTree>
    <p:extLst>
      <p:ext uri="{BB962C8B-B14F-4D97-AF65-F5344CB8AC3E}">
        <p14:creationId xmlns:p14="http://schemas.microsoft.com/office/powerpoint/2010/main" val="408583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down)">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8" grpId="0"/>
      <p:bldP spid="19"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二分查找，对半查找，折半查找</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t>如</a:t>
            </a:r>
            <a:r>
              <a:rPr lang="zh-CN" altLang="en-US" sz="2000" dirty="0">
                <a:solidFill>
                  <a:srgbClr val="FF0000"/>
                </a:solidFill>
              </a:rPr>
              <a:t>有序</a:t>
            </a:r>
            <a:r>
              <a:rPr lang="zh-CN" altLang="en-US" sz="2000" dirty="0"/>
              <a:t>数组</a:t>
            </a:r>
            <a:r>
              <a:rPr lang="en-US" altLang="zh-CN" sz="2000" dirty="0"/>
              <a:t>data[15]={6,</a:t>
            </a:r>
            <a:r>
              <a:rPr lang="en-US" altLang="zh-CN" sz="2000" dirty="0">
                <a:solidFill>
                  <a:srgbClr val="006600"/>
                </a:solidFill>
              </a:rPr>
              <a:t>12</a:t>
            </a:r>
            <a:r>
              <a:rPr lang="en-US" altLang="zh-CN" sz="2000" dirty="0"/>
              <a:t>,18,</a:t>
            </a:r>
            <a:r>
              <a:rPr lang="en-US" altLang="zh-CN" sz="2000" dirty="0">
                <a:solidFill>
                  <a:srgbClr val="030DCD"/>
                </a:solidFill>
              </a:rPr>
              <a:t>25</a:t>
            </a:r>
            <a:r>
              <a:rPr lang="en-US" altLang="zh-CN" sz="2000" dirty="0"/>
              <a:t>,31,</a:t>
            </a:r>
            <a:r>
              <a:rPr lang="en-US" altLang="zh-CN" sz="2000" dirty="0">
                <a:solidFill>
                  <a:srgbClr val="006600"/>
                </a:solidFill>
              </a:rPr>
              <a:t>37</a:t>
            </a:r>
            <a:r>
              <a:rPr lang="en-US" altLang="zh-CN" sz="2000" dirty="0"/>
              <a:t>,43,</a:t>
            </a:r>
            <a:r>
              <a:rPr lang="en-US" altLang="zh-CN" sz="2000" dirty="0">
                <a:solidFill>
                  <a:srgbClr val="FF0000"/>
                </a:solidFill>
              </a:rPr>
              <a:t>50</a:t>
            </a:r>
            <a:r>
              <a:rPr lang="en-US" altLang="zh-CN" sz="2000" dirty="0"/>
              <a:t>,56,</a:t>
            </a:r>
            <a:r>
              <a:rPr lang="en-US" altLang="zh-CN" sz="2000" dirty="0">
                <a:solidFill>
                  <a:srgbClr val="006600"/>
                </a:solidFill>
              </a:rPr>
              <a:t>62</a:t>
            </a:r>
            <a:r>
              <a:rPr lang="en-US" altLang="zh-CN" sz="2000" dirty="0"/>
              <a:t>,68,</a:t>
            </a:r>
            <a:r>
              <a:rPr lang="en-US" altLang="zh-CN" sz="2000" dirty="0">
                <a:solidFill>
                  <a:srgbClr val="030DCD"/>
                </a:solidFill>
              </a:rPr>
              <a:t>75</a:t>
            </a:r>
            <a:r>
              <a:rPr lang="en-US" altLang="zh-CN" sz="2000" dirty="0"/>
              <a:t>,82,</a:t>
            </a:r>
            <a:r>
              <a:rPr lang="en-US" altLang="zh-CN" sz="2000" dirty="0">
                <a:solidFill>
                  <a:srgbClr val="006600"/>
                </a:solidFill>
              </a:rPr>
              <a:t>88</a:t>
            </a:r>
            <a:r>
              <a:rPr lang="en-US" altLang="zh-CN" sz="2000" dirty="0"/>
              <a:t>,96}</a:t>
            </a:r>
            <a:r>
              <a:rPr lang="zh-CN" altLang="en-US" sz="2000" dirty="0"/>
              <a:t>，查找元素</a:t>
            </a:r>
            <a:r>
              <a:rPr lang="en-US" altLang="zh-CN" sz="2000" dirty="0">
                <a:solidFill>
                  <a:srgbClr val="C00000"/>
                </a:solidFill>
              </a:rPr>
              <a:t>82</a:t>
            </a:r>
            <a:r>
              <a:rPr lang="zh-CN" altLang="en-US" sz="2000" dirty="0"/>
              <a:t>；</a:t>
            </a:r>
            <a:endParaRPr lang="en-US" altLang="zh-CN" sz="2000" dirty="0"/>
          </a:p>
          <a:p>
            <a:pPr marL="342900" indent="-342900">
              <a:buFont typeface="Wingdings" panose="05000000000000000000" pitchFamily="2" charset="2"/>
              <a:buChar char="l"/>
            </a:pPr>
            <a:r>
              <a:rPr lang="zh-CN" altLang="en-US" sz="2000" dirty="0"/>
              <a:t>采用二分查找的算法的过程：</a:t>
            </a:r>
            <a:endParaRPr lang="en-US" altLang="zh-CN" sz="2000" dirty="0"/>
          </a:p>
          <a:p>
            <a:pPr marL="971550" lvl="1"/>
            <a:r>
              <a:rPr lang="zh-CN" altLang="en-US" sz="1600" dirty="0"/>
              <a:t>首先在整个数组元素</a:t>
            </a:r>
            <a:r>
              <a:rPr lang="en-US" altLang="zh-CN" sz="1600" dirty="0"/>
              <a:t>data[</a:t>
            </a:r>
            <a:r>
              <a:rPr lang="en-US" altLang="zh-CN" sz="1600" dirty="0">
                <a:solidFill>
                  <a:srgbClr val="0303DF"/>
                </a:solidFill>
              </a:rPr>
              <a:t>0</a:t>
            </a:r>
            <a:r>
              <a:rPr lang="en-US" altLang="zh-CN" sz="1600" dirty="0"/>
              <a:t>]</a:t>
            </a:r>
            <a:r>
              <a:rPr lang="zh-CN" altLang="en-US" sz="1600" dirty="0"/>
              <a:t>到</a:t>
            </a:r>
            <a:r>
              <a:rPr lang="en-US" altLang="zh-CN" sz="1600" dirty="0"/>
              <a:t>data[</a:t>
            </a:r>
            <a:r>
              <a:rPr lang="en-US" altLang="zh-CN" sz="1600" dirty="0">
                <a:solidFill>
                  <a:srgbClr val="0303DF"/>
                </a:solidFill>
              </a:rPr>
              <a:t>14</a:t>
            </a:r>
            <a:r>
              <a:rPr lang="en-US" altLang="zh-CN" sz="1600" dirty="0"/>
              <a:t>]</a:t>
            </a:r>
            <a:r>
              <a:rPr lang="zh-CN" altLang="en-US" sz="1600" dirty="0"/>
              <a:t>查找数组的中间元素，即</a:t>
            </a:r>
            <a:r>
              <a:rPr lang="en-US" altLang="zh-CN" sz="1600" dirty="0">
                <a:solidFill>
                  <a:srgbClr val="0303DF"/>
                </a:solidFill>
              </a:rPr>
              <a:t>(0+14)/</a:t>
            </a:r>
            <a:r>
              <a:rPr lang="en-US" altLang="zh-CN" sz="1600" dirty="0" smtClean="0">
                <a:solidFill>
                  <a:srgbClr val="0303DF"/>
                </a:solidFill>
              </a:rPr>
              <a:t>2=7</a:t>
            </a:r>
            <a:r>
              <a:rPr lang="zh-CN" altLang="en-US" sz="1600" dirty="0">
                <a:solidFill>
                  <a:srgbClr val="0303DF"/>
                </a:solidFill>
              </a:rPr>
              <a:t>；</a:t>
            </a:r>
            <a:endParaRPr lang="en-US" altLang="zh-CN" sz="1600" dirty="0">
              <a:solidFill>
                <a:srgbClr val="006600"/>
              </a:solidFill>
            </a:endParaRPr>
          </a:p>
          <a:p>
            <a:pPr marL="1200150" lvl="2"/>
            <a:r>
              <a:rPr lang="zh-CN" altLang="en-US" sz="1400" dirty="0" smtClean="0"/>
              <a:t>由于</a:t>
            </a:r>
            <a:r>
              <a:rPr lang="en-US" altLang="zh-CN" sz="1400" dirty="0">
                <a:solidFill>
                  <a:srgbClr val="006600"/>
                </a:solidFill>
              </a:rPr>
              <a:t>data[7</a:t>
            </a:r>
            <a:r>
              <a:rPr lang="en-US" altLang="zh-CN" sz="1400" dirty="0" smtClean="0">
                <a:solidFill>
                  <a:srgbClr val="006600"/>
                </a:solidFill>
              </a:rPr>
              <a:t>]=50</a:t>
            </a:r>
            <a:r>
              <a:rPr lang="en-US" altLang="zh-CN" sz="1400" dirty="0" smtClean="0">
                <a:solidFill>
                  <a:srgbClr val="C00000"/>
                </a:solidFill>
              </a:rPr>
              <a:t>&lt;82</a:t>
            </a:r>
            <a:r>
              <a:rPr lang="zh-CN" altLang="en-US" sz="1400" dirty="0"/>
              <a:t>，则</a:t>
            </a:r>
            <a:r>
              <a:rPr lang="en-US" altLang="zh-CN" sz="1400" dirty="0" smtClean="0"/>
              <a:t>82</a:t>
            </a:r>
            <a:r>
              <a:rPr lang="zh-CN" altLang="en-US" sz="1400" dirty="0" smtClean="0"/>
              <a:t>应该在</a:t>
            </a:r>
            <a:r>
              <a:rPr lang="zh-CN" altLang="en-US" sz="1400" dirty="0"/>
              <a:t>下标</a:t>
            </a:r>
            <a:r>
              <a:rPr lang="en-US" altLang="zh-CN" sz="1400" dirty="0"/>
              <a:t>7</a:t>
            </a:r>
            <a:r>
              <a:rPr lang="zh-CN" altLang="en-US" sz="1400" dirty="0"/>
              <a:t>之后的数组元素中，那么就在</a:t>
            </a:r>
            <a:r>
              <a:rPr lang="en-US" altLang="zh-CN" sz="1400" b="1" dirty="0">
                <a:solidFill>
                  <a:srgbClr val="C00000"/>
                </a:solidFill>
              </a:rPr>
              <a:t>data[7+1]</a:t>
            </a:r>
            <a:r>
              <a:rPr lang="zh-CN" altLang="en-US" sz="1400" b="1" dirty="0">
                <a:solidFill>
                  <a:srgbClr val="C00000"/>
                </a:solidFill>
              </a:rPr>
              <a:t>到</a:t>
            </a:r>
            <a:r>
              <a:rPr lang="en-US" altLang="zh-CN" sz="1400" b="1" dirty="0">
                <a:solidFill>
                  <a:srgbClr val="C00000"/>
                </a:solidFill>
              </a:rPr>
              <a:t>data[14]</a:t>
            </a:r>
            <a:r>
              <a:rPr lang="zh-CN" altLang="en-US" sz="1400" b="1" dirty="0">
                <a:solidFill>
                  <a:srgbClr val="C00000"/>
                </a:solidFill>
              </a:rPr>
              <a:t>中查找</a:t>
            </a:r>
            <a:r>
              <a:rPr lang="zh-CN" altLang="en-US" sz="1400" dirty="0"/>
              <a:t>，即在</a:t>
            </a:r>
            <a:r>
              <a:rPr lang="en-US" altLang="zh-CN" sz="1400" dirty="0"/>
              <a:t>{56,</a:t>
            </a:r>
            <a:r>
              <a:rPr lang="en-US" altLang="zh-CN" sz="1400" dirty="0">
                <a:solidFill>
                  <a:srgbClr val="006600"/>
                </a:solidFill>
              </a:rPr>
              <a:t>62</a:t>
            </a:r>
            <a:r>
              <a:rPr lang="en-US" altLang="zh-CN" sz="1400" dirty="0"/>
              <a:t>,68,</a:t>
            </a:r>
            <a:r>
              <a:rPr lang="en-US" altLang="zh-CN" sz="1400" dirty="0">
                <a:solidFill>
                  <a:srgbClr val="030DCD"/>
                </a:solidFill>
              </a:rPr>
              <a:t>75</a:t>
            </a:r>
            <a:r>
              <a:rPr lang="en-US" altLang="zh-CN" sz="1400" dirty="0"/>
              <a:t>,82,</a:t>
            </a:r>
            <a:r>
              <a:rPr lang="en-US" altLang="zh-CN" sz="1400" dirty="0">
                <a:solidFill>
                  <a:srgbClr val="006600"/>
                </a:solidFill>
              </a:rPr>
              <a:t>88</a:t>
            </a:r>
            <a:r>
              <a:rPr lang="en-US" altLang="zh-CN" sz="1400" dirty="0"/>
              <a:t>,96}</a:t>
            </a:r>
            <a:r>
              <a:rPr lang="zh-CN" altLang="en-US" sz="1400" dirty="0"/>
              <a:t>中查找；</a:t>
            </a:r>
            <a:endParaRPr lang="en-US" altLang="zh-CN" sz="1400" dirty="0"/>
          </a:p>
          <a:p>
            <a:pPr marL="971550" lvl="1"/>
            <a:r>
              <a:rPr lang="zh-CN" altLang="en-US" sz="1600" dirty="0"/>
              <a:t>再</a:t>
            </a:r>
            <a:r>
              <a:rPr lang="zh-CN" altLang="en-US" sz="1600" dirty="0" smtClean="0"/>
              <a:t>查找</a:t>
            </a:r>
            <a:r>
              <a:rPr lang="en-US" altLang="zh-CN" sz="1600" dirty="0" smtClean="0"/>
              <a:t>data</a:t>
            </a:r>
            <a:r>
              <a:rPr lang="en-US" altLang="zh-CN" sz="1600" b="1" dirty="0" smtClean="0">
                <a:solidFill>
                  <a:srgbClr val="C00000"/>
                </a:solidFill>
              </a:rPr>
              <a:t>[8] </a:t>
            </a:r>
            <a:r>
              <a:rPr lang="zh-CN" altLang="en-US" sz="1600" dirty="0"/>
              <a:t>到</a:t>
            </a:r>
            <a:r>
              <a:rPr lang="en-US" altLang="zh-CN" sz="1600" dirty="0"/>
              <a:t>data</a:t>
            </a:r>
            <a:r>
              <a:rPr lang="en-US" altLang="zh-CN" sz="1600" b="1" dirty="0">
                <a:solidFill>
                  <a:srgbClr val="C00000"/>
                </a:solidFill>
              </a:rPr>
              <a:t>[1</a:t>
            </a:r>
            <a:r>
              <a:rPr lang="en-US" altLang="zh-CN" sz="1600" dirty="0">
                <a:solidFill>
                  <a:srgbClr val="C00000"/>
                </a:solidFill>
              </a:rPr>
              <a:t>4</a:t>
            </a:r>
            <a:r>
              <a:rPr lang="en-US" altLang="zh-CN" sz="1600" b="1" dirty="0" smtClean="0">
                <a:solidFill>
                  <a:srgbClr val="C00000"/>
                </a:solidFill>
              </a:rPr>
              <a:t>]</a:t>
            </a:r>
            <a:r>
              <a:rPr lang="zh-CN" altLang="en-US" sz="1600" dirty="0" smtClean="0"/>
              <a:t>的</a:t>
            </a:r>
            <a:r>
              <a:rPr lang="zh-CN" altLang="en-US" sz="1600" dirty="0"/>
              <a:t>中间元素</a:t>
            </a:r>
            <a:r>
              <a:rPr lang="zh-CN" altLang="en-US" sz="1600" dirty="0" smtClean="0"/>
              <a:t>，即</a:t>
            </a:r>
            <a:r>
              <a:rPr lang="en-US" altLang="zh-CN" sz="1600" dirty="0" smtClean="0">
                <a:solidFill>
                  <a:srgbClr val="0303DF"/>
                </a:solidFill>
              </a:rPr>
              <a:t>(</a:t>
            </a:r>
            <a:r>
              <a:rPr lang="en-US" altLang="zh-CN" sz="1600" dirty="0">
                <a:solidFill>
                  <a:srgbClr val="0303DF"/>
                </a:solidFill>
              </a:rPr>
              <a:t>8+14)/</a:t>
            </a:r>
            <a:r>
              <a:rPr lang="en-US" altLang="zh-CN" sz="1600" dirty="0" smtClean="0">
                <a:solidFill>
                  <a:srgbClr val="0303DF"/>
                </a:solidFill>
              </a:rPr>
              <a:t>2=11</a:t>
            </a:r>
            <a:r>
              <a:rPr lang="zh-CN" altLang="en-US" sz="1600" dirty="0"/>
              <a:t>；</a:t>
            </a:r>
            <a:endParaRPr lang="en-US" altLang="zh-CN" sz="1600" dirty="0" smtClean="0"/>
          </a:p>
          <a:p>
            <a:pPr marL="1200150" lvl="2"/>
            <a:r>
              <a:rPr lang="zh-CN" altLang="en-US" sz="1400" dirty="0" smtClean="0"/>
              <a:t>由于</a:t>
            </a:r>
            <a:r>
              <a:rPr lang="en-US" altLang="zh-CN" sz="1400" dirty="0" smtClean="0"/>
              <a:t> </a:t>
            </a:r>
            <a:r>
              <a:rPr lang="en-US" altLang="zh-CN" sz="1400" dirty="0"/>
              <a:t>data[11</a:t>
            </a:r>
            <a:r>
              <a:rPr lang="en-US" altLang="zh-CN" sz="1400" dirty="0" smtClean="0"/>
              <a:t>]=75&lt;82</a:t>
            </a:r>
            <a:r>
              <a:rPr lang="zh-CN" altLang="en-US" sz="1400" dirty="0"/>
              <a:t>，则</a:t>
            </a:r>
            <a:r>
              <a:rPr lang="en-US" altLang="zh-CN" sz="1400" dirty="0"/>
              <a:t>82</a:t>
            </a:r>
            <a:r>
              <a:rPr lang="zh-CN" altLang="en-US" sz="1400" dirty="0"/>
              <a:t>应该在下标</a:t>
            </a:r>
            <a:r>
              <a:rPr lang="en-US" altLang="zh-CN" sz="1400" dirty="0"/>
              <a:t>11</a:t>
            </a:r>
            <a:r>
              <a:rPr lang="zh-CN" altLang="en-US" sz="1400" dirty="0"/>
              <a:t>左边的数组元素中，即在</a:t>
            </a:r>
            <a:r>
              <a:rPr lang="en-US" altLang="zh-CN" sz="1400" b="1" dirty="0">
                <a:solidFill>
                  <a:srgbClr val="C00000"/>
                </a:solidFill>
              </a:rPr>
              <a:t>data[12]</a:t>
            </a:r>
            <a:r>
              <a:rPr lang="zh-CN" altLang="en-US" sz="1400" b="1" dirty="0">
                <a:solidFill>
                  <a:srgbClr val="C00000"/>
                </a:solidFill>
              </a:rPr>
              <a:t>到</a:t>
            </a:r>
            <a:r>
              <a:rPr lang="en-US" altLang="zh-CN" sz="1400" b="1" dirty="0">
                <a:solidFill>
                  <a:srgbClr val="C00000"/>
                </a:solidFill>
              </a:rPr>
              <a:t>data[14]</a:t>
            </a:r>
            <a:r>
              <a:rPr lang="zh-CN" altLang="en-US" sz="1400" b="1" dirty="0">
                <a:solidFill>
                  <a:srgbClr val="C00000"/>
                </a:solidFill>
              </a:rPr>
              <a:t>中查找</a:t>
            </a:r>
            <a:r>
              <a:rPr lang="zh-CN" altLang="en-US" sz="1400" dirty="0"/>
              <a:t>，元素值是</a:t>
            </a:r>
            <a:r>
              <a:rPr lang="en-US" altLang="zh-CN" sz="1400" dirty="0"/>
              <a:t>{82,</a:t>
            </a:r>
            <a:r>
              <a:rPr lang="en-US" altLang="zh-CN" sz="1400" dirty="0">
                <a:solidFill>
                  <a:srgbClr val="006600"/>
                </a:solidFill>
              </a:rPr>
              <a:t>88</a:t>
            </a:r>
            <a:r>
              <a:rPr lang="en-US" altLang="zh-CN" sz="1400" dirty="0"/>
              <a:t>,96}</a:t>
            </a:r>
            <a:r>
              <a:rPr lang="zh-CN" altLang="en-US" sz="1400" dirty="0"/>
              <a:t>；</a:t>
            </a:r>
            <a:endParaRPr lang="en-US" altLang="zh-CN" sz="1400" dirty="0"/>
          </a:p>
          <a:p>
            <a:pPr marL="971550" lvl="1"/>
            <a:r>
              <a:rPr lang="zh-CN" altLang="en-US" sz="1600" dirty="0"/>
              <a:t>继续</a:t>
            </a:r>
            <a:r>
              <a:rPr lang="zh-CN" altLang="en-US" sz="1600" dirty="0" smtClean="0"/>
              <a:t>查找</a:t>
            </a:r>
            <a:r>
              <a:rPr lang="en-US" altLang="zh-CN" sz="1600" dirty="0" smtClean="0"/>
              <a:t>data</a:t>
            </a:r>
            <a:r>
              <a:rPr lang="en-US" altLang="zh-CN" sz="1600" b="1" dirty="0" smtClean="0">
                <a:solidFill>
                  <a:srgbClr val="C00000"/>
                </a:solidFill>
              </a:rPr>
              <a:t>[12] </a:t>
            </a:r>
            <a:r>
              <a:rPr lang="zh-CN" altLang="en-US" sz="1600" dirty="0"/>
              <a:t>到</a:t>
            </a:r>
            <a:r>
              <a:rPr lang="en-US" altLang="zh-CN" sz="1600" dirty="0"/>
              <a:t>data</a:t>
            </a:r>
            <a:r>
              <a:rPr lang="en-US" altLang="zh-CN" sz="1600" b="1" dirty="0">
                <a:solidFill>
                  <a:srgbClr val="C00000"/>
                </a:solidFill>
              </a:rPr>
              <a:t>[1</a:t>
            </a:r>
            <a:r>
              <a:rPr lang="en-US" altLang="zh-CN" sz="1600" dirty="0">
                <a:solidFill>
                  <a:srgbClr val="C00000"/>
                </a:solidFill>
              </a:rPr>
              <a:t>4</a:t>
            </a:r>
            <a:r>
              <a:rPr lang="en-US" altLang="zh-CN" sz="1600" b="1" dirty="0">
                <a:solidFill>
                  <a:srgbClr val="C00000"/>
                </a:solidFill>
              </a:rPr>
              <a:t>]</a:t>
            </a:r>
            <a:r>
              <a:rPr lang="zh-CN" altLang="en-US" sz="1600" dirty="0" smtClean="0"/>
              <a:t>中间</a:t>
            </a:r>
            <a:r>
              <a:rPr lang="zh-CN" altLang="en-US" sz="1600" dirty="0"/>
              <a:t>位置</a:t>
            </a:r>
            <a:r>
              <a:rPr lang="en-US" altLang="zh-CN" sz="1600" dirty="0">
                <a:solidFill>
                  <a:srgbClr val="0303DF"/>
                </a:solidFill>
              </a:rPr>
              <a:t>(12+14)/</a:t>
            </a:r>
            <a:r>
              <a:rPr lang="en-US" altLang="zh-CN" sz="1600" dirty="0" smtClean="0">
                <a:solidFill>
                  <a:srgbClr val="0303DF"/>
                </a:solidFill>
              </a:rPr>
              <a:t>2=13</a:t>
            </a:r>
            <a:r>
              <a:rPr lang="zh-CN" altLang="en-US" sz="1600" dirty="0" smtClean="0">
                <a:solidFill>
                  <a:srgbClr val="0303DF"/>
                </a:solidFill>
              </a:rPr>
              <a:t>；</a:t>
            </a:r>
            <a:endParaRPr lang="en-US" altLang="zh-CN" sz="1600" dirty="0" smtClean="0">
              <a:solidFill>
                <a:srgbClr val="0303DF"/>
              </a:solidFill>
            </a:endParaRPr>
          </a:p>
          <a:p>
            <a:pPr marL="1200150" lvl="2"/>
            <a:r>
              <a:rPr lang="zh-CN" altLang="en-US" sz="1600" dirty="0"/>
              <a:t>由于</a:t>
            </a:r>
            <a:r>
              <a:rPr lang="en-US" altLang="zh-CN" sz="1400" dirty="0" smtClean="0">
                <a:solidFill>
                  <a:srgbClr val="006600"/>
                </a:solidFill>
              </a:rPr>
              <a:t> </a:t>
            </a:r>
            <a:r>
              <a:rPr lang="en-US" altLang="zh-CN" sz="1400" dirty="0">
                <a:solidFill>
                  <a:srgbClr val="006600"/>
                </a:solidFill>
              </a:rPr>
              <a:t>data[13]=</a:t>
            </a:r>
            <a:r>
              <a:rPr lang="en-US" altLang="zh-CN" sz="1400" dirty="0" smtClean="0">
                <a:solidFill>
                  <a:srgbClr val="006600"/>
                </a:solidFill>
              </a:rPr>
              <a:t>88&gt;82</a:t>
            </a:r>
            <a:r>
              <a:rPr lang="zh-CN" altLang="en-US" sz="1400" dirty="0">
                <a:solidFill>
                  <a:srgbClr val="006600"/>
                </a:solidFill>
              </a:rPr>
              <a:t>，</a:t>
            </a:r>
            <a:r>
              <a:rPr lang="zh-CN" altLang="en-US" sz="1400" dirty="0" smtClean="0">
                <a:solidFill>
                  <a:srgbClr val="006600"/>
                </a:solidFill>
              </a:rPr>
              <a:t>则</a:t>
            </a:r>
            <a:r>
              <a:rPr lang="en-US" altLang="zh-CN" sz="1400" dirty="0" smtClean="0">
                <a:solidFill>
                  <a:srgbClr val="006600"/>
                </a:solidFill>
              </a:rPr>
              <a:t>83</a:t>
            </a:r>
            <a:r>
              <a:rPr lang="zh-CN" altLang="en-US" sz="1400" dirty="0" smtClean="0">
                <a:solidFill>
                  <a:srgbClr val="006600"/>
                </a:solidFill>
              </a:rPr>
              <a:t>应该在下标</a:t>
            </a:r>
            <a:r>
              <a:rPr lang="en-US" altLang="zh-CN" sz="1400" dirty="0" smtClean="0">
                <a:solidFill>
                  <a:srgbClr val="006600"/>
                </a:solidFill>
              </a:rPr>
              <a:t>13</a:t>
            </a:r>
            <a:r>
              <a:rPr lang="zh-CN" altLang="en-US" sz="1400" dirty="0" smtClean="0">
                <a:solidFill>
                  <a:srgbClr val="006600"/>
                </a:solidFill>
              </a:rPr>
              <a:t>左边的数组元素中；</a:t>
            </a:r>
            <a:endParaRPr lang="en-US" altLang="zh-CN" sz="1400" dirty="0">
              <a:solidFill>
                <a:srgbClr val="0303DF"/>
              </a:solidFill>
            </a:endParaRPr>
          </a:p>
          <a:p>
            <a:pPr marL="971550" lvl="1"/>
            <a:r>
              <a:rPr lang="en-US" altLang="zh-CN" sz="1600" dirty="0" smtClean="0">
                <a:solidFill>
                  <a:srgbClr val="006600"/>
                </a:solidFill>
              </a:rPr>
              <a:t> </a:t>
            </a:r>
            <a:r>
              <a:rPr lang="zh-CN" altLang="en-US" sz="1600" b="1" dirty="0">
                <a:solidFill>
                  <a:srgbClr val="C00000"/>
                </a:solidFill>
              </a:rPr>
              <a:t>继续查找</a:t>
            </a:r>
            <a:r>
              <a:rPr lang="en-US" altLang="zh-CN" sz="1600" b="1" dirty="0" smtClean="0">
                <a:solidFill>
                  <a:srgbClr val="C00000"/>
                </a:solidFill>
              </a:rPr>
              <a:t>data[12]</a:t>
            </a:r>
            <a:r>
              <a:rPr lang="zh-CN" altLang="en-US" sz="1600" dirty="0"/>
              <a:t>到</a:t>
            </a:r>
            <a:r>
              <a:rPr lang="en-US" altLang="zh-CN" sz="1600" dirty="0" smtClean="0"/>
              <a:t>data</a:t>
            </a:r>
            <a:r>
              <a:rPr lang="en-US" altLang="zh-CN" sz="1600" b="1" dirty="0" smtClean="0">
                <a:solidFill>
                  <a:srgbClr val="C00000"/>
                </a:solidFill>
              </a:rPr>
              <a:t>[1</a:t>
            </a:r>
            <a:r>
              <a:rPr lang="en-US" altLang="zh-CN" sz="1600" dirty="0" smtClean="0">
                <a:solidFill>
                  <a:srgbClr val="C00000"/>
                </a:solidFill>
              </a:rPr>
              <a:t>2</a:t>
            </a:r>
            <a:r>
              <a:rPr lang="en-US" altLang="zh-CN" sz="1600" b="1" dirty="0" smtClean="0">
                <a:solidFill>
                  <a:srgbClr val="C00000"/>
                </a:solidFill>
              </a:rPr>
              <a:t>]</a:t>
            </a:r>
            <a:r>
              <a:rPr lang="zh-CN" altLang="en-US" sz="1600" dirty="0"/>
              <a:t>中间位置</a:t>
            </a:r>
            <a:r>
              <a:rPr lang="en-US" altLang="zh-CN" sz="1600" dirty="0">
                <a:solidFill>
                  <a:srgbClr val="0303DF"/>
                </a:solidFill>
              </a:rPr>
              <a:t>(</a:t>
            </a:r>
            <a:r>
              <a:rPr lang="en-US" altLang="zh-CN" sz="1600" dirty="0" smtClean="0">
                <a:solidFill>
                  <a:srgbClr val="0303DF"/>
                </a:solidFill>
              </a:rPr>
              <a:t>12+12)/2=12 </a:t>
            </a:r>
            <a:r>
              <a:rPr lang="zh-CN" altLang="en-US" sz="1600" dirty="0" smtClean="0"/>
              <a:t>，</a:t>
            </a:r>
            <a:r>
              <a:rPr lang="zh-CN" altLang="en-US" sz="1600" dirty="0"/>
              <a:t>在数组</a:t>
            </a:r>
            <a:r>
              <a:rPr lang="en-US" altLang="zh-CN" sz="1600" dirty="0"/>
              <a:t>data</a:t>
            </a:r>
            <a:r>
              <a:rPr lang="zh-CN" altLang="en-US" sz="1600" dirty="0"/>
              <a:t>中找到给定的值，</a:t>
            </a:r>
            <a:r>
              <a:rPr lang="zh-CN" altLang="en-US" sz="1600" dirty="0" smtClean="0"/>
              <a:t>返回位置</a:t>
            </a:r>
            <a:r>
              <a:rPr lang="en-US" altLang="zh-CN" sz="1600" dirty="0" smtClean="0"/>
              <a:t>(</a:t>
            </a:r>
            <a:r>
              <a:rPr lang="zh-CN" altLang="en-US" sz="1600" dirty="0" smtClean="0"/>
              <a:t>下标</a:t>
            </a:r>
            <a:r>
              <a:rPr lang="en-US" altLang="zh-CN" sz="1600" dirty="0" smtClean="0"/>
              <a:t>)12</a:t>
            </a:r>
            <a:r>
              <a:rPr lang="zh-CN" altLang="en-US" sz="1600" dirty="0" smtClean="0"/>
              <a:t>；</a:t>
            </a:r>
            <a:r>
              <a:rPr lang="en-US" altLang="zh-CN" sz="1600" dirty="0" smtClean="0"/>
              <a:t>//</a:t>
            </a:r>
            <a:r>
              <a:rPr lang="zh-CN" altLang="en-US" sz="1600" dirty="0" smtClean="0"/>
              <a:t>如果</a:t>
            </a:r>
            <a:r>
              <a:rPr lang="en-US" altLang="zh-CN" sz="1600" dirty="0" smtClean="0"/>
              <a:t>data[12]!=82</a:t>
            </a:r>
            <a:r>
              <a:rPr lang="zh-CN" altLang="en-US" sz="1600" dirty="0" smtClean="0"/>
              <a:t>，则找不到相应的元素。</a:t>
            </a:r>
            <a:endParaRPr lang="en-US" altLang="zh-CN" sz="1600" dirty="0"/>
          </a:p>
          <a:p>
            <a:pPr marL="342900" indent="-342900">
              <a:buFont typeface="Wingdings" panose="05000000000000000000" pitchFamily="2" charset="2"/>
              <a:buChar char="l"/>
            </a:pPr>
            <a:r>
              <a:rPr lang="zh-CN" altLang="en-US" sz="2000" dirty="0"/>
              <a:t> </a:t>
            </a:r>
            <a:r>
              <a:rPr lang="zh-CN" altLang="en-US" sz="2000" dirty="0" smtClean="0">
                <a:solidFill>
                  <a:srgbClr val="7030A0"/>
                </a:solidFill>
              </a:rPr>
              <a:t>折半查找</a:t>
            </a:r>
            <a:r>
              <a:rPr lang="zh-CN" altLang="en-US" sz="2000" dirty="0" smtClean="0"/>
              <a:t>算法</a:t>
            </a:r>
            <a:r>
              <a:rPr lang="zh-CN" altLang="en-US" sz="2000" dirty="0"/>
              <a:t>就是不断</a:t>
            </a:r>
            <a:r>
              <a:rPr lang="zh-CN" altLang="en-US" sz="2000" dirty="0">
                <a:solidFill>
                  <a:srgbClr val="0000CC"/>
                </a:solidFill>
              </a:rPr>
              <a:t>将</a:t>
            </a:r>
            <a:r>
              <a:rPr lang="zh-CN" altLang="en-US" sz="2000" dirty="0" smtClean="0">
                <a:solidFill>
                  <a:srgbClr val="0000CC"/>
                </a:solidFill>
              </a:rPr>
              <a:t>数据进行</a:t>
            </a:r>
            <a:r>
              <a:rPr lang="zh-CN" altLang="en-US" sz="2000" b="1" dirty="0">
                <a:solidFill>
                  <a:srgbClr val="C00000"/>
                </a:solidFill>
              </a:rPr>
              <a:t>对半分割</a:t>
            </a:r>
            <a:r>
              <a:rPr lang="zh-CN" altLang="en-US" sz="2000" dirty="0"/>
              <a:t>，每次拿中间元素和要查找的数据进行比较，以便确定后续在哪部分查找；</a:t>
            </a:r>
            <a:endParaRPr lang="en-US" altLang="zh-CN" sz="2000" dirty="0"/>
          </a:p>
          <a:p>
            <a:pPr marL="342900" indent="-342900">
              <a:buFont typeface="Wingdings" panose="05000000000000000000" pitchFamily="2" charset="2"/>
              <a:buChar char="l"/>
            </a:pPr>
            <a:r>
              <a:rPr lang="zh-CN" altLang="en-US" sz="2000" dirty="0"/>
              <a:t>在数据结构中，将上述数据构成一棵</a:t>
            </a:r>
            <a:r>
              <a:rPr lang="zh-CN" altLang="en-US" sz="2000" dirty="0">
                <a:solidFill>
                  <a:srgbClr val="030DCD"/>
                </a:solidFill>
              </a:rPr>
              <a:t>有序二叉树，在树中进行搜索</a:t>
            </a:r>
            <a:r>
              <a:rPr lang="zh-CN" altLang="en-US" sz="2000" dirty="0"/>
              <a:t>；</a:t>
            </a:r>
          </a:p>
          <a:p>
            <a:endParaRPr lang="zh-CN" altLang="en-US" sz="2000" dirty="0"/>
          </a:p>
        </p:txBody>
      </p:sp>
    </p:spTree>
    <p:extLst>
      <p:ext uri="{BB962C8B-B14F-4D97-AF65-F5344CB8AC3E}">
        <p14:creationId xmlns:p14="http://schemas.microsoft.com/office/powerpoint/2010/main" val="2827251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D892A-3B02-4E5B-B64C-ACF64C014E89}"/>
              </a:ext>
            </a:extLst>
          </p:cNvPr>
          <p:cNvSpPr>
            <a:spLocks noGrp="1"/>
          </p:cNvSpPr>
          <p:nvPr>
            <p:ph type="title"/>
          </p:nvPr>
        </p:nvSpPr>
        <p:spPr/>
        <p:txBody>
          <a:bodyPr/>
          <a:lstStyle/>
          <a:p>
            <a:r>
              <a:rPr lang="zh-CN" altLang="en-US" dirty="0">
                <a:solidFill>
                  <a:srgbClr val="7030A0"/>
                </a:solidFill>
              </a:rPr>
              <a:t>有序</a:t>
            </a:r>
            <a:r>
              <a:rPr lang="zh-CN" altLang="en-US" dirty="0" smtClean="0">
                <a:solidFill>
                  <a:srgbClr val="7030A0"/>
                </a:solidFill>
              </a:rPr>
              <a:t>二叉树</a:t>
            </a:r>
            <a:r>
              <a:rPr lang="zh-CN" altLang="en-US" dirty="0" smtClean="0"/>
              <a:t>的构造</a:t>
            </a:r>
            <a:endParaRPr lang="zh-CN" altLang="en-US" dirty="0"/>
          </a:p>
        </p:txBody>
      </p:sp>
      <p:sp>
        <p:nvSpPr>
          <p:cNvPr id="4" name="内容占位符 3">
            <a:extLst>
              <a:ext uri="{FF2B5EF4-FFF2-40B4-BE49-F238E27FC236}">
                <a16:creationId xmlns:a16="http://schemas.microsoft.com/office/drawing/2014/main" id="{3FCA1002-3584-4313-8182-EB7537AC2FB6}"/>
              </a:ext>
            </a:extLst>
          </p:cNvPr>
          <p:cNvSpPr>
            <a:spLocks noGrp="1"/>
          </p:cNvSpPr>
          <p:nvPr>
            <p:ph idx="1"/>
          </p:nvPr>
        </p:nvSpPr>
        <p:spPr>
          <a:xfrm>
            <a:off x="485775" y="1135062"/>
            <a:ext cx="8417156" cy="2440242"/>
          </a:xfrm>
        </p:spPr>
        <p:txBody>
          <a:bodyPr/>
          <a:lstStyle/>
          <a:p>
            <a:pPr marL="342900" indent="-342900">
              <a:buFont typeface="Wingdings" panose="05000000000000000000" pitchFamily="2" charset="2"/>
              <a:buChar char="l"/>
            </a:pPr>
            <a:r>
              <a:rPr lang="zh-CN" altLang="en-US" sz="1800" dirty="0"/>
              <a:t>在数据结构中</a:t>
            </a:r>
            <a:r>
              <a:rPr lang="zh-CN" altLang="en-US" sz="1800" dirty="0" smtClean="0"/>
              <a:t>，一般将有序数据</a:t>
            </a:r>
            <a:r>
              <a:rPr lang="zh-CN" altLang="en-US" sz="1800" dirty="0"/>
              <a:t>构成一棵</a:t>
            </a:r>
            <a:r>
              <a:rPr lang="zh-CN" altLang="en-US" sz="1800" dirty="0">
                <a:solidFill>
                  <a:srgbClr val="030DCD"/>
                </a:solidFill>
              </a:rPr>
              <a:t>有序二叉树，在树中进行搜索</a:t>
            </a:r>
            <a:endParaRPr lang="en-US" altLang="zh-CN" sz="1800" dirty="0" smtClean="0">
              <a:solidFill>
                <a:srgbClr val="7030A0"/>
              </a:solidFill>
            </a:endParaRPr>
          </a:p>
          <a:p>
            <a:pPr marL="342900" indent="-342900">
              <a:buFont typeface="Wingdings" panose="05000000000000000000" pitchFamily="2" charset="2"/>
              <a:buChar char="l"/>
            </a:pPr>
            <a:r>
              <a:rPr lang="zh-CN" altLang="en-US" sz="1800" dirty="0" smtClean="0">
                <a:solidFill>
                  <a:srgbClr val="7030A0"/>
                </a:solidFill>
              </a:rPr>
              <a:t>构造一棵有序二叉树</a:t>
            </a:r>
            <a:r>
              <a:rPr lang="zh-CN" altLang="en-US" sz="1800" dirty="0" smtClean="0"/>
              <a:t>：</a:t>
            </a:r>
            <a:endParaRPr lang="en-US" altLang="zh-CN" sz="1800" dirty="0" smtClean="0"/>
          </a:p>
          <a:p>
            <a:pPr marL="971550" lvl="1"/>
            <a:r>
              <a:rPr lang="zh-CN" altLang="en-US" sz="1600" dirty="0" smtClean="0"/>
              <a:t>对于</a:t>
            </a:r>
            <a:r>
              <a:rPr lang="zh-CN" altLang="en-US" sz="1600" dirty="0"/>
              <a:t>一组有序数据，将</a:t>
            </a:r>
            <a:r>
              <a:rPr lang="zh-CN" altLang="en-US" sz="1600" b="1" dirty="0">
                <a:solidFill>
                  <a:srgbClr val="C00000"/>
                </a:solidFill>
              </a:rPr>
              <a:t>中间位置的数</a:t>
            </a:r>
            <a:r>
              <a:rPr lang="zh-CN" altLang="en-US" sz="1600" b="1" dirty="0">
                <a:solidFill>
                  <a:srgbClr val="030DCD"/>
                </a:solidFill>
              </a:rPr>
              <a:t>作为</a:t>
            </a:r>
            <a:r>
              <a:rPr lang="zh-CN" altLang="en-US" sz="1600" b="1" dirty="0">
                <a:solidFill>
                  <a:srgbClr val="C00000"/>
                </a:solidFill>
              </a:rPr>
              <a:t>树的根节点</a:t>
            </a:r>
            <a:r>
              <a:rPr lang="zh-CN" altLang="en-US" sz="1600" dirty="0"/>
              <a:t>，</a:t>
            </a:r>
            <a:r>
              <a:rPr lang="zh-CN" altLang="en-US" sz="1600" b="1" dirty="0">
                <a:solidFill>
                  <a:srgbClr val="006600"/>
                </a:solidFill>
              </a:rPr>
              <a:t>比其小的放到其左子树</a:t>
            </a:r>
            <a:r>
              <a:rPr lang="zh-CN" altLang="en-US" sz="1600" b="1" dirty="0"/>
              <a:t>，</a:t>
            </a:r>
            <a:r>
              <a:rPr lang="zh-CN" altLang="en-US" sz="1600" b="1" dirty="0" smtClean="0">
                <a:solidFill>
                  <a:srgbClr val="0070C0"/>
                </a:solidFill>
              </a:rPr>
              <a:t>比其大</a:t>
            </a:r>
            <a:r>
              <a:rPr lang="zh-CN" altLang="en-US" sz="1600" b="1" dirty="0">
                <a:solidFill>
                  <a:srgbClr val="0070C0"/>
                </a:solidFill>
              </a:rPr>
              <a:t>的放在其右子树</a:t>
            </a:r>
            <a:r>
              <a:rPr lang="zh-CN" altLang="en-US" sz="1600" dirty="0"/>
              <a:t>；</a:t>
            </a:r>
            <a:endParaRPr lang="en-US" altLang="zh-CN" sz="1600" dirty="0"/>
          </a:p>
          <a:p>
            <a:pPr marL="971550" lvl="1">
              <a:buFont typeface="Wingdings" panose="05000000000000000000" pitchFamily="2" charset="2"/>
              <a:buChar char="l"/>
            </a:pPr>
            <a:r>
              <a:rPr lang="zh-CN" altLang="en-US" sz="1600" dirty="0">
                <a:solidFill>
                  <a:srgbClr val="030DCD"/>
                </a:solidFill>
              </a:rPr>
              <a:t>其</a:t>
            </a:r>
            <a:r>
              <a:rPr lang="zh-CN" altLang="en-US" sz="1600" dirty="0">
                <a:solidFill>
                  <a:srgbClr val="C00000"/>
                </a:solidFill>
              </a:rPr>
              <a:t>左子树</a:t>
            </a:r>
            <a:r>
              <a:rPr lang="zh-CN" altLang="en-US" sz="1600" dirty="0">
                <a:solidFill>
                  <a:srgbClr val="030DCD"/>
                </a:solidFill>
              </a:rPr>
              <a:t>与</a:t>
            </a:r>
            <a:r>
              <a:rPr lang="zh-CN" altLang="en-US" sz="1600" dirty="0">
                <a:solidFill>
                  <a:srgbClr val="C00000"/>
                </a:solidFill>
              </a:rPr>
              <a:t>右子树</a:t>
            </a:r>
            <a:r>
              <a:rPr lang="zh-CN" altLang="en-US" sz="1600" dirty="0">
                <a:solidFill>
                  <a:srgbClr val="030DCD"/>
                </a:solidFill>
              </a:rPr>
              <a:t>的数据组织按同样方式处理</a:t>
            </a:r>
            <a:r>
              <a:rPr lang="zh-CN" altLang="en-US" sz="1600" dirty="0"/>
              <a:t>；这是一个</a:t>
            </a:r>
            <a:r>
              <a:rPr lang="zh-CN" altLang="en-US" sz="1600" dirty="0">
                <a:solidFill>
                  <a:srgbClr val="7030A0"/>
                </a:solidFill>
              </a:rPr>
              <a:t>递归过程</a:t>
            </a:r>
            <a:r>
              <a:rPr lang="zh-CN" altLang="en-US" sz="1600" dirty="0"/>
              <a:t>；</a:t>
            </a:r>
            <a:endParaRPr lang="en-US" altLang="zh-CN" sz="1600" dirty="0"/>
          </a:p>
          <a:p>
            <a:pPr marL="342900" indent="-342900">
              <a:buFont typeface="Wingdings" panose="05000000000000000000" pitchFamily="2" charset="2"/>
              <a:buChar char="l"/>
            </a:pPr>
            <a:r>
              <a:rPr lang="zh-CN" altLang="en-US" sz="1800" dirty="0"/>
              <a:t>例如：</a:t>
            </a:r>
            <a:r>
              <a:rPr lang="en-US" altLang="zh-CN" sz="1800" dirty="0"/>
              <a:t>15</a:t>
            </a:r>
            <a:r>
              <a:rPr lang="zh-CN" altLang="en-US" sz="1800" dirty="0"/>
              <a:t>个有序</a:t>
            </a:r>
            <a:r>
              <a:rPr lang="zh-CN" altLang="en-US" sz="1800" dirty="0" smtClean="0"/>
              <a:t>数据“</a:t>
            </a:r>
            <a:r>
              <a:rPr lang="en-US" altLang="zh-CN" sz="1800" dirty="0" smtClean="0"/>
              <a:t>6,</a:t>
            </a:r>
            <a:r>
              <a:rPr lang="en-US" altLang="zh-CN" sz="1800" b="1" dirty="0" smtClean="0">
                <a:solidFill>
                  <a:srgbClr val="006600"/>
                </a:solidFill>
              </a:rPr>
              <a:t>12</a:t>
            </a:r>
            <a:r>
              <a:rPr lang="en-US" altLang="zh-CN" sz="1800" dirty="0" smtClean="0"/>
              <a:t>,18,</a:t>
            </a:r>
            <a:r>
              <a:rPr lang="en-US" altLang="zh-CN" sz="1800" b="1" dirty="0" smtClean="0">
                <a:solidFill>
                  <a:srgbClr val="030DCD"/>
                </a:solidFill>
              </a:rPr>
              <a:t>25</a:t>
            </a:r>
            <a:r>
              <a:rPr lang="en-US" altLang="zh-CN" sz="1800" dirty="0" smtClean="0"/>
              <a:t>,31,</a:t>
            </a:r>
            <a:r>
              <a:rPr lang="en-US" altLang="zh-CN" sz="1800" b="1" dirty="0" smtClean="0">
                <a:solidFill>
                  <a:srgbClr val="006600"/>
                </a:solidFill>
              </a:rPr>
              <a:t>37</a:t>
            </a:r>
            <a:r>
              <a:rPr lang="en-US" altLang="zh-CN" sz="1800" dirty="0" smtClean="0"/>
              <a:t>,43,</a:t>
            </a:r>
            <a:r>
              <a:rPr lang="en-US" altLang="zh-CN" sz="1800" b="1" dirty="0" smtClean="0">
                <a:solidFill>
                  <a:srgbClr val="FF0000"/>
                </a:solidFill>
              </a:rPr>
              <a:t>50</a:t>
            </a:r>
            <a:r>
              <a:rPr lang="en-US" altLang="zh-CN" sz="1800" dirty="0" smtClean="0"/>
              <a:t>,56,</a:t>
            </a:r>
            <a:r>
              <a:rPr lang="en-US" altLang="zh-CN" sz="1800" b="1" dirty="0" smtClean="0">
                <a:solidFill>
                  <a:srgbClr val="006600"/>
                </a:solidFill>
              </a:rPr>
              <a:t>62</a:t>
            </a:r>
            <a:r>
              <a:rPr lang="en-US" altLang="zh-CN" sz="1800" dirty="0" smtClean="0"/>
              <a:t>,68,</a:t>
            </a:r>
            <a:r>
              <a:rPr lang="en-US" altLang="zh-CN" sz="1800" b="1" dirty="0" smtClean="0">
                <a:solidFill>
                  <a:srgbClr val="030DCD"/>
                </a:solidFill>
              </a:rPr>
              <a:t>75</a:t>
            </a:r>
            <a:r>
              <a:rPr lang="en-US" altLang="zh-CN" sz="1800" dirty="0" smtClean="0"/>
              <a:t>,82,</a:t>
            </a:r>
            <a:r>
              <a:rPr lang="en-US" altLang="zh-CN" sz="1800" b="1" dirty="0" smtClean="0">
                <a:solidFill>
                  <a:srgbClr val="006600"/>
                </a:solidFill>
              </a:rPr>
              <a:t>88</a:t>
            </a:r>
            <a:r>
              <a:rPr lang="en-US" altLang="zh-CN" sz="1800" dirty="0" smtClean="0"/>
              <a:t>,96</a:t>
            </a:r>
            <a:r>
              <a:rPr lang="zh-CN" altLang="en-US" sz="1800" dirty="0" smtClean="0"/>
              <a:t>”对应</a:t>
            </a:r>
            <a:r>
              <a:rPr lang="zh-CN" altLang="en-US" sz="1800" dirty="0"/>
              <a:t>的有序二叉树如下图所</a:t>
            </a:r>
            <a:r>
              <a:rPr lang="zh-CN" altLang="en-US" sz="1800" dirty="0" smtClean="0"/>
              <a:t>示。</a:t>
            </a:r>
            <a:endParaRPr lang="zh-CN" altLang="en-US" sz="1800" dirty="0"/>
          </a:p>
        </p:txBody>
      </p:sp>
      <p:pic>
        <p:nvPicPr>
          <p:cNvPr id="3" name="图片 2">
            <a:extLst>
              <a:ext uri="{FF2B5EF4-FFF2-40B4-BE49-F238E27FC236}">
                <a16:creationId xmlns:a16="http://schemas.microsoft.com/office/drawing/2014/main" id="{2D91D1DA-1B6E-4199-A420-4199DEF62C89}"/>
              </a:ext>
            </a:extLst>
          </p:cNvPr>
          <p:cNvPicPr>
            <a:picLocks noChangeAspect="1"/>
          </p:cNvPicPr>
          <p:nvPr/>
        </p:nvPicPr>
        <p:blipFill>
          <a:blip r:embed="rId2"/>
          <a:stretch>
            <a:fillRect/>
          </a:stretch>
        </p:blipFill>
        <p:spPr>
          <a:xfrm>
            <a:off x="2774950" y="3421410"/>
            <a:ext cx="5800725" cy="2428875"/>
          </a:xfrm>
          <a:prstGeom prst="rect">
            <a:avLst/>
          </a:prstGeom>
        </p:spPr>
      </p:pic>
    </p:spTree>
    <p:extLst>
      <p:ext uri="{BB962C8B-B14F-4D97-AF65-F5344CB8AC3E}">
        <p14:creationId xmlns:p14="http://schemas.microsoft.com/office/powerpoint/2010/main" val="125908500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D892A-3B02-4E5B-B64C-ACF64C014E89}"/>
              </a:ext>
            </a:extLst>
          </p:cNvPr>
          <p:cNvSpPr>
            <a:spLocks noGrp="1"/>
          </p:cNvSpPr>
          <p:nvPr>
            <p:ph type="title"/>
          </p:nvPr>
        </p:nvSpPr>
        <p:spPr/>
        <p:txBody>
          <a:bodyPr/>
          <a:lstStyle/>
          <a:p>
            <a:r>
              <a:rPr lang="zh-CN" altLang="en-US" dirty="0" smtClean="0"/>
              <a:t>基于</a:t>
            </a:r>
            <a:r>
              <a:rPr lang="zh-CN" altLang="en-US" dirty="0" smtClean="0">
                <a:solidFill>
                  <a:srgbClr val="7030A0"/>
                </a:solidFill>
              </a:rPr>
              <a:t>有序二叉树</a:t>
            </a:r>
            <a:r>
              <a:rPr lang="zh-CN" altLang="en-US" dirty="0" smtClean="0"/>
              <a:t>的查找过程</a:t>
            </a:r>
            <a:endParaRPr lang="zh-CN" altLang="en-US" dirty="0"/>
          </a:p>
        </p:txBody>
      </p:sp>
      <p:sp>
        <p:nvSpPr>
          <p:cNvPr id="4" name="内容占位符 3">
            <a:extLst>
              <a:ext uri="{FF2B5EF4-FFF2-40B4-BE49-F238E27FC236}">
                <a16:creationId xmlns:a16="http://schemas.microsoft.com/office/drawing/2014/main" id="{3FCA1002-3584-4313-8182-EB7537AC2FB6}"/>
              </a:ext>
            </a:extLst>
          </p:cNvPr>
          <p:cNvSpPr>
            <a:spLocks noGrp="1"/>
          </p:cNvSpPr>
          <p:nvPr>
            <p:ph idx="1"/>
          </p:nvPr>
        </p:nvSpPr>
        <p:spPr>
          <a:xfrm>
            <a:off x="485775" y="1135062"/>
            <a:ext cx="8417156" cy="2065338"/>
          </a:xfrm>
        </p:spPr>
        <p:txBody>
          <a:bodyPr/>
          <a:lstStyle/>
          <a:p>
            <a:pPr marL="342900" indent="-342900">
              <a:buFont typeface="Wingdings" panose="05000000000000000000" pitchFamily="2" charset="2"/>
              <a:buChar char="l"/>
            </a:pPr>
            <a:r>
              <a:rPr lang="zh-CN" altLang="en-US" sz="1800" dirty="0" smtClean="0"/>
              <a:t>将</a:t>
            </a:r>
            <a:r>
              <a:rPr lang="en-US" altLang="zh-CN" sz="1800" dirty="0" smtClean="0">
                <a:solidFill>
                  <a:srgbClr val="C00000"/>
                </a:solidFill>
              </a:rPr>
              <a:t>key</a:t>
            </a:r>
            <a:r>
              <a:rPr lang="zh-CN" altLang="en-US" sz="1800" dirty="0" smtClean="0"/>
              <a:t>与</a:t>
            </a:r>
            <a:r>
              <a:rPr lang="zh-CN" altLang="en-US" sz="1800" dirty="0" smtClean="0">
                <a:solidFill>
                  <a:srgbClr val="C00000"/>
                </a:solidFill>
              </a:rPr>
              <a:t>根节点</a:t>
            </a:r>
            <a:r>
              <a:rPr lang="zh-CN" altLang="en-US" sz="1800" dirty="0" smtClean="0"/>
              <a:t>数据进行比较</a:t>
            </a:r>
            <a:endParaRPr lang="en-US" altLang="zh-CN" sz="1800" dirty="0" smtClean="0"/>
          </a:p>
          <a:p>
            <a:pPr marL="971550" lvl="1"/>
            <a:r>
              <a:rPr lang="zh-CN" altLang="en-US" sz="1600" dirty="0" smtClean="0"/>
              <a:t>如果二者相等，找到，返回根节点数据所对应的数组元素的下标；</a:t>
            </a:r>
            <a:endParaRPr lang="en-US" altLang="zh-CN" sz="1600" dirty="0" smtClean="0"/>
          </a:p>
          <a:p>
            <a:pPr marL="971550" lvl="1"/>
            <a:r>
              <a:rPr lang="zh-CN" altLang="en-US" sz="1600" dirty="0" smtClean="0"/>
              <a:t>如果二者不相等</a:t>
            </a:r>
            <a:endParaRPr lang="en-US" altLang="zh-CN" sz="1600" dirty="0"/>
          </a:p>
          <a:p>
            <a:pPr marL="1200150" lvl="2"/>
            <a:r>
              <a:rPr lang="zh-CN" altLang="en-US" sz="1400" dirty="0" smtClean="0"/>
              <a:t>如果</a:t>
            </a:r>
            <a:r>
              <a:rPr lang="en-US" altLang="zh-CN" sz="1400" dirty="0" smtClean="0"/>
              <a:t>key&gt;</a:t>
            </a:r>
            <a:r>
              <a:rPr lang="zh-CN" altLang="en-US" sz="1400" dirty="0" smtClean="0"/>
              <a:t>根节点，则在其右子树继续查找；</a:t>
            </a:r>
            <a:endParaRPr lang="en-US" altLang="zh-CN" sz="1400" dirty="0" smtClean="0"/>
          </a:p>
          <a:p>
            <a:pPr marL="1200150" lvl="2"/>
            <a:r>
              <a:rPr lang="zh-CN" altLang="en-US" sz="1400" dirty="0"/>
              <a:t>如果</a:t>
            </a:r>
            <a:r>
              <a:rPr lang="en-US" altLang="zh-CN" sz="1400" dirty="0" smtClean="0"/>
              <a:t>key&lt;</a:t>
            </a:r>
            <a:r>
              <a:rPr lang="zh-CN" altLang="en-US" sz="1400" dirty="0" smtClean="0"/>
              <a:t>根节点，</a:t>
            </a:r>
            <a:r>
              <a:rPr lang="zh-CN" altLang="en-US" sz="1400" dirty="0"/>
              <a:t>则</a:t>
            </a:r>
            <a:r>
              <a:rPr lang="zh-CN" altLang="en-US" sz="1400" dirty="0" smtClean="0"/>
              <a:t>在其左子</a:t>
            </a:r>
            <a:r>
              <a:rPr lang="zh-CN" altLang="en-US" sz="1400" dirty="0"/>
              <a:t>树继续</a:t>
            </a:r>
            <a:r>
              <a:rPr lang="zh-CN" altLang="en-US" sz="1400" dirty="0" smtClean="0"/>
              <a:t>查找；</a:t>
            </a:r>
            <a:endParaRPr lang="en-US" altLang="zh-CN" sz="1600" dirty="0" smtClean="0"/>
          </a:p>
          <a:p>
            <a:pPr marL="342900" indent="-342900">
              <a:buFont typeface="Wingdings" panose="05000000000000000000" pitchFamily="2" charset="2"/>
              <a:buChar char="l"/>
            </a:pPr>
            <a:r>
              <a:rPr lang="zh-CN" altLang="en-US" sz="1800" dirty="0" smtClean="0"/>
              <a:t>对于左子树与右子树，重复上述过程。可以利用</a:t>
            </a:r>
            <a:r>
              <a:rPr lang="zh-CN" altLang="en-US" sz="1800" dirty="0" smtClean="0">
                <a:solidFill>
                  <a:srgbClr val="C00000"/>
                </a:solidFill>
              </a:rPr>
              <a:t>递归算法</a:t>
            </a:r>
            <a:r>
              <a:rPr lang="zh-CN" altLang="en-US" sz="1800" dirty="0" smtClean="0"/>
              <a:t>实现。</a:t>
            </a:r>
            <a:endParaRPr lang="zh-CN" altLang="en-US" sz="1800" dirty="0"/>
          </a:p>
        </p:txBody>
      </p:sp>
      <p:pic>
        <p:nvPicPr>
          <p:cNvPr id="3" name="图片 2">
            <a:extLst>
              <a:ext uri="{FF2B5EF4-FFF2-40B4-BE49-F238E27FC236}">
                <a16:creationId xmlns:a16="http://schemas.microsoft.com/office/drawing/2014/main" id="{2D91D1DA-1B6E-4199-A420-4199DEF62C89}"/>
              </a:ext>
            </a:extLst>
          </p:cNvPr>
          <p:cNvPicPr>
            <a:picLocks noChangeAspect="1"/>
          </p:cNvPicPr>
          <p:nvPr/>
        </p:nvPicPr>
        <p:blipFill>
          <a:blip r:embed="rId2"/>
          <a:stretch>
            <a:fillRect/>
          </a:stretch>
        </p:blipFill>
        <p:spPr>
          <a:xfrm>
            <a:off x="2774950" y="3034145"/>
            <a:ext cx="5800725" cy="2428875"/>
          </a:xfrm>
          <a:prstGeom prst="rect">
            <a:avLst/>
          </a:prstGeom>
        </p:spPr>
      </p:pic>
    </p:spTree>
    <p:extLst>
      <p:ext uri="{BB962C8B-B14F-4D97-AF65-F5344CB8AC3E}">
        <p14:creationId xmlns:p14="http://schemas.microsoft.com/office/powerpoint/2010/main" val="12900435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solidFill>
                  <a:srgbClr val="7030A0"/>
                </a:solidFill>
              </a:rPr>
              <a:t>课后练习：</a:t>
            </a:r>
            <a:r>
              <a:rPr lang="zh-CN" altLang="en-US" dirty="0" smtClean="0"/>
              <a:t>二</a:t>
            </a:r>
            <a:r>
              <a:rPr lang="zh-CN" altLang="en-US" dirty="0"/>
              <a:t>分查找，对半查找，折半查找</a:t>
            </a:r>
          </a:p>
        </p:txBody>
      </p:sp>
      <p:sp>
        <p:nvSpPr>
          <p:cNvPr id="3" name="内容占位符 2"/>
          <p:cNvSpPr>
            <a:spLocks noGrp="1"/>
          </p:cNvSpPr>
          <p:nvPr>
            <p:ph idx="1"/>
          </p:nvPr>
        </p:nvSpPr>
        <p:spPr>
          <a:xfrm>
            <a:off x="485775" y="942116"/>
            <a:ext cx="8089900" cy="5345112"/>
          </a:xfrm>
        </p:spPr>
        <p:txBody>
          <a:bodyPr>
            <a:noAutofit/>
          </a:bodyPr>
          <a:lstStyle/>
          <a:p>
            <a:pPr marL="111125">
              <a:lnSpc>
                <a:spcPct val="100000"/>
              </a:lnSpc>
              <a:spcBef>
                <a:spcPts val="0"/>
              </a:spcBef>
              <a:buNone/>
            </a:pPr>
            <a:r>
              <a:rPr lang="en-US" altLang="zh-CN" sz="1400" dirty="0">
                <a:solidFill>
                  <a:srgbClr val="080808"/>
                </a:solidFill>
              </a:rPr>
              <a:t>//</a:t>
            </a:r>
            <a:r>
              <a:rPr lang="zh-CN" altLang="en-US" sz="1400" dirty="0">
                <a:solidFill>
                  <a:srgbClr val="080808"/>
                </a:solidFill>
              </a:rPr>
              <a:t>数组</a:t>
            </a:r>
            <a:r>
              <a:rPr lang="en-US" altLang="zh-CN" sz="1400" dirty="0">
                <a:solidFill>
                  <a:srgbClr val="080808"/>
                </a:solidFill>
              </a:rPr>
              <a:t>data[n]</a:t>
            </a:r>
            <a:r>
              <a:rPr lang="zh-CN" altLang="en-US" sz="1400" dirty="0">
                <a:solidFill>
                  <a:srgbClr val="080808"/>
                </a:solidFill>
              </a:rPr>
              <a:t>中的</a:t>
            </a:r>
            <a:r>
              <a:rPr lang="en-US" altLang="zh-CN" sz="1400" dirty="0">
                <a:solidFill>
                  <a:srgbClr val="080808"/>
                </a:solidFill>
              </a:rPr>
              <a:t>n</a:t>
            </a:r>
            <a:r>
              <a:rPr lang="zh-CN" altLang="en-US" sz="1400" dirty="0">
                <a:solidFill>
                  <a:srgbClr val="080808"/>
                </a:solidFill>
              </a:rPr>
              <a:t>个元素，已按</a:t>
            </a:r>
            <a:r>
              <a:rPr lang="zh-CN" altLang="en-US" sz="1400" dirty="0">
                <a:solidFill>
                  <a:srgbClr val="0000CC"/>
                </a:solidFill>
              </a:rPr>
              <a:t>升序排列</a:t>
            </a:r>
            <a:r>
              <a:rPr lang="zh-CN" altLang="en-US" sz="1400" dirty="0">
                <a:solidFill>
                  <a:srgbClr val="080808"/>
                </a:solidFill>
              </a:rPr>
              <a:t>，在</a:t>
            </a:r>
            <a:r>
              <a:rPr lang="en-US" altLang="zh-CN" sz="1400" dirty="0">
                <a:solidFill>
                  <a:srgbClr val="080808"/>
                </a:solidFill>
              </a:rPr>
              <a:t>data[n]</a:t>
            </a:r>
            <a:r>
              <a:rPr lang="zh-CN" altLang="en-US" sz="1400" dirty="0">
                <a:solidFill>
                  <a:srgbClr val="080808"/>
                </a:solidFill>
              </a:rPr>
              <a:t>中查找元素</a:t>
            </a:r>
            <a:r>
              <a:rPr lang="en-US" altLang="zh-CN" sz="1400" dirty="0">
                <a:solidFill>
                  <a:srgbClr val="080808"/>
                </a:solidFill>
              </a:rPr>
              <a:t>key</a:t>
            </a:r>
          </a:p>
          <a:p>
            <a:pPr marL="111125" indent="0">
              <a:lnSpc>
                <a:spcPct val="100000"/>
              </a:lnSpc>
              <a:spcBef>
                <a:spcPts val="0"/>
              </a:spcBef>
              <a:buNone/>
            </a:pPr>
            <a:r>
              <a:rPr lang="en-US" altLang="zh-CN" sz="1400" dirty="0">
                <a:solidFill>
                  <a:srgbClr val="080808"/>
                </a:solidFill>
              </a:rPr>
              <a:t>int main()</a:t>
            </a:r>
          </a:p>
          <a:p>
            <a:pPr marL="111125" indent="0">
              <a:lnSpc>
                <a:spcPct val="100000"/>
              </a:lnSpc>
              <a:spcBef>
                <a:spcPts val="0"/>
              </a:spcBef>
              <a:buNone/>
            </a:pPr>
            <a:r>
              <a:rPr lang="en-US" altLang="zh-CN" sz="1400" dirty="0">
                <a:solidFill>
                  <a:srgbClr val="080808"/>
                </a:solidFill>
              </a:rPr>
              <a:t>{  </a:t>
            </a:r>
          </a:p>
          <a:p>
            <a:pPr marL="111125" indent="0">
              <a:lnSpc>
                <a:spcPct val="100000"/>
              </a:lnSpc>
              <a:spcBef>
                <a:spcPts val="0"/>
              </a:spcBef>
              <a:buNone/>
            </a:pPr>
            <a:r>
              <a:rPr lang="en-US" altLang="zh-CN" sz="1400" dirty="0">
                <a:solidFill>
                  <a:srgbClr val="080808"/>
                </a:solidFill>
              </a:rPr>
              <a:t>        int data[10]={1,2,3,4,5,6,7,8,9,10},  key=8;</a:t>
            </a:r>
          </a:p>
          <a:p>
            <a:pPr marL="111125" indent="0">
              <a:lnSpc>
                <a:spcPct val="100000"/>
              </a:lnSpc>
              <a:spcBef>
                <a:spcPts val="0"/>
              </a:spcBef>
              <a:buNone/>
            </a:pPr>
            <a:r>
              <a:rPr lang="en-US" altLang="zh-CN" sz="1400" dirty="0">
                <a:solidFill>
                  <a:srgbClr val="FF0000"/>
                </a:solidFill>
              </a:rPr>
              <a:t>        </a:t>
            </a:r>
            <a:r>
              <a:rPr lang="en-US" altLang="zh-CN" sz="1400" dirty="0">
                <a:solidFill>
                  <a:srgbClr val="7030A0"/>
                </a:solidFill>
              </a:rPr>
              <a:t>int mid, start = 0, end = 9;  </a:t>
            </a:r>
          </a:p>
          <a:p>
            <a:pPr marL="111125" indent="0">
              <a:lnSpc>
                <a:spcPct val="100000"/>
              </a:lnSpc>
              <a:spcBef>
                <a:spcPts val="0"/>
              </a:spcBef>
              <a:buNone/>
            </a:pPr>
            <a:r>
              <a:rPr lang="en-US" altLang="zh-CN" sz="1400" dirty="0">
                <a:solidFill>
                  <a:srgbClr val="7030A0"/>
                </a:solidFill>
              </a:rPr>
              <a:t>        </a:t>
            </a:r>
            <a:r>
              <a:rPr lang="en-US" altLang="zh-CN" sz="1400" dirty="0" smtClean="0">
                <a:solidFill>
                  <a:srgbClr val="7030A0"/>
                </a:solidFill>
              </a:rPr>
              <a:t>char  FOUND=0;</a:t>
            </a:r>
            <a:endParaRPr lang="en-US" altLang="zh-CN" sz="1400" dirty="0">
              <a:solidFill>
                <a:srgbClr val="7030A0"/>
              </a:solidFill>
            </a:endParaRPr>
          </a:p>
          <a:p>
            <a:pPr marL="111125" indent="0">
              <a:lnSpc>
                <a:spcPct val="100000"/>
              </a:lnSpc>
              <a:spcBef>
                <a:spcPts val="0"/>
              </a:spcBef>
              <a:buNone/>
            </a:pPr>
            <a:r>
              <a:rPr lang="en-US" altLang="zh-CN" sz="1400" dirty="0">
                <a:solidFill>
                  <a:srgbClr val="080808"/>
                </a:solidFill>
              </a:rPr>
              <a:t>        </a:t>
            </a:r>
            <a:r>
              <a:rPr lang="en-US" altLang="zh-CN" sz="1400" dirty="0">
                <a:solidFill>
                  <a:srgbClr val="C00000"/>
                </a:solidFill>
              </a:rPr>
              <a:t>while (start &lt;= end)</a:t>
            </a:r>
          </a:p>
          <a:p>
            <a:pPr marL="111125" indent="0">
              <a:lnSpc>
                <a:spcPct val="100000"/>
              </a:lnSpc>
              <a:spcBef>
                <a:spcPts val="0"/>
              </a:spcBef>
              <a:buNone/>
            </a:pPr>
            <a:r>
              <a:rPr lang="en-US" altLang="zh-CN" sz="1400" dirty="0">
                <a:solidFill>
                  <a:srgbClr val="080808"/>
                </a:solidFill>
              </a:rPr>
              <a:t>       {  </a:t>
            </a:r>
          </a:p>
          <a:p>
            <a:pPr marL="111125" indent="0">
              <a:lnSpc>
                <a:spcPct val="100000"/>
              </a:lnSpc>
              <a:spcBef>
                <a:spcPts val="0"/>
              </a:spcBef>
              <a:buNone/>
            </a:pPr>
            <a:r>
              <a:rPr lang="en-US" altLang="zh-CN" sz="1400" dirty="0">
                <a:solidFill>
                  <a:srgbClr val="0303DF"/>
                </a:solidFill>
              </a:rPr>
              <a:t>             mid = (end + start) / 2 ;    //</a:t>
            </a:r>
            <a:r>
              <a:rPr lang="zh-CN" altLang="en-US" sz="1400" dirty="0">
                <a:solidFill>
                  <a:srgbClr val="0303DF"/>
                </a:solidFill>
              </a:rPr>
              <a:t>取中间位置</a:t>
            </a:r>
            <a:endParaRPr lang="en-US" altLang="zh-CN" sz="1400" dirty="0">
              <a:solidFill>
                <a:srgbClr val="0303DF"/>
              </a:solidFill>
            </a:endParaRPr>
          </a:p>
          <a:p>
            <a:pPr marL="111125" indent="0">
              <a:lnSpc>
                <a:spcPct val="100000"/>
              </a:lnSpc>
              <a:spcBef>
                <a:spcPts val="0"/>
              </a:spcBef>
              <a:buNone/>
            </a:pPr>
            <a:r>
              <a:rPr lang="en-US" altLang="zh-CN" sz="1400" dirty="0">
                <a:solidFill>
                  <a:srgbClr val="080808"/>
                </a:solidFill>
              </a:rPr>
              <a:t>             if  (key ==data[mid])      //</a:t>
            </a:r>
            <a:r>
              <a:rPr lang="zh-CN" altLang="en-US" sz="1400" dirty="0">
                <a:solidFill>
                  <a:srgbClr val="080808"/>
                </a:solidFill>
              </a:rPr>
              <a:t>若中间位置的元素即为要查找的元素</a:t>
            </a:r>
            <a:r>
              <a:rPr lang="en-US" altLang="zh-CN" sz="1400" dirty="0">
                <a:solidFill>
                  <a:srgbClr val="080808"/>
                </a:solidFill>
              </a:rPr>
              <a:t>key</a:t>
            </a:r>
          </a:p>
          <a:p>
            <a:pPr marL="111125" indent="0">
              <a:lnSpc>
                <a:spcPct val="100000"/>
              </a:lnSpc>
              <a:spcBef>
                <a:spcPts val="0"/>
              </a:spcBef>
              <a:buNone/>
            </a:pPr>
            <a:r>
              <a:rPr lang="en-US" altLang="zh-CN" sz="1400" dirty="0">
                <a:solidFill>
                  <a:srgbClr val="080808"/>
                </a:solidFill>
              </a:rPr>
              <a:t>            {</a:t>
            </a:r>
          </a:p>
          <a:p>
            <a:pPr marL="111125" indent="0">
              <a:lnSpc>
                <a:spcPct val="100000"/>
              </a:lnSpc>
              <a:spcBef>
                <a:spcPts val="0"/>
              </a:spcBef>
              <a:buNone/>
            </a:pPr>
            <a:r>
              <a:rPr lang="en-US" altLang="zh-CN" sz="1400" dirty="0">
                <a:solidFill>
                  <a:srgbClr val="080808"/>
                </a:solidFill>
              </a:rPr>
              <a:t>                 </a:t>
            </a:r>
            <a:r>
              <a:rPr lang="en-US" altLang="zh-CN" sz="1400" dirty="0" err="1">
                <a:solidFill>
                  <a:srgbClr val="080808"/>
                </a:solidFill>
              </a:rPr>
              <a:t>printf</a:t>
            </a:r>
            <a:r>
              <a:rPr lang="en-US" altLang="zh-CN" sz="1400" dirty="0">
                <a:solidFill>
                  <a:srgbClr val="080808"/>
                </a:solidFill>
              </a:rPr>
              <a:t>(“Found %d at data[%d]\n”, key, mid);</a:t>
            </a:r>
          </a:p>
          <a:p>
            <a:pPr marL="111125" indent="0">
              <a:lnSpc>
                <a:spcPct val="100000"/>
              </a:lnSpc>
              <a:spcBef>
                <a:spcPts val="0"/>
              </a:spcBef>
              <a:buNone/>
            </a:pPr>
            <a:r>
              <a:rPr lang="en-US" altLang="zh-CN" sz="1400" dirty="0">
                <a:solidFill>
                  <a:srgbClr val="FF0000"/>
                </a:solidFill>
              </a:rPr>
              <a:t>                 </a:t>
            </a:r>
            <a:r>
              <a:rPr lang="en-US" altLang="zh-CN" sz="1400" dirty="0" smtClean="0">
                <a:solidFill>
                  <a:srgbClr val="0070C0"/>
                </a:solidFill>
              </a:rPr>
              <a:t>FOUND=1;</a:t>
            </a:r>
            <a:endParaRPr lang="en-US" altLang="zh-CN" sz="1400" dirty="0">
              <a:solidFill>
                <a:srgbClr val="0070C0"/>
              </a:solidFill>
            </a:endParaRPr>
          </a:p>
          <a:p>
            <a:pPr marL="111125" indent="0">
              <a:lnSpc>
                <a:spcPct val="100000"/>
              </a:lnSpc>
              <a:spcBef>
                <a:spcPts val="0"/>
              </a:spcBef>
              <a:buNone/>
            </a:pPr>
            <a:r>
              <a:rPr lang="en-US" altLang="zh-CN" sz="1400" dirty="0">
                <a:solidFill>
                  <a:srgbClr val="080808"/>
                </a:solidFill>
              </a:rPr>
              <a:t>                 break;    //return</a:t>
            </a:r>
            <a:r>
              <a:rPr lang="zh-CN" altLang="en-US" sz="1400" dirty="0">
                <a:solidFill>
                  <a:srgbClr val="080808"/>
                </a:solidFill>
              </a:rPr>
              <a:t> </a:t>
            </a:r>
            <a:r>
              <a:rPr lang="en-US" altLang="zh-CN" sz="1400" dirty="0">
                <a:solidFill>
                  <a:srgbClr val="080808"/>
                </a:solidFill>
              </a:rPr>
              <a:t>0;</a:t>
            </a:r>
          </a:p>
          <a:p>
            <a:pPr marL="111125" indent="0">
              <a:lnSpc>
                <a:spcPct val="100000"/>
              </a:lnSpc>
              <a:spcBef>
                <a:spcPts val="0"/>
              </a:spcBef>
              <a:buNone/>
            </a:pPr>
            <a:r>
              <a:rPr lang="en-US" altLang="zh-CN" sz="1400" dirty="0">
                <a:solidFill>
                  <a:srgbClr val="080808"/>
                </a:solidFill>
              </a:rPr>
              <a:t>             }</a:t>
            </a:r>
          </a:p>
          <a:p>
            <a:pPr marL="111125" indent="0">
              <a:lnSpc>
                <a:spcPct val="100000"/>
              </a:lnSpc>
              <a:spcBef>
                <a:spcPts val="0"/>
              </a:spcBef>
              <a:buNone/>
            </a:pPr>
            <a:r>
              <a:rPr lang="en-US" altLang="zh-CN" sz="1400" dirty="0">
                <a:solidFill>
                  <a:srgbClr val="080808"/>
                </a:solidFill>
              </a:rPr>
              <a:t>             else if (key &lt; data[mid])   //</a:t>
            </a:r>
            <a:r>
              <a:rPr lang="zh-CN" altLang="en-US" sz="1400" dirty="0">
                <a:solidFill>
                  <a:srgbClr val="080808"/>
                </a:solidFill>
              </a:rPr>
              <a:t>在数组的</a:t>
            </a:r>
            <a:r>
              <a:rPr lang="zh-CN" altLang="en-US" sz="1400" dirty="0">
                <a:solidFill>
                  <a:srgbClr val="030DCD"/>
                </a:solidFill>
              </a:rPr>
              <a:t>左半部分查找</a:t>
            </a:r>
            <a:r>
              <a:rPr lang="zh-CN" altLang="en-US" sz="1400" dirty="0">
                <a:solidFill>
                  <a:srgbClr val="080808"/>
                </a:solidFill>
              </a:rPr>
              <a:t>；</a:t>
            </a:r>
            <a:endParaRPr lang="en-US" altLang="zh-CN" sz="1400" dirty="0">
              <a:solidFill>
                <a:srgbClr val="080808"/>
              </a:solidFill>
            </a:endParaRPr>
          </a:p>
          <a:p>
            <a:pPr marL="111125" indent="0">
              <a:lnSpc>
                <a:spcPct val="100000"/>
              </a:lnSpc>
              <a:spcBef>
                <a:spcPts val="0"/>
              </a:spcBef>
              <a:buNone/>
            </a:pPr>
            <a:r>
              <a:rPr lang="en-US" altLang="zh-CN" sz="1400" dirty="0">
                <a:solidFill>
                  <a:srgbClr val="080808"/>
                </a:solidFill>
              </a:rPr>
              <a:t>                  </a:t>
            </a:r>
            <a:r>
              <a:rPr lang="en-US" altLang="zh-CN" sz="1400" dirty="0">
                <a:solidFill>
                  <a:srgbClr val="006600"/>
                </a:solidFill>
              </a:rPr>
              <a:t>end = mid - 1;     //</a:t>
            </a:r>
            <a:r>
              <a:rPr lang="zh-CN" altLang="en-US" sz="1400" dirty="0">
                <a:solidFill>
                  <a:srgbClr val="006600"/>
                </a:solidFill>
              </a:rPr>
              <a:t>位置</a:t>
            </a:r>
            <a:r>
              <a:rPr lang="en-US" altLang="zh-CN" sz="1400" dirty="0">
                <a:solidFill>
                  <a:srgbClr val="006600"/>
                </a:solidFill>
              </a:rPr>
              <a:t>mid</a:t>
            </a:r>
            <a:r>
              <a:rPr lang="zh-CN" altLang="en-US" sz="1400" dirty="0">
                <a:solidFill>
                  <a:srgbClr val="006600"/>
                </a:solidFill>
              </a:rPr>
              <a:t>已经查找过</a:t>
            </a:r>
            <a:endParaRPr lang="en-US" altLang="zh-CN" sz="1400" dirty="0">
              <a:solidFill>
                <a:srgbClr val="006600"/>
              </a:solidFill>
            </a:endParaRPr>
          </a:p>
          <a:p>
            <a:pPr marL="111125" indent="0">
              <a:lnSpc>
                <a:spcPct val="100000"/>
              </a:lnSpc>
              <a:spcBef>
                <a:spcPts val="0"/>
              </a:spcBef>
              <a:buNone/>
            </a:pPr>
            <a:r>
              <a:rPr lang="en-US" altLang="zh-CN" sz="1400" dirty="0">
                <a:solidFill>
                  <a:srgbClr val="080808"/>
                </a:solidFill>
              </a:rPr>
              <a:t>             else if (key &gt; data[mid])    //</a:t>
            </a:r>
            <a:r>
              <a:rPr lang="zh-CN" altLang="en-US" sz="1400" dirty="0">
                <a:solidFill>
                  <a:srgbClr val="080808"/>
                </a:solidFill>
              </a:rPr>
              <a:t>在数组的</a:t>
            </a:r>
            <a:r>
              <a:rPr lang="zh-CN" altLang="en-US" sz="1400" dirty="0">
                <a:solidFill>
                  <a:srgbClr val="030DCD"/>
                </a:solidFill>
              </a:rPr>
              <a:t>右半部分查找</a:t>
            </a:r>
            <a:endParaRPr lang="en-US" altLang="zh-CN" sz="1400" dirty="0">
              <a:solidFill>
                <a:srgbClr val="030DCD"/>
              </a:solidFill>
            </a:endParaRPr>
          </a:p>
          <a:p>
            <a:pPr marL="111125" indent="0">
              <a:lnSpc>
                <a:spcPct val="100000"/>
              </a:lnSpc>
              <a:spcBef>
                <a:spcPts val="0"/>
              </a:spcBef>
              <a:buNone/>
            </a:pPr>
            <a:r>
              <a:rPr lang="en-US" altLang="zh-CN" sz="1400" dirty="0">
                <a:solidFill>
                  <a:srgbClr val="006600"/>
                </a:solidFill>
              </a:rPr>
              <a:t>                  start = mid + 1;  </a:t>
            </a:r>
          </a:p>
          <a:p>
            <a:pPr marL="111125" indent="0">
              <a:lnSpc>
                <a:spcPct val="100000"/>
              </a:lnSpc>
              <a:spcBef>
                <a:spcPts val="0"/>
              </a:spcBef>
              <a:buNone/>
            </a:pPr>
            <a:r>
              <a:rPr lang="en-US" altLang="zh-CN" sz="1400" dirty="0">
                <a:solidFill>
                  <a:srgbClr val="080808"/>
                </a:solidFill>
              </a:rPr>
              <a:t>        </a:t>
            </a:r>
            <a:r>
              <a:rPr lang="en-US" altLang="zh-CN" sz="1400" dirty="0">
                <a:solidFill>
                  <a:srgbClr val="C00000"/>
                </a:solidFill>
              </a:rPr>
              <a:t>} //while (start &lt;= end)</a:t>
            </a:r>
          </a:p>
          <a:p>
            <a:pPr marL="111125" indent="0">
              <a:lnSpc>
                <a:spcPct val="100000"/>
              </a:lnSpc>
              <a:spcBef>
                <a:spcPts val="0"/>
              </a:spcBef>
              <a:buNone/>
            </a:pPr>
            <a:r>
              <a:rPr lang="en-US" altLang="zh-CN" sz="1400" dirty="0">
                <a:solidFill>
                  <a:srgbClr val="080808"/>
                </a:solidFill>
              </a:rPr>
              <a:t>        if </a:t>
            </a:r>
            <a:r>
              <a:rPr lang="en-US" altLang="zh-CN" sz="1400" dirty="0">
                <a:solidFill>
                  <a:srgbClr val="003300"/>
                </a:solidFill>
              </a:rPr>
              <a:t>(</a:t>
            </a:r>
            <a:r>
              <a:rPr lang="en-US" altLang="zh-CN" sz="1400" dirty="0">
                <a:solidFill>
                  <a:srgbClr val="0070C0"/>
                </a:solidFill>
              </a:rPr>
              <a:t>! FOUND</a:t>
            </a:r>
            <a:r>
              <a:rPr lang="en-US" altLang="zh-CN" sz="1400" dirty="0">
                <a:solidFill>
                  <a:srgbClr val="FF0000"/>
                </a:solidFill>
              </a:rPr>
              <a:t>)</a:t>
            </a:r>
          </a:p>
          <a:p>
            <a:pPr marL="111125" indent="0">
              <a:lnSpc>
                <a:spcPct val="100000"/>
              </a:lnSpc>
              <a:spcBef>
                <a:spcPts val="0"/>
              </a:spcBef>
              <a:buNone/>
            </a:pPr>
            <a:r>
              <a:rPr lang="en-US" altLang="zh-CN" sz="1400" dirty="0">
                <a:solidFill>
                  <a:srgbClr val="0303DF"/>
                </a:solidFill>
              </a:rPr>
              <a:t>              </a:t>
            </a:r>
            <a:r>
              <a:rPr lang="en-US" altLang="zh-CN" sz="1400" dirty="0" err="1">
                <a:solidFill>
                  <a:srgbClr val="080808"/>
                </a:solidFill>
              </a:rPr>
              <a:t>printf</a:t>
            </a:r>
            <a:r>
              <a:rPr lang="en-US" altLang="zh-CN" sz="1400" dirty="0">
                <a:solidFill>
                  <a:srgbClr val="080808"/>
                </a:solidFill>
              </a:rPr>
              <a:t>(“Not Found %d in data[]\n”, key);</a:t>
            </a:r>
          </a:p>
          <a:p>
            <a:pPr marL="111125" indent="0">
              <a:lnSpc>
                <a:spcPct val="100000"/>
              </a:lnSpc>
              <a:spcBef>
                <a:spcPts val="0"/>
              </a:spcBef>
              <a:buNone/>
            </a:pPr>
            <a:r>
              <a:rPr lang="en-US" altLang="zh-CN" sz="1400" dirty="0">
                <a:solidFill>
                  <a:srgbClr val="080808"/>
                </a:solidFill>
              </a:rPr>
              <a:t>        return 0; </a:t>
            </a:r>
          </a:p>
          <a:p>
            <a:pPr marL="111125" indent="0">
              <a:lnSpc>
                <a:spcPct val="100000"/>
              </a:lnSpc>
              <a:spcBef>
                <a:spcPts val="0"/>
              </a:spcBef>
              <a:buNone/>
            </a:pPr>
            <a:r>
              <a:rPr lang="en-US" altLang="zh-CN" sz="1400" dirty="0">
                <a:solidFill>
                  <a:srgbClr val="080808"/>
                </a:solidFill>
              </a:rPr>
              <a:t>   } </a:t>
            </a:r>
            <a:endParaRPr lang="zh-CN" altLang="en-US" sz="1400" dirty="0">
              <a:solidFill>
                <a:srgbClr val="080808"/>
              </a:solidFill>
            </a:endParaRPr>
          </a:p>
        </p:txBody>
      </p:sp>
      <p:pic>
        <p:nvPicPr>
          <p:cNvPr id="4" name="图片 3">
            <a:extLst>
              <a:ext uri="{FF2B5EF4-FFF2-40B4-BE49-F238E27FC236}">
                <a16:creationId xmlns:a16="http://schemas.microsoft.com/office/drawing/2014/main" id="{2D91D1DA-1B6E-4199-A420-4199DEF62C89}"/>
              </a:ext>
            </a:extLst>
          </p:cNvPr>
          <p:cNvPicPr>
            <a:picLocks noChangeAspect="1"/>
          </p:cNvPicPr>
          <p:nvPr/>
        </p:nvPicPr>
        <p:blipFill>
          <a:blip r:embed="rId2"/>
          <a:stretch>
            <a:fillRect/>
          </a:stretch>
        </p:blipFill>
        <p:spPr>
          <a:xfrm>
            <a:off x="5378335" y="3433156"/>
            <a:ext cx="2989522" cy="2428875"/>
          </a:xfrm>
          <a:prstGeom prst="rect">
            <a:avLst/>
          </a:prstGeom>
        </p:spPr>
      </p:pic>
    </p:spTree>
    <p:extLst>
      <p:ext uri="{BB962C8B-B14F-4D97-AF65-F5344CB8AC3E}">
        <p14:creationId xmlns:p14="http://schemas.microsoft.com/office/powerpoint/2010/main" val="185424786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二分查找，对半查找，折半查找</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85774" y="1135063"/>
                <a:ext cx="8322665" cy="5345112"/>
              </a:xfrm>
            </p:spPr>
            <p:txBody>
              <a:bodyPr/>
              <a:lstStyle/>
              <a:p>
                <a:pPr marL="342900" indent="-342900">
                  <a:buFont typeface="Wingdings" panose="05000000000000000000" pitchFamily="2" charset="2"/>
                  <a:buChar char="l"/>
                </a:pPr>
                <a:r>
                  <a:rPr lang="zh-CN" altLang="en-US" sz="2000" b="1" dirty="0" smtClean="0">
                    <a:solidFill>
                      <a:srgbClr val="7030A0"/>
                    </a:solidFill>
                  </a:rPr>
                  <a:t>算法时间复杂度分析</a:t>
                </a:r>
                <a:endParaRPr lang="en-US" altLang="zh-CN" sz="2000" b="1" dirty="0">
                  <a:solidFill>
                    <a:srgbClr val="7030A0"/>
                  </a:solidFill>
                </a:endParaRPr>
              </a:p>
              <a:p>
                <a:pPr marL="971550" lvl="1"/>
                <a:r>
                  <a:rPr lang="zh-CN" altLang="en-US" sz="1800" dirty="0" smtClean="0">
                    <a:latin typeface="Times New Roman" panose="02020603050405020304" pitchFamily="18" charset="0"/>
                    <a:cs typeface="Times New Roman" panose="02020603050405020304" pitchFamily="18" charset="0"/>
                  </a:rPr>
                  <a:t>假设从</a:t>
                </a:r>
                <a:r>
                  <a:rPr lang="en-US" altLang="zh-CN" sz="1800" dirty="0" smtClean="0">
                    <a:latin typeface="Times New Roman" panose="02020603050405020304" pitchFamily="18" charset="0"/>
                    <a:cs typeface="Times New Roman" panose="02020603050405020304" pitchFamily="18" charset="0"/>
                  </a:rPr>
                  <a:t>n</a:t>
                </a:r>
                <a:r>
                  <a:rPr lang="zh-CN" altLang="en-US" sz="1800" dirty="0" smtClean="0">
                    <a:latin typeface="Times New Roman" panose="02020603050405020304" pitchFamily="18" charset="0"/>
                    <a:cs typeface="Times New Roman" panose="02020603050405020304" pitchFamily="18" charset="0"/>
                  </a:rPr>
                  <a:t>个</a:t>
                </a:r>
                <a:r>
                  <a:rPr lang="zh-CN" altLang="en-US" sz="1800" dirty="0" smtClean="0">
                    <a:solidFill>
                      <a:srgbClr val="006600"/>
                    </a:solidFill>
                    <a:latin typeface="Times New Roman" panose="02020603050405020304" pitchFamily="18" charset="0"/>
                    <a:cs typeface="Times New Roman" panose="02020603050405020304" pitchFamily="18" charset="0"/>
                  </a:rPr>
                  <a:t>有序</a:t>
                </a:r>
                <a:r>
                  <a:rPr lang="zh-CN" altLang="en-US" sz="1800" dirty="0" smtClean="0">
                    <a:latin typeface="Times New Roman" panose="02020603050405020304" pitchFamily="18" charset="0"/>
                    <a:cs typeface="Times New Roman" panose="02020603050405020304" pitchFamily="18" charset="0"/>
                  </a:rPr>
                  <a:t>数据中查找关键字</a:t>
                </a:r>
                <a:r>
                  <a:rPr lang="en-US" altLang="zh-CN" sz="1800" dirty="0" smtClean="0">
                    <a:latin typeface="Times New Roman" panose="02020603050405020304" pitchFamily="18" charset="0"/>
                    <a:cs typeface="Times New Roman" panose="02020603050405020304" pitchFamily="18" charset="0"/>
                  </a:rPr>
                  <a:t>key</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marL="971550" lvl="1"/>
                <a:r>
                  <a:rPr lang="en-US" altLang="zh-CN" sz="1800" dirty="0">
                    <a:latin typeface="Times New Roman" panose="02020603050405020304" pitchFamily="18" charset="0"/>
                    <a:cs typeface="Times New Roman" panose="02020603050405020304" pitchFamily="18" charset="0"/>
                  </a:rPr>
                  <a:t>while</a:t>
                </a:r>
                <a:r>
                  <a:rPr lang="zh-CN" altLang="en-US" sz="1800" dirty="0" smtClean="0">
                    <a:solidFill>
                      <a:srgbClr val="0303DF"/>
                    </a:solidFill>
                    <a:latin typeface="Times New Roman" panose="02020603050405020304" pitchFamily="18" charset="0"/>
                    <a:cs typeface="Times New Roman" panose="02020603050405020304" pitchFamily="18" charset="0"/>
                  </a:rPr>
                  <a:t>循环体中</a:t>
                </a:r>
                <a:r>
                  <a:rPr lang="zh-CN" altLang="en-US" sz="1800" dirty="0">
                    <a:latin typeface="Times New Roman" panose="02020603050405020304" pitchFamily="18" charset="0"/>
                    <a:cs typeface="Times New Roman" panose="02020603050405020304" pitchFamily="18" charset="0"/>
                  </a:rPr>
                  <a:t>的语句：</a:t>
                </a:r>
                <a:r>
                  <a:rPr lang="zh-CN" altLang="en-US" sz="1800" dirty="0" smtClean="0">
                    <a:solidFill>
                      <a:srgbClr val="FF0000"/>
                    </a:solidFill>
                    <a:latin typeface="Times New Roman" panose="02020603050405020304" pitchFamily="18" charset="0"/>
                    <a:cs typeface="Times New Roman" panose="02020603050405020304" pitchFamily="18" charset="0"/>
                  </a:rPr>
                  <a:t>计算数据的中间位置、比较等基本运算</a:t>
                </a:r>
                <a:r>
                  <a:rPr lang="zh-CN" altLang="en-US" sz="1800" dirty="0" smtClean="0">
                    <a:solidFill>
                      <a:srgbClr val="0303DF"/>
                    </a:solidFill>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marL="971550" lvl="1"/>
                <a:r>
                  <a:rPr lang="zh-CN" altLang="en-US" sz="1800" dirty="0" smtClean="0">
                    <a:latin typeface="Times New Roman" panose="02020603050405020304" pitchFamily="18" charset="0"/>
                    <a:cs typeface="Times New Roman" panose="02020603050405020304" pitchFamily="18" charset="0"/>
                  </a:rPr>
                  <a:t>这些基本运算语句</a:t>
                </a:r>
                <a:r>
                  <a:rPr lang="zh-CN" altLang="en-US" sz="1800" dirty="0">
                    <a:latin typeface="Times New Roman" panose="02020603050405020304" pitchFamily="18" charset="0"/>
                    <a:cs typeface="Times New Roman" panose="02020603050405020304" pitchFamily="18" charset="0"/>
                  </a:rPr>
                  <a:t>所耗时间与</a:t>
                </a:r>
                <a:r>
                  <a:rPr lang="en-US" altLang="zh-CN" sz="1800" dirty="0">
                    <a:latin typeface="Times New Roman" panose="02020603050405020304" pitchFamily="18" charset="0"/>
                    <a:cs typeface="Times New Roman" panose="02020603050405020304" pitchFamily="18" charset="0"/>
                  </a:rPr>
                  <a:t>n</a:t>
                </a:r>
                <a:r>
                  <a:rPr lang="zh-CN" altLang="en-US" sz="1800" dirty="0" smtClean="0">
                    <a:latin typeface="Times New Roman" panose="02020603050405020304" pitchFamily="18" charset="0"/>
                    <a:cs typeface="Times New Roman" panose="02020603050405020304" pitchFamily="18" charset="0"/>
                  </a:rPr>
                  <a:t>无关</a:t>
                </a:r>
                <a:r>
                  <a:rPr lang="en-US" altLang="zh-CN" sz="1800" dirty="0">
                    <a:latin typeface="Times New Roman" panose="02020603050405020304" pitchFamily="18" charset="0"/>
                    <a:cs typeface="Times New Roman" panose="02020603050405020304" pitchFamily="18" charset="0"/>
                  </a:rPr>
                  <a:t>(</a:t>
                </a:r>
                <a:r>
                  <a:rPr lang="zh-CN" altLang="en-US" sz="1800" dirty="0" smtClean="0">
                    <a:latin typeface="Times New Roman" panose="02020603050405020304" pitchFamily="18" charset="0"/>
                    <a:cs typeface="Times New Roman" panose="02020603050405020304" pitchFamily="18" charset="0"/>
                  </a:rPr>
                  <a:t>常数</a:t>
                </a:r>
                <a:r>
                  <a:rPr lang="en-US" altLang="zh-CN" sz="1800" dirty="0" smtClean="0">
                    <a:latin typeface="Times New Roman" panose="02020603050405020304" pitchFamily="18" charset="0"/>
                    <a:cs typeface="Times New Roman" panose="02020603050405020304" pitchFamily="18" charset="0"/>
                  </a:rPr>
                  <a:t>)</a:t>
                </a:r>
                <a:r>
                  <a:rPr lang="zh-CN" altLang="en-US" sz="1800" dirty="0" smtClean="0">
                    <a:latin typeface="Times New Roman" panose="02020603050405020304" pitchFamily="18" charset="0"/>
                    <a:cs typeface="Times New Roman" panose="02020603050405020304" pitchFamily="18" charset="0"/>
                  </a:rPr>
                  <a:t>，所耗时间记为</a:t>
                </a:r>
                <a:r>
                  <a:rPr lang="en-US" altLang="zh-CN" sz="1800" dirty="0">
                    <a:latin typeface="Times New Roman" panose="02020603050405020304" pitchFamily="18" charset="0"/>
                    <a:cs typeface="Times New Roman" panose="02020603050405020304" pitchFamily="18" charset="0"/>
                  </a:rPr>
                  <a:t>O(1)</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971550" lvl="1"/>
                <a:r>
                  <a:rPr lang="zh-CN" altLang="en-US" sz="1800" b="1" dirty="0">
                    <a:solidFill>
                      <a:srgbClr val="C00000"/>
                    </a:solidFill>
                    <a:latin typeface="Times New Roman" panose="02020603050405020304" pitchFamily="18" charset="0"/>
                    <a:cs typeface="Times New Roman" panose="02020603050405020304" pitchFamily="18" charset="0"/>
                  </a:rPr>
                  <a:t>因此算法的时间复杂度即为</a:t>
                </a:r>
                <a:r>
                  <a:rPr lang="en-US" altLang="zh-CN" sz="1800" b="1" u="sng" dirty="0">
                    <a:solidFill>
                      <a:srgbClr val="0000CC"/>
                    </a:solidFill>
                    <a:latin typeface="Times New Roman" panose="02020603050405020304" pitchFamily="18" charset="0"/>
                    <a:cs typeface="Times New Roman" panose="02020603050405020304" pitchFamily="18" charset="0"/>
                  </a:rPr>
                  <a:t>while</a:t>
                </a:r>
                <a:r>
                  <a:rPr lang="zh-CN" altLang="en-US" sz="1800" b="1" u="sng" dirty="0">
                    <a:solidFill>
                      <a:srgbClr val="0000CC"/>
                    </a:solidFill>
                    <a:latin typeface="Times New Roman" panose="02020603050405020304" pitchFamily="18" charset="0"/>
                    <a:cs typeface="Times New Roman" panose="02020603050405020304" pitchFamily="18" charset="0"/>
                  </a:rPr>
                  <a:t>循环的次数</a:t>
                </a:r>
                <a:r>
                  <a:rPr lang="zh-CN" altLang="en-US" sz="1800" b="1" dirty="0">
                    <a:solidFill>
                      <a:srgbClr val="C00000"/>
                    </a:solidFill>
                    <a:latin typeface="Times New Roman" panose="02020603050405020304" pitchFamily="18" charset="0"/>
                    <a:cs typeface="Times New Roman" panose="02020603050405020304" pitchFamily="18" charset="0"/>
                  </a:rPr>
                  <a:t>；</a:t>
                </a:r>
                <a:endParaRPr lang="en-US" altLang="zh-CN" sz="1800" b="1" dirty="0">
                  <a:solidFill>
                    <a:srgbClr val="C00000"/>
                  </a:solidFill>
                  <a:latin typeface="Times New Roman" panose="02020603050405020304" pitchFamily="18" charset="0"/>
                  <a:cs typeface="Times New Roman" panose="02020603050405020304" pitchFamily="18" charset="0"/>
                </a:endParaRPr>
              </a:p>
              <a:p>
                <a:pPr marL="971550" lvl="1"/>
                <a:r>
                  <a:rPr lang="zh-CN" altLang="en-US" sz="1800" dirty="0">
                    <a:latin typeface="Times New Roman" panose="02020603050405020304" pitchFamily="18" charset="0"/>
                    <a:cs typeface="Times New Roman" panose="02020603050405020304" pitchFamily="18" charset="0"/>
                  </a:rPr>
                  <a:t>假定开始有</a:t>
                </a:r>
                <a:r>
                  <a:rPr lang="en-US" altLang="zh-CN" sz="1800" dirty="0">
                    <a:latin typeface="Times New Roman" panose="02020603050405020304" pitchFamily="18" charset="0"/>
                    <a:cs typeface="Times New Roman" panose="02020603050405020304" pitchFamily="18" charset="0"/>
                  </a:rPr>
                  <a:t>n</a:t>
                </a:r>
                <a:r>
                  <a:rPr lang="zh-CN" altLang="en-US" sz="1800" dirty="0">
                    <a:latin typeface="Times New Roman" panose="02020603050405020304" pitchFamily="18" charset="0"/>
                    <a:cs typeface="Times New Roman" panose="02020603050405020304" pitchFamily="18" charset="0"/>
                  </a:rPr>
                  <a:t>个元素，第一次循环后在剩余</a:t>
                </a:r>
                <a:r>
                  <a:rPr lang="zh-CN" altLang="en-US" sz="1800" dirty="0" smtClean="0">
                    <a:latin typeface="Times New Roman" panose="02020603050405020304" pitchFamily="18" charset="0"/>
                    <a:cs typeface="Times New Roman" panose="02020603050405020304" pitchFamily="18" charset="0"/>
                  </a:rPr>
                  <a:t>的</a:t>
                </a:r>
                <a14:m>
                  <m:oMath xmlns:m="http://schemas.openxmlformats.org/officeDocument/2006/math">
                    <m:f>
                      <m:fPr>
                        <m:ctrlPr>
                          <a:rPr lang="en-US" altLang="zh-CN" sz="1800" i="1" smtClean="0">
                            <a:solidFill>
                              <a:srgbClr val="7030A0"/>
                            </a:solidFill>
                            <a:latin typeface="Cambria Math" panose="02040503050406030204" pitchFamily="18" charset="0"/>
                            <a:cs typeface="Times New Roman" panose="02020603050405020304" pitchFamily="18" charset="0"/>
                          </a:rPr>
                        </m:ctrlPr>
                      </m:fPr>
                      <m:num>
                        <m:r>
                          <a:rPr lang="en-US" altLang="zh-CN" sz="1800" b="0" i="1" smtClean="0">
                            <a:solidFill>
                              <a:srgbClr val="7030A0"/>
                            </a:solidFill>
                            <a:latin typeface="Cambria Math" panose="02040503050406030204" pitchFamily="18" charset="0"/>
                            <a:cs typeface="Times New Roman" panose="02020603050405020304" pitchFamily="18" charset="0"/>
                          </a:rPr>
                          <m:t>𝑛</m:t>
                        </m:r>
                      </m:num>
                      <m:den>
                        <m:r>
                          <a:rPr lang="en-US" altLang="zh-CN" sz="1800" b="0" i="1" smtClean="0">
                            <a:solidFill>
                              <a:srgbClr val="7030A0"/>
                            </a:solidFill>
                            <a:latin typeface="Cambria Math" panose="02040503050406030204" pitchFamily="18" charset="0"/>
                            <a:cs typeface="Times New Roman" panose="02020603050405020304" pitchFamily="18" charset="0"/>
                          </a:rPr>
                          <m:t>2</m:t>
                        </m:r>
                      </m:den>
                    </m:f>
                  </m:oMath>
                </a14:m>
                <a:r>
                  <a:rPr lang="zh-CN" altLang="en-US" sz="1800" dirty="0" smtClean="0">
                    <a:latin typeface="Times New Roman" panose="02020603050405020304" pitchFamily="18" charset="0"/>
                    <a:cs typeface="Times New Roman" panose="02020603050405020304" pitchFamily="18" charset="0"/>
                  </a:rPr>
                  <a:t>个</a:t>
                </a:r>
                <a:r>
                  <a:rPr lang="zh-CN" altLang="en-US" sz="1800" dirty="0">
                    <a:latin typeface="Times New Roman" panose="02020603050405020304" pitchFamily="18" charset="0"/>
                    <a:cs typeface="Times New Roman" panose="02020603050405020304" pitchFamily="18" charset="0"/>
                  </a:rPr>
                  <a:t>数据中查找，第二次循环后在剩余</a:t>
                </a:r>
                <a:r>
                  <a:rPr lang="zh-CN" altLang="en-US" sz="1800" dirty="0" smtClean="0">
                    <a:latin typeface="Times New Roman" panose="02020603050405020304" pitchFamily="18" charset="0"/>
                    <a:cs typeface="Times New Roman" panose="02020603050405020304" pitchFamily="18" charset="0"/>
                  </a:rPr>
                  <a:t>的</a:t>
                </a:r>
                <a14:m>
                  <m:oMath xmlns:m="http://schemas.openxmlformats.org/officeDocument/2006/math">
                    <m:f>
                      <m:fPr>
                        <m:ctrlPr>
                          <a:rPr lang="en-US" altLang="zh-CN" sz="1800" i="1" smtClean="0">
                            <a:solidFill>
                              <a:srgbClr val="7030A0"/>
                            </a:solidFill>
                            <a:latin typeface="Cambria Math" panose="02040503050406030204" pitchFamily="18" charset="0"/>
                            <a:cs typeface="Times New Roman" panose="02020603050405020304" pitchFamily="18" charset="0"/>
                          </a:rPr>
                        </m:ctrlPr>
                      </m:fPr>
                      <m:num>
                        <m:r>
                          <a:rPr lang="en-US" altLang="zh-CN" sz="1800" b="0" i="1" smtClean="0">
                            <a:solidFill>
                              <a:srgbClr val="7030A0"/>
                            </a:solidFill>
                            <a:latin typeface="Cambria Math" panose="02040503050406030204" pitchFamily="18" charset="0"/>
                            <a:cs typeface="Times New Roman" panose="02020603050405020304" pitchFamily="18" charset="0"/>
                          </a:rPr>
                          <m:t>𝑛</m:t>
                        </m:r>
                      </m:num>
                      <m:den>
                        <m:sSup>
                          <m:sSupPr>
                            <m:ctrlPr>
                              <a:rPr lang="en-US" altLang="zh-CN" sz="1800" i="1" smtClean="0">
                                <a:solidFill>
                                  <a:srgbClr val="7030A0"/>
                                </a:solidFill>
                                <a:latin typeface="Cambria Math" panose="02040503050406030204" pitchFamily="18" charset="0"/>
                                <a:cs typeface="Times New Roman" panose="02020603050405020304" pitchFamily="18" charset="0"/>
                              </a:rPr>
                            </m:ctrlPr>
                          </m:sSupPr>
                          <m:e>
                            <m:r>
                              <a:rPr lang="en-US" altLang="zh-CN" sz="1800" b="0" i="1" smtClean="0">
                                <a:solidFill>
                                  <a:srgbClr val="7030A0"/>
                                </a:solidFill>
                                <a:latin typeface="Cambria Math" panose="02040503050406030204" pitchFamily="18" charset="0"/>
                                <a:cs typeface="Times New Roman" panose="02020603050405020304" pitchFamily="18" charset="0"/>
                              </a:rPr>
                              <m:t>2</m:t>
                            </m:r>
                          </m:e>
                          <m:sup>
                            <m:r>
                              <a:rPr lang="en-US" altLang="zh-CN" sz="1800" b="0" i="1" smtClean="0">
                                <a:solidFill>
                                  <a:srgbClr val="7030A0"/>
                                </a:solidFill>
                                <a:latin typeface="Cambria Math" panose="02040503050406030204" pitchFamily="18" charset="0"/>
                                <a:cs typeface="Times New Roman" panose="02020603050405020304" pitchFamily="18" charset="0"/>
                              </a:rPr>
                              <m:t>2</m:t>
                            </m:r>
                          </m:sup>
                        </m:sSup>
                      </m:den>
                    </m:f>
                  </m:oMath>
                </a14:m>
                <a:r>
                  <a:rPr lang="zh-CN" altLang="en-US" sz="1800" dirty="0" smtClean="0">
                    <a:latin typeface="Times New Roman" panose="02020603050405020304" pitchFamily="18" charset="0"/>
                    <a:cs typeface="Times New Roman" panose="02020603050405020304" pitchFamily="18" charset="0"/>
                  </a:rPr>
                  <a:t>个</a:t>
                </a:r>
                <a:r>
                  <a:rPr lang="zh-CN" altLang="en-US" sz="1800" dirty="0">
                    <a:latin typeface="Times New Roman" panose="02020603050405020304" pitchFamily="18" charset="0"/>
                    <a:cs typeface="Times New Roman" panose="02020603050405020304" pitchFamily="18" charset="0"/>
                  </a:rPr>
                  <a:t>数据中查找，以此类推；</a:t>
                </a:r>
                <a:endParaRPr lang="en-US" altLang="zh-CN" sz="1800" dirty="0">
                  <a:latin typeface="Times New Roman" panose="02020603050405020304" pitchFamily="18" charset="0"/>
                  <a:cs typeface="Times New Roman" panose="02020603050405020304" pitchFamily="18" charset="0"/>
                </a:endParaRPr>
              </a:p>
              <a:p>
                <a:pPr marL="971550" lvl="1"/>
                <a:r>
                  <a:rPr lang="zh-CN" altLang="en-US" sz="1800" dirty="0">
                    <a:solidFill>
                      <a:srgbClr val="0303DF"/>
                    </a:solidFill>
                    <a:latin typeface="Times New Roman" panose="02020603050405020304" pitchFamily="18" charset="0"/>
                    <a:cs typeface="Times New Roman" panose="02020603050405020304" pitchFamily="18" charset="0"/>
                  </a:rPr>
                  <a:t>假定</a:t>
                </a:r>
                <a:r>
                  <a:rPr lang="zh-CN" altLang="en-US" sz="1800" b="1" dirty="0">
                    <a:solidFill>
                      <a:srgbClr val="C00000"/>
                    </a:solidFill>
                    <a:latin typeface="Times New Roman" panose="02020603050405020304" pitchFamily="18" charset="0"/>
                    <a:cs typeface="Times New Roman" panose="02020603050405020304" pitchFamily="18" charset="0"/>
                  </a:rPr>
                  <a:t>循环</a:t>
                </a:r>
                <a:r>
                  <a:rPr lang="en-US" altLang="zh-CN" sz="1800" b="1" dirty="0">
                    <a:solidFill>
                      <a:srgbClr val="C00000"/>
                    </a:solidFill>
                    <a:latin typeface="Times New Roman" panose="02020603050405020304" pitchFamily="18" charset="0"/>
                    <a:cs typeface="Times New Roman" panose="02020603050405020304" pitchFamily="18" charset="0"/>
                  </a:rPr>
                  <a:t>k</a:t>
                </a:r>
                <a:r>
                  <a:rPr lang="zh-CN" altLang="en-US" sz="1800" b="1" dirty="0">
                    <a:solidFill>
                      <a:srgbClr val="C00000"/>
                    </a:solidFill>
                    <a:latin typeface="Times New Roman" panose="02020603050405020304" pitchFamily="18" charset="0"/>
                    <a:cs typeface="Times New Roman" panose="02020603050405020304" pitchFamily="18" charset="0"/>
                  </a:rPr>
                  <a:t>次</a:t>
                </a:r>
                <a:r>
                  <a:rPr lang="zh-CN" altLang="en-US" sz="1800" dirty="0">
                    <a:solidFill>
                      <a:srgbClr val="0303DF"/>
                    </a:solidFill>
                    <a:latin typeface="Times New Roman" panose="02020603050405020304" pitchFamily="18" charset="0"/>
                    <a:cs typeface="Times New Roman" panose="02020603050405020304" pitchFamily="18" charset="0"/>
                  </a:rPr>
                  <a:t>后剩余一个元素</a:t>
                </a:r>
                <a:r>
                  <a:rPr lang="zh-CN" altLang="en-US" sz="1800" dirty="0">
                    <a:latin typeface="Times New Roman" panose="02020603050405020304" pitchFamily="18" charset="0"/>
                    <a:cs typeface="Times New Roman" panose="02020603050405020304" pitchFamily="18" charset="0"/>
                  </a:rPr>
                  <a:t>，查找结束 </a:t>
                </a:r>
                <a:r>
                  <a:rPr lang="en-US" altLang="zh-CN" sz="1800" dirty="0">
                    <a:latin typeface="Times New Roman" panose="02020603050405020304" pitchFamily="18" charset="0"/>
                    <a:cs typeface="Times New Roman" panose="02020603050405020304" pitchFamily="18" charset="0"/>
                  </a:rPr>
                  <a:t>(</a:t>
                </a:r>
                <a:r>
                  <a:rPr lang="zh-CN" altLang="en-US" sz="1800" dirty="0">
                    <a:solidFill>
                      <a:srgbClr val="0070C0"/>
                    </a:solidFill>
                    <a:latin typeface="Times New Roman" panose="02020603050405020304" pitchFamily="18" charset="0"/>
                    <a:cs typeface="Times New Roman" panose="02020603050405020304" pitchFamily="18" charset="0"/>
                  </a:rPr>
                  <a:t>可能是要查找的元素，也可能不是</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742950" lvl="1" indent="0">
                  <a:buNone/>
                </a:pPr>
                <a:r>
                  <a:rPr lang="zh-CN" altLang="en-US" sz="1800" dirty="0">
                    <a:latin typeface="Times New Roman" panose="02020603050405020304" pitchFamily="18" charset="0"/>
                    <a:cs typeface="Times New Roman" panose="02020603050405020304" pitchFamily="18" charset="0"/>
                  </a:rPr>
                  <a:t>   有</a:t>
                </a:r>
                <a14:m>
                  <m:oMath xmlns:m="http://schemas.openxmlformats.org/officeDocument/2006/math">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num>
                      <m:den>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2</m:t>
                            </m:r>
                          </m:e>
                          <m:sup>
                            <m:r>
                              <a:rPr lang="en-US" altLang="zh-CN" sz="1800" b="0" i="1" smtClean="0">
                                <a:latin typeface="Cambria Math" panose="02040503050406030204" pitchFamily="18" charset="0"/>
                              </a:rPr>
                              <m:t>𝑘</m:t>
                            </m:r>
                          </m:sup>
                        </m:sSup>
                      </m:den>
                    </m:f>
                    <m:r>
                      <a:rPr lang="en-US" altLang="zh-CN" sz="1800" b="0" i="1" smtClean="0">
                        <a:latin typeface="Cambria Math" panose="02040503050406030204" pitchFamily="18" charset="0"/>
                      </a:rPr>
                      <m:t>=1</m:t>
                    </m:r>
                    <m:r>
                      <a:rPr lang="zh-CN" altLang="en-US" sz="1800" b="0" i="1" smtClean="0">
                        <a:latin typeface="Cambria Math" panose="02040503050406030204" pitchFamily="18" charset="0"/>
                      </a:rPr>
                      <m:t>，则</m:t>
                    </m:r>
                    <m:r>
                      <a:rPr lang="en-US" altLang="zh-CN" sz="1800" b="0" i="1" smtClean="0">
                        <a:latin typeface="Cambria Math" panose="02040503050406030204" pitchFamily="18" charset="0"/>
                      </a:rPr>
                      <m:t>𝑘</m:t>
                    </m:r>
                    <m:r>
                      <a:rPr lang="en-US" altLang="zh-CN" sz="1800" b="0" i="1" smtClean="0">
                        <a:latin typeface="Cambria Math" panose="02040503050406030204" pitchFamily="18" charset="0"/>
                      </a:rPr>
                      <m:t>=</m:t>
                    </m:r>
                    <m:func>
                      <m:funcPr>
                        <m:ctrlPr>
                          <a:rPr lang="en-US" altLang="zh-CN" sz="1800" b="0" i="1" smtClean="0">
                            <a:latin typeface="Cambria Math" panose="02040503050406030204" pitchFamily="18" charset="0"/>
                          </a:rPr>
                        </m:ctrlPr>
                      </m:funcPr>
                      <m:fName>
                        <m:sSub>
                          <m:sSubPr>
                            <m:ctrlPr>
                              <a:rPr lang="en-US" altLang="zh-CN" sz="1800" b="0" i="1" smtClean="0">
                                <a:latin typeface="Cambria Math" panose="02040503050406030204" pitchFamily="18" charset="0"/>
                              </a:rPr>
                            </m:ctrlPr>
                          </m:sSubPr>
                          <m:e>
                            <m:r>
                              <m:rPr>
                                <m:sty m:val="p"/>
                              </m:rPr>
                              <a:rPr lang="en-US" altLang="zh-CN" sz="1800" b="0" i="0" smtClean="0">
                                <a:latin typeface="Cambria Math" panose="02040503050406030204" pitchFamily="18" charset="0"/>
                              </a:rPr>
                              <m:t>log</m:t>
                            </m:r>
                          </m:e>
                          <m:sub>
                            <m:r>
                              <a:rPr lang="en-US" altLang="zh-CN" sz="1800" b="0" i="1" smtClean="0">
                                <a:latin typeface="Cambria Math" panose="02040503050406030204" pitchFamily="18" charset="0"/>
                              </a:rPr>
                              <m:t>2</m:t>
                            </m:r>
                          </m:sub>
                        </m:sSub>
                      </m:fName>
                      <m:e>
                        <m:r>
                          <a:rPr lang="en-US" altLang="zh-CN" sz="1800" b="0" i="1" smtClean="0">
                            <a:latin typeface="Cambria Math" panose="02040503050406030204" pitchFamily="18" charset="0"/>
                          </a:rPr>
                          <m:t>𝑛</m:t>
                        </m:r>
                      </m:e>
                    </m:func>
                    <m:r>
                      <a:rPr lang="en-US" altLang="zh-CN" sz="1800" b="0" i="1" smtClean="0">
                        <a:latin typeface="Cambria Math" panose="02040503050406030204" pitchFamily="18" charset="0"/>
                      </a:rPr>
                      <m:t>, </m:t>
                    </m:r>
                    <m:r>
                      <a:rPr lang="en-US" altLang="zh-CN" sz="1800" b="0" i="1" smtClean="0">
                        <a:latin typeface="Cambria Math" panose="02040503050406030204" pitchFamily="18" charset="0"/>
                      </a:rPr>
                      <m:t>𝑘</m:t>
                    </m:r>
                    <m:r>
                      <a:rPr lang="zh-CN" altLang="en-US" sz="1800" i="1">
                        <a:latin typeface="Cambria Math" panose="02040503050406030204" pitchFamily="18" charset="0"/>
                      </a:rPr>
                      <m:t>为</m:t>
                    </m:r>
                    <m:r>
                      <a:rPr lang="zh-CN" altLang="en-US" sz="1800" i="1" smtClean="0">
                        <a:latin typeface="Cambria Math" panose="02040503050406030204" pitchFamily="18" charset="0"/>
                      </a:rPr>
                      <m:t>循环</m:t>
                    </m:r>
                    <m:r>
                      <a:rPr lang="en-US" altLang="zh-CN" sz="1800" b="0" i="1" smtClean="0">
                        <a:latin typeface="Cambria Math" panose="02040503050406030204" pitchFamily="18" charset="0"/>
                      </a:rPr>
                      <m:t>(</m:t>
                    </m:r>
                    <m:r>
                      <a:rPr lang="zh-CN" altLang="en-US" sz="1800" i="1">
                        <a:latin typeface="Cambria Math" panose="02040503050406030204" pitchFamily="18" charset="0"/>
                      </a:rPr>
                      <m:t>查找</m:t>
                    </m:r>
                    <m:r>
                      <a:rPr lang="en-US" altLang="zh-CN" sz="1800" b="0" i="1" smtClean="0">
                        <a:latin typeface="Cambria Math" panose="02040503050406030204" pitchFamily="18" charset="0"/>
                      </a:rPr>
                      <m:t>)</m:t>
                    </m:r>
                    <m:r>
                      <a:rPr lang="zh-CN" altLang="en-US" sz="1800" i="1">
                        <a:latin typeface="Cambria Math" panose="02040503050406030204" pitchFamily="18" charset="0"/>
                      </a:rPr>
                      <m:t>次数</m:t>
                    </m:r>
                    <m:r>
                      <a:rPr lang="zh-CN" altLang="en-US" sz="1800" i="1" smtClean="0">
                        <a:latin typeface="Cambria Math" panose="02040503050406030204" pitchFamily="18" charset="0"/>
                      </a:rPr>
                      <m:t>，</m:t>
                    </m:r>
                    <m:r>
                      <a:rPr lang="zh-CN" altLang="en-US" sz="1800" i="1">
                        <a:latin typeface="Cambria Math" panose="02040503050406030204" pitchFamily="18" charset="0"/>
                      </a:rPr>
                      <m:t>因此算法的时间</m:t>
                    </m:r>
                    <m:r>
                      <a:rPr lang="zh-CN" altLang="en-US" sz="1800" i="1" smtClean="0">
                        <a:latin typeface="Cambria Math" panose="02040503050406030204" pitchFamily="18" charset="0"/>
                      </a:rPr>
                      <m:t>复杂度</m:t>
                    </m:r>
                    <m:r>
                      <a:rPr lang="zh-CN" altLang="en-US" sz="1800" b="0" i="1" smtClean="0">
                        <a:latin typeface="Cambria Math" panose="02040503050406030204" pitchFamily="18" charset="0"/>
                      </a:rPr>
                      <m:t>为</m:t>
                    </m:r>
                  </m:oMath>
                </a14:m>
                <a:endParaRPr lang="en-US" altLang="zh-CN" sz="1800" dirty="0">
                  <a:solidFill>
                    <a:srgbClr val="FF0000"/>
                  </a:solidFill>
                  <a:latin typeface="Times New Roman" panose="02020603050405020304" pitchFamily="18" charset="0"/>
                  <a:cs typeface="Times New Roman" panose="02020603050405020304" pitchFamily="18" charset="0"/>
                </a:endParaRPr>
              </a:p>
              <a:p>
                <a:pPr marL="742950" lvl="1" indent="0">
                  <a:buNone/>
                </a:pPr>
                <a:r>
                  <a:rPr lang="en-US" altLang="zh-CN" sz="1800" dirty="0">
                    <a:solidFill>
                      <a:srgbClr val="FF0000"/>
                    </a:solidFill>
                    <a:latin typeface="Times New Roman" panose="02020603050405020304" pitchFamily="18" charset="0"/>
                    <a:cs typeface="Times New Roman" panose="02020603050405020304" pitchFamily="18" charset="0"/>
                  </a:rPr>
                  <a:t>    O(</a:t>
                </a:r>
                <a14:m>
                  <m:oMath xmlns:m="http://schemas.openxmlformats.org/officeDocument/2006/math">
                    <m:func>
                      <m:funcPr>
                        <m:ctrlPr>
                          <a:rPr lang="en-US" altLang="zh-CN" sz="1800" i="1" smtClean="0">
                            <a:solidFill>
                              <a:srgbClr val="FF0000"/>
                            </a:solidFill>
                            <a:latin typeface="Cambria Math" panose="02040503050406030204" pitchFamily="18" charset="0"/>
                          </a:rPr>
                        </m:ctrlPr>
                      </m:funcPr>
                      <m:fName>
                        <m:r>
                          <m:rPr>
                            <m:sty m:val="p"/>
                          </m:rPr>
                          <a:rPr lang="en-US" altLang="zh-CN" sz="1800" i="0" smtClean="0">
                            <a:solidFill>
                              <a:srgbClr val="FF0000"/>
                            </a:solidFill>
                            <a:latin typeface="Cambria Math" panose="02040503050406030204" pitchFamily="18" charset="0"/>
                          </a:rPr>
                          <m:t>log</m:t>
                        </m:r>
                      </m:fName>
                      <m:e>
                        <m:r>
                          <a:rPr lang="en-US" altLang="zh-CN" sz="1800" b="0" i="1" smtClean="0">
                            <a:solidFill>
                              <a:srgbClr val="FF0000"/>
                            </a:solidFill>
                            <a:latin typeface="Cambria Math" panose="02040503050406030204" pitchFamily="18" charset="0"/>
                          </a:rPr>
                          <m:t>𝑛</m:t>
                        </m:r>
                      </m:e>
                    </m:func>
                  </m:oMath>
                </a14:m>
                <a:r>
                  <a:rPr lang="en-US" altLang="zh-CN" sz="1800" dirty="0">
                    <a:solidFill>
                      <a:srgbClr val="FF0000"/>
                    </a:solidFill>
                    <a:latin typeface="Times New Roman" panose="02020603050405020304" pitchFamily="18" charset="0"/>
                    <a:cs typeface="Times New Roman" panose="02020603050405020304" pitchFamily="18" charset="0"/>
                  </a:rPr>
                  <a:t>)   </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en-US" sz="1800" dirty="0" smtClean="0">
                    <a:solidFill>
                      <a:srgbClr val="7030A0"/>
                    </a:solidFill>
                    <a:latin typeface="Times New Roman" panose="02020603050405020304" pitchFamily="18" charset="0"/>
                    <a:cs typeface="Times New Roman" panose="02020603050405020304" pitchFamily="18" charset="0"/>
                  </a:rPr>
                  <a:t>明显比顺序查找</a:t>
                </a:r>
                <a:r>
                  <a:rPr lang="zh-CN" altLang="en-US" sz="1800" dirty="0">
                    <a:solidFill>
                      <a:srgbClr val="7030A0"/>
                    </a:solidFill>
                    <a:latin typeface="Times New Roman" panose="02020603050405020304" pitchFamily="18" charset="0"/>
                    <a:cs typeface="Times New Roman" panose="02020603050405020304" pitchFamily="18" charset="0"/>
                  </a:rPr>
                  <a:t>要好。顺序查找的</a:t>
                </a:r>
                <a:r>
                  <a:rPr lang="zh-CN" altLang="en-US" sz="1800" dirty="0" smtClean="0">
                    <a:solidFill>
                      <a:srgbClr val="7030A0"/>
                    </a:solidFill>
                    <a:latin typeface="Times New Roman" panose="02020603050405020304" pitchFamily="18" charset="0"/>
                    <a:cs typeface="Times New Roman" panose="02020603050405020304" pitchFamily="18" charset="0"/>
                  </a:rPr>
                  <a:t>时间复杂度为</a:t>
                </a:r>
                <a:r>
                  <a:rPr lang="en-US" altLang="zh-CN" sz="1800" dirty="0" smtClean="0">
                    <a:solidFill>
                      <a:srgbClr val="7030A0"/>
                    </a:solidFill>
                    <a:latin typeface="Times New Roman" panose="02020603050405020304" pitchFamily="18" charset="0"/>
                    <a:cs typeface="Times New Roman" panose="02020603050405020304" pitchFamily="18" charset="0"/>
                  </a:rPr>
                  <a:t>O(n))</a:t>
                </a:r>
                <a:endParaRPr lang="en-US" altLang="zh-CN" sz="1800" dirty="0">
                  <a:solidFill>
                    <a:srgbClr val="7030A0"/>
                  </a:solidFill>
                  <a:latin typeface="Times New Roman" panose="02020603050405020304" pitchFamily="18" charset="0"/>
                  <a:cs typeface="Times New Roman" panose="02020603050405020304" pitchFamily="18" charset="0"/>
                </a:endParaRPr>
              </a:p>
              <a:p>
                <a:pPr marL="971550" lvl="1"/>
                <a:endParaRPr lang="en-US" altLang="zh-CN" sz="1800" dirty="0">
                  <a:latin typeface="Times New Roman" panose="02020603050405020304" pitchFamily="18" charset="0"/>
                  <a:cs typeface="Times New Roman" panose="02020603050405020304" pitchFamily="18" charset="0"/>
                </a:endParaRPr>
              </a:p>
              <a:p>
                <a:pPr marL="971550" lvl="1"/>
                <a:r>
                  <a:rPr lang="zh-CN" altLang="en-US" sz="1800" dirty="0">
                    <a:solidFill>
                      <a:srgbClr val="006600"/>
                    </a:solidFill>
                    <a:latin typeface="Times New Roman" panose="02020603050405020304" pitchFamily="18" charset="0"/>
                    <a:cs typeface="Times New Roman" panose="02020603050405020304" pitchFamily="18" charset="0"/>
                  </a:rPr>
                  <a:t>在数据结构中：时间复杂度即是有序二叉树的</a:t>
                </a:r>
                <a:r>
                  <a:rPr lang="zh-CN" altLang="en-US" sz="1800" dirty="0" smtClean="0">
                    <a:solidFill>
                      <a:srgbClr val="C00000"/>
                    </a:solidFill>
                    <a:latin typeface="Times New Roman" panose="02020603050405020304" pitchFamily="18" charset="0"/>
                    <a:cs typeface="Times New Roman" panose="02020603050405020304" pitchFamily="18" charset="0"/>
                  </a:rPr>
                  <a:t>高度</a:t>
                </a:r>
                <a14:m>
                  <m:oMath xmlns:m="http://schemas.openxmlformats.org/officeDocument/2006/math">
                    <m:func>
                      <m:funcPr>
                        <m:ctrlPr>
                          <a:rPr lang="en-US" altLang="zh-CN" sz="1800" i="1">
                            <a:solidFill>
                              <a:srgbClr val="C00000"/>
                            </a:solidFill>
                            <a:latin typeface="Cambria Math" panose="02040503050406030204" pitchFamily="18" charset="0"/>
                            <a:cs typeface="Times New Roman" panose="02020603050405020304" pitchFamily="18" charset="0"/>
                          </a:rPr>
                        </m:ctrlPr>
                      </m:funcPr>
                      <m:fName>
                        <m:r>
                          <m:rPr>
                            <m:sty m:val="p"/>
                          </m:rPr>
                          <a:rPr lang="en-US" altLang="zh-CN" sz="1800">
                            <a:solidFill>
                              <a:srgbClr val="C00000"/>
                            </a:solidFill>
                            <a:latin typeface="Cambria Math" panose="02040503050406030204" pitchFamily="18" charset="0"/>
                            <a:cs typeface="Times New Roman" panose="02020603050405020304" pitchFamily="18" charset="0"/>
                          </a:rPr>
                          <m:t>log</m:t>
                        </m:r>
                      </m:fName>
                      <m:e>
                        <m:r>
                          <a:rPr lang="en-US" altLang="zh-CN" sz="1800">
                            <a:solidFill>
                              <a:srgbClr val="C00000"/>
                            </a:solidFill>
                            <a:latin typeface="Cambria Math" panose="02040503050406030204" pitchFamily="18" charset="0"/>
                            <a:cs typeface="Times New Roman" panose="02020603050405020304" pitchFamily="18" charset="0"/>
                          </a:rPr>
                          <m:t>𝑛</m:t>
                        </m:r>
                      </m:e>
                    </m:func>
                  </m:oMath>
                </a14:m>
                <a:r>
                  <a:rPr lang="zh-CN" altLang="en-US" sz="1800" dirty="0" smtClean="0">
                    <a:solidFill>
                      <a:srgbClr val="006600"/>
                    </a:solidFill>
                    <a:latin typeface="Times New Roman" panose="02020603050405020304" pitchFamily="18" charset="0"/>
                    <a:cs typeface="Times New Roman" panose="02020603050405020304" pitchFamily="18" charset="0"/>
                  </a:rPr>
                  <a:t>；</a:t>
                </a:r>
                <a:endParaRPr lang="en-US" altLang="zh-CN" sz="1800" dirty="0">
                  <a:solidFill>
                    <a:srgbClr val="006600"/>
                  </a:solidFill>
                  <a:latin typeface="Times New Roman" panose="02020603050405020304" pitchFamily="18" charset="0"/>
                  <a:cs typeface="Times New Roman" panose="02020603050405020304" pitchFamily="18" charset="0"/>
                </a:endParaRPr>
              </a:p>
              <a:p>
                <a:pPr marL="971550" lvl="1"/>
                <a:endParaRPr lang="zh-CN" altLang="en-US" dirty="0">
                  <a:solidFill>
                    <a:srgbClr val="006600"/>
                  </a:solidFill>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85774" y="1135063"/>
                <a:ext cx="8322665" cy="5345112"/>
              </a:xfrm>
              <a:blipFill>
                <a:blip r:embed="rId2"/>
                <a:stretch>
                  <a:fillRect t="-1368" r="-2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894639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t>折半查找例</a:t>
            </a:r>
            <a:r>
              <a:rPr lang="en-US" altLang="zh-CN" dirty="0" smtClean="0"/>
              <a:t>—</a:t>
            </a:r>
            <a:r>
              <a:rPr lang="zh-CN" altLang="en-US" dirty="0" smtClean="0">
                <a:solidFill>
                  <a:srgbClr val="0303DF"/>
                </a:solidFill>
              </a:rPr>
              <a:t>确定鸡蛋硬度</a:t>
            </a:r>
            <a:endParaRPr lang="zh-CN" altLang="en-US" dirty="0">
              <a:solidFill>
                <a:srgbClr val="0303DF"/>
              </a:solidFill>
            </a:endParaRPr>
          </a:p>
        </p:txBody>
      </p:sp>
      <p:sp>
        <p:nvSpPr>
          <p:cNvPr id="3" name="内容占位符 2"/>
          <p:cNvSpPr>
            <a:spLocks noGrp="1"/>
          </p:cNvSpPr>
          <p:nvPr>
            <p:ph idx="1"/>
          </p:nvPr>
        </p:nvSpPr>
        <p:spPr/>
        <p:txBody>
          <a:bodyPr/>
          <a:lstStyle/>
          <a:p>
            <a:pPr marL="342900" indent="-342900">
              <a:lnSpc>
                <a:spcPct val="100000"/>
              </a:lnSpc>
              <a:spcBef>
                <a:spcPts val="600"/>
              </a:spcBef>
              <a:buFont typeface="Wingdings" panose="05000000000000000000" pitchFamily="2" charset="2"/>
              <a:buChar char="l"/>
            </a:pPr>
            <a:r>
              <a:rPr lang="zh-CN" altLang="en-US" sz="1800" dirty="0" smtClean="0"/>
              <a:t>问题描述</a:t>
            </a:r>
            <a:endParaRPr lang="en-US" altLang="zh-CN" sz="1800" dirty="0" smtClean="0"/>
          </a:p>
          <a:p>
            <a:pPr marL="971550" lvl="1">
              <a:lnSpc>
                <a:spcPct val="100000"/>
              </a:lnSpc>
              <a:spcBef>
                <a:spcPts val="600"/>
              </a:spcBef>
            </a:pPr>
            <a:r>
              <a:rPr lang="zh-CN" altLang="en-US" sz="1600" dirty="0" smtClean="0"/>
              <a:t>一堆鸡蛋，硬度相同；</a:t>
            </a:r>
            <a:endParaRPr lang="en-US" altLang="zh-CN" sz="1600" dirty="0" smtClean="0"/>
          </a:p>
          <a:p>
            <a:pPr marL="971550" lvl="1">
              <a:lnSpc>
                <a:spcPct val="100000"/>
              </a:lnSpc>
              <a:spcBef>
                <a:spcPts val="600"/>
              </a:spcBef>
            </a:pPr>
            <a:r>
              <a:rPr lang="zh-CN" altLang="en-US" sz="1600" dirty="0" smtClean="0"/>
              <a:t>一座楼最高为</a:t>
            </a:r>
            <a:r>
              <a:rPr lang="en-US" altLang="zh-CN" sz="1600" dirty="0" smtClean="0"/>
              <a:t>n</a:t>
            </a:r>
            <a:r>
              <a:rPr lang="zh-CN" altLang="en-US" sz="1600" dirty="0" smtClean="0"/>
              <a:t>层；</a:t>
            </a:r>
            <a:endParaRPr lang="en-US" altLang="zh-CN" sz="1600" dirty="0" smtClean="0"/>
          </a:p>
          <a:p>
            <a:pPr marL="971550" lvl="1">
              <a:lnSpc>
                <a:spcPct val="100000"/>
              </a:lnSpc>
              <a:spcBef>
                <a:spcPts val="600"/>
              </a:spcBef>
            </a:pPr>
            <a:r>
              <a:rPr lang="zh-CN" altLang="en-US" sz="1600" dirty="0" smtClean="0"/>
              <a:t>从第一层扔出鸡蛋，鸡蛋</a:t>
            </a:r>
            <a:r>
              <a:rPr lang="zh-CN" altLang="en-US" sz="1600" dirty="0" smtClean="0">
                <a:solidFill>
                  <a:srgbClr val="7030A0"/>
                </a:solidFill>
              </a:rPr>
              <a:t>不破碎</a:t>
            </a:r>
            <a:r>
              <a:rPr lang="zh-CN" altLang="en-US" sz="1600" dirty="0" smtClean="0"/>
              <a:t>；</a:t>
            </a:r>
            <a:endParaRPr lang="en-US" altLang="zh-CN" sz="1600" dirty="0" smtClean="0"/>
          </a:p>
          <a:p>
            <a:pPr marL="971550" lvl="1">
              <a:lnSpc>
                <a:spcPct val="100000"/>
              </a:lnSpc>
              <a:spcBef>
                <a:spcPts val="600"/>
              </a:spcBef>
            </a:pPr>
            <a:r>
              <a:rPr lang="zh-CN" altLang="en-US" sz="1600" dirty="0"/>
              <a:t>从</a:t>
            </a:r>
            <a:r>
              <a:rPr lang="zh-CN" altLang="en-US" sz="1600" dirty="0" smtClean="0"/>
              <a:t>第</a:t>
            </a:r>
            <a:r>
              <a:rPr lang="en-US" altLang="zh-CN" sz="1600" dirty="0" smtClean="0"/>
              <a:t>n</a:t>
            </a:r>
            <a:r>
              <a:rPr lang="zh-CN" altLang="en-US" sz="1600" dirty="0" smtClean="0"/>
              <a:t>层扔出</a:t>
            </a:r>
            <a:r>
              <a:rPr lang="zh-CN" altLang="en-US" sz="1600" dirty="0"/>
              <a:t>鸡蛋，</a:t>
            </a:r>
            <a:r>
              <a:rPr lang="zh-CN" altLang="en-US" sz="1600" dirty="0" smtClean="0"/>
              <a:t>鸡蛋</a:t>
            </a:r>
            <a:r>
              <a:rPr lang="zh-CN" altLang="en-US" sz="1600" dirty="0" smtClean="0">
                <a:solidFill>
                  <a:srgbClr val="7030A0"/>
                </a:solidFill>
              </a:rPr>
              <a:t>破碎</a:t>
            </a:r>
            <a:r>
              <a:rPr lang="zh-CN" altLang="en-US" sz="1600" dirty="0"/>
              <a:t>；</a:t>
            </a:r>
            <a:endParaRPr lang="en-US" altLang="zh-CN" sz="1600" dirty="0"/>
          </a:p>
          <a:p>
            <a:pPr marL="342900" indent="-342900">
              <a:lnSpc>
                <a:spcPct val="100000"/>
              </a:lnSpc>
              <a:spcBef>
                <a:spcPts val="600"/>
              </a:spcBef>
              <a:buFont typeface="Wingdings" panose="05000000000000000000" pitchFamily="2" charset="2"/>
              <a:buChar char="l"/>
            </a:pPr>
            <a:r>
              <a:rPr lang="zh-CN" altLang="en-US" sz="1800" dirty="0" smtClean="0"/>
              <a:t>要求：用最少的鸡蛋，确定扔出</a:t>
            </a:r>
            <a:r>
              <a:rPr lang="zh-CN" altLang="en-US" sz="1800" dirty="0" smtClean="0">
                <a:solidFill>
                  <a:srgbClr val="7030A0"/>
                </a:solidFill>
              </a:rPr>
              <a:t>鸡蛋不破碎</a:t>
            </a:r>
            <a:r>
              <a:rPr lang="zh-CN" altLang="en-US" sz="1800" dirty="0" smtClean="0"/>
              <a:t>的</a:t>
            </a:r>
            <a:r>
              <a:rPr lang="zh-CN" altLang="en-US" sz="1800" dirty="0" smtClean="0">
                <a:solidFill>
                  <a:srgbClr val="7030A0"/>
                </a:solidFill>
              </a:rPr>
              <a:t>最高楼层</a:t>
            </a:r>
            <a:r>
              <a:rPr lang="zh-CN" altLang="en-US" sz="1800" dirty="0" smtClean="0"/>
              <a:t>。</a:t>
            </a:r>
            <a:endParaRPr lang="en-US" altLang="zh-CN" sz="1800" dirty="0" smtClean="0"/>
          </a:p>
          <a:p>
            <a:pPr marL="342900" indent="-342900">
              <a:lnSpc>
                <a:spcPct val="100000"/>
              </a:lnSpc>
              <a:spcBef>
                <a:spcPts val="600"/>
              </a:spcBef>
              <a:buFont typeface="Wingdings" panose="05000000000000000000" pitchFamily="2" charset="2"/>
              <a:buChar char="l"/>
            </a:pPr>
            <a:r>
              <a:rPr lang="zh-CN" altLang="en-US" sz="1800" dirty="0" smtClean="0"/>
              <a:t>提示：</a:t>
            </a:r>
            <a:endParaRPr lang="en-US" altLang="zh-CN" sz="1800" dirty="0" smtClean="0"/>
          </a:p>
          <a:p>
            <a:pPr marL="971550" lvl="1">
              <a:lnSpc>
                <a:spcPct val="100000"/>
              </a:lnSpc>
              <a:spcBef>
                <a:spcPts val="600"/>
              </a:spcBef>
            </a:pPr>
            <a:r>
              <a:rPr lang="zh-CN" altLang="en-US" sz="1600" dirty="0" smtClean="0"/>
              <a:t>假设用</a:t>
            </a:r>
            <a:r>
              <a:rPr lang="en-US" altLang="zh-CN" sz="1600" dirty="0" smtClean="0"/>
              <a:t>’Y’</a:t>
            </a:r>
            <a:r>
              <a:rPr lang="zh-CN" altLang="en-US" sz="1600" dirty="0" smtClean="0"/>
              <a:t>表示鸡蛋破碎，用</a:t>
            </a:r>
            <a:r>
              <a:rPr lang="en-US" altLang="zh-CN" sz="1600" dirty="0" smtClean="0"/>
              <a:t>’N’</a:t>
            </a:r>
            <a:r>
              <a:rPr lang="zh-CN" altLang="en-US" sz="1600" dirty="0" smtClean="0"/>
              <a:t>表示鸡蛋不破碎</a:t>
            </a:r>
            <a:endParaRPr lang="en-US" altLang="zh-CN" sz="1600" dirty="0" smtClean="0"/>
          </a:p>
          <a:p>
            <a:pPr marL="971550" lvl="1">
              <a:lnSpc>
                <a:spcPct val="100000"/>
              </a:lnSpc>
              <a:spcBef>
                <a:spcPts val="600"/>
              </a:spcBef>
            </a:pPr>
            <a:r>
              <a:rPr lang="en-US" altLang="zh-CN" sz="1600" dirty="0"/>
              <a:t>c</a:t>
            </a:r>
            <a:r>
              <a:rPr lang="en-US" altLang="zh-CN" sz="1600" dirty="0" smtClean="0"/>
              <a:t>har eggs[10]={‘N’,</a:t>
            </a:r>
            <a:r>
              <a:rPr lang="en-US" altLang="zh-CN" sz="1600" dirty="0"/>
              <a:t> ‘N</a:t>
            </a:r>
            <a:r>
              <a:rPr lang="en-US" altLang="zh-CN" sz="1600" dirty="0" smtClean="0"/>
              <a:t>’,</a:t>
            </a:r>
            <a:r>
              <a:rPr lang="en-US" altLang="zh-CN" sz="1600" dirty="0"/>
              <a:t> ‘N</a:t>
            </a:r>
            <a:r>
              <a:rPr lang="en-US" altLang="zh-CN" sz="1600" dirty="0" smtClean="0"/>
              <a:t>’,</a:t>
            </a:r>
            <a:r>
              <a:rPr lang="en-US" altLang="zh-CN" sz="1600" dirty="0"/>
              <a:t> ‘N</a:t>
            </a:r>
            <a:r>
              <a:rPr lang="en-US" altLang="zh-CN" sz="1600" dirty="0" smtClean="0"/>
              <a:t>’,</a:t>
            </a:r>
            <a:r>
              <a:rPr lang="en-US" altLang="zh-CN" sz="1600" dirty="0"/>
              <a:t> ‘N</a:t>
            </a:r>
            <a:r>
              <a:rPr lang="en-US" altLang="zh-CN" sz="1600" dirty="0" smtClean="0"/>
              <a:t>’,</a:t>
            </a:r>
            <a:r>
              <a:rPr lang="en-US" altLang="zh-CN" sz="1600" dirty="0"/>
              <a:t> ‘N</a:t>
            </a:r>
            <a:r>
              <a:rPr lang="en-US" altLang="zh-CN" sz="1600" dirty="0" smtClean="0"/>
              <a:t>’,</a:t>
            </a:r>
            <a:r>
              <a:rPr lang="en-US" altLang="zh-CN" sz="1600" dirty="0"/>
              <a:t> </a:t>
            </a:r>
            <a:r>
              <a:rPr lang="en-US" altLang="zh-CN" sz="1600" dirty="0" smtClean="0"/>
              <a:t>‘Y’, ‘Y’, ‘Y’, ‘Y’}</a:t>
            </a:r>
          </a:p>
          <a:p>
            <a:pPr marL="971550" lvl="1">
              <a:lnSpc>
                <a:spcPct val="100000"/>
              </a:lnSpc>
              <a:spcBef>
                <a:spcPts val="600"/>
              </a:spcBef>
            </a:pPr>
            <a:r>
              <a:rPr lang="zh-CN" altLang="en-US" sz="1600" b="1" dirty="0" smtClean="0">
                <a:solidFill>
                  <a:srgbClr val="030DCD"/>
                </a:solidFill>
              </a:rPr>
              <a:t>思考：如何确定最后的一个</a:t>
            </a:r>
            <a:r>
              <a:rPr lang="en-US" altLang="zh-CN" sz="1600" b="1" dirty="0" smtClean="0">
                <a:solidFill>
                  <a:srgbClr val="030DCD"/>
                </a:solidFill>
              </a:rPr>
              <a:t>’N’ </a:t>
            </a:r>
            <a:r>
              <a:rPr lang="zh-CN" altLang="en-US" sz="1600" b="1" dirty="0" smtClean="0">
                <a:solidFill>
                  <a:srgbClr val="030DCD"/>
                </a:solidFill>
              </a:rPr>
              <a:t>的位置</a:t>
            </a:r>
            <a:r>
              <a:rPr lang="en-US" altLang="zh-CN" sz="1600" b="1" dirty="0" smtClean="0">
                <a:solidFill>
                  <a:srgbClr val="030DCD"/>
                </a:solidFill>
              </a:rPr>
              <a:t>?</a:t>
            </a:r>
          </a:p>
        </p:txBody>
      </p:sp>
    </p:spTree>
    <p:extLst>
      <p:ext uri="{BB962C8B-B14F-4D97-AF65-F5344CB8AC3E}">
        <p14:creationId xmlns:p14="http://schemas.microsoft.com/office/powerpoint/2010/main" val="27159527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课后练习：</a:t>
            </a:r>
            <a:r>
              <a:rPr lang="zh-CN" altLang="en-US" dirty="0"/>
              <a:t>折半查找例</a:t>
            </a:r>
            <a:r>
              <a:rPr lang="en-US" altLang="zh-CN" dirty="0"/>
              <a:t>—</a:t>
            </a:r>
            <a:r>
              <a:rPr lang="zh-CN" altLang="en-US" dirty="0">
                <a:solidFill>
                  <a:srgbClr val="0303DF"/>
                </a:solidFill>
              </a:rPr>
              <a:t>确定鸡蛋硬度</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smtClean="0"/>
              <a:t>参考代码</a:t>
            </a:r>
            <a:endParaRPr lang="en-US" altLang="zh-CN" sz="2000" dirty="0" smtClean="0"/>
          </a:p>
          <a:p>
            <a:pPr marL="342900" indent="-342900">
              <a:buFont typeface="Wingdings" panose="05000000000000000000" pitchFamily="2" charset="2"/>
              <a:buChar char="l"/>
            </a:pPr>
            <a:r>
              <a:rPr lang="zh-CN" altLang="en-US" sz="2000" dirty="0" smtClean="0"/>
              <a:t>假设楼高为</a:t>
            </a:r>
            <a:r>
              <a:rPr lang="en-US" altLang="zh-CN" sz="2000" dirty="0" smtClean="0"/>
              <a:t>10</a:t>
            </a:r>
            <a:r>
              <a:rPr lang="zh-CN" altLang="en-US" sz="2000" dirty="0" smtClean="0"/>
              <a:t>层</a:t>
            </a:r>
            <a:endParaRPr lang="en-US" altLang="zh-CN" sz="2000" dirty="0" smtClean="0"/>
          </a:p>
          <a:p>
            <a:pPr lvl="1">
              <a:lnSpc>
                <a:spcPct val="100000"/>
              </a:lnSpc>
              <a:spcBef>
                <a:spcPts val="0"/>
              </a:spcBef>
              <a:buNone/>
            </a:pPr>
            <a:r>
              <a:rPr lang="en-US" altLang="zh-CN" sz="1600" dirty="0"/>
              <a:t>      </a:t>
            </a:r>
            <a:endParaRPr lang="en-US" altLang="zh-CN" sz="1600" dirty="0" smtClean="0"/>
          </a:p>
          <a:p>
            <a:pPr lvl="1">
              <a:lnSpc>
                <a:spcPct val="100000"/>
              </a:lnSpc>
              <a:spcBef>
                <a:spcPts val="0"/>
              </a:spcBef>
              <a:buNone/>
            </a:pPr>
            <a:r>
              <a:rPr lang="en-US" altLang="zh-CN" sz="1600" dirty="0"/>
              <a:t> </a:t>
            </a:r>
            <a:r>
              <a:rPr lang="en-US" altLang="zh-CN" sz="1600" dirty="0" smtClean="0"/>
              <a:t>    char </a:t>
            </a:r>
            <a:r>
              <a:rPr lang="en-US" altLang="zh-CN" sz="1600" dirty="0"/>
              <a:t>eggs[10]={‘N’, ‘N’, ‘N’, ‘N’, ‘N’, ‘N’, ‘Y’, ‘Y’, ‘Y’, ‘Y’}</a:t>
            </a:r>
          </a:p>
          <a:p>
            <a:pPr lvl="1">
              <a:lnSpc>
                <a:spcPct val="100000"/>
              </a:lnSpc>
              <a:spcBef>
                <a:spcPts val="0"/>
              </a:spcBef>
              <a:buNone/>
            </a:pPr>
            <a:r>
              <a:rPr lang="en-US" altLang="zh-CN" sz="1600" dirty="0" smtClean="0">
                <a:solidFill>
                  <a:srgbClr val="000000"/>
                </a:solidFill>
              </a:rPr>
              <a:t>      </a:t>
            </a:r>
            <a:r>
              <a:rPr lang="en-US" altLang="zh-CN" sz="1600" dirty="0" err="1" smtClean="0">
                <a:solidFill>
                  <a:srgbClr val="000000"/>
                </a:solidFill>
              </a:rPr>
              <a:t>int</a:t>
            </a:r>
            <a:r>
              <a:rPr lang="en-US" altLang="zh-CN" sz="1600" dirty="0" smtClean="0">
                <a:solidFill>
                  <a:srgbClr val="000000"/>
                </a:solidFill>
              </a:rPr>
              <a:t> </a:t>
            </a:r>
            <a:r>
              <a:rPr lang="en-US" altLang="zh-CN" sz="1600" dirty="0">
                <a:solidFill>
                  <a:srgbClr val="000000"/>
                </a:solidFill>
              </a:rPr>
              <a:t>mid;</a:t>
            </a:r>
          </a:p>
          <a:p>
            <a:pPr lvl="1">
              <a:lnSpc>
                <a:spcPct val="100000"/>
              </a:lnSpc>
              <a:spcBef>
                <a:spcPts val="0"/>
              </a:spcBef>
              <a:buNone/>
            </a:pPr>
            <a:r>
              <a:rPr lang="en-US" altLang="zh-CN" sz="1600" dirty="0">
                <a:solidFill>
                  <a:srgbClr val="000000"/>
                </a:solidFill>
              </a:rPr>
              <a:t>      while </a:t>
            </a:r>
            <a:r>
              <a:rPr lang="en-US" altLang="zh-CN" sz="1600" dirty="0" smtClean="0">
                <a:solidFill>
                  <a:srgbClr val="000000"/>
                </a:solidFill>
              </a:rPr>
              <a:t>((end-start)&gt;</a:t>
            </a:r>
            <a:r>
              <a:rPr lang="en-US" altLang="zh-CN" sz="1600" dirty="0">
                <a:solidFill>
                  <a:srgbClr val="000000"/>
                </a:solidFill>
              </a:rPr>
              <a:t>1</a:t>
            </a:r>
            <a:r>
              <a:rPr lang="en-US" altLang="zh-CN" sz="1600" dirty="0" smtClean="0">
                <a:solidFill>
                  <a:srgbClr val="000000"/>
                </a:solidFill>
              </a:rPr>
              <a:t>)  </a:t>
            </a:r>
            <a:r>
              <a:rPr lang="en-US" altLang="zh-CN" sz="1600" dirty="0" smtClean="0">
                <a:solidFill>
                  <a:srgbClr val="030DCD"/>
                </a:solidFill>
              </a:rPr>
              <a:t>//</a:t>
            </a:r>
            <a:r>
              <a:rPr lang="zh-CN" altLang="en-US" sz="1600" dirty="0" smtClean="0">
                <a:solidFill>
                  <a:srgbClr val="030DCD"/>
                </a:solidFill>
              </a:rPr>
              <a:t>注意循环条件</a:t>
            </a:r>
            <a:endParaRPr lang="en-US" altLang="zh-CN" sz="1600" dirty="0">
              <a:solidFill>
                <a:srgbClr val="030DCD"/>
              </a:solidFill>
            </a:endParaRPr>
          </a:p>
          <a:p>
            <a:pPr lvl="1">
              <a:lnSpc>
                <a:spcPct val="100000"/>
              </a:lnSpc>
              <a:spcBef>
                <a:spcPts val="0"/>
              </a:spcBef>
              <a:buNone/>
            </a:pPr>
            <a:r>
              <a:rPr lang="en-US" altLang="zh-CN" sz="1600" dirty="0" smtClean="0"/>
              <a:t>      </a:t>
            </a:r>
            <a:r>
              <a:rPr lang="en-US" altLang="zh-CN" sz="1600" dirty="0" smtClean="0">
                <a:solidFill>
                  <a:srgbClr val="000000"/>
                </a:solidFill>
              </a:rPr>
              <a:t>{</a:t>
            </a:r>
            <a:r>
              <a:rPr lang="en-US" altLang="zh-CN" sz="1600" dirty="0">
                <a:solidFill>
                  <a:srgbClr val="000000"/>
                </a:solidFill>
              </a:rPr>
              <a:t>	  	</a:t>
            </a:r>
          </a:p>
          <a:p>
            <a:pPr lvl="1">
              <a:lnSpc>
                <a:spcPct val="100000"/>
              </a:lnSpc>
              <a:spcBef>
                <a:spcPts val="0"/>
              </a:spcBef>
              <a:buNone/>
            </a:pPr>
            <a:r>
              <a:rPr lang="en-US" altLang="zh-CN" sz="1600" dirty="0">
                <a:solidFill>
                  <a:srgbClr val="000000"/>
                </a:solidFill>
              </a:rPr>
              <a:t>	</a:t>
            </a:r>
            <a:r>
              <a:rPr lang="en-US" altLang="zh-CN" sz="1600" dirty="0" smtClean="0">
                <a:solidFill>
                  <a:srgbClr val="000000"/>
                </a:solidFill>
              </a:rPr>
              <a:t>  </a:t>
            </a:r>
            <a:r>
              <a:rPr lang="en-US" altLang="zh-CN" sz="1600" dirty="0" smtClean="0"/>
              <a:t>  </a:t>
            </a:r>
            <a:r>
              <a:rPr lang="en-US" altLang="zh-CN" sz="1600" dirty="0" smtClean="0">
                <a:solidFill>
                  <a:srgbClr val="000000"/>
                </a:solidFill>
              </a:rPr>
              <a:t> </a:t>
            </a:r>
            <a:r>
              <a:rPr lang="en-US" altLang="zh-CN" sz="1600" dirty="0">
                <a:solidFill>
                  <a:srgbClr val="000000"/>
                </a:solidFill>
              </a:rPr>
              <a:t>mid = </a:t>
            </a:r>
            <a:r>
              <a:rPr lang="en-US" altLang="zh-CN" sz="1600" dirty="0" smtClean="0">
                <a:solidFill>
                  <a:srgbClr val="000000"/>
                </a:solidFill>
              </a:rPr>
              <a:t>(</a:t>
            </a:r>
            <a:r>
              <a:rPr lang="en-US" altLang="zh-CN" sz="1600" dirty="0"/>
              <a:t>start</a:t>
            </a:r>
            <a:r>
              <a:rPr lang="en-US" altLang="zh-CN" sz="1600" dirty="0" smtClean="0">
                <a:solidFill>
                  <a:srgbClr val="000000"/>
                </a:solidFill>
              </a:rPr>
              <a:t>+ end) </a:t>
            </a:r>
            <a:r>
              <a:rPr lang="en-US" altLang="zh-CN" sz="1600" dirty="0">
                <a:solidFill>
                  <a:srgbClr val="000000"/>
                </a:solidFill>
              </a:rPr>
              <a:t>/ 2;   </a:t>
            </a:r>
          </a:p>
          <a:p>
            <a:pPr lvl="1">
              <a:lnSpc>
                <a:spcPct val="100000"/>
              </a:lnSpc>
              <a:spcBef>
                <a:spcPts val="0"/>
              </a:spcBef>
              <a:buNone/>
            </a:pPr>
            <a:r>
              <a:rPr lang="en-US" altLang="zh-CN" sz="1600" dirty="0">
                <a:solidFill>
                  <a:srgbClr val="000000"/>
                </a:solidFill>
              </a:rPr>
              <a:t>	</a:t>
            </a:r>
            <a:r>
              <a:rPr lang="en-US" altLang="zh-CN" sz="1600" dirty="0" smtClean="0">
                <a:solidFill>
                  <a:srgbClr val="000000"/>
                </a:solidFill>
              </a:rPr>
              <a:t>     if (eggs[mid</a:t>
            </a:r>
            <a:r>
              <a:rPr lang="en-US" altLang="zh-CN" sz="1600" dirty="0">
                <a:solidFill>
                  <a:srgbClr val="000000"/>
                </a:solidFill>
              </a:rPr>
              <a:t>]=='Y') </a:t>
            </a:r>
          </a:p>
          <a:p>
            <a:pPr lvl="1">
              <a:lnSpc>
                <a:spcPct val="100000"/>
              </a:lnSpc>
              <a:spcBef>
                <a:spcPts val="0"/>
              </a:spcBef>
              <a:buNone/>
            </a:pPr>
            <a:r>
              <a:rPr lang="en-US" altLang="zh-CN" sz="1600" dirty="0">
                <a:solidFill>
                  <a:srgbClr val="000000"/>
                </a:solidFill>
              </a:rPr>
              <a:t>		</a:t>
            </a:r>
            <a:r>
              <a:rPr lang="en-US" altLang="zh-CN" sz="1600" dirty="0" smtClean="0">
                <a:solidFill>
                  <a:srgbClr val="000000"/>
                </a:solidFill>
              </a:rPr>
              <a:t>       end=mid</a:t>
            </a:r>
            <a:r>
              <a:rPr lang="en-US" altLang="zh-CN" sz="1600" dirty="0">
                <a:solidFill>
                  <a:srgbClr val="000000"/>
                </a:solidFill>
              </a:rPr>
              <a:t>;  </a:t>
            </a:r>
            <a:r>
              <a:rPr lang="en-US" altLang="zh-CN" sz="1600" dirty="0" smtClean="0">
                <a:solidFill>
                  <a:srgbClr val="000000"/>
                </a:solidFill>
              </a:rPr>
              <a:t>         //</a:t>
            </a:r>
            <a:r>
              <a:rPr lang="zh-CN" altLang="en-US" sz="1600" dirty="0" smtClean="0">
                <a:solidFill>
                  <a:srgbClr val="000000"/>
                </a:solidFill>
              </a:rPr>
              <a:t>在左边查找 </a:t>
            </a:r>
            <a:endParaRPr lang="zh-CN" altLang="en-US" sz="1600" dirty="0">
              <a:solidFill>
                <a:srgbClr val="000000"/>
              </a:solidFill>
            </a:endParaRPr>
          </a:p>
          <a:p>
            <a:pPr lvl="1">
              <a:lnSpc>
                <a:spcPct val="100000"/>
              </a:lnSpc>
              <a:spcBef>
                <a:spcPts val="0"/>
              </a:spcBef>
              <a:buNone/>
            </a:pPr>
            <a:r>
              <a:rPr lang="zh-CN" altLang="en-US" sz="1600" dirty="0">
                <a:solidFill>
                  <a:srgbClr val="000000"/>
                </a:solidFill>
              </a:rPr>
              <a:t>		  </a:t>
            </a:r>
            <a:r>
              <a:rPr lang="en-US" altLang="zh-CN" sz="1600">
                <a:solidFill>
                  <a:srgbClr val="000000"/>
                </a:solidFill>
              </a:rPr>
              <a:t>else </a:t>
            </a:r>
            <a:r>
              <a:rPr lang="en-US" altLang="zh-CN" sz="1600" smtClean="0">
                <a:solidFill>
                  <a:srgbClr val="000000"/>
                </a:solidFill>
              </a:rPr>
              <a:t> //if </a:t>
            </a:r>
            <a:r>
              <a:rPr lang="en-US" altLang="zh-CN" sz="1600" dirty="0" smtClean="0">
                <a:solidFill>
                  <a:srgbClr val="000000"/>
                </a:solidFill>
              </a:rPr>
              <a:t>(</a:t>
            </a:r>
            <a:r>
              <a:rPr lang="en-US" altLang="zh-CN" sz="1600" dirty="0" smtClean="0"/>
              <a:t>eggs</a:t>
            </a:r>
            <a:r>
              <a:rPr lang="en-US" altLang="zh-CN" sz="1600" dirty="0" smtClean="0">
                <a:solidFill>
                  <a:srgbClr val="000000"/>
                </a:solidFill>
              </a:rPr>
              <a:t>[mid</a:t>
            </a:r>
            <a:r>
              <a:rPr lang="en-US" altLang="zh-CN" sz="1600" dirty="0">
                <a:solidFill>
                  <a:srgbClr val="000000"/>
                </a:solidFill>
              </a:rPr>
              <a:t>]=='N')</a:t>
            </a:r>
          </a:p>
          <a:p>
            <a:pPr lvl="1">
              <a:lnSpc>
                <a:spcPct val="100000"/>
              </a:lnSpc>
              <a:spcBef>
                <a:spcPts val="0"/>
              </a:spcBef>
              <a:buNone/>
            </a:pPr>
            <a:r>
              <a:rPr lang="en-US" altLang="zh-CN" sz="1600" dirty="0">
                <a:solidFill>
                  <a:srgbClr val="000000"/>
                </a:solidFill>
              </a:rPr>
              <a:t>		     </a:t>
            </a:r>
            <a:r>
              <a:rPr lang="en-US" altLang="zh-CN" sz="1600" dirty="0"/>
              <a:t>start</a:t>
            </a:r>
            <a:r>
              <a:rPr lang="en-US" altLang="zh-CN" sz="1600" dirty="0" smtClean="0">
                <a:solidFill>
                  <a:srgbClr val="000000"/>
                </a:solidFill>
              </a:rPr>
              <a:t>=mid</a:t>
            </a:r>
            <a:r>
              <a:rPr lang="en-US" altLang="zh-CN" sz="1600" dirty="0">
                <a:solidFill>
                  <a:srgbClr val="000000"/>
                </a:solidFill>
              </a:rPr>
              <a:t>;  </a:t>
            </a:r>
            <a:r>
              <a:rPr lang="en-US" altLang="zh-CN" sz="1600" dirty="0" smtClean="0">
                <a:solidFill>
                  <a:srgbClr val="000000"/>
                </a:solidFill>
              </a:rPr>
              <a:t>        //</a:t>
            </a:r>
            <a:r>
              <a:rPr lang="zh-CN" altLang="en-US" sz="1600" dirty="0" smtClean="0">
                <a:solidFill>
                  <a:srgbClr val="000000"/>
                </a:solidFill>
              </a:rPr>
              <a:t>在右边查找 </a:t>
            </a:r>
            <a:endParaRPr lang="zh-CN" altLang="en-US" sz="1600" dirty="0">
              <a:solidFill>
                <a:srgbClr val="000000"/>
              </a:solidFill>
            </a:endParaRPr>
          </a:p>
          <a:p>
            <a:pPr lvl="1">
              <a:lnSpc>
                <a:spcPct val="100000"/>
              </a:lnSpc>
              <a:spcBef>
                <a:spcPts val="0"/>
              </a:spcBef>
              <a:buNone/>
            </a:pPr>
            <a:r>
              <a:rPr lang="zh-CN" altLang="en-US" sz="1600" dirty="0" smtClean="0"/>
              <a:t>   </a:t>
            </a:r>
            <a:r>
              <a:rPr lang="zh-CN" altLang="en-US" sz="1600" dirty="0" smtClean="0">
                <a:solidFill>
                  <a:srgbClr val="000000"/>
                </a:solidFill>
              </a:rPr>
              <a:t> </a:t>
            </a:r>
            <a:r>
              <a:rPr lang="en-US" altLang="zh-CN" sz="1600" dirty="0" smtClean="0">
                <a:solidFill>
                  <a:srgbClr val="000000"/>
                </a:solidFill>
              </a:rPr>
              <a:t>}</a:t>
            </a:r>
          </a:p>
          <a:p>
            <a:pPr lvl="1">
              <a:lnSpc>
                <a:spcPct val="100000"/>
              </a:lnSpc>
              <a:spcBef>
                <a:spcPts val="0"/>
              </a:spcBef>
              <a:buNone/>
            </a:pPr>
            <a:r>
              <a:rPr lang="en-US" altLang="zh-CN" sz="1600" dirty="0"/>
              <a:t> </a:t>
            </a:r>
            <a:r>
              <a:rPr lang="en-US" altLang="zh-CN" sz="1600" dirty="0" smtClean="0"/>
              <a:t>   </a:t>
            </a:r>
            <a:r>
              <a:rPr lang="en-US" altLang="zh-CN" sz="1600" dirty="0" err="1" smtClean="0"/>
              <a:t>printf</a:t>
            </a:r>
            <a:r>
              <a:rPr lang="en-US" altLang="zh-CN" sz="1600" dirty="0" smtClean="0"/>
              <a:t>(“</a:t>
            </a:r>
            <a:r>
              <a:rPr lang="zh-CN" altLang="en-US" sz="1600" dirty="0"/>
              <a:t>扔出鸡蛋不破碎的最高楼层</a:t>
            </a:r>
            <a:r>
              <a:rPr lang="zh-CN" altLang="en-US" sz="1600" dirty="0" smtClean="0"/>
              <a:t>为</a:t>
            </a:r>
            <a:r>
              <a:rPr lang="en-US" altLang="zh-CN" sz="1600" dirty="0" smtClean="0"/>
              <a:t>%d\</a:t>
            </a:r>
            <a:r>
              <a:rPr lang="en-US" altLang="zh-CN" sz="1600" dirty="0" err="1" smtClean="0"/>
              <a:t>n”,start</a:t>
            </a:r>
            <a:r>
              <a:rPr lang="en-US" altLang="zh-CN" sz="1600" dirty="0" smtClean="0"/>
              <a:t>);</a:t>
            </a:r>
            <a:r>
              <a:rPr lang="en-US" altLang="zh-CN" sz="1600" dirty="0" smtClean="0">
                <a:solidFill>
                  <a:srgbClr val="000000"/>
                </a:solidFill>
              </a:rPr>
              <a:t> </a:t>
            </a:r>
          </a:p>
          <a:p>
            <a:pPr marL="342900" indent="-342900">
              <a:buFont typeface="Wingdings" panose="05000000000000000000" pitchFamily="2" charset="2"/>
              <a:buChar char="l"/>
            </a:pPr>
            <a:endParaRPr lang="en-US" altLang="zh-CN" sz="2000" dirty="0" smtClean="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105818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solidFill>
                  <a:srgbClr val="0000CC"/>
                </a:solidFill>
              </a:rPr>
              <a:t>折半查找应用例：</a:t>
            </a:r>
            <a:r>
              <a:rPr lang="zh-CN" altLang="en-US" dirty="0" smtClean="0"/>
              <a:t>小明识别假硬币</a:t>
            </a:r>
            <a:endParaRPr lang="zh-CN" altLang="en-US" dirty="0"/>
          </a:p>
        </p:txBody>
      </p:sp>
      <p:sp>
        <p:nvSpPr>
          <p:cNvPr id="3" name="内容占位符 2"/>
          <p:cNvSpPr>
            <a:spLocks noGrp="1"/>
          </p:cNvSpPr>
          <p:nvPr>
            <p:ph idx="1"/>
          </p:nvPr>
        </p:nvSpPr>
        <p:spPr/>
        <p:txBody>
          <a:bodyPr/>
          <a:lstStyle/>
          <a:p>
            <a:pPr marL="342900" indent="-342900">
              <a:lnSpc>
                <a:spcPct val="100000"/>
              </a:lnSpc>
              <a:buFont typeface="Wingdings" panose="05000000000000000000" pitchFamily="2" charset="2"/>
              <a:buChar char="l"/>
            </a:pPr>
            <a:r>
              <a:rPr lang="zh-CN" altLang="zh-CN" sz="2000" dirty="0"/>
              <a:t>小明有一堆硬币若干枚，其中一枚是假币，外观上这枚假币与真币无法区分，但假币比真币轻（每枚真币的重量都相同）</a:t>
            </a:r>
            <a:r>
              <a:rPr lang="zh-CN" altLang="zh-CN" sz="2000" dirty="0" smtClean="0"/>
              <a:t>。</a:t>
            </a:r>
            <a:endParaRPr lang="en-US" altLang="zh-CN" sz="2000" dirty="0" smtClean="0"/>
          </a:p>
          <a:p>
            <a:pPr marL="342900" indent="-342900">
              <a:lnSpc>
                <a:spcPct val="100000"/>
              </a:lnSpc>
              <a:buFont typeface="Wingdings" panose="05000000000000000000" pitchFamily="2" charset="2"/>
              <a:buChar char="l"/>
            </a:pPr>
            <a:r>
              <a:rPr lang="zh-CN" altLang="zh-CN" sz="2000" dirty="0" smtClean="0"/>
              <a:t>目前</a:t>
            </a:r>
            <a:r>
              <a:rPr lang="zh-CN" altLang="zh-CN" sz="2000" dirty="0"/>
              <a:t>小明手上的工具只有一台天平。</a:t>
            </a:r>
          </a:p>
          <a:p>
            <a:pPr marL="342900" indent="-342900">
              <a:lnSpc>
                <a:spcPct val="100000"/>
              </a:lnSpc>
              <a:buFont typeface="Wingdings" panose="05000000000000000000" pitchFamily="2" charset="2"/>
              <a:buChar char="l"/>
            </a:pPr>
            <a:r>
              <a:rPr lang="zh-CN" altLang="zh-CN" sz="2000" dirty="0"/>
              <a:t>（</a:t>
            </a:r>
            <a:r>
              <a:rPr lang="en-US" altLang="zh-CN" sz="2000" dirty="0"/>
              <a:t>1</a:t>
            </a:r>
            <a:r>
              <a:rPr lang="zh-CN" altLang="zh-CN" sz="2000" dirty="0"/>
              <a:t>）假设硬币有</a:t>
            </a:r>
            <a:r>
              <a:rPr lang="en-US" altLang="zh-CN" sz="2000" b="1" dirty="0"/>
              <a:t>2</a:t>
            </a:r>
            <a:r>
              <a:rPr lang="en-US" altLang="zh-CN" sz="2000" b="1" baseline="30000" dirty="0"/>
              <a:t>n</a:t>
            </a:r>
            <a:r>
              <a:rPr lang="zh-CN" altLang="zh-CN" sz="2000" dirty="0"/>
              <a:t>枚（</a:t>
            </a:r>
            <a:r>
              <a:rPr lang="en-US" altLang="zh-CN" sz="2000" dirty="0"/>
              <a:t>n</a:t>
            </a:r>
            <a:r>
              <a:rPr lang="zh-CN" altLang="zh-CN" sz="2000" dirty="0"/>
              <a:t>为正整数）。在查找假币的过程中，若要求</a:t>
            </a:r>
            <a:r>
              <a:rPr lang="zh-CN" altLang="zh-CN" sz="2000" dirty="0">
                <a:solidFill>
                  <a:srgbClr val="006600"/>
                </a:solidFill>
              </a:rPr>
              <a:t>平均比较</a:t>
            </a:r>
            <a:r>
              <a:rPr lang="zh-CN" altLang="zh-CN" sz="2000" dirty="0" smtClean="0">
                <a:solidFill>
                  <a:srgbClr val="006600"/>
                </a:solidFill>
              </a:rPr>
              <a:t>次数</a:t>
            </a:r>
            <a:r>
              <a:rPr lang="zh-CN" altLang="en-US" sz="2000" dirty="0">
                <a:solidFill>
                  <a:srgbClr val="7030A0"/>
                </a:solidFill>
              </a:rPr>
              <a:t>小于</a:t>
            </a:r>
            <a:r>
              <a:rPr lang="en-US" altLang="zh-CN" sz="2000" dirty="0">
                <a:solidFill>
                  <a:srgbClr val="7030A0"/>
                </a:solidFill>
              </a:rPr>
              <a:t>O(n)</a:t>
            </a:r>
            <a:r>
              <a:rPr lang="zh-CN" altLang="zh-CN" sz="2000" dirty="0" smtClean="0"/>
              <a:t>，</a:t>
            </a:r>
            <a:r>
              <a:rPr lang="zh-CN" altLang="zh-CN" sz="2000" dirty="0"/>
              <a:t>请编程帮小明找出其中的假币，输出假币的编号，并分析你编写的程序的时间复杂度。</a:t>
            </a:r>
          </a:p>
          <a:p>
            <a:pPr marL="342900" indent="-342900">
              <a:lnSpc>
                <a:spcPct val="100000"/>
              </a:lnSpc>
              <a:buFont typeface="Wingdings" panose="05000000000000000000" pitchFamily="2" charset="2"/>
              <a:buChar char="l"/>
            </a:pPr>
            <a:r>
              <a:rPr lang="zh-CN" altLang="zh-CN" sz="2000" dirty="0"/>
              <a:t>（</a:t>
            </a:r>
            <a:r>
              <a:rPr lang="en-US" altLang="zh-CN" sz="2000" dirty="0"/>
              <a:t>2</a:t>
            </a:r>
            <a:r>
              <a:rPr lang="zh-CN" altLang="zh-CN" sz="2000" dirty="0"/>
              <a:t>）假设硬币有</a:t>
            </a:r>
            <a:r>
              <a:rPr lang="en-US" altLang="zh-CN" sz="2000" dirty="0"/>
              <a:t>n</a:t>
            </a:r>
            <a:r>
              <a:rPr lang="zh-CN" altLang="zh-CN" sz="2000" dirty="0"/>
              <a:t>枚（</a:t>
            </a:r>
            <a:r>
              <a:rPr lang="en-US" altLang="zh-CN" sz="2000" dirty="0"/>
              <a:t>n</a:t>
            </a:r>
            <a:r>
              <a:rPr lang="zh-CN" altLang="zh-CN" sz="2000" dirty="0"/>
              <a:t>为正整数），请设计不限定比较次数的查找假币程序，时间复杂度</a:t>
            </a:r>
            <a:r>
              <a:rPr lang="zh-CN" altLang="zh-CN" sz="2000" dirty="0">
                <a:solidFill>
                  <a:srgbClr val="7030A0"/>
                </a:solidFill>
              </a:rPr>
              <a:t>不超过</a:t>
            </a:r>
            <a:r>
              <a:rPr lang="en-US" altLang="zh-CN" sz="2000" dirty="0">
                <a:solidFill>
                  <a:srgbClr val="7030A0"/>
                </a:solidFill>
              </a:rPr>
              <a:t>O(n)</a:t>
            </a:r>
            <a:r>
              <a:rPr lang="zh-CN" altLang="zh-CN" sz="2000" dirty="0" smtClean="0"/>
              <a:t>。</a:t>
            </a:r>
            <a:endParaRPr lang="en-US" altLang="zh-CN" sz="2000" dirty="0" smtClean="0"/>
          </a:p>
          <a:p>
            <a:pPr marL="342900" indent="-342900">
              <a:lnSpc>
                <a:spcPct val="100000"/>
              </a:lnSpc>
              <a:buFont typeface="Wingdings" panose="05000000000000000000" pitchFamily="2" charset="2"/>
              <a:buChar char="l"/>
            </a:pPr>
            <a:r>
              <a:rPr lang="zh-CN" altLang="en-US" sz="2000" dirty="0" smtClean="0"/>
              <a:t>（</a:t>
            </a:r>
            <a:r>
              <a:rPr lang="en-US" altLang="zh-CN" sz="2000" dirty="0" smtClean="0"/>
              <a:t>3</a:t>
            </a:r>
            <a:r>
              <a:rPr lang="zh-CN" altLang="en-US" sz="2000" dirty="0" smtClean="0"/>
              <a:t>）如果不知假币比真币轻还是重，如何找出假币？</a:t>
            </a:r>
            <a:endParaRPr lang="zh-CN" altLang="zh-CN" sz="2000" dirty="0"/>
          </a:p>
          <a:p>
            <a:endParaRPr lang="zh-CN" altLang="en-US" dirty="0"/>
          </a:p>
        </p:txBody>
      </p:sp>
    </p:spTree>
    <p:extLst>
      <p:ext uri="{BB962C8B-B14F-4D97-AF65-F5344CB8AC3E}">
        <p14:creationId xmlns:p14="http://schemas.microsoft.com/office/powerpoint/2010/main" val="14110598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Rot="1" noChangeArrowheads="1"/>
          </p:cNvSpPr>
          <p:nvPr>
            <p:ph type="body" idx="1"/>
          </p:nvPr>
        </p:nvSpPr>
        <p:spPr>
          <a:xfrm>
            <a:off x="323850" y="1180812"/>
            <a:ext cx="8153400" cy="5040313"/>
          </a:xfrm>
        </p:spPr>
        <p:txBody>
          <a:bodyPr/>
          <a:lstStyle/>
          <a:p>
            <a:pPr marL="342900" indent="-342900" algn="just">
              <a:buFont typeface="Wingdings" panose="05000000000000000000" pitchFamily="2" charset="2"/>
              <a:buChar char="l"/>
            </a:pPr>
            <a:r>
              <a:rPr lang="zh-CN" altLang="en-US" sz="2000" dirty="0">
                <a:solidFill>
                  <a:srgbClr val="030DCD"/>
                </a:solidFill>
              </a:rPr>
              <a:t>折半查找</a:t>
            </a:r>
            <a:r>
              <a:rPr lang="zh-CN" altLang="en-US" sz="2000" dirty="0"/>
              <a:t>是在</a:t>
            </a:r>
            <a:r>
              <a:rPr lang="zh-CN" altLang="en-US" sz="2000" dirty="0">
                <a:solidFill>
                  <a:srgbClr val="030DCD"/>
                </a:solidFill>
              </a:rPr>
              <a:t>数据有序</a:t>
            </a:r>
            <a:r>
              <a:rPr lang="zh-CN" altLang="en-US" sz="2000" dirty="0"/>
              <a:t>的基础上进行，需要事先对一组数据进行</a:t>
            </a:r>
            <a:r>
              <a:rPr lang="zh-CN" altLang="en-US" sz="2000" dirty="0">
                <a:solidFill>
                  <a:srgbClr val="7030A0"/>
                </a:solidFill>
              </a:rPr>
              <a:t>排序</a:t>
            </a:r>
            <a:endParaRPr lang="en-US" altLang="zh-CN" sz="2000" dirty="0">
              <a:solidFill>
                <a:srgbClr val="7030A0"/>
              </a:solidFill>
            </a:endParaRPr>
          </a:p>
          <a:p>
            <a:pPr marL="342900" indent="-342900" algn="just">
              <a:buFont typeface="Wingdings" panose="05000000000000000000" pitchFamily="2" charset="2"/>
              <a:buChar char="l"/>
            </a:pPr>
            <a:r>
              <a:rPr lang="zh-CN" altLang="en-US" sz="2000" dirty="0">
                <a:solidFill>
                  <a:srgbClr val="7030A0"/>
                </a:solidFill>
              </a:rPr>
              <a:t>排序</a:t>
            </a:r>
            <a:endParaRPr lang="en-US" altLang="zh-CN" sz="2000" dirty="0">
              <a:solidFill>
                <a:srgbClr val="7030A0"/>
              </a:solidFill>
            </a:endParaRPr>
          </a:p>
          <a:p>
            <a:pPr marL="971550" lvl="1" algn="just"/>
            <a:r>
              <a:rPr lang="zh-CN" altLang="en-US" sz="1800" dirty="0"/>
              <a:t>将一组数据按升序或降序排列；</a:t>
            </a:r>
            <a:endParaRPr lang="en-US" altLang="zh-CN" sz="1800" dirty="0"/>
          </a:p>
          <a:p>
            <a:pPr marL="342900" indent="-342900" algn="just">
              <a:buFont typeface="Wingdings" panose="05000000000000000000" pitchFamily="2" charset="2"/>
              <a:buChar char="l"/>
            </a:pPr>
            <a:r>
              <a:rPr lang="zh-CN" altLang="en-US" sz="2000" dirty="0"/>
              <a:t>输入10个数，用“冒泡法”对10个数排序（由小到大）。</a:t>
            </a:r>
          </a:p>
          <a:p>
            <a:pPr marL="342900" indent="-342900" algn="just">
              <a:buFont typeface="Wingdings" panose="05000000000000000000" pitchFamily="2" charset="2"/>
              <a:buChar char="l"/>
            </a:pPr>
            <a:r>
              <a:rPr lang="zh-CN" altLang="en-US" sz="2000" dirty="0">
                <a:solidFill>
                  <a:srgbClr val="7030A0"/>
                </a:solidFill>
              </a:rPr>
              <a:t>冒泡法的基本</a:t>
            </a:r>
            <a:r>
              <a:rPr lang="zh-CN" altLang="en-US" sz="2000" dirty="0" smtClean="0">
                <a:solidFill>
                  <a:srgbClr val="7030A0"/>
                </a:solidFill>
              </a:rPr>
              <a:t>思想：（以升序排列为例）</a:t>
            </a:r>
            <a:endParaRPr lang="en-US" altLang="zh-CN" sz="2000" dirty="0">
              <a:solidFill>
                <a:srgbClr val="7030A0"/>
              </a:solidFill>
            </a:endParaRPr>
          </a:p>
          <a:p>
            <a:pPr marL="971550" lvl="1" algn="just"/>
            <a:r>
              <a:rPr lang="zh-CN" altLang="en-US" sz="1800" dirty="0">
                <a:solidFill>
                  <a:srgbClr val="000000"/>
                </a:solidFill>
              </a:rPr>
              <a:t>通过</a:t>
            </a:r>
            <a:r>
              <a:rPr lang="zh-CN" altLang="en-US" sz="1800" dirty="0">
                <a:solidFill>
                  <a:srgbClr val="9900FF"/>
                </a:solidFill>
              </a:rPr>
              <a:t>相邻两个数</a:t>
            </a:r>
            <a:r>
              <a:rPr lang="zh-CN" altLang="en-US" sz="1800" dirty="0">
                <a:solidFill>
                  <a:srgbClr val="000000"/>
                </a:solidFill>
              </a:rPr>
              <a:t>之间的比较和</a:t>
            </a:r>
            <a:r>
              <a:rPr lang="zh-CN" altLang="en-US" sz="1800" dirty="0" smtClean="0">
                <a:solidFill>
                  <a:srgbClr val="000000"/>
                </a:solidFill>
              </a:rPr>
              <a:t>交换；</a:t>
            </a:r>
            <a:endParaRPr lang="en-US" altLang="zh-CN" sz="1800" dirty="0" smtClean="0">
              <a:solidFill>
                <a:srgbClr val="000000"/>
              </a:solidFill>
            </a:endParaRPr>
          </a:p>
          <a:p>
            <a:pPr marL="971550" lvl="1" algn="just"/>
            <a:r>
              <a:rPr lang="zh-CN" altLang="en-US" sz="1800" dirty="0" smtClean="0">
                <a:solidFill>
                  <a:srgbClr val="000000"/>
                </a:solidFill>
              </a:rPr>
              <a:t>使</a:t>
            </a:r>
            <a:r>
              <a:rPr lang="zh-CN" altLang="en-US" sz="1800" dirty="0">
                <a:solidFill>
                  <a:srgbClr val="000000"/>
                </a:solidFill>
              </a:rPr>
              <a:t>排序码（数值）</a:t>
            </a:r>
            <a:r>
              <a:rPr lang="zh-CN" altLang="en-US" sz="1800" dirty="0" smtClean="0">
                <a:solidFill>
                  <a:srgbClr val="000000"/>
                </a:solidFill>
              </a:rPr>
              <a:t>较大的</a:t>
            </a:r>
            <a:r>
              <a:rPr lang="zh-CN" altLang="en-US" sz="1800" dirty="0">
                <a:solidFill>
                  <a:srgbClr val="000000"/>
                </a:solidFill>
              </a:rPr>
              <a:t>数</a:t>
            </a:r>
            <a:r>
              <a:rPr lang="zh-CN" altLang="en-US" sz="1800" dirty="0" smtClean="0">
                <a:solidFill>
                  <a:srgbClr val="000000"/>
                </a:solidFill>
              </a:rPr>
              <a:t>逐渐向顶部移动；</a:t>
            </a:r>
            <a:endParaRPr lang="en-US" altLang="zh-CN" sz="1800" dirty="0" smtClean="0">
              <a:solidFill>
                <a:srgbClr val="000000"/>
              </a:solidFill>
            </a:endParaRPr>
          </a:p>
          <a:p>
            <a:pPr marL="971550" lvl="1" algn="just"/>
            <a:r>
              <a:rPr lang="zh-CN" altLang="en-US" sz="1800" dirty="0" smtClean="0">
                <a:solidFill>
                  <a:srgbClr val="000000"/>
                </a:solidFill>
              </a:rPr>
              <a:t>排序</a:t>
            </a:r>
            <a:r>
              <a:rPr lang="zh-CN" altLang="en-US" sz="1800" dirty="0">
                <a:solidFill>
                  <a:srgbClr val="000000"/>
                </a:solidFill>
              </a:rPr>
              <a:t>码</a:t>
            </a:r>
            <a:r>
              <a:rPr lang="zh-CN" altLang="en-US" sz="1800" dirty="0" smtClean="0">
                <a:solidFill>
                  <a:srgbClr val="000000"/>
                </a:solidFill>
              </a:rPr>
              <a:t>较小的</a:t>
            </a:r>
            <a:r>
              <a:rPr lang="zh-CN" altLang="en-US" sz="1800" dirty="0">
                <a:solidFill>
                  <a:srgbClr val="000000"/>
                </a:solidFill>
              </a:rPr>
              <a:t>数</a:t>
            </a:r>
            <a:r>
              <a:rPr lang="zh-CN" altLang="en-US" sz="1800" dirty="0" smtClean="0">
                <a:solidFill>
                  <a:srgbClr val="000000"/>
                </a:solidFill>
              </a:rPr>
              <a:t>逐渐向底部移动；</a:t>
            </a:r>
            <a:endParaRPr lang="en-US" altLang="zh-CN" sz="1800" dirty="0" smtClean="0">
              <a:solidFill>
                <a:srgbClr val="000000"/>
              </a:solidFill>
            </a:endParaRPr>
          </a:p>
          <a:p>
            <a:pPr marL="971550" lvl="1" algn="just"/>
            <a:r>
              <a:rPr lang="zh-CN" altLang="en-US" sz="1800" dirty="0" smtClean="0">
                <a:solidFill>
                  <a:srgbClr val="000000"/>
                </a:solidFill>
              </a:rPr>
              <a:t>较大者就像</a:t>
            </a:r>
            <a:r>
              <a:rPr lang="zh-CN" altLang="en-US" sz="1800" dirty="0" smtClean="0">
                <a:solidFill>
                  <a:srgbClr val="FF3300"/>
                </a:solidFill>
              </a:rPr>
              <a:t>气泡</a:t>
            </a:r>
            <a:r>
              <a:rPr lang="zh-CN" altLang="en-US" sz="1800" dirty="0">
                <a:solidFill>
                  <a:srgbClr val="FF3300"/>
                </a:solidFill>
              </a:rPr>
              <a:t>一样逐渐向上冒</a:t>
            </a:r>
            <a:r>
              <a:rPr lang="zh-CN" altLang="en-US" sz="1800" dirty="0">
                <a:solidFill>
                  <a:srgbClr val="000000"/>
                </a:solidFill>
              </a:rPr>
              <a:t>，故而得名。</a:t>
            </a:r>
            <a:endParaRPr lang="zh-CN" altLang="en-US" sz="1800" dirty="0"/>
          </a:p>
          <a:p>
            <a:pPr marL="342900" indent="-342900" algn="just">
              <a:buFont typeface="Wingdings" panose="05000000000000000000" pitchFamily="2" charset="2"/>
              <a:buChar char="l"/>
            </a:pPr>
            <a:r>
              <a:rPr lang="zh-CN" altLang="en-US" sz="2000" dirty="0">
                <a:solidFill>
                  <a:srgbClr val="030DCD"/>
                </a:solidFill>
              </a:rPr>
              <a:t>参见 </a:t>
            </a:r>
            <a:r>
              <a:rPr lang="en-US" altLang="zh-CN" sz="2000" dirty="0">
                <a:solidFill>
                  <a:srgbClr val="030DCD"/>
                </a:solidFill>
              </a:rPr>
              <a:t>https://www.runoob.com/w3cnote/bubble-sort.html</a:t>
            </a:r>
            <a:r>
              <a:rPr lang="zh-CN" altLang="en-US" sz="2000" dirty="0">
                <a:solidFill>
                  <a:srgbClr val="030DCD"/>
                </a:solidFill>
              </a:rPr>
              <a:t>中的动画演示</a:t>
            </a:r>
            <a:r>
              <a:rPr lang="zh-CN" altLang="en-US" sz="2000" dirty="0" smtClean="0">
                <a:solidFill>
                  <a:srgbClr val="030DCD"/>
                </a:solidFill>
              </a:rPr>
              <a:t>；</a:t>
            </a:r>
            <a:endParaRPr lang="en-US" altLang="zh-CN" sz="2000" dirty="0" smtClean="0">
              <a:solidFill>
                <a:srgbClr val="030DCD"/>
              </a:solidFill>
            </a:endParaRPr>
          </a:p>
          <a:p>
            <a:pPr marL="342900" indent="-342900" algn="just">
              <a:buFont typeface="Wingdings" panose="05000000000000000000" pitchFamily="2" charset="2"/>
              <a:buChar char="l"/>
            </a:pPr>
            <a:r>
              <a:rPr lang="en-US" altLang="zh-CN" sz="2000" dirty="0">
                <a:solidFill>
                  <a:srgbClr val="030DCD"/>
                </a:solidFill>
              </a:rPr>
              <a:t>https://</a:t>
            </a:r>
            <a:r>
              <a:rPr lang="en-US" altLang="zh-CN" sz="2000" dirty="0" smtClean="0">
                <a:solidFill>
                  <a:srgbClr val="030DCD"/>
                </a:solidFill>
              </a:rPr>
              <a:t>blog.csdn.net/dongming8886/article/details/123458790</a:t>
            </a:r>
            <a:r>
              <a:rPr lang="zh-CN" altLang="en-US" sz="2000" dirty="0">
                <a:solidFill>
                  <a:srgbClr val="030DCD"/>
                </a:solidFill>
              </a:rPr>
              <a:t>动画</a:t>
            </a:r>
            <a:r>
              <a:rPr lang="zh-CN" altLang="en-US" sz="2000" dirty="0" smtClean="0">
                <a:solidFill>
                  <a:srgbClr val="030DCD"/>
                </a:solidFill>
              </a:rPr>
              <a:t>演示</a:t>
            </a:r>
            <a:r>
              <a:rPr lang="en-US" altLang="zh-CN" sz="2000" dirty="0" smtClean="0">
                <a:solidFill>
                  <a:srgbClr val="030DCD"/>
                </a:solidFill>
              </a:rPr>
              <a:t>;</a:t>
            </a:r>
          </a:p>
          <a:p>
            <a:pPr marL="342900" indent="-342900" algn="just">
              <a:buFont typeface="Wingdings" panose="05000000000000000000" pitchFamily="2" charset="2"/>
              <a:buChar char="l"/>
            </a:pPr>
            <a:endParaRPr lang="en-US" altLang="zh-CN" sz="2000" dirty="0" smtClean="0">
              <a:solidFill>
                <a:srgbClr val="030DCD"/>
              </a:solidFill>
            </a:endParaRPr>
          </a:p>
          <a:p>
            <a:pPr algn="just">
              <a:buNone/>
            </a:pPr>
            <a:endParaRPr lang="zh-CN" altLang="en-US" b="1" dirty="0">
              <a:latin typeface="宋体" panose="02010600030101010101" pitchFamily="2" charset="-122"/>
            </a:endParaRPr>
          </a:p>
          <a:p>
            <a:endParaRPr lang="zh-CN" altLang="en-US" dirty="0"/>
          </a:p>
        </p:txBody>
      </p:sp>
      <p:sp>
        <p:nvSpPr>
          <p:cNvPr id="3" name="矩形 2"/>
          <p:cNvSpPr/>
          <p:nvPr/>
        </p:nvSpPr>
        <p:spPr>
          <a:xfrm>
            <a:off x="528350" y="316547"/>
            <a:ext cx="7628514" cy="480131"/>
          </a:xfrm>
          <a:prstGeom prst="rect">
            <a:avLst/>
          </a:prstGeom>
        </p:spPr>
        <p:txBody>
          <a:bodyPr wrap="square">
            <a:spAutoFit/>
          </a:bodyPr>
          <a:lstStyle/>
          <a:p>
            <a:pPr defTabSz="685800">
              <a:lnSpc>
                <a:spcPct val="90000"/>
              </a:lnSpc>
            </a:pPr>
            <a:r>
              <a:rPr lang="en-US" altLang="zh-CN" sz="2800" dirty="0" smtClean="0">
                <a:solidFill>
                  <a:srgbClr val="1A93C8"/>
                </a:solidFill>
                <a:latin typeface="+mj-lt"/>
                <a:ea typeface="+mj-ea"/>
                <a:cs typeface="+mj-cs"/>
              </a:rPr>
              <a:t>6.4 </a:t>
            </a:r>
            <a:r>
              <a:rPr lang="zh-CN" altLang="en-US" sz="2800" dirty="0" smtClean="0">
                <a:solidFill>
                  <a:srgbClr val="1A93C8"/>
                </a:solidFill>
                <a:latin typeface="+mj-lt"/>
                <a:ea typeface="+mj-ea"/>
                <a:cs typeface="+mj-cs"/>
              </a:rPr>
              <a:t>冒泡排序</a:t>
            </a:r>
            <a:r>
              <a:rPr lang="zh-CN" altLang="en-US" sz="2800" dirty="0">
                <a:solidFill>
                  <a:srgbClr val="1A93C8"/>
                </a:solidFill>
                <a:latin typeface="+mj-lt"/>
                <a:ea typeface="+mj-ea"/>
                <a:cs typeface="+mj-cs"/>
              </a:rPr>
              <a:t>（</a:t>
            </a:r>
            <a:r>
              <a:rPr lang="en-US" altLang="zh-CN" sz="2800" dirty="0">
                <a:solidFill>
                  <a:srgbClr val="1A93C8"/>
                </a:solidFill>
                <a:latin typeface="+mj-lt"/>
                <a:ea typeface="+mj-ea"/>
                <a:cs typeface="+mj-cs"/>
              </a:rPr>
              <a:t>Bubble Sort</a:t>
            </a:r>
            <a:r>
              <a:rPr lang="zh-CN" altLang="en-US" sz="2800" dirty="0">
                <a:solidFill>
                  <a:srgbClr val="1A93C8"/>
                </a:solidFill>
                <a:latin typeface="+mj-lt"/>
                <a:ea typeface="+mj-ea"/>
                <a:cs typeface="+mj-cs"/>
              </a:rPr>
              <a:t>）</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31599765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Rot="1" noChangeArrowheads="1"/>
          </p:cNvSpPr>
          <p:nvPr>
            <p:ph type="body" idx="1"/>
          </p:nvPr>
        </p:nvSpPr>
        <p:spPr>
          <a:xfrm>
            <a:off x="173617" y="1006809"/>
            <a:ext cx="8770878" cy="1384983"/>
          </a:xfrm>
        </p:spPr>
        <p:txBody>
          <a:bodyPr/>
          <a:lstStyle/>
          <a:p>
            <a:pPr marL="342900" indent="-342900" algn="just">
              <a:lnSpc>
                <a:spcPct val="100000"/>
              </a:lnSpc>
              <a:spcBef>
                <a:spcPts val="0"/>
              </a:spcBef>
              <a:buFont typeface="Wingdings" panose="05000000000000000000" pitchFamily="2" charset="2"/>
              <a:buChar char="l"/>
            </a:pPr>
            <a:r>
              <a:rPr lang="zh-CN" altLang="en-US" sz="1600" dirty="0" smtClean="0">
                <a:latin typeface=""/>
              </a:rPr>
              <a:t>冒泡法排序 ：以七个数</a:t>
            </a:r>
            <a:r>
              <a:rPr lang="en-US" altLang="zh-CN" sz="1600" dirty="0">
                <a:latin typeface=""/>
              </a:rPr>
              <a:t>3</a:t>
            </a:r>
            <a:r>
              <a:rPr lang="zh-CN" altLang="en-US" sz="1600" dirty="0">
                <a:latin typeface=""/>
              </a:rPr>
              <a:t>、</a:t>
            </a:r>
            <a:r>
              <a:rPr lang="en-US" altLang="zh-CN" sz="1600" dirty="0">
                <a:latin typeface=""/>
              </a:rPr>
              <a:t>6</a:t>
            </a:r>
            <a:r>
              <a:rPr lang="zh-CN" altLang="en-US" sz="1600" dirty="0">
                <a:latin typeface=""/>
              </a:rPr>
              <a:t>、</a:t>
            </a:r>
            <a:r>
              <a:rPr lang="en-US" altLang="zh-CN" sz="1600" dirty="0">
                <a:latin typeface=""/>
              </a:rPr>
              <a:t>4</a:t>
            </a:r>
            <a:r>
              <a:rPr lang="zh-CN" altLang="en-US" sz="1600" dirty="0">
                <a:latin typeface=""/>
              </a:rPr>
              <a:t>、</a:t>
            </a:r>
            <a:r>
              <a:rPr lang="en-US" altLang="zh-CN" sz="1600" dirty="0">
                <a:latin typeface=""/>
              </a:rPr>
              <a:t>2</a:t>
            </a:r>
            <a:r>
              <a:rPr lang="zh-CN" altLang="en-US" sz="1600" dirty="0">
                <a:latin typeface=""/>
              </a:rPr>
              <a:t>、</a:t>
            </a:r>
            <a:r>
              <a:rPr lang="en-US" altLang="zh-CN" sz="1600" dirty="0">
                <a:latin typeface=""/>
              </a:rPr>
              <a:t>11</a:t>
            </a:r>
            <a:r>
              <a:rPr lang="zh-CN" altLang="en-US" sz="1600" dirty="0">
                <a:latin typeface=""/>
              </a:rPr>
              <a:t>、</a:t>
            </a:r>
            <a:r>
              <a:rPr lang="en-US" altLang="zh-CN" sz="1600" dirty="0">
                <a:latin typeface=""/>
              </a:rPr>
              <a:t>10</a:t>
            </a:r>
            <a:r>
              <a:rPr lang="zh-CN" altLang="en-US" sz="1600" dirty="0">
                <a:latin typeface=""/>
              </a:rPr>
              <a:t>、</a:t>
            </a:r>
            <a:r>
              <a:rPr lang="en-US" altLang="zh-CN" sz="1600" dirty="0" smtClean="0">
                <a:latin typeface=""/>
              </a:rPr>
              <a:t>5</a:t>
            </a:r>
            <a:r>
              <a:rPr lang="zh-CN" altLang="en-US" sz="1600" dirty="0" smtClean="0">
                <a:latin typeface=""/>
              </a:rPr>
              <a:t>按</a:t>
            </a:r>
            <a:r>
              <a:rPr lang="zh-CN" altLang="en-US" sz="1600" b="1" dirty="0" smtClean="0">
                <a:solidFill>
                  <a:srgbClr val="C00000"/>
                </a:solidFill>
                <a:latin typeface=""/>
              </a:rPr>
              <a:t>升序排列</a:t>
            </a:r>
            <a:r>
              <a:rPr lang="zh-CN" altLang="en-US" sz="1600" dirty="0" smtClean="0">
                <a:latin typeface=""/>
              </a:rPr>
              <a:t>为</a:t>
            </a:r>
            <a:r>
              <a:rPr lang="zh-CN" altLang="en-US" sz="1600" dirty="0">
                <a:latin typeface=""/>
              </a:rPr>
              <a:t>例</a:t>
            </a:r>
            <a:r>
              <a:rPr lang="zh-CN" altLang="en-US" sz="1600" dirty="0" smtClean="0">
                <a:latin typeface=""/>
              </a:rPr>
              <a:t>；</a:t>
            </a:r>
            <a:endParaRPr lang="en-US" altLang="zh-CN" sz="1600" dirty="0" smtClean="0">
              <a:latin typeface=""/>
            </a:endParaRPr>
          </a:p>
          <a:p>
            <a:pPr marL="342900" indent="-342900" algn="just">
              <a:lnSpc>
                <a:spcPct val="100000"/>
              </a:lnSpc>
              <a:spcBef>
                <a:spcPts val="0"/>
              </a:spcBef>
              <a:buFont typeface="Wingdings" panose="05000000000000000000" pitchFamily="2" charset="2"/>
              <a:buChar char="l"/>
            </a:pPr>
            <a:r>
              <a:rPr lang="zh-CN" altLang="en-US" sz="1600" dirty="0" smtClean="0">
                <a:solidFill>
                  <a:srgbClr val="7030A0"/>
                </a:solidFill>
                <a:latin typeface=""/>
              </a:rPr>
              <a:t>第一趟排序：对于</a:t>
            </a:r>
            <a:r>
              <a:rPr lang="en-US" altLang="zh-CN" sz="1600" dirty="0" smtClean="0">
                <a:solidFill>
                  <a:srgbClr val="7030A0"/>
                </a:solidFill>
                <a:latin typeface=""/>
              </a:rPr>
              <a:t>n</a:t>
            </a:r>
            <a:r>
              <a:rPr lang="zh-CN" altLang="en-US" sz="1600" dirty="0" smtClean="0">
                <a:solidFill>
                  <a:srgbClr val="7030A0"/>
                </a:solidFill>
                <a:latin typeface=""/>
              </a:rPr>
              <a:t>个元素，</a:t>
            </a:r>
            <a:r>
              <a:rPr lang="zh-CN" altLang="en-US" sz="1600" dirty="0" smtClean="0">
                <a:solidFill>
                  <a:srgbClr val="000000"/>
                </a:solidFill>
                <a:latin typeface=""/>
              </a:rPr>
              <a:t>从左边开始，两两元素进行比较，较大者换到右边</a:t>
            </a:r>
            <a:r>
              <a:rPr lang="zh-CN" altLang="en-US" sz="1600" dirty="0" smtClean="0">
                <a:solidFill>
                  <a:srgbClr val="0303DF"/>
                </a:solidFill>
                <a:latin typeface=""/>
              </a:rPr>
              <a:t>；（</a:t>
            </a:r>
            <a:r>
              <a:rPr lang="en-US" altLang="zh-CN" sz="1600" dirty="0" smtClean="0">
                <a:solidFill>
                  <a:srgbClr val="0303DF"/>
                </a:solidFill>
                <a:latin typeface=""/>
              </a:rPr>
              <a:t>6</a:t>
            </a:r>
            <a:r>
              <a:rPr lang="zh-CN" altLang="en-US" sz="1600" dirty="0" smtClean="0">
                <a:solidFill>
                  <a:srgbClr val="0303DF"/>
                </a:solidFill>
                <a:latin typeface=""/>
              </a:rPr>
              <a:t>次比较）</a:t>
            </a:r>
            <a:endParaRPr lang="en-US" altLang="zh-CN" sz="1600" dirty="0" smtClean="0">
              <a:solidFill>
                <a:srgbClr val="0303DF"/>
              </a:solidFill>
              <a:latin typeface=""/>
            </a:endParaRPr>
          </a:p>
          <a:p>
            <a:pPr algn="just">
              <a:lnSpc>
                <a:spcPct val="100000"/>
              </a:lnSpc>
              <a:spcBef>
                <a:spcPts val="0"/>
              </a:spcBef>
              <a:buNone/>
            </a:pPr>
            <a:r>
              <a:rPr lang="en-US" altLang="zh-CN" sz="1600" dirty="0">
                <a:solidFill>
                  <a:srgbClr val="0303DF"/>
                </a:solidFill>
                <a:latin typeface=""/>
              </a:rPr>
              <a:t> </a:t>
            </a:r>
            <a:r>
              <a:rPr lang="en-US" altLang="zh-CN" sz="1600" dirty="0" smtClean="0">
                <a:solidFill>
                  <a:srgbClr val="0303DF"/>
                </a:solidFill>
                <a:latin typeface=""/>
              </a:rPr>
              <a:t>                          </a:t>
            </a:r>
            <a:r>
              <a:rPr lang="zh-CN" altLang="en-US" sz="1600" dirty="0" smtClean="0">
                <a:solidFill>
                  <a:srgbClr val="0303DF"/>
                </a:solidFill>
                <a:latin typeface=""/>
              </a:rPr>
              <a:t>第一趟排序结束后，</a:t>
            </a:r>
            <a:r>
              <a:rPr lang="en-US" altLang="zh-CN" sz="1600" dirty="0" smtClean="0">
                <a:solidFill>
                  <a:srgbClr val="0303DF"/>
                </a:solidFill>
                <a:latin typeface=""/>
              </a:rPr>
              <a:t>n</a:t>
            </a:r>
            <a:r>
              <a:rPr lang="zh-CN" altLang="en-US" sz="1600" dirty="0" smtClean="0">
                <a:solidFill>
                  <a:srgbClr val="0303DF"/>
                </a:solidFill>
                <a:latin typeface=""/>
              </a:rPr>
              <a:t>个元素的最大者移到最右边。</a:t>
            </a:r>
            <a:r>
              <a:rPr lang="en-US" altLang="zh-CN" sz="1600" dirty="0" smtClean="0">
                <a:solidFill>
                  <a:srgbClr val="0303DF"/>
                </a:solidFill>
                <a:latin typeface=""/>
              </a:rPr>
              <a:t>(</a:t>
            </a:r>
            <a:r>
              <a:rPr lang="zh-CN" altLang="en-US" sz="1600" dirty="0" smtClean="0">
                <a:solidFill>
                  <a:srgbClr val="0303DF"/>
                </a:solidFill>
                <a:latin typeface=""/>
              </a:rPr>
              <a:t>最大者冒泡</a:t>
            </a:r>
            <a:r>
              <a:rPr lang="en-US" altLang="zh-CN" sz="1600" dirty="0" smtClean="0">
                <a:solidFill>
                  <a:srgbClr val="0303DF"/>
                </a:solidFill>
                <a:latin typeface=""/>
              </a:rPr>
              <a:t>)</a:t>
            </a:r>
          </a:p>
          <a:p>
            <a:pPr marL="342900" indent="-342900" algn="just">
              <a:lnSpc>
                <a:spcPct val="100000"/>
              </a:lnSpc>
              <a:spcBef>
                <a:spcPts val="0"/>
              </a:spcBef>
              <a:buFont typeface="Wingdings" panose="05000000000000000000" pitchFamily="2" charset="2"/>
              <a:buChar char="l"/>
            </a:pPr>
            <a:r>
              <a:rPr lang="zh-CN" altLang="en-US" sz="1600" dirty="0" smtClean="0">
                <a:solidFill>
                  <a:srgbClr val="7030A0"/>
                </a:solidFill>
                <a:latin typeface=""/>
              </a:rPr>
              <a:t>第二趟排序：</a:t>
            </a:r>
            <a:r>
              <a:rPr lang="zh-CN" altLang="en-US" sz="1600" dirty="0" smtClean="0">
                <a:solidFill>
                  <a:srgbClr val="000000"/>
                </a:solidFill>
                <a:latin typeface=""/>
              </a:rPr>
              <a:t>对于剩余的</a:t>
            </a:r>
            <a:r>
              <a:rPr lang="en-US" altLang="zh-CN" sz="1600" dirty="0" smtClean="0">
                <a:solidFill>
                  <a:srgbClr val="000000"/>
                </a:solidFill>
                <a:latin typeface=""/>
              </a:rPr>
              <a:t>n-1</a:t>
            </a:r>
            <a:r>
              <a:rPr lang="zh-CN" altLang="en-US" sz="1600" dirty="0" smtClean="0">
                <a:solidFill>
                  <a:srgbClr val="000000"/>
                </a:solidFill>
                <a:latin typeface=""/>
              </a:rPr>
              <a:t>个元素，做类似的处理过程</a:t>
            </a:r>
            <a:r>
              <a:rPr lang="zh-CN" altLang="en-US" sz="1600" dirty="0" smtClean="0">
                <a:solidFill>
                  <a:srgbClr val="0303DF"/>
                </a:solidFill>
                <a:latin typeface=""/>
              </a:rPr>
              <a:t>，次大者移到</a:t>
            </a:r>
            <a:r>
              <a:rPr lang="en-US" altLang="zh-CN" sz="1600" dirty="0" smtClean="0">
                <a:solidFill>
                  <a:srgbClr val="0303DF"/>
                </a:solidFill>
                <a:latin typeface=""/>
              </a:rPr>
              <a:t>n-1</a:t>
            </a:r>
            <a:r>
              <a:rPr lang="zh-CN" altLang="en-US" sz="1600" dirty="0" smtClean="0">
                <a:solidFill>
                  <a:srgbClr val="0303DF"/>
                </a:solidFill>
                <a:latin typeface=""/>
              </a:rPr>
              <a:t>个元素的最右边。</a:t>
            </a:r>
            <a:endParaRPr lang="en-US" altLang="zh-CN" sz="1600" dirty="0" smtClean="0">
              <a:solidFill>
                <a:srgbClr val="0303DF"/>
              </a:solidFill>
              <a:latin typeface=""/>
            </a:endParaRPr>
          </a:p>
          <a:p>
            <a:pPr marL="342900" indent="-342900" algn="just">
              <a:lnSpc>
                <a:spcPct val="100000"/>
              </a:lnSpc>
              <a:spcBef>
                <a:spcPts val="0"/>
              </a:spcBef>
              <a:buFont typeface="Wingdings" panose="05000000000000000000" pitchFamily="2" charset="2"/>
              <a:buChar char="l"/>
            </a:pPr>
            <a:r>
              <a:rPr lang="zh-CN" altLang="en-US" sz="1600" dirty="0" smtClean="0">
                <a:solidFill>
                  <a:srgbClr val="0303DF"/>
                </a:solidFill>
                <a:latin typeface=""/>
              </a:rPr>
              <a:t>以此类推，直到最后剩余一个元素为止。排序完成。</a:t>
            </a:r>
            <a:endParaRPr lang="en-US" altLang="zh-CN" sz="1600" dirty="0" smtClean="0">
              <a:solidFill>
                <a:srgbClr val="0303DF"/>
              </a:solidFill>
              <a:latin typeface=""/>
            </a:endParaRPr>
          </a:p>
        </p:txBody>
      </p:sp>
      <p:sp>
        <p:nvSpPr>
          <p:cNvPr id="6" name="矩形 5"/>
          <p:cNvSpPr/>
          <p:nvPr/>
        </p:nvSpPr>
        <p:spPr>
          <a:xfrm>
            <a:off x="528350" y="316547"/>
            <a:ext cx="7628514" cy="480131"/>
          </a:xfrm>
          <a:prstGeom prst="rect">
            <a:avLst/>
          </a:prstGeom>
        </p:spPr>
        <p:txBody>
          <a:bodyPr wrap="square">
            <a:spAutoFit/>
          </a:bodyPr>
          <a:lstStyle/>
          <a:p>
            <a:pPr defTabSz="685800">
              <a:lnSpc>
                <a:spcPct val="90000"/>
              </a:lnSpc>
              <a:buFont typeface="Arial" panose="020B0604020202020204" pitchFamily="34" charset="0"/>
              <a:buNone/>
            </a:pPr>
            <a:r>
              <a:rPr lang="zh-CN" altLang="en-US" sz="2800" dirty="0">
                <a:solidFill>
                  <a:srgbClr val="1A93C8"/>
                </a:solidFill>
                <a:latin typeface="+mj-lt"/>
                <a:ea typeface="+mj-ea"/>
                <a:cs typeface="+mj-cs"/>
              </a:rPr>
              <a:t>冒泡排序（</a:t>
            </a:r>
            <a:r>
              <a:rPr lang="en-US" altLang="zh-CN" sz="2800" dirty="0">
                <a:solidFill>
                  <a:srgbClr val="1A93C8"/>
                </a:solidFill>
                <a:latin typeface="+mj-lt"/>
                <a:ea typeface="+mj-ea"/>
                <a:cs typeface="+mj-cs"/>
              </a:rPr>
              <a:t>Bubble Sort</a:t>
            </a:r>
            <a:r>
              <a:rPr lang="zh-CN" altLang="en-US" sz="2800" dirty="0">
                <a:solidFill>
                  <a:srgbClr val="1A93C8"/>
                </a:solidFill>
                <a:latin typeface="+mj-lt"/>
                <a:ea typeface="+mj-ea"/>
                <a:cs typeface="+mj-cs"/>
              </a:rPr>
              <a:t>）</a:t>
            </a:r>
            <a:endParaRPr lang="en-US" altLang="zh-CN" sz="2800" dirty="0">
              <a:solidFill>
                <a:srgbClr val="1A93C8"/>
              </a:solidFill>
              <a:latin typeface="+mj-lt"/>
              <a:ea typeface="+mj-ea"/>
              <a:cs typeface="+mj-cs"/>
            </a:endParaRPr>
          </a:p>
        </p:txBody>
      </p:sp>
      <p:grpSp>
        <p:nvGrpSpPr>
          <p:cNvPr id="3" name="组合 2"/>
          <p:cNvGrpSpPr/>
          <p:nvPr/>
        </p:nvGrpSpPr>
        <p:grpSpPr>
          <a:xfrm>
            <a:off x="650743" y="2593571"/>
            <a:ext cx="7369895" cy="3167008"/>
            <a:chOff x="733871" y="2288524"/>
            <a:chExt cx="7369895" cy="3823201"/>
          </a:xfrm>
        </p:grpSpPr>
        <p:pic>
          <p:nvPicPr>
            <p:cNvPr id="2" name="图片 1">
              <a:extLst>
                <a:ext uri="{FF2B5EF4-FFF2-40B4-BE49-F238E27FC236}">
                  <a16:creationId xmlns:a16="http://schemas.microsoft.com/office/drawing/2014/main" id="{65C0D348-FE6E-4CC6-A193-6B8AB949AC44}"/>
                </a:ext>
              </a:extLst>
            </p:cNvPr>
            <p:cNvPicPr>
              <a:picLocks noChangeAspect="1"/>
            </p:cNvPicPr>
            <p:nvPr/>
          </p:nvPicPr>
          <p:blipFill>
            <a:blip r:embed="rId2"/>
            <a:stretch>
              <a:fillRect/>
            </a:stretch>
          </p:blipFill>
          <p:spPr>
            <a:xfrm>
              <a:off x="733871" y="2288524"/>
              <a:ext cx="5776520" cy="3823201"/>
            </a:xfrm>
            <a:prstGeom prst="rect">
              <a:avLst/>
            </a:prstGeom>
          </p:spPr>
        </p:pic>
        <p:sp>
          <p:nvSpPr>
            <p:cNvPr id="7" name="Rectangle 3">
              <a:extLst>
                <a:ext uri="{FF2B5EF4-FFF2-40B4-BE49-F238E27FC236}">
                  <a16:creationId xmlns:a16="http://schemas.microsoft.com/office/drawing/2014/main" id="{4052A270-29B4-401B-891F-AA33E1CE4F8D}"/>
                </a:ext>
              </a:extLst>
            </p:cNvPr>
            <p:cNvSpPr txBox="1">
              <a:spLocks noRot="1" noChangeArrowheads="1"/>
            </p:cNvSpPr>
            <p:nvPr/>
          </p:nvSpPr>
          <p:spPr bwMode="auto">
            <a:xfrm>
              <a:off x="6660860" y="2864763"/>
              <a:ext cx="1442906"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zh-CN" altLang="en-US" sz="1600" dirty="0">
                  <a:solidFill>
                    <a:srgbClr val="000000"/>
                  </a:solidFill>
                  <a:latin typeface=""/>
                </a:rPr>
                <a:t>最大数</a:t>
              </a:r>
              <a:r>
                <a:rPr lang="en-US" altLang="zh-CN" sz="1600" dirty="0">
                  <a:solidFill>
                    <a:srgbClr val="000000"/>
                  </a:solidFill>
                  <a:latin typeface=""/>
                </a:rPr>
                <a:t>11</a:t>
              </a:r>
              <a:r>
                <a:rPr lang="zh-CN" altLang="en-US" sz="1600" dirty="0">
                  <a:solidFill>
                    <a:srgbClr val="000000"/>
                  </a:solidFill>
                  <a:latin typeface=""/>
                </a:rPr>
                <a:t>冒泡</a:t>
              </a:r>
            </a:p>
          </p:txBody>
        </p:sp>
        <p:sp>
          <p:nvSpPr>
            <p:cNvPr id="8" name="Rectangle 3">
              <a:extLst>
                <a:ext uri="{FF2B5EF4-FFF2-40B4-BE49-F238E27FC236}">
                  <a16:creationId xmlns:a16="http://schemas.microsoft.com/office/drawing/2014/main" id="{1EF7E7E6-122B-4DE8-8A66-E77A6EB3CF89}"/>
                </a:ext>
              </a:extLst>
            </p:cNvPr>
            <p:cNvSpPr txBox="1">
              <a:spLocks noRot="1" noChangeArrowheads="1"/>
            </p:cNvSpPr>
            <p:nvPr/>
          </p:nvSpPr>
          <p:spPr bwMode="auto">
            <a:xfrm>
              <a:off x="6660860" y="3351324"/>
              <a:ext cx="897622"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altLang="zh-CN" sz="1600" dirty="0">
                  <a:solidFill>
                    <a:srgbClr val="000000"/>
                  </a:solidFill>
                  <a:latin typeface=""/>
                </a:rPr>
                <a:t>10</a:t>
              </a:r>
              <a:r>
                <a:rPr lang="zh-CN" altLang="en-US" sz="1600" dirty="0">
                  <a:solidFill>
                    <a:srgbClr val="000000"/>
                  </a:solidFill>
                  <a:latin typeface=""/>
                </a:rPr>
                <a:t>冒泡</a:t>
              </a:r>
            </a:p>
          </p:txBody>
        </p:sp>
        <p:sp>
          <p:nvSpPr>
            <p:cNvPr id="9" name="Rectangle 3">
              <a:extLst>
                <a:ext uri="{FF2B5EF4-FFF2-40B4-BE49-F238E27FC236}">
                  <a16:creationId xmlns:a16="http://schemas.microsoft.com/office/drawing/2014/main" id="{FEF61BAF-0A44-4D88-96E0-5CB78073A206}"/>
                </a:ext>
              </a:extLst>
            </p:cNvPr>
            <p:cNvSpPr txBox="1">
              <a:spLocks noRot="1" noChangeArrowheads="1"/>
            </p:cNvSpPr>
            <p:nvPr/>
          </p:nvSpPr>
          <p:spPr bwMode="auto">
            <a:xfrm>
              <a:off x="6660860" y="4015429"/>
              <a:ext cx="897622"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altLang="zh-CN" sz="1600" dirty="0">
                  <a:solidFill>
                    <a:srgbClr val="000000"/>
                  </a:solidFill>
                  <a:latin typeface=""/>
                </a:rPr>
                <a:t>6</a:t>
              </a:r>
              <a:r>
                <a:rPr lang="zh-CN" altLang="en-US" sz="1600" dirty="0">
                  <a:solidFill>
                    <a:srgbClr val="000000"/>
                  </a:solidFill>
                  <a:latin typeface=""/>
                </a:rPr>
                <a:t>冒泡</a:t>
              </a:r>
            </a:p>
          </p:txBody>
        </p:sp>
        <p:sp>
          <p:nvSpPr>
            <p:cNvPr id="10" name="Rectangle 3">
              <a:extLst>
                <a:ext uri="{FF2B5EF4-FFF2-40B4-BE49-F238E27FC236}">
                  <a16:creationId xmlns:a16="http://schemas.microsoft.com/office/drawing/2014/main" id="{CEF78698-86A8-4FF7-857D-0ED703F9309B}"/>
                </a:ext>
              </a:extLst>
            </p:cNvPr>
            <p:cNvSpPr txBox="1">
              <a:spLocks noRot="1" noChangeArrowheads="1"/>
            </p:cNvSpPr>
            <p:nvPr/>
          </p:nvSpPr>
          <p:spPr bwMode="auto">
            <a:xfrm>
              <a:off x="6660860" y="4524683"/>
              <a:ext cx="897622"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altLang="zh-CN" sz="1600" dirty="0">
                  <a:solidFill>
                    <a:srgbClr val="000000"/>
                  </a:solidFill>
                  <a:latin typeface=""/>
                </a:rPr>
                <a:t>5</a:t>
              </a:r>
              <a:r>
                <a:rPr lang="zh-CN" altLang="en-US" sz="1600" dirty="0">
                  <a:solidFill>
                    <a:srgbClr val="000000"/>
                  </a:solidFill>
                  <a:latin typeface=""/>
                </a:rPr>
                <a:t>冒泡</a:t>
              </a:r>
            </a:p>
          </p:txBody>
        </p:sp>
        <p:sp>
          <p:nvSpPr>
            <p:cNvPr id="11" name="Rectangle 3">
              <a:extLst>
                <a:ext uri="{FF2B5EF4-FFF2-40B4-BE49-F238E27FC236}">
                  <a16:creationId xmlns:a16="http://schemas.microsoft.com/office/drawing/2014/main" id="{5FB6FB41-EA14-474A-A655-7C4CF67A8F4A}"/>
                </a:ext>
              </a:extLst>
            </p:cNvPr>
            <p:cNvSpPr txBox="1">
              <a:spLocks noRot="1" noChangeArrowheads="1"/>
            </p:cNvSpPr>
            <p:nvPr/>
          </p:nvSpPr>
          <p:spPr bwMode="auto">
            <a:xfrm>
              <a:off x="6660860" y="5077971"/>
              <a:ext cx="897622"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altLang="zh-CN" sz="1600" dirty="0">
                  <a:solidFill>
                    <a:srgbClr val="000000"/>
                  </a:solidFill>
                  <a:latin typeface=""/>
                </a:rPr>
                <a:t>4</a:t>
              </a:r>
              <a:r>
                <a:rPr lang="zh-CN" altLang="en-US" sz="1600" dirty="0">
                  <a:solidFill>
                    <a:srgbClr val="000000"/>
                  </a:solidFill>
                  <a:latin typeface=""/>
                </a:rPr>
                <a:t>冒泡</a:t>
              </a:r>
            </a:p>
          </p:txBody>
        </p:sp>
        <p:sp>
          <p:nvSpPr>
            <p:cNvPr id="12" name="Rectangle 3">
              <a:extLst>
                <a:ext uri="{FF2B5EF4-FFF2-40B4-BE49-F238E27FC236}">
                  <a16:creationId xmlns:a16="http://schemas.microsoft.com/office/drawing/2014/main" id="{2A48C828-F2B4-48BA-BCB2-09EEE1B171BF}"/>
                </a:ext>
              </a:extLst>
            </p:cNvPr>
            <p:cNvSpPr txBox="1">
              <a:spLocks noRot="1" noChangeArrowheads="1"/>
            </p:cNvSpPr>
            <p:nvPr/>
          </p:nvSpPr>
          <p:spPr bwMode="auto">
            <a:xfrm>
              <a:off x="6660860" y="5697373"/>
              <a:ext cx="897622" cy="30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altLang="zh-CN" sz="1600" dirty="0">
                  <a:solidFill>
                    <a:srgbClr val="000000"/>
                  </a:solidFill>
                  <a:latin typeface=""/>
                </a:rPr>
                <a:t>3</a:t>
              </a:r>
              <a:r>
                <a:rPr lang="zh-CN" altLang="en-US" sz="1600" dirty="0">
                  <a:solidFill>
                    <a:srgbClr val="000000"/>
                  </a:solidFill>
                  <a:latin typeface=""/>
                </a:rPr>
                <a:t>冒泡</a:t>
              </a:r>
            </a:p>
          </p:txBody>
        </p:sp>
      </p:grpSp>
    </p:spTree>
    <p:extLst>
      <p:ext uri="{BB962C8B-B14F-4D97-AF65-F5344CB8AC3E}">
        <p14:creationId xmlns:p14="http://schemas.microsoft.com/office/powerpoint/2010/main" val="140904275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Rot="1" noChangeArrowheads="1"/>
          </p:cNvSpPr>
          <p:nvPr>
            <p:ph type="body" idx="1"/>
          </p:nvPr>
        </p:nvSpPr>
        <p:spPr>
          <a:xfrm>
            <a:off x="320532" y="1039090"/>
            <a:ext cx="7742237" cy="5312353"/>
          </a:xfrm>
        </p:spPr>
        <p:txBody>
          <a:bodyPr/>
          <a:lstStyle/>
          <a:p>
            <a:pPr marL="342900" indent="-342900">
              <a:lnSpc>
                <a:spcPct val="100000"/>
              </a:lnSpc>
              <a:spcBef>
                <a:spcPts val="600"/>
              </a:spcBef>
              <a:buFont typeface="Wingdings" panose="05000000000000000000" pitchFamily="2" charset="2"/>
              <a:buChar char="l"/>
            </a:pPr>
            <a:r>
              <a:rPr lang="zh-CN" altLang="en-US" sz="1800" dirty="0">
                <a:solidFill>
                  <a:srgbClr val="000000"/>
                </a:solidFill>
              </a:rPr>
              <a:t>程序：设需排序的数有10个，定义数组大小为11，使用</a:t>
            </a:r>
            <a:r>
              <a:rPr lang="en-US" altLang="zh-CN" sz="1800" dirty="0">
                <a:solidFill>
                  <a:srgbClr val="000000"/>
                </a:solidFill>
              </a:rPr>
              <a:t>a[1]～a[10]</a:t>
            </a:r>
            <a:r>
              <a:rPr lang="zh-CN" altLang="en-US" sz="1800" dirty="0">
                <a:solidFill>
                  <a:srgbClr val="000000"/>
                </a:solidFill>
              </a:rPr>
              <a:t>存放10个数，</a:t>
            </a:r>
            <a:r>
              <a:rPr lang="en-US" altLang="zh-CN" sz="1800" dirty="0">
                <a:solidFill>
                  <a:srgbClr val="000000"/>
                </a:solidFill>
              </a:rPr>
              <a:t>a[0]</a:t>
            </a:r>
            <a:r>
              <a:rPr lang="zh-CN" altLang="en-US" sz="1800" dirty="0">
                <a:solidFill>
                  <a:srgbClr val="000000"/>
                </a:solidFill>
              </a:rPr>
              <a:t>不用。</a:t>
            </a:r>
            <a:endParaRPr lang="en-US" altLang="zh-CN" sz="1800" dirty="0">
              <a:solidFill>
                <a:srgbClr val="000000"/>
              </a:solidFill>
            </a:endParaRPr>
          </a:p>
          <a:p>
            <a:pPr marL="342900" indent="-342900">
              <a:lnSpc>
                <a:spcPct val="100000"/>
              </a:lnSpc>
              <a:spcBef>
                <a:spcPts val="600"/>
              </a:spcBef>
              <a:buFont typeface="Wingdings" panose="05000000000000000000" pitchFamily="2" charset="2"/>
              <a:buChar char="l"/>
            </a:pPr>
            <a:endParaRPr lang="zh-CN" altLang="en-US" sz="1800" dirty="0">
              <a:solidFill>
                <a:srgbClr val="000000"/>
              </a:solidFill>
            </a:endParaRPr>
          </a:p>
          <a:p>
            <a:pPr marL="514350" lvl="2" indent="0">
              <a:lnSpc>
                <a:spcPct val="100000"/>
              </a:lnSpc>
              <a:spcBef>
                <a:spcPts val="600"/>
              </a:spcBef>
              <a:buNone/>
            </a:pPr>
            <a:r>
              <a:rPr lang="en-US" altLang="zh-CN" sz="1800" dirty="0" err="1"/>
              <a:t>i</a:t>
            </a:r>
            <a:r>
              <a:rPr lang="en-US" altLang="zh-CN" sz="1800" dirty="0" err="1">
                <a:solidFill>
                  <a:srgbClr val="000000"/>
                </a:solidFill>
              </a:rPr>
              <a:t>nt</a:t>
            </a:r>
            <a:r>
              <a:rPr lang="en-US" altLang="zh-CN" sz="1800" dirty="0">
                <a:solidFill>
                  <a:srgbClr val="000000"/>
                </a:solidFill>
              </a:rPr>
              <a:t> main()</a:t>
            </a:r>
          </a:p>
          <a:p>
            <a:pPr marL="514350" lvl="2" indent="0">
              <a:lnSpc>
                <a:spcPct val="100000"/>
              </a:lnSpc>
              <a:spcBef>
                <a:spcPts val="600"/>
              </a:spcBef>
              <a:buNone/>
            </a:pPr>
            <a:r>
              <a:rPr lang="en-US" altLang="zh-CN" sz="1800" dirty="0" smtClean="0">
                <a:solidFill>
                  <a:srgbClr val="000000"/>
                </a:solidFill>
              </a:rPr>
              <a:t>{</a:t>
            </a:r>
          </a:p>
          <a:p>
            <a:pPr marL="514350" lvl="2" indent="0">
              <a:lnSpc>
                <a:spcPct val="100000"/>
              </a:lnSpc>
              <a:spcBef>
                <a:spcPts val="600"/>
              </a:spcBef>
              <a:buNone/>
            </a:pPr>
            <a:r>
              <a:rPr lang="en-US" altLang="zh-CN" sz="1800" dirty="0" smtClean="0"/>
              <a:t>  </a:t>
            </a:r>
            <a:r>
              <a:rPr lang="en-US" altLang="zh-CN" sz="1800" dirty="0" err="1" smtClean="0"/>
              <a:t>const</a:t>
            </a:r>
            <a:r>
              <a:rPr lang="en-US" altLang="zh-CN" sz="1800" dirty="0" smtClean="0"/>
              <a:t> </a:t>
            </a:r>
            <a:r>
              <a:rPr lang="en-US" altLang="zh-CN" sz="1800" dirty="0" err="1" smtClean="0"/>
              <a:t>int</a:t>
            </a:r>
            <a:r>
              <a:rPr lang="en-US" altLang="zh-CN" sz="1800" dirty="0" smtClean="0"/>
              <a:t> N=10;   </a:t>
            </a:r>
          </a:p>
          <a:p>
            <a:pPr marL="514350" lvl="2" indent="0">
              <a:lnSpc>
                <a:spcPct val="100000"/>
              </a:lnSpc>
              <a:spcBef>
                <a:spcPts val="600"/>
              </a:spcBef>
              <a:buNone/>
            </a:pPr>
            <a:r>
              <a:rPr lang="en-US" altLang="zh-CN" sz="1800" dirty="0" smtClean="0">
                <a:solidFill>
                  <a:srgbClr val="7030A0"/>
                </a:solidFill>
              </a:rPr>
              <a:t>  </a:t>
            </a:r>
            <a:r>
              <a:rPr lang="en-US" altLang="zh-CN" sz="1800" dirty="0">
                <a:solidFill>
                  <a:srgbClr val="7030A0"/>
                </a:solidFill>
              </a:rPr>
              <a:t>//</a:t>
            </a:r>
            <a:r>
              <a:rPr lang="zh-CN" altLang="en-US" sz="1800" dirty="0">
                <a:solidFill>
                  <a:srgbClr val="7030A0"/>
                </a:solidFill>
              </a:rPr>
              <a:t>输入</a:t>
            </a:r>
            <a:r>
              <a:rPr lang="en-US" altLang="zh-CN" sz="1800" dirty="0">
                <a:solidFill>
                  <a:srgbClr val="7030A0"/>
                </a:solidFill>
              </a:rPr>
              <a:t>10</a:t>
            </a:r>
            <a:r>
              <a:rPr lang="zh-CN" altLang="en-US" sz="1800" dirty="0" smtClean="0">
                <a:solidFill>
                  <a:srgbClr val="7030A0"/>
                </a:solidFill>
              </a:rPr>
              <a:t>个要排序的数</a:t>
            </a:r>
            <a:endParaRPr lang="en-US" altLang="zh-CN" sz="1800" dirty="0">
              <a:solidFill>
                <a:srgbClr val="7030A0"/>
              </a:solidFill>
            </a:endParaRPr>
          </a:p>
          <a:p>
            <a:pPr marL="514350" lvl="2" indent="0">
              <a:lnSpc>
                <a:spcPct val="100000"/>
              </a:lnSpc>
              <a:spcBef>
                <a:spcPts val="600"/>
              </a:spcBef>
              <a:buNone/>
            </a:pPr>
            <a:r>
              <a:rPr lang="en-US" altLang="zh-CN" sz="1800" dirty="0">
                <a:solidFill>
                  <a:srgbClr val="000000"/>
                </a:solidFill>
              </a:rPr>
              <a:t>     </a:t>
            </a:r>
            <a:r>
              <a:rPr lang="en-US" altLang="zh-CN" sz="1800" dirty="0" err="1">
                <a:solidFill>
                  <a:srgbClr val="000000"/>
                </a:solidFill>
              </a:rPr>
              <a:t>int</a:t>
            </a:r>
            <a:r>
              <a:rPr lang="en-US" altLang="zh-CN" sz="1800" dirty="0">
                <a:solidFill>
                  <a:srgbClr val="000000"/>
                </a:solidFill>
              </a:rPr>
              <a:t> </a:t>
            </a:r>
            <a:r>
              <a:rPr lang="en-US" altLang="zh-CN" sz="1800" dirty="0" smtClean="0">
                <a:solidFill>
                  <a:srgbClr val="000000"/>
                </a:solidFill>
              </a:rPr>
              <a:t>a[N];      </a:t>
            </a:r>
            <a:r>
              <a:rPr lang="en-US" altLang="zh-CN" sz="1800" dirty="0">
                <a:solidFill>
                  <a:srgbClr val="000000"/>
                </a:solidFill>
              </a:rPr>
              <a:t>// </a:t>
            </a:r>
            <a:r>
              <a:rPr lang="en-US" altLang="zh-CN" sz="1800" dirty="0" smtClean="0">
                <a:solidFill>
                  <a:srgbClr val="0070C0"/>
                </a:solidFill>
              </a:rPr>
              <a:t>a[0]</a:t>
            </a:r>
            <a:r>
              <a:rPr lang="en-US" altLang="zh-CN" sz="1800" dirty="0">
                <a:solidFill>
                  <a:srgbClr val="0070C0"/>
                </a:solidFill>
              </a:rPr>
              <a:t>～</a:t>
            </a:r>
            <a:r>
              <a:rPr lang="en-US" altLang="zh-CN" sz="1800" dirty="0" smtClean="0">
                <a:solidFill>
                  <a:srgbClr val="0070C0"/>
                </a:solidFill>
              </a:rPr>
              <a:t>a[9]</a:t>
            </a:r>
            <a:endParaRPr lang="zh-CN" altLang="en-US" sz="1800" dirty="0">
              <a:solidFill>
                <a:srgbClr val="000000"/>
              </a:solidFill>
            </a:endParaRPr>
          </a:p>
          <a:p>
            <a:pPr marL="514350" lvl="2" indent="0">
              <a:lnSpc>
                <a:spcPct val="100000"/>
              </a:lnSpc>
              <a:spcBef>
                <a:spcPts val="600"/>
              </a:spcBef>
              <a:buNone/>
            </a:pPr>
            <a:r>
              <a:rPr lang="zh-CN" altLang="en-US" sz="1800" dirty="0">
                <a:solidFill>
                  <a:srgbClr val="000000"/>
                </a:solidFill>
              </a:rPr>
              <a:t>     </a:t>
            </a:r>
            <a:r>
              <a:rPr lang="en-US" altLang="zh-CN" sz="1800" dirty="0">
                <a:solidFill>
                  <a:srgbClr val="000000"/>
                </a:solidFill>
              </a:rPr>
              <a:t>int </a:t>
            </a:r>
            <a:r>
              <a:rPr lang="en-US" altLang="zh-CN" sz="1800" dirty="0" err="1">
                <a:solidFill>
                  <a:srgbClr val="000000"/>
                </a:solidFill>
              </a:rPr>
              <a:t>i,j,t</a:t>
            </a:r>
            <a:r>
              <a:rPr lang="en-US" altLang="zh-CN" sz="1800" dirty="0">
                <a:solidFill>
                  <a:srgbClr val="000000"/>
                </a:solidFill>
              </a:rPr>
              <a:t>；      // </a:t>
            </a:r>
            <a:r>
              <a:rPr lang="en-US" altLang="zh-CN" sz="1800" dirty="0" err="1">
                <a:solidFill>
                  <a:srgbClr val="000000"/>
                </a:solidFill>
              </a:rPr>
              <a:t>i,j</a:t>
            </a:r>
            <a:r>
              <a:rPr lang="zh-CN" altLang="en-US" sz="1800" dirty="0">
                <a:solidFill>
                  <a:srgbClr val="000000"/>
                </a:solidFill>
              </a:rPr>
              <a:t>作循环变量，</a:t>
            </a:r>
            <a:r>
              <a:rPr lang="en-US" altLang="zh-CN" sz="1800" dirty="0">
                <a:solidFill>
                  <a:srgbClr val="000000"/>
                </a:solidFill>
              </a:rPr>
              <a:t>t</a:t>
            </a:r>
            <a:r>
              <a:rPr lang="zh-CN" altLang="en-US" sz="1800" dirty="0">
                <a:solidFill>
                  <a:srgbClr val="000000"/>
                </a:solidFill>
              </a:rPr>
              <a:t>作临时变量 </a:t>
            </a:r>
          </a:p>
          <a:p>
            <a:pPr marL="514350" lvl="2" indent="0">
              <a:lnSpc>
                <a:spcPct val="100000"/>
              </a:lnSpc>
              <a:spcBef>
                <a:spcPts val="600"/>
              </a:spcBef>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a:t>Enter</a:t>
            </a:r>
            <a:r>
              <a:rPr lang="en-US" altLang="zh-CN" sz="1800" dirty="0">
                <a:solidFill>
                  <a:srgbClr val="000000"/>
                </a:solidFill>
              </a:rPr>
              <a:t> 10 numbers:\n");</a:t>
            </a:r>
          </a:p>
          <a:p>
            <a:pPr marL="514350" lvl="2" indent="0">
              <a:lnSpc>
                <a:spcPct val="100000"/>
              </a:lnSpc>
              <a:spcBef>
                <a:spcPts val="600"/>
              </a:spcBef>
              <a:buNone/>
            </a:pPr>
            <a:r>
              <a:rPr lang="en-US" altLang="zh-CN" sz="1800" dirty="0">
                <a:solidFill>
                  <a:srgbClr val="000000"/>
                </a:solidFill>
              </a:rPr>
              <a:t>     </a:t>
            </a:r>
            <a:r>
              <a:rPr lang="en-US" altLang="zh-CN" sz="1800" dirty="0" smtClean="0">
                <a:solidFill>
                  <a:srgbClr val="000000"/>
                </a:solidFill>
              </a:rPr>
              <a:t>for(</a:t>
            </a:r>
            <a:r>
              <a:rPr lang="en-US" altLang="zh-CN" sz="1800" dirty="0" err="1" smtClean="0">
                <a:solidFill>
                  <a:srgbClr val="000000"/>
                </a:solidFill>
              </a:rPr>
              <a:t>i</a:t>
            </a:r>
            <a:r>
              <a:rPr lang="en-US" altLang="zh-CN" sz="1800" dirty="0" smtClean="0">
                <a:solidFill>
                  <a:srgbClr val="000000"/>
                </a:solidFill>
              </a:rPr>
              <a:t>=0;i&lt;N-1;i</a:t>
            </a:r>
            <a:r>
              <a:rPr lang="en-US" altLang="zh-CN" sz="1800" dirty="0">
                <a:solidFill>
                  <a:srgbClr val="000000"/>
                </a:solidFill>
              </a:rPr>
              <a:t>++)</a:t>
            </a:r>
          </a:p>
          <a:p>
            <a:pPr marL="514350" lvl="2" indent="0">
              <a:lnSpc>
                <a:spcPct val="100000"/>
              </a:lnSpc>
              <a:spcBef>
                <a:spcPts val="600"/>
              </a:spcBef>
              <a:buNone/>
            </a:pPr>
            <a:r>
              <a:rPr lang="en-US" altLang="zh-CN" sz="1800" dirty="0">
                <a:solidFill>
                  <a:srgbClr val="000000"/>
                </a:solidFill>
              </a:rPr>
              <a:t>         </a:t>
            </a:r>
            <a:r>
              <a:rPr lang="en-US" altLang="zh-CN" sz="1800" dirty="0" err="1">
                <a:solidFill>
                  <a:srgbClr val="000000"/>
                </a:solidFill>
              </a:rPr>
              <a:t>scanf</a:t>
            </a:r>
            <a:r>
              <a:rPr lang="en-US" altLang="zh-CN" sz="1800" dirty="0">
                <a:solidFill>
                  <a:srgbClr val="000000"/>
                </a:solidFill>
              </a:rPr>
              <a:t>("%</a:t>
            </a:r>
            <a:r>
              <a:rPr lang="en-US" altLang="zh-CN" sz="1800" dirty="0" err="1">
                <a:solidFill>
                  <a:srgbClr val="000000"/>
                </a:solidFill>
              </a:rPr>
              <a:t>d",&amp;a</a:t>
            </a:r>
            <a:r>
              <a:rPr lang="en-US" altLang="zh-CN" sz="1800" dirty="0">
                <a:solidFill>
                  <a:srgbClr val="000000"/>
                </a:solidFill>
              </a:rPr>
              <a:t>[</a:t>
            </a:r>
            <a:r>
              <a:rPr lang="en-US" altLang="zh-CN" sz="1800" dirty="0" err="1">
                <a:solidFill>
                  <a:srgbClr val="000000"/>
                </a:solidFill>
              </a:rPr>
              <a:t>i</a:t>
            </a:r>
            <a:r>
              <a:rPr lang="en-US" altLang="zh-CN" sz="1800" dirty="0">
                <a:solidFill>
                  <a:srgbClr val="000000"/>
                </a:solidFill>
              </a:rPr>
              <a:t>]);   // </a:t>
            </a:r>
            <a:r>
              <a:rPr lang="zh-CN" altLang="en-US" sz="1800" dirty="0">
                <a:solidFill>
                  <a:srgbClr val="000000"/>
                </a:solidFill>
              </a:rPr>
              <a:t>输入10个整数</a:t>
            </a:r>
          </a:p>
          <a:p>
            <a:pPr marL="514350" lvl="2" indent="0">
              <a:lnSpc>
                <a:spcPct val="100000"/>
              </a:lnSpc>
              <a:spcBef>
                <a:spcPts val="600"/>
              </a:spcBef>
              <a:buNone/>
            </a:pPr>
            <a:r>
              <a:rPr lang="zh-CN" altLang="en-US" sz="1800" dirty="0">
                <a:solidFill>
                  <a:srgbClr val="000000"/>
                </a:solidFill>
              </a:rPr>
              <a:t>     </a:t>
            </a:r>
            <a:r>
              <a:rPr lang="en-US" altLang="zh-CN" sz="1800" dirty="0" err="1">
                <a:solidFill>
                  <a:srgbClr val="000000"/>
                </a:solidFill>
              </a:rPr>
              <a:t>printf</a:t>
            </a:r>
            <a:r>
              <a:rPr lang="en-US" altLang="zh-CN" sz="1800" dirty="0">
                <a:solidFill>
                  <a:srgbClr val="000000"/>
                </a:solidFill>
              </a:rPr>
              <a:t>("\n");</a:t>
            </a:r>
          </a:p>
          <a:p>
            <a:pPr>
              <a:lnSpc>
                <a:spcPct val="100000"/>
              </a:lnSpc>
              <a:spcBef>
                <a:spcPts val="600"/>
              </a:spcBef>
              <a:buFont typeface="Wingdings" panose="05000000000000000000" pitchFamily="2" charset="2"/>
              <a:buNone/>
            </a:pPr>
            <a:r>
              <a:rPr lang="zh-CN" altLang="en-US" sz="1800" b="1" dirty="0"/>
              <a:t>    </a:t>
            </a:r>
          </a:p>
        </p:txBody>
      </p:sp>
      <p:sp>
        <p:nvSpPr>
          <p:cNvPr id="3" name="矩形 2"/>
          <p:cNvSpPr/>
          <p:nvPr/>
        </p:nvSpPr>
        <p:spPr>
          <a:xfrm>
            <a:off x="528350" y="316547"/>
            <a:ext cx="7628514" cy="480131"/>
          </a:xfrm>
          <a:prstGeom prst="rect">
            <a:avLst/>
          </a:prstGeom>
        </p:spPr>
        <p:txBody>
          <a:bodyPr wrap="square">
            <a:spAutoFit/>
          </a:bodyPr>
          <a:lstStyle/>
          <a:p>
            <a:pPr defTabSz="685800">
              <a:lnSpc>
                <a:spcPct val="90000"/>
              </a:lnSpc>
              <a:buFont typeface="Wingdings" panose="05000000000000000000" pitchFamily="2" charset="2"/>
              <a:buNone/>
            </a:pPr>
            <a:r>
              <a:rPr lang="zh-CN" altLang="en-US" sz="2800" dirty="0" smtClean="0">
                <a:solidFill>
                  <a:srgbClr val="7030A0"/>
                </a:solidFill>
                <a:latin typeface="+mj-lt"/>
                <a:ea typeface="+mj-ea"/>
                <a:cs typeface="+mj-cs"/>
              </a:rPr>
              <a:t>课后测试：</a:t>
            </a:r>
            <a:r>
              <a:rPr lang="zh-CN" altLang="en-US" sz="2800" dirty="0" smtClean="0">
                <a:solidFill>
                  <a:srgbClr val="1A93C8"/>
                </a:solidFill>
                <a:latin typeface="+mj-lt"/>
                <a:ea typeface="+mj-ea"/>
                <a:cs typeface="+mj-cs"/>
              </a:rPr>
              <a:t>冒泡排序</a:t>
            </a:r>
            <a:r>
              <a:rPr lang="zh-CN" altLang="en-US" sz="2800" dirty="0">
                <a:solidFill>
                  <a:srgbClr val="1A93C8"/>
                </a:solidFill>
                <a:latin typeface="+mj-lt"/>
                <a:ea typeface="+mj-ea"/>
                <a:cs typeface="+mj-cs"/>
              </a:rPr>
              <a:t>（</a:t>
            </a:r>
            <a:r>
              <a:rPr lang="en-US" altLang="zh-CN" sz="2800" dirty="0">
                <a:solidFill>
                  <a:srgbClr val="1A93C8"/>
                </a:solidFill>
                <a:latin typeface="+mj-lt"/>
                <a:ea typeface="+mj-ea"/>
                <a:cs typeface="+mj-cs"/>
              </a:rPr>
              <a:t>Bubble Sort</a:t>
            </a:r>
            <a:r>
              <a:rPr lang="zh-CN" altLang="en-US" sz="2800" dirty="0">
                <a:solidFill>
                  <a:srgbClr val="1A93C8"/>
                </a:solidFill>
                <a:latin typeface="+mj-lt"/>
                <a:ea typeface="+mj-ea"/>
                <a:cs typeface="+mj-cs"/>
              </a:rPr>
              <a:t>）</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323531094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Rot="1" noChangeArrowheads="1"/>
          </p:cNvSpPr>
          <p:nvPr>
            <p:ph type="body" idx="1"/>
          </p:nvPr>
        </p:nvSpPr>
        <p:spPr>
          <a:xfrm>
            <a:off x="323850" y="1049121"/>
            <a:ext cx="8621713" cy="5192288"/>
          </a:xfrm>
        </p:spPr>
        <p:txBody>
          <a:bodyPr/>
          <a:lstStyle/>
          <a:p>
            <a:pPr marL="285750" lvl="1" indent="0">
              <a:lnSpc>
                <a:spcPct val="120000"/>
              </a:lnSpc>
              <a:spcBef>
                <a:spcPts val="0"/>
              </a:spcBef>
              <a:buNone/>
            </a:pPr>
            <a:r>
              <a:rPr lang="en-US" altLang="zh-CN" sz="1600" b="1" dirty="0">
                <a:solidFill>
                  <a:srgbClr val="7030A0"/>
                </a:solidFill>
              </a:rPr>
              <a:t>//</a:t>
            </a:r>
            <a:r>
              <a:rPr lang="zh-CN" altLang="en-US" sz="1600" b="1" dirty="0">
                <a:solidFill>
                  <a:srgbClr val="7030A0"/>
                </a:solidFill>
              </a:rPr>
              <a:t>冒泡排序</a:t>
            </a:r>
            <a:r>
              <a:rPr lang="en-US" altLang="zh-CN" sz="1600" b="1" dirty="0">
                <a:solidFill>
                  <a:srgbClr val="7030A0"/>
                </a:solidFill>
              </a:rPr>
              <a:t> </a:t>
            </a:r>
            <a:r>
              <a:rPr lang="zh-CN" altLang="en-US" sz="1600" b="1" dirty="0" smtClean="0">
                <a:solidFill>
                  <a:srgbClr val="7030A0"/>
                </a:solidFill>
              </a:rPr>
              <a:t>升序排列</a:t>
            </a:r>
            <a:endParaRPr lang="en-US" altLang="zh-CN" sz="1600" b="1" dirty="0">
              <a:solidFill>
                <a:srgbClr val="7030A0"/>
              </a:solidFill>
            </a:endParaRPr>
          </a:p>
          <a:p>
            <a:pPr marL="285750" lvl="1" indent="0">
              <a:lnSpc>
                <a:spcPct val="120000"/>
              </a:lnSpc>
              <a:spcBef>
                <a:spcPts val="0"/>
              </a:spcBef>
              <a:buNone/>
            </a:pPr>
            <a:r>
              <a:rPr lang="en-US" altLang="zh-CN" sz="1600" dirty="0" smtClean="0">
                <a:solidFill>
                  <a:srgbClr val="FF0000"/>
                </a:solidFill>
              </a:rPr>
              <a:t>for(j=0;j&lt;N-1;j</a:t>
            </a:r>
            <a:r>
              <a:rPr lang="en-US" altLang="zh-CN" sz="1600" dirty="0">
                <a:solidFill>
                  <a:srgbClr val="FF0000"/>
                </a:solidFill>
              </a:rPr>
              <a:t>++)</a:t>
            </a:r>
            <a:r>
              <a:rPr lang="en-US" altLang="zh-CN" sz="1600" dirty="0"/>
              <a:t>            // </a:t>
            </a:r>
            <a:r>
              <a:rPr lang="zh-CN" altLang="en-US" sz="1600" dirty="0"/>
              <a:t>第</a:t>
            </a:r>
            <a:r>
              <a:rPr lang="en-US" altLang="zh-CN" sz="1600" dirty="0"/>
              <a:t>j</a:t>
            </a:r>
            <a:r>
              <a:rPr lang="zh-CN" altLang="en-US" sz="1600" dirty="0"/>
              <a:t>趟比较</a:t>
            </a:r>
          </a:p>
          <a:p>
            <a:pPr marL="285750" lvl="1" indent="0">
              <a:lnSpc>
                <a:spcPct val="120000"/>
              </a:lnSpc>
              <a:spcBef>
                <a:spcPts val="0"/>
              </a:spcBef>
              <a:buNone/>
            </a:pPr>
            <a:r>
              <a:rPr lang="en-US" altLang="zh-CN" sz="1600" dirty="0">
                <a:solidFill>
                  <a:srgbClr val="FF0000"/>
                </a:solidFill>
              </a:rPr>
              <a:t>    </a:t>
            </a:r>
            <a:r>
              <a:rPr lang="en-US" altLang="zh-CN" sz="1600" dirty="0" smtClean="0">
                <a:solidFill>
                  <a:srgbClr val="FF0000"/>
                </a:solidFill>
              </a:rPr>
              <a:t>for(</a:t>
            </a:r>
            <a:r>
              <a:rPr lang="en-US" altLang="zh-CN" sz="1600" dirty="0" err="1" smtClean="0">
                <a:solidFill>
                  <a:srgbClr val="FF0000"/>
                </a:solidFill>
              </a:rPr>
              <a:t>i</a:t>
            </a:r>
            <a:r>
              <a:rPr lang="en-US" altLang="zh-CN" sz="1600" dirty="0" smtClean="0">
                <a:solidFill>
                  <a:srgbClr val="FF0000"/>
                </a:solidFill>
              </a:rPr>
              <a:t>=0;i&lt;N-j-1; </a:t>
            </a:r>
            <a:r>
              <a:rPr lang="en-US" altLang="zh-CN" sz="1600" dirty="0" err="1">
                <a:solidFill>
                  <a:srgbClr val="FF0000"/>
                </a:solidFill>
              </a:rPr>
              <a:t>i</a:t>
            </a:r>
            <a:r>
              <a:rPr lang="en-US" altLang="zh-CN" sz="1600" dirty="0">
                <a:solidFill>
                  <a:srgbClr val="FF0000"/>
                </a:solidFill>
              </a:rPr>
              <a:t>++)</a:t>
            </a:r>
            <a:r>
              <a:rPr lang="en-US" altLang="zh-CN" sz="1600" dirty="0"/>
              <a:t>     //</a:t>
            </a:r>
            <a:r>
              <a:rPr lang="zh-CN" altLang="en-US" sz="1600" dirty="0"/>
              <a:t>第</a:t>
            </a:r>
            <a:r>
              <a:rPr lang="en-US" altLang="zh-CN" sz="1600" dirty="0"/>
              <a:t>j</a:t>
            </a:r>
            <a:r>
              <a:rPr lang="zh-CN" altLang="en-US" sz="1600" dirty="0"/>
              <a:t>趟中两两</a:t>
            </a:r>
            <a:r>
              <a:rPr lang="zh-CN" altLang="en-US" sz="1600" dirty="0" smtClean="0"/>
              <a:t>比较</a:t>
            </a:r>
            <a:r>
              <a:rPr lang="en-US" altLang="zh-CN" sz="1600" dirty="0"/>
              <a:t>N</a:t>
            </a:r>
            <a:r>
              <a:rPr lang="zh-CN" altLang="en-US" sz="1600" smtClean="0"/>
              <a:t>-</a:t>
            </a:r>
            <a:r>
              <a:rPr lang="en-US" altLang="zh-CN" sz="1600" dirty="0" smtClean="0"/>
              <a:t>j-1</a:t>
            </a:r>
            <a:r>
              <a:rPr lang="zh-CN" altLang="en-US" sz="1600" dirty="0" smtClean="0"/>
              <a:t>次</a:t>
            </a:r>
            <a:endParaRPr lang="zh-CN" altLang="en-US" sz="1600" dirty="0"/>
          </a:p>
          <a:p>
            <a:pPr marL="285750" lvl="1" indent="0">
              <a:lnSpc>
                <a:spcPct val="120000"/>
              </a:lnSpc>
              <a:spcBef>
                <a:spcPts val="0"/>
              </a:spcBef>
              <a:buNone/>
            </a:pPr>
            <a:r>
              <a:rPr lang="en-US" altLang="zh-CN" sz="1600" dirty="0">
                <a:solidFill>
                  <a:srgbClr val="0303DF"/>
                </a:solidFill>
              </a:rPr>
              <a:t>       if (a[</a:t>
            </a:r>
            <a:r>
              <a:rPr lang="en-US" altLang="zh-CN" sz="1600" dirty="0" err="1">
                <a:solidFill>
                  <a:srgbClr val="0303DF"/>
                </a:solidFill>
              </a:rPr>
              <a:t>i</a:t>
            </a:r>
            <a:r>
              <a:rPr lang="en-US" altLang="zh-CN" sz="1600" dirty="0">
                <a:solidFill>
                  <a:srgbClr val="0303DF"/>
                </a:solidFill>
              </a:rPr>
              <a:t>] &gt; a[i+1])</a:t>
            </a:r>
            <a:r>
              <a:rPr lang="en-US" altLang="zh-CN" sz="1600" dirty="0"/>
              <a:t>     </a:t>
            </a:r>
            <a:r>
              <a:rPr lang="en-US" altLang="zh-CN" sz="1600" dirty="0" smtClean="0"/>
              <a:t>     </a:t>
            </a:r>
            <a:r>
              <a:rPr lang="en-US" altLang="zh-CN" sz="1600" dirty="0"/>
              <a:t>// </a:t>
            </a:r>
            <a:r>
              <a:rPr lang="zh-CN" altLang="en-US" sz="1600" dirty="0" smtClean="0"/>
              <a:t>相邻元素比较，若前者大，交换</a:t>
            </a:r>
            <a:endParaRPr lang="zh-CN" altLang="en-US" sz="1600" dirty="0"/>
          </a:p>
          <a:p>
            <a:pPr marL="285750" lvl="1" indent="0">
              <a:lnSpc>
                <a:spcPct val="120000"/>
              </a:lnSpc>
              <a:spcBef>
                <a:spcPts val="0"/>
              </a:spcBef>
              <a:buNone/>
            </a:pPr>
            <a:r>
              <a:rPr lang="zh-CN" altLang="en-US" sz="1600" dirty="0"/>
              <a:t>      {</a:t>
            </a:r>
            <a:r>
              <a:rPr lang="zh-CN" altLang="en-US" sz="1600" dirty="0">
                <a:solidFill>
                  <a:srgbClr val="FF0000"/>
                </a:solidFill>
              </a:rPr>
              <a:t>   </a:t>
            </a:r>
            <a:endParaRPr lang="en-US" altLang="zh-CN" sz="1600" dirty="0">
              <a:solidFill>
                <a:srgbClr val="FF0000"/>
              </a:solidFill>
            </a:endParaRPr>
          </a:p>
          <a:p>
            <a:pPr marL="285750" lvl="1" indent="0">
              <a:lnSpc>
                <a:spcPct val="120000"/>
              </a:lnSpc>
              <a:spcBef>
                <a:spcPts val="0"/>
              </a:spcBef>
              <a:buNone/>
            </a:pPr>
            <a:r>
              <a:rPr lang="en-US" altLang="zh-CN" sz="1600" dirty="0">
                <a:solidFill>
                  <a:srgbClr val="FF0000"/>
                </a:solidFill>
              </a:rPr>
              <a:t>           t = a[</a:t>
            </a:r>
            <a:r>
              <a:rPr lang="en-US" altLang="zh-CN" sz="1600" dirty="0" err="1">
                <a:solidFill>
                  <a:srgbClr val="FF0000"/>
                </a:solidFill>
              </a:rPr>
              <a:t>i</a:t>
            </a:r>
            <a:r>
              <a:rPr lang="en-US" altLang="zh-CN" sz="1600" dirty="0">
                <a:solidFill>
                  <a:srgbClr val="FF0000"/>
                </a:solidFill>
              </a:rPr>
              <a:t>];</a:t>
            </a:r>
          </a:p>
          <a:p>
            <a:pPr marL="285750" lvl="1" indent="0">
              <a:lnSpc>
                <a:spcPct val="120000"/>
              </a:lnSpc>
              <a:spcBef>
                <a:spcPts val="0"/>
              </a:spcBef>
              <a:buNone/>
            </a:pPr>
            <a:r>
              <a:rPr lang="en-US" altLang="zh-CN" sz="1600" dirty="0">
                <a:solidFill>
                  <a:srgbClr val="FF0000"/>
                </a:solidFill>
              </a:rPr>
              <a:t>           a[</a:t>
            </a:r>
            <a:r>
              <a:rPr lang="en-US" altLang="zh-CN" sz="1600" dirty="0" err="1">
                <a:solidFill>
                  <a:srgbClr val="FF0000"/>
                </a:solidFill>
              </a:rPr>
              <a:t>i</a:t>
            </a:r>
            <a:r>
              <a:rPr lang="en-US" altLang="zh-CN" sz="1600" dirty="0">
                <a:solidFill>
                  <a:srgbClr val="FF0000"/>
                </a:solidFill>
              </a:rPr>
              <a:t>] = a[i+1]; </a:t>
            </a:r>
          </a:p>
          <a:p>
            <a:pPr marL="285750" lvl="1" indent="0">
              <a:lnSpc>
                <a:spcPct val="120000"/>
              </a:lnSpc>
              <a:spcBef>
                <a:spcPts val="0"/>
              </a:spcBef>
              <a:buNone/>
            </a:pPr>
            <a:r>
              <a:rPr lang="en-US" altLang="zh-CN" sz="1600" dirty="0">
                <a:solidFill>
                  <a:srgbClr val="FF0000"/>
                </a:solidFill>
              </a:rPr>
              <a:t>           a[i+1] = t;</a:t>
            </a:r>
          </a:p>
          <a:p>
            <a:pPr marL="285750" lvl="1" indent="0">
              <a:lnSpc>
                <a:spcPct val="120000"/>
              </a:lnSpc>
              <a:spcBef>
                <a:spcPts val="0"/>
              </a:spcBef>
              <a:buNone/>
            </a:pPr>
            <a:r>
              <a:rPr lang="en-US" altLang="zh-CN" sz="1600" dirty="0"/>
              <a:t>      }</a:t>
            </a:r>
          </a:p>
          <a:p>
            <a:pPr marL="285750" lvl="1" indent="0">
              <a:lnSpc>
                <a:spcPct val="120000"/>
              </a:lnSpc>
              <a:spcBef>
                <a:spcPts val="0"/>
              </a:spcBef>
              <a:buNone/>
            </a:pPr>
            <a:endParaRPr lang="en-US" altLang="zh-CN" sz="1600" dirty="0"/>
          </a:p>
          <a:p>
            <a:pPr marL="285750" lvl="1" indent="0">
              <a:lnSpc>
                <a:spcPct val="120000"/>
              </a:lnSpc>
              <a:spcBef>
                <a:spcPts val="0"/>
              </a:spcBef>
              <a:buNone/>
            </a:pPr>
            <a:r>
              <a:rPr lang="en-US" altLang="zh-CN" sz="1600" dirty="0"/>
              <a:t>   </a:t>
            </a:r>
            <a:r>
              <a:rPr lang="en-US" altLang="zh-CN" sz="1600" dirty="0">
                <a:solidFill>
                  <a:srgbClr val="7030A0"/>
                </a:solidFill>
              </a:rPr>
              <a:t>//</a:t>
            </a:r>
            <a:r>
              <a:rPr lang="zh-CN" altLang="en-US" sz="1600" dirty="0">
                <a:solidFill>
                  <a:srgbClr val="7030A0"/>
                </a:solidFill>
              </a:rPr>
              <a:t>输出排序后的结果</a:t>
            </a:r>
            <a:endParaRPr lang="en-US" altLang="zh-CN" sz="1600" dirty="0">
              <a:solidFill>
                <a:srgbClr val="7030A0"/>
              </a:solidFill>
            </a:endParaRPr>
          </a:p>
          <a:p>
            <a:pPr marL="285750" lvl="1" indent="0">
              <a:lnSpc>
                <a:spcPct val="120000"/>
              </a:lnSpc>
              <a:spcBef>
                <a:spcPts val="0"/>
              </a:spcBef>
              <a:buNone/>
            </a:pPr>
            <a:r>
              <a:rPr lang="en-US" altLang="zh-CN" sz="1600" dirty="0"/>
              <a:t>      </a:t>
            </a:r>
            <a:r>
              <a:rPr lang="en-US" altLang="zh-CN" sz="1600" dirty="0" err="1"/>
              <a:t>printf</a:t>
            </a:r>
            <a:r>
              <a:rPr lang="en-US" altLang="zh-CN" sz="1600" dirty="0"/>
              <a:t>("the sorted numbers:\n");</a:t>
            </a:r>
          </a:p>
          <a:p>
            <a:pPr marL="285750" lvl="1" indent="0">
              <a:lnSpc>
                <a:spcPct val="120000"/>
              </a:lnSpc>
              <a:spcBef>
                <a:spcPts val="0"/>
              </a:spcBef>
              <a:buNone/>
            </a:pPr>
            <a:r>
              <a:rPr lang="en-US" altLang="zh-CN" sz="1600" dirty="0"/>
              <a:t>      </a:t>
            </a:r>
            <a:r>
              <a:rPr lang="en-US" altLang="zh-CN" sz="1600" dirty="0" smtClean="0"/>
              <a:t>for(</a:t>
            </a:r>
            <a:r>
              <a:rPr lang="en-US" altLang="zh-CN" sz="1600" dirty="0" err="1" smtClean="0"/>
              <a:t>i</a:t>
            </a:r>
            <a:r>
              <a:rPr lang="en-US" altLang="zh-CN" sz="1600" dirty="0" smtClean="0"/>
              <a:t>=0;i&lt;N-1;i</a:t>
            </a:r>
            <a:r>
              <a:rPr lang="en-US" altLang="zh-CN" sz="1600" dirty="0"/>
              <a:t>++)</a:t>
            </a:r>
          </a:p>
          <a:p>
            <a:pPr marL="285750" lvl="1" indent="0">
              <a:lnSpc>
                <a:spcPct val="120000"/>
              </a:lnSpc>
              <a:spcBef>
                <a:spcPts val="0"/>
              </a:spcBef>
              <a:buNone/>
            </a:pPr>
            <a:r>
              <a:rPr lang="en-US" altLang="zh-CN" sz="1600" dirty="0"/>
              <a:t>            </a:t>
            </a:r>
            <a:r>
              <a:rPr lang="en-US" altLang="zh-CN" sz="1600" dirty="0" err="1"/>
              <a:t>printf</a:t>
            </a:r>
            <a:r>
              <a:rPr lang="en-US" altLang="zh-CN" sz="1600" dirty="0"/>
              <a:t>("%</a:t>
            </a:r>
            <a:r>
              <a:rPr lang="en-US" altLang="zh-CN" sz="1600" dirty="0" err="1"/>
              <a:t>d",a</a:t>
            </a:r>
            <a:r>
              <a:rPr lang="en-US" altLang="zh-CN" sz="1600" dirty="0"/>
              <a:t>[</a:t>
            </a:r>
            <a:r>
              <a:rPr lang="en-US" altLang="zh-CN" sz="1600" dirty="0" err="1"/>
              <a:t>i</a:t>
            </a:r>
            <a:r>
              <a:rPr lang="en-US" altLang="zh-CN" sz="1600" dirty="0"/>
              <a:t>]);</a:t>
            </a:r>
          </a:p>
          <a:p>
            <a:pPr marL="285750" lvl="1" indent="0">
              <a:lnSpc>
                <a:spcPct val="120000"/>
              </a:lnSpc>
              <a:spcBef>
                <a:spcPts val="0"/>
              </a:spcBef>
              <a:buNone/>
            </a:pPr>
            <a:r>
              <a:rPr lang="en-US" altLang="zh-CN" sz="1600" dirty="0"/>
              <a:t>      return 0;</a:t>
            </a:r>
          </a:p>
          <a:p>
            <a:pPr marL="285750" lvl="1" indent="0">
              <a:lnSpc>
                <a:spcPct val="120000"/>
              </a:lnSpc>
              <a:spcBef>
                <a:spcPts val="0"/>
              </a:spcBef>
              <a:buNone/>
            </a:pPr>
            <a:r>
              <a:rPr lang="en-US" altLang="zh-CN" sz="1600" dirty="0"/>
              <a:t>}</a:t>
            </a:r>
            <a:endParaRPr lang="zh-CN" altLang="en-US" sz="1600" dirty="0"/>
          </a:p>
        </p:txBody>
      </p:sp>
      <p:sp>
        <p:nvSpPr>
          <p:cNvPr id="4" name="矩形 3"/>
          <p:cNvSpPr/>
          <p:nvPr/>
        </p:nvSpPr>
        <p:spPr>
          <a:xfrm>
            <a:off x="528350" y="316547"/>
            <a:ext cx="7628514" cy="480131"/>
          </a:xfrm>
          <a:prstGeom prst="rect">
            <a:avLst/>
          </a:prstGeom>
        </p:spPr>
        <p:txBody>
          <a:bodyPr wrap="square">
            <a:spAutoFit/>
          </a:bodyPr>
          <a:lstStyle/>
          <a:p>
            <a:pPr defTabSz="685800">
              <a:lnSpc>
                <a:spcPct val="90000"/>
              </a:lnSpc>
            </a:pPr>
            <a:r>
              <a:rPr lang="zh-CN" altLang="en-US" sz="2800" dirty="0">
                <a:solidFill>
                  <a:srgbClr val="7030A0"/>
                </a:solidFill>
                <a:latin typeface="+mj-lt"/>
                <a:ea typeface="+mj-ea"/>
                <a:cs typeface="+mj-cs"/>
              </a:rPr>
              <a:t>课后测试</a:t>
            </a:r>
            <a:r>
              <a:rPr lang="zh-CN" altLang="en-US" sz="2800" dirty="0">
                <a:solidFill>
                  <a:srgbClr val="1A93C8"/>
                </a:solidFill>
                <a:latin typeface="+mj-lt"/>
                <a:ea typeface="+mj-ea"/>
                <a:cs typeface="+mj-cs"/>
              </a:rPr>
              <a:t>：冒泡排序（</a:t>
            </a:r>
            <a:r>
              <a:rPr lang="en-US" altLang="zh-CN" sz="2800" dirty="0">
                <a:solidFill>
                  <a:srgbClr val="1A93C8"/>
                </a:solidFill>
                <a:latin typeface="+mj-lt"/>
                <a:ea typeface="+mj-ea"/>
                <a:cs typeface="+mj-cs"/>
              </a:rPr>
              <a:t>Bubble Sort</a:t>
            </a:r>
            <a:r>
              <a:rPr lang="zh-CN" altLang="en-US" sz="2800" dirty="0" smtClean="0">
                <a:solidFill>
                  <a:srgbClr val="1A93C8"/>
                </a:solidFill>
                <a:latin typeface="+mj-lt"/>
                <a:ea typeface="+mj-ea"/>
                <a:cs typeface="+mj-cs"/>
              </a:rPr>
              <a:t>）（续上页）</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314333718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7" name="Rectangle 3"/>
          <p:cNvSpPr>
            <a:spLocks noGrp="1" noRot="1" noChangeArrowheads="1"/>
          </p:cNvSpPr>
          <p:nvPr>
            <p:ph type="body" idx="1"/>
          </p:nvPr>
        </p:nvSpPr>
        <p:spPr>
          <a:xfrm>
            <a:off x="323850" y="1049121"/>
            <a:ext cx="8621713" cy="644597"/>
          </a:xfrm>
        </p:spPr>
        <p:txBody>
          <a:bodyPr/>
          <a:lstStyle/>
          <a:p>
            <a:pPr marL="457200" indent="-457200">
              <a:lnSpc>
                <a:spcPct val="90000"/>
              </a:lnSpc>
              <a:buFont typeface="Wingdings" panose="05000000000000000000" pitchFamily="2" charset="2"/>
              <a:buChar char="l"/>
            </a:pPr>
            <a:r>
              <a:rPr lang="en-US" altLang="zh-CN" sz="2800" b="1" dirty="0"/>
              <a:t> </a:t>
            </a:r>
            <a:r>
              <a:rPr lang="zh-CN" altLang="en-US" sz="2800" b="1" dirty="0"/>
              <a:t>输入</a:t>
            </a:r>
            <a:r>
              <a:rPr lang="en-US" altLang="zh-CN" sz="2800" b="1" dirty="0"/>
              <a:t>/</a:t>
            </a:r>
            <a:r>
              <a:rPr lang="zh-CN" altLang="en-US" sz="2800" b="1" dirty="0"/>
              <a:t>输出例</a:t>
            </a:r>
            <a:endParaRPr lang="zh-CN" altLang="en-US" sz="2000" dirty="0"/>
          </a:p>
        </p:txBody>
      </p:sp>
      <p:sp>
        <p:nvSpPr>
          <p:cNvPr id="36869" name="Text Box 5"/>
          <p:cNvSpPr txBox="1">
            <a:spLocks noChangeArrowheads="1"/>
          </p:cNvSpPr>
          <p:nvPr/>
        </p:nvSpPr>
        <p:spPr bwMode="auto">
          <a:xfrm>
            <a:off x="440342" y="2034534"/>
            <a:ext cx="6089650" cy="2613025"/>
          </a:xfrm>
          <a:prstGeom prst="rect">
            <a:avLst/>
          </a:prstGeom>
          <a:solidFill>
            <a:srgbClr val="8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5000"/>
              </a:lnSpc>
            </a:pPr>
            <a:r>
              <a:rPr lang="zh-CN" altLang="en-US" sz="2800" b="1" u="sng" dirty="0">
                <a:solidFill>
                  <a:srgbClr val="FFFF66"/>
                </a:solidFill>
                <a:latin typeface="宋体" panose="02010600030101010101" pitchFamily="2" charset="-122"/>
              </a:rPr>
              <a:t>程序运行结果如下：</a:t>
            </a:r>
          </a:p>
          <a:p>
            <a:pPr>
              <a:lnSpc>
                <a:spcPct val="95000"/>
              </a:lnSpc>
              <a:spcBef>
                <a:spcPct val="5000"/>
              </a:spcBef>
            </a:pPr>
            <a:r>
              <a:rPr lang="en-US" altLang="zh-CN" sz="2800" b="1" dirty="0">
                <a:solidFill>
                  <a:schemeClr val="bg1"/>
                </a:solidFill>
                <a:latin typeface="宋体" panose="02010600030101010101" pitchFamily="2" charset="-122"/>
              </a:rPr>
              <a:t>input 10 numbers:</a:t>
            </a:r>
          </a:p>
          <a:p>
            <a:pPr>
              <a:lnSpc>
                <a:spcPct val="95000"/>
              </a:lnSpc>
              <a:spcBef>
                <a:spcPct val="5000"/>
              </a:spcBef>
            </a:pPr>
            <a:r>
              <a:rPr lang="en-US" altLang="zh-CN" sz="2800" b="1" u="sng" dirty="0">
                <a:solidFill>
                  <a:schemeClr val="bg1"/>
                </a:solidFill>
                <a:latin typeface="宋体" panose="02010600030101010101" pitchFamily="2" charset="-122"/>
              </a:rPr>
              <a:t>1 0 4 8 12 65 -76 100 -45 123↙</a:t>
            </a:r>
            <a:r>
              <a:rPr lang="en-US" altLang="zh-CN" sz="2800" b="1" dirty="0">
                <a:solidFill>
                  <a:schemeClr val="bg1"/>
                </a:solidFill>
                <a:latin typeface="宋体" panose="02010600030101010101" pitchFamily="2" charset="-122"/>
              </a:rPr>
              <a:t></a:t>
            </a:r>
          </a:p>
          <a:p>
            <a:pPr>
              <a:lnSpc>
                <a:spcPct val="95000"/>
              </a:lnSpc>
              <a:spcBef>
                <a:spcPct val="5000"/>
              </a:spcBef>
            </a:pPr>
            <a:r>
              <a:rPr lang="en-US" altLang="zh-CN" sz="2800" b="1" dirty="0">
                <a:solidFill>
                  <a:schemeClr val="bg1"/>
                </a:solidFill>
                <a:latin typeface="宋体" panose="02010600030101010101" pitchFamily="2" charset="-122"/>
              </a:rPr>
              <a:t>the sorted numbers:</a:t>
            </a:r>
          </a:p>
          <a:p>
            <a:pPr>
              <a:lnSpc>
                <a:spcPct val="95000"/>
              </a:lnSpc>
              <a:spcBef>
                <a:spcPct val="5000"/>
              </a:spcBef>
            </a:pPr>
            <a:r>
              <a:rPr lang="en-US" altLang="zh-CN" sz="2800" b="1" dirty="0">
                <a:solidFill>
                  <a:schemeClr val="bg1"/>
                </a:solidFill>
                <a:latin typeface="宋体" panose="02010600030101010101" pitchFamily="2" charset="-122"/>
              </a:rPr>
              <a:t>-76 -45 0 1 4 8 12 65 100 123</a:t>
            </a:r>
            <a:endParaRPr lang="en-US" altLang="zh-CN" sz="2800" b="1" dirty="0">
              <a:solidFill>
                <a:schemeClr val="bg1"/>
              </a:solidFill>
              <a:latin typeface="Times New Roman" panose="02020603050405020304" pitchFamily="18" charset="0"/>
            </a:endParaRPr>
          </a:p>
        </p:txBody>
      </p:sp>
      <p:sp>
        <p:nvSpPr>
          <p:cNvPr id="4" name="矩形 3"/>
          <p:cNvSpPr/>
          <p:nvPr/>
        </p:nvSpPr>
        <p:spPr>
          <a:xfrm>
            <a:off x="528350" y="316547"/>
            <a:ext cx="7628514" cy="480131"/>
          </a:xfrm>
          <a:prstGeom prst="rect">
            <a:avLst/>
          </a:prstGeom>
        </p:spPr>
        <p:txBody>
          <a:bodyPr wrap="square">
            <a:spAutoFit/>
          </a:bodyPr>
          <a:lstStyle/>
          <a:p>
            <a:pPr defTabSz="685800">
              <a:lnSpc>
                <a:spcPct val="90000"/>
              </a:lnSpc>
            </a:pPr>
            <a:r>
              <a:rPr lang="zh-CN" altLang="en-US" sz="2800" dirty="0">
                <a:solidFill>
                  <a:srgbClr val="7030A0"/>
                </a:solidFill>
                <a:latin typeface="+mj-lt"/>
                <a:ea typeface="+mj-ea"/>
                <a:cs typeface="+mj-cs"/>
              </a:rPr>
              <a:t>课后测试：</a:t>
            </a:r>
            <a:r>
              <a:rPr lang="zh-CN" altLang="en-US" sz="2800" dirty="0">
                <a:solidFill>
                  <a:srgbClr val="1A93C8"/>
                </a:solidFill>
                <a:latin typeface="+mj-lt"/>
                <a:ea typeface="+mj-ea"/>
                <a:cs typeface="+mj-cs"/>
              </a:rPr>
              <a:t>冒泡排序（</a:t>
            </a:r>
            <a:r>
              <a:rPr lang="en-US" altLang="zh-CN" sz="2800" dirty="0">
                <a:solidFill>
                  <a:srgbClr val="1A93C8"/>
                </a:solidFill>
                <a:latin typeface="+mj-lt"/>
                <a:ea typeface="+mj-ea"/>
                <a:cs typeface="+mj-cs"/>
              </a:rPr>
              <a:t>Bubble Sort</a:t>
            </a:r>
            <a:r>
              <a:rPr lang="zh-CN" altLang="en-US" sz="2800" dirty="0">
                <a:solidFill>
                  <a:srgbClr val="1A93C8"/>
                </a:solidFill>
                <a:latin typeface="+mj-lt"/>
                <a:ea typeface="+mj-ea"/>
                <a:cs typeface="+mj-cs"/>
              </a:rPr>
              <a:t>）</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229301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3" name="Rectangle 3"/>
          <p:cNvSpPr>
            <a:spLocks noGrp="1" noRot="1" noChangeArrowheads="1"/>
          </p:cNvSpPr>
          <p:nvPr>
            <p:ph type="body" idx="1"/>
          </p:nvPr>
        </p:nvSpPr>
        <p:spPr>
          <a:xfrm>
            <a:off x="611188" y="981075"/>
            <a:ext cx="7772400" cy="457027"/>
          </a:xfrm>
        </p:spPr>
        <p:txBody>
          <a:bodyPr/>
          <a:lstStyle/>
          <a:p>
            <a:pPr marL="342900" indent="-342900">
              <a:buFont typeface="Wingdings" panose="05000000000000000000" pitchFamily="2" charset="2"/>
              <a:buChar char="l"/>
            </a:pPr>
            <a:r>
              <a:rPr lang="zh-CN" altLang="en-US" sz="2000" dirty="0" smtClean="0">
                <a:latin typeface=""/>
              </a:rPr>
              <a:t>用</a:t>
            </a:r>
            <a:r>
              <a:rPr lang="zh-CN" altLang="en-US" sz="2000" dirty="0">
                <a:latin typeface=""/>
              </a:rPr>
              <a:t>两层嵌套循环</a:t>
            </a:r>
            <a:r>
              <a:rPr lang="zh-CN" altLang="en-US" sz="2000" dirty="0" smtClean="0">
                <a:latin typeface=""/>
              </a:rPr>
              <a:t>实现</a:t>
            </a:r>
            <a:endParaRPr lang="zh-CN" altLang="en-US" sz="2000" dirty="0">
              <a:latin typeface=""/>
            </a:endParaRPr>
          </a:p>
        </p:txBody>
      </p:sp>
      <p:pic>
        <p:nvPicPr>
          <p:cNvPr id="87044" name="Picture 4" descr="fig6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32" y="1467052"/>
            <a:ext cx="7058025" cy="3100936"/>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528350" y="316547"/>
            <a:ext cx="7628514" cy="480131"/>
          </a:xfrm>
          <a:prstGeom prst="rect">
            <a:avLst/>
          </a:prstGeom>
        </p:spPr>
        <p:txBody>
          <a:bodyPr wrap="square">
            <a:spAutoFit/>
          </a:bodyPr>
          <a:lstStyle/>
          <a:p>
            <a:pPr defTabSz="685800">
              <a:lnSpc>
                <a:spcPct val="90000"/>
              </a:lnSpc>
              <a:buFont typeface="Arial" panose="020B0604020202020204" pitchFamily="34" charset="0"/>
              <a:buNone/>
            </a:pPr>
            <a:r>
              <a:rPr lang="zh-CN" altLang="en-US" sz="2800" dirty="0" smtClean="0">
                <a:solidFill>
                  <a:srgbClr val="7030A0"/>
                </a:solidFill>
                <a:latin typeface="+mj-lt"/>
                <a:ea typeface="+mj-ea"/>
                <a:cs typeface="+mj-cs"/>
              </a:rPr>
              <a:t>自学：</a:t>
            </a:r>
            <a:r>
              <a:rPr lang="zh-CN" altLang="en-US" sz="2800" dirty="0" smtClean="0">
                <a:solidFill>
                  <a:srgbClr val="1A93C8"/>
                </a:solidFill>
                <a:latin typeface="+mj-lt"/>
                <a:ea typeface="+mj-ea"/>
                <a:cs typeface="+mj-cs"/>
              </a:rPr>
              <a:t>冒泡排序</a:t>
            </a:r>
            <a:r>
              <a:rPr lang="zh-CN" altLang="en-US" sz="2800" dirty="0">
                <a:solidFill>
                  <a:srgbClr val="1A93C8"/>
                </a:solidFill>
                <a:latin typeface="+mj-lt"/>
                <a:ea typeface="+mj-ea"/>
                <a:cs typeface="+mj-cs"/>
              </a:rPr>
              <a:t>（</a:t>
            </a:r>
            <a:r>
              <a:rPr lang="en-US" altLang="zh-CN" sz="2800" dirty="0">
                <a:solidFill>
                  <a:srgbClr val="1A93C8"/>
                </a:solidFill>
                <a:latin typeface="+mj-lt"/>
                <a:ea typeface="+mj-ea"/>
                <a:cs typeface="+mj-cs"/>
              </a:rPr>
              <a:t>Bubble Sort</a:t>
            </a:r>
            <a:r>
              <a:rPr lang="zh-CN" altLang="en-US" sz="2800" dirty="0" smtClean="0">
                <a:solidFill>
                  <a:srgbClr val="1A93C8"/>
                </a:solidFill>
                <a:latin typeface="+mj-lt"/>
                <a:ea typeface="+mj-ea"/>
                <a:cs typeface="+mj-cs"/>
              </a:rPr>
              <a:t>）</a:t>
            </a:r>
            <a:r>
              <a:rPr lang="en-US" altLang="zh-CN" sz="2800" dirty="0" smtClean="0">
                <a:solidFill>
                  <a:srgbClr val="1A93C8"/>
                </a:solidFill>
                <a:latin typeface="+mj-lt"/>
                <a:ea typeface="+mj-ea"/>
                <a:cs typeface="+mj-cs"/>
              </a:rPr>
              <a:t>N-S</a:t>
            </a:r>
            <a:r>
              <a:rPr lang="zh-CN" altLang="en-US" sz="2800" dirty="0" smtClean="0">
                <a:solidFill>
                  <a:srgbClr val="1A93C8"/>
                </a:solidFill>
                <a:latin typeface="+mj-lt"/>
                <a:ea typeface="+mj-ea"/>
                <a:cs typeface="+mj-cs"/>
              </a:rPr>
              <a:t>图</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18114049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Effect transition="in" filter="checkerboard(across)">
                                      <p:cBhvr>
                                        <p:cTn id="7" dur="500"/>
                                        <p:tgtEl>
                                          <p:spTgt spid="87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912" y="255588"/>
            <a:ext cx="8089900" cy="584200"/>
          </a:xfrm>
        </p:spPr>
        <p:txBody>
          <a:bodyPr>
            <a:normAutofit/>
          </a:bodyPr>
          <a:lstStyle/>
          <a:p>
            <a:r>
              <a:rPr lang="zh-CN" altLang="en-US" dirty="0"/>
              <a:t>冒泡排序（</a:t>
            </a:r>
            <a:r>
              <a:rPr lang="en-US" altLang="zh-CN" dirty="0"/>
              <a:t>Bubble Sort</a:t>
            </a:r>
            <a:r>
              <a:rPr lang="zh-CN" altLang="en-US" dirty="0"/>
              <a:t>）</a:t>
            </a:r>
            <a:r>
              <a:rPr lang="en-US" altLang="zh-CN" dirty="0"/>
              <a:t>--</a:t>
            </a:r>
            <a:r>
              <a:rPr lang="zh-CN" altLang="en-US" dirty="0"/>
              <a:t>时间复杂度分析</a:t>
            </a:r>
          </a:p>
        </p:txBody>
      </p:sp>
      <p:sp>
        <p:nvSpPr>
          <p:cNvPr id="3" name="内容占位符 2"/>
          <p:cNvSpPr>
            <a:spLocks noGrp="1"/>
          </p:cNvSpPr>
          <p:nvPr>
            <p:ph idx="1"/>
          </p:nvPr>
        </p:nvSpPr>
        <p:spPr>
          <a:xfrm>
            <a:off x="585527" y="1082905"/>
            <a:ext cx="4202603" cy="5345112"/>
          </a:xfrm>
          <a:ln>
            <a:solidFill>
              <a:srgbClr val="000000"/>
            </a:solidFill>
          </a:ln>
        </p:spPr>
        <p:txBody>
          <a:bodyPr>
            <a:normAutofit/>
          </a:bodyPr>
          <a:lstStyle/>
          <a:p>
            <a:pPr marL="342900" indent="-342900">
              <a:lnSpc>
                <a:spcPct val="100000"/>
              </a:lnSpc>
              <a:spcBef>
                <a:spcPts val="1200"/>
              </a:spcBef>
              <a:buFont typeface="Wingdings" panose="05000000000000000000" pitchFamily="2" charset="2"/>
              <a:buChar char="l"/>
            </a:pPr>
            <a:r>
              <a:rPr lang="zh-CN" altLang="en-US" sz="1600" dirty="0" smtClean="0"/>
              <a:t>冒泡排序</a:t>
            </a:r>
            <a:r>
              <a:rPr lang="zh-CN" altLang="en-US" sz="1600" dirty="0"/>
              <a:t>，输入长度是</a:t>
            </a:r>
            <a:r>
              <a:rPr lang="zh-CN" altLang="en-US" sz="1600" dirty="0" smtClean="0"/>
              <a:t>排序的数据个数</a:t>
            </a:r>
            <a:r>
              <a:rPr lang="en-US" altLang="zh-CN" sz="1600" dirty="0"/>
              <a:t>n</a:t>
            </a:r>
            <a:r>
              <a:rPr lang="zh-CN" altLang="en-US" sz="1600" dirty="0"/>
              <a:t>；</a:t>
            </a:r>
            <a:endParaRPr lang="en-US" altLang="zh-CN" sz="1600" dirty="0"/>
          </a:p>
          <a:p>
            <a:pPr marL="342900" indent="-342900">
              <a:lnSpc>
                <a:spcPct val="100000"/>
              </a:lnSpc>
              <a:spcBef>
                <a:spcPts val="1200"/>
              </a:spcBef>
              <a:buFont typeface="Wingdings" panose="05000000000000000000" pitchFamily="2" charset="2"/>
              <a:buChar char="l"/>
            </a:pPr>
            <a:r>
              <a:rPr lang="zh-CN" altLang="en-US" sz="1600" dirty="0" smtClean="0"/>
              <a:t>循环体中的条件语句</a:t>
            </a:r>
            <a:r>
              <a:rPr lang="en-US" altLang="zh-CN" sz="1600" dirty="0">
                <a:solidFill>
                  <a:srgbClr val="006600"/>
                </a:solidFill>
              </a:rPr>
              <a:t>if (a[</a:t>
            </a:r>
            <a:r>
              <a:rPr lang="en-US" altLang="zh-CN" sz="1600" dirty="0" err="1">
                <a:solidFill>
                  <a:srgbClr val="006600"/>
                </a:solidFill>
              </a:rPr>
              <a:t>i</a:t>
            </a:r>
            <a:r>
              <a:rPr lang="en-US" altLang="zh-CN" sz="1600" dirty="0">
                <a:solidFill>
                  <a:srgbClr val="006600"/>
                </a:solidFill>
              </a:rPr>
              <a:t>]&gt;a[i+1])</a:t>
            </a:r>
            <a:r>
              <a:rPr lang="zh-CN" altLang="en-US" sz="1600" dirty="0"/>
              <a:t>所耗时</a:t>
            </a:r>
            <a:r>
              <a:rPr lang="zh-CN" altLang="en-US" sz="1600" dirty="0" smtClean="0"/>
              <a:t>间</a:t>
            </a:r>
            <a:r>
              <a:rPr lang="zh-CN" altLang="en-US" sz="1600" b="1" dirty="0">
                <a:solidFill>
                  <a:srgbClr val="C00000"/>
                </a:solidFill>
              </a:rPr>
              <a:t>是与</a:t>
            </a:r>
            <a:r>
              <a:rPr lang="en-US" altLang="zh-CN" sz="1600" b="1" dirty="0">
                <a:solidFill>
                  <a:srgbClr val="C00000"/>
                </a:solidFill>
              </a:rPr>
              <a:t>n</a:t>
            </a:r>
            <a:r>
              <a:rPr lang="zh-CN" altLang="en-US" sz="1600" b="1" dirty="0">
                <a:solidFill>
                  <a:srgbClr val="C00000"/>
                </a:solidFill>
              </a:rPr>
              <a:t>无关的</a:t>
            </a:r>
            <a:r>
              <a:rPr lang="zh-CN" altLang="en-US" sz="1600" b="1" dirty="0" smtClean="0">
                <a:solidFill>
                  <a:srgbClr val="C00000"/>
                </a:solidFill>
              </a:rPr>
              <a:t>常数，</a:t>
            </a:r>
            <a:r>
              <a:rPr lang="zh-CN" altLang="en-US" sz="1600" dirty="0"/>
              <a:t>记为</a:t>
            </a:r>
            <a:r>
              <a:rPr lang="en-US" altLang="zh-CN" sz="1600" b="1" dirty="0" smtClean="0">
                <a:solidFill>
                  <a:srgbClr val="C00000"/>
                </a:solidFill>
              </a:rPr>
              <a:t>O(1</a:t>
            </a:r>
            <a:r>
              <a:rPr lang="en-US" altLang="zh-CN" sz="1600" b="1" dirty="0">
                <a:solidFill>
                  <a:srgbClr val="C00000"/>
                </a:solidFill>
              </a:rPr>
              <a:t>)</a:t>
            </a:r>
            <a:r>
              <a:rPr lang="zh-CN" altLang="en-US" sz="1600" b="1" dirty="0">
                <a:solidFill>
                  <a:srgbClr val="C00000"/>
                </a:solidFill>
              </a:rPr>
              <a:t>；</a:t>
            </a:r>
            <a:endParaRPr lang="en-US" altLang="zh-CN" sz="1600" b="1" dirty="0">
              <a:solidFill>
                <a:srgbClr val="C00000"/>
              </a:solidFill>
            </a:endParaRPr>
          </a:p>
          <a:p>
            <a:pPr marL="342900" indent="-342900">
              <a:lnSpc>
                <a:spcPct val="100000"/>
              </a:lnSpc>
              <a:spcBef>
                <a:spcPts val="1200"/>
              </a:spcBef>
              <a:buFont typeface="Wingdings" panose="05000000000000000000" pitchFamily="2" charset="2"/>
              <a:buChar char="l"/>
            </a:pPr>
            <a:r>
              <a:rPr lang="zh-CN" altLang="en-US" sz="1600" dirty="0" smtClean="0"/>
              <a:t>条件语句中的三条赋值语句：</a:t>
            </a:r>
            <a:r>
              <a:rPr lang="en-US" altLang="zh-CN" sz="1600" dirty="0" err="1" smtClean="0">
                <a:solidFill>
                  <a:srgbClr val="006600"/>
                </a:solidFill>
              </a:rPr>
              <a:t>int</a:t>
            </a:r>
            <a:r>
              <a:rPr lang="en-US" altLang="zh-CN" sz="1600" dirty="0" smtClean="0">
                <a:solidFill>
                  <a:srgbClr val="006600"/>
                </a:solidFill>
              </a:rPr>
              <a:t> </a:t>
            </a:r>
            <a:r>
              <a:rPr lang="en-US" altLang="zh-CN" sz="1600" dirty="0">
                <a:solidFill>
                  <a:srgbClr val="006600"/>
                </a:solidFill>
              </a:rPr>
              <a:t>t=a[j]; a[</a:t>
            </a:r>
            <a:r>
              <a:rPr lang="en-US" altLang="zh-CN" sz="1600" dirty="0" err="1">
                <a:solidFill>
                  <a:srgbClr val="006600"/>
                </a:solidFill>
              </a:rPr>
              <a:t>i</a:t>
            </a:r>
            <a:r>
              <a:rPr lang="en-US" altLang="zh-CN" sz="1600" dirty="0">
                <a:solidFill>
                  <a:srgbClr val="006600"/>
                </a:solidFill>
              </a:rPr>
              <a:t>]=a[i+1]; a[i+1]=t;</a:t>
            </a:r>
            <a:r>
              <a:rPr lang="zh-CN" altLang="en-US" sz="1600" b="1" dirty="0">
                <a:solidFill>
                  <a:srgbClr val="C00000"/>
                </a:solidFill>
              </a:rPr>
              <a:t>所耗费的时间是与</a:t>
            </a:r>
            <a:r>
              <a:rPr lang="en-US" altLang="zh-CN" sz="1600" b="1" dirty="0">
                <a:solidFill>
                  <a:srgbClr val="C00000"/>
                </a:solidFill>
              </a:rPr>
              <a:t>n</a:t>
            </a:r>
            <a:r>
              <a:rPr lang="zh-CN" altLang="en-US" sz="1600" b="1" dirty="0">
                <a:solidFill>
                  <a:srgbClr val="C00000"/>
                </a:solidFill>
              </a:rPr>
              <a:t>无关的常数</a:t>
            </a:r>
            <a:r>
              <a:rPr lang="zh-CN" altLang="en-US" sz="1600" dirty="0"/>
              <a:t>，其</a:t>
            </a:r>
            <a:r>
              <a:rPr lang="zh-CN" altLang="en-US" sz="1600" dirty="0" smtClean="0"/>
              <a:t>所耗时间</a:t>
            </a:r>
            <a:r>
              <a:rPr lang="zh-CN" altLang="en-US" sz="1600" dirty="0"/>
              <a:t>记为</a:t>
            </a:r>
            <a:r>
              <a:rPr lang="en-US" altLang="zh-CN" sz="1600" b="1" dirty="0">
                <a:solidFill>
                  <a:srgbClr val="C00000"/>
                </a:solidFill>
              </a:rPr>
              <a:t>O(1</a:t>
            </a:r>
            <a:r>
              <a:rPr lang="en-US" altLang="zh-CN" sz="1600" b="1" dirty="0" smtClean="0">
                <a:solidFill>
                  <a:srgbClr val="C00000"/>
                </a:solidFill>
              </a:rPr>
              <a:t>)</a:t>
            </a:r>
            <a:r>
              <a:rPr lang="zh-CN" altLang="en-US" sz="1600" b="1" dirty="0" smtClean="0">
                <a:solidFill>
                  <a:srgbClr val="C00000"/>
                </a:solidFill>
              </a:rPr>
              <a:t>；</a:t>
            </a:r>
            <a:endParaRPr lang="en-US" altLang="zh-CN" sz="1600" b="1" dirty="0">
              <a:solidFill>
                <a:srgbClr val="C00000"/>
              </a:solidFill>
            </a:endParaRPr>
          </a:p>
          <a:p>
            <a:pPr marL="342900" indent="-342900">
              <a:lnSpc>
                <a:spcPct val="100000"/>
              </a:lnSpc>
              <a:spcBef>
                <a:spcPts val="1200"/>
              </a:spcBef>
              <a:buFont typeface="Wingdings" panose="05000000000000000000" pitchFamily="2" charset="2"/>
              <a:buChar char="l"/>
            </a:pPr>
            <a:r>
              <a:rPr lang="zh-CN" altLang="en-US" sz="1600" dirty="0" smtClean="0"/>
              <a:t>条件语句的主体，即三条赋值语句</a:t>
            </a:r>
            <a:r>
              <a:rPr lang="en-US" altLang="zh-CN" sz="1600" dirty="0" err="1" smtClean="0">
                <a:solidFill>
                  <a:srgbClr val="006600"/>
                </a:solidFill>
              </a:rPr>
              <a:t>int</a:t>
            </a:r>
            <a:r>
              <a:rPr lang="en-US" altLang="zh-CN" sz="1600" dirty="0" smtClean="0">
                <a:solidFill>
                  <a:srgbClr val="006600"/>
                </a:solidFill>
              </a:rPr>
              <a:t> </a:t>
            </a:r>
            <a:r>
              <a:rPr lang="en-US" altLang="zh-CN" sz="1600" dirty="0">
                <a:solidFill>
                  <a:srgbClr val="006600"/>
                </a:solidFill>
              </a:rPr>
              <a:t>t=a[</a:t>
            </a:r>
            <a:r>
              <a:rPr lang="en-US" altLang="zh-CN" sz="1600" dirty="0" err="1">
                <a:solidFill>
                  <a:srgbClr val="006600"/>
                </a:solidFill>
              </a:rPr>
              <a:t>i</a:t>
            </a:r>
            <a:r>
              <a:rPr lang="en-US" altLang="zh-CN" sz="1600" dirty="0">
                <a:solidFill>
                  <a:srgbClr val="006600"/>
                </a:solidFill>
              </a:rPr>
              <a:t>]; a[</a:t>
            </a:r>
            <a:r>
              <a:rPr lang="en-US" altLang="zh-CN" sz="1600" dirty="0" err="1">
                <a:solidFill>
                  <a:srgbClr val="006600"/>
                </a:solidFill>
              </a:rPr>
              <a:t>i</a:t>
            </a:r>
            <a:r>
              <a:rPr lang="en-US" altLang="zh-CN" sz="1600" dirty="0">
                <a:solidFill>
                  <a:srgbClr val="006600"/>
                </a:solidFill>
              </a:rPr>
              <a:t>]=a[i+1]; a[i+1]=t;</a:t>
            </a:r>
            <a:r>
              <a:rPr lang="zh-CN" altLang="en-US" sz="1600" dirty="0">
                <a:solidFill>
                  <a:srgbClr val="7030A0"/>
                </a:solidFill>
              </a:rPr>
              <a:t>可能执行，也可能不执行；</a:t>
            </a:r>
            <a:endParaRPr lang="en-US" altLang="zh-CN" sz="1600" dirty="0">
              <a:solidFill>
                <a:srgbClr val="7030A0"/>
              </a:solidFill>
            </a:endParaRPr>
          </a:p>
          <a:p>
            <a:pPr marL="342900" indent="-342900">
              <a:lnSpc>
                <a:spcPct val="100000"/>
              </a:lnSpc>
              <a:spcBef>
                <a:spcPts val="1200"/>
              </a:spcBef>
              <a:buFont typeface="Wingdings" panose="05000000000000000000" pitchFamily="2" charset="2"/>
              <a:buChar char="l"/>
            </a:pPr>
            <a:r>
              <a:rPr lang="zh-CN" altLang="en-US" sz="1600" dirty="0">
                <a:solidFill>
                  <a:srgbClr val="0303DF"/>
                </a:solidFill>
              </a:rPr>
              <a:t>由于我们考虑</a:t>
            </a:r>
            <a:r>
              <a:rPr lang="zh-CN" altLang="en-US" sz="1600" dirty="0">
                <a:solidFill>
                  <a:srgbClr val="C00000"/>
                </a:solidFill>
              </a:rPr>
              <a:t>最坏情况</a:t>
            </a:r>
            <a:r>
              <a:rPr lang="zh-CN" altLang="en-US" sz="1600" dirty="0">
                <a:solidFill>
                  <a:srgbClr val="0303DF"/>
                </a:solidFill>
              </a:rPr>
              <a:t>下的运行时间，</a:t>
            </a:r>
            <a:r>
              <a:rPr lang="zh-CN" altLang="en-US" sz="1600" dirty="0" smtClean="0">
                <a:solidFill>
                  <a:srgbClr val="0303DF"/>
                </a:solidFill>
              </a:rPr>
              <a:t>可假设条件</a:t>
            </a:r>
            <a:r>
              <a:rPr lang="zh-CN" altLang="en-US" sz="1600" dirty="0">
                <a:solidFill>
                  <a:srgbClr val="0303DF"/>
                </a:solidFill>
              </a:rPr>
              <a:t>语句的主体</a:t>
            </a:r>
            <a:r>
              <a:rPr lang="zh-CN" altLang="en-US" sz="1600" dirty="0">
                <a:solidFill>
                  <a:srgbClr val="C00000"/>
                </a:solidFill>
              </a:rPr>
              <a:t>都执行</a:t>
            </a:r>
            <a:r>
              <a:rPr lang="zh-CN" altLang="en-US" sz="1600" dirty="0" smtClean="0">
                <a:solidFill>
                  <a:srgbClr val="0303DF"/>
                </a:solidFill>
              </a:rPr>
              <a:t>；</a:t>
            </a:r>
            <a:endParaRPr lang="en-US" altLang="zh-CN" sz="1600" dirty="0" smtClean="0">
              <a:solidFill>
                <a:srgbClr val="0303DF"/>
              </a:solidFill>
            </a:endParaRPr>
          </a:p>
          <a:p>
            <a:pPr marL="342900" indent="-342900">
              <a:lnSpc>
                <a:spcPct val="100000"/>
              </a:lnSpc>
              <a:spcBef>
                <a:spcPts val="1200"/>
              </a:spcBef>
              <a:buFont typeface="Wingdings" panose="05000000000000000000" pitchFamily="2" charset="2"/>
              <a:buChar char="l"/>
            </a:pPr>
            <a:r>
              <a:rPr lang="zh-CN" altLang="en-US" sz="1600" b="1" dirty="0" smtClean="0">
                <a:solidFill>
                  <a:srgbClr val="7030A0"/>
                </a:solidFill>
              </a:rPr>
              <a:t>因此，内层循环（</a:t>
            </a:r>
            <a:r>
              <a:rPr lang="en-US" altLang="zh-CN" sz="1600" b="1" dirty="0" err="1" smtClean="0">
                <a:solidFill>
                  <a:srgbClr val="7030A0"/>
                </a:solidFill>
              </a:rPr>
              <a:t>i</a:t>
            </a:r>
            <a:r>
              <a:rPr lang="zh-CN" altLang="en-US" sz="1600" b="1" dirty="0" smtClean="0">
                <a:solidFill>
                  <a:srgbClr val="7030A0"/>
                </a:solidFill>
              </a:rPr>
              <a:t>循环）</a:t>
            </a:r>
            <a:r>
              <a:rPr lang="zh-CN" altLang="en-US" sz="1600" b="1" u="sng" dirty="0" smtClean="0">
                <a:solidFill>
                  <a:srgbClr val="C00000"/>
                </a:solidFill>
              </a:rPr>
              <a:t>循环体</a:t>
            </a:r>
            <a:r>
              <a:rPr lang="zh-CN" altLang="en-US" sz="1600" b="1" dirty="0" smtClean="0">
                <a:solidFill>
                  <a:srgbClr val="7030A0"/>
                </a:solidFill>
              </a:rPr>
              <a:t>所耗时间为</a:t>
            </a:r>
            <a:r>
              <a:rPr lang="en-US" altLang="zh-CN" sz="1600" b="1" dirty="0" smtClean="0">
                <a:solidFill>
                  <a:srgbClr val="7030A0"/>
                </a:solidFill>
              </a:rPr>
              <a:t>O(1)</a:t>
            </a:r>
            <a:r>
              <a:rPr lang="zh-CN" altLang="en-US" sz="1600" b="1" dirty="0" smtClean="0">
                <a:solidFill>
                  <a:srgbClr val="7030A0"/>
                </a:solidFill>
              </a:rPr>
              <a:t>；（常数）</a:t>
            </a:r>
            <a:endParaRPr lang="en-US" altLang="zh-CN" sz="1600" b="1" dirty="0">
              <a:solidFill>
                <a:srgbClr val="7030A0"/>
              </a:solidFill>
            </a:endParaRP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
        <p:nvSpPr>
          <p:cNvPr id="5" name="内容占位符 2"/>
          <p:cNvSpPr txBox="1">
            <a:spLocks/>
          </p:cNvSpPr>
          <p:nvPr/>
        </p:nvSpPr>
        <p:spPr bwMode="auto">
          <a:xfrm>
            <a:off x="5187409" y="1043622"/>
            <a:ext cx="4172722" cy="5240799"/>
          </a:xfrm>
          <a:prstGeom prst="rect">
            <a:avLst/>
          </a:prstGeom>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chemeClr val="dk1"/>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chemeClr val="dk1"/>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chemeClr val="dk1"/>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chemeClr val="dk1"/>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chemeClr val="dk1"/>
                </a:solidFill>
                <a:latin typeface="+mn-lt"/>
                <a:ea typeface="+mn-ea"/>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spcBef>
                <a:spcPts val="0"/>
              </a:spcBef>
              <a:buNone/>
            </a:pPr>
            <a:r>
              <a:rPr lang="en-US" altLang="zh-CN" sz="1600" dirty="0" smtClean="0">
                <a:solidFill>
                  <a:srgbClr val="7030A0"/>
                </a:solidFill>
              </a:rPr>
              <a:t>//</a:t>
            </a:r>
            <a:r>
              <a:rPr lang="zh-CN" altLang="en-US" sz="1600" dirty="0" smtClean="0">
                <a:solidFill>
                  <a:srgbClr val="7030A0"/>
                </a:solidFill>
              </a:rPr>
              <a:t>对</a:t>
            </a:r>
            <a:r>
              <a:rPr lang="en-US" altLang="zh-CN" sz="1600" dirty="0" smtClean="0">
                <a:solidFill>
                  <a:srgbClr val="7030A0"/>
                </a:solidFill>
              </a:rPr>
              <a:t>n</a:t>
            </a:r>
            <a:r>
              <a:rPr lang="zh-CN" altLang="en-US" sz="1600" dirty="0" smtClean="0">
                <a:solidFill>
                  <a:srgbClr val="7030A0"/>
                </a:solidFill>
              </a:rPr>
              <a:t>个元素进行升序排序</a:t>
            </a:r>
            <a:endParaRPr lang="en-US" altLang="zh-CN" sz="1600" dirty="0" smtClean="0">
              <a:solidFill>
                <a:srgbClr val="7030A0"/>
              </a:solidFill>
            </a:endParaRPr>
          </a:p>
          <a:p>
            <a:pPr>
              <a:lnSpc>
                <a:spcPct val="100000"/>
              </a:lnSpc>
              <a:spcBef>
                <a:spcPts val="0"/>
              </a:spcBef>
              <a:buNone/>
            </a:pPr>
            <a:r>
              <a:rPr lang="en-US" altLang="zh-CN" sz="1600" dirty="0" smtClean="0">
                <a:solidFill>
                  <a:srgbClr val="080808"/>
                </a:solidFill>
              </a:rPr>
              <a:t>void </a:t>
            </a:r>
            <a:r>
              <a:rPr lang="en-US" altLang="zh-CN" sz="1600" dirty="0" err="1" smtClean="0">
                <a:solidFill>
                  <a:srgbClr val="080808"/>
                </a:solidFill>
              </a:rPr>
              <a:t>bubbleSort</a:t>
            </a:r>
            <a:r>
              <a:rPr lang="en-US" altLang="zh-CN" sz="1600" dirty="0" smtClean="0">
                <a:solidFill>
                  <a:srgbClr val="080808"/>
                </a:solidFill>
              </a:rPr>
              <a:t>(</a:t>
            </a:r>
            <a:r>
              <a:rPr lang="en-US" altLang="zh-CN" sz="1600" dirty="0" err="1" smtClean="0">
                <a:solidFill>
                  <a:srgbClr val="080808"/>
                </a:solidFill>
              </a:rPr>
              <a:t>int</a:t>
            </a:r>
            <a:r>
              <a:rPr lang="en-US" altLang="zh-CN" sz="1600" dirty="0" smtClean="0">
                <a:solidFill>
                  <a:srgbClr val="080808"/>
                </a:solidFill>
              </a:rPr>
              <a:t> data[],</a:t>
            </a:r>
            <a:r>
              <a:rPr lang="en-US" altLang="zh-CN" sz="1600" dirty="0" err="1" smtClean="0">
                <a:solidFill>
                  <a:srgbClr val="080808"/>
                </a:solidFill>
              </a:rPr>
              <a:t>int</a:t>
            </a:r>
            <a:r>
              <a:rPr lang="en-US" altLang="zh-CN" sz="1600" dirty="0" smtClean="0">
                <a:solidFill>
                  <a:srgbClr val="080808"/>
                </a:solidFill>
              </a:rPr>
              <a:t> n) </a:t>
            </a:r>
          </a:p>
          <a:p>
            <a:pPr>
              <a:lnSpc>
                <a:spcPct val="100000"/>
              </a:lnSpc>
              <a:spcBef>
                <a:spcPts val="0"/>
              </a:spcBef>
              <a:buNone/>
            </a:pPr>
            <a:r>
              <a:rPr lang="en-US" altLang="zh-CN" sz="1600" dirty="0" smtClean="0">
                <a:solidFill>
                  <a:srgbClr val="080808"/>
                </a:solidFill>
              </a:rPr>
              <a:t>{</a:t>
            </a:r>
          </a:p>
          <a:p>
            <a:pPr>
              <a:lnSpc>
                <a:spcPct val="100000"/>
              </a:lnSpc>
              <a:spcBef>
                <a:spcPts val="0"/>
              </a:spcBef>
              <a:buNone/>
            </a:pPr>
            <a:r>
              <a:rPr lang="en-US" altLang="zh-CN" sz="1600" dirty="0" smtClean="0">
                <a:solidFill>
                  <a:srgbClr val="080808"/>
                </a:solidFill>
              </a:rPr>
              <a:t>    for (</a:t>
            </a:r>
            <a:r>
              <a:rPr lang="en-US" altLang="zh-CN" sz="1600" dirty="0" err="1" smtClean="0">
                <a:solidFill>
                  <a:srgbClr val="080808"/>
                </a:solidFill>
              </a:rPr>
              <a:t>int</a:t>
            </a:r>
            <a:r>
              <a:rPr lang="en-US" altLang="zh-CN" sz="1600" dirty="0" smtClean="0">
                <a:solidFill>
                  <a:srgbClr val="080808"/>
                </a:solidFill>
              </a:rPr>
              <a:t> j=0;j&lt;=</a:t>
            </a:r>
            <a:r>
              <a:rPr lang="en-US" altLang="zh-CN" sz="1600" dirty="0" smtClean="0">
                <a:solidFill>
                  <a:srgbClr val="0303DF"/>
                </a:solidFill>
              </a:rPr>
              <a:t>n-1</a:t>
            </a:r>
            <a:r>
              <a:rPr lang="en-US" altLang="zh-CN" sz="1600" dirty="0" smtClean="0">
                <a:solidFill>
                  <a:srgbClr val="080808"/>
                </a:solidFill>
              </a:rPr>
              <a:t>;j++)</a:t>
            </a:r>
          </a:p>
          <a:p>
            <a:pPr>
              <a:lnSpc>
                <a:spcPct val="100000"/>
              </a:lnSpc>
              <a:spcBef>
                <a:spcPts val="0"/>
              </a:spcBef>
              <a:buNone/>
            </a:pPr>
            <a:r>
              <a:rPr lang="en-US" altLang="zh-CN" sz="1600" dirty="0" smtClean="0">
                <a:solidFill>
                  <a:srgbClr val="080808"/>
                </a:solidFill>
              </a:rPr>
              <a:t>	for (</a:t>
            </a:r>
            <a:r>
              <a:rPr lang="en-US" altLang="zh-CN" sz="1600" dirty="0" err="1" smtClean="0">
                <a:solidFill>
                  <a:srgbClr val="080808"/>
                </a:solidFill>
              </a:rPr>
              <a:t>int</a:t>
            </a:r>
            <a:r>
              <a:rPr lang="en-US" altLang="zh-CN" sz="1600" dirty="0" smtClean="0">
                <a:solidFill>
                  <a:srgbClr val="080808"/>
                </a:solidFill>
              </a:rPr>
              <a:t> </a:t>
            </a:r>
            <a:r>
              <a:rPr lang="en-US" altLang="zh-CN" sz="1600" dirty="0" err="1" smtClean="0">
                <a:solidFill>
                  <a:srgbClr val="080808"/>
                </a:solidFill>
              </a:rPr>
              <a:t>i</a:t>
            </a:r>
            <a:r>
              <a:rPr lang="en-US" altLang="zh-CN" sz="1600" dirty="0" smtClean="0">
                <a:solidFill>
                  <a:srgbClr val="080808"/>
                </a:solidFill>
              </a:rPr>
              <a:t>=0;i&lt;=</a:t>
            </a:r>
            <a:r>
              <a:rPr lang="en-US" altLang="zh-CN" sz="1600" dirty="0" smtClean="0">
                <a:solidFill>
                  <a:srgbClr val="0303DF"/>
                </a:solidFill>
              </a:rPr>
              <a:t>n-j-2</a:t>
            </a:r>
            <a:r>
              <a:rPr lang="en-US" altLang="zh-CN" sz="1600" dirty="0" smtClean="0">
                <a:solidFill>
                  <a:srgbClr val="080808"/>
                </a:solidFill>
              </a:rPr>
              <a:t>;i++)</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if (data[</a:t>
            </a:r>
            <a:r>
              <a:rPr lang="en-US" altLang="zh-CN" sz="1600" dirty="0" err="1" smtClean="0">
                <a:solidFill>
                  <a:srgbClr val="080808"/>
                </a:solidFill>
              </a:rPr>
              <a:t>i</a:t>
            </a:r>
            <a:r>
              <a:rPr lang="en-US" altLang="zh-CN" sz="1600" dirty="0" smtClean="0">
                <a:solidFill>
                  <a:srgbClr val="080808"/>
                </a:solidFill>
              </a:rPr>
              <a:t>]&gt;data[i+1])</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a:t>
            </a:r>
            <a:r>
              <a:rPr lang="en-US" altLang="zh-CN" sz="1600" dirty="0" err="1" smtClean="0">
                <a:solidFill>
                  <a:srgbClr val="080808"/>
                </a:solidFill>
              </a:rPr>
              <a:t>int</a:t>
            </a:r>
            <a:r>
              <a:rPr lang="en-US" altLang="zh-CN" sz="1600" dirty="0" smtClean="0">
                <a:solidFill>
                  <a:srgbClr val="080808"/>
                </a:solidFill>
              </a:rPr>
              <a:t> t=data[</a:t>
            </a:r>
            <a:r>
              <a:rPr lang="en-US" altLang="zh-CN" sz="1600" dirty="0" err="1" smtClean="0">
                <a:solidFill>
                  <a:srgbClr val="080808"/>
                </a:solidFill>
              </a:rPr>
              <a:t>i</a:t>
            </a:r>
            <a:r>
              <a:rPr lang="en-US" altLang="zh-CN" sz="1600" dirty="0" smtClean="0">
                <a:solidFill>
                  <a:srgbClr val="080808"/>
                </a:solidFill>
              </a:rPr>
              <a:t>];</a:t>
            </a:r>
          </a:p>
          <a:p>
            <a:pPr>
              <a:lnSpc>
                <a:spcPct val="100000"/>
              </a:lnSpc>
              <a:spcBef>
                <a:spcPts val="0"/>
              </a:spcBef>
              <a:buNone/>
            </a:pPr>
            <a:r>
              <a:rPr lang="en-US" altLang="zh-CN" sz="1600" dirty="0" smtClean="0">
                <a:solidFill>
                  <a:srgbClr val="080808"/>
                </a:solidFill>
              </a:rPr>
              <a:t>	   	data[</a:t>
            </a:r>
            <a:r>
              <a:rPr lang="en-US" altLang="zh-CN" sz="1600" dirty="0" err="1" smtClean="0">
                <a:solidFill>
                  <a:srgbClr val="080808"/>
                </a:solidFill>
              </a:rPr>
              <a:t>i</a:t>
            </a:r>
            <a:r>
              <a:rPr lang="en-US" altLang="zh-CN" sz="1600" dirty="0" smtClean="0">
                <a:solidFill>
                  <a:srgbClr val="080808"/>
                </a:solidFill>
              </a:rPr>
              <a:t>]=data[i+1];</a:t>
            </a:r>
          </a:p>
          <a:p>
            <a:pPr>
              <a:lnSpc>
                <a:spcPct val="100000"/>
              </a:lnSpc>
              <a:spcBef>
                <a:spcPts val="0"/>
              </a:spcBef>
              <a:buNone/>
            </a:pPr>
            <a:r>
              <a:rPr lang="en-US" altLang="zh-CN" sz="1600" dirty="0" smtClean="0">
                <a:solidFill>
                  <a:srgbClr val="080808"/>
                </a:solidFill>
              </a:rPr>
              <a:t>	   	data[i+1]=t;</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a:t>
            </a:r>
            <a:endParaRPr lang="zh-CN" altLang="en-US" sz="1600" dirty="0">
              <a:solidFill>
                <a:srgbClr val="080808"/>
              </a:solidFill>
            </a:endParaRPr>
          </a:p>
        </p:txBody>
      </p:sp>
    </p:spTree>
    <p:extLst>
      <p:ext uri="{BB962C8B-B14F-4D97-AF65-F5344CB8AC3E}">
        <p14:creationId xmlns:p14="http://schemas.microsoft.com/office/powerpoint/2010/main" val="270769655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冒泡排序（</a:t>
            </a:r>
            <a:r>
              <a:rPr lang="en-US" altLang="zh-CN" dirty="0"/>
              <a:t>Bubble Sort</a:t>
            </a:r>
            <a:r>
              <a:rPr lang="zh-CN" altLang="en-US" dirty="0"/>
              <a:t>）</a:t>
            </a:r>
            <a:r>
              <a:rPr lang="en-US" altLang="zh-CN" dirty="0"/>
              <a:t>--</a:t>
            </a:r>
            <a:r>
              <a:rPr lang="zh-CN" altLang="en-US" dirty="0"/>
              <a:t>时间复杂度分析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85775" y="1135063"/>
                <a:ext cx="4368858" cy="5345112"/>
              </a:xfrm>
              <a:ln>
                <a:solidFill>
                  <a:srgbClr val="000000"/>
                </a:solidFill>
              </a:ln>
            </p:spPr>
            <p:txBody>
              <a:bodyPr/>
              <a:lstStyle/>
              <a:p>
                <a:pPr marL="342900" indent="-342900">
                  <a:lnSpc>
                    <a:spcPct val="100000"/>
                  </a:lnSpc>
                  <a:spcBef>
                    <a:spcPts val="1200"/>
                  </a:spcBef>
                  <a:buFont typeface="Wingdings" panose="05000000000000000000" pitchFamily="2" charset="2"/>
                  <a:buChar char="l"/>
                </a:pPr>
                <a:r>
                  <a:rPr lang="zh-CN" altLang="en-US" sz="1600" dirty="0" smtClean="0"/>
                  <a:t>对于内层循环</a:t>
                </a:r>
                <a:r>
                  <a:rPr lang="en-US" altLang="zh-CN" sz="1600" dirty="0"/>
                  <a:t>(</a:t>
                </a:r>
                <a:r>
                  <a:rPr lang="en-US" altLang="zh-CN" sz="1600" dirty="0" err="1">
                    <a:solidFill>
                      <a:srgbClr val="0303DF"/>
                    </a:solidFill>
                  </a:rPr>
                  <a:t>i</a:t>
                </a:r>
                <a:r>
                  <a:rPr lang="zh-CN" altLang="en-US" sz="1600" dirty="0">
                    <a:solidFill>
                      <a:srgbClr val="0303DF"/>
                    </a:solidFill>
                  </a:rPr>
                  <a:t>循环</a:t>
                </a:r>
                <a:r>
                  <a:rPr lang="en-US" altLang="zh-CN" sz="1600" dirty="0" smtClean="0"/>
                  <a:t>)</a:t>
                </a:r>
                <a:r>
                  <a:rPr lang="zh-CN" altLang="en-US" sz="1600" dirty="0" smtClean="0"/>
                  <a:t>，每</a:t>
                </a:r>
                <a:r>
                  <a:rPr lang="zh-CN" altLang="en-US" sz="1600" dirty="0"/>
                  <a:t>执行一次循环，</a:t>
                </a:r>
                <a:r>
                  <a:rPr lang="zh-CN" altLang="en-US" sz="1600" b="1" dirty="0">
                    <a:solidFill>
                      <a:srgbClr val="7030A0"/>
                    </a:solidFill>
                  </a:rPr>
                  <a:t>循环体耗费时间为</a:t>
                </a:r>
                <a:r>
                  <a:rPr lang="en-US" altLang="zh-CN" sz="1600" b="1" dirty="0">
                    <a:solidFill>
                      <a:srgbClr val="C00000"/>
                    </a:solidFill>
                  </a:rPr>
                  <a:t>O(1)</a:t>
                </a:r>
                <a:r>
                  <a:rPr lang="zh-CN" altLang="en-US" sz="1600" dirty="0"/>
                  <a:t>，</a:t>
                </a:r>
                <a:r>
                  <a:rPr lang="zh-CN" altLang="en-US" sz="1600" dirty="0">
                    <a:solidFill>
                      <a:srgbClr val="0303DF"/>
                    </a:solidFill>
                  </a:rPr>
                  <a:t>循环次数是</a:t>
                </a:r>
                <a:r>
                  <a:rPr lang="en-US" altLang="zh-CN" sz="1600" dirty="0">
                    <a:solidFill>
                      <a:srgbClr val="C00000"/>
                    </a:solidFill>
                  </a:rPr>
                  <a:t>(</a:t>
                </a:r>
                <a:r>
                  <a:rPr lang="en-US" altLang="zh-CN" sz="1600" dirty="0" smtClean="0">
                    <a:solidFill>
                      <a:srgbClr val="C00000"/>
                    </a:solidFill>
                  </a:rPr>
                  <a:t>n-j-2)</a:t>
                </a:r>
                <a:r>
                  <a:rPr lang="zh-CN" altLang="en-US" sz="1600" dirty="0">
                    <a:solidFill>
                      <a:srgbClr val="0303DF"/>
                    </a:solidFill>
                  </a:rPr>
                  <a:t>，</a:t>
                </a:r>
                <a:r>
                  <a:rPr lang="zh-CN" altLang="en-US" sz="1600" dirty="0"/>
                  <a:t>因此</a:t>
                </a:r>
                <a:r>
                  <a:rPr lang="zh-CN" altLang="en-US" sz="1600" b="1" dirty="0">
                    <a:solidFill>
                      <a:srgbClr val="C00000"/>
                    </a:solidFill>
                  </a:rPr>
                  <a:t>内层循环语句所耗时间为</a:t>
                </a:r>
                <a:r>
                  <a:rPr lang="en-US" altLang="zh-CN" sz="1600" b="1" dirty="0" smtClean="0">
                    <a:solidFill>
                      <a:srgbClr val="FF0000"/>
                    </a:solidFill>
                  </a:rPr>
                  <a:t>O(n-j-2)</a:t>
                </a:r>
                <a:r>
                  <a:rPr lang="zh-CN" altLang="en-US" sz="1600" b="1" dirty="0"/>
                  <a:t>；</a:t>
                </a:r>
                <a:endParaRPr lang="en-US" altLang="zh-CN" sz="1600" b="1" dirty="0"/>
              </a:p>
              <a:p>
                <a:pPr marL="342900" indent="-342900">
                  <a:lnSpc>
                    <a:spcPct val="100000"/>
                  </a:lnSpc>
                  <a:spcBef>
                    <a:spcPts val="1200"/>
                  </a:spcBef>
                  <a:buFont typeface="Wingdings" panose="05000000000000000000" pitchFamily="2" charset="2"/>
                  <a:buChar char="l"/>
                </a:pPr>
                <a:r>
                  <a:rPr lang="zh-CN" altLang="en-US" sz="1600" dirty="0"/>
                  <a:t>外层循环次数是</a:t>
                </a:r>
                <a:r>
                  <a:rPr lang="en-US" altLang="zh-CN" sz="1600" dirty="0">
                    <a:solidFill>
                      <a:srgbClr val="C00000"/>
                    </a:solidFill>
                  </a:rPr>
                  <a:t>(n-1)</a:t>
                </a:r>
                <a:r>
                  <a:rPr lang="zh-CN" altLang="en-US" sz="1600" dirty="0"/>
                  <a:t>次，</a:t>
                </a:r>
                <a:r>
                  <a:rPr lang="zh-CN" altLang="en-US" sz="1600" dirty="0">
                    <a:solidFill>
                      <a:srgbClr val="C00000"/>
                    </a:solidFill>
                  </a:rPr>
                  <a:t>因此整个程序耗费时间</a:t>
                </a:r>
                <a:r>
                  <a:rPr lang="zh-CN" altLang="en-US" sz="1600" dirty="0" smtClean="0">
                    <a:solidFill>
                      <a:srgbClr val="C00000"/>
                    </a:solidFill>
                  </a:rPr>
                  <a:t>为：</a:t>
                </a:r>
                <a:endParaRPr lang="en-US" altLang="zh-CN" sz="1600" dirty="0" smtClean="0">
                  <a:solidFill>
                    <a:srgbClr val="C00000"/>
                  </a:solidFill>
                </a:endParaRPr>
              </a:p>
              <a:p>
                <a:pPr>
                  <a:lnSpc>
                    <a:spcPct val="100000"/>
                  </a:lnSpc>
                  <a:spcBef>
                    <a:spcPts val="1200"/>
                  </a:spcBef>
                  <a:buNone/>
                </a:pPr>
                <a:r>
                  <a:rPr lang="en-US" altLang="zh-CN" sz="1600" dirty="0" smtClean="0">
                    <a:solidFill>
                      <a:srgbClr val="C00000"/>
                    </a:solidFill>
                  </a:rPr>
                  <a:t>        O</a:t>
                </a:r>
                <a:r>
                  <a:rPr lang="en-US" altLang="zh-CN" sz="1600" dirty="0">
                    <a:solidFill>
                      <a:srgbClr val="C00000"/>
                    </a:solidFill>
                  </a:rPr>
                  <a:t>(</a:t>
                </a:r>
                <a14:m>
                  <m:oMath xmlns:m="http://schemas.openxmlformats.org/officeDocument/2006/math">
                    <m:nary>
                      <m:naryPr>
                        <m:chr m:val="∑"/>
                        <m:ctrlPr>
                          <a:rPr lang="en-US" altLang="zh-CN" sz="1600" i="1" smtClean="0">
                            <a:solidFill>
                              <a:srgbClr val="C00000"/>
                            </a:solidFill>
                            <a:latin typeface="Cambria Math" panose="02040503050406030204" pitchFamily="18" charset="0"/>
                          </a:rPr>
                        </m:ctrlPr>
                      </m:naryPr>
                      <m:sub>
                        <m:r>
                          <a:rPr lang="en-US" altLang="zh-CN" sz="1600" b="0" i="1" smtClean="0">
                            <a:solidFill>
                              <a:srgbClr val="C00000"/>
                            </a:solidFill>
                            <a:latin typeface="Cambria Math" panose="02040503050406030204" pitchFamily="18" charset="0"/>
                          </a:rPr>
                          <m:t>𝑗</m:t>
                        </m:r>
                        <m:r>
                          <a:rPr lang="en-US" altLang="zh-CN" sz="1600" b="0" i="1" smtClean="0">
                            <a:solidFill>
                              <a:srgbClr val="C00000"/>
                            </a:solidFill>
                            <a:latin typeface="Cambria Math" panose="02040503050406030204" pitchFamily="18" charset="0"/>
                          </a:rPr>
                          <m:t>=1</m:t>
                        </m:r>
                      </m:sub>
                      <m:sup>
                        <m:r>
                          <a:rPr lang="en-US" altLang="zh-CN" sz="1600" b="0" i="1" smtClean="0">
                            <a:solidFill>
                              <a:srgbClr val="C00000"/>
                            </a:solidFill>
                            <a:latin typeface="Cambria Math" panose="02040503050406030204" pitchFamily="18" charset="0"/>
                          </a:rPr>
                          <m:t>𝑛</m:t>
                        </m:r>
                        <m:r>
                          <a:rPr lang="en-US" altLang="zh-CN" sz="1600" b="0" i="1" smtClean="0">
                            <a:solidFill>
                              <a:srgbClr val="C00000"/>
                            </a:solidFill>
                            <a:latin typeface="Cambria Math" panose="02040503050406030204" pitchFamily="18" charset="0"/>
                          </a:rPr>
                          <m:t>−1</m:t>
                        </m:r>
                      </m:sup>
                      <m:e>
                        <m:r>
                          <a:rPr lang="en-US" altLang="zh-CN" sz="1600" b="0" i="1" smtClean="0">
                            <a:solidFill>
                              <a:srgbClr val="C00000"/>
                            </a:solidFill>
                            <a:latin typeface="Cambria Math" panose="02040503050406030204" pitchFamily="18" charset="0"/>
                          </a:rPr>
                          <m:t>(</m:t>
                        </m:r>
                        <m:r>
                          <a:rPr lang="en-US" altLang="zh-CN" sz="1600" b="0" i="1" smtClean="0">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r>
                          <a:rPr lang="en-US" altLang="zh-CN" sz="1600" b="0" i="1" smtClean="0">
                            <a:solidFill>
                              <a:srgbClr val="C00000"/>
                            </a:solidFill>
                            <a:latin typeface="Cambria Math" panose="02040503050406030204" pitchFamily="18" charset="0"/>
                          </a:rPr>
                          <m:t>𝑗</m:t>
                        </m:r>
                        <m:r>
                          <a:rPr lang="en-US" altLang="zh-CN" sz="1600" i="1">
                            <a:solidFill>
                              <a:srgbClr val="C00000"/>
                            </a:solidFill>
                            <a:latin typeface="Cambria Math" panose="02040503050406030204" pitchFamily="18" charset="0"/>
                          </a:rPr>
                          <m:t>−</m:t>
                        </m:r>
                        <m:r>
                          <a:rPr lang="en-US" altLang="zh-CN" sz="1600" b="0" i="1" smtClean="0">
                            <a:solidFill>
                              <a:srgbClr val="C00000"/>
                            </a:solidFill>
                            <a:latin typeface="Cambria Math" panose="02040503050406030204" pitchFamily="18" charset="0"/>
                          </a:rPr>
                          <m:t>2</m:t>
                        </m:r>
                      </m:e>
                    </m:nary>
                  </m:oMath>
                </a14:m>
                <a:r>
                  <a:rPr lang="en-US" altLang="zh-CN" sz="1600" dirty="0">
                    <a:solidFill>
                      <a:srgbClr val="C00000"/>
                    </a:solidFill>
                  </a:rPr>
                  <a:t>)) </a:t>
                </a:r>
                <a:endParaRPr lang="en-US" altLang="zh-CN" sz="1600" dirty="0" smtClean="0">
                  <a:solidFill>
                    <a:srgbClr val="C00000"/>
                  </a:solidFill>
                </a:endParaRPr>
              </a:p>
              <a:p>
                <a:pPr>
                  <a:lnSpc>
                    <a:spcPct val="100000"/>
                  </a:lnSpc>
                  <a:spcBef>
                    <a:spcPts val="1200"/>
                  </a:spcBef>
                  <a:buNone/>
                </a:pPr>
                <a:r>
                  <a:rPr lang="en-US" altLang="zh-CN" sz="1600" dirty="0">
                    <a:solidFill>
                      <a:srgbClr val="C00000"/>
                    </a:solidFill>
                  </a:rPr>
                  <a:t> </a:t>
                </a:r>
                <a:r>
                  <a:rPr lang="en-US" altLang="zh-CN" sz="1600" dirty="0" smtClean="0">
                    <a:solidFill>
                      <a:srgbClr val="C00000"/>
                    </a:solidFill>
                  </a:rPr>
                  <a:t>         = </a:t>
                </a:r>
                <a:r>
                  <a:rPr lang="en-US" altLang="zh-CN" sz="1600" dirty="0">
                    <a:solidFill>
                      <a:srgbClr val="C00000"/>
                    </a:solidFill>
                  </a:rPr>
                  <a:t>O</a:t>
                </a:r>
                <a:r>
                  <a:rPr lang="en-US" altLang="zh-CN" sz="1600" dirty="0" smtClean="0">
                    <a:solidFill>
                      <a:srgbClr val="C00000"/>
                    </a:solidFill>
                  </a:rPr>
                  <a:t>(</a:t>
                </a:r>
                <a14:m>
                  <m:oMath xmlns:m="http://schemas.openxmlformats.org/officeDocument/2006/math">
                    <m:r>
                      <a:rPr lang="en-US" altLang="zh-CN" sz="1600" i="1">
                        <a:solidFill>
                          <a:srgbClr val="C00000"/>
                        </a:solidFill>
                        <a:latin typeface="Cambria Math" panose="02040503050406030204" pitchFamily="18" charset="0"/>
                      </a:rPr>
                      <m:t>1+2+…+</m:t>
                    </m:r>
                    <m:r>
                      <a:rPr lang="en-US" altLang="zh-CN" sz="1600" b="0" i="1" smtClean="0">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b="0" i="1" smtClean="0">
                        <a:solidFill>
                          <a:srgbClr val="C00000"/>
                        </a:solidFill>
                        <a:latin typeface="Cambria Math" panose="02040503050406030204" pitchFamily="18" charset="0"/>
                      </a:rPr>
                      <m:t>−1)</m:t>
                    </m:r>
                  </m:oMath>
                </a14:m>
                <a:r>
                  <a:rPr lang="en-US" altLang="zh-CN" sz="1600" dirty="0" smtClean="0">
                    <a:solidFill>
                      <a:srgbClr val="C00000"/>
                    </a:solidFill>
                  </a:rPr>
                  <a:t>) </a:t>
                </a:r>
                <a14:m>
                  <m:oMath xmlns:m="http://schemas.openxmlformats.org/officeDocument/2006/math">
                    <m:r>
                      <a:rPr lang="en-US" altLang="zh-CN" sz="1600" b="0" i="0" smtClean="0">
                        <a:solidFill>
                          <a:srgbClr val="C00000"/>
                        </a:solidFill>
                        <a:latin typeface="Cambria Math" panose="02040503050406030204" pitchFamily="18" charset="0"/>
                        <a:ea typeface="Cambria Math" panose="02040503050406030204" pitchFamily="18" charset="0"/>
                      </a:rPr>
                      <m:t>           </m:t>
                    </m:r>
                    <m:r>
                      <a:rPr lang="en-US" altLang="zh-CN" sz="1600" b="0" i="1" smtClean="0">
                        <a:solidFill>
                          <a:srgbClr val="C00000"/>
                        </a:solidFill>
                        <a:latin typeface="Cambria Math" panose="02040503050406030204" pitchFamily="18" charset="0"/>
                        <a:ea typeface="Cambria Math" panose="02040503050406030204" pitchFamily="18" charset="0"/>
                      </a:rPr>
                      <m:t>=</m:t>
                    </m:r>
                  </m:oMath>
                </a14:m>
                <a:r>
                  <a:rPr lang="en-US" altLang="zh-CN" sz="1600" dirty="0" smtClean="0">
                    <a:solidFill>
                      <a:srgbClr val="C00000"/>
                    </a:solidFill>
                  </a:rPr>
                  <a:t>O</a:t>
                </a:r>
                <a:r>
                  <a:rPr lang="en-US" altLang="zh-CN" sz="1600" dirty="0">
                    <a:solidFill>
                      <a:srgbClr val="C00000"/>
                    </a:solidFill>
                  </a:rPr>
                  <a:t>(</a:t>
                </a:r>
                <a14:m>
                  <m:oMath xmlns:m="http://schemas.openxmlformats.org/officeDocument/2006/math">
                    <m:f>
                      <m:fPr>
                        <m:ctrlPr>
                          <a:rPr lang="en-US" altLang="zh-CN" sz="1600" i="1" smtClean="0">
                            <a:solidFill>
                              <a:srgbClr val="C00000"/>
                            </a:solidFill>
                            <a:latin typeface="Cambria Math" panose="02040503050406030204" pitchFamily="18" charset="0"/>
                          </a:rPr>
                        </m:ctrlPr>
                      </m:fPr>
                      <m:num>
                        <m:r>
                          <a:rPr lang="en-US" altLang="zh-CN" sz="1600" b="0" i="1" smtClean="0">
                            <a:solidFill>
                              <a:srgbClr val="C00000"/>
                            </a:solidFill>
                            <a:latin typeface="Cambria Math" panose="02040503050406030204" pitchFamily="18" charset="0"/>
                          </a:rPr>
                          <m:t>𝑛</m:t>
                        </m:r>
                        <m:r>
                          <a:rPr lang="en-US" altLang="zh-CN" sz="1600" b="0" i="1" smtClean="0">
                            <a:solidFill>
                              <a:srgbClr val="C00000"/>
                            </a:solidFill>
                            <a:latin typeface="Cambria Math" panose="02040503050406030204" pitchFamily="18" charset="0"/>
                          </a:rPr>
                          <m:t>(</m:t>
                        </m:r>
                        <m:r>
                          <a:rPr lang="en-US" altLang="zh-CN" sz="1600" b="0" i="1" smtClean="0">
                            <a:solidFill>
                              <a:srgbClr val="C00000"/>
                            </a:solidFill>
                            <a:latin typeface="Cambria Math" panose="02040503050406030204" pitchFamily="18" charset="0"/>
                          </a:rPr>
                          <m:t>𝑛</m:t>
                        </m:r>
                        <m:r>
                          <a:rPr lang="en-US" altLang="zh-CN" sz="1600" b="0" i="1" smtClean="0">
                            <a:solidFill>
                              <a:srgbClr val="C00000"/>
                            </a:solidFill>
                            <a:latin typeface="Cambria Math" panose="02040503050406030204" pitchFamily="18" charset="0"/>
                          </a:rPr>
                          <m:t>−1)</m:t>
                        </m:r>
                      </m:num>
                      <m:den>
                        <m:r>
                          <a:rPr lang="en-US" altLang="zh-CN" sz="1600" b="0" i="1" smtClean="0">
                            <a:solidFill>
                              <a:srgbClr val="C00000"/>
                            </a:solidFill>
                            <a:latin typeface="Cambria Math" panose="02040503050406030204" pitchFamily="18" charset="0"/>
                          </a:rPr>
                          <m:t>2</m:t>
                        </m:r>
                      </m:den>
                    </m:f>
                  </m:oMath>
                </a14:m>
                <a:r>
                  <a:rPr lang="en-US" altLang="zh-CN" sz="1600" dirty="0">
                    <a:solidFill>
                      <a:srgbClr val="C00000"/>
                    </a:solidFill>
                  </a:rPr>
                  <a:t>)=O(n</a:t>
                </a:r>
                <a:r>
                  <a:rPr lang="en-US" altLang="zh-CN" sz="1600" baseline="30000" dirty="0">
                    <a:solidFill>
                      <a:srgbClr val="C00000"/>
                    </a:solidFill>
                  </a:rPr>
                  <a:t>2</a:t>
                </a:r>
                <a:r>
                  <a:rPr lang="en-US" altLang="zh-CN" sz="1600" dirty="0">
                    <a:solidFill>
                      <a:srgbClr val="C00000"/>
                    </a:solidFill>
                  </a:rPr>
                  <a:t>)</a:t>
                </a:r>
              </a:p>
              <a:p>
                <a:pPr marL="342900" indent="-342900">
                  <a:lnSpc>
                    <a:spcPct val="100000"/>
                  </a:lnSpc>
                  <a:spcBef>
                    <a:spcPts val="1200"/>
                  </a:spcBef>
                  <a:buFont typeface="Wingdings" panose="05000000000000000000" pitchFamily="2" charset="2"/>
                  <a:buChar char="l"/>
                </a:pPr>
                <a:endParaRPr lang="en-US" altLang="zh-CN" sz="1600" dirty="0"/>
              </a:p>
              <a:p>
                <a:pPr marL="342900" indent="-342900">
                  <a:lnSpc>
                    <a:spcPct val="100000"/>
                  </a:lnSpc>
                  <a:spcBef>
                    <a:spcPts val="1200"/>
                  </a:spcBef>
                  <a:buFont typeface="Wingdings" panose="05000000000000000000" pitchFamily="2" charset="2"/>
                  <a:buChar char="l"/>
                </a:pPr>
                <a:r>
                  <a:rPr lang="zh-CN" altLang="en-US" sz="1600" dirty="0"/>
                  <a:t>最好情况是当数据已经</a:t>
                </a:r>
                <a:r>
                  <a:rPr lang="zh-CN" altLang="en-US" sz="1600" dirty="0">
                    <a:solidFill>
                      <a:srgbClr val="006600"/>
                    </a:solidFill>
                  </a:rPr>
                  <a:t>升序排列</a:t>
                </a:r>
                <a:r>
                  <a:rPr lang="zh-CN" altLang="en-US" sz="1600" dirty="0"/>
                  <a:t>，时间复杂度</a:t>
                </a:r>
                <a:r>
                  <a:rPr lang="en-US" altLang="zh-CN" sz="1600" dirty="0"/>
                  <a:t>O(1)</a:t>
                </a:r>
                <a:r>
                  <a:rPr lang="zh-CN" altLang="en-US" sz="1600" dirty="0"/>
                  <a:t>；</a:t>
                </a:r>
                <a:endParaRPr lang="en-US" altLang="zh-CN" sz="1600" dirty="0"/>
              </a:p>
              <a:p>
                <a:pPr marL="342900" indent="-342900">
                  <a:lnSpc>
                    <a:spcPct val="100000"/>
                  </a:lnSpc>
                  <a:spcBef>
                    <a:spcPts val="1200"/>
                  </a:spcBef>
                  <a:buFont typeface="Wingdings" panose="05000000000000000000" pitchFamily="2" charset="2"/>
                  <a:buChar char="l"/>
                </a:pPr>
                <a:r>
                  <a:rPr lang="zh-CN" altLang="en-US" sz="1600" dirty="0"/>
                  <a:t>最坏情况是当数据已经</a:t>
                </a:r>
                <a:r>
                  <a:rPr lang="zh-CN" altLang="en-US" sz="1600" dirty="0">
                    <a:solidFill>
                      <a:srgbClr val="006600"/>
                    </a:solidFill>
                  </a:rPr>
                  <a:t>降序排列</a:t>
                </a:r>
                <a:r>
                  <a:rPr lang="zh-CN" altLang="en-US" sz="1600" dirty="0"/>
                  <a:t>，时间复杂度</a:t>
                </a:r>
                <a:r>
                  <a:rPr lang="en-US" altLang="zh-CN" sz="1600" dirty="0"/>
                  <a:t>O(n</a:t>
                </a:r>
                <a:r>
                  <a:rPr lang="en-US" altLang="zh-CN" sz="1600" baseline="30000" dirty="0"/>
                  <a:t>2</a:t>
                </a:r>
                <a:r>
                  <a:rPr lang="en-US" altLang="zh-CN" sz="1600" dirty="0"/>
                  <a:t>)</a:t>
                </a:r>
                <a:r>
                  <a:rPr lang="zh-CN" altLang="en-US" sz="1600"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85775" y="1135063"/>
                <a:ext cx="4368858" cy="5345112"/>
              </a:xfrm>
              <a:blipFill>
                <a:blip r:embed="rId2"/>
                <a:stretch>
                  <a:fillRect t="-341" r="-4039"/>
                </a:stretch>
              </a:blipFill>
              <a:ln>
                <a:solidFill>
                  <a:srgbClr val="000000"/>
                </a:solidFill>
              </a:ln>
            </p:spPr>
            <p:txBody>
              <a:bodyPr/>
              <a:lstStyle/>
              <a:p>
                <a:r>
                  <a:rPr lang="zh-CN" altLang="en-US">
                    <a:noFill/>
                  </a:rPr>
                  <a:t> </a:t>
                </a:r>
              </a:p>
            </p:txBody>
          </p:sp>
        </mc:Fallback>
      </mc:AlternateContent>
      <p:sp>
        <p:nvSpPr>
          <p:cNvPr id="5" name="内容占位符 2"/>
          <p:cNvSpPr txBox="1">
            <a:spLocks/>
          </p:cNvSpPr>
          <p:nvPr/>
        </p:nvSpPr>
        <p:spPr bwMode="auto">
          <a:xfrm>
            <a:off x="4971278" y="1135063"/>
            <a:ext cx="3604397" cy="5240799"/>
          </a:xfrm>
          <a:prstGeom prst="rect">
            <a:avLst/>
          </a:prstGeom>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chemeClr val="dk1"/>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chemeClr val="dk1"/>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chemeClr val="dk1"/>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chemeClr val="dk1"/>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chemeClr val="dk1"/>
                </a:solidFill>
                <a:latin typeface="+mn-lt"/>
                <a:ea typeface="+mn-ea"/>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spcBef>
                <a:spcPts val="0"/>
              </a:spcBef>
              <a:buNone/>
            </a:pPr>
            <a:r>
              <a:rPr lang="en-US" altLang="zh-CN" sz="1600" dirty="0" smtClean="0">
                <a:solidFill>
                  <a:srgbClr val="7030A0"/>
                </a:solidFill>
              </a:rPr>
              <a:t>//</a:t>
            </a:r>
            <a:r>
              <a:rPr lang="zh-CN" altLang="en-US" sz="1600" dirty="0" smtClean="0">
                <a:solidFill>
                  <a:srgbClr val="7030A0"/>
                </a:solidFill>
              </a:rPr>
              <a:t>对</a:t>
            </a:r>
            <a:r>
              <a:rPr lang="en-US" altLang="zh-CN" sz="1600" dirty="0" smtClean="0">
                <a:solidFill>
                  <a:srgbClr val="7030A0"/>
                </a:solidFill>
              </a:rPr>
              <a:t>n</a:t>
            </a:r>
            <a:r>
              <a:rPr lang="zh-CN" altLang="en-US" sz="1600" dirty="0" smtClean="0">
                <a:solidFill>
                  <a:srgbClr val="7030A0"/>
                </a:solidFill>
              </a:rPr>
              <a:t>个元素进行升序排序</a:t>
            </a:r>
            <a:endParaRPr lang="en-US" altLang="zh-CN" sz="1600" dirty="0" smtClean="0">
              <a:solidFill>
                <a:srgbClr val="7030A0"/>
              </a:solidFill>
            </a:endParaRPr>
          </a:p>
          <a:p>
            <a:pPr>
              <a:lnSpc>
                <a:spcPct val="100000"/>
              </a:lnSpc>
              <a:spcBef>
                <a:spcPts val="0"/>
              </a:spcBef>
              <a:buNone/>
            </a:pPr>
            <a:r>
              <a:rPr lang="en-US" altLang="zh-CN" sz="1600" dirty="0" smtClean="0">
                <a:solidFill>
                  <a:srgbClr val="080808"/>
                </a:solidFill>
              </a:rPr>
              <a:t>void </a:t>
            </a:r>
            <a:r>
              <a:rPr lang="en-US" altLang="zh-CN" sz="1600" dirty="0" err="1" smtClean="0">
                <a:solidFill>
                  <a:srgbClr val="080808"/>
                </a:solidFill>
              </a:rPr>
              <a:t>bubbleSort</a:t>
            </a:r>
            <a:r>
              <a:rPr lang="en-US" altLang="zh-CN" sz="1600" dirty="0" smtClean="0">
                <a:solidFill>
                  <a:srgbClr val="080808"/>
                </a:solidFill>
              </a:rPr>
              <a:t>(</a:t>
            </a:r>
            <a:r>
              <a:rPr lang="en-US" altLang="zh-CN" sz="1600" dirty="0" err="1" smtClean="0">
                <a:solidFill>
                  <a:srgbClr val="080808"/>
                </a:solidFill>
              </a:rPr>
              <a:t>int</a:t>
            </a:r>
            <a:r>
              <a:rPr lang="en-US" altLang="zh-CN" sz="1600" dirty="0" smtClean="0">
                <a:solidFill>
                  <a:srgbClr val="080808"/>
                </a:solidFill>
              </a:rPr>
              <a:t> data[],</a:t>
            </a:r>
            <a:r>
              <a:rPr lang="en-US" altLang="zh-CN" sz="1600" dirty="0" err="1" smtClean="0">
                <a:solidFill>
                  <a:srgbClr val="080808"/>
                </a:solidFill>
              </a:rPr>
              <a:t>int</a:t>
            </a:r>
            <a:r>
              <a:rPr lang="en-US" altLang="zh-CN" sz="1600" dirty="0" smtClean="0">
                <a:solidFill>
                  <a:srgbClr val="080808"/>
                </a:solidFill>
              </a:rPr>
              <a:t> n) </a:t>
            </a:r>
          </a:p>
          <a:p>
            <a:pPr>
              <a:lnSpc>
                <a:spcPct val="100000"/>
              </a:lnSpc>
              <a:spcBef>
                <a:spcPts val="0"/>
              </a:spcBef>
              <a:buNone/>
            </a:pPr>
            <a:r>
              <a:rPr lang="en-US" altLang="zh-CN" sz="1600" dirty="0" smtClean="0">
                <a:solidFill>
                  <a:srgbClr val="080808"/>
                </a:solidFill>
              </a:rPr>
              <a:t>{</a:t>
            </a:r>
          </a:p>
          <a:p>
            <a:pPr>
              <a:lnSpc>
                <a:spcPct val="100000"/>
              </a:lnSpc>
              <a:spcBef>
                <a:spcPts val="0"/>
              </a:spcBef>
              <a:buNone/>
            </a:pPr>
            <a:r>
              <a:rPr lang="en-US" altLang="zh-CN" sz="1600" dirty="0" smtClean="0">
                <a:solidFill>
                  <a:srgbClr val="080808"/>
                </a:solidFill>
              </a:rPr>
              <a:t>    for (</a:t>
            </a:r>
            <a:r>
              <a:rPr lang="en-US" altLang="zh-CN" sz="1600" dirty="0" err="1" smtClean="0">
                <a:solidFill>
                  <a:srgbClr val="080808"/>
                </a:solidFill>
              </a:rPr>
              <a:t>int</a:t>
            </a:r>
            <a:r>
              <a:rPr lang="en-US" altLang="zh-CN" sz="1600" dirty="0" smtClean="0">
                <a:solidFill>
                  <a:srgbClr val="080808"/>
                </a:solidFill>
              </a:rPr>
              <a:t> j=0;j&lt;=</a:t>
            </a:r>
            <a:r>
              <a:rPr lang="en-US" altLang="zh-CN" sz="1600" dirty="0" smtClean="0">
                <a:solidFill>
                  <a:srgbClr val="0303DF"/>
                </a:solidFill>
              </a:rPr>
              <a:t>n-1</a:t>
            </a:r>
            <a:r>
              <a:rPr lang="en-US" altLang="zh-CN" sz="1600" dirty="0" smtClean="0">
                <a:solidFill>
                  <a:srgbClr val="080808"/>
                </a:solidFill>
              </a:rPr>
              <a:t>;j++)</a:t>
            </a:r>
          </a:p>
          <a:p>
            <a:pPr>
              <a:lnSpc>
                <a:spcPct val="100000"/>
              </a:lnSpc>
              <a:spcBef>
                <a:spcPts val="0"/>
              </a:spcBef>
              <a:buNone/>
            </a:pPr>
            <a:r>
              <a:rPr lang="en-US" altLang="zh-CN" sz="1600" dirty="0" smtClean="0">
                <a:solidFill>
                  <a:srgbClr val="080808"/>
                </a:solidFill>
              </a:rPr>
              <a:t>	for (</a:t>
            </a:r>
            <a:r>
              <a:rPr lang="en-US" altLang="zh-CN" sz="1600" dirty="0" err="1" smtClean="0">
                <a:solidFill>
                  <a:srgbClr val="080808"/>
                </a:solidFill>
              </a:rPr>
              <a:t>int</a:t>
            </a:r>
            <a:r>
              <a:rPr lang="en-US" altLang="zh-CN" sz="1600" dirty="0" smtClean="0">
                <a:solidFill>
                  <a:srgbClr val="080808"/>
                </a:solidFill>
              </a:rPr>
              <a:t> </a:t>
            </a:r>
            <a:r>
              <a:rPr lang="en-US" altLang="zh-CN" sz="1600" dirty="0" err="1" smtClean="0">
                <a:solidFill>
                  <a:srgbClr val="080808"/>
                </a:solidFill>
              </a:rPr>
              <a:t>i</a:t>
            </a:r>
            <a:r>
              <a:rPr lang="en-US" altLang="zh-CN" sz="1600" dirty="0" smtClean="0">
                <a:solidFill>
                  <a:srgbClr val="080808"/>
                </a:solidFill>
              </a:rPr>
              <a:t>=0;i&lt;=</a:t>
            </a:r>
            <a:r>
              <a:rPr lang="en-US" altLang="zh-CN" sz="1600" dirty="0" smtClean="0">
                <a:solidFill>
                  <a:srgbClr val="0303DF"/>
                </a:solidFill>
              </a:rPr>
              <a:t>n-j-2</a:t>
            </a:r>
            <a:r>
              <a:rPr lang="en-US" altLang="zh-CN" sz="1600" dirty="0" smtClean="0">
                <a:solidFill>
                  <a:srgbClr val="080808"/>
                </a:solidFill>
              </a:rPr>
              <a:t>;i++)</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if (data[</a:t>
            </a:r>
            <a:r>
              <a:rPr lang="en-US" altLang="zh-CN" sz="1600" dirty="0" err="1" smtClean="0">
                <a:solidFill>
                  <a:srgbClr val="080808"/>
                </a:solidFill>
              </a:rPr>
              <a:t>i</a:t>
            </a:r>
            <a:r>
              <a:rPr lang="en-US" altLang="zh-CN" sz="1600" dirty="0" smtClean="0">
                <a:solidFill>
                  <a:srgbClr val="080808"/>
                </a:solidFill>
              </a:rPr>
              <a:t>]&gt;data[i+1])</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a:t>
            </a:r>
            <a:r>
              <a:rPr lang="en-US" altLang="zh-CN" sz="1600" dirty="0" err="1" smtClean="0">
                <a:solidFill>
                  <a:srgbClr val="080808"/>
                </a:solidFill>
              </a:rPr>
              <a:t>int</a:t>
            </a:r>
            <a:r>
              <a:rPr lang="en-US" altLang="zh-CN" sz="1600" dirty="0" smtClean="0">
                <a:solidFill>
                  <a:srgbClr val="080808"/>
                </a:solidFill>
              </a:rPr>
              <a:t> t=data[</a:t>
            </a:r>
            <a:r>
              <a:rPr lang="en-US" altLang="zh-CN" sz="1600" dirty="0" err="1" smtClean="0">
                <a:solidFill>
                  <a:srgbClr val="080808"/>
                </a:solidFill>
              </a:rPr>
              <a:t>i</a:t>
            </a:r>
            <a:r>
              <a:rPr lang="en-US" altLang="zh-CN" sz="1600" dirty="0" smtClean="0">
                <a:solidFill>
                  <a:srgbClr val="080808"/>
                </a:solidFill>
              </a:rPr>
              <a:t>];</a:t>
            </a:r>
          </a:p>
          <a:p>
            <a:pPr>
              <a:lnSpc>
                <a:spcPct val="100000"/>
              </a:lnSpc>
              <a:spcBef>
                <a:spcPts val="0"/>
              </a:spcBef>
              <a:buNone/>
            </a:pPr>
            <a:r>
              <a:rPr lang="en-US" altLang="zh-CN" sz="1600" dirty="0" smtClean="0">
                <a:solidFill>
                  <a:srgbClr val="080808"/>
                </a:solidFill>
              </a:rPr>
              <a:t>	   	data[</a:t>
            </a:r>
            <a:r>
              <a:rPr lang="en-US" altLang="zh-CN" sz="1600" dirty="0" err="1" smtClean="0">
                <a:solidFill>
                  <a:srgbClr val="080808"/>
                </a:solidFill>
              </a:rPr>
              <a:t>i</a:t>
            </a:r>
            <a:r>
              <a:rPr lang="en-US" altLang="zh-CN" sz="1600" dirty="0" smtClean="0">
                <a:solidFill>
                  <a:srgbClr val="080808"/>
                </a:solidFill>
              </a:rPr>
              <a:t>]=data[i+1];</a:t>
            </a:r>
          </a:p>
          <a:p>
            <a:pPr>
              <a:lnSpc>
                <a:spcPct val="100000"/>
              </a:lnSpc>
              <a:spcBef>
                <a:spcPts val="0"/>
              </a:spcBef>
              <a:buNone/>
            </a:pPr>
            <a:r>
              <a:rPr lang="en-US" altLang="zh-CN" sz="1600" dirty="0" smtClean="0">
                <a:solidFill>
                  <a:srgbClr val="080808"/>
                </a:solidFill>
              </a:rPr>
              <a:t>	   	data[i+1]=t;</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	 }</a:t>
            </a:r>
          </a:p>
          <a:p>
            <a:pPr>
              <a:lnSpc>
                <a:spcPct val="100000"/>
              </a:lnSpc>
              <a:spcBef>
                <a:spcPts val="0"/>
              </a:spcBef>
              <a:buNone/>
            </a:pPr>
            <a:r>
              <a:rPr lang="en-US" altLang="zh-CN" sz="1600" dirty="0" smtClean="0">
                <a:solidFill>
                  <a:srgbClr val="080808"/>
                </a:solidFill>
              </a:rPr>
              <a:t>}</a:t>
            </a:r>
            <a:endParaRPr lang="zh-CN" altLang="en-US" sz="1600" dirty="0">
              <a:solidFill>
                <a:srgbClr val="080808"/>
              </a:solidFill>
            </a:endParaRPr>
          </a:p>
        </p:txBody>
      </p:sp>
    </p:spTree>
    <p:extLst>
      <p:ext uri="{BB962C8B-B14F-4D97-AF65-F5344CB8AC3E}">
        <p14:creationId xmlns:p14="http://schemas.microsoft.com/office/powerpoint/2010/main" val="11601013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a:t>归并排序</a:t>
            </a:r>
          </a:p>
        </p:txBody>
      </p:sp>
      <p:sp>
        <p:nvSpPr>
          <p:cNvPr id="3" name="内容占位符 2"/>
          <p:cNvSpPr>
            <a:spLocks noGrp="1"/>
          </p:cNvSpPr>
          <p:nvPr>
            <p:ph idx="1"/>
          </p:nvPr>
        </p:nvSpPr>
        <p:spPr>
          <a:xfrm>
            <a:off x="485775" y="1135063"/>
            <a:ext cx="8275840" cy="5345112"/>
          </a:xfrm>
        </p:spPr>
        <p:txBody>
          <a:bodyPr/>
          <a:lstStyle/>
          <a:p>
            <a:pPr marL="342900" indent="-342900">
              <a:buFont typeface="Wingdings" panose="05000000000000000000" pitchFamily="2" charset="2"/>
              <a:buChar char="l"/>
            </a:pPr>
            <a:r>
              <a:rPr lang="zh-CN" altLang="en-US" sz="2000" dirty="0" smtClean="0"/>
              <a:t>如果有两组数据，</a:t>
            </a:r>
            <a:r>
              <a:rPr lang="zh-CN" altLang="en-US" sz="2000" dirty="0" smtClean="0">
                <a:solidFill>
                  <a:srgbClr val="030DCD"/>
                </a:solidFill>
              </a:rPr>
              <a:t>已经按升序排列</a:t>
            </a:r>
            <a:r>
              <a:rPr lang="zh-CN" altLang="en-US" sz="2000" dirty="0" smtClean="0"/>
              <a:t>；</a:t>
            </a:r>
            <a:endParaRPr lang="en-US" altLang="zh-CN" sz="2000" dirty="0" smtClean="0"/>
          </a:p>
          <a:p>
            <a:pPr marL="342900" indent="-342900">
              <a:buFont typeface="Wingdings" panose="05000000000000000000" pitchFamily="2" charset="2"/>
              <a:buChar char="l"/>
            </a:pPr>
            <a:r>
              <a:rPr lang="zh-CN" altLang="en-US" sz="2000" dirty="0" smtClean="0"/>
              <a:t>如果将这</a:t>
            </a:r>
            <a:r>
              <a:rPr lang="zh-CN" altLang="en-US" sz="2000" dirty="0" smtClean="0">
                <a:solidFill>
                  <a:srgbClr val="030DCD"/>
                </a:solidFill>
              </a:rPr>
              <a:t>两组数据组合</a:t>
            </a:r>
            <a:r>
              <a:rPr lang="zh-CN" altLang="en-US" sz="2000" dirty="0" smtClean="0"/>
              <a:t>在一起，仍然按照升序排列；</a:t>
            </a:r>
            <a:endParaRPr lang="en-US" altLang="zh-CN" sz="2000" dirty="0" smtClean="0"/>
          </a:p>
          <a:p>
            <a:pPr marL="342900" indent="-342900">
              <a:buFont typeface="Wingdings" panose="05000000000000000000" pitchFamily="2" charset="2"/>
              <a:buChar char="l"/>
            </a:pPr>
            <a:r>
              <a:rPr lang="zh-CN" altLang="en-US" sz="2000" dirty="0" smtClean="0"/>
              <a:t>假设</a:t>
            </a:r>
            <a:r>
              <a:rPr lang="zh-CN" altLang="en-US" sz="2000" dirty="0" smtClean="0">
                <a:solidFill>
                  <a:srgbClr val="030DCD"/>
                </a:solidFill>
              </a:rPr>
              <a:t>每组数据的个数是</a:t>
            </a:r>
            <a:r>
              <a:rPr lang="en-US" altLang="zh-CN" sz="2000" dirty="0" smtClean="0">
                <a:solidFill>
                  <a:srgbClr val="030DCD"/>
                </a:solidFill>
              </a:rPr>
              <a:t>n</a:t>
            </a:r>
            <a:r>
              <a:rPr lang="zh-CN" altLang="en-US" sz="2000" dirty="0" smtClean="0"/>
              <a:t>；</a:t>
            </a:r>
            <a:endParaRPr lang="en-US" altLang="zh-CN" sz="2000" dirty="0" smtClean="0"/>
          </a:p>
          <a:p>
            <a:pPr marL="342900" indent="-342900">
              <a:buFont typeface="Wingdings" panose="05000000000000000000" pitchFamily="2" charset="2"/>
              <a:buChar char="l"/>
            </a:pPr>
            <a:r>
              <a:rPr lang="zh-CN" altLang="en-US" sz="2000" dirty="0" smtClean="0"/>
              <a:t>是否能在</a:t>
            </a:r>
            <a:r>
              <a:rPr lang="en-US" altLang="zh-CN" sz="2000" dirty="0" smtClean="0">
                <a:solidFill>
                  <a:srgbClr val="C00000"/>
                </a:solidFill>
              </a:rPr>
              <a:t>O(n)</a:t>
            </a:r>
            <a:r>
              <a:rPr lang="zh-CN" altLang="en-US" sz="2000" dirty="0" smtClean="0"/>
              <a:t>的时间复杂度内完成？</a:t>
            </a:r>
            <a:endParaRPr lang="en-US" altLang="zh-CN" sz="2000" dirty="0" smtClean="0"/>
          </a:p>
          <a:p>
            <a:pPr marL="342900" indent="-342900">
              <a:buFont typeface="Wingdings" panose="05000000000000000000" pitchFamily="2" charset="2"/>
              <a:buChar char="l"/>
            </a:pPr>
            <a:r>
              <a:rPr lang="zh-CN" altLang="en-US" sz="2000" dirty="0" smtClean="0">
                <a:solidFill>
                  <a:srgbClr val="7030A0"/>
                </a:solidFill>
              </a:rPr>
              <a:t>算法思想</a:t>
            </a:r>
            <a:endParaRPr lang="en-US" altLang="zh-CN" sz="2000" dirty="0" smtClean="0">
              <a:solidFill>
                <a:srgbClr val="7030A0"/>
              </a:solidFill>
            </a:endParaRPr>
          </a:p>
          <a:p>
            <a:pPr lvl="1"/>
            <a:r>
              <a:rPr lang="en-US" altLang="zh-CN" sz="1800" dirty="0" smtClean="0"/>
              <a:t>Step 1</a:t>
            </a:r>
            <a:r>
              <a:rPr lang="zh-CN" altLang="en-US" sz="1800" dirty="0" smtClean="0"/>
              <a:t>：定义合适的数据结构，表达两组数据与排序后的数据；如数组；</a:t>
            </a:r>
            <a:endParaRPr lang="zh-CN" altLang="en-US" sz="1800" dirty="0"/>
          </a:p>
          <a:p>
            <a:pPr lvl="1"/>
            <a:r>
              <a:rPr lang="en-US" altLang="zh-CN" sz="1800" dirty="0" smtClean="0"/>
              <a:t>Step 2</a:t>
            </a:r>
            <a:r>
              <a:rPr lang="zh-CN" altLang="en-US" sz="1800" dirty="0" smtClean="0"/>
              <a:t>：</a:t>
            </a:r>
            <a:r>
              <a:rPr lang="zh-CN" altLang="en-US" sz="1800" dirty="0"/>
              <a:t>设定两个</a:t>
            </a:r>
            <a:r>
              <a:rPr lang="zh-CN" altLang="en-US" sz="1800" dirty="0" smtClean="0"/>
              <a:t>指针（下标），初值分别</a:t>
            </a:r>
            <a:r>
              <a:rPr lang="zh-CN" altLang="en-US" sz="1800" dirty="0"/>
              <a:t>为两个已经排序序列的起始</a:t>
            </a:r>
            <a:r>
              <a:rPr lang="zh-CN" altLang="en-US" sz="1800" dirty="0" smtClean="0"/>
              <a:t>位置</a:t>
            </a:r>
            <a:r>
              <a:rPr lang="en-US" altLang="zh-CN" sz="1800" dirty="0" smtClean="0"/>
              <a:t>;</a:t>
            </a:r>
            <a:endParaRPr lang="zh-CN" altLang="en-US" sz="1800" dirty="0"/>
          </a:p>
          <a:p>
            <a:pPr lvl="1"/>
            <a:r>
              <a:rPr lang="en-US" altLang="zh-CN" sz="1800" dirty="0" smtClean="0"/>
              <a:t>Step 3</a:t>
            </a:r>
            <a:r>
              <a:rPr lang="zh-CN" altLang="en-US" sz="1800" dirty="0" smtClean="0"/>
              <a:t>：</a:t>
            </a:r>
            <a:r>
              <a:rPr lang="zh-CN" altLang="en-US" sz="1800" dirty="0"/>
              <a:t>比较两个</a:t>
            </a:r>
            <a:r>
              <a:rPr lang="zh-CN" altLang="en-US" sz="1800" dirty="0" smtClean="0"/>
              <a:t>指针（下标）所</a:t>
            </a:r>
            <a:r>
              <a:rPr lang="zh-CN" altLang="en-US" sz="1800" dirty="0"/>
              <a:t>指向的元素，</a:t>
            </a:r>
            <a:r>
              <a:rPr lang="zh-CN" altLang="en-US" sz="1800" dirty="0" smtClean="0"/>
              <a:t>选择较小小的</a:t>
            </a:r>
            <a:r>
              <a:rPr lang="zh-CN" altLang="en-US" sz="1800" dirty="0"/>
              <a:t>元素放入到合并空间，并</a:t>
            </a:r>
            <a:r>
              <a:rPr lang="zh-CN" altLang="en-US" sz="1800" dirty="0" smtClean="0"/>
              <a:t>移动较小元素的指针</a:t>
            </a:r>
            <a:r>
              <a:rPr lang="zh-CN" altLang="en-US" sz="1800" dirty="0"/>
              <a:t>到下一</a:t>
            </a:r>
            <a:r>
              <a:rPr lang="zh-CN" altLang="en-US" sz="1800" dirty="0" smtClean="0"/>
              <a:t>位置；</a:t>
            </a:r>
            <a:endParaRPr lang="zh-CN" altLang="en-US" sz="1800" dirty="0"/>
          </a:p>
          <a:p>
            <a:pPr marL="285750" lvl="1" indent="0">
              <a:buNone/>
            </a:pPr>
            <a:r>
              <a:rPr lang="zh-CN" altLang="en-US" sz="1800" dirty="0" smtClean="0"/>
              <a:t>     重复</a:t>
            </a:r>
            <a:r>
              <a:rPr lang="en-US" altLang="zh-CN" sz="1800" dirty="0" smtClean="0"/>
              <a:t>step 3</a:t>
            </a:r>
            <a:r>
              <a:rPr lang="zh-CN" altLang="en-US" sz="1800" dirty="0"/>
              <a:t>直到某一</a:t>
            </a:r>
            <a:r>
              <a:rPr lang="zh-CN" altLang="en-US" sz="1800" dirty="0" smtClean="0"/>
              <a:t>指针（下标）超出</a:t>
            </a:r>
            <a:r>
              <a:rPr lang="zh-CN" altLang="en-US" sz="1800" dirty="0"/>
              <a:t>序列</a:t>
            </a:r>
            <a:r>
              <a:rPr lang="zh-CN" altLang="en-US" sz="1800" dirty="0" smtClean="0"/>
              <a:t>尾；</a:t>
            </a:r>
            <a:endParaRPr lang="zh-CN" altLang="en-US" sz="1800" dirty="0"/>
          </a:p>
          <a:p>
            <a:pPr lvl="1"/>
            <a:r>
              <a:rPr lang="en-US" altLang="zh-CN" sz="1800" dirty="0" smtClean="0"/>
              <a:t>Step 4</a:t>
            </a:r>
            <a:r>
              <a:rPr lang="zh-CN" altLang="en-US" sz="1800" dirty="0" smtClean="0"/>
              <a:t>：将</a:t>
            </a:r>
            <a:r>
              <a:rPr lang="zh-CN" altLang="en-US" sz="1800" dirty="0"/>
              <a:t>另一序列剩下的所有元素直接复制到合并序列</a:t>
            </a:r>
            <a:r>
              <a:rPr lang="zh-CN" altLang="en-US" sz="1800" dirty="0" smtClean="0"/>
              <a:t>尾；</a:t>
            </a:r>
            <a:endParaRPr lang="zh-CN" altLang="en-US" sz="18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en-US" altLang="zh-CN" sz="2000" dirty="0"/>
          </a:p>
        </p:txBody>
      </p:sp>
    </p:spTree>
    <p:extLst>
      <p:ext uri="{BB962C8B-B14F-4D97-AF65-F5344CB8AC3E}">
        <p14:creationId xmlns:p14="http://schemas.microsoft.com/office/powerpoint/2010/main" val="1210285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a:t>归并排序</a:t>
            </a:r>
          </a:p>
        </p:txBody>
      </p:sp>
      <p:sp>
        <p:nvSpPr>
          <p:cNvPr id="3" name="内容占位符 2"/>
          <p:cNvSpPr>
            <a:spLocks noGrp="1"/>
          </p:cNvSpPr>
          <p:nvPr>
            <p:ph idx="1"/>
          </p:nvPr>
        </p:nvSpPr>
        <p:spPr>
          <a:xfrm>
            <a:off x="392805" y="1144207"/>
            <a:ext cx="7928235" cy="465137"/>
          </a:xfrm>
        </p:spPr>
        <p:txBody>
          <a:bodyPr/>
          <a:lstStyle/>
          <a:p>
            <a:pPr marL="342900" indent="-342900">
              <a:buFont typeface="Wingdings" panose="05000000000000000000" pitchFamily="2" charset="2"/>
              <a:buChar char="l"/>
            </a:pPr>
            <a:r>
              <a:rPr lang="zh-CN" altLang="en-US" sz="2000" dirty="0" smtClean="0"/>
              <a:t>设有两组有序数据，分别有</a:t>
            </a:r>
            <a:r>
              <a:rPr lang="en-US" altLang="zh-CN" sz="2000" dirty="0" smtClean="0"/>
              <a:t>M</a:t>
            </a:r>
            <a:r>
              <a:rPr lang="zh-CN" altLang="en-US" sz="2000" dirty="0" smtClean="0"/>
              <a:t>与</a:t>
            </a:r>
            <a:r>
              <a:rPr lang="en-US" altLang="zh-CN" sz="2000" dirty="0" smtClean="0"/>
              <a:t>N</a:t>
            </a:r>
            <a:r>
              <a:rPr lang="zh-CN" altLang="en-US" sz="2000" dirty="0" smtClean="0"/>
              <a:t>个元素，记为</a:t>
            </a:r>
            <a:r>
              <a:rPr lang="en-US" altLang="zh-CN" sz="2000" dirty="0" smtClean="0"/>
              <a:t>a[M]</a:t>
            </a:r>
            <a:r>
              <a:rPr lang="zh-CN" altLang="en-US" sz="2000" dirty="0" smtClean="0"/>
              <a:t>与</a:t>
            </a:r>
            <a:r>
              <a:rPr lang="en-US" altLang="zh-CN" sz="2000" dirty="0" smtClean="0"/>
              <a:t>b[N]</a:t>
            </a:r>
            <a:endParaRPr lang="en-US" altLang="zh-CN" sz="2000" dirty="0"/>
          </a:p>
        </p:txBody>
      </p:sp>
      <p:graphicFrame>
        <p:nvGraphicFramePr>
          <p:cNvPr id="5" name="表格 4"/>
          <p:cNvGraphicFramePr>
            <a:graphicFrameLocks noGrp="1"/>
          </p:cNvGraphicFramePr>
          <p:nvPr>
            <p:extLst>
              <p:ext uri="{D42A27DB-BD31-4B8C-83A1-F6EECF244321}">
                <p14:modId xmlns:p14="http://schemas.microsoft.com/office/powerpoint/2010/main" val="3044911427"/>
              </p:ext>
            </p:extLst>
          </p:nvPr>
        </p:nvGraphicFramePr>
        <p:xfrm>
          <a:off x="1103376" y="2021459"/>
          <a:ext cx="2746248" cy="370840"/>
        </p:xfrm>
        <a:graphic>
          <a:graphicData uri="http://schemas.openxmlformats.org/drawingml/2006/table">
            <a:tbl>
              <a:tblPr firstRow="1" bandRow="1">
                <a:tableStyleId>{5C22544A-7EE6-4342-B048-85BDC9FD1C3A}</a:tableStyleId>
              </a:tblPr>
              <a:tblGrid>
                <a:gridCol w="343281">
                  <a:extLst>
                    <a:ext uri="{9D8B030D-6E8A-4147-A177-3AD203B41FA5}">
                      <a16:colId xmlns:a16="http://schemas.microsoft.com/office/drawing/2014/main" val="3734060143"/>
                    </a:ext>
                  </a:extLst>
                </a:gridCol>
                <a:gridCol w="343281">
                  <a:extLst>
                    <a:ext uri="{9D8B030D-6E8A-4147-A177-3AD203B41FA5}">
                      <a16:colId xmlns:a16="http://schemas.microsoft.com/office/drawing/2014/main" val="1575103711"/>
                    </a:ext>
                  </a:extLst>
                </a:gridCol>
                <a:gridCol w="343281">
                  <a:extLst>
                    <a:ext uri="{9D8B030D-6E8A-4147-A177-3AD203B41FA5}">
                      <a16:colId xmlns:a16="http://schemas.microsoft.com/office/drawing/2014/main" val="3397989525"/>
                    </a:ext>
                  </a:extLst>
                </a:gridCol>
                <a:gridCol w="343281">
                  <a:extLst>
                    <a:ext uri="{9D8B030D-6E8A-4147-A177-3AD203B41FA5}">
                      <a16:colId xmlns:a16="http://schemas.microsoft.com/office/drawing/2014/main" val="1221531968"/>
                    </a:ext>
                  </a:extLst>
                </a:gridCol>
                <a:gridCol w="343281">
                  <a:extLst>
                    <a:ext uri="{9D8B030D-6E8A-4147-A177-3AD203B41FA5}">
                      <a16:colId xmlns:a16="http://schemas.microsoft.com/office/drawing/2014/main" val="1332886187"/>
                    </a:ext>
                  </a:extLst>
                </a:gridCol>
                <a:gridCol w="343281">
                  <a:extLst>
                    <a:ext uri="{9D8B030D-6E8A-4147-A177-3AD203B41FA5}">
                      <a16:colId xmlns:a16="http://schemas.microsoft.com/office/drawing/2014/main" val="2039860684"/>
                    </a:ext>
                  </a:extLst>
                </a:gridCol>
                <a:gridCol w="343281">
                  <a:extLst>
                    <a:ext uri="{9D8B030D-6E8A-4147-A177-3AD203B41FA5}">
                      <a16:colId xmlns:a16="http://schemas.microsoft.com/office/drawing/2014/main" val="3770087348"/>
                    </a:ext>
                  </a:extLst>
                </a:gridCol>
                <a:gridCol w="343281">
                  <a:extLst>
                    <a:ext uri="{9D8B030D-6E8A-4147-A177-3AD203B41FA5}">
                      <a16:colId xmlns:a16="http://schemas.microsoft.com/office/drawing/2014/main" val="2049634329"/>
                    </a:ext>
                  </a:extLst>
                </a:gridCol>
              </a:tblGrid>
              <a:tr h="370840">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50544347"/>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781469078"/>
              </p:ext>
            </p:extLst>
          </p:nvPr>
        </p:nvGraphicFramePr>
        <p:xfrm>
          <a:off x="4530725" y="2022094"/>
          <a:ext cx="2746248" cy="370840"/>
        </p:xfrm>
        <a:graphic>
          <a:graphicData uri="http://schemas.openxmlformats.org/drawingml/2006/table">
            <a:tbl>
              <a:tblPr firstRow="1" bandRow="1">
                <a:tableStyleId>{5C22544A-7EE6-4342-B048-85BDC9FD1C3A}</a:tableStyleId>
              </a:tblPr>
              <a:tblGrid>
                <a:gridCol w="343281">
                  <a:extLst>
                    <a:ext uri="{9D8B030D-6E8A-4147-A177-3AD203B41FA5}">
                      <a16:colId xmlns:a16="http://schemas.microsoft.com/office/drawing/2014/main" val="3734060143"/>
                    </a:ext>
                  </a:extLst>
                </a:gridCol>
                <a:gridCol w="343281">
                  <a:extLst>
                    <a:ext uri="{9D8B030D-6E8A-4147-A177-3AD203B41FA5}">
                      <a16:colId xmlns:a16="http://schemas.microsoft.com/office/drawing/2014/main" val="1575103711"/>
                    </a:ext>
                  </a:extLst>
                </a:gridCol>
                <a:gridCol w="343281">
                  <a:extLst>
                    <a:ext uri="{9D8B030D-6E8A-4147-A177-3AD203B41FA5}">
                      <a16:colId xmlns:a16="http://schemas.microsoft.com/office/drawing/2014/main" val="3397989525"/>
                    </a:ext>
                  </a:extLst>
                </a:gridCol>
                <a:gridCol w="343281">
                  <a:extLst>
                    <a:ext uri="{9D8B030D-6E8A-4147-A177-3AD203B41FA5}">
                      <a16:colId xmlns:a16="http://schemas.microsoft.com/office/drawing/2014/main" val="1221531968"/>
                    </a:ext>
                  </a:extLst>
                </a:gridCol>
                <a:gridCol w="343281">
                  <a:extLst>
                    <a:ext uri="{9D8B030D-6E8A-4147-A177-3AD203B41FA5}">
                      <a16:colId xmlns:a16="http://schemas.microsoft.com/office/drawing/2014/main" val="1332886187"/>
                    </a:ext>
                  </a:extLst>
                </a:gridCol>
                <a:gridCol w="343281">
                  <a:extLst>
                    <a:ext uri="{9D8B030D-6E8A-4147-A177-3AD203B41FA5}">
                      <a16:colId xmlns:a16="http://schemas.microsoft.com/office/drawing/2014/main" val="2039860684"/>
                    </a:ext>
                  </a:extLst>
                </a:gridCol>
                <a:gridCol w="343281">
                  <a:extLst>
                    <a:ext uri="{9D8B030D-6E8A-4147-A177-3AD203B41FA5}">
                      <a16:colId xmlns:a16="http://schemas.microsoft.com/office/drawing/2014/main" val="3770087348"/>
                    </a:ext>
                  </a:extLst>
                </a:gridCol>
                <a:gridCol w="343281">
                  <a:extLst>
                    <a:ext uri="{9D8B030D-6E8A-4147-A177-3AD203B41FA5}">
                      <a16:colId xmlns:a16="http://schemas.microsoft.com/office/drawing/2014/main" val="2049634329"/>
                    </a:ext>
                  </a:extLst>
                </a:gridCol>
              </a:tblGrid>
              <a:tr h="370840">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tc>
                  <a:txBody>
                    <a:bodyPr/>
                    <a:lstStyle/>
                    <a:p>
                      <a:endParaRPr lang="zh-CN" altLang="en-US" dirty="0"/>
                    </a:p>
                  </a:txBody>
                  <a:tcPr>
                    <a:solidFill>
                      <a:srgbClr val="FFC000"/>
                    </a:solidFill>
                  </a:tcPr>
                </a:tc>
                <a:extLst>
                  <a:ext uri="{0D108BD9-81ED-4DB2-BD59-A6C34878D82A}">
                    <a16:rowId xmlns:a16="http://schemas.microsoft.com/office/drawing/2014/main" val="150544347"/>
                  </a:ext>
                </a:extLst>
              </a:tr>
            </a:tbl>
          </a:graphicData>
        </a:graphic>
      </p:graphicFrame>
      <p:cxnSp>
        <p:nvCxnSpPr>
          <p:cNvPr id="7" name="直接箭头连接符 6"/>
          <p:cNvCxnSpPr/>
          <p:nvPr/>
        </p:nvCxnSpPr>
        <p:spPr bwMode="auto">
          <a:xfrm flipV="1">
            <a:off x="1252712" y="2376295"/>
            <a:ext cx="0" cy="595928"/>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8" name="文本框 7"/>
          <p:cNvSpPr txBox="1"/>
          <p:nvPr/>
        </p:nvSpPr>
        <p:spPr>
          <a:xfrm>
            <a:off x="1124704" y="2972223"/>
            <a:ext cx="347456" cy="369332"/>
          </a:xfrm>
          <a:prstGeom prst="rect">
            <a:avLst/>
          </a:prstGeom>
          <a:noFill/>
        </p:spPr>
        <p:txBody>
          <a:bodyPr wrap="square" rtlCol="0">
            <a:spAutoFit/>
          </a:bodyPr>
          <a:lstStyle/>
          <a:p>
            <a:r>
              <a:rPr lang="en-US" altLang="zh-CN" dirty="0" err="1" smtClean="0">
                <a:solidFill>
                  <a:srgbClr val="080808"/>
                </a:solidFill>
                <a:latin typeface="+mn-lt"/>
              </a:rPr>
              <a:t>i</a:t>
            </a:r>
            <a:endParaRPr lang="zh-CN" altLang="en-US" dirty="0">
              <a:solidFill>
                <a:srgbClr val="080808"/>
              </a:solidFill>
              <a:latin typeface="+mn-lt"/>
            </a:endParaRPr>
          </a:p>
        </p:txBody>
      </p:sp>
      <p:cxnSp>
        <p:nvCxnSpPr>
          <p:cNvPr id="11" name="直接箭头连接符 10"/>
          <p:cNvCxnSpPr/>
          <p:nvPr/>
        </p:nvCxnSpPr>
        <p:spPr bwMode="auto">
          <a:xfrm flipV="1">
            <a:off x="4695277" y="2392934"/>
            <a:ext cx="0" cy="595928"/>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2" name="文本框 11"/>
          <p:cNvSpPr txBox="1"/>
          <p:nvPr/>
        </p:nvSpPr>
        <p:spPr>
          <a:xfrm>
            <a:off x="4567269" y="2988862"/>
            <a:ext cx="347456" cy="369332"/>
          </a:xfrm>
          <a:prstGeom prst="rect">
            <a:avLst/>
          </a:prstGeom>
          <a:noFill/>
        </p:spPr>
        <p:txBody>
          <a:bodyPr wrap="square" rtlCol="0">
            <a:spAutoFit/>
          </a:bodyPr>
          <a:lstStyle/>
          <a:p>
            <a:r>
              <a:rPr lang="en-US" altLang="zh-CN" dirty="0" smtClean="0">
                <a:solidFill>
                  <a:srgbClr val="080808"/>
                </a:solidFill>
                <a:latin typeface="+mn-lt"/>
              </a:rPr>
              <a:t>j</a:t>
            </a:r>
            <a:endParaRPr lang="zh-CN" altLang="en-US" dirty="0">
              <a:solidFill>
                <a:srgbClr val="080808"/>
              </a:solidFill>
              <a:latin typeface="+mn-lt"/>
            </a:endParaRPr>
          </a:p>
        </p:txBody>
      </p:sp>
      <p:graphicFrame>
        <p:nvGraphicFramePr>
          <p:cNvPr id="13" name="表格 12"/>
          <p:cNvGraphicFramePr>
            <a:graphicFrameLocks noGrp="1"/>
          </p:cNvGraphicFramePr>
          <p:nvPr>
            <p:extLst>
              <p:ext uri="{D42A27DB-BD31-4B8C-83A1-F6EECF244321}">
                <p14:modId xmlns:p14="http://schemas.microsoft.com/office/powerpoint/2010/main" val="3433854573"/>
              </p:ext>
            </p:extLst>
          </p:nvPr>
        </p:nvGraphicFramePr>
        <p:xfrm>
          <a:off x="1252712" y="3770859"/>
          <a:ext cx="6095988" cy="370840"/>
        </p:xfrm>
        <a:graphic>
          <a:graphicData uri="http://schemas.openxmlformats.org/drawingml/2006/table">
            <a:tbl>
              <a:tblPr firstRow="1" bandRow="1">
                <a:tableStyleId>{5C22544A-7EE6-4342-B048-85BDC9FD1C3A}</a:tableStyleId>
              </a:tblPr>
              <a:tblGrid>
                <a:gridCol w="338666">
                  <a:extLst>
                    <a:ext uri="{9D8B030D-6E8A-4147-A177-3AD203B41FA5}">
                      <a16:colId xmlns:a16="http://schemas.microsoft.com/office/drawing/2014/main" val="791558442"/>
                    </a:ext>
                  </a:extLst>
                </a:gridCol>
                <a:gridCol w="338666">
                  <a:extLst>
                    <a:ext uri="{9D8B030D-6E8A-4147-A177-3AD203B41FA5}">
                      <a16:colId xmlns:a16="http://schemas.microsoft.com/office/drawing/2014/main" val="3762967657"/>
                    </a:ext>
                  </a:extLst>
                </a:gridCol>
                <a:gridCol w="338666">
                  <a:extLst>
                    <a:ext uri="{9D8B030D-6E8A-4147-A177-3AD203B41FA5}">
                      <a16:colId xmlns:a16="http://schemas.microsoft.com/office/drawing/2014/main" val="2380391320"/>
                    </a:ext>
                  </a:extLst>
                </a:gridCol>
                <a:gridCol w="338666">
                  <a:extLst>
                    <a:ext uri="{9D8B030D-6E8A-4147-A177-3AD203B41FA5}">
                      <a16:colId xmlns:a16="http://schemas.microsoft.com/office/drawing/2014/main" val="3456689845"/>
                    </a:ext>
                  </a:extLst>
                </a:gridCol>
                <a:gridCol w="338666">
                  <a:extLst>
                    <a:ext uri="{9D8B030D-6E8A-4147-A177-3AD203B41FA5}">
                      <a16:colId xmlns:a16="http://schemas.microsoft.com/office/drawing/2014/main" val="2677626050"/>
                    </a:ext>
                  </a:extLst>
                </a:gridCol>
                <a:gridCol w="338666">
                  <a:extLst>
                    <a:ext uri="{9D8B030D-6E8A-4147-A177-3AD203B41FA5}">
                      <a16:colId xmlns:a16="http://schemas.microsoft.com/office/drawing/2014/main" val="3899825740"/>
                    </a:ext>
                  </a:extLst>
                </a:gridCol>
                <a:gridCol w="338666">
                  <a:extLst>
                    <a:ext uri="{9D8B030D-6E8A-4147-A177-3AD203B41FA5}">
                      <a16:colId xmlns:a16="http://schemas.microsoft.com/office/drawing/2014/main" val="4034224946"/>
                    </a:ext>
                  </a:extLst>
                </a:gridCol>
                <a:gridCol w="338666">
                  <a:extLst>
                    <a:ext uri="{9D8B030D-6E8A-4147-A177-3AD203B41FA5}">
                      <a16:colId xmlns:a16="http://schemas.microsoft.com/office/drawing/2014/main" val="3042261801"/>
                    </a:ext>
                  </a:extLst>
                </a:gridCol>
                <a:gridCol w="338666">
                  <a:extLst>
                    <a:ext uri="{9D8B030D-6E8A-4147-A177-3AD203B41FA5}">
                      <a16:colId xmlns:a16="http://schemas.microsoft.com/office/drawing/2014/main" val="2471281502"/>
                    </a:ext>
                  </a:extLst>
                </a:gridCol>
                <a:gridCol w="338666">
                  <a:extLst>
                    <a:ext uri="{9D8B030D-6E8A-4147-A177-3AD203B41FA5}">
                      <a16:colId xmlns:a16="http://schemas.microsoft.com/office/drawing/2014/main" val="1324544319"/>
                    </a:ext>
                  </a:extLst>
                </a:gridCol>
                <a:gridCol w="338666">
                  <a:extLst>
                    <a:ext uri="{9D8B030D-6E8A-4147-A177-3AD203B41FA5}">
                      <a16:colId xmlns:a16="http://schemas.microsoft.com/office/drawing/2014/main" val="384328963"/>
                    </a:ext>
                  </a:extLst>
                </a:gridCol>
                <a:gridCol w="338666">
                  <a:extLst>
                    <a:ext uri="{9D8B030D-6E8A-4147-A177-3AD203B41FA5}">
                      <a16:colId xmlns:a16="http://schemas.microsoft.com/office/drawing/2014/main" val="805307395"/>
                    </a:ext>
                  </a:extLst>
                </a:gridCol>
                <a:gridCol w="338666">
                  <a:extLst>
                    <a:ext uri="{9D8B030D-6E8A-4147-A177-3AD203B41FA5}">
                      <a16:colId xmlns:a16="http://schemas.microsoft.com/office/drawing/2014/main" val="2905593499"/>
                    </a:ext>
                  </a:extLst>
                </a:gridCol>
                <a:gridCol w="338666">
                  <a:extLst>
                    <a:ext uri="{9D8B030D-6E8A-4147-A177-3AD203B41FA5}">
                      <a16:colId xmlns:a16="http://schemas.microsoft.com/office/drawing/2014/main" val="912002338"/>
                    </a:ext>
                  </a:extLst>
                </a:gridCol>
                <a:gridCol w="338666">
                  <a:extLst>
                    <a:ext uri="{9D8B030D-6E8A-4147-A177-3AD203B41FA5}">
                      <a16:colId xmlns:a16="http://schemas.microsoft.com/office/drawing/2014/main" val="2293360229"/>
                    </a:ext>
                  </a:extLst>
                </a:gridCol>
                <a:gridCol w="338666">
                  <a:extLst>
                    <a:ext uri="{9D8B030D-6E8A-4147-A177-3AD203B41FA5}">
                      <a16:colId xmlns:a16="http://schemas.microsoft.com/office/drawing/2014/main" val="2374007858"/>
                    </a:ext>
                  </a:extLst>
                </a:gridCol>
                <a:gridCol w="338666">
                  <a:extLst>
                    <a:ext uri="{9D8B030D-6E8A-4147-A177-3AD203B41FA5}">
                      <a16:colId xmlns:a16="http://schemas.microsoft.com/office/drawing/2014/main" val="3110035391"/>
                    </a:ext>
                  </a:extLst>
                </a:gridCol>
                <a:gridCol w="338666">
                  <a:extLst>
                    <a:ext uri="{9D8B030D-6E8A-4147-A177-3AD203B41FA5}">
                      <a16:colId xmlns:a16="http://schemas.microsoft.com/office/drawing/2014/main" val="4175487691"/>
                    </a:ext>
                  </a:extLst>
                </a:gridCol>
              </a:tblGrid>
              <a:tr h="370840">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2071553031"/>
                  </a:ext>
                </a:extLst>
              </a:tr>
            </a:tbl>
          </a:graphicData>
        </a:graphic>
      </p:graphicFrame>
      <p:sp>
        <p:nvSpPr>
          <p:cNvPr id="14" name="文本框 13"/>
          <p:cNvSpPr txBox="1"/>
          <p:nvPr/>
        </p:nvSpPr>
        <p:spPr>
          <a:xfrm>
            <a:off x="1810504" y="1539845"/>
            <a:ext cx="1856240" cy="369332"/>
          </a:xfrm>
          <a:prstGeom prst="rect">
            <a:avLst/>
          </a:prstGeom>
          <a:noFill/>
        </p:spPr>
        <p:txBody>
          <a:bodyPr wrap="square" rtlCol="0">
            <a:spAutoFit/>
          </a:bodyPr>
          <a:lstStyle/>
          <a:p>
            <a:r>
              <a:rPr lang="en-US" altLang="zh-CN" dirty="0" smtClean="0">
                <a:solidFill>
                  <a:srgbClr val="080808"/>
                </a:solidFill>
                <a:latin typeface="+mj-ea"/>
                <a:ea typeface="+mj-ea"/>
              </a:rPr>
              <a:t>M</a:t>
            </a:r>
            <a:r>
              <a:rPr lang="zh-CN" altLang="en-US" dirty="0" smtClean="0">
                <a:solidFill>
                  <a:srgbClr val="080808"/>
                </a:solidFill>
                <a:latin typeface="+mj-ea"/>
                <a:ea typeface="+mj-ea"/>
              </a:rPr>
              <a:t>个元素</a:t>
            </a:r>
            <a:endParaRPr lang="zh-CN" altLang="en-US" dirty="0">
              <a:solidFill>
                <a:srgbClr val="080808"/>
              </a:solidFill>
              <a:latin typeface="+mj-ea"/>
              <a:ea typeface="+mj-ea"/>
            </a:endParaRPr>
          </a:p>
        </p:txBody>
      </p:sp>
      <p:sp>
        <p:nvSpPr>
          <p:cNvPr id="15" name="文本框 14"/>
          <p:cNvSpPr txBox="1"/>
          <p:nvPr/>
        </p:nvSpPr>
        <p:spPr>
          <a:xfrm>
            <a:off x="4975729" y="1524660"/>
            <a:ext cx="1141607" cy="369332"/>
          </a:xfrm>
          <a:prstGeom prst="rect">
            <a:avLst/>
          </a:prstGeom>
          <a:noFill/>
        </p:spPr>
        <p:txBody>
          <a:bodyPr wrap="square" rtlCol="0">
            <a:spAutoFit/>
          </a:bodyPr>
          <a:lstStyle/>
          <a:p>
            <a:r>
              <a:rPr lang="en-US" altLang="zh-CN" dirty="0" smtClean="0">
                <a:solidFill>
                  <a:srgbClr val="080808"/>
                </a:solidFill>
                <a:latin typeface="+mj-ea"/>
                <a:ea typeface="+mj-ea"/>
              </a:rPr>
              <a:t>N</a:t>
            </a:r>
            <a:r>
              <a:rPr lang="zh-CN" altLang="en-US" dirty="0" smtClean="0">
                <a:solidFill>
                  <a:srgbClr val="080808"/>
                </a:solidFill>
                <a:latin typeface="+mj-ea"/>
                <a:ea typeface="+mj-ea"/>
              </a:rPr>
              <a:t>个元素</a:t>
            </a:r>
            <a:endParaRPr lang="zh-CN" altLang="en-US" dirty="0">
              <a:solidFill>
                <a:srgbClr val="080808"/>
              </a:solidFill>
              <a:latin typeface="+mj-ea"/>
              <a:ea typeface="+mj-ea"/>
            </a:endParaRPr>
          </a:p>
        </p:txBody>
      </p:sp>
      <p:sp>
        <p:nvSpPr>
          <p:cNvPr id="16" name="文本框 15"/>
          <p:cNvSpPr txBox="1"/>
          <p:nvPr/>
        </p:nvSpPr>
        <p:spPr>
          <a:xfrm>
            <a:off x="2253992" y="3341555"/>
            <a:ext cx="1484674" cy="369332"/>
          </a:xfrm>
          <a:prstGeom prst="rect">
            <a:avLst/>
          </a:prstGeom>
          <a:noFill/>
        </p:spPr>
        <p:txBody>
          <a:bodyPr wrap="square" rtlCol="0">
            <a:spAutoFit/>
          </a:bodyPr>
          <a:lstStyle/>
          <a:p>
            <a:r>
              <a:rPr lang="en-US" altLang="zh-CN" dirty="0" smtClean="0">
                <a:solidFill>
                  <a:srgbClr val="080808"/>
                </a:solidFill>
                <a:latin typeface="+mj-ea"/>
                <a:ea typeface="+mj-ea"/>
              </a:rPr>
              <a:t>M+N</a:t>
            </a:r>
            <a:r>
              <a:rPr lang="zh-CN" altLang="en-US" dirty="0" smtClean="0">
                <a:solidFill>
                  <a:srgbClr val="080808"/>
                </a:solidFill>
                <a:latin typeface="+mj-ea"/>
                <a:ea typeface="+mj-ea"/>
              </a:rPr>
              <a:t>个元素</a:t>
            </a:r>
            <a:endParaRPr lang="zh-CN" altLang="en-US" dirty="0">
              <a:solidFill>
                <a:srgbClr val="080808"/>
              </a:solidFill>
              <a:latin typeface="+mj-ea"/>
              <a:ea typeface="+mj-ea"/>
            </a:endParaRPr>
          </a:p>
        </p:txBody>
      </p:sp>
      <p:cxnSp>
        <p:nvCxnSpPr>
          <p:cNvPr id="17" name="直接箭头连接符 16"/>
          <p:cNvCxnSpPr/>
          <p:nvPr/>
        </p:nvCxnSpPr>
        <p:spPr bwMode="auto">
          <a:xfrm flipV="1">
            <a:off x="1389872" y="4141699"/>
            <a:ext cx="0" cy="595928"/>
          </a:xfrm>
          <a:prstGeom prst="straightConnector1">
            <a:avLst/>
          </a:prstGeom>
          <a:solidFill>
            <a:schemeClr val="accent1"/>
          </a:solidFill>
          <a:ln w="57150" cap="flat" cmpd="sng" algn="ctr">
            <a:solidFill>
              <a:schemeClr val="tx1"/>
            </a:solidFill>
            <a:prstDash val="solid"/>
            <a:round/>
            <a:headEnd type="none" w="med" len="med"/>
            <a:tailEnd type="triangle"/>
          </a:ln>
        </p:spPr>
      </p:cxnSp>
      <p:sp>
        <p:nvSpPr>
          <p:cNvPr id="18" name="文本框 17"/>
          <p:cNvSpPr txBox="1"/>
          <p:nvPr/>
        </p:nvSpPr>
        <p:spPr>
          <a:xfrm>
            <a:off x="1124704" y="4750098"/>
            <a:ext cx="2258577" cy="369332"/>
          </a:xfrm>
          <a:prstGeom prst="rect">
            <a:avLst/>
          </a:prstGeom>
          <a:noFill/>
        </p:spPr>
        <p:txBody>
          <a:bodyPr wrap="square" rtlCol="0">
            <a:spAutoFit/>
          </a:bodyPr>
          <a:lstStyle/>
          <a:p>
            <a:r>
              <a:rPr lang="en-US" altLang="zh-CN" dirty="0" smtClean="0">
                <a:solidFill>
                  <a:srgbClr val="080808"/>
                </a:solidFill>
                <a:latin typeface="+mn-lt"/>
                <a:ea typeface="+mn-ea"/>
              </a:rPr>
              <a:t>a[0]</a:t>
            </a:r>
            <a:r>
              <a:rPr lang="zh-CN" altLang="en-US" dirty="0" smtClean="0">
                <a:solidFill>
                  <a:srgbClr val="080808"/>
                </a:solidFill>
                <a:latin typeface="+mn-lt"/>
                <a:ea typeface="+mn-ea"/>
              </a:rPr>
              <a:t>与</a:t>
            </a:r>
            <a:r>
              <a:rPr lang="en-US" altLang="zh-CN" dirty="0" smtClean="0">
                <a:solidFill>
                  <a:srgbClr val="080808"/>
                </a:solidFill>
                <a:latin typeface="+mn-lt"/>
                <a:ea typeface="+mn-ea"/>
              </a:rPr>
              <a:t>b[0]</a:t>
            </a:r>
            <a:r>
              <a:rPr lang="zh-CN" altLang="en-US" dirty="0" smtClean="0">
                <a:solidFill>
                  <a:srgbClr val="080808"/>
                </a:solidFill>
                <a:latin typeface="+mn-lt"/>
                <a:ea typeface="+mn-ea"/>
              </a:rPr>
              <a:t>的较小者</a:t>
            </a:r>
            <a:endParaRPr lang="zh-CN" altLang="en-US" dirty="0">
              <a:solidFill>
                <a:srgbClr val="080808"/>
              </a:solidFill>
              <a:latin typeface="+mn-lt"/>
              <a:ea typeface="+mn-ea"/>
            </a:endParaRPr>
          </a:p>
        </p:txBody>
      </p:sp>
      <p:sp>
        <p:nvSpPr>
          <p:cNvPr id="19" name="文本框 18"/>
          <p:cNvSpPr txBox="1"/>
          <p:nvPr/>
        </p:nvSpPr>
        <p:spPr>
          <a:xfrm>
            <a:off x="738434" y="2006963"/>
            <a:ext cx="347456" cy="369332"/>
          </a:xfrm>
          <a:prstGeom prst="rect">
            <a:avLst/>
          </a:prstGeom>
          <a:noFill/>
        </p:spPr>
        <p:txBody>
          <a:bodyPr wrap="square" rtlCol="0">
            <a:spAutoFit/>
          </a:bodyPr>
          <a:lstStyle/>
          <a:p>
            <a:r>
              <a:rPr lang="en-US" altLang="zh-CN" dirty="0" err="1">
                <a:solidFill>
                  <a:srgbClr val="080808"/>
                </a:solidFill>
                <a:latin typeface="+mn-lt"/>
              </a:rPr>
              <a:t>a</a:t>
            </a:r>
            <a:endParaRPr lang="zh-CN" altLang="en-US" dirty="0">
              <a:solidFill>
                <a:srgbClr val="080808"/>
              </a:solidFill>
              <a:latin typeface="+mn-lt"/>
            </a:endParaRPr>
          </a:p>
        </p:txBody>
      </p:sp>
      <p:sp>
        <p:nvSpPr>
          <p:cNvPr id="20" name="文本框 19"/>
          <p:cNvSpPr txBox="1"/>
          <p:nvPr/>
        </p:nvSpPr>
        <p:spPr>
          <a:xfrm>
            <a:off x="4183269" y="1977278"/>
            <a:ext cx="347456" cy="369332"/>
          </a:xfrm>
          <a:prstGeom prst="rect">
            <a:avLst/>
          </a:prstGeom>
          <a:noFill/>
        </p:spPr>
        <p:txBody>
          <a:bodyPr wrap="square" rtlCol="0">
            <a:spAutoFit/>
          </a:bodyPr>
          <a:lstStyle/>
          <a:p>
            <a:r>
              <a:rPr lang="en-US" altLang="zh-CN" dirty="0" smtClean="0">
                <a:solidFill>
                  <a:srgbClr val="080808"/>
                </a:solidFill>
                <a:latin typeface="+mn-lt"/>
              </a:rPr>
              <a:t>b</a:t>
            </a:r>
            <a:endParaRPr lang="zh-CN" altLang="en-US" dirty="0">
              <a:solidFill>
                <a:srgbClr val="080808"/>
              </a:solidFill>
              <a:latin typeface="+mn-lt"/>
            </a:endParaRPr>
          </a:p>
        </p:txBody>
      </p:sp>
      <p:sp>
        <p:nvSpPr>
          <p:cNvPr id="21" name="文本框 20"/>
          <p:cNvSpPr txBox="1"/>
          <p:nvPr/>
        </p:nvSpPr>
        <p:spPr>
          <a:xfrm>
            <a:off x="905256" y="3771613"/>
            <a:ext cx="347456" cy="369332"/>
          </a:xfrm>
          <a:prstGeom prst="rect">
            <a:avLst/>
          </a:prstGeom>
          <a:noFill/>
        </p:spPr>
        <p:txBody>
          <a:bodyPr wrap="square" rtlCol="0">
            <a:spAutoFit/>
          </a:bodyPr>
          <a:lstStyle/>
          <a:p>
            <a:r>
              <a:rPr lang="en-US" altLang="zh-CN" dirty="0" smtClean="0">
                <a:solidFill>
                  <a:srgbClr val="080808"/>
                </a:solidFill>
                <a:latin typeface="+mn-lt"/>
              </a:rPr>
              <a:t>c</a:t>
            </a:r>
            <a:endParaRPr lang="zh-CN" altLang="en-US" dirty="0">
              <a:solidFill>
                <a:srgbClr val="080808"/>
              </a:solidFill>
              <a:latin typeface="+mn-lt"/>
            </a:endParaRPr>
          </a:p>
        </p:txBody>
      </p:sp>
      <p:sp>
        <p:nvSpPr>
          <p:cNvPr id="22" name="内容占位符 2"/>
          <p:cNvSpPr txBox="1">
            <a:spLocks/>
          </p:cNvSpPr>
          <p:nvPr/>
        </p:nvSpPr>
        <p:spPr bwMode="auto">
          <a:xfrm>
            <a:off x="647440" y="5150377"/>
            <a:ext cx="7928235" cy="99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600"/>
              </a:spcBef>
              <a:buFont typeface="Wingdings" panose="05000000000000000000" pitchFamily="2" charset="2"/>
              <a:buChar char="l"/>
            </a:pPr>
            <a:r>
              <a:rPr lang="zh-CN" altLang="en-US" sz="1800" dirty="0" smtClean="0"/>
              <a:t>运算过程中，如果数组</a:t>
            </a:r>
            <a:r>
              <a:rPr lang="en-US" altLang="zh-CN" sz="1800" dirty="0" smtClean="0"/>
              <a:t>a</a:t>
            </a:r>
            <a:r>
              <a:rPr lang="zh-CN" altLang="en-US" sz="1800" dirty="0" smtClean="0"/>
              <a:t>与</a:t>
            </a:r>
            <a:r>
              <a:rPr lang="en-US" altLang="zh-CN" sz="1800" dirty="0" smtClean="0"/>
              <a:t>b</a:t>
            </a:r>
            <a:r>
              <a:rPr lang="zh-CN" altLang="en-US" sz="1800" dirty="0" smtClean="0"/>
              <a:t>中有一个其元素已全部放入</a:t>
            </a:r>
            <a:r>
              <a:rPr lang="en-US" altLang="zh-CN" sz="1800" dirty="0" smtClean="0"/>
              <a:t>c</a:t>
            </a:r>
            <a:r>
              <a:rPr lang="zh-CN" altLang="en-US" sz="1800" dirty="0" smtClean="0"/>
              <a:t>中，则将另一个数组的剩余元素放到</a:t>
            </a:r>
            <a:r>
              <a:rPr lang="en-US" altLang="zh-CN" sz="1800" dirty="0" smtClean="0"/>
              <a:t>c</a:t>
            </a:r>
            <a:r>
              <a:rPr lang="zh-CN" altLang="en-US" sz="1800" dirty="0" smtClean="0"/>
              <a:t>的尾部。</a:t>
            </a:r>
            <a:endParaRPr lang="en-US" altLang="zh-CN" sz="1800" dirty="0" smtClean="0"/>
          </a:p>
          <a:p>
            <a:pPr marL="342900" indent="-342900">
              <a:lnSpc>
                <a:spcPct val="100000"/>
              </a:lnSpc>
              <a:spcBef>
                <a:spcPts val="600"/>
              </a:spcBef>
              <a:buFont typeface="Wingdings" panose="05000000000000000000" pitchFamily="2" charset="2"/>
              <a:buChar char="l"/>
            </a:pPr>
            <a:r>
              <a:rPr lang="zh-CN" altLang="en-US" sz="1800" dirty="0" smtClean="0"/>
              <a:t>时间复杂度为</a:t>
            </a:r>
            <a:r>
              <a:rPr lang="en-US" altLang="zh-CN" sz="1800" dirty="0" smtClean="0"/>
              <a:t>O(M+N)</a:t>
            </a:r>
            <a:r>
              <a:rPr lang="zh-CN" altLang="en-US" sz="1800" dirty="0" smtClean="0"/>
              <a:t>，记为</a:t>
            </a:r>
            <a:r>
              <a:rPr lang="en-US" altLang="zh-CN" sz="1800" dirty="0" smtClean="0">
                <a:solidFill>
                  <a:srgbClr val="C00000"/>
                </a:solidFill>
              </a:rPr>
              <a:t>O(n)</a:t>
            </a:r>
            <a:endParaRPr lang="en-US" altLang="zh-CN" sz="1800" dirty="0">
              <a:solidFill>
                <a:srgbClr val="C00000"/>
              </a:solidFill>
            </a:endParaRPr>
          </a:p>
        </p:txBody>
      </p:sp>
    </p:spTree>
    <p:extLst>
      <p:ext uri="{BB962C8B-B14F-4D97-AF65-F5344CB8AC3E}">
        <p14:creationId xmlns:p14="http://schemas.microsoft.com/office/powerpoint/2010/main" val="10764845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递推</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smtClean="0"/>
              <a:t>递推算法是一种用若干步可重复运算来描述复杂问题的方法；</a:t>
            </a:r>
            <a:endParaRPr lang="en-US" altLang="zh-CN" sz="2000" dirty="0" smtClean="0"/>
          </a:p>
          <a:p>
            <a:pPr marL="342900" indent="-342900">
              <a:buFont typeface="Wingdings" panose="05000000000000000000" pitchFamily="2" charset="2"/>
              <a:buChar char="l"/>
            </a:pPr>
            <a:r>
              <a:rPr lang="zh-CN" altLang="en-US" sz="2000" dirty="0" smtClean="0"/>
              <a:t>如计算</a:t>
            </a:r>
            <a:r>
              <a:rPr lang="en-US" altLang="zh-CN" sz="2000" dirty="0" smtClean="0"/>
              <a:t>n!</a:t>
            </a:r>
          </a:p>
          <a:p>
            <a:pPr marL="971550" lvl="1"/>
            <a:r>
              <a:rPr lang="en-US" altLang="zh-CN" sz="1800" dirty="0">
                <a:solidFill>
                  <a:srgbClr val="7030A0"/>
                </a:solidFill>
              </a:rPr>
              <a:t>0!=1</a:t>
            </a:r>
            <a:r>
              <a:rPr lang="zh-CN" altLang="en-US" sz="1800" dirty="0">
                <a:solidFill>
                  <a:srgbClr val="7030A0"/>
                </a:solidFill>
              </a:rPr>
              <a:t>，</a:t>
            </a:r>
            <a:r>
              <a:rPr lang="en-US" altLang="zh-CN" sz="1800" dirty="0">
                <a:solidFill>
                  <a:srgbClr val="7030A0"/>
                </a:solidFill>
              </a:rPr>
              <a:t>n!=n*(n-1</a:t>
            </a:r>
            <a:r>
              <a:rPr lang="en-US" altLang="zh-CN" sz="1800" dirty="0" smtClean="0">
                <a:solidFill>
                  <a:srgbClr val="7030A0"/>
                </a:solidFill>
              </a:rPr>
              <a:t>)!</a:t>
            </a:r>
          </a:p>
          <a:p>
            <a:pPr marL="971550" lvl="1"/>
            <a:r>
              <a:rPr lang="en-US" altLang="zh-CN" sz="1800" dirty="0" smtClean="0"/>
              <a:t>unsigned long long fact[n</a:t>
            </a:r>
            <a:r>
              <a:rPr lang="en-US" altLang="zh-CN" sz="1800" dirty="0"/>
              <a:t>]</a:t>
            </a:r>
            <a:r>
              <a:rPr lang="en-US" altLang="zh-CN" sz="1800" dirty="0" smtClean="0"/>
              <a:t>;</a:t>
            </a:r>
            <a:endParaRPr lang="en-US" altLang="zh-CN" sz="1800" dirty="0"/>
          </a:p>
          <a:p>
            <a:pPr lvl="1" indent="0">
              <a:buNone/>
            </a:pPr>
            <a:r>
              <a:rPr lang="en-US" altLang="zh-CN" sz="1800" dirty="0"/>
              <a:t>     </a:t>
            </a:r>
            <a:r>
              <a:rPr lang="en-US" altLang="zh-CN" sz="1800" dirty="0" smtClean="0"/>
              <a:t>fact[0]=1,fact[1]=1    </a:t>
            </a:r>
            <a:r>
              <a:rPr lang="zh-CN" altLang="en-US" sz="1800" dirty="0"/>
              <a:t>（边界条件）</a:t>
            </a:r>
            <a:endParaRPr lang="en-US" altLang="zh-CN" sz="1800" dirty="0"/>
          </a:p>
          <a:p>
            <a:pPr lvl="1" indent="0">
              <a:buNone/>
            </a:pPr>
            <a:r>
              <a:rPr lang="en-US" altLang="zh-CN" sz="1800" dirty="0" smtClean="0">
                <a:solidFill>
                  <a:srgbClr val="C00000"/>
                </a:solidFill>
              </a:rPr>
              <a:t>     fact[n]=n*fact[n-1]    </a:t>
            </a:r>
            <a:r>
              <a:rPr lang="zh-CN" altLang="en-US" sz="1800" dirty="0">
                <a:solidFill>
                  <a:srgbClr val="C00000"/>
                </a:solidFill>
              </a:rPr>
              <a:t>（</a:t>
            </a:r>
            <a:r>
              <a:rPr lang="zh-CN" altLang="en-US" sz="1800" dirty="0"/>
              <a:t>通项</a:t>
            </a:r>
            <a:r>
              <a:rPr lang="zh-CN" altLang="en-US" sz="1800" dirty="0" smtClean="0"/>
              <a:t>公式，递推公式）</a:t>
            </a:r>
            <a:endParaRPr lang="en-US" altLang="zh-CN" sz="1800" dirty="0"/>
          </a:p>
          <a:p>
            <a:pPr marL="342900" indent="-342900">
              <a:buFont typeface="Wingdings" panose="05000000000000000000" pitchFamily="2" charset="2"/>
              <a:buChar char="l"/>
            </a:pPr>
            <a:r>
              <a:rPr lang="zh-CN" altLang="en-US" sz="2000" dirty="0" smtClean="0">
                <a:solidFill>
                  <a:srgbClr val="030DCD"/>
                </a:solidFill>
              </a:rPr>
              <a:t>通过数学推导</a:t>
            </a:r>
            <a:r>
              <a:rPr lang="zh-CN" altLang="en-US" sz="2000" dirty="0">
                <a:solidFill>
                  <a:srgbClr val="030DCD"/>
                </a:solidFill>
              </a:rPr>
              <a:t>，将复杂的运算化解为</a:t>
            </a:r>
            <a:r>
              <a:rPr lang="zh-CN" altLang="en-US" sz="2000" dirty="0">
                <a:solidFill>
                  <a:srgbClr val="7030A0"/>
                </a:solidFill>
              </a:rPr>
              <a:t>若干重复的简单运算</a:t>
            </a:r>
            <a:r>
              <a:rPr lang="zh-CN" altLang="en-US" sz="2000" dirty="0" smtClean="0">
                <a:solidFill>
                  <a:srgbClr val="030DCD"/>
                </a:solidFill>
              </a:rPr>
              <a:t>；</a:t>
            </a:r>
            <a:endParaRPr lang="en-US" altLang="zh-CN" sz="2000" dirty="0">
              <a:solidFill>
                <a:srgbClr val="030DCD"/>
              </a:solidFill>
            </a:endParaRPr>
          </a:p>
          <a:p>
            <a:pPr marL="342900" indent="-342900">
              <a:buFont typeface="Wingdings" panose="05000000000000000000" pitchFamily="2" charset="2"/>
              <a:buChar char="l"/>
            </a:pPr>
            <a:r>
              <a:rPr lang="zh-CN" altLang="en-US" sz="2000" dirty="0"/>
              <a:t>充分利用计算机擅长于重复处理的特点；</a:t>
            </a:r>
            <a:endParaRPr lang="en-US" altLang="zh-CN" sz="2000" dirty="0"/>
          </a:p>
        </p:txBody>
      </p:sp>
    </p:spTree>
    <p:extLst>
      <p:ext uri="{BB962C8B-B14F-4D97-AF65-F5344CB8AC3E}">
        <p14:creationId xmlns:p14="http://schemas.microsoft.com/office/powerpoint/2010/main" val="332259243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a:t>
            </a:r>
            <a:r>
              <a:rPr lang="zh-CN" altLang="en-US" dirty="0" smtClean="0"/>
              <a:t>递</a:t>
            </a:r>
            <a:r>
              <a:rPr lang="zh-CN" altLang="en-US" dirty="0"/>
              <a:t>推例</a:t>
            </a:r>
            <a:r>
              <a:rPr lang="en-US" altLang="zh-CN" dirty="0"/>
              <a:t>---5</a:t>
            </a:r>
            <a:r>
              <a:rPr lang="zh-CN" altLang="en-US" dirty="0"/>
              <a:t>人捕鱼</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en-US" altLang="zh-CN" sz="2000" dirty="0"/>
              <a:t>A</a:t>
            </a:r>
            <a:r>
              <a:rPr lang="zh-CN" altLang="en-US" sz="2000" dirty="0"/>
              <a:t>、</a:t>
            </a:r>
            <a:r>
              <a:rPr lang="en-US" altLang="zh-CN" sz="2000" dirty="0"/>
              <a:t>B</a:t>
            </a:r>
            <a:r>
              <a:rPr lang="zh-CN" altLang="en-US" sz="2000" dirty="0"/>
              <a:t>、</a:t>
            </a:r>
            <a:r>
              <a:rPr lang="en-US" altLang="zh-CN" sz="2000" dirty="0"/>
              <a:t>C</a:t>
            </a:r>
            <a:r>
              <a:rPr lang="zh-CN" altLang="en-US" sz="2000" dirty="0"/>
              <a:t>、</a:t>
            </a:r>
            <a:r>
              <a:rPr lang="en-US" altLang="zh-CN" sz="2000" dirty="0"/>
              <a:t>D</a:t>
            </a:r>
            <a:r>
              <a:rPr lang="zh-CN" altLang="en-US" sz="2000" dirty="0"/>
              <a:t>、</a:t>
            </a:r>
            <a:r>
              <a:rPr lang="en-US" altLang="zh-CN" sz="2000" dirty="0"/>
              <a:t>E </a:t>
            </a:r>
            <a:r>
              <a:rPr lang="zh-CN" altLang="en-US" sz="2000" dirty="0"/>
              <a:t>五人合伙夜间捕鱼，凌晨时都疲惫不堪，各自在河边的树丛中找地方睡着了；</a:t>
            </a:r>
            <a:endParaRPr lang="en-US" altLang="zh-CN" sz="2000" dirty="0"/>
          </a:p>
          <a:p>
            <a:pPr marL="342900" indent="-342900">
              <a:buFont typeface="Wingdings" panose="05000000000000000000" pitchFamily="2" charset="2"/>
              <a:buChar char="l"/>
            </a:pPr>
            <a:r>
              <a:rPr lang="zh-CN" altLang="en-US" sz="2000" dirty="0"/>
              <a:t>日上三竿，</a:t>
            </a:r>
            <a:r>
              <a:rPr lang="en-US" altLang="zh-CN" sz="2000" dirty="0"/>
              <a:t>A </a:t>
            </a:r>
            <a:r>
              <a:rPr lang="zh-CN" altLang="en-US" sz="2000" dirty="0"/>
              <a:t>第一个醒来，他将鱼平均分作五份，把多余的一条扔回湖中，拿自己的一份回家去了；</a:t>
            </a:r>
            <a:endParaRPr lang="en-US" altLang="zh-CN" sz="2000" dirty="0"/>
          </a:p>
          <a:p>
            <a:pPr marL="342900" indent="-342900">
              <a:buFont typeface="Wingdings" panose="05000000000000000000" pitchFamily="2" charset="2"/>
              <a:buChar char="l"/>
            </a:pPr>
            <a:r>
              <a:rPr lang="en-US" altLang="zh-CN" sz="2000" dirty="0"/>
              <a:t>B</a:t>
            </a:r>
            <a:r>
              <a:rPr lang="zh-CN" altLang="en-US" sz="2000" dirty="0"/>
              <a:t>第二个醒来，也将鱼平均分为五份，扔掉多余的一条，只拿走自己的一份；</a:t>
            </a:r>
          </a:p>
          <a:p>
            <a:pPr marL="342900" indent="-342900">
              <a:buFont typeface="Wingdings" panose="05000000000000000000" pitchFamily="2" charset="2"/>
              <a:buChar char="l"/>
            </a:pPr>
            <a:r>
              <a:rPr lang="zh-CN" altLang="en-US" sz="2000" dirty="0"/>
              <a:t>接着  </a:t>
            </a:r>
            <a:r>
              <a:rPr lang="en-US" altLang="zh-CN" sz="2000" dirty="0"/>
              <a:t>C</a:t>
            </a:r>
            <a:r>
              <a:rPr lang="zh-CN" altLang="en-US" sz="2000" dirty="0"/>
              <a:t>、</a:t>
            </a:r>
            <a:r>
              <a:rPr lang="en-US" altLang="zh-CN" sz="2000" dirty="0"/>
              <a:t>D</a:t>
            </a:r>
            <a:r>
              <a:rPr lang="zh-CN" altLang="en-US" sz="2000" dirty="0"/>
              <a:t>、</a:t>
            </a:r>
            <a:r>
              <a:rPr lang="en-US" altLang="zh-CN" sz="2000" dirty="0"/>
              <a:t>E    </a:t>
            </a:r>
            <a:r>
              <a:rPr lang="zh-CN" altLang="en-US" sz="2000" dirty="0"/>
              <a:t>依次醒来，也都按同样的办法分鱼；</a:t>
            </a:r>
            <a:endParaRPr lang="en-US" altLang="zh-CN" sz="2000" dirty="0"/>
          </a:p>
          <a:p>
            <a:pPr marL="342900" indent="-342900">
              <a:buFont typeface="Wingdings" panose="05000000000000000000" pitchFamily="2" charset="2"/>
              <a:buChar char="l"/>
            </a:pPr>
            <a:r>
              <a:rPr lang="zh-CN" altLang="en-US" sz="2000" dirty="0" smtClean="0"/>
              <a:t>问：</a:t>
            </a:r>
            <a:endParaRPr lang="en-US" altLang="zh-CN" sz="2000" dirty="0"/>
          </a:p>
          <a:p>
            <a:pPr marL="971550" lvl="1"/>
            <a:r>
              <a:rPr lang="zh-CN" altLang="en-US" sz="1800" dirty="0"/>
              <a:t>五人</a:t>
            </a:r>
            <a:r>
              <a:rPr lang="zh-CN" altLang="en-US" sz="1800" dirty="0">
                <a:solidFill>
                  <a:srgbClr val="0000CC"/>
                </a:solidFill>
              </a:rPr>
              <a:t>至少</a:t>
            </a:r>
            <a:r>
              <a:rPr lang="zh-CN" altLang="en-US" sz="1800" dirty="0"/>
              <a:t>合伙捕到多少条鱼？</a:t>
            </a:r>
            <a:endParaRPr lang="en-US" altLang="zh-CN" sz="1800" dirty="0"/>
          </a:p>
          <a:p>
            <a:pPr marL="971550" lvl="1"/>
            <a:r>
              <a:rPr lang="zh-CN" altLang="en-US" sz="1800" dirty="0"/>
              <a:t>每个人醒来后看到的鱼少条数是多</a:t>
            </a:r>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zh-CN" altLang="en-US" dirty="0"/>
          </a:p>
          <a:p>
            <a:pPr>
              <a:lnSpc>
                <a:spcPct val="110000"/>
              </a:lnSpc>
              <a:buFont typeface="Wingdings" panose="05000000000000000000" pitchFamily="2" charset="2"/>
              <a:buNone/>
            </a:pPr>
            <a:r>
              <a:rPr lang="zh-CN" altLang="en-US" dirty="0"/>
              <a:t>？</a:t>
            </a:r>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2187474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递</a:t>
            </a:r>
            <a:r>
              <a:rPr lang="zh-CN" altLang="en-US" dirty="0"/>
              <a:t>推例</a:t>
            </a:r>
            <a:r>
              <a:rPr lang="en-US" altLang="zh-CN" dirty="0"/>
              <a:t>---5</a:t>
            </a:r>
            <a:r>
              <a:rPr lang="zh-CN" altLang="en-US" dirty="0"/>
              <a:t>人捕鱼</a:t>
            </a:r>
          </a:p>
        </p:txBody>
      </p:sp>
      <p:sp>
        <p:nvSpPr>
          <p:cNvPr id="3" name="内容占位符 2"/>
          <p:cNvSpPr>
            <a:spLocks noGrp="1"/>
          </p:cNvSpPr>
          <p:nvPr>
            <p:ph idx="1"/>
          </p:nvPr>
        </p:nvSpPr>
        <p:spPr>
          <a:xfrm>
            <a:off x="309129" y="1062327"/>
            <a:ext cx="8089900" cy="5345112"/>
          </a:xfrm>
        </p:spPr>
        <p:txBody>
          <a:bodyPr/>
          <a:lstStyle/>
          <a:p>
            <a:pPr marL="342900" indent="-342900">
              <a:buFont typeface="Wingdings" panose="05000000000000000000" pitchFamily="2" charset="2"/>
              <a:buChar char="l"/>
            </a:pPr>
            <a:r>
              <a:rPr lang="zh-CN" altLang="en-US" sz="2000" dirty="0">
                <a:latin typeface="+mn-ea"/>
              </a:rPr>
              <a:t>假定</a:t>
            </a:r>
            <a:r>
              <a:rPr lang="en-US" altLang="zh-CN" sz="2000" dirty="0">
                <a:latin typeface="+mn-ea"/>
              </a:rPr>
              <a:t>A</a:t>
            </a:r>
            <a:r>
              <a:rPr lang="zh-CN" altLang="en-US" sz="2000" dirty="0">
                <a:latin typeface="+mn-ea"/>
              </a:rPr>
              <a:t>、</a:t>
            </a:r>
            <a:r>
              <a:rPr lang="en-US" altLang="zh-CN" sz="2000" dirty="0">
                <a:latin typeface="+mn-ea"/>
              </a:rPr>
              <a:t>B</a:t>
            </a:r>
            <a:r>
              <a:rPr lang="zh-CN" altLang="en-US" sz="2000" dirty="0">
                <a:latin typeface="+mn-ea"/>
              </a:rPr>
              <a:t>、</a:t>
            </a:r>
            <a:r>
              <a:rPr lang="en-US" altLang="zh-CN" sz="2000" dirty="0">
                <a:latin typeface="+mn-ea"/>
              </a:rPr>
              <a:t>C</a:t>
            </a:r>
            <a:r>
              <a:rPr lang="zh-CN" altLang="en-US" sz="2000" dirty="0">
                <a:latin typeface="+mn-ea"/>
              </a:rPr>
              <a:t>、</a:t>
            </a:r>
            <a:r>
              <a:rPr lang="en-US" altLang="zh-CN" sz="2000" dirty="0">
                <a:latin typeface="+mn-ea"/>
              </a:rPr>
              <a:t>D</a:t>
            </a:r>
            <a:r>
              <a:rPr lang="zh-CN" altLang="en-US" sz="2000" dirty="0">
                <a:latin typeface="+mn-ea"/>
              </a:rPr>
              <a:t>、</a:t>
            </a:r>
            <a:r>
              <a:rPr lang="en-US" altLang="zh-CN" sz="2000" dirty="0">
                <a:latin typeface="+mn-ea"/>
              </a:rPr>
              <a:t>E </a:t>
            </a:r>
            <a:r>
              <a:rPr lang="zh-CN" altLang="en-US" sz="2000" dirty="0">
                <a:latin typeface="+mn-ea"/>
              </a:rPr>
              <a:t>五人的编号分别为</a:t>
            </a:r>
            <a:r>
              <a:rPr lang="en-US" altLang="zh-CN" sz="2000" dirty="0">
                <a:latin typeface="+mn-ea"/>
              </a:rPr>
              <a:t>1</a:t>
            </a:r>
            <a:r>
              <a:rPr lang="zh-CN" altLang="en-US" sz="2000" dirty="0">
                <a:latin typeface="+mn-ea"/>
              </a:rPr>
              <a:t>、</a:t>
            </a:r>
            <a:r>
              <a:rPr lang="en-US" altLang="zh-CN" sz="2000" dirty="0">
                <a:latin typeface="+mn-ea"/>
              </a:rPr>
              <a:t>2</a:t>
            </a:r>
            <a:r>
              <a:rPr lang="zh-CN" altLang="en-US" sz="2000" dirty="0">
                <a:latin typeface="+mn-ea"/>
              </a:rPr>
              <a:t>、</a:t>
            </a:r>
            <a:r>
              <a:rPr lang="en-US" altLang="zh-CN" sz="2000" dirty="0">
                <a:latin typeface="+mn-ea"/>
              </a:rPr>
              <a:t>3</a:t>
            </a:r>
            <a:r>
              <a:rPr lang="zh-CN" altLang="en-US" sz="2000" dirty="0">
                <a:latin typeface="+mn-ea"/>
              </a:rPr>
              <a:t>、</a:t>
            </a:r>
            <a:r>
              <a:rPr lang="en-US" altLang="zh-CN" sz="2000" dirty="0">
                <a:latin typeface="+mn-ea"/>
              </a:rPr>
              <a:t>4</a:t>
            </a:r>
            <a:r>
              <a:rPr lang="zh-CN" altLang="en-US" sz="2000" dirty="0">
                <a:latin typeface="+mn-ea"/>
              </a:rPr>
              <a:t>、</a:t>
            </a:r>
            <a:r>
              <a:rPr lang="en-US" altLang="zh-CN" sz="2000" dirty="0">
                <a:latin typeface="+mn-ea"/>
              </a:rPr>
              <a:t>5</a:t>
            </a:r>
            <a:r>
              <a:rPr lang="zh-CN" altLang="en-US" sz="2000" dirty="0">
                <a:latin typeface="+mn-ea"/>
              </a:rPr>
              <a:t>；</a:t>
            </a:r>
            <a:endParaRPr lang="en-US" altLang="zh-CN" sz="2000" dirty="0">
              <a:latin typeface="+mn-ea"/>
            </a:endParaRPr>
          </a:p>
          <a:p>
            <a:pPr marL="342900" indent="-342900">
              <a:buFont typeface="Wingdings" panose="05000000000000000000" pitchFamily="2" charset="2"/>
              <a:buChar char="l"/>
            </a:pPr>
            <a:r>
              <a:rPr lang="zh-CN" altLang="en-US" sz="2000" dirty="0">
                <a:latin typeface="+mn-ea"/>
              </a:rPr>
              <a:t>整数数组 </a:t>
            </a:r>
            <a:r>
              <a:rPr lang="en-US" altLang="zh-CN" sz="2000" dirty="0">
                <a:solidFill>
                  <a:srgbClr val="0000CC"/>
                </a:solidFill>
                <a:latin typeface="+mn-ea"/>
              </a:rPr>
              <a:t>fish[k]</a:t>
            </a:r>
            <a:r>
              <a:rPr lang="en-US" altLang="zh-CN" sz="2000" dirty="0">
                <a:latin typeface="+mn-ea"/>
              </a:rPr>
              <a:t> </a:t>
            </a:r>
            <a:r>
              <a:rPr lang="zh-CN" altLang="en-US" sz="2000" dirty="0">
                <a:latin typeface="+mn-ea"/>
              </a:rPr>
              <a:t>表示第 </a:t>
            </a:r>
            <a:r>
              <a:rPr lang="en-US" altLang="zh-CN" sz="2000" dirty="0">
                <a:latin typeface="+mn-ea"/>
              </a:rPr>
              <a:t>k </a:t>
            </a:r>
            <a:r>
              <a:rPr lang="zh-CN" altLang="en-US" sz="2000" dirty="0">
                <a:latin typeface="+mn-ea"/>
              </a:rPr>
              <a:t>个人所看到的鱼数；</a:t>
            </a:r>
            <a:endParaRPr lang="en-US" altLang="zh-CN" sz="2000" dirty="0">
              <a:latin typeface="+mn-ea"/>
            </a:endParaRPr>
          </a:p>
          <a:p>
            <a:pPr marL="342900" indent="-342900">
              <a:buFont typeface="Wingdings" panose="05000000000000000000" pitchFamily="2" charset="2"/>
              <a:buChar char="l"/>
            </a:pPr>
            <a:r>
              <a:rPr lang="en-US" altLang="zh-CN" sz="2000" dirty="0">
                <a:latin typeface="+mn-ea"/>
              </a:rPr>
              <a:t>fish[1] </a:t>
            </a:r>
            <a:r>
              <a:rPr lang="zh-CN" altLang="en-US" sz="2000" dirty="0">
                <a:latin typeface="+mn-ea"/>
              </a:rPr>
              <a:t>表示</a:t>
            </a:r>
            <a:r>
              <a:rPr lang="en-US" altLang="zh-CN" sz="2000" dirty="0">
                <a:latin typeface="+mn-ea"/>
              </a:rPr>
              <a:t>A</a:t>
            </a:r>
            <a:r>
              <a:rPr lang="zh-CN" altLang="en-US" sz="2000" dirty="0">
                <a:latin typeface="+mn-ea"/>
              </a:rPr>
              <a:t>所看到的鱼数，</a:t>
            </a:r>
            <a:r>
              <a:rPr lang="en-US" altLang="zh-CN" sz="2000" dirty="0">
                <a:latin typeface="+mn-ea"/>
              </a:rPr>
              <a:t>fish[2] </a:t>
            </a:r>
            <a:r>
              <a:rPr lang="zh-CN" altLang="en-US" sz="2000" dirty="0">
                <a:latin typeface="+mn-ea"/>
              </a:rPr>
              <a:t>表示 </a:t>
            </a:r>
            <a:r>
              <a:rPr lang="en-US" altLang="zh-CN" sz="2000" dirty="0">
                <a:latin typeface="+mn-ea"/>
              </a:rPr>
              <a:t>B </a:t>
            </a:r>
            <a:r>
              <a:rPr lang="zh-CN" altLang="en-US" sz="2000" dirty="0">
                <a:latin typeface="+mn-ea"/>
              </a:rPr>
              <a:t>所看到的鱼数，以此类推；</a:t>
            </a:r>
            <a:endParaRPr lang="en-US" altLang="zh-CN" sz="2000" dirty="0">
              <a:latin typeface="+mn-ea"/>
            </a:endParaRPr>
          </a:p>
          <a:p>
            <a:pPr marL="342900" indent="-342900">
              <a:buFont typeface="Wingdings" panose="05000000000000000000" pitchFamily="2" charset="2"/>
              <a:buChar char="l"/>
            </a:pPr>
            <a:r>
              <a:rPr lang="zh-CN" altLang="en-US" sz="2000" dirty="0">
                <a:latin typeface="+mn-ea"/>
              </a:rPr>
              <a:t>从</a:t>
            </a:r>
            <a:r>
              <a:rPr lang="en-US" altLang="zh-CN" sz="2000" dirty="0">
                <a:latin typeface="+mn-ea"/>
              </a:rPr>
              <a:t>fish[1]</a:t>
            </a:r>
            <a:r>
              <a:rPr lang="zh-CN" altLang="en-US" sz="2000" dirty="0">
                <a:latin typeface="+mn-ea"/>
              </a:rPr>
              <a:t>递推到</a:t>
            </a:r>
            <a:r>
              <a:rPr lang="en-US" altLang="zh-CN" sz="2000" dirty="0">
                <a:latin typeface="+mn-ea"/>
              </a:rPr>
              <a:t>fish[5]</a:t>
            </a:r>
            <a:r>
              <a:rPr lang="zh-CN" altLang="en-US" sz="2000" dirty="0">
                <a:latin typeface="+mn-ea"/>
              </a:rPr>
              <a:t>的过程与条件：</a:t>
            </a:r>
            <a:endParaRPr lang="en-US" altLang="zh-CN" sz="2000" dirty="0">
              <a:latin typeface="+mn-ea"/>
            </a:endParaRPr>
          </a:p>
          <a:p>
            <a:pPr marL="971550" lvl="1"/>
            <a:r>
              <a:rPr lang="en-US" altLang="zh-CN" sz="1800" dirty="0"/>
              <a:t>fish[1]</a:t>
            </a:r>
            <a:r>
              <a:rPr lang="zh-CN" altLang="en-US" sz="1800" dirty="0"/>
              <a:t>： </a:t>
            </a:r>
            <a:r>
              <a:rPr lang="en-US" altLang="zh-CN" sz="1800" dirty="0"/>
              <a:t>A</a:t>
            </a:r>
            <a:r>
              <a:rPr lang="zh-CN" altLang="en-US" sz="1800" dirty="0"/>
              <a:t>所看到鱼的数量，即合伙捕到鱼的总数；</a:t>
            </a:r>
            <a:endParaRPr lang="en-US" altLang="zh-CN" sz="1800" dirty="0"/>
          </a:p>
          <a:p>
            <a:pPr marL="1200150" lvl="2"/>
            <a:r>
              <a:rPr lang="en-US" altLang="zh-CN" sz="1600" dirty="0"/>
              <a:t>A</a:t>
            </a:r>
            <a:r>
              <a:rPr lang="zh-CN" altLang="en-US" sz="1600" dirty="0"/>
              <a:t>将自己看到的鱼</a:t>
            </a:r>
            <a:r>
              <a:rPr lang="en-US" altLang="zh-CN" sz="1600" dirty="0"/>
              <a:t>fish[1]</a:t>
            </a:r>
            <a:r>
              <a:rPr lang="zh-CN" altLang="en-US" sz="1600" dirty="0"/>
              <a:t>扔掉一条后</a:t>
            </a:r>
            <a:r>
              <a:rPr lang="en-US" altLang="zh-CN" sz="1600" dirty="0"/>
              <a:t>5</a:t>
            </a:r>
            <a:r>
              <a:rPr lang="zh-CN" altLang="en-US" sz="1600" dirty="0"/>
              <a:t>等分，自己拿走一份，拿走的部分是</a:t>
            </a:r>
            <a:r>
              <a:rPr lang="en-US" altLang="zh-CN" sz="1600" dirty="0"/>
              <a:t>(fish[1] -1)/5</a:t>
            </a:r>
            <a:r>
              <a:rPr lang="zh-CN" altLang="en-US" sz="1600" dirty="0"/>
              <a:t>，剩余的部分是</a:t>
            </a:r>
            <a:r>
              <a:rPr lang="en-US" altLang="zh-CN" sz="1600" dirty="0"/>
              <a:t>(fish[1] -1)/5*4</a:t>
            </a:r>
            <a:r>
              <a:rPr lang="zh-CN" altLang="en-US" sz="1600" dirty="0"/>
              <a:t>，即</a:t>
            </a:r>
            <a:r>
              <a:rPr lang="en-US" altLang="zh-CN" sz="1600" dirty="0"/>
              <a:t>B</a:t>
            </a:r>
            <a:r>
              <a:rPr lang="zh-CN" altLang="en-US" sz="1600" dirty="0"/>
              <a:t>看到的数量；</a:t>
            </a:r>
            <a:endParaRPr lang="en-US" altLang="zh-CN" sz="1600" dirty="0"/>
          </a:p>
          <a:p>
            <a:pPr marL="1200150" lvl="2"/>
            <a:r>
              <a:rPr lang="zh-CN" altLang="en-US" sz="1600" dirty="0"/>
              <a:t>要求</a:t>
            </a:r>
            <a:r>
              <a:rPr lang="en-US" altLang="zh-CN" sz="1600" dirty="0"/>
              <a:t>fish[1] </a:t>
            </a:r>
            <a:r>
              <a:rPr lang="zh-CN" altLang="en-US" sz="1600" dirty="0"/>
              <a:t>是整数，且满足</a:t>
            </a:r>
            <a:r>
              <a:rPr lang="en-US" altLang="zh-CN" sz="1600" dirty="0"/>
              <a:t>(fish[1] -1)%5==0</a:t>
            </a:r>
            <a:r>
              <a:rPr lang="zh-CN" altLang="en-US" sz="1600" dirty="0"/>
              <a:t>，或</a:t>
            </a:r>
            <a:r>
              <a:rPr lang="en-US" altLang="zh-CN" sz="1600" dirty="0"/>
              <a:t> </a:t>
            </a:r>
            <a:r>
              <a:rPr lang="en-US" altLang="zh-CN" sz="1600" dirty="0">
                <a:solidFill>
                  <a:srgbClr val="C00000"/>
                </a:solidFill>
              </a:rPr>
              <a:t>fish[1] %5==1</a:t>
            </a:r>
            <a:r>
              <a:rPr lang="zh-CN" altLang="en-US" sz="1600" dirty="0"/>
              <a:t>；</a:t>
            </a:r>
            <a:endParaRPr lang="en-US" altLang="zh-CN" sz="1600" dirty="0"/>
          </a:p>
          <a:p>
            <a:pPr marL="971550" lvl="1"/>
            <a:r>
              <a:rPr lang="en-US" altLang="zh-CN" sz="1800" dirty="0"/>
              <a:t>fish[2]=(fish[1]-1)*4/5</a:t>
            </a:r>
            <a:r>
              <a:rPr lang="zh-CN" altLang="en-US" sz="1800" dirty="0"/>
              <a:t>，</a:t>
            </a:r>
            <a:r>
              <a:rPr lang="en-US" altLang="zh-CN" sz="1800" dirty="0"/>
              <a:t>B</a:t>
            </a:r>
            <a:r>
              <a:rPr lang="zh-CN" altLang="en-US" sz="1800" dirty="0"/>
              <a:t>所看到的鱼数；</a:t>
            </a:r>
            <a:endParaRPr lang="en-US" altLang="zh-CN" sz="1800" dirty="0"/>
          </a:p>
          <a:p>
            <a:pPr marL="1200150" lvl="2"/>
            <a:r>
              <a:rPr lang="en-US" altLang="zh-CN" sz="1600" dirty="0"/>
              <a:t>fish[2]</a:t>
            </a:r>
            <a:r>
              <a:rPr lang="zh-CN" altLang="en-US" sz="1600" dirty="0"/>
              <a:t>是</a:t>
            </a:r>
            <a:r>
              <a:rPr lang="en-US" altLang="zh-CN" sz="1600" dirty="0"/>
              <a:t>A</a:t>
            </a:r>
            <a:r>
              <a:rPr lang="zh-CN" altLang="en-US" sz="1600" dirty="0"/>
              <a:t>拿走后剩余的</a:t>
            </a:r>
            <a:r>
              <a:rPr lang="en-US" altLang="zh-CN" sz="1600" dirty="0"/>
              <a:t>4</a:t>
            </a:r>
            <a:r>
              <a:rPr lang="zh-CN" altLang="en-US" sz="1600" dirty="0"/>
              <a:t>份，因此应满足</a:t>
            </a:r>
            <a:r>
              <a:rPr lang="en-US" altLang="zh-CN" sz="1600" dirty="0">
                <a:solidFill>
                  <a:srgbClr val="C00000"/>
                </a:solidFill>
              </a:rPr>
              <a:t>fish[2]%4==0</a:t>
            </a:r>
            <a:r>
              <a:rPr lang="zh-CN" altLang="en-US" sz="1600" dirty="0"/>
              <a:t>；</a:t>
            </a:r>
            <a:endParaRPr lang="en-US" altLang="zh-CN" sz="1600" dirty="0"/>
          </a:p>
          <a:p>
            <a:pPr marL="1200150" lvl="2"/>
            <a:r>
              <a:rPr lang="en-US" altLang="zh-CN" sz="1600" dirty="0"/>
              <a:t>fish[2]</a:t>
            </a:r>
            <a:r>
              <a:rPr lang="zh-CN" altLang="en-US" sz="1600" dirty="0"/>
              <a:t>还要扔掉一条后</a:t>
            </a:r>
            <a:r>
              <a:rPr lang="en-US" altLang="zh-CN" sz="1600" dirty="0"/>
              <a:t>5</a:t>
            </a:r>
            <a:r>
              <a:rPr lang="zh-CN" altLang="en-US" sz="1600" dirty="0"/>
              <a:t>等分，因此还应满足</a:t>
            </a:r>
            <a:r>
              <a:rPr lang="en-US" altLang="zh-CN" sz="1600" dirty="0">
                <a:solidFill>
                  <a:srgbClr val="C00000"/>
                </a:solidFill>
              </a:rPr>
              <a:t>fish[2]%5==1</a:t>
            </a:r>
            <a:r>
              <a:rPr lang="zh-CN" altLang="en-US" sz="1600" dirty="0">
                <a:solidFill>
                  <a:srgbClr val="C00000"/>
                </a:solidFill>
              </a:rPr>
              <a:t>；</a:t>
            </a:r>
            <a:endParaRPr lang="en-US" altLang="zh-CN" sz="1600" dirty="0"/>
          </a:p>
          <a:p>
            <a:pPr marL="971550" lvl="1"/>
            <a:r>
              <a:rPr lang="en-US" altLang="zh-CN" sz="1800" dirty="0"/>
              <a:t>fish[3]=(fish[2]-1)*4/5</a:t>
            </a:r>
            <a:r>
              <a:rPr lang="zh-CN" altLang="en-US" sz="1800" dirty="0"/>
              <a:t>，</a:t>
            </a:r>
            <a:r>
              <a:rPr lang="en-US" altLang="zh-CN" sz="1800" dirty="0"/>
              <a:t>C</a:t>
            </a:r>
            <a:r>
              <a:rPr lang="zh-CN" altLang="en-US" sz="1800" dirty="0"/>
              <a:t>所看到的鱼数</a:t>
            </a:r>
            <a:r>
              <a:rPr lang="en-US" altLang="zh-CN" sz="1800" dirty="0"/>
              <a:t>;</a:t>
            </a:r>
            <a:r>
              <a:rPr lang="en-US" altLang="zh-CN" sz="1600" dirty="0"/>
              <a:t>//</a:t>
            </a:r>
            <a:r>
              <a:rPr lang="en-US" altLang="zh-CN" sz="1600" dirty="0">
                <a:solidFill>
                  <a:srgbClr val="C00000"/>
                </a:solidFill>
              </a:rPr>
              <a:t>fish[3]%4==0 &amp;&amp; fish[3]%5==1; </a:t>
            </a:r>
            <a:endParaRPr lang="en-US" altLang="zh-CN" sz="1600" dirty="0"/>
          </a:p>
          <a:p>
            <a:pPr marL="971550" lvl="1"/>
            <a:r>
              <a:rPr lang="en-US" altLang="zh-CN" sz="1800" dirty="0"/>
              <a:t>fish[4]=(fish[3]-1)*4/5</a:t>
            </a:r>
            <a:r>
              <a:rPr lang="zh-CN" altLang="en-US" sz="1800" dirty="0"/>
              <a:t>，</a:t>
            </a:r>
            <a:r>
              <a:rPr lang="en-US" altLang="zh-CN" sz="1800" dirty="0"/>
              <a:t>D</a:t>
            </a:r>
            <a:r>
              <a:rPr lang="zh-CN" altLang="en-US" sz="1800" dirty="0"/>
              <a:t>所看到的鱼数</a:t>
            </a:r>
            <a:r>
              <a:rPr lang="en-US" altLang="zh-CN" sz="1800" dirty="0"/>
              <a:t>;//</a:t>
            </a:r>
            <a:r>
              <a:rPr lang="en-US" altLang="zh-CN" sz="1600" dirty="0">
                <a:solidFill>
                  <a:srgbClr val="C00000"/>
                </a:solidFill>
              </a:rPr>
              <a:t>fish[4]%4==0 &amp;&amp; fish[4]%5==1;</a:t>
            </a:r>
            <a:endParaRPr lang="en-US" altLang="zh-CN" sz="1600" dirty="0"/>
          </a:p>
          <a:p>
            <a:pPr marL="971550" lvl="1"/>
            <a:r>
              <a:rPr lang="en-US" altLang="zh-CN" sz="1800" dirty="0"/>
              <a:t>fish[5]=(fish[4]-1)*4/5</a:t>
            </a:r>
            <a:r>
              <a:rPr lang="zh-CN" altLang="en-US" sz="1800" dirty="0"/>
              <a:t>，</a:t>
            </a:r>
            <a:r>
              <a:rPr lang="en-US" altLang="zh-CN" sz="1800" dirty="0"/>
              <a:t>E</a:t>
            </a:r>
            <a:r>
              <a:rPr lang="zh-CN" altLang="en-US" sz="1800" dirty="0"/>
              <a:t>所看到的鱼数</a:t>
            </a:r>
            <a:r>
              <a:rPr lang="en-US" altLang="zh-CN" sz="1800" dirty="0"/>
              <a:t>;//</a:t>
            </a:r>
            <a:r>
              <a:rPr lang="en-US" altLang="zh-CN" sz="1600" dirty="0">
                <a:solidFill>
                  <a:srgbClr val="C00000"/>
                </a:solidFill>
              </a:rPr>
              <a:t>fish[5]%4==0 &amp;&amp; fish[5]%5==1;</a:t>
            </a:r>
            <a:endParaRPr lang="en-US" altLang="zh-CN" sz="1600" dirty="0"/>
          </a:p>
          <a:p>
            <a:pPr marL="342900" indent="-342900">
              <a:buFont typeface="Wingdings" panose="05000000000000000000" pitchFamily="2" charset="2"/>
              <a:buChar char="l"/>
            </a:pPr>
            <a:endParaRPr lang="en-US" altLang="zh-CN" dirty="0">
              <a:latin typeface="+mn-ea"/>
            </a:endParaRPr>
          </a:p>
          <a:p>
            <a:pPr marL="971550" lvl="1"/>
            <a:endParaRPr lang="en-US" altLang="zh-CN" b="1" dirty="0">
              <a:ea typeface="黑体" panose="02010609060101010101" pitchFamily="49" charset="-122"/>
            </a:endParaRPr>
          </a:p>
          <a:p>
            <a:pPr marL="971550" lvl="1"/>
            <a:endParaRPr lang="en-US" altLang="zh-CN" b="1" dirty="0">
              <a:ea typeface="黑体" panose="02010609060101010101" pitchFamily="49" charset="-122"/>
            </a:endParaRPr>
          </a:p>
          <a:p>
            <a:pPr marL="971550" lvl="1"/>
            <a:endParaRPr lang="en-US" altLang="zh-CN" dirty="0"/>
          </a:p>
          <a:p>
            <a:pPr marL="971550" lvl="1"/>
            <a:endParaRPr lang="en-US" altLang="zh-CN" dirty="0">
              <a:latin typeface="+mn-ea"/>
            </a:endParaRP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latin typeface="+mn-ea"/>
            </a:endParaRPr>
          </a:p>
          <a:p>
            <a:pPr>
              <a:lnSpc>
                <a:spcPct val="110000"/>
              </a:lnSpc>
              <a:buFont typeface="Wingdings" panose="05000000000000000000" pitchFamily="2" charset="2"/>
              <a:buNone/>
            </a:pPr>
            <a:endParaRPr lang="zh-CN" altLang="en-US" dirty="0"/>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743170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递</a:t>
            </a:r>
            <a:r>
              <a:rPr lang="zh-CN" altLang="en-US" dirty="0"/>
              <a:t>推例</a:t>
            </a:r>
            <a:r>
              <a:rPr lang="en-US" altLang="zh-CN" dirty="0"/>
              <a:t>---5</a:t>
            </a:r>
            <a:r>
              <a:rPr lang="zh-CN" altLang="en-US" dirty="0"/>
              <a:t>人捕鱼</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solidFill>
                  <a:srgbClr val="000000"/>
                </a:solidFill>
              </a:rPr>
              <a:t>由</a:t>
            </a:r>
            <a:r>
              <a:rPr lang="en-US" altLang="zh-CN" dirty="0">
                <a:solidFill>
                  <a:srgbClr val="000000"/>
                </a:solidFill>
              </a:rPr>
              <a:t>fish[1]</a:t>
            </a:r>
            <a:r>
              <a:rPr lang="zh-CN" altLang="en-US" dirty="0">
                <a:solidFill>
                  <a:srgbClr val="000000"/>
                </a:solidFill>
              </a:rPr>
              <a:t>递推到</a:t>
            </a:r>
            <a:r>
              <a:rPr lang="en-US" altLang="zh-CN" dirty="0">
                <a:solidFill>
                  <a:srgbClr val="000000"/>
                </a:solidFill>
              </a:rPr>
              <a:t>fish[5]</a:t>
            </a:r>
            <a:r>
              <a:rPr lang="zh-CN" altLang="en-US" dirty="0">
                <a:solidFill>
                  <a:srgbClr val="000000"/>
                </a:solidFill>
              </a:rPr>
              <a:t>一般式为：</a:t>
            </a:r>
            <a:endParaRPr lang="en-US" altLang="zh-CN" dirty="0">
              <a:solidFill>
                <a:srgbClr val="000000"/>
              </a:solidFill>
            </a:endParaRPr>
          </a:p>
          <a:p>
            <a:pPr marL="971550" lvl="1"/>
            <a:r>
              <a:rPr lang="en-US" altLang="zh-CN" dirty="0"/>
              <a:t>fish [i] = (fish [i-1]–1) *4/5</a:t>
            </a:r>
            <a:r>
              <a:rPr lang="zh-CN" altLang="en-US" dirty="0"/>
              <a:t>，</a:t>
            </a:r>
            <a:r>
              <a:rPr lang="zh-CN" altLang="en-US" dirty="0">
                <a:solidFill>
                  <a:srgbClr val="0000CC"/>
                </a:solidFill>
              </a:rPr>
              <a:t>且满足</a:t>
            </a:r>
            <a:endParaRPr lang="en-US" altLang="zh-CN" dirty="0">
              <a:solidFill>
                <a:srgbClr val="0000CC"/>
              </a:solidFill>
            </a:endParaRPr>
          </a:p>
          <a:p>
            <a:pPr marL="971550" lvl="1"/>
            <a:r>
              <a:rPr lang="zh-CN" altLang="en-US" dirty="0">
                <a:solidFill>
                  <a:srgbClr val="C00000"/>
                </a:solidFill>
              </a:rPr>
              <a:t> </a:t>
            </a:r>
            <a:r>
              <a:rPr lang="en-US" altLang="zh-CN" dirty="0">
                <a:solidFill>
                  <a:srgbClr val="C00000"/>
                </a:solidFill>
              </a:rPr>
              <a:t>fish[1]%5==1</a:t>
            </a:r>
            <a:r>
              <a:rPr lang="zh-CN" altLang="en-US" dirty="0"/>
              <a:t>，</a:t>
            </a:r>
            <a:r>
              <a:rPr lang="en-US" altLang="zh-CN" dirty="0">
                <a:solidFill>
                  <a:srgbClr val="C00000"/>
                </a:solidFill>
              </a:rPr>
              <a:t> fish[i]%4==0 &amp;&amp; fish[i]%5==1 </a:t>
            </a:r>
            <a:r>
              <a:rPr lang="zh-CN" altLang="en-US" dirty="0"/>
              <a:t>；</a:t>
            </a:r>
            <a:r>
              <a:rPr lang="en-US" altLang="zh-CN" dirty="0"/>
              <a:t>i = 2, 3,4,5</a:t>
            </a:r>
            <a:r>
              <a:rPr lang="zh-CN" altLang="en-US" dirty="0"/>
              <a:t>；</a:t>
            </a:r>
            <a:endParaRPr lang="en-US" altLang="zh-CN" dirty="0"/>
          </a:p>
          <a:p>
            <a:pPr marL="342900" indent="-342900">
              <a:buFont typeface="Wingdings" panose="05000000000000000000" pitchFamily="2" charset="2"/>
              <a:buChar char="l"/>
            </a:pPr>
            <a:r>
              <a:rPr lang="zh-CN" altLang="en-US" dirty="0"/>
              <a:t>该式根据 </a:t>
            </a:r>
            <a:r>
              <a:rPr lang="en-US" altLang="zh-CN" dirty="0"/>
              <a:t>A </a:t>
            </a:r>
            <a:r>
              <a:rPr lang="zh-CN" altLang="en-US" dirty="0"/>
              <a:t>看到的鱼数去推算 </a:t>
            </a:r>
            <a:r>
              <a:rPr lang="en-US" altLang="zh-CN" dirty="0"/>
              <a:t>B </a:t>
            </a:r>
            <a:r>
              <a:rPr lang="zh-CN" altLang="en-US" dirty="0"/>
              <a:t>看到的鱼数，再推算 </a:t>
            </a:r>
            <a:r>
              <a:rPr lang="en-US" altLang="zh-CN" dirty="0"/>
              <a:t>C </a:t>
            </a:r>
            <a:r>
              <a:rPr lang="zh-CN" altLang="en-US" dirty="0"/>
              <a:t>看到的鱼数，以此类推；</a:t>
            </a: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r>
              <a:rPr lang="zh-CN" altLang="en-US" dirty="0"/>
              <a:t>题目的要求是求 </a:t>
            </a:r>
            <a:r>
              <a:rPr lang="en-US" altLang="zh-CN" dirty="0"/>
              <a:t>A </a:t>
            </a:r>
            <a:r>
              <a:rPr lang="zh-CN" altLang="en-US" dirty="0"/>
              <a:t>看到的鱼数，需要倒过来递推；</a:t>
            </a:r>
            <a:endParaRPr lang="en-US" altLang="zh-CN" dirty="0"/>
          </a:p>
          <a:p>
            <a:pPr marL="342900" indent="-342900">
              <a:buFont typeface="Wingdings" panose="05000000000000000000" pitchFamily="2" charset="2"/>
              <a:buChar char="l"/>
            </a:pPr>
            <a:r>
              <a:rPr lang="zh-CN" altLang="en-US" dirty="0">
                <a:solidFill>
                  <a:srgbClr val="0000CC"/>
                </a:solidFill>
              </a:rPr>
              <a:t>因此由</a:t>
            </a:r>
            <a:r>
              <a:rPr lang="en-US" altLang="zh-CN" dirty="0">
                <a:solidFill>
                  <a:srgbClr val="0000CC"/>
                </a:solidFill>
              </a:rPr>
              <a:t>fish[5]</a:t>
            </a:r>
            <a:r>
              <a:rPr lang="zh-CN" altLang="en-US" dirty="0">
                <a:solidFill>
                  <a:srgbClr val="0000CC"/>
                </a:solidFill>
              </a:rPr>
              <a:t>递推到</a:t>
            </a:r>
            <a:r>
              <a:rPr lang="en-US" altLang="zh-CN" dirty="0">
                <a:solidFill>
                  <a:srgbClr val="0000CC"/>
                </a:solidFill>
              </a:rPr>
              <a:t>fish[1]</a:t>
            </a:r>
            <a:r>
              <a:rPr lang="zh-CN" altLang="en-US" dirty="0">
                <a:solidFill>
                  <a:srgbClr val="0000CC"/>
                </a:solidFill>
              </a:rPr>
              <a:t>一般式为：</a:t>
            </a:r>
            <a:endParaRPr lang="en-US" altLang="zh-CN" dirty="0">
              <a:solidFill>
                <a:srgbClr val="0000CC"/>
              </a:solidFill>
            </a:endParaRPr>
          </a:p>
          <a:p>
            <a:pPr marL="971550" lvl="1"/>
            <a:r>
              <a:rPr lang="en-US" altLang="zh-CN" dirty="0"/>
              <a:t>fish[i-1] = fish[i] * 5/4 +1</a:t>
            </a:r>
            <a:r>
              <a:rPr lang="zh-CN" altLang="en-US" dirty="0"/>
              <a:t>，</a:t>
            </a:r>
            <a:r>
              <a:rPr lang="zh-CN" altLang="en-US" dirty="0">
                <a:solidFill>
                  <a:srgbClr val="0000CC"/>
                </a:solidFill>
              </a:rPr>
              <a:t>且满足</a:t>
            </a:r>
            <a:endParaRPr lang="en-US" altLang="zh-CN" dirty="0">
              <a:solidFill>
                <a:srgbClr val="0000CC"/>
              </a:solidFill>
            </a:endParaRPr>
          </a:p>
          <a:p>
            <a:pPr marL="971550" lvl="1"/>
            <a:r>
              <a:rPr lang="zh-CN" altLang="en-US" dirty="0">
                <a:solidFill>
                  <a:srgbClr val="C00000"/>
                </a:solidFill>
              </a:rPr>
              <a:t> </a:t>
            </a:r>
            <a:r>
              <a:rPr lang="en-US" altLang="zh-CN" dirty="0">
                <a:solidFill>
                  <a:srgbClr val="C00000"/>
                </a:solidFill>
              </a:rPr>
              <a:t>fish[1]%5==1</a:t>
            </a:r>
            <a:r>
              <a:rPr lang="zh-CN" altLang="en-US" dirty="0"/>
              <a:t>，</a:t>
            </a:r>
            <a:r>
              <a:rPr lang="en-US" altLang="zh-CN" dirty="0">
                <a:solidFill>
                  <a:srgbClr val="C00000"/>
                </a:solidFill>
              </a:rPr>
              <a:t> fish[i]%4==0 &amp;&amp; fish[i]%5==1, </a:t>
            </a:r>
            <a:r>
              <a:rPr lang="en-US" altLang="zh-CN" dirty="0"/>
              <a:t>i = 5, 4,3,2</a:t>
            </a:r>
            <a:r>
              <a:rPr lang="zh-CN" altLang="en-US" dirty="0"/>
              <a:t>；</a:t>
            </a:r>
            <a:endParaRPr lang="en-US" altLang="zh-CN" dirty="0"/>
          </a:p>
          <a:p>
            <a:pPr marL="971550" lvl="1"/>
            <a:endParaRPr lang="zh-CN" altLang="en-US" dirty="0"/>
          </a:p>
          <a:p>
            <a:pPr marL="971550" lvl="1"/>
            <a:endParaRPr lang="en-US" altLang="zh-CN" b="1" dirty="0">
              <a:solidFill>
                <a:schemeClr val="tx2"/>
              </a:solidFill>
              <a:ea typeface="黑体" panose="02010609060101010101" pitchFamily="49" charset="-122"/>
            </a:endParaRPr>
          </a:p>
          <a:p>
            <a:pPr marL="971550" lvl="1"/>
            <a:endParaRPr lang="en-US" altLang="zh-CN" dirty="0">
              <a:latin typeface="+mn-ea"/>
            </a:endParaRPr>
          </a:p>
          <a:p>
            <a:pPr marL="342900" indent="-342900">
              <a:buFont typeface="Wingdings" panose="05000000000000000000" pitchFamily="2" charset="2"/>
              <a:buChar char="l"/>
            </a:pPr>
            <a:endParaRPr lang="en-US" altLang="zh-CN" dirty="0">
              <a:latin typeface="+mn-ea"/>
            </a:endParaRPr>
          </a:p>
          <a:p>
            <a:pPr marL="342900" indent="-342900">
              <a:buFont typeface="Wingdings" panose="05000000000000000000" pitchFamily="2" charset="2"/>
              <a:buChar char="l"/>
            </a:pPr>
            <a:endParaRPr lang="en-US" altLang="zh-CN" dirty="0">
              <a:latin typeface="+mn-ea"/>
            </a:endParaRPr>
          </a:p>
          <a:p>
            <a:pPr marL="971550" lvl="1"/>
            <a:endParaRPr lang="en-US" altLang="zh-CN" b="1" dirty="0">
              <a:ea typeface="黑体" panose="02010609060101010101" pitchFamily="49" charset="-122"/>
            </a:endParaRPr>
          </a:p>
          <a:p>
            <a:pPr marL="971550" lvl="1"/>
            <a:endParaRPr lang="en-US" altLang="zh-CN" b="1" dirty="0">
              <a:ea typeface="黑体" panose="02010609060101010101" pitchFamily="49" charset="-122"/>
            </a:endParaRPr>
          </a:p>
          <a:p>
            <a:pPr marL="971550" lvl="1"/>
            <a:endParaRPr lang="en-US" altLang="zh-CN" dirty="0"/>
          </a:p>
          <a:p>
            <a:pPr marL="971550" lvl="1"/>
            <a:endParaRPr lang="en-US" altLang="zh-CN" dirty="0">
              <a:latin typeface="+mn-ea"/>
            </a:endParaRP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latin typeface="+mn-ea"/>
            </a:endParaRPr>
          </a:p>
          <a:p>
            <a:pPr>
              <a:lnSpc>
                <a:spcPct val="110000"/>
              </a:lnSpc>
              <a:buFont typeface="Wingdings" panose="05000000000000000000" pitchFamily="2" charset="2"/>
              <a:buNone/>
            </a:pPr>
            <a:endParaRPr lang="zh-CN" altLang="en-US" dirty="0"/>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2851046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递</a:t>
            </a:r>
            <a:r>
              <a:rPr lang="zh-CN" altLang="en-US" dirty="0"/>
              <a:t>推例</a:t>
            </a:r>
            <a:r>
              <a:rPr lang="en-US" altLang="zh-CN" dirty="0"/>
              <a:t>---5</a:t>
            </a:r>
            <a:r>
              <a:rPr lang="zh-CN" altLang="en-US" dirty="0"/>
              <a:t>人捕鱼</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t>题目问</a:t>
            </a:r>
            <a:r>
              <a:rPr lang="en-US" altLang="zh-CN" sz="2000" dirty="0"/>
              <a:t>5</a:t>
            </a:r>
            <a:r>
              <a:rPr lang="zh-CN" altLang="en-US" sz="2000" dirty="0"/>
              <a:t>人至少捕鱼多少条？</a:t>
            </a:r>
            <a:endParaRPr lang="en-US" altLang="zh-CN" sz="2000" dirty="0"/>
          </a:p>
          <a:p>
            <a:pPr marL="342900" indent="-342900">
              <a:buFont typeface="Wingdings" panose="05000000000000000000" pitchFamily="2" charset="2"/>
              <a:buChar char="l"/>
            </a:pPr>
            <a:r>
              <a:rPr lang="zh-CN" altLang="en-US" sz="2000" dirty="0"/>
              <a:t>可以将</a:t>
            </a:r>
            <a:r>
              <a:rPr lang="en-US" altLang="zh-CN" sz="2000" dirty="0"/>
              <a:t>fish[5]</a:t>
            </a:r>
            <a:r>
              <a:rPr lang="zh-CN" altLang="en-US" sz="2000" dirty="0"/>
              <a:t>从小往大枚举；</a:t>
            </a:r>
            <a:endParaRPr lang="en-US" altLang="zh-CN" sz="2000" dirty="0"/>
          </a:p>
          <a:p>
            <a:pPr marL="971550" lvl="1"/>
            <a:r>
              <a:rPr lang="zh-CN" altLang="en-US" sz="1800" dirty="0"/>
              <a:t>满足</a:t>
            </a:r>
            <a:r>
              <a:rPr lang="en-US" altLang="zh-CN" sz="1800" dirty="0"/>
              <a:t>fish[5] %4==0&amp;&amp; fish[5] %5==1</a:t>
            </a:r>
            <a:r>
              <a:rPr lang="zh-CN" altLang="en-US" sz="1800" dirty="0"/>
              <a:t>的最小值是</a:t>
            </a:r>
            <a:r>
              <a:rPr lang="en-US" altLang="zh-CN" sz="1800" dirty="0"/>
              <a:t>16</a:t>
            </a:r>
            <a:r>
              <a:rPr lang="zh-CN" altLang="en-US" sz="1800" dirty="0"/>
              <a:t>，以后累加</a:t>
            </a:r>
            <a:r>
              <a:rPr lang="en-US" altLang="zh-CN" sz="1800" dirty="0"/>
              <a:t>20</a:t>
            </a:r>
            <a:r>
              <a:rPr lang="zh-CN" altLang="en-US" sz="1800" dirty="0"/>
              <a:t>；</a:t>
            </a:r>
            <a:endParaRPr lang="en-US" altLang="zh-CN" sz="1800" dirty="0"/>
          </a:p>
          <a:p>
            <a:pPr marL="971550" lvl="1"/>
            <a:r>
              <a:rPr lang="zh-CN" altLang="en-US" sz="1800" dirty="0"/>
              <a:t>由于采用枚举法，</a:t>
            </a:r>
            <a:r>
              <a:rPr lang="en-US" altLang="zh-CN" sz="1800" dirty="0"/>
              <a:t> fish[5]</a:t>
            </a:r>
            <a:r>
              <a:rPr lang="zh-CN" altLang="en-US" sz="1800" dirty="0"/>
              <a:t>可以从</a:t>
            </a:r>
            <a:r>
              <a:rPr lang="en-US" altLang="zh-CN" sz="1800" dirty="0"/>
              <a:t>1</a:t>
            </a:r>
            <a:r>
              <a:rPr lang="zh-CN" altLang="en-US" sz="1800" dirty="0"/>
              <a:t>开始枚举；</a:t>
            </a:r>
            <a:endParaRPr lang="en-US" altLang="zh-CN" sz="1800" dirty="0"/>
          </a:p>
          <a:p>
            <a:pPr marL="971550" lvl="1"/>
            <a:r>
              <a:rPr lang="zh-CN" altLang="en-US" sz="1800" dirty="0"/>
              <a:t>如果</a:t>
            </a:r>
            <a:r>
              <a:rPr lang="en-US" altLang="zh-CN" sz="1800" dirty="0"/>
              <a:t>fish[5]</a:t>
            </a:r>
            <a:r>
              <a:rPr lang="zh-CN" altLang="en-US" sz="1800" dirty="0"/>
              <a:t>从</a:t>
            </a:r>
            <a:r>
              <a:rPr lang="en-US" altLang="zh-CN" sz="1800" dirty="0"/>
              <a:t>6</a:t>
            </a:r>
            <a:r>
              <a:rPr lang="zh-CN" altLang="en-US" sz="1800" dirty="0"/>
              <a:t>开始枚举，每次</a:t>
            </a:r>
            <a:r>
              <a:rPr lang="en-US" altLang="zh-CN" sz="1800" dirty="0"/>
              <a:t>+5</a:t>
            </a:r>
            <a:r>
              <a:rPr lang="zh-CN" altLang="en-US" sz="1800" dirty="0"/>
              <a:t>，能够保证</a:t>
            </a:r>
            <a:r>
              <a:rPr lang="en-US" altLang="zh-CN" sz="1800" dirty="0"/>
              <a:t>fish[5] %5=1</a:t>
            </a:r>
            <a:r>
              <a:rPr lang="zh-CN" altLang="en-US" sz="1800" dirty="0"/>
              <a:t>，减少检测次数（从</a:t>
            </a:r>
            <a:r>
              <a:rPr lang="en-US" altLang="zh-CN" sz="1800" dirty="0"/>
              <a:t>16</a:t>
            </a:r>
            <a:r>
              <a:rPr lang="zh-CN" altLang="en-US" sz="1800" dirty="0"/>
              <a:t>开始检测，以后累加</a:t>
            </a:r>
            <a:r>
              <a:rPr lang="en-US" altLang="zh-CN" sz="1800" dirty="0"/>
              <a:t>20</a:t>
            </a:r>
            <a:r>
              <a:rPr lang="zh-CN" altLang="en-US" sz="1800" dirty="0"/>
              <a:t>会更好）；</a:t>
            </a:r>
            <a:endParaRPr lang="en-US" altLang="zh-CN" sz="1800" dirty="0"/>
          </a:p>
          <a:p>
            <a:pPr marL="342900" indent="-342900">
              <a:buFont typeface="Wingdings" panose="05000000000000000000" pitchFamily="2" charset="2"/>
              <a:buChar char="l"/>
            </a:pPr>
            <a:r>
              <a:rPr lang="zh-CN" altLang="en-US" sz="2000" dirty="0"/>
              <a:t>算法描述：</a:t>
            </a:r>
            <a:endParaRPr lang="en-US" altLang="zh-CN" sz="2000" dirty="0"/>
          </a:p>
          <a:p>
            <a:pPr marL="971550" lvl="1"/>
            <a:r>
              <a:rPr lang="en-US" altLang="zh-CN" sz="1800" dirty="0"/>
              <a:t>Step 1</a:t>
            </a:r>
            <a:r>
              <a:rPr lang="zh-CN" altLang="en-US" sz="1800" dirty="0"/>
              <a:t> 先试探 </a:t>
            </a:r>
            <a:r>
              <a:rPr lang="en-US" altLang="zh-CN" sz="1800" dirty="0"/>
              <a:t>E </a:t>
            </a:r>
            <a:r>
              <a:rPr lang="zh-CN" altLang="en-US" sz="1800" dirty="0"/>
              <a:t>所看到的鱼数最少为 </a:t>
            </a:r>
            <a:r>
              <a:rPr lang="en-US" altLang="zh-CN" sz="1800" dirty="0"/>
              <a:t>6 </a:t>
            </a:r>
            <a:r>
              <a:rPr lang="zh-CN" altLang="en-US" sz="1800" dirty="0"/>
              <a:t>条，即 </a:t>
            </a:r>
            <a:r>
              <a:rPr lang="en-US" altLang="zh-CN" sz="1800" dirty="0"/>
              <a:t>fish[5] </a:t>
            </a:r>
            <a:r>
              <a:rPr lang="zh-CN" altLang="en-US" sz="1800" dirty="0"/>
              <a:t>初始化为 </a:t>
            </a:r>
            <a:r>
              <a:rPr lang="en-US" altLang="zh-CN" sz="1800" dirty="0"/>
              <a:t>6</a:t>
            </a:r>
            <a:r>
              <a:rPr lang="zh-CN" altLang="en-US" sz="1800" dirty="0"/>
              <a:t>；</a:t>
            </a:r>
            <a:r>
              <a:rPr lang="en-US" altLang="zh-CN" sz="1800" dirty="0"/>
              <a:t>Step 2 </a:t>
            </a:r>
            <a:r>
              <a:rPr lang="zh-CN" altLang="en-US" sz="1800" dirty="0"/>
              <a:t>从</a:t>
            </a:r>
            <a:r>
              <a:rPr lang="en-US" altLang="zh-CN" sz="1800" dirty="0"/>
              <a:t>fish[5]</a:t>
            </a:r>
            <a:r>
              <a:rPr lang="zh-CN" altLang="en-US" sz="1800" dirty="0"/>
              <a:t>递推到 </a:t>
            </a:r>
            <a:r>
              <a:rPr lang="en-US" altLang="zh-CN" sz="1800" dirty="0"/>
              <a:t>fish[1] </a:t>
            </a:r>
            <a:r>
              <a:rPr lang="zh-CN" altLang="en-US" sz="1800" dirty="0"/>
              <a:t>；</a:t>
            </a:r>
            <a:endParaRPr lang="en-US" altLang="zh-CN" sz="1800" dirty="0"/>
          </a:p>
          <a:p>
            <a:pPr marL="1200150" lvl="2"/>
            <a:r>
              <a:rPr lang="en-US" altLang="zh-CN" sz="1800" dirty="0"/>
              <a:t>Step 2.1 </a:t>
            </a:r>
            <a:r>
              <a:rPr lang="zh-CN" altLang="en-US" sz="1800" dirty="0"/>
              <a:t>如果</a:t>
            </a:r>
            <a:r>
              <a:rPr lang="en-US" altLang="zh-CN" sz="1800" dirty="0"/>
              <a:t>fish[i]%4!=0 || fish[i]%5!=1 (i=5,4,3,2)</a:t>
            </a:r>
            <a:r>
              <a:rPr lang="zh-CN" altLang="en-US" sz="1800" dirty="0"/>
              <a:t>，转</a:t>
            </a:r>
            <a:r>
              <a:rPr lang="en-US" altLang="zh-CN" sz="1800" dirty="0"/>
              <a:t>Step 3</a:t>
            </a:r>
            <a:r>
              <a:rPr lang="zh-CN" altLang="en-US" sz="1800" dirty="0"/>
              <a:t>；</a:t>
            </a:r>
            <a:endParaRPr lang="en-US" altLang="zh-CN" sz="1800" dirty="0"/>
          </a:p>
          <a:p>
            <a:pPr marL="1200150" lvl="2"/>
            <a:r>
              <a:rPr lang="en-US" altLang="zh-CN" sz="1800" dirty="0"/>
              <a:t>Step 2.2 </a:t>
            </a:r>
            <a:r>
              <a:rPr lang="zh-CN" altLang="en-US" sz="1800" dirty="0"/>
              <a:t>如果</a:t>
            </a:r>
            <a:r>
              <a:rPr lang="en-US" altLang="zh-CN" sz="1800" dirty="0"/>
              <a:t>fish[1]%5= =1</a:t>
            </a:r>
            <a:r>
              <a:rPr lang="zh-CN" altLang="en-US" sz="1800" dirty="0"/>
              <a:t>，转</a:t>
            </a:r>
            <a:r>
              <a:rPr lang="en-US" altLang="zh-CN" sz="1800" dirty="0"/>
              <a:t>Step 4</a:t>
            </a:r>
            <a:r>
              <a:rPr lang="zh-CN" altLang="en-US" sz="1800" dirty="0"/>
              <a:t>；否则，</a:t>
            </a:r>
            <a:r>
              <a:rPr lang="en-US" altLang="zh-CN" sz="1800" dirty="0"/>
              <a:t> </a:t>
            </a:r>
            <a:r>
              <a:rPr lang="zh-CN" altLang="en-US" sz="1800" dirty="0"/>
              <a:t>转</a:t>
            </a:r>
            <a:r>
              <a:rPr lang="en-US" altLang="zh-CN" sz="1800" dirty="0"/>
              <a:t>Step 3</a:t>
            </a:r>
            <a:r>
              <a:rPr lang="zh-CN" altLang="en-US" sz="1800" dirty="0"/>
              <a:t>；</a:t>
            </a:r>
            <a:endParaRPr lang="en-US" altLang="zh-CN" sz="1800" dirty="0"/>
          </a:p>
          <a:p>
            <a:pPr marL="971550" lvl="1"/>
            <a:r>
              <a:rPr lang="en-US" altLang="zh-CN" sz="1800" dirty="0"/>
              <a:t>Step 3 fish[5]= fish[5]+5</a:t>
            </a:r>
            <a:r>
              <a:rPr lang="zh-CN" altLang="en-US" sz="1800" dirty="0"/>
              <a:t>，转</a:t>
            </a:r>
            <a:r>
              <a:rPr lang="en-US" altLang="zh-CN" sz="1800" dirty="0"/>
              <a:t>Step 2</a:t>
            </a:r>
            <a:r>
              <a:rPr lang="zh-CN" altLang="en-US" sz="1800" dirty="0"/>
              <a:t>；</a:t>
            </a:r>
            <a:r>
              <a:rPr lang="en-US" altLang="zh-CN" sz="1800" dirty="0"/>
              <a:t>  </a:t>
            </a:r>
          </a:p>
          <a:p>
            <a:pPr marL="971550" lvl="1"/>
            <a:r>
              <a:rPr lang="en-US" altLang="zh-CN" sz="1800" dirty="0"/>
              <a:t>Step 4 </a:t>
            </a:r>
            <a:r>
              <a:rPr lang="zh-CN" altLang="en-US" sz="1800" dirty="0"/>
              <a:t>输出</a:t>
            </a:r>
            <a:r>
              <a:rPr lang="en-US" altLang="zh-CN" sz="1800" dirty="0"/>
              <a:t>fish[i]</a:t>
            </a:r>
            <a:r>
              <a:rPr lang="zh-CN" altLang="en-US" sz="1800" dirty="0"/>
              <a:t>，</a:t>
            </a:r>
            <a:r>
              <a:rPr lang="en-US" altLang="zh-CN" sz="1800" dirty="0"/>
              <a:t> i = 1,2, 3,4,5</a:t>
            </a:r>
            <a:r>
              <a:rPr lang="zh-CN" altLang="en-US" sz="1800" dirty="0"/>
              <a:t>，算法结束；</a:t>
            </a:r>
            <a:endParaRPr lang="en-US" altLang="zh-CN" sz="1800" dirty="0"/>
          </a:p>
          <a:p>
            <a:pPr lvl="1" indent="0">
              <a:buNone/>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2927491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递</a:t>
            </a:r>
            <a:r>
              <a:rPr lang="zh-CN" altLang="en-US" dirty="0"/>
              <a:t>推例</a:t>
            </a:r>
            <a:r>
              <a:rPr lang="en-US" altLang="zh-CN" dirty="0"/>
              <a:t>---5</a:t>
            </a:r>
            <a:r>
              <a:rPr lang="zh-CN" altLang="en-US" dirty="0"/>
              <a:t>人捕鱼</a:t>
            </a:r>
            <a:r>
              <a:rPr lang="en-US" altLang="zh-CN" dirty="0"/>
              <a:t>—</a:t>
            </a:r>
            <a:r>
              <a:rPr lang="zh-CN" altLang="en-US" dirty="0"/>
              <a:t>参考程序</a:t>
            </a:r>
          </a:p>
        </p:txBody>
      </p:sp>
      <p:sp>
        <p:nvSpPr>
          <p:cNvPr id="3" name="内容占位符 2"/>
          <p:cNvSpPr>
            <a:spLocks noGrp="1"/>
          </p:cNvSpPr>
          <p:nvPr>
            <p:ph idx="1"/>
          </p:nvPr>
        </p:nvSpPr>
        <p:spPr/>
        <p:txBody>
          <a:bodyPr/>
          <a:lstStyle/>
          <a:p>
            <a:endParaRPr lang="en-US" altLang="zh-CN" dirty="0"/>
          </a:p>
          <a:p>
            <a:pPr marL="285750" lvl="1" indent="0">
              <a:buNone/>
            </a:pPr>
            <a:r>
              <a:rPr lang="en-US" altLang="zh-CN" dirty="0"/>
              <a:t>void </a:t>
            </a:r>
            <a:r>
              <a:rPr lang="en-US" altLang="zh-CN" dirty="0" err="1"/>
              <a:t>catchFish</a:t>
            </a:r>
            <a:r>
              <a:rPr lang="en-US" altLang="zh-CN" dirty="0"/>
              <a:t>(int fish[]);   // void </a:t>
            </a:r>
            <a:r>
              <a:rPr lang="en-US" altLang="zh-CN" dirty="0" err="1"/>
              <a:t>catchFish</a:t>
            </a:r>
            <a:r>
              <a:rPr lang="en-US" altLang="zh-CN" dirty="0"/>
              <a:t>(int []); </a:t>
            </a:r>
          </a:p>
          <a:p>
            <a:pPr marL="285750" lvl="1" indent="0">
              <a:buNone/>
            </a:pPr>
            <a:r>
              <a:rPr lang="en-US" altLang="zh-CN" dirty="0"/>
              <a:t>int main(int </a:t>
            </a:r>
            <a:r>
              <a:rPr lang="en-US" altLang="zh-CN" dirty="0" err="1"/>
              <a:t>argc</a:t>
            </a:r>
            <a:r>
              <a:rPr lang="en-US" altLang="zh-CN" dirty="0"/>
              <a:t>, char* </a:t>
            </a:r>
            <a:r>
              <a:rPr lang="en-US" altLang="zh-CN" dirty="0" err="1"/>
              <a:t>argv</a:t>
            </a:r>
            <a:r>
              <a:rPr lang="en-US" altLang="zh-CN" dirty="0"/>
              <a:t>[])</a:t>
            </a:r>
          </a:p>
          <a:p>
            <a:pPr marL="285750" lvl="1" indent="0">
              <a:buNone/>
            </a:pPr>
            <a:r>
              <a:rPr lang="en-US" altLang="zh-CN" dirty="0"/>
              <a:t>{</a:t>
            </a:r>
          </a:p>
          <a:p>
            <a:pPr marL="285750" lvl="1" indent="0">
              <a:buNone/>
            </a:pPr>
            <a:r>
              <a:rPr lang="en-US" altLang="zh-CN" dirty="0"/>
              <a:t>     int fish[6]={1,1,1,1,1,1};</a:t>
            </a:r>
            <a:r>
              <a:rPr lang="zh-CN" altLang="en-US" dirty="0"/>
              <a:t>  </a:t>
            </a:r>
            <a:r>
              <a:rPr lang="en-US" altLang="zh-CN" dirty="0"/>
              <a:t>//</a:t>
            </a:r>
            <a:r>
              <a:rPr lang="zh-CN" altLang="en-US" dirty="0"/>
              <a:t>利用了</a:t>
            </a:r>
            <a:r>
              <a:rPr lang="en-US" altLang="zh-CN" dirty="0"/>
              <a:t>fish[1]~fish[5]</a:t>
            </a:r>
          </a:p>
          <a:p>
            <a:pPr marL="285750" lvl="1" indent="0">
              <a:buNone/>
            </a:pPr>
            <a:r>
              <a:rPr lang="en-US" altLang="zh-CN" dirty="0"/>
              <a:t>     </a:t>
            </a:r>
            <a:r>
              <a:rPr lang="en-US" altLang="zh-CN" dirty="0" err="1"/>
              <a:t>catchFish</a:t>
            </a:r>
            <a:r>
              <a:rPr lang="en-US" altLang="zh-CN" dirty="0"/>
              <a:t>(fish);</a:t>
            </a:r>
          </a:p>
          <a:p>
            <a:pPr marL="285750" lvl="1" indent="0">
              <a:buNone/>
            </a:pPr>
            <a:r>
              <a:rPr lang="en-US" altLang="zh-CN" dirty="0"/>
              <a:t>     for (int i=1;i&lt;=5;i++)</a:t>
            </a:r>
          </a:p>
          <a:p>
            <a:pPr marL="285750" lvl="1" indent="0">
              <a:buNone/>
            </a:pPr>
            <a:r>
              <a:rPr lang="en-US" altLang="zh-CN" dirty="0"/>
              <a:t>        </a:t>
            </a:r>
            <a:r>
              <a:rPr lang="en-US" altLang="zh-CN" dirty="0" err="1"/>
              <a:t>printf</a:t>
            </a:r>
            <a:r>
              <a:rPr lang="en-US" altLang="zh-CN" dirty="0"/>
              <a:t>(“%d ”,fish[i]);</a:t>
            </a:r>
          </a:p>
          <a:p>
            <a:pPr marL="285750" lvl="1" indent="0">
              <a:buNone/>
            </a:pPr>
            <a:r>
              <a:rPr lang="en-US" altLang="zh-CN" dirty="0"/>
              <a:t>}</a:t>
            </a:r>
            <a:endParaRPr lang="zh-CN" altLang="en-US" dirty="0"/>
          </a:p>
        </p:txBody>
      </p:sp>
    </p:spTree>
    <p:extLst>
      <p:ext uri="{BB962C8B-B14F-4D97-AF65-F5344CB8AC3E}">
        <p14:creationId xmlns:p14="http://schemas.microsoft.com/office/powerpoint/2010/main" val="2934126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递</a:t>
            </a:r>
            <a:r>
              <a:rPr lang="zh-CN" altLang="en-US" dirty="0"/>
              <a:t>推例</a:t>
            </a:r>
            <a:r>
              <a:rPr lang="en-US" altLang="zh-CN" dirty="0"/>
              <a:t>---5</a:t>
            </a:r>
            <a:r>
              <a:rPr lang="zh-CN" altLang="en-US" dirty="0"/>
              <a:t>人捕鱼</a:t>
            </a:r>
            <a:r>
              <a:rPr lang="en-US" altLang="zh-CN" dirty="0"/>
              <a:t>—</a:t>
            </a:r>
            <a:r>
              <a:rPr lang="zh-CN" altLang="en-US" dirty="0"/>
              <a:t>参考程序</a:t>
            </a:r>
          </a:p>
        </p:txBody>
      </p:sp>
      <p:sp>
        <p:nvSpPr>
          <p:cNvPr id="3" name="内容占位符 2"/>
          <p:cNvSpPr>
            <a:spLocks noGrp="1"/>
          </p:cNvSpPr>
          <p:nvPr>
            <p:ph idx="1"/>
          </p:nvPr>
        </p:nvSpPr>
        <p:spPr/>
        <p:txBody>
          <a:bodyPr/>
          <a:lstStyle/>
          <a:p>
            <a:pPr marL="285750" lvl="1" indent="0">
              <a:lnSpc>
                <a:spcPct val="100000"/>
              </a:lnSpc>
              <a:buNone/>
            </a:pPr>
            <a:r>
              <a:rPr lang="en-US" altLang="zh-CN" sz="1800" dirty="0"/>
              <a:t>void </a:t>
            </a:r>
            <a:r>
              <a:rPr lang="en-US" altLang="zh-CN" sz="1800" dirty="0" err="1"/>
              <a:t>catchFish</a:t>
            </a:r>
            <a:r>
              <a:rPr lang="en-US" altLang="zh-CN" sz="1800" dirty="0"/>
              <a:t> (int fish[])</a:t>
            </a:r>
          </a:p>
          <a:p>
            <a:pPr marL="285750" lvl="1" indent="0">
              <a:lnSpc>
                <a:spcPct val="100000"/>
              </a:lnSpc>
              <a:buNone/>
            </a:pPr>
            <a:r>
              <a:rPr lang="en-US" altLang="zh-CN" sz="1800" dirty="0"/>
              <a:t>{</a:t>
            </a:r>
          </a:p>
          <a:p>
            <a:pPr marL="285750" lvl="1" indent="0">
              <a:lnSpc>
                <a:spcPct val="100000"/>
              </a:lnSpc>
              <a:buNone/>
            </a:pPr>
            <a:r>
              <a:rPr lang="en-US" altLang="zh-CN" sz="1800" dirty="0"/>
              <a:t>     int i=0;</a:t>
            </a:r>
          </a:p>
          <a:p>
            <a:pPr marL="285750" lvl="1" indent="0">
              <a:lnSpc>
                <a:spcPct val="100000"/>
              </a:lnSpc>
              <a:buNone/>
            </a:pPr>
            <a:r>
              <a:rPr lang="en-US" altLang="zh-CN" sz="1800" dirty="0"/>
              <a:t>     do</a:t>
            </a:r>
          </a:p>
          <a:p>
            <a:pPr marL="285750" lvl="1" indent="0">
              <a:lnSpc>
                <a:spcPct val="100000"/>
              </a:lnSpc>
              <a:buNone/>
            </a:pPr>
            <a:r>
              <a:rPr lang="en-US" altLang="zh-CN" sz="1800" dirty="0"/>
              <a:t>     {</a:t>
            </a:r>
          </a:p>
          <a:p>
            <a:pPr marL="285750" lvl="1" indent="0">
              <a:lnSpc>
                <a:spcPct val="100000"/>
              </a:lnSpc>
              <a:buNone/>
            </a:pPr>
            <a:r>
              <a:rPr lang="en-US" altLang="zh-CN" sz="1800" dirty="0"/>
              <a:t>          fish[5]=fish[5]+5;   //fish[5]</a:t>
            </a:r>
            <a:r>
              <a:rPr lang="zh-CN" altLang="en-US" sz="1800" dirty="0"/>
              <a:t>初始化</a:t>
            </a:r>
            <a:r>
              <a:rPr lang="en-US" altLang="zh-CN" sz="1800" dirty="0"/>
              <a:t>16</a:t>
            </a:r>
            <a:r>
              <a:rPr lang="zh-CN" altLang="en-US" sz="1800" dirty="0"/>
              <a:t>，累加</a:t>
            </a:r>
            <a:r>
              <a:rPr lang="en-US" altLang="zh-CN" sz="1800" dirty="0"/>
              <a:t>20</a:t>
            </a:r>
            <a:r>
              <a:rPr lang="zh-CN" altLang="en-US" sz="1800" dirty="0"/>
              <a:t>效率更高</a:t>
            </a:r>
            <a:endParaRPr lang="en-US" altLang="zh-CN" sz="1800" dirty="0"/>
          </a:p>
          <a:p>
            <a:pPr marL="285750" lvl="1" indent="0">
              <a:lnSpc>
                <a:spcPct val="100000"/>
              </a:lnSpc>
              <a:buNone/>
            </a:pPr>
            <a:r>
              <a:rPr lang="en-US" altLang="zh-CN" sz="1800" dirty="0"/>
              <a:t>          for (i=4; i&gt;=1; i--)</a:t>
            </a:r>
          </a:p>
          <a:p>
            <a:pPr marL="285750" lvl="1" indent="0">
              <a:lnSpc>
                <a:spcPct val="100000"/>
              </a:lnSpc>
              <a:buNone/>
            </a:pPr>
            <a:r>
              <a:rPr lang="en-US" altLang="zh-CN" sz="1800" dirty="0"/>
              <a:t>         {</a:t>
            </a:r>
          </a:p>
          <a:p>
            <a:pPr marL="285750" lvl="1" indent="0">
              <a:lnSpc>
                <a:spcPct val="100000"/>
              </a:lnSpc>
              <a:buNone/>
            </a:pPr>
            <a:r>
              <a:rPr lang="en-US" altLang="zh-CN" sz="1800" dirty="0"/>
              <a:t>    	       if  (fish[i+1]%4 !=0 || fish[i+1]%5 !=1 )  //fish[2]~fish[5]</a:t>
            </a:r>
            <a:r>
              <a:rPr lang="zh-CN" altLang="en-US" sz="1800" dirty="0"/>
              <a:t>需要满足</a:t>
            </a:r>
            <a:endParaRPr lang="en-US" altLang="zh-CN" sz="1800" dirty="0"/>
          </a:p>
          <a:p>
            <a:pPr marL="285750" lvl="1" indent="0">
              <a:lnSpc>
                <a:spcPct val="100000"/>
              </a:lnSpc>
              <a:buNone/>
            </a:pPr>
            <a:r>
              <a:rPr lang="en-US" altLang="zh-CN" sz="1800" dirty="0"/>
              <a:t>	           break;</a:t>
            </a:r>
          </a:p>
          <a:p>
            <a:pPr marL="285750" lvl="1" indent="0">
              <a:lnSpc>
                <a:spcPct val="100000"/>
              </a:lnSpc>
              <a:buNone/>
            </a:pPr>
            <a:r>
              <a:rPr lang="en-US" altLang="zh-CN" sz="1800" dirty="0"/>
              <a:t>              else</a:t>
            </a:r>
          </a:p>
          <a:p>
            <a:pPr marL="285750" lvl="1" indent="0">
              <a:lnSpc>
                <a:spcPct val="100000"/>
              </a:lnSpc>
              <a:buNone/>
            </a:pPr>
            <a:r>
              <a:rPr lang="en-US" altLang="zh-CN" sz="1800" dirty="0"/>
              <a:t>	           fish[i]=fish[i+1]*5/4+1;  </a:t>
            </a:r>
          </a:p>
          <a:p>
            <a:pPr marL="285750" lvl="1" indent="0">
              <a:lnSpc>
                <a:spcPct val="100000"/>
              </a:lnSpc>
              <a:buNone/>
            </a:pPr>
            <a:r>
              <a:rPr lang="en-US" altLang="zh-CN" sz="1800" dirty="0"/>
              <a:t>          }</a:t>
            </a:r>
          </a:p>
          <a:p>
            <a:pPr marL="285750" lvl="1" indent="0">
              <a:lnSpc>
                <a:spcPct val="100000"/>
              </a:lnSpc>
              <a:buNone/>
            </a:pPr>
            <a:r>
              <a:rPr lang="en-US" altLang="zh-CN" sz="1800" dirty="0"/>
              <a:t>      } while( i&gt;=1 ); </a:t>
            </a:r>
            <a:endParaRPr lang="zh-CN" altLang="en-US" sz="1800" dirty="0"/>
          </a:p>
          <a:p>
            <a:pPr marL="285750" lvl="1" indent="0">
              <a:lnSpc>
                <a:spcPct val="100000"/>
              </a:lnSpc>
              <a:buNone/>
            </a:pPr>
            <a:r>
              <a:rPr lang="en-US" altLang="zh-CN" sz="1800" dirty="0"/>
              <a:t>}</a:t>
            </a:r>
          </a:p>
          <a:p>
            <a:pPr marL="285750" lvl="1" indent="0">
              <a:lnSpc>
                <a:spcPct val="100000"/>
              </a:lnSpc>
              <a:buNone/>
            </a:pPr>
            <a:endParaRPr lang="en-US" altLang="zh-CN" sz="1800" dirty="0"/>
          </a:p>
          <a:p>
            <a:pPr marL="285750" lvl="1" indent="0">
              <a:lnSpc>
                <a:spcPct val="100000"/>
              </a:lnSpc>
              <a:buNone/>
            </a:pPr>
            <a:r>
              <a:rPr lang="zh-CN" altLang="en-US" sz="1800" dirty="0"/>
              <a:t>运行结果：</a:t>
            </a:r>
            <a:r>
              <a:rPr lang="en-US" altLang="zh-CN" sz="1800" dirty="0"/>
              <a:t>3121  2496  1996 1596  1276 </a:t>
            </a:r>
            <a:endParaRPr lang="zh-CN" altLang="en-US" sz="1800" dirty="0"/>
          </a:p>
        </p:txBody>
      </p:sp>
    </p:spTree>
    <p:extLst>
      <p:ext uri="{BB962C8B-B14F-4D97-AF65-F5344CB8AC3E}">
        <p14:creationId xmlns:p14="http://schemas.microsoft.com/office/powerpoint/2010/main" val="32487488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6.5.1 </a:t>
            </a:r>
            <a:r>
              <a:rPr lang="zh-CN" altLang="en-US" dirty="0"/>
              <a:t>递推序列</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一个序列从某一项开始，它的任何一项都可以用前面的若干项来确定，这样的序列称为</a:t>
            </a:r>
            <a:r>
              <a:rPr lang="zh-CN" altLang="en-US" dirty="0">
                <a:solidFill>
                  <a:srgbClr val="030DCD"/>
                </a:solidFill>
              </a:rPr>
              <a:t>递推序列</a:t>
            </a:r>
            <a:r>
              <a:rPr lang="zh-CN" altLang="en-US" dirty="0"/>
              <a:t>；</a:t>
            </a:r>
            <a:endParaRPr lang="en-US" altLang="zh-CN" dirty="0"/>
          </a:p>
          <a:p>
            <a:pPr marL="342900" indent="-342900">
              <a:buFont typeface="Wingdings" panose="05000000000000000000" pitchFamily="2" charset="2"/>
              <a:buChar char="l"/>
            </a:pPr>
            <a:r>
              <a:rPr lang="zh-CN" altLang="en-US" dirty="0"/>
              <a:t>表示某项与前面的若干项的关系称为递推关系；</a:t>
            </a:r>
            <a:endParaRPr lang="en-US" altLang="zh-CN" dirty="0"/>
          </a:p>
          <a:p>
            <a:pPr marL="342900" indent="-342900">
              <a:buFont typeface="Wingdings" panose="05000000000000000000" pitchFamily="2" charset="2"/>
              <a:buChar char="l"/>
            </a:pPr>
            <a:r>
              <a:rPr lang="zh-CN" altLang="en-US" dirty="0" smtClean="0"/>
              <a:t>如</a:t>
            </a:r>
            <a:r>
              <a:rPr lang="zh-CN" altLang="en-US" dirty="0">
                <a:solidFill>
                  <a:srgbClr val="7030A0"/>
                </a:solidFill>
              </a:rPr>
              <a:t>等差</a:t>
            </a:r>
            <a:r>
              <a:rPr lang="zh-CN" altLang="en-US" dirty="0" smtClean="0">
                <a:solidFill>
                  <a:srgbClr val="7030A0"/>
                </a:solidFill>
              </a:rPr>
              <a:t>序列</a:t>
            </a:r>
            <a:r>
              <a:rPr lang="zh-CN" altLang="en-US" dirty="0">
                <a:solidFill>
                  <a:srgbClr val="7030A0"/>
                </a:solidFill>
              </a:rPr>
              <a:t>、</a:t>
            </a:r>
            <a:r>
              <a:rPr lang="zh-CN" altLang="en-US" dirty="0" smtClean="0">
                <a:solidFill>
                  <a:srgbClr val="7030A0"/>
                </a:solidFill>
              </a:rPr>
              <a:t>等</a:t>
            </a:r>
            <a:r>
              <a:rPr lang="zh-CN" altLang="en-US" dirty="0">
                <a:solidFill>
                  <a:srgbClr val="7030A0"/>
                </a:solidFill>
              </a:rPr>
              <a:t>比序列</a:t>
            </a:r>
            <a:r>
              <a:rPr lang="zh-CN" altLang="en-US" dirty="0" smtClean="0"/>
              <a:t>等都是递推序列；</a:t>
            </a:r>
            <a:endParaRPr lang="zh-CN" altLang="en-US" dirty="0"/>
          </a:p>
        </p:txBody>
      </p:sp>
    </p:spTree>
    <p:extLst>
      <p:ext uri="{BB962C8B-B14F-4D97-AF65-F5344CB8AC3E}">
        <p14:creationId xmlns:p14="http://schemas.microsoft.com/office/powerpoint/2010/main" val="6142193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6.5.2 </a:t>
            </a:r>
            <a:r>
              <a:rPr lang="zh-CN" altLang="en-US" dirty="0"/>
              <a:t>递推算法的程序实现</a:t>
            </a:r>
          </a:p>
        </p:txBody>
      </p:sp>
      <p:sp>
        <p:nvSpPr>
          <p:cNvPr id="3" name="内容占位符 2"/>
          <p:cNvSpPr>
            <a:spLocks noGrp="1"/>
          </p:cNvSpPr>
          <p:nvPr>
            <p:ph idx="1"/>
          </p:nvPr>
        </p:nvSpPr>
        <p:spPr/>
        <p:txBody>
          <a:bodyPr/>
          <a:lstStyle/>
          <a:p>
            <a:pPr marL="342900" indent="-342900">
              <a:lnSpc>
                <a:spcPct val="100000"/>
              </a:lnSpc>
              <a:buFont typeface="Wingdings" panose="05000000000000000000" pitchFamily="2" charset="2"/>
              <a:buChar char="l"/>
            </a:pPr>
            <a:r>
              <a:rPr lang="zh-CN" altLang="en-US" dirty="0"/>
              <a:t>利用</a:t>
            </a:r>
            <a:r>
              <a:rPr lang="zh-CN" altLang="en-US" dirty="0">
                <a:solidFill>
                  <a:srgbClr val="C00000"/>
                </a:solidFill>
              </a:rPr>
              <a:t>循环结构</a:t>
            </a:r>
            <a:r>
              <a:rPr lang="zh-CN" altLang="en-US" dirty="0"/>
              <a:t>，从边界条件出发，利用</a:t>
            </a:r>
            <a:r>
              <a:rPr lang="zh-CN" altLang="en-US" dirty="0">
                <a:solidFill>
                  <a:srgbClr val="C00000"/>
                </a:solidFill>
              </a:rPr>
              <a:t>通项公式</a:t>
            </a:r>
            <a:r>
              <a:rPr lang="zh-CN" altLang="en-US" dirty="0"/>
              <a:t>通过</a:t>
            </a:r>
            <a:r>
              <a:rPr lang="zh-CN" altLang="en-US" dirty="0">
                <a:solidFill>
                  <a:srgbClr val="C00000"/>
                </a:solidFill>
              </a:rPr>
              <a:t>递推过程</a:t>
            </a:r>
            <a:r>
              <a:rPr lang="zh-CN" altLang="en-US" dirty="0"/>
              <a:t>就可以求解；</a:t>
            </a:r>
            <a:endParaRPr lang="en-US" altLang="zh-CN" dirty="0"/>
          </a:p>
          <a:p>
            <a:pPr marL="971550" lvl="1"/>
            <a:endParaRPr lang="en-US" altLang="zh-CN" dirty="0"/>
          </a:p>
          <a:p>
            <a:pPr marL="342900" indent="-342900">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289894355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a:t>
            </a:r>
            <a:r>
              <a:rPr lang="zh-CN" altLang="en-US" dirty="0" smtClean="0"/>
              <a:t>王</a:t>
            </a:r>
            <a:r>
              <a:rPr lang="zh-CN" altLang="en-US" dirty="0"/>
              <a:t>小</a:t>
            </a:r>
            <a:r>
              <a:rPr lang="zh-CN" altLang="en-US" dirty="0" smtClean="0"/>
              <a:t>二切大饼</a:t>
            </a:r>
            <a:endParaRPr lang="zh-CN" altLang="en-US"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smtClean="0"/>
              <a:t>例</a:t>
            </a:r>
            <a:endParaRPr lang="en-US" altLang="zh-CN" sz="2000" dirty="0"/>
          </a:p>
          <a:p>
            <a:pPr marL="971550" lvl="1"/>
            <a:r>
              <a:rPr lang="zh-CN" altLang="en-US" sz="1800" dirty="0"/>
              <a:t>王小二自夸刀工不错，有人放一张大饼在砧板上，问他“饼不许离开砧板，切</a:t>
            </a:r>
            <a:r>
              <a:rPr lang="en-US" altLang="zh-CN" sz="1800" dirty="0"/>
              <a:t>100</a:t>
            </a:r>
            <a:r>
              <a:rPr lang="zh-CN" altLang="en-US" sz="1800" dirty="0"/>
              <a:t>刀最多能分成多少块？”</a:t>
            </a:r>
            <a:endParaRPr lang="en-US" altLang="zh-CN" sz="1800" dirty="0"/>
          </a:p>
          <a:p>
            <a:pPr marL="971550" lvl="1"/>
            <a:r>
              <a:rPr lang="zh-CN" altLang="en-US" sz="1800" dirty="0">
                <a:solidFill>
                  <a:srgbClr val="0000CC"/>
                </a:solidFill>
              </a:rPr>
              <a:t>若在切法上让</a:t>
            </a:r>
            <a:r>
              <a:rPr lang="zh-CN" altLang="en-US" sz="1800" dirty="0">
                <a:solidFill>
                  <a:srgbClr val="FF0000"/>
                </a:solidFill>
              </a:rPr>
              <a:t>每两条线都有交点</a:t>
            </a:r>
            <a:r>
              <a:rPr lang="zh-CN" altLang="en-US" sz="1800" dirty="0"/>
              <a:t>，令</a:t>
            </a:r>
            <a:r>
              <a:rPr lang="en-US" altLang="zh-CN" sz="1800" dirty="0"/>
              <a:t>q(n)</a:t>
            </a:r>
            <a:r>
              <a:rPr lang="zh-CN" altLang="en-US" sz="1800" dirty="0"/>
              <a:t>为大饼切</a:t>
            </a:r>
            <a:r>
              <a:rPr lang="en-US" altLang="zh-CN" sz="1800" dirty="0"/>
              <a:t>n</a:t>
            </a:r>
            <a:r>
              <a:rPr lang="zh-CN" altLang="en-US" sz="1800" dirty="0"/>
              <a:t>刀能分成的块数，分析可知：</a:t>
            </a:r>
            <a:endParaRPr lang="en-US" altLang="zh-CN" sz="1800" dirty="0"/>
          </a:p>
          <a:p>
            <a:pPr marL="1200150" lvl="2"/>
            <a:r>
              <a:rPr lang="en-US" altLang="zh-CN" sz="1600" dirty="0"/>
              <a:t>q(1)=1+1=2;</a:t>
            </a:r>
          </a:p>
          <a:p>
            <a:pPr marL="1200150" lvl="2"/>
            <a:r>
              <a:rPr lang="en-US" altLang="zh-CN" sz="1600" dirty="0"/>
              <a:t>q(2)=1+1+2=4;</a:t>
            </a:r>
          </a:p>
          <a:p>
            <a:pPr marL="1200150" lvl="2"/>
            <a:r>
              <a:rPr lang="en-US" altLang="zh-CN" sz="1600" dirty="0"/>
              <a:t>q(3)=1+1+2+3=7;</a:t>
            </a:r>
          </a:p>
          <a:p>
            <a:pPr marL="971550" lvl="1"/>
            <a:r>
              <a:rPr lang="zh-CN" altLang="en-US" sz="1800" dirty="0">
                <a:solidFill>
                  <a:srgbClr val="0000CC"/>
                </a:solidFill>
              </a:rPr>
              <a:t>若在切法上让</a:t>
            </a:r>
            <a:r>
              <a:rPr lang="zh-CN" altLang="en-US" sz="1800" dirty="0">
                <a:solidFill>
                  <a:srgbClr val="7030A0"/>
                </a:solidFill>
              </a:rPr>
              <a:t>每两条线都有交点</a:t>
            </a:r>
            <a:r>
              <a:rPr lang="zh-CN" altLang="en-US" sz="1800" dirty="0"/>
              <a:t>，可以归纳出</a:t>
            </a:r>
            <a:endParaRPr lang="en-US" altLang="zh-CN" sz="1800" dirty="0"/>
          </a:p>
          <a:p>
            <a:pPr marL="1200150" lvl="2"/>
            <a:r>
              <a:rPr lang="en-US" altLang="zh-CN" sz="1600" dirty="0"/>
              <a:t>q(n)=q(n-1)+n;</a:t>
            </a:r>
          </a:p>
          <a:p>
            <a:pPr marL="1200150" lvl="2"/>
            <a:r>
              <a:rPr lang="en-US" altLang="zh-CN" sz="1600" dirty="0"/>
              <a:t>q(0)=1</a:t>
            </a:r>
            <a:r>
              <a:rPr lang="zh-CN" altLang="en-US" sz="1600" dirty="0"/>
              <a:t>（边界条件）</a:t>
            </a:r>
            <a:endParaRPr lang="en-US" altLang="zh-CN" sz="1600" dirty="0"/>
          </a:p>
          <a:p>
            <a:pPr marL="971550" lvl="1"/>
            <a:endParaRPr lang="en-US" altLang="zh-CN" dirty="0"/>
          </a:p>
          <a:p>
            <a:pPr marL="342900" indent="-342900">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29464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a:t>
            </a:r>
            <a:r>
              <a:rPr lang="zh-CN" altLang="en-US" dirty="0" smtClean="0"/>
              <a:t>王</a:t>
            </a:r>
            <a:r>
              <a:rPr lang="zh-CN" altLang="en-US" dirty="0"/>
              <a:t>小二切大饼参考程序</a:t>
            </a:r>
          </a:p>
        </p:txBody>
      </p:sp>
      <p:sp>
        <p:nvSpPr>
          <p:cNvPr id="3" name="内容占位符 2"/>
          <p:cNvSpPr>
            <a:spLocks noGrp="1"/>
          </p:cNvSpPr>
          <p:nvPr>
            <p:ph idx="1"/>
          </p:nvPr>
        </p:nvSpPr>
        <p:spPr/>
        <p:txBody>
          <a:bodyPr/>
          <a:lstStyle/>
          <a:p>
            <a:pPr marL="285750" lvl="1" indent="0">
              <a:buNone/>
            </a:pPr>
            <a:r>
              <a:rPr lang="en-US" altLang="zh-CN" sz="1800" dirty="0"/>
              <a:t>//</a:t>
            </a:r>
            <a:r>
              <a:rPr lang="zh-CN" altLang="en-US" sz="1800" dirty="0"/>
              <a:t>令</a:t>
            </a:r>
            <a:r>
              <a:rPr lang="en-US" altLang="zh-CN" sz="1800" dirty="0"/>
              <a:t>q(n)</a:t>
            </a:r>
            <a:r>
              <a:rPr lang="zh-CN" altLang="en-US" sz="1800" dirty="0"/>
              <a:t>为大饼切</a:t>
            </a:r>
            <a:r>
              <a:rPr lang="en-US" altLang="zh-CN" sz="1800" dirty="0"/>
              <a:t>n</a:t>
            </a:r>
            <a:r>
              <a:rPr lang="zh-CN" altLang="en-US" sz="1800" dirty="0"/>
              <a:t>刀能分成的块数</a:t>
            </a:r>
            <a:endParaRPr lang="en-US" altLang="zh-CN" sz="1800" dirty="0"/>
          </a:p>
          <a:p>
            <a:pPr marL="285750" lvl="1" indent="0">
              <a:buNone/>
            </a:pPr>
            <a:r>
              <a:rPr lang="en-US" altLang="zh-CN" sz="1800" dirty="0" err="1"/>
              <a:t>int</a:t>
            </a:r>
            <a:r>
              <a:rPr lang="en-US" altLang="zh-CN" sz="1800" dirty="0"/>
              <a:t>  n=100;</a:t>
            </a:r>
          </a:p>
          <a:p>
            <a:pPr marL="285750" lvl="1" indent="0">
              <a:buNone/>
            </a:pPr>
            <a:r>
              <a:rPr lang="en-US" altLang="zh-CN" sz="1800" dirty="0"/>
              <a:t>int q[n+1];</a:t>
            </a:r>
          </a:p>
          <a:p>
            <a:pPr marL="285750" lvl="1" indent="0">
              <a:buNone/>
            </a:pPr>
            <a:r>
              <a:rPr lang="en-US" altLang="zh-CN" sz="1800" dirty="0"/>
              <a:t>int main()</a:t>
            </a:r>
          </a:p>
          <a:p>
            <a:pPr marL="285750" lvl="1" indent="0">
              <a:buNone/>
            </a:pPr>
            <a:r>
              <a:rPr lang="en-US" altLang="zh-CN" sz="1800" dirty="0"/>
              <a:t>{</a:t>
            </a:r>
          </a:p>
          <a:p>
            <a:pPr marL="285750" lvl="1" indent="0">
              <a:buNone/>
            </a:pPr>
            <a:r>
              <a:rPr lang="en-US" altLang="zh-CN" sz="1800" dirty="0"/>
              <a:t>     q[0]=1;</a:t>
            </a:r>
          </a:p>
          <a:p>
            <a:pPr marL="285750" lvl="1" indent="0">
              <a:buNone/>
            </a:pPr>
            <a:r>
              <a:rPr lang="en-US" altLang="zh-CN" sz="1800" dirty="0"/>
              <a:t>     for (int i=1; i&lt;=n; i++)</a:t>
            </a:r>
          </a:p>
          <a:p>
            <a:pPr marL="285750" lvl="1" indent="0">
              <a:buNone/>
            </a:pPr>
            <a:r>
              <a:rPr lang="en-US" altLang="zh-CN" sz="1800" dirty="0"/>
              <a:t>         q[i]=q[i-1]+i;</a:t>
            </a:r>
          </a:p>
          <a:p>
            <a:pPr marL="285750" lvl="1" indent="0">
              <a:buNone/>
            </a:pPr>
            <a:r>
              <a:rPr lang="en-US" altLang="zh-CN" sz="1800" dirty="0"/>
              <a:t>}</a:t>
            </a:r>
          </a:p>
          <a:p>
            <a:pPr marL="285750" lvl="1" indent="0">
              <a:buNone/>
            </a:pPr>
            <a:r>
              <a:rPr lang="en-US" altLang="zh-CN" sz="1800" dirty="0" err="1"/>
              <a:t>printf</a:t>
            </a:r>
            <a:r>
              <a:rPr lang="en-US" altLang="zh-CN" sz="1800" dirty="0"/>
              <a:t>(“</a:t>
            </a:r>
            <a:r>
              <a:rPr lang="zh-CN" altLang="en-US" sz="1800" dirty="0"/>
              <a:t>切</a:t>
            </a:r>
            <a:r>
              <a:rPr lang="en-US" altLang="zh-CN" sz="1800" dirty="0"/>
              <a:t>100</a:t>
            </a:r>
            <a:r>
              <a:rPr lang="zh-CN" altLang="en-US" sz="1800" dirty="0"/>
              <a:t>刀后可得 </a:t>
            </a:r>
            <a:r>
              <a:rPr lang="en-US" altLang="zh-CN" sz="1800" dirty="0"/>
              <a:t>%d </a:t>
            </a:r>
            <a:r>
              <a:rPr lang="zh-CN" altLang="en-US" sz="1800" dirty="0"/>
              <a:t>块</a:t>
            </a:r>
            <a:r>
              <a:rPr lang="en-US" altLang="zh-CN" sz="1800" dirty="0"/>
              <a:t>\</a:t>
            </a:r>
            <a:r>
              <a:rPr lang="en-US" altLang="zh-CN" sz="1800" dirty="0" err="1"/>
              <a:t>n”,q</a:t>
            </a:r>
            <a:r>
              <a:rPr lang="en-US" altLang="zh-CN" sz="1800" dirty="0"/>
              <a:t>[n]);</a:t>
            </a:r>
          </a:p>
          <a:p>
            <a:pPr marL="285750" lvl="1" indent="0">
              <a:buNone/>
            </a:pPr>
            <a:r>
              <a:rPr lang="en-US" altLang="zh-CN" sz="1800" dirty="0"/>
              <a:t>return 0;</a:t>
            </a:r>
            <a:endParaRPr lang="zh-CN" altLang="en-US" sz="1800" dirty="0"/>
          </a:p>
        </p:txBody>
      </p:sp>
    </p:spTree>
    <p:extLst>
      <p:ext uri="{BB962C8B-B14F-4D97-AF65-F5344CB8AC3E}">
        <p14:creationId xmlns:p14="http://schemas.microsoft.com/office/powerpoint/2010/main" val="751867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t>利用</a:t>
            </a:r>
            <a:r>
              <a:rPr lang="zh-CN" altLang="en-US" dirty="0"/>
              <a:t>递推算法求阶乘</a:t>
            </a:r>
          </a:p>
        </p:txBody>
      </p:sp>
      <p:sp>
        <p:nvSpPr>
          <p:cNvPr id="3" name="内容占位符 2"/>
          <p:cNvSpPr>
            <a:spLocks noGrp="1"/>
          </p:cNvSpPr>
          <p:nvPr>
            <p:ph idx="1"/>
          </p:nvPr>
        </p:nvSpPr>
        <p:spPr/>
        <p:txBody>
          <a:bodyPr/>
          <a:lstStyle/>
          <a:p>
            <a:pPr indent="-342900">
              <a:buFont typeface="Wingdings" panose="05000000000000000000" pitchFamily="2" charset="2"/>
              <a:buChar char="l"/>
            </a:pPr>
            <a:r>
              <a:rPr lang="zh-CN" altLang="en-US" dirty="0"/>
              <a:t>递推公式 </a:t>
            </a:r>
            <a:r>
              <a:rPr lang="zh-CN" altLang="en-US" dirty="0" smtClean="0"/>
              <a:t>：</a:t>
            </a:r>
            <a:r>
              <a:rPr lang="en-US" altLang="zh-CN" dirty="0" smtClean="0">
                <a:solidFill>
                  <a:srgbClr val="7030A0"/>
                </a:solidFill>
              </a:rPr>
              <a:t>fact[</a:t>
            </a:r>
            <a:r>
              <a:rPr lang="en-US" altLang="zh-CN" dirty="0">
                <a:solidFill>
                  <a:srgbClr val="7030A0"/>
                </a:solidFill>
              </a:rPr>
              <a:t>0</a:t>
            </a:r>
            <a:r>
              <a:rPr lang="en-US" altLang="zh-CN" dirty="0" smtClean="0">
                <a:solidFill>
                  <a:srgbClr val="7030A0"/>
                </a:solidFill>
              </a:rPr>
              <a:t>]=fact[1]=1</a:t>
            </a:r>
            <a:r>
              <a:rPr lang="zh-CN" altLang="en-US" dirty="0" smtClean="0">
                <a:solidFill>
                  <a:srgbClr val="7030A0"/>
                </a:solidFill>
              </a:rPr>
              <a:t>，</a:t>
            </a:r>
            <a:r>
              <a:rPr lang="en-US" altLang="zh-CN" dirty="0" smtClean="0">
                <a:solidFill>
                  <a:srgbClr val="7030A0"/>
                </a:solidFill>
              </a:rPr>
              <a:t>fact[n</a:t>
            </a:r>
            <a:r>
              <a:rPr lang="en-US" altLang="zh-CN" dirty="0">
                <a:solidFill>
                  <a:srgbClr val="7030A0"/>
                </a:solidFill>
              </a:rPr>
              <a:t>]</a:t>
            </a:r>
            <a:r>
              <a:rPr lang="en-US" altLang="zh-CN" dirty="0" smtClean="0">
                <a:solidFill>
                  <a:srgbClr val="7030A0"/>
                </a:solidFill>
              </a:rPr>
              <a:t>=n*fact[n-1] ;</a:t>
            </a:r>
          </a:p>
          <a:p>
            <a:pPr marL="285750" lvl="1" indent="0">
              <a:buNone/>
            </a:pPr>
            <a:r>
              <a:rPr lang="en-US" altLang="zh-CN" sz="1800" dirty="0" err="1" smtClean="0"/>
              <a:t>const</a:t>
            </a:r>
            <a:r>
              <a:rPr lang="en-US" altLang="zh-CN" sz="1800" dirty="0" smtClean="0"/>
              <a:t> </a:t>
            </a:r>
            <a:r>
              <a:rPr lang="en-US" altLang="zh-CN" sz="1800" dirty="0" err="1" smtClean="0"/>
              <a:t>int</a:t>
            </a:r>
            <a:r>
              <a:rPr lang="en-US" altLang="zh-CN" sz="1800" dirty="0" smtClean="0"/>
              <a:t>  N=20;      //</a:t>
            </a:r>
            <a:r>
              <a:rPr lang="zh-CN" altLang="en-US" sz="1800" dirty="0" smtClean="0"/>
              <a:t>求</a:t>
            </a:r>
            <a:r>
              <a:rPr lang="en-US" altLang="zh-CN" sz="1800" dirty="0" smtClean="0"/>
              <a:t>20!</a:t>
            </a:r>
          </a:p>
          <a:p>
            <a:pPr marL="285750" lvl="1" indent="0">
              <a:buNone/>
            </a:pPr>
            <a:r>
              <a:rPr lang="en-US" altLang="zh-CN" sz="1800" dirty="0" err="1" smtClean="0"/>
              <a:t>int</a:t>
            </a:r>
            <a:r>
              <a:rPr lang="en-US" altLang="zh-CN" sz="1800" dirty="0" smtClean="0"/>
              <a:t> </a:t>
            </a:r>
            <a:r>
              <a:rPr lang="en-US" altLang="zh-CN" sz="1800" dirty="0"/>
              <a:t>main()</a:t>
            </a:r>
          </a:p>
          <a:p>
            <a:pPr marL="285750" lvl="1" indent="0">
              <a:buNone/>
            </a:pPr>
            <a:r>
              <a:rPr lang="en-US" altLang="zh-CN" sz="1800" dirty="0"/>
              <a:t>{</a:t>
            </a:r>
          </a:p>
          <a:p>
            <a:pPr marL="285750" lvl="1" indent="0">
              <a:buNone/>
            </a:pPr>
            <a:r>
              <a:rPr lang="en-US" altLang="zh-CN" sz="1800" dirty="0"/>
              <a:t>     unsigned long </a:t>
            </a:r>
            <a:r>
              <a:rPr lang="en-US" altLang="zh-CN" sz="1800" dirty="0" err="1"/>
              <a:t>long</a:t>
            </a:r>
            <a:r>
              <a:rPr lang="en-US" altLang="zh-CN" sz="1800" dirty="0"/>
              <a:t> </a:t>
            </a:r>
            <a:r>
              <a:rPr lang="en-US" altLang="zh-CN" sz="1800" dirty="0" smtClean="0"/>
              <a:t>fact[N+1];   //fact[</a:t>
            </a:r>
            <a:r>
              <a:rPr lang="en-US" altLang="zh-CN" sz="1800" dirty="0"/>
              <a:t>k</a:t>
            </a:r>
            <a:r>
              <a:rPr lang="en-US" altLang="zh-CN" sz="1800" dirty="0" smtClean="0"/>
              <a:t>]</a:t>
            </a:r>
            <a:r>
              <a:rPr lang="zh-CN" altLang="en-US" sz="1800" dirty="0" smtClean="0"/>
              <a:t>存放</a:t>
            </a:r>
            <a:r>
              <a:rPr lang="en-US" altLang="zh-CN" sz="1800" dirty="0"/>
              <a:t>k</a:t>
            </a:r>
            <a:r>
              <a:rPr lang="en-US" altLang="zh-CN" sz="1800" dirty="0" smtClean="0"/>
              <a:t>!</a:t>
            </a:r>
            <a:endParaRPr lang="en-US" altLang="zh-CN" sz="1800" dirty="0"/>
          </a:p>
          <a:p>
            <a:pPr marL="285750" lvl="1" indent="0">
              <a:buNone/>
            </a:pPr>
            <a:r>
              <a:rPr lang="en-US" altLang="zh-CN" sz="1800" dirty="0"/>
              <a:t>     </a:t>
            </a:r>
            <a:r>
              <a:rPr lang="en-US" altLang="zh-CN" sz="1800" dirty="0" smtClean="0"/>
              <a:t>fact</a:t>
            </a:r>
            <a:r>
              <a:rPr lang="en-US" altLang="zh-CN" sz="1800" dirty="0" smtClean="0">
                <a:solidFill>
                  <a:srgbClr val="C00000"/>
                </a:solidFill>
              </a:rPr>
              <a:t>[0</a:t>
            </a:r>
            <a:r>
              <a:rPr lang="en-US" altLang="zh-CN" sz="1800" dirty="0">
                <a:solidFill>
                  <a:srgbClr val="C00000"/>
                </a:solidFill>
              </a:rPr>
              <a:t>]=1;    </a:t>
            </a:r>
            <a:r>
              <a:rPr lang="en-US" altLang="zh-CN" sz="1800" dirty="0">
                <a:solidFill>
                  <a:srgbClr val="0000CC"/>
                </a:solidFill>
              </a:rPr>
              <a:t>//0!=1;</a:t>
            </a:r>
          </a:p>
          <a:p>
            <a:pPr marL="285750" lvl="1" indent="0">
              <a:buNone/>
            </a:pPr>
            <a:r>
              <a:rPr lang="en-US" altLang="zh-CN" sz="1800" dirty="0"/>
              <a:t>     for (int </a:t>
            </a:r>
            <a:r>
              <a:rPr lang="en-US" altLang="zh-CN" sz="1800" dirty="0">
                <a:solidFill>
                  <a:srgbClr val="0000CC"/>
                </a:solidFill>
              </a:rPr>
              <a:t>i=1; </a:t>
            </a:r>
            <a:r>
              <a:rPr lang="en-US" altLang="zh-CN" sz="1800" dirty="0" err="1">
                <a:solidFill>
                  <a:srgbClr val="0000CC"/>
                </a:solidFill>
              </a:rPr>
              <a:t>i</a:t>
            </a:r>
            <a:r>
              <a:rPr lang="en-US" altLang="zh-CN" sz="1800" dirty="0" smtClean="0">
                <a:solidFill>
                  <a:srgbClr val="0000CC"/>
                </a:solidFill>
              </a:rPr>
              <a:t>&lt;=N</a:t>
            </a:r>
            <a:r>
              <a:rPr lang="en-US" altLang="zh-CN" sz="1800" dirty="0" smtClean="0"/>
              <a:t>; </a:t>
            </a:r>
            <a:r>
              <a:rPr lang="en-US" altLang="zh-CN" sz="1800" dirty="0" err="1"/>
              <a:t>i</a:t>
            </a:r>
            <a:r>
              <a:rPr lang="en-US" altLang="zh-CN" sz="1800" dirty="0" smtClean="0"/>
              <a:t>++) </a:t>
            </a:r>
            <a:endParaRPr lang="en-US" altLang="zh-CN" sz="1800" dirty="0"/>
          </a:p>
          <a:p>
            <a:pPr marL="285750" lvl="1" indent="0">
              <a:buNone/>
            </a:pPr>
            <a:r>
              <a:rPr lang="en-US" altLang="zh-CN" sz="1800" dirty="0"/>
              <a:t>     {</a:t>
            </a:r>
          </a:p>
          <a:p>
            <a:pPr marL="285750" lvl="1" indent="0">
              <a:buNone/>
            </a:pPr>
            <a:r>
              <a:rPr lang="en-US" altLang="zh-CN" sz="1800" dirty="0"/>
              <a:t>           </a:t>
            </a:r>
            <a:r>
              <a:rPr lang="en-US" altLang="zh-CN" sz="1800" dirty="0">
                <a:solidFill>
                  <a:srgbClr val="0000CC"/>
                </a:solidFill>
              </a:rPr>
              <a:t>fact[</a:t>
            </a:r>
            <a:r>
              <a:rPr lang="en-US" altLang="zh-CN" sz="1800" dirty="0" err="1">
                <a:solidFill>
                  <a:srgbClr val="0000CC"/>
                </a:solidFill>
              </a:rPr>
              <a:t>i</a:t>
            </a:r>
            <a:r>
              <a:rPr lang="en-US" altLang="zh-CN" sz="1800" dirty="0">
                <a:solidFill>
                  <a:srgbClr val="0000CC"/>
                </a:solidFill>
              </a:rPr>
              <a:t>]=</a:t>
            </a:r>
            <a:r>
              <a:rPr lang="en-US" altLang="zh-CN" sz="1800" dirty="0" err="1">
                <a:solidFill>
                  <a:srgbClr val="0000CC"/>
                </a:solidFill>
              </a:rPr>
              <a:t>i</a:t>
            </a:r>
            <a:r>
              <a:rPr lang="en-US" altLang="zh-CN" sz="1800" dirty="0">
                <a:solidFill>
                  <a:srgbClr val="0000CC"/>
                </a:solidFill>
              </a:rPr>
              <a:t>*fact[i-1</a:t>
            </a:r>
            <a:r>
              <a:rPr lang="en-US" altLang="zh-CN" sz="1800" dirty="0" smtClean="0">
                <a:solidFill>
                  <a:srgbClr val="0000CC"/>
                </a:solidFill>
              </a:rPr>
              <a:t>];      </a:t>
            </a:r>
            <a:r>
              <a:rPr lang="en-US" altLang="zh-CN" sz="1800" b="1" dirty="0" smtClean="0">
                <a:solidFill>
                  <a:srgbClr val="7030A0"/>
                </a:solidFill>
              </a:rPr>
              <a:t>//fact[</a:t>
            </a:r>
            <a:r>
              <a:rPr lang="en-US" altLang="zh-CN" sz="1800" b="1" dirty="0" err="1" smtClean="0">
                <a:solidFill>
                  <a:srgbClr val="7030A0"/>
                </a:solidFill>
              </a:rPr>
              <a:t>i</a:t>
            </a:r>
            <a:r>
              <a:rPr lang="en-US" altLang="zh-CN" sz="1800" b="1" dirty="0" smtClean="0">
                <a:solidFill>
                  <a:srgbClr val="7030A0"/>
                </a:solidFill>
              </a:rPr>
              <a:t>]=</a:t>
            </a:r>
            <a:r>
              <a:rPr lang="en-US" altLang="zh-CN" sz="1800" b="1" dirty="0" err="1" smtClean="0">
                <a:solidFill>
                  <a:srgbClr val="7030A0"/>
                </a:solidFill>
              </a:rPr>
              <a:t>i</a:t>
            </a:r>
            <a:r>
              <a:rPr lang="en-US" altLang="zh-CN" sz="1800" b="1" dirty="0" smtClean="0">
                <a:solidFill>
                  <a:srgbClr val="7030A0"/>
                </a:solidFill>
              </a:rPr>
              <a:t>!</a:t>
            </a:r>
            <a:endParaRPr lang="en-US" altLang="zh-CN" sz="1800" b="1" dirty="0">
              <a:solidFill>
                <a:srgbClr val="7030A0"/>
              </a:solidFill>
            </a:endParaRPr>
          </a:p>
          <a:p>
            <a:pPr marL="285750" lvl="1" indent="0">
              <a:buNone/>
            </a:pPr>
            <a:r>
              <a:rPr lang="en-US" altLang="zh-CN" sz="1800" dirty="0"/>
              <a:t>           </a:t>
            </a:r>
            <a:r>
              <a:rPr lang="en-US" altLang="zh-CN" sz="1800" dirty="0" err="1"/>
              <a:t>printf</a:t>
            </a:r>
            <a:r>
              <a:rPr lang="en-US" altLang="zh-CN" sz="1800" dirty="0"/>
              <a:t>(“%d!=</a:t>
            </a:r>
            <a:r>
              <a:rPr lang="zh-CN" altLang="en-US" sz="1800" dirty="0"/>
              <a:t> </a:t>
            </a:r>
            <a:r>
              <a:rPr lang="en-US" altLang="zh-CN" sz="1800" dirty="0"/>
              <a:t>%</a:t>
            </a:r>
            <a:r>
              <a:rPr lang="en-US" altLang="zh-CN" sz="1800" dirty="0" err="1"/>
              <a:t>llu</a:t>
            </a:r>
            <a:r>
              <a:rPr lang="en-US" altLang="zh-CN" sz="1800" dirty="0"/>
              <a:t>\n”,</a:t>
            </a:r>
            <a:r>
              <a:rPr lang="en-US" altLang="zh-CN" sz="1800" dirty="0" err="1" smtClean="0"/>
              <a:t>i,fact</a:t>
            </a:r>
            <a:r>
              <a:rPr lang="en-US" altLang="zh-CN" sz="1800" dirty="0" smtClean="0"/>
              <a:t>[</a:t>
            </a:r>
            <a:r>
              <a:rPr lang="en-US" altLang="zh-CN" sz="1800" dirty="0" err="1" smtClean="0"/>
              <a:t>i</a:t>
            </a:r>
            <a:r>
              <a:rPr lang="en-US" altLang="zh-CN" sz="1800" dirty="0"/>
              <a:t>]);</a:t>
            </a:r>
          </a:p>
          <a:p>
            <a:pPr marL="285750" lvl="1" indent="0">
              <a:buNone/>
            </a:pPr>
            <a:r>
              <a:rPr lang="en-US" altLang="zh-CN" sz="1800" dirty="0"/>
              <a:t>     }</a:t>
            </a:r>
          </a:p>
          <a:p>
            <a:pPr marL="285750" lvl="1" indent="0">
              <a:buNone/>
            </a:pPr>
            <a:r>
              <a:rPr lang="en-US" altLang="zh-CN" sz="1800" dirty="0"/>
              <a:t>     return 0;</a:t>
            </a:r>
            <a:endParaRPr lang="zh-CN" altLang="en-US" sz="1800" dirty="0"/>
          </a:p>
          <a:p>
            <a:pPr marL="285750" lvl="1" indent="0">
              <a:buNone/>
            </a:pPr>
            <a:r>
              <a:rPr lang="en-US" altLang="zh-CN" sz="1800" dirty="0"/>
              <a:t>}</a:t>
            </a:r>
          </a:p>
        </p:txBody>
      </p:sp>
    </p:spTree>
    <p:extLst>
      <p:ext uri="{BB962C8B-B14F-4D97-AF65-F5344CB8AC3E}">
        <p14:creationId xmlns:p14="http://schemas.microsoft.com/office/powerpoint/2010/main" val="14966211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a:t>
            </a:r>
            <a:r>
              <a:rPr lang="zh-CN" altLang="en-US" dirty="0">
                <a:solidFill>
                  <a:srgbClr val="C00000"/>
                </a:solidFill>
              </a:rPr>
              <a:t>递推</a:t>
            </a:r>
            <a:r>
              <a:rPr lang="zh-CN" altLang="en-US" dirty="0"/>
              <a:t>计算</a:t>
            </a:r>
            <a:r>
              <a:rPr lang="en-US" altLang="zh-CN" dirty="0">
                <a:solidFill>
                  <a:srgbClr val="006600"/>
                </a:solidFill>
              </a:rPr>
              <a:t>Fibonacci sequence</a:t>
            </a:r>
            <a:endParaRPr lang="zh-CN" altLang="en-US" dirty="0">
              <a:solidFill>
                <a:srgbClr val="006600"/>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1800" dirty="0" smtClean="0"/>
                  <a:t>标准</a:t>
                </a:r>
                <a:r>
                  <a:rPr lang="zh-CN" altLang="en-US" sz="1800" dirty="0" smtClean="0">
                    <a:solidFill>
                      <a:srgbClr val="7030A0"/>
                    </a:solidFill>
                  </a:rPr>
                  <a:t>斐波那契数列</a:t>
                </a:r>
                <a:r>
                  <a:rPr lang="zh-CN" altLang="en-US" sz="1800" dirty="0" smtClean="0"/>
                  <a:t>：</a:t>
                </a:r>
                <a:r>
                  <a:rPr lang="en-US" altLang="zh-CN" sz="1800" dirty="0"/>
                  <a:t>0, 1, 1, 2, 3, 5, 8, 13, 21, 34, 55, 89, 144, 233</a:t>
                </a:r>
                <a:r>
                  <a:rPr lang="zh-CN" altLang="en-US" sz="1800" dirty="0"/>
                  <a:t>，</a:t>
                </a:r>
                <a:r>
                  <a:rPr lang="en-US" altLang="zh-CN" sz="1800" dirty="0"/>
                  <a:t>377</a:t>
                </a:r>
                <a:r>
                  <a:rPr lang="zh-CN" altLang="en-US" sz="1800" dirty="0"/>
                  <a:t>，</a:t>
                </a:r>
                <a:r>
                  <a:rPr lang="en-US" altLang="zh-CN" sz="1800" dirty="0"/>
                  <a:t>610</a:t>
                </a:r>
                <a:r>
                  <a:rPr lang="zh-CN" altLang="en-US" sz="1800" dirty="0"/>
                  <a:t>，</a:t>
                </a:r>
                <a:r>
                  <a:rPr lang="en-US" altLang="zh-CN" sz="1800" dirty="0"/>
                  <a:t>987</a:t>
                </a:r>
                <a:r>
                  <a:rPr lang="zh-CN" altLang="en-US" sz="1800" dirty="0"/>
                  <a:t>，</a:t>
                </a:r>
                <a:r>
                  <a:rPr lang="en-US" altLang="zh-CN" sz="1800" dirty="0"/>
                  <a:t>1597</a:t>
                </a:r>
                <a:r>
                  <a:rPr lang="zh-CN" altLang="en-US" sz="1800" dirty="0"/>
                  <a:t>，</a:t>
                </a:r>
                <a:r>
                  <a:rPr lang="en-US" altLang="zh-CN" sz="1800" dirty="0"/>
                  <a:t>2584</a:t>
                </a:r>
                <a:r>
                  <a:rPr lang="zh-CN" altLang="en-US" sz="1800" dirty="0"/>
                  <a:t>，</a:t>
                </a:r>
                <a:r>
                  <a:rPr lang="en-US" altLang="zh-CN" sz="1800" dirty="0"/>
                  <a:t>4181</a:t>
                </a:r>
                <a:r>
                  <a:rPr lang="zh-CN" altLang="en-US" sz="1800" dirty="0"/>
                  <a:t>，</a:t>
                </a:r>
                <a:r>
                  <a:rPr lang="en-US" altLang="zh-CN" sz="1800" dirty="0"/>
                  <a:t>6765</a:t>
                </a:r>
                <a:r>
                  <a:rPr lang="zh-CN" altLang="en-US" sz="1800" dirty="0"/>
                  <a:t>，</a:t>
                </a:r>
                <a:r>
                  <a:rPr lang="en-US" altLang="zh-CN" sz="1800" dirty="0"/>
                  <a:t>10946</a:t>
                </a:r>
                <a:r>
                  <a:rPr lang="zh-CN" altLang="en-US" sz="1800" dirty="0"/>
                  <a:t>，</a:t>
                </a:r>
                <a:r>
                  <a:rPr lang="en-US" altLang="zh-CN" sz="1800" dirty="0"/>
                  <a:t>17711</a:t>
                </a:r>
                <a:r>
                  <a:rPr lang="zh-CN" altLang="en-US" sz="1800" dirty="0"/>
                  <a:t>，</a:t>
                </a:r>
                <a:r>
                  <a:rPr lang="en-US" altLang="zh-CN" sz="1800" dirty="0"/>
                  <a:t>28657</a:t>
                </a:r>
                <a:r>
                  <a:rPr lang="zh-CN" altLang="en-US" sz="1800" dirty="0"/>
                  <a:t>，</a:t>
                </a:r>
                <a:r>
                  <a:rPr lang="en-US" altLang="zh-CN" sz="1800" dirty="0"/>
                  <a:t>46368........</a:t>
                </a:r>
              </a:p>
              <a:p>
                <a:pPr marL="342900" indent="-342900">
                  <a:buFont typeface="Wingdings" panose="05000000000000000000" pitchFamily="2" charset="2"/>
                  <a:buChar char="l"/>
                </a:pPr>
                <a:r>
                  <a:rPr lang="zh-CN" altLang="en-US" sz="1800" dirty="0">
                    <a:solidFill>
                      <a:srgbClr val="7030A0"/>
                    </a:solidFill>
                  </a:rPr>
                  <a:t>通项：</a:t>
                </a:r>
                <a:r>
                  <a:rPr lang="en-US" altLang="zh-CN" sz="1800" dirty="0">
                    <a:solidFill>
                      <a:srgbClr val="0303DF"/>
                    </a:solidFill>
                  </a:rPr>
                  <a:t> </a:t>
                </a:r>
                <a14:m>
                  <m:oMath xmlns:m="http://schemas.openxmlformats.org/officeDocument/2006/math">
                    <m:sSub>
                      <m:sSubPr>
                        <m:ctrlPr>
                          <a:rPr lang="en-US" altLang="zh-CN" sz="1800" i="1">
                            <a:solidFill>
                              <a:srgbClr val="0303DF"/>
                            </a:solidFill>
                            <a:latin typeface="Cambria Math" panose="02040503050406030204" pitchFamily="18" charset="0"/>
                          </a:rPr>
                        </m:ctrlPr>
                      </m:sSubPr>
                      <m:e>
                        <m:r>
                          <a:rPr lang="en-US" altLang="zh-CN" sz="1800" i="1">
                            <a:solidFill>
                              <a:srgbClr val="0303DF"/>
                            </a:solidFill>
                            <a:latin typeface="Cambria Math" panose="02040503050406030204" pitchFamily="18" charset="0"/>
                          </a:rPr>
                          <m:t>𝑎</m:t>
                        </m:r>
                      </m:e>
                      <m:sub>
                        <m:r>
                          <a:rPr lang="en-US" altLang="zh-CN" sz="1800" i="1">
                            <a:solidFill>
                              <a:srgbClr val="0303DF"/>
                            </a:solidFill>
                            <a:latin typeface="Cambria Math" panose="02040503050406030204" pitchFamily="18" charset="0"/>
                          </a:rPr>
                          <m:t>𝑛</m:t>
                        </m:r>
                      </m:sub>
                    </m:sSub>
                    <m:r>
                      <a:rPr lang="en-US" altLang="zh-CN" sz="1800" i="1">
                        <a:solidFill>
                          <a:srgbClr val="0303DF"/>
                        </a:solidFill>
                        <a:latin typeface="Cambria Math" panose="02040503050406030204" pitchFamily="18" charset="0"/>
                      </a:rPr>
                      <m:t>=</m:t>
                    </m:r>
                    <m:f>
                      <m:fPr>
                        <m:ctrlPr>
                          <a:rPr lang="en-US" altLang="zh-CN" sz="1800" i="1" smtClean="0">
                            <a:solidFill>
                              <a:srgbClr val="0303DF"/>
                            </a:solidFill>
                            <a:latin typeface="Cambria Math" panose="02040503050406030204" pitchFamily="18" charset="0"/>
                          </a:rPr>
                        </m:ctrlPr>
                      </m:fPr>
                      <m:num>
                        <m:r>
                          <a:rPr lang="en-US" altLang="zh-CN" sz="1800" b="0" i="1" smtClean="0">
                            <a:solidFill>
                              <a:srgbClr val="0303DF"/>
                            </a:solidFill>
                            <a:latin typeface="Cambria Math" panose="02040503050406030204" pitchFamily="18" charset="0"/>
                          </a:rPr>
                          <m:t>1</m:t>
                        </m:r>
                      </m:num>
                      <m:den>
                        <m:rad>
                          <m:radPr>
                            <m:degHide m:val="on"/>
                            <m:ctrlPr>
                              <a:rPr lang="en-US" altLang="zh-CN" sz="1800" i="1">
                                <a:solidFill>
                                  <a:srgbClr val="0303DF"/>
                                </a:solidFill>
                                <a:latin typeface="Cambria Math" panose="02040503050406030204" pitchFamily="18" charset="0"/>
                              </a:rPr>
                            </m:ctrlPr>
                          </m:radPr>
                          <m:deg/>
                          <m:e>
                            <m:r>
                              <a:rPr lang="en-US" altLang="zh-CN" sz="1800" i="1">
                                <a:solidFill>
                                  <a:srgbClr val="0303DF"/>
                                </a:solidFill>
                                <a:latin typeface="Cambria Math" panose="02040503050406030204" pitchFamily="18" charset="0"/>
                              </a:rPr>
                              <m:t>5</m:t>
                            </m:r>
                          </m:e>
                        </m:rad>
                      </m:den>
                    </m:f>
                  </m:oMath>
                </a14:m>
                <a:r>
                  <a:rPr lang="en-US" altLang="zh-CN" sz="1800" dirty="0">
                    <a:solidFill>
                      <a:srgbClr val="0303DF"/>
                    </a:solidFill>
                  </a:rPr>
                  <a:t> </a:t>
                </a:r>
                <a14:m>
                  <m:oMath xmlns:m="http://schemas.openxmlformats.org/officeDocument/2006/math">
                    <m:d>
                      <m:dPr>
                        <m:begChr m:val="["/>
                        <m:endChr m:val="]"/>
                        <m:ctrlPr>
                          <a:rPr lang="en-US" altLang="zh-CN" sz="1800" i="1">
                            <a:solidFill>
                              <a:srgbClr val="0303DF"/>
                            </a:solidFill>
                            <a:latin typeface="Cambria Math" panose="02040503050406030204" pitchFamily="18" charset="0"/>
                          </a:rPr>
                        </m:ctrlPr>
                      </m:dPr>
                      <m:e>
                        <m:sSup>
                          <m:sSupPr>
                            <m:ctrlPr>
                              <a:rPr lang="en-US" altLang="zh-CN" sz="1800" i="1">
                                <a:solidFill>
                                  <a:srgbClr val="0303DF"/>
                                </a:solidFill>
                                <a:latin typeface="Cambria Math" panose="02040503050406030204" pitchFamily="18" charset="0"/>
                              </a:rPr>
                            </m:ctrlPr>
                          </m:sSupPr>
                          <m:e>
                            <m:d>
                              <m:dPr>
                                <m:ctrlPr>
                                  <a:rPr lang="en-US" altLang="zh-CN" sz="1800" i="1">
                                    <a:solidFill>
                                      <a:srgbClr val="0303DF"/>
                                    </a:solidFill>
                                    <a:latin typeface="Cambria Math" panose="02040503050406030204" pitchFamily="18" charset="0"/>
                                  </a:rPr>
                                </m:ctrlPr>
                              </m:dPr>
                              <m:e>
                                <m:f>
                                  <m:fPr>
                                    <m:ctrlPr>
                                      <a:rPr lang="en-US" altLang="zh-CN" sz="1800" i="1">
                                        <a:solidFill>
                                          <a:srgbClr val="0303DF"/>
                                        </a:solidFill>
                                        <a:latin typeface="Cambria Math" panose="02040503050406030204" pitchFamily="18" charset="0"/>
                                      </a:rPr>
                                    </m:ctrlPr>
                                  </m:fPr>
                                  <m:num>
                                    <m:r>
                                      <a:rPr lang="en-US" altLang="zh-CN" sz="1800" i="1">
                                        <a:solidFill>
                                          <a:srgbClr val="0303DF"/>
                                        </a:solidFill>
                                        <a:latin typeface="Cambria Math" panose="02040503050406030204" pitchFamily="18" charset="0"/>
                                      </a:rPr>
                                      <m:t>1+</m:t>
                                    </m:r>
                                    <m:rad>
                                      <m:radPr>
                                        <m:degHide m:val="on"/>
                                        <m:ctrlPr>
                                          <a:rPr lang="en-US" altLang="zh-CN" sz="1800" i="1">
                                            <a:solidFill>
                                              <a:srgbClr val="0303DF"/>
                                            </a:solidFill>
                                            <a:latin typeface="Cambria Math" panose="02040503050406030204" pitchFamily="18" charset="0"/>
                                          </a:rPr>
                                        </m:ctrlPr>
                                      </m:radPr>
                                      <m:deg/>
                                      <m:e>
                                        <m:r>
                                          <a:rPr lang="en-US" altLang="zh-CN" sz="1800" i="1">
                                            <a:solidFill>
                                              <a:srgbClr val="0303DF"/>
                                            </a:solidFill>
                                            <a:latin typeface="Cambria Math" panose="02040503050406030204" pitchFamily="18" charset="0"/>
                                          </a:rPr>
                                          <m:t>5</m:t>
                                        </m:r>
                                      </m:e>
                                    </m:rad>
                                  </m:num>
                                  <m:den>
                                    <m:r>
                                      <a:rPr lang="en-US" altLang="zh-CN" sz="1800" i="1">
                                        <a:solidFill>
                                          <a:srgbClr val="0303DF"/>
                                        </a:solidFill>
                                        <a:latin typeface="Cambria Math" panose="02040503050406030204" pitchFamily="18" charset="0"/>
                                      </a:rPr>
                                      <m:t>2</m:t>
                                    </m:r>
                                  </m:den>
                                </m:f>
                              </m:e>
                            </m:d>
                          </m:e>
                          <m:sup>
                            <m:r>
                              <a:rPr lang="en-US" altLang="zh-CN" sz="1800" i="1">
                                <a:solidFill>
                                  <a:srgbClr val="0303DF"/>
                                </a:solidFill>
                                <a:latin typeface="Cambria Math" panose="02040503050406030204" pitchFamily="18" charset="0"/>
                              </a:rPr>
                              <m:t>𝑛</m:t>
                            </m:r>
                          </m:sup>
                        </m:sSup>
                        <m:r>
                          <a:rPr lang="en-US" altLang="zh-CN" sz="1800" i="1">
                            <a:solidFill>
                              <a:srgbClr val="0303DF"/>
                            </a:solidFill>
                            <a:latin typeface="Cambria Math" panose="02040503050406030204" pitchFamily="18" charset="0"/>
                            <a:ea typeface="Cambria Math" panose="02040503050406030204" pitchFamily="18" charset="0"/>
                          </a:rPr>
                          <m:t>−</m:t>
                        </m:r>
                        <m:sSup>
                          <m:sSupPr>
                            <m:ctrlPr>
                              <a:rPr lang="en-US" altLang="zh-CN" sz="1800" i="1">
                                <a:solidFill>
                                  <a:srgbClr val="0303DF"/>
                                </a:solidFill>
                                <a:latin typeface="Cambria Math" panose="02040503050406030204" pitchFamily="18" charset="0"/>
                              </a:rPr>
                            </m:ctrlPr>
                          </m:sSupPr>
                          <m:e>
                            <m:d>
                              <m:dPr>
                                <m:ctrlPr>
                                  <a:rPr lang="en-US" altLang="zh-CN" sz="1800" i="1">
                                    <a:solidFill>
                                      <a:srgbClr val="0303DF"/>
                                    </a:solidFill>
                                    <a:latin typeface="Cambria Math" panose="02040503050406030204" pitchFamily="18" charset="0"/>
                                  </a:rPr>
                                </m:ctrlPr>
                              </m:dPr>
                              <m:e>
                                <m:f>
                                  <m:fPr>
                                    <m:ctrlPr>
                                      <a:rPr lang="en-US" altLang="zh-CN" sz="1800" i="1">
                                        <a:solidFill>
                                          <a:srgbClr val="0303DF"/>
                                        </a:solidFill>
                                        <a:latin typeface="Cambria Math" panose="02040503050406030204" pitchFamily="18" charset="0"/>
                                      </a:rPr>
                                    </m:ctrlPr>
                                  </m:fPr>
                                  <m:num>
                                    <m:r>
                                      <a:rPr lang="en-US" altLang="zh-CN" sz="1800" i="1">
                                        <a:solidFill>
                                          <a:srgbClr val="0303DF"/>
                                        </a:solidFill>
                                        <a:latin typeface="Cambria Math" panose="02040503050406030204" pitchFamily="18" charset="0"/>
                                      </a:rPr>
                                      <m:t>1</m:t>
                                    </m:r>
                                    <m:r>
                                      <a:rPr lang="en-US" altLang="zh-CN" sz="1800" i="1">
                                        <a:solidFill>
                                          <a:srgbClr val="0303DF"/>
                                        </a:solidFill>
                                        <a:latin typeface="Cambria Math" panose="02040503050406030204" pitchFamily="18" charset="0"/>
                                        <a:ea typeface="Cambria Math" panose="02040503050406030204" pitchFamily="18" charset="0"/>
                                      </a:rPr>
                                      <m:t>−</m:t>
                                    </m:r>
                                    <m:rad>
                                      <m:radPr>
                                        <m:degHide m:val="on"/>
                                        <m:ctrlPr>
                                          <a:rPr lang="en-US" altLang="zh-CN" sz="1800" i="1">
                                            <a:solidFill>
                                              <a:srgbClr val="0303DF"/>
                                            </a:solidFill>
                                            <a:latin typeface="Cambria Math" panose="02040503050406030204" pitchFamily="18" charset="0"/>
                                          </a:rPr>
                                        </m:ctrlPr>
                                      </m:radPr>
                                      <m:deg/>
                                      <m:e>
                                        <m:r>
                                          <a:rPr lang="en-US" altLang="zh-CN" sz="1800" i="1">
                                            <a:solidFill>
                                              <a:srgbClr val="0303DF"/>
                                            </a:solidFill>
                                            <a:latin typeface="Cambria Math" panose="02040503050406030204" pitchFamily="18" charset="0"/>
                                          </a:rPr>
                                          <m:t>5</m:t>
                                        </m:r>
                                      </m:e>
                                    </m:rad>
                                  </m:num>
                                  <m:den>
                                    <m:r>
                                      <a:rPr lang="en-US" altLang="zh-CN" sz="1800" i="1">
                                        <a:solidFill>
                                          <a:srgbClr val="0303DF"/>
                                        </a:solidFill>
                                        <a:latin typeface="Cambria Math" panose="02040503050406030204" pitchFamily="18" charset="0"/>
                                      </a:rPr>
                                      <m:t>2</m:t>
                                    </m:r>
                                  </m:den>
                                </m:f>
                              </m:e>
                            </m:d>
                          </m:e>
                          <m:sup>
                            <m:r>
                              <a:rPr lang="en-US" altLang="zh-CN" sz="1800" i="1">
                                <a:solidFill>
                                  <a:srgbClr val="0303DF"/>
                                </a:solidFill>
                                <a:latin typeface="Cambria Math" panose="02040503050406030204" pitchFamily="18" charset="0"/>
                              </a:rPr>
                              <m:t>𝑛</m:t>
                            </m:r>
                          </m:sup>
                        </m:sSup>
                      </m:e>
                    </m:d>
                  </m:oMath>
                </a14:m>
                <a:endParaRPr lang="en-US" altLang="zh-CN" sz="1800" dirty="0"/>
              </a:p>
              <a:p>
                <a:pPr marL="342900" indent="-342900">
                  <a:buFont typeface="Wingdings" panose="05000000000000000000" pitchFamily="2" charset="2"/>
                  <a:buChar char="l"/>
                </a:pPr>
                <a:r>
                  <a:rPr lang="zh-CN" altLang="en-US" sz="1800" dirty="0">
                    <a:solidFill>
                      <a:srgbClr val="7030A0"/>
                    </a:solidFill>
                  </a:rPr>
                  <a:t>递推公式</a:t>
                </a:r>
                <a:r>
                  <a:rPr lang="zh-CN" altLang="zh-CN" sz="1800" dirty="0">
                    <a:solidFill>
                      <a:srgbClr val="7030A0"/>
                    </a:solidFill>
                  </a:rPr>
                  <a:t>：</a:t>
                </a:r>
                <a:endParaRPr lang="en-US" altLang="zh-CN" sz="1800" dirty="0">
                  <a:solidFill>
                    <a:srgbClr val="7030A0"/>
                  </a:solidFill>
                </a:endParaRPr>
              </a:p>
              <a:p>
                <a:pPr>
                  <a:buNone/>
                </a:pPr>
                <a:r>
                  <a:rPr lang="en-US" altLang="zh-CN" sz="1800" b="0" dirty="0" smtClean="0"/>
                  <a:t>      </a:t>
                </a:r>
                <a:r>
                  <a:rPr lang="en-US" altLang="zh-CN" sz="1800" b="0" dirty="0"/>
                  <a:t>  </a:t>
                </a:r>
                <a14:m>
                  <m:oMath xmlns:m="http://schemas.openxmlformats.org/officeDocument/2006/math">
                    <m:r>
                      <a:rPr lang="en-US" altLang="zh-CN" sz="1800" b="0" i="0" smtClean="0">
                        <a:latin typeface="Cambria Math" panose="02040503050406030204" pitchFamily="18" charset="0"/>
                      </a:rPr>
                      <m:t>    </m:t>
                    </m:r>
                    <m:r>
                      <m:rPr>
                        <m:sty m:val="p"/>
                      </m:rPr>
                      <a:rPr lang="en-US" altLang="zh-CN" sz="1800" smtClean="0">
                        <a:solidFill>
                          <a:srgbClr val="0303DF"/>
                        </a:solidFill>
                        <a:latin typeface="Cambria Math" panose="02040503050406030204" pitchFamily="18" charset="0"/>
                      </a:rPr>
                      <m:t>f</m:t>
                    </m:r>
                    <m:d>
                      <m:dPr>
                        <m:ctrlPr>
                          <a:rPr lang="zh-CN" altLang="zh-CN" sz="1800" i="1">
                            <a:solidFill>
                              <a:srgbClr val="0303DF"/>
                            </a:solidFill>
                            <a:latin typeface="Cambria Math" panose="02040503050406030204" pitchFamily="18" charset="0"/>
                          </a:rPr>
                        </m:ctrlPr>
                      </m:dPr>
                      <m:e>
                        <m:r>
                          <m:rPr>
                            <m:sty m:val="p"/>
                          </m:rPr>
                          <a:rPr lang="en-US" altLang="zh-CN" sz="1800">
                            <a:solidFill>
                              <a:srgbClr val="0303DF"/>
                            </a:solidFill>
                            <a:latin typeface="Cambria Math" panose="02040503050406030204" pitchFamily="18" charset="0"/>
                          </a:rPr>
                          <m:t>n</m:t>
                        </m:r>
                      </m:e>
                    </m:d>
                    <m:r>
                      <a:rPr lang="en-US" altLang="zh-CN" sz="1800">
                        <a:solidFill>
                          <a:srgbClr val="0303DF"/>
                        </a:solidFill>
                        <a:latin typeface="Cambria Math" panose="02040503050406030204" pitchFamily="18" charset="0"/>
                      </a:rPr>
                      <m:t>=</m:t>
                    </m:r>
                    <m:d>
                      <m:dPr>
                        <m:begChr m:val="{"/>
                        <m:endChr m:val=""/>
                        <m:ctrlPr>
                          <a:rPr lang="zh-CN" altLang="zh-CN" sz="1800" i="1">
                            <a:solidFill>
                              <a:srgbClr val="0303DF"/>
                            </a:solidFill>
                            <a:latin typeface="Cambria Math" panose="02040503050406030204" pitchFamily="18" charset="0"/>
                          </a:rPr>
                        </m:ctrlPr>
                      </m:dPr>
                      <m:e>
                        <m:eqArr>
                          <m:eqArrPr>
                            <m:ctrlPr>
                              <a:rPr lang="zh-CN" altLang="zh-CN" sz="1800" b="0" i="1">
                                <a:solidFill>
                                  <a:srgbClr val="0303DF"/>
                                </a:solidFill>
                                <a:latin typeface="Cambria Math" panose="02040503050406030204" pitchFamily="18" charset="0"/>
                              </a:rPr>
                            </m:ctrlPr>
                          </m:eqArrPr>
                          <m:e>
                            <m:r>
                              <a:rPr lang="en-US" altLang="zh-CN" sz="1800" b="0" i="1" smtClean="0">
                                <a:solidFill>
                                  <a:srgbClr val="0303DF"/>
                                </a:solidFill>
                                <a:latin typeface="Cambria Math" panose="02040503050406030204" pitchFamily="18" charset="0"/>
                              </a:rPr>
                              <m:t>0</m:t>
                            </m:r>
                            <m:r>
                              <a:rPr lang="en-US" altLang="zh-CN" sz="1800" i="1">
                                <a:solidFill>
                                  <a:srgbClr val="0303DF"/>
                                </a:solidFill>
                                <a:latin typeface="Cambria Math" panose="02040503050406030204" pitchFamily="18" charset="0"/>
                              </a:rPr>
                              <m:t>                       </m:t>
                            </m:r>
                            <m:r>
                              <a:rPr lang="en-US" altLang="zh-CN" sz="1800" b="0" i="1" smtClean="0">
                                <a:solidFill>
                                  <a:srgbClr val="0303DF"/>
                                </a:solidFill>
                                <a:latin typeface="Cambria Math" panose="02040503050406030204" pitchFamily="18" charset="0"/>
                              </a:rPr>
                              <m:t>     </m:t>
                            </m:r>
                            <m:r>
                              <a:rPr lang="en-US" altLang="zh-CN" sz="1800" i="1">
                                <a:solidFill>
                                  <a:srgbClr val="0303DF"/>
                                </a:solidFill>
                                <a:latin typeface="Cambria Math" panose="02040503050406030204" pitchFamily="18" charset="0"/>
                              </a:rPr>
                              <m:t>  </m:t>
                            </m:r>
                            <m:r>
                              <a:rPr lang="en-US" altLang="zh-CN" sz="1800" b="0" i="1" smtClean="0">
                                <a:solidFill>
                                  <a:srgbClr val="0303DF"/>
                                </a:solidFill>
                                <a:latin typeface="Cambria Math" panose="02040503050406030204" pitchFamily="18" charset="0"/>
                              </a:rPr>
                              <m:t>   </m:t>
                            </m:r>
                            <m:r>
                              <a:rPr lang="en-US" altLang="zh-CN" sz="1800" i="1">
                                <a:solidFill>
                                  <a:srgbClr val="0303DF"/>
                                </a:solidFill>
                                <a:latin typeface="Cambria Math" panose="02040503050406030204" pitchFamily="18" charset="0"/>
                              </a:rPr>
                              <m:t>    ,</m:t>
                            </m:r>
                            <m:r>
                              <a:rPr lang="en-US" altLang="zh-CN" sz="1800" i="1">
                                <a:solidFill>
                                  <a:srgbClr val="0303DF"/>
                                </a:solidFill>
                                <a:latin typeface="Cambria Math" panose="02040503050406030204" pitchFamily="18" charset="0"/>
                              </a:rPr>
                              <m:t>𝑛</m:t>
                            </m:r>
                            <m:r>
                              <a:rPr lang="en-US" altLang="zh-CN" sz="1800" b="0" i="1" smtClean="0">
                                <a:solidFill>
                                  <a:srgbClr val="0303DF"/>
                                </a:solidFill>
                                <a:latin typeface="Cambria Math" panose="02040503050406030204" pitchFamily="18" charset="0"/>
                              </a:rPr>
                              <m:t>=0</m:t>
                            </m:r>
                          </m:e>
                          <m:e>
                            <m:r>
                              <a:rPr lang="en-US" altLang="zh-CN" sz="1800" b="0" i="1" smtClean="0">
                                <a:solidFill>
                                  <a:srgbClr val="0303DF"/>
                                </a:solidFill>
                                <a:latin typeface="Cambria Math" panose="02040503050406030204" pitchFamily="18" charset="0"/>
                              </a:rPr>
                              <m:t>1                                     </m:t>
                            </m:r>
                            <m:r>
                              <a:rPr lang="en-US" altLang="zh-CN" sz="1800" i="1">
                                <a:solidFill>
                                  <a:srgbClr val="0303DF"/>
                                </a:solidFill>
                                <a:latin typeface="Cambria Math" panose="02040503050406030204" pitchFamily="18" charset="0"/>
                              </a:rPr>
                              <m:t>,</m:t>
                            </m:r>
                            <m:r>
                              <a:rPr lang="en-US" altLang="zh-CN" sz="1800" i="1">
                                <a:solidFill>
                                  <a:srgbClr val="0303DF"/>
                                </a:solidFill>
                                <a:latin typeface="Cambria Math" panose="02040503050406030204" pitchFamily="18" charset="0"/>
                              </a:rPr>
                              <m:t>𝑛</m:t>
                            </m:r>
                            <m:r>
                              <a:rPr lang="en-US" altLang="zh-CN" sz="1800" i="1">
                                <a:solidFill>
                                  <a:srgbClr val="0303DF"/>
                                </a:solidFill>
                                <a:latin typeface="Cambria Math" panose="02040503050406030204" pitchFamily="18" charset="0"/>
                              </a:rPr>
                              <m:t>=1</m:t>
                            </m:r>
                          </m:e>
                          <m:e>
                            <m:r>
                              <a:rPr lang="en-US" altLang="zh-CN" sz="1800" i="1">
                                <a:solidFill>
                                  <a:srgbClr val="0303DF"/>
                                </a:solidFill>
                                <a:latin typeface="Cambria Math" panose="02040503050406030204" pitchFamily="18" charset="0"/>
                              </a:rPr>
                              <m:t>𝑓</m:t>
                            </m:r>
                            <m:d>
                              <m:dPr>
                                <m:ctrlPr>
                                  <a:rPr lang="zh-CN" altLang="zh-CN" sz="1800" i="1">
                                    <a:solidFill>
                                      <a:srgbClr val="0303DF"/>
                                    </a:solidFill>
                                    <a:latin typeface="Cambria Math" panose="02040503050406030204" pitchFamily="18" charset="0"/>
                                  </a:rPr>
                                </m:ctrlPr>
                              </m:dPr>
                              <m:e>
                                <m:r>
                                  <a:rPr lang="en-US" altLang="zh-CN" sz="1800" i="1">
                                    <a:solidFill>
                                      <a:srgbClr val="0303DF"/>
                                    </a:solidFill>
                                    <a:latin typeface="Cambria Math" panose="02040503050406030204" pitchFamily="18" charset="0"/>
                                  </a:rPr>
                                  <m:t>𝑛</m:t>
                                </m:r>
                                <m:r>
                                  <a:rPr lang="en-US" altLang="zh-CN" sz="1800" i="1">
                                    <a:solidFill>
                                      <a:srgbClr val="0303DF"/>
                                    </a:solidFill>
                                    <a:latin typeface="Cambria Math" panose="02040503050406030204" pitchFamily="18" charset="0"/>
                                  </a:rPr>
                                  <m:t>−1</m:t>
                                </m:r>
                              </m:e>
                            </m:d>
                            <m:r>
                              <a:rPr lang="en-US" altLang="zh-CN" sz="1800" i="1">
                                <a:solidFill>
                                  <a:srgbClr val="0303DF"/>
                                </a:solidFill>
                                <a:latin typeface="Cambria Math" panose="02040503050406030204" pitchFamily="18" charset="0"/>
                              </a:rPr>
                              <m:t>+</m:t>
                            </m:r>
                            <m:r>
                              <a:rPr lang="en-US" altLang="zh-CN" sz="1800" i="1">
                                <a:solidFill>
                                  <a:srgbClr val="0303DF"/>
                                </a:solidFill>
                                <a:latin typeface="Cambria Math" panose="02040503050406030204" pitchFamily="18" charset="0"/>
                              </a:rPr>
                              <m:t>𝑓</m:t>
                            </m:r>
                            <m:d>
                              <m:dPr>
                                <m:ctrlPr>
                                  <a:rPr lang="zh-CN" altLang="zh-CN" sz="1800" i="1">
                                    <a:solidFill>
                                      <a:srgbClr val="0303DF"/>
                                    </a:solidFill>
                                    <a:latin typeface="Cambria Math" panose="02040503050406030204" pitchFamily="18" charset="0"/>
                                  </a:rPr>
                                </m:ctrlPr>
                              </m:dPr>
                              <m:e>
                                <m:r>
                                  <a:rPr lang="en-US" altLang="zh-CN" sz="1800" i="1">
                                    <a:solidFill>
                                      <a:srgbClr val="0303DF"/>
                                    </a:solidFill>
                                    <a:latin typeface="Cambria Math" panose="02040503050406030204" pitchFamily="18" charset="0"/>
                                  </a:rPr>
                                  <m:t>𝑛</m:t>
                                </m:r>
                                <m:r>
                                  <a:rPr lang="en-US" altLang="zh-CN" sz="1800" i="1">
                                    <a:solidFill>
                                      <a:srgbClr val="0303DF"/>
                                    </a:solidFill>
                                    <a:latin typeface="Cambria Math" panose="02040503050406030204" pitchFamily="18" charset="0"/>
                                  </a:rPr>
                                  <m:t>−2</m:t>
                                </m:r>
                              </m:e>
                            </m:d>
                            <m:r>
                              <a:rPr lang="en-US" altLang="zh-CN" sz="1800" i="1">
                                <a:solidFill>
                                  <a:srgbClr val="0303DF"/>
                                </a:solidFill>
                                <a:latin typeface="Cambria Math" panose="02040503050406030204" pitchFamily="18" charset="0"/>
                              </a:rPr>
                              <m:t>,  </m:t>
                            </m:r>
                            <m:r>
                              <a:rPr lang="en-US" altLang="zh-CN" sz="1800" i="1">
                                <a:solidFill>
                                  <a:srgbClr val="0303DF"/>
                                </a:solidFill>
                                <a:latin typeface="Cambria Math" panose="02040503050406030204" pitchFamily="18" charset="0"/>
                              </a:rPr>
                              <m:t>𝑛</m:t>
                            </m:r>
                            <m:r>
                              <a:rPr lang="en-US" altLang="zh-CN" sz="1800" i="1" smtClean="0">
                                <a:solidFill>
                                  <a:srgbClr val="0303DF"/>
                                </a:solidFill>
                                <a:latin typeface="Cambria Math" panose="02040503050406030204" pitchFamily="18" charset="0"/>
                                <a:ea typeface="Cambria Math" panose="02040503050406030204" pitchFamily="18" charset="0"/>
                              </a:rPr>
                              <m:t>≥</m:t>
                            </m:r>
                            <m:r>
                              <a:rPr lang="en-US" altLang="zh-CN" sz="1800" i="1">
                                <a:solidFill>
                                  <a:srgbClr val="0303DF"/>
                                </a:solidFill>
                                <a:latin typeface="Cambria Math" panose="02040503050406030204" pitchFamily="18" charset="0"/>
                              </a:rPr>
                              <m:t>2</m:t>
                            </m:r>
                          </m:e>
                        </m:eqArr>
                      </m:e>
                    </m:d>
                  </m:oMath>
                </a14:m>
                <a:r>
                  <a:rPr lang="zh-CN" altLang="zh-CN" sz="1800" dirty="0">
                    <a:solidFill>
                      <a:srgbClr val="0303DF"/>
                    </a:solidFill>
                  </a:rPr>
                  <a:t>，</a:t>
                </a:r>
                <a:r>
                  <a:rPr lang="en-US" altLang="zh-CN" sz="1800" dirty="0">
                    <a:solidFill>
                      <a:srgbClr val="0303DF"/>
                    </a:solidFill>
                  </a:rPr>
                  <a:t>n</a:t>
                </a:r>
                <a:r>
                  <a:rPr lang="zh-CN" altLang="zh-CN" sz="1800" dirty="0">
                    <a:solidFill>
                      <a:srgbClr val="0303DF"/>
                    </a:solidFill>
                  </a:rPr>
                  <a:t>为</a:t>
                </a:r>
                <a:r>
                  <a:rPr lang="zh-CN" altLang="en-US" sz="1800" dirty="0">
                    <a:solidFill>
                      <a:srgbClr val="0303DF"/>
                    </a:solidFill>
                  </a:rPr>
                  <a:t>自然数</a:t>
                </a:r>
                <a:endParaRPr lang="en-US" altLang="zh-CN" sz="1800" dirty="0"/>
              </a:p>
              <a:p>
                <a:pPr marL="342900" indent="-342900">
                  <a:buFont typeface="Wingdings" panose="05000000000000000000" pitchFamily="2" charset="2"/>
                  <a:buChar char="l"/>
                </a:pPr>
                <a:r>
                  <a:rPr lang="zh-CN" altLang="en-US" sz="1800" dirty="0"/>
                  <a:t>斐波那契数列是一个</a:t>
                </a:r>
                <a:r>
                  <a:rPr lang="zh-CN" altLang="en-US" sz="1800" dirty="0">
                    <a:solidFill>
                      <a:srgbClr val="006600"/>
                    </a:solidFill>
                  </a:rPr>
                  <a:t>完全是自然数的数列</a:t>
                </a:r>
                <a:r>
                  <a:rPr lang="zh-CN" altLang="en-US" sz="1800" dirty="0"/>
                  <a:t>，</a:t>
                </a:r>
                <a:r>
                  <a:rPr lang="zh-CN" altLang="en-US" sz="1800" dirty="0">
                    <a:solidFill>
                      <a:srgbClr val="996633"/>
                    </a:solidFill>
                  </a:rPr>
                  <a:t>通项公式却是用</a:t>
                </a:r>
                <a:r>
                  <a:rPr lang="zh-CN" altLang="en-US" sz="1800" b="1" dirty="0" smtClean="0">
                    <a:solidFill>
                      <a:srgbClr val="C00000"/>
                    </a:solidFill>
                  </a:rPr>
                  <a:t>无理数</a:t>
                </a:r>
                <a:r>
                  <a:rPr lang="zh-CN" altLang="en-US" sz="1800" dirty="0" smtClean="0">
                    <a:solidFill>
                      <a:srgbClr val="996633"/>
                    </a:solidFill>
                  </a:rPr>
                  <a:t>表达</a:t>
                </a:r>
                <a:r>
                  <a:rPr lang="zh-CN" altLang="en-US" sz="1800" dirty="0"/>
                  <a:t>；</a:t>
                </a:r>
                <a:endParaRPr lang="en-US" altLang="zh-CN" sz="1800" dirty="0"/>
              </a:p>
              <a:p>
                <a:pPr marL="342900" indent="-342900">
                  <a:buFont typeface="Wingdings" panose="05000000000000000000" pitchFamily="2" charset="2"/>
                  <a:buChar char="l"/>
                </a:pPr>
                <a:r>
                  <a:rPr lang="zh-CN" altLang="en-US" sz="1800" dirty="0" smtClean="0">
                    <a:solidFill>
                      <a:srgbClr val="7030A0"/>
                    </a:solidFill>
                  </a:rPr>
                  <a:t>当</a:t>
                </a:r>
                <a14:m>
                  <m:oMath xmlns:m="http://schemas.openxmlformats.org/officeDocument/2006/math">
                    <m:r>
                      <a:rPr lang="en-US" altLang="zh-CN" sz="1800" b="0" i="1" smtClean="0">
                        <a:solidFill>
                          <a:srgbClr val="7030A0"/>
                        </a:solidFill>
                        <a:latin typeface="Cambria Math" panose="02040503050406030204" pitchFamily="18" charset="0"/>
                      </a:rPr>
                      <m:t>𝑛</m:t>
                    </m:r>
                    <m:r>
                      <a:rPr lang="en-US" altLang="zh-CN" sz="1800" b="0" i="1" smtClean="0">
                        <a:solidFill>
                          <a:srgbClr val="7030A0"/>
                        </a:solidFill>
                        <a:latin typeface="Cambria Math" panose="02040503050406030204" pitchFamily="18" charset="0"/>
                        <a:ea typeface="Cambria Math" panose="02040503050406030204" pitchFamily="18" charset="0"/>
                      </a:rPr>
                      <m:t>→∞</m:t>
                    </m:r>
                  </m:oMath>
                </a14:m>
                <a:r>
                  <a:rPr lang="zh-CN" altLang="en-US" sz="1800" dirty="0" smtClean="0">
                    <a:solidFill>
                      <a:srgbClr val="7030A0"/>
                    </a:solidFill>
                  </a:rPr>
                  <a:t>时</a:t>
                </a:r>
                <a:r>
                  <a:rPr lang="zh-CN" altLang="en-US" sz="1800" dirty="0">
                    <a:solidFill>
                      <a:srgbClr val="7030A0"/>
                    </a:solidFill>
                  </a:rPr>
                  <a:t>，</a:t>
                </a:r>
                <a:r>
                  <a:rPr lang="zh-CN" altLang="en-US" sz="1800" dirty="0">
                    <a:solidFill>
                      <a:srgbClr val="0000CC"/>
                    </a:solidFill>
                  </a:rPr>
                  <a:t>前一项与后一项的比值</a:t>
                </a:r>
                <a:r>
                  <a:rPr lang="zh-CN" altLang="en-US" sz="1800" dirty="0" smtClean="0">
                    <a:solidFill>
                      <a:srgbClr val="7030A0"/>
                    </a:solidFill>
                  </a:rPr>
                  <a:t>越来越逼近</a:t>
                </a:r>
                <a:r>
                  <a:rPr lang="zh-CN" altLang="en-US" sz="1800" b="1" dirty="0">
                    <a:solidFill>
                      <a:srgbClr val="000099"/>
                    </a:solidFill>
                  </a:rPr>
                  <a:t>黄金分割</a:t>
                </a:r>
                <a:r>
                  <a:rPr lang="en-US" altLang="zh-CN" sz="1800" dirty="0">
                    <a:solidFill>
                      <a:srgbClr val="7030A0"/>
                    </a:solidFill>
                  </a:rPr>
                  <a:t>0.618</a:t>
                </a:r>
                <a:r>
                  <a:rPr lang="zh-CN" altLang="en-US" sz="1800" dirty="0">
                    <a:solidFill>
                      <a:srgbClr val="7030A0"/>
                    </a:solidFill>
                  </a:rPr>
                  <a:t>，即</a:t>
                </a:r>
                <a14:m>
                  <m:oMath xmlns:m="http://schemas.openxmlformats.org/officeDocument/2006/math">
                    <m:f>
                      <m:fPr>
                        <m:ctrlPr>
                          <a:rPr lang="en-US" altLang="zh-CN" sz="1800" i="1">
                            <a:solidFill>
                              <a:srgbClr val="7030A0"/>
                            </a:solidFill>
                            <a:latin typeface="Cambria Math" panose="02040503050406030204" pitchFamily="18" charset="0"/>
                          </a:rPr>
                        </m:ctrlPr>
                      </m:fPr>
                      <m:num>
                        <m:rad>
                          <m:radPr>
                            <m:degHide m:val="on"/>
                            <m:ctrlPr>
                              <a:rPr lang="en-US" altLang="zh-CN" sz="1800" i="1">
                                <a:solidFill>
                                  <a:srgbClr val="7030A0"/>
                                </a:solidFill>
                                <a:latin typeface="Cambria Math" panose="02040503050406030204" pitchFamily="18" charset="0"/>
                              </a:rPr>
                            </m:ctrlPr>
                          </m:radPr>
                          <m:deg/>
                          <m:e>
                            <m:r>
                              <a:rPr lang="en-US" altLang="zh-CN" sz="1800" i="1">
                                <a:solidFill>
                                  <a:srgbClr val="7030A0"/>
                                </a:solidFill>
                                <a:latin typeface="Cambria Math" panose="02040503050406030204" pitchFamily="18" charset="0"/>
                              </a:rPr>
                              <m:t>5</m:t>
                            </m:r>
                          </m:e>
                        </m:rad>
                        <m:r>
                          <a:rPr lang="en-US" altLang="zh-CN" sz="1800" i="1">
                            <a:solidFill>
                              <a:srgbClr val="7030A0"/>
                            </a:solidFill>
                            <a:latin typeface="Cambria Math" panose="02040503050406030204" pitchFamily="18" charset="0"/>
                          </a:rPr>
                          <m:t>−1</m:t>
                        </m:r>
                      </m:num>
                      <m:den>
                        <m:r>
                          <a:rPr lang="en-US" altLang="zh-CN" sz="1800" i="1">
                            <a:solidFill>
                              <a:srgbClr val="7030A0"/>
                            </a:solidFill>
                            <a:latin typeface="Cambria Math" panose="02040503050406030204" pitchFamily="18" charset="0"/>
                          </a:rPr>
                          <m:t>2</m:t>
                        </m:r>
                      </m:den>
                    </m:f>
                  </m:oMath>
                </a14:m>
                <a:endParaRPr lang="zh-CN" altLang="en-US" sz="1800" dirty="0"/>
              </a:p>
              <a:p>
                <a:pPr marL="342900" indent="-342900">
                  <a:buFont typeface="Wingdings" panose="05000000000000000000" pitchFamily="2" charset="2"/>
                  <a:buChar char="l"/>
                </a:pPr>
                <a:endParaRPr lang="zh-CN" altLang="zh-CN" sz="20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368" r="-6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6613093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自学与课后练习：</a:t>
            </a:r>
            <a:r>
              <a:rPr lang="zh-CN" altLang="zh-CN" dirty="0" smtClean="0"/>
              <a:t>斐波那契</a:t>
            </a:r>
            <a:r>
              <a:rPr lang="zh-CN" altLang="zh-CN" dirty="0"/>
              <a:t>序列</a:t>
            </a:r>
            <a:r>
              <a:rPr lang="en-US" altLang="zh-CN" dirty="0"/>
              <a:t>--</a:t>
            </a:r>
            <a:r>
              <a:rPr lang="zh-CN" altLang="en-US" dirty="0"/>
              <a:t>例</a:t>
            </a:r>
            <a:endParaRPr lang="en-US" alt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t>兔子繁殖问题</a:t>
                </a:r>
                <a:endParaRPr lang="en-US" altLang="zh-CN" sz="2000" dirty="0"/>
              </a:p>
              <a:p>
                <a:pPr marL="971550" lvl="1"/>
                <a:r>
                  <a:rPr lang="zh-CN" altLang="en-US" sz="1800" dirty="0"/>
                  <a:t>一对刚出生的兔子</a:t>
                </a:r>
                <a:r>
                  <a:rPr lang="en-US" altLang="zh-CN" sz="1800" dirty="0"/>
                  <a:t>(</a:t>
                </a:r>
                <a:r>
                  <a:rPr lang="zh-CN" altLang="en-US" sz="1800" dirty="0"/>
                  <a:t>一公一母</a:t>
                </a:r>
                <a:r>
                  <a:rPr lang="en-US" altLang="zh-CN" sz="1800" dirty="0"/>
                  <a:t>)</a:t>
                </a:r>
                <a:r>
                  <a:rPr lang="zh-CN" altLang="en-US" sz="1800" dirty="0"/>
                  <a:t>被放到岛上，每对兔子</a:t>
                </a:r>
                <a:r>
                  <a:rPr lang="zh-CN" altLang="en-US" sz="1800" dirty="0">
                    <a:solidFill>
                      <a:srgbClr val="0303DF"/>
                    </a:solidFill>
                  </a:rPr>
                  <a:t>出生两个月</a:t>
                </a:r>
                <a:r>
                  <a:rPr lang="zh-CN" altLang="en-US" sz="1800" dirty="0"/>
                  <a:t>之后才开始繁殖后代；</a:t>
                </a:r>
                <a:endParaRPr lang="en-US" altLang="zh-CN" sz="1800" dirty="0"/>
              </a:p>
              <a:p>
                <a:pPr marL="971550" lvl="1"/>
                <a:r>
                  <a:rPr lang="zh-CN" altLang="en-US" sz="1800" dirty="0"/>
                  <a:t>在兔子出生两个月后，每对兔子在每个月都将繁殖一对新的兔子；</a:t>
                </a:r>
                <a:endParaRPr lang="en-US" altLang="zh-CN" sz="1800" dirty="0"/>
              </a:p>
              <a:p>
                <a:pPr marL="971550" lvl="1"/>
                <a:r>
                  <a:rPr lang="zh-CN" altLang="en-US" sz="1800" dirty="0"/>
                  <a:t>假定兔子不会死去，找出</a:t>
                </a:r>
                <a:r>
                  <a:rPr lang="en-US" altLang="zh-CN" sz="1800" dirty="0"/>
                  <a:t>n</a:t>
                </a:r>
                <a:r>
                  <a:rPr lang="zh-CN" altLang="en-US" sz="1800" dirty="0"/>
                  <a:t>个月岛上兔子的对数；</a:t>
                </a:r>
                <a:endParaRPr lang="en-US" altLang="zh-CN" sz="1800" dirty="0"/>
              </a:p>
              <a:p>
                <a:pPr marL="342900" indent="-342900">
                  <a:buFont typeface="Wingdings" panose="05000000000000000000" pitchFamily="2" charset="2"/>
                  <a:buChar char="l"/>
                </a:pPr>
                <a:r>
                  <a:rPr lang="zh-CN" altLang="en-US" sz="2000" dirty="0"/>
                  <a:t>分析：设</a:t>
                </a:r>
                <a:r>
                  <a:rPr lang="en-US" altLang="zh-CN" sz="2000" dirty="0"/>
                  <a:t>f(n)</a:t>
                </a:r>
                <a:r>
                  <a:rPr lang="zh-CN" altLang="en-US" sz="2000" dirty="0"/>
                  <a:t>表示</a:t>
                </a:r>
                <a:r>
                  <a:rPr lang="en-US" altLang="zh-CN" sz="2000" dirty="0"/>
                  <a:t>n</a:t>
                </a:r>
                <a:r>
                  <a:rPr lang="zh-CN" altLang="en-US" sz="2000" dirty="0"/>
                  <a:t>个月后岛上兔子的对数</a:t>
                </a:r>
                <a:endParaRPr lang="en-US" altLang="zh-CN" sz="2000" dirty="0"/>
              </a:p>
              <a:p>
                <a:pPr marL="971550" lvl="1"/>
                <a:r>
                  <a:rPr lang="zh-CN" altLang="en-US" sz="1800" dirty="0"/>
                  <a:t>初始时： 一对</a:t>
                </a:r>
                <a:r>
                  <a:rPr lang="en-US" altLang="zh-CN" sz="1800" dirty="0"/>
                  <a:t>1</a:t>
                </a:r>
                <a:r>
                  <a:rPr lang="zh-CN" altLang="en-US" sz="1800" dirty="0"/>
                  <a:t>月大小兔子，总数为</a:t>
                </a:r>
                <a:r>
                  <a:rPr lang="en-US" altLang="zh-CN" sz="1800" dirty="0"/>
                  <a:t>1</a:t>
                </a:r>
                <a:r>
                  <a:rPr lang="zh-CN" altLang="en-US" sz="1800" dirty="0"/>
                  <a:t>对</a:t>
                </a:r>
                <a:r>
                  <a:rPr lang="zh-CN" altLang="en-US" sz="1800" dirty="0">
                    <a:solidFill>
                      <a:srgbClr val="0303DF"/>
                    </a:solidFill>
                  </a:rPr>
                  <a:t>； </a:t>
                </a:r>
                <a:r>
                  <a:rPr lang="en-US" altLang="zh-CN" sz="1800" dirty="0">
                    <a:solidFill>
                      <a:srgbClr val="0303DF"/>
                    </a:solidFill>
                  </a:rPr>
                  <a:t>f(0)=1</a:t>
                </a:r>
                <a:r>
                  <a:rPr lang="en-US" altLang="zh-CN" sz="1800" dirty="0"/>
                  <a:t>;</a:t>
                </a:r>
              </a:p>
              <a:p>
                <a:pPr marL="971550" lvl="1"/>
                <a:r>
                  <a:rPr lang="zh-CN" altLang="en-US" sz="1800" dirty="0"/>
                  <a:t>第一个月： </a:t>
                </a:r>
                <a:r>
                  <a:rPr lang="en-US" altLang="zh-CN" sz="1800" dirty="0"/>
                  <a:t>1</a:t>
                </a:r>
                <a:r>
                  <a:rPr lang="zh-CN" altLang="en-US" sz="1800" dirty="0"/>
                  <a:t>月大的小兔子变成</a:t>
                </a:r>
                <a:r>
                  <a:rPr lang="en-US" altLang="zh-CN" sz="1800" dirty="0"/>
                  <a:t>2</a:t>
                </a:r>
                <a:r>
                  <a:rPr lang="zh-CN" altLang="en-US" sz="1800" dirty="0"/>
                  <a:t>月大的兔子，总数还是</a:t>
                </a:r>
                <a:r>
                  <a:rPr lang="en-US" altLang="zh-CN" sz="1800" dirty="0"/>
                  <a:t>1</a:t>
                </a:r>
                <a:r>
                  <a:rPr lang="zh-CN" altLang="en-US" sz="1800" dirty="0"/>
                  <a:t>对</a:t>
                </a:r>
                <a:r>
                  <a:rPr lang="en-US" altLang="zh-CN" sz="1800" dirty="0"/>
                  <a:t>;</a:t>
                </a:r>
                <a:r>
                  <a:rPr lang="zh-CN" altLang="en-US" sz="1800" dirty="0"/>
                  <a:t>  </a:t>
                </a:r>
                <a:r>
                  <a:rPr lang="en-US" altLang="zh-CN" sz="1800" dirty="0">
                    <a:solidFill>
                      <a:srgbClr val="0303DF"/>
                    </a:solidFill>
                  </a:rPr>
                  <a:t>f(1)=1</a:t>
                </a:r>
                <a:r>
                  <a:rPr lang="en-US" altLang="zh-CN" sz="1800" dirty="0"/>
                  <a:t>;</a:t>
                </a:r>
              </a:p>
              <a:p>
                <a:pPr marL="971550" lvl="1"/>
                <a:r>
                  <a:rPr lang="zh-CN" altLang="en-US" sz="1800" dirty="0"/>
                  <a:t>第二个月： </a:t>
                </a:r>
                <a:r>
                  <a:rPr lang="en-US" altLang="zh-CN" sz="1800" dirty="0"/>
                  <a:t>2</a:t>
                </a:r>
                <a:r>
                  <a:rPr lang="zh-CN" altLang="en-US" sz="1800" dirty="0"/>
                  <a:t>月大的小兔子变成</a:t>
                </a:r>
                <a:r>
                  <a:rPr lang="en-US" altLang="zh-CN" sz="1800" dirty="0"/>
                  <a:t>3</a:t>
                </a:r>
                <a:r>
                  <a:rPr lang="zh-CN" altLang="en-US" sz="1800" dirty="0"/>
                  <a:t>月大的兔子，繁殖了</a:t>
                </a:r>
                <a:r>
                  <a:rPr lang="en-US" altLang="zh-CN" sz="1800" dirty="0"/>
                  <a:t>1</a:t>
                </a:r>
                <a:r>
                  <a:rPr lang="zh-CN" altLang="en-US" sz="1800" dirty="0"/>
                  <a:t>对小兔子，总数为</a:t>
                </a:r>
                <a:r>
                  <a:rPr lang="en-US" altLang="zh-CN" sz="1800" dirty="0"/>
                  <a:t>2</a:t>
                </a:r>
                <a:r>
                  <a:rPr lang="zh-CN" altLang="en-US" sz="1800" dirty="0"/>
                  <a:t>对</a:t>
                </a:r>
                <a:r>
                  <a:rPr lang="en-US" altLang="zh-CN" sz="1800" dirty="0"/>
                  <a:t>;</a:t>
                </a:r>
                <a:r>
                  <a:rPr lang="zh-CN" altLang="en-US" sz="1800" dirty="0"/>
                  <a:t>   即：</a:t>
                </a:r>
                <a:r>
                  <a:rPr lang="en-US" altLang="zh-CN" sz="1800" dirty="0">
                    <a:solidFill>
                      <a:srgbClr val="0303DF"/>
                    </a:solidFill>
                  </a:rPr>
                  <a:t>f(2)=2</a:t>
                </a:r>
                <a:r>
                  <a:rPr lang="en-US" altLang="zh-CN" sz="1800" dirty="0">
                    <a:solidFill>
                      <a:srgbClr val="7030A0"/>
                    </a:solidFill>
                  </a:rPr>
                  <a:t>=f(0)+f(1)</a:t>
                </a:r>
              </a:p>
              <a:p>
                <a:pPr marL="971550" lvl="1"/>
                <a:r>
                  <a:rPr lang="zh-CN" altLang="en-US" sz="1800" dirty="0"/>
                  <a:t>第三个月： </a:t>
                </a:r>
                <a:r>
                  <a:rPr lang="en-US" altLang="zh-CN" sz="1800" dirty="0"/>
                  <a:t>3</a:t>
                </a:r>
                <a:r>
                  <a:rPr lang="zh-CN" altLang="en-US" sz="1800" dirty="0"/>
                  <a:t>月大的兔子又生了</a:t>
                </a:r>
                <a:r>
                  <a:rPr lang="en-US" altLang="zh-CN" sz="1800" dirty="0"/>
                  <a:t>1</a:t>
                </a:r>
                <a:r>
                  <a:rPr lang="zh-CN" altLang="en-US" sz="1800" dirty="0"/>
                  <a:t>对小兔子，第二个月生的小兔子变成了</a:t>
                </a:r>
                <a:r>
                  <a:rPr lang="en-US" altLang="zh-CN" sz="1800" dirty="0"/>
                  <a:t>2</a:t>
                </a:r>
                <a:r>
                  <a:rPr lang="zh-CN" altLang="en-US" sz="1800" dirty="0"/>
                  <a:t>月大的兔子，总数为</a:t>
                </a:r>
                <a:r>
                  <a:rPr lang="en-US" altLang="zh-CN" sz="1800" dirty="0"/>
                  <a:t>3</a:t>
                </a:r>
                <a:r>
                  <a:rPr lang="zh-CN" altLang="en-US" sz="1800" dirty="0"/>
                  <a:t>对；</a:t>
                </a:r>
                <a:r>
                  <a:rPr lang="en-US" altLang="zh-CN" sz="1800" dirty="0">
                    <a:solidFill>
                      <a:srgbClr val="0303DF"/>
                    </a:solidFill>
                  </a:rPr>
                  <a:t>f(3)=3</a:t>
                </a:r>
                <a:r>
                  <a:rPr lang="en-US" altLang="zh-CN" sz="1800" dirty="0">
                    <a:solidFill>
                      <a:srgbClr val="7030A0"/>
                    </a:solidFill>
                  </a:rPr>
                  <a:t>=f(1)+f(2);</a:t>
                </a:r>
              </a:p>
              <a:p>
                <a:pPr marL="971550" lvl="1"/>
                <a:r>
                  <a:rPr lang="zh-CN" altLang="en-US" sz="1800" dirty="0"/>
                  <a:t>以此类推，第</a:t>
                </a:r>
                <a:r>
                  <a:rPr lang="en-US" altLang="zh-CN" sz="1800" dirty="0"/>
                  <a:t>n</a:t>
                </a:r>
                <a:r>
                  <a:rPr lang="zh-CN" altLang="en-US" sz="1800" dirty="0"/>
                  <a:t>个月</a:t>
                </a:r>
                <a:r>
                  <a:rPr lang="en-US" altLang="zh-CN" sz="1800" dirty="0"/>
                  <a:t>, </a:t>
                </a:r>
                <a:r>
                  <a:rPr lang="en-US" altLang="zh-CN" sz="1800" b="1" dirty="0">
                    <a:solidFill>
                      <a:srgbClr val="C00000"/>
                    </a:solidFill>
                  </a:rPr>
                  <a:t>f(n)=f(n-1)+f(n-2);  n</a:t>
                </a:r>
                <a14:m>
                  <m:oMath xmlns:m="http://schemas.openxmlformats.org/officeDocument/2006/math">
                    <m:r>
                      <a:rPr lang="en-US" altLang="zh-CN" sz="1800" b="1" i="1" smtClean="0">
                        <a:solidFill>
                          <a:srgbClr val="C00000"/>
                        </a:solidFill>
                        <a:latin typeface="Cambria Math" panose="02040503050406030204" pitchFamily="18" charset="0"/>
                        <a:ea typeface="Cambria Math" panose="02040503050406030204" pitchFamily="18" charset="0"/>
                      </a:rPr>
                      <m:t>≥</m:t>
                    </m:r>
                    <m:r>
                      <a:rPr lang="en-US" altLang="zh-CN" sz="1800" b="1" i="1" smtClean="0">
                        <a:solidFill>
                          <a:srgbClr val="C00000"/>
                        </a:solidFill>
                        <a:latin typeface="Cambria Math" panose="02040503050406030204" pitchFamily="18" charset="0"/>
                        <a:ea typeface="Cambria Math" panose="02040503050406030204" pitchFamily="18" charset="0"/>
                      </a:rPr>
                      <m:t>𝟑</m:t>
                    </m:r>
                  </m:oMath>
                </a14:m>
                <a:endParaRPr lang="en-US" altLang="zh-CN" sz="1800" b="1" dirty="0">
                  <a:solidFill>
                    <a:srgbClr val="C00000"/>
                  </a:solidFill>
                </a:endParaRPr>
              </a:p>
              <a:p>
                <a:pPr marL="971550" lvl="1"/>
                <a:endParaRPr lang="en-US" altLang="zh-CN" sz="18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368" r="-5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903034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自学与课后练习：</a:t>
            </a:r>
            <a:r>
              <a:rPr lang="zh-CN" altLang="zh-CN" dirty="0" smtClean="0"/>
              <a:t>斐波那契</a:t>
            </a:r>
            <a:r>
              <a:rPr lang="zh-CN" altLang="zh-CN" dirty="0"/>
              <a:t>序列</a:t>
            </a:r>
            <a:r>
              <a:rPr lang="zh-CN" altLang="en-US" dirty="0"/>
              <a:t>例</a:t>
            </a:r>
            <a:endParaRPr lang="en-US" altLang="zh-CN"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solidFill>
                  <a:srgbClr val="7030A0"/>
                </a:solidFill>
              </a:rPr>
              <a:t>青蛙跳台阶问题</a:t>
            </a:r>
            <a:endParaRPr lang="en-US" altLang="zh-CN" sz="2000" dirty="0">
              <a:solidFill>
                <a:srgbClr val="7030A0"/>
              </a:solidFill>
            </a:endParaRPr>
          </a:p>
          <a:p>
            <a:pPr marL="971550" lvl="1"/>
            <a:r>
              <a:rPr lang="zh-CN" altLang="en-US" sz="1800" dirty="0"/>
              <a:t>有</a:t>
            </a:r>
            <a:r>
              <a:rPr lang="en-US" altLang="zh-CN" sz="1800" dirty="0"/>
              <a:t>n</a:t>
            </a:r>
            <a:r>
              <a:rPr lang="zh-CN" altLang="en-US" sz="1800" dirty="0"/>
              <a:t>个台阶，每次青蛙可以选择</a:t>
            </a:r>
            <a:r>
              <a:rPr lang="zh-CN" altLang="en-US" sz="1800" dirty="0">
                <a:solidFill>
                  <a:srgbClr val="7030A0"/>
                </a:solidFill>
              </a:rPr>
              <a:t>跳</a:t>
            </a:r>
            <a:r>
              <a:rPr lang="en-US" altLang="zh-CN" sz="1800" dirty="0">
                <a:solidFill>
                  <a:srgbClr val="7030A0"/>
                </a:solidFill>
              </a:rPr>
              <a:t>1</a:t>
            </a:r>
            <a:r>
              <a:rPr lang="zh-CN" altLang="en-US" sz="1800" dirty="0">
                <a:solidFill>
                  <a:srgbClr val="7030A0"/>
                </a:solidFill>
              </a:rPr>
              <a:t>个</a:t>
            </a:r>
            <a:r>
              <a:rPr lang="zh-CN" altLang="en-US" sz="1800" dirty="0" smtClean="0">
                <a:solidFill>
                  <a:srgbClr val="7030A0"/>
                </a:solidFill>
              </a:rPr>
              <a:t>台阶</a:t>
            </a:r>
            <a:r>
              <a:rPr lang="zh-CN" altLang="en-US" sz="1800" dirty="0" smtClean="0"/>
              <a:t>或者</a:t>
            </a:r>
            <a:r>
              <a:rPr lang="en-US" altLang="zh-CN" sz="1800" dirty="0">
                <a:solidFill>
                  <a:srgbClr val="7030A0"/>
                </a:solidFill>
              </a:rPr>
              <a:t>2</a:t>
            </a:r>
            <a:r>
              <a:rPr lang="zh-CN" altLang="en-US" sz="1800" dirty="0" smtClean="0">
                <a:solidFill>
                  <a:srgbClr val="7030A0"/>
                </a:solidFill>
              </a:rPr>
              <a:t>个台阶</a:t>
            </a:r>
            <a:r>
              <a:rPr lang="zh-CN" altLang="en-US" sz="1800" dirty="0" smtClean="0"/>
              <a:t>，</a:t>
            </a:r>
            <a:r>
              <a:rPr lang="zh-CN" altLang="en-US" sz="1800" dirty="0"/>
              <a:t>青蛙爬到第</a:t>
            </a:r>
            <a:r>
              <a:rPr lang="en-US" altLang="zh-CN" sz="1800" dirty="0"/>
              <a:t>n</a:t>
            </a:r>
            <a:r>
              <a:rPr lang="zh-CN" altLang="en-US" sz="1800" dirty="0"/>
              <a:t>个台阶，共有多少种走法？</a:t>
            </a:r>
            <a:endParaRPr lang="en-US" altLang="zh-CN" sz="1800" dirty="0"/>
          </a:p>
          <a:p>
            <a:pPr marL="342900" indent="-342900">
              <a:buFont typeface="Wingdings" panose="05000000000000000000" pitchFamily="2" charset="2"/>
              <a:buChar char="l"/>
            </a:pPr>
            <a:r>
              <a:rPr lang="zh-CN" altLang="en-US" sz="2000" dirty="0"/>
              <a:t>分析：</a:t>
            </a:r>
            <a:r>
              <a:rPr lang="zh-CN" altLang="zh-CN" sz="2000" dirty="0"/>
              <a:t>设</a:t>
            </a:r>
            <a:r>
              <a:rPr lang="en-US" altLang="zh-CN" sz="2000" dirty="0"/>
              <a:t>f(n)</a:t>
            </a:r>
            <a:r>
              <a:rPr lang="zh-CN" altLang="zh-CN" sz="2000" dirty="0" smtClean="0"/>
              <a:t>表示</a:t>
            </a:r>
            <a:r>
              <a:rPr lang="zh-CN" altLang="en-US" sz="2000" dirty="0" smtClean="0"/>
              <a:t>青蛙</a:t>
            </a:r>
            <a:r>
              <a:rPr lang="zh-CN" altLang="zh-CN" sz="2000" dirty="0" smtClean="0"/>
              <a:t>爬</a:t>
            </a:r>
            <a:r>
              <a:rPr lang="zh-CN" altLang="zh-CN" sz="2000" dirty="0"/>
              <a:t>到第</a:t>
            </a:r>
            <a:r>
              <a:rPr lang="en-US" altLang="zh-CN" sz="2000" dirty="0"/>
              <a:t>n</a:t>
            </a:r>
            <a:r>
              <a:rPr lang="zh-CN" altLang="zh-CN" sz="2000" dirty="0"/>
              <a:t>个台阶的所有走法；</a:t>
            </a:r>
            <a:endParaRPr lang="en-US" altLang="zh-CN" sz="2000" dirty="0"/>
          </a:p>
          <a:p>
            <a:pPr marL="971550" lvl="1"/>
            <a:r>
              <a:rPr lang="zh-CN" altLang="en-US" sz="1800" dirty="0" smtClean="0"/>
              <a:t>根据题意，青蛙跳到第</a:t>
            </a:r>
            <a:r>
              <a:rPr lang="en-US" altLang="zh-CN" sz="1800" dirty="0" smtClean="0"/>
              <a:t>n</a:t>
            </a:r>
            <a:r>
              <a:rPr lang="zh-CN" altLang="en-US" sz="1800" dirty="0" smtClean="0"/>
              <a:t>个台阶的走法</a:t>
            </a:r>
            <a:endParaRPr lang="en-US" altLang="zh-CN" sz="1800" dirty="0"/>
          </a:p>
          <a:p>
            <a:pPr marL="1200150" lvl="2"/>
            <a:r>
              <a:rPr lang="zh-CN" altLang="en-US" sz="1600" dirty="0" smtClean="0">
                <a:solidFill>
                  <a:srgbClr val="0303DF"/>
                </a:solidFill>
              </a:rPr>
              <a:t>从第</a:t>
            </a:r>
            <a:r>
              <a:rPr lang="en-US" altLang="zh-CN" sz="1600" dirty="0" smtClean="0">
                <a:solidFill>
                  <a:srgbClr val="0303DF"/>
                </a:solidFill>
              </a:rPr>
              <a:t>(n-1)</a:t>
            </a:r>
            <a:r>
              <a:rPr lang="zh-CN" altLang="en-US" sz="1600" dirty="0" smtClean="0">
                <a:solidFill>
                  <a:srgbClr val="0303DF"/>
                </a:solidFill>
              </a:rPr>
              <a:t>个</a:t>
            </a:r>
            <a:r>
              <a:rPr lang="zh-CN" altLang="zh-CN" sz="1600" dirty="0" smtClean="0">
                <a:solidFill>
                  <a:srgbClr val="0303DF"/>
                </a:solidFill>
              </a:rPr>
              <a:t>台阶，</a:t>
            </a:r>
            <a:r>
              <a:rPr lang="zh-CN" altLang="en-US" sz="1600" dirty="0" smtClean="0">
                <a:solidFill>
                  <a:srgbClr val="0303DF"/>
                </a:solidFill>
              </a:rPr>
              <a:t>再跳</a:t>
            </a:r>
            <a:r>
              <a:rPr lang="en-US" altLang="zh-CN" sz="1600" dirty="0" smtClean="0">
                <a:solidFill>
                  <a:srgbClr val="0303DF"/>
                </a:solidFill>
              </a:rPr>
              <a:t>1</a:t>
            </a:r>
            <a:r>
              <a:rPr lang="zh-CN" altLang="zh-CN" sz="1600" dirty="0">
                <a:solidFill>
                  <a:srgbClr val="0303DF"/>
                </a:solidFill>
              </a:rPr>
              <a:t>个</a:t>
            </a:r>
            <a:r>
              <a:rPr lang="zh-CN" altLang="zh-CN" sz="1600" dirty="0" smtClean="0">
                <a:solidFill>
                  <a:srgbClr val="0303DF"/>
                </a:solidFill>
              </a:rPr>
              <a:t>台阶到达</a:t>
            </a:r>
            <a:r>
              <a:rPr lang="zh-CN" altLang="zh-CN" sz="1600" dirty="0">
                <a:solidFill>
                  <a:srgbClr val="0303DF"/>
                </a:solidFill>
              </a:rPr>
              <a:t>第</a:t>
            </a:r>
            <a:r>
              <a:rPr lang="en-US" altLang="zh-CN" sz="1600" dirty="0">
                <a:solidFill>
                  <a:srgbClr val="0303DF"/>
                </a:solidFill>
              </a:rPr>
              <a:t>n</a:t>
            </a:r>
            <a:r>
              <a:rPr lang="zh-CN" altLang="zh-CN" sz="1600" dirty="0">
                <a:solidFill>
                  <a:srgbClr val="0303DF"/>
                </a:solidFill>
              </a:rPr>
              <a:t>个台阶；</a:t>
            </a:r>
          </a:p>
          <a:p>
            <a:pPr marL="1200150" lvl="2"/>
            <a:r>
              <a:rPr lang="zh-CN" altLang="en-US" sz="1600" dirty="0">
                <a:solidFill>
                  <a:srgbClr val="0303DF"/>
                </a:solidFill>
              </a:rPr>
              <a:t>从第</a:t>
            </a:r>
            <a:r>
              <a:rPr lang="en-US" altLang="zh-CN" sz="1600" dirty="0">
                <a:solidFill>
                  <a:srgbClr val="0303DF"/>
                </a:solidFill>
              </a:rPr>
              <a:t>(</a:t>
            </a:r>
            <a:r>
              <a:rPr lang="en-US" altLang="zh-CN" sz="1600" dirty="0" smtClean="0">
                <a:solidFill>
                  <a:srgbClr val="0303DF"/>
                </a:solidFill>
              </a:rPr>
              <a:t>n-2)</a:t>
            </a:r>
            <a:r>
              <a:rPr lang="zh-CN" altLang="en-US" sz="1600" dirty="0">
                <a:solidFill>
                  <a:srgbClr val="0303DF"/>
                </a:solidFill>
              </a:rPr>
              <a:t>个</a:t>
            </a:r>
            <a:r>
              <a:rPr lang="zh-CN" altLang="zh-CN" sz="1600" dirty="0">
                <a:solidFill>
                  <a:srgbClr val="0303DF"/>
                </a:solidFill>
              </a:rPr>
              <a:t>台阶，</a:t>
            </a:r>
            <a:r>
              <a:rPr lang="zh-CN" altLang="en-US" sz="1600" dirty="0">
                <a:solidFill>
                  <a:srgbClr val="0303DF"/>
                </a:solidFill>
              </a:rPr>
              <a:t>再</a:t>
            </a:r>
            <a:r>
              <a:rPr lang="zh-CN" altLang="en-US" sz="1600" dirty="0" smtClean="0">
                <a:solidFill>
                  <a:srgbClr val="0303DF"/>
                </a:solidFill>
              </a:rPr>
              <a:t>跳</a:t>
            </a:r>
            <a:r>
              <a:rPr lang="en-US" altLang="zh-CN" sz="1600" dirty="0" smtClean="0">
                <a:solidFill>
                  <a:srgbClr val="0303DF"/>
                </a:solidFill>
              </a:rPr>
              <a:t>2</a:t>
            </a:r>
            <a:r>
              <a:rPr lang="zh-CN" altLang="zh-CN" sz="1600" dirty="0" smtClean="0">
                <a:solidFill>
                  <a:srgbClr val="0303DF"/>
                </a:solidFill>
              </a:rPr>
              <a:t>个</a:t>
            </a:r>
            <a:r>
              <a:rPr lang="zh-CN" altLang="zh-CN" sz="1600" dirty="0">
                <a:solidFill>
                  <a:srgbClr val="0303DF"/>
                </a:solidFill>
              </a:rPr>
              <a:t>台阶到达第</a:t>
            </a:r>
            <a:r>
              <a:rPr lang="en-US" altLang="zh-CN" sz="1600" dirty="0">
                <a:solidFill>
                  <a:srgbClr val="0303DF"/>
                </a:solidFill>
              </a:rPr>
              <a:t>n</a:t>
            </a:r>
            <a:r>
              <a:rPr lang="zh-CN" altLang="zh-CN" sz="1600" dirty="0">
                <a:solidFill>
                  <a:srgbClr val="0303DF"/>
                </a:solidFill>
              </a:rPr>
              <a:t>个台阶</a:t>
            </a:r>
            <a:r>
              <a:rPr lang="zh-CN" altLang="zh-CN" sz="1600" dirty="0" smtClean="0">
                <a:solidFill>
                  <a:srgbClr val="0303DF"/>
                </a:solidFill>
              </a:rPr>
              <a:t>；</a:t>
            </a:r>
            <a:endParaRPr lang="en-US" altLang="zh-CN" sz="1600" dirty="0" smtClean="0">
              <a:solidFill>
                <a:srgbClr val="0303DF"/>
              </a:solidFill>
            </a:endParaRPr>
          </a:p>
          <a:p>
            <a:pPr marL="1200150" lvl="2"/>
            <a:r>
              <a:rPr lang="zh-CN" altLang="en-US" sz="1600" dirty="0" smtClean="0"/>
              <a:t>因此有递推关系，</a:t>
            </a:r>
            <a:r>
              <a:rPr lang="en-US" altLang="zh-CN" sz="1600" b="1" dirty="0">
                <a:solidFill>
                  <a:srgbClr val="FF0000"/>
                </a:solidFill>
              </a:rPr>
              <a:t>f(n)=f(n-1)+ f(n-2</a:t>
            </a:r>
            <a:r>
              <a:rPr lang="en-US" altLang="zh-CN" sz="1600" b="1" dirty="0" smtClean="0">
                <a:solidFill>
                  <a:srgbClr val="FF0000"/>
                </a:solidFill>
              </a:rPr>
              <a:t>) </a:t>
            </a:r>
            <a:r>
              <a:rPr lang="zh-CN" altLang="en-US" sz="1600" b="1" dirty="0">
                <a:solidFill>
                  <a:srgbClr val="FF0000"/>
                </a:solidFill>
              </a:rPr>
              <a:t>，</a:t>
            </a:r>
            <a:r>
              <a:rPr lang="en-US" altLang="zh-CN" sz="1600" b="1" dirty="0" smtClean="0">
                <a:solidFill>
                  <a:srgbClr val="FF0000"/>
                </a:solidFill>
              </a:rPr>
              <a:t>n&gt;2;</a:t>
            </a:r>
            <a:endParaRPr lang="zh-CN" altLang="zh-CN" sz="1600" b="1" dirty="0">
              <a:solidFill>
                <a:srgbClr val="FF0000"/>
              </a:solidFill>
            </a:endParaRPr>
          </a:p>
          <a:p>
            <a:pPr marL="971550" lvl="1"/>
            <a:r>
              <a:rPr lang="zh-CN" altLang="zh-CN" sz="1800" dirty="0"/>
              <a:t>其中，</a:t>
            </a:r>
            <a:endParaRPr lang="en-US" altLang="zh-CN" sz="1800" dirty="0"/>
          </a:p>
          <a:p>
            <a:pPr marL="1200150" lvl="2"/>
            <a:r>
              <a:rPr lang="en-US" altLang="zh-CN" sz="1600" dirty="0">
                <a:solidFill>
                  <a:srgbClr val="C00000"/>
                </a:solidFill>
              </a:rPr>
              <a:t>f(1)=1   </a:t>
            </a:r>
            <a:r>
              <a:rPr lang="zh-CN" altLang="zh-CN" sz="1600" dirty="0"/>
              <a:t>（</a:t>
            </a:r>
            <a:r>
              <a:rPr lang="zh-CN" altLang="en-US" sz="1600" dirty="0"/>
              <a:t>只有</a:t>
            </a:r>
            <a:r>
              <a:rPr lang="en-US" altLang="zh-CN" sz="1600" dirty="0"/>
              <a:t>1</a:t>
            </a:r>
            <a:r>
              <a:rPr lang="zh-CN" altLang="zh-CN" sz="1600" dirty="0"/>
              <a:t>种走法：</a:t>
            </a:r>
            <a:r>
              <a:rPr lang="zh-CN" altLang="en-US" sz="1600" dirty="0"/>
              <a:t>一步</a:t>
            </a:r>
            <a:r>
              <a:rPr lang="zh-CN" altLang="zh-CN" sz="1600" dirty="0"/>
              <a:t>迈</a:t>
            </a:r>
            <a:r>
              <a:rPr lang="en-US" altLang="zh-CN" sz="1600" dirty="0"/>
              <a:t>1</a:t>
            </a:r>
            <a:r>
              <a:rPr lang="zh-CN" altLang="zh-CN" sz="1600" dirty="0"/>
              <a:t>个台阶，表示为</a:t>
            </a:r>
            <a:r>
              <a:rPr lang="en-US" altLang="zh-CN" sz="1600" dirty="0"/>
              <a:t>1</a:t>
            </a:r>
            <a:r>
              <a:rPr lang="zh-CN" altLang="zh-CN" sz="1600" dirty="0"/>
              <a:t>）</a:t>
            </a:r>
          </a:p>
          <a:p>
            <a:pPr marL="1200150" lvl="2"/>
            <a:r>
              <a:rPr lang="en-US" altLang="zh-CN" sz="1600" dirty="0">
                <a:solidFill>
                  <a:srgbClr val="C00000"/>
                </a:solidFill>
              </a:rPr>
              <a:t>f(2)=2   </a:t>
            </a:r>
            <a:r>
              <a:rPr lang="zh-CN" altLang="zh-CN" sz="1600" dirty="0"/>
              <a:t>（</a:t>
            </a:r>
            <a:r>
              <a:rPr lang="zh-CN" altLang="en-US" sz="1600" dirty="0"/>
              <a:t>可有</a:t>
            </a:r>
            <a:r>
              <a:rPr lang="en-US" altLang="zh-CN" sz="1600" dirty="0"/>
              <a:t>2</a:t>
            </a:r>
            <a:r>
              <a:rPr lang="zh-CN" altLang="zh-CN" sz="1600" dirty="0"/>
              <a:t>种走法：两个</a:t>
            </a:r>
            <a:r>
              <a:rPr lang="en-US" altLang="zh-CN" sz="1600" dirty="0"/>
              <a:t>1</a:t>
            </a:r>
            <a:r>
              <a:rPr lang="zh-CN" altLang="zh-CN" sz="1600" dirty="0"/>
              <a:t>步，或一个</a:t>
            </a:r>
            <a:r>
              <a:rPr lang="en-US" altLang="zh-CN" sz="1600" dirty="0"/>
              <a:t>2</a:t>
            </a:r>
            <a:r>
              <a:rPr lang="zh-CN" altLang="zh-CN" sz="1600" dirty="0"/>
              <a:t>步，表示为</a:t>
            </a:r>
            <a:r>
              <a:rPr lang="en-US" altLang="zh-CN" sz="1600" dirty="0"/>
              <a:t>11</a:t>
            </a:r>
            <a:r>
              <a:rPr lang="zh-CN" altLang="zh-CN" sz="1600" dirty="0"/>
              <a:t>或</a:t>
            </a:r>
            <a:r>
              <a:rPr lang="en-US" altLang="zh-CN" sz="1600" dirty="0"/>
              <a:t>2</a:t>
            </a:r>
            <a:r>
              <a:rPr lang="zh-CN" altLang="zh-CN" sz="1600" dirty="0"/>
              <a:t>）</a:t>
            </a:r>
          </a:p>
          <a:p>
            <a:pPr marL="342900" indent="-342900">
              <a:buFont typeface="Wingdings" panose="05000000000000000000" pitchFamily="2" charset="2"/>
              <a:buChar char="l"/>
            </a:pPr>
            <a:r>
              <a:rPr lang="zh-CN" altLang="en-US" sz="2000" dirty="0"/>
              <a:t>思考：</a:t>
            </a:r>
            <a:endParaRPr lang="en-US" altLang="zh-CN" sz="2000" dirty="0"/>
          </a:p>
          <a:p>
            <a:pPr marL="971550" lvl="1"/>
            <a:r>
              <a:rPr lang="zh-CN" altLang="en-US" sz="1600" dirty="0"/>
              <a:t>有</a:t>
            </a:r>
            <a:r>
              <a:rPr lang="en-US" altLang="zh-CN" sz="1600" dirty="0"/>
              <a:t>n</a:t>
            </a:r>
            <a:r>
              <a:rPr lang="zh-CN" altLang="en-US" sz="1600" dirty="0"/>
              <a:t>个台阶，每次青蛙可以选择跳</a:t>
            </a:r>
            <a:r>
              <a:rPr lang="en-US" altLang="zh-CN" sz="1600" dirty="0"/>
              <a:t>1</a:t>
            </a:r>
            <a:r>
              <a:rPr lang="zh-CN" altLang="en-US" sz="1600" dirty="0"/>
              <a:t>个台阶、</a:t>
            </a:r>
            <a:r>
              <a:rPr lang="en-US" altLang="zh-CN" sz="1600" dirty="0"/>
              <a:t>2</a:t>
            </a:r>
            <a:r>
              <a:rPr lang="zh-CN" altLang="en-US" sz="1600" dirty="0"/>
              <a:t>个台阶，或者</a:t>
            </a:r>
            <a:r>
              <a:rPr lang="en-US" altLang="zh-CN" sz="1600" dirty="0"/>
              <a:t>3</a:t>
            </a:r>
            <a:r>
              <a:rPr lang="zh-CN" altLang="en-US" sz="1600" dirty="0"/>
              <a:t>个台阶，</a:t>
            </a:r>
            <a:r>
              <a:rPr lang="zh-CN" altLang="en-US" sz="1600" dirty="0" smtClean="0"/>
              <a:t>青蛙跳到</a:t>
            </a:r>
            <a:r>
              <a:rPr lang="zh-CN" altLang="en-US" sz="1600" dirty="0"/>
              <a:t>第</a:t>
            </a:r>
            <a:r>
              <a:rPr lang="en-US" altLang="zh-CN" sz="1600" dirty="0"/>
              <a:t>n</a:t>
            </a:r>
            <a:r>
              <a:rPr lang="zh-CN" altLang="en-US" sz="1600" dirty="0"/>
              <a:t>个台阶，共有多少种走法？</a:t>
            </a:r>
            <a:endParaRPr lang="en-US" altLang="zh-CN" sz="1600" dirty="0"/>
          </a:p>
          <a:p>
            <a:pPr marL="1200150" lvl="2"/>
            <a:r>
              <a:rPr lang="en-US" altLang="zh-CN" sz="1400" dirty="0"/>
              <a:t>1</a:t>
            </a:r>
            <a:r>
              <a:rPr lang="zh-CN" altLang="en-US" sz="1400" dirty="0"/>
              <a:t>个</a:t>
            </a:r>
            <a:r>
              <a:rPr lang="zh-CN" altLang="en-US" sz="1400" dirty="0" smtClean="0"/>
              <a:t>台阶一种走法</a:t>
            </a:r>
            <a:r>
              <a:rPr lang="en-US" altLang="zh-CN" sz="1400" dirty="0" smtClean="0"/>
              <a:t>:1</a:t>
            </a:r>
            <a:r>
              <a:rPr lang="zh-CN" altLang="en-US" sz="1400" dirty="0"/>
              <a:t>；</a:t>
            </a:r>
            <a:r>
              <a:rPr lang="en-US" altLang="zh-CN" sz="1400" dirty="0"/>
              <a:t>2</a:t>
            </a:r>
            <a:r>
              <a:rPr lang="zh-CN" altLang="en-US" sz="1400" dirty="0"/>
              <a:t>个</a:t>
            </a:r>
            <a:r>
              <a:rPr lang="zh-CN" altLang="en-US" sz="1400" dirty="0" smtClean="0"/>
              <a:t>台阶</a:t>
            </a:r>
            <a:r>
              <a:rPr lang="en-US" altLang="zh-CN" sz="1400" dirty="0" smtClean="0"/>
              <a:t>2</a:t>
            </a:r>
            <a:r>
              <a:rPr lang="zh-CN" altLang="en-US" sz="1400" dirty="0" smtClean="0"/>
              <a:t>种走法</a:t>
            </a:r>
            <a:r>
              <a:rPr lang="en-US" altLang="zh-CN" sz="1400" dirty="0" smtClean="0"/>
              <a:t>:11,2</a:t>
            </a:r>
            <a:r>
              <a:rPr lang="zh-CN" altLang="en-US" sz="1400" dirty="0"/>
              <a:t>；</a:t>
            </a:r>
            <a:r>
              <a:rPr lang="en-US" altLang="zh-CN" sz="1400" dirty="0"/>
              <a:t>3</a:t>
            </a:r>
            <a:r>
              <a:rPr lang="zh-CN" altLang="en-US" sz="1400" dirty="0"/>
              <a:t>个</a:t>
            </a:r>
            <a:r>
              <a:rPr lang="zh-CN" altLang="en-US" sz="1400" dirty="0" smtClean="0"/>
              <a:t>台阶</a:t>
            </a:r>
            <a:r>
              <a:rPr lang="en-US" altLang="zh-CN" sz="1400" dirty="0" smtClean="0"/>
              <a:t>4</a:t>
            </a:r>
            <a:r>
              <a:rPr lang="zh-CN" altLang="en-US" sz="1400" dirty="0" smtClean="0"/>
              <a:t>种走法：</a:t>
            </a:r>
            <a:r>
              <a:rPr lang="en-US" altLang="zh-CN" sz="1400" dirty="0"/>
              <a:t>111,12,21,3</a:t>
            </a:r>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24180225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自学与课后练习：</a:t>
            </a:r>
            <a:r>
              <a:rPr lang="zh-CN" altLang="zh-CN" dirty="0" smtClean="0"/>
              <a:t>斐波那契</a:t>
            </a:r>
            <a:r>
              <a:rPr lang="zh-CN" altLang="zh-CN" dirty="0"/>
              <a:t>序列</a:t>
            </a:r>
            <a:r>
              <a:rPr lang="zh-CN" altLang="en-US" dirty="0"/>
              <a:t>例</a:t>
            </a:r>
            <a:endParaRPr lang="en-US" altLang="zh-CN"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solidFill>
                  <a:srgbClr val="7030A0"/>
                </a:solidFill>
              </a:rPr>
              <a:t>找零问题：</a:t>
            </a:r>
            <a:endParaRPr lang="en-US" altLang="zh-CN" sz="2000" dirty="0">
              <a:solidFill>
                <a:srgbClr val="7030A0"/>
              </a:solidFill>
            </a:endParaRPr>
          </a:p>
          <a:p>
            <a:pPr marL="971550" lvl="1"/>
            <a:r>
              <a:rPr lang="zh-CN" altLang="en-US" sz="1800" dirty="0"/>
              <a:t>一个商店只有</a:t>
            </a:r>
            <a:r>
              <a:rPr lang="en-US" altLang="zh-CN" sz="1800" dirty="0"/>
              <a:t>1</a:t>
            </a:r>
            <a:r>
              <a:rPr lang="zh-CN" altLang="en-US" sz="1800" dirty="0"/>
              <a:t>元和</a:t>
            </a:r>
            <a:r>
              <a:rPr lang="en-US" altLang="zh-CN" sz="1800" dirty="0"/>
              <a:t>2</a:t>
            </a:r>
            <a:r>
              <a:rPr lang="zh-CN" altLang="en-US" sz="1800" dirty="0"/>
              <a:t>元硬币，对于</a:t>
            </a:r>
            <a:r>
              <a:rPr lang="en-US" altLang="zh-CN" sz="1800" dirty="0"/>
              <a:t>n</a:t>
            </a:r>
            <a:r>
              <a:rPr lang="zh-CN" altLang="en-US" sz="1800" dirty="0"/>
              <a:t>元现金，有多少种找零方法？</a:t>
            </a:r>
            <a:endParaRPr lang="en-US" altLang="zh-CN" sz="1800" dirty="0"/>
          </a:p>
          <a:p>
            <a:pPr marL="342900" indent="-342900">
              <a:buFont typeface="Wingdings" panose="05000000000000000000" pitchFamily="2" charset="2"/>
              <a:buChar char="l"/>
            </a:pPr>
            <a:r>
              <a:rPr lang="zh-CN" altLang="en-US" sz="2000" dirty="0"/>
              <a:t>分析：</a:t>
            </a:r>
            <a:r>
              <a:rPr lang="zh-CN" altLang="zh-CN" sz="2000" dirty="0"/>
              <a:t>设</a:t>
            </a:r>
            <a:r>
              <a:rPr lang="en-US" altLang="zh-CN" sz="2000" dirty="0"/>
              <a:t>f(n)</a:t>
            </a:r>
            <a:r>
              <a:rPr lang="zh-CN" altLang="zh-CN" sz="2000" dirty="0"/>
              <a:t>表示</a:t>
            </a:r>
            <a:r>
              <a:rPr lang="en-US" altLang="zh-CN" sz="2000" dirty="0"/>
              <a:t>n</a:t>
            </a:r>
            <a:r>
              <a:rPr lang="zh-CN" altLang="en-US" sz="2000" dirty="0"/>
              <a:t>元现金所有的找零方法</a:t>
            </a:r>
            <a:r>
              <a:rPr lang="zh-CN" altLang="zh-CN" sz="2000" dirty="0"/>
              <a:t>；</a:t>
            </a:r>
            <a:endParaRPr lang="en-US" altLang="zh-CN" sz="2000" dirty="0"/>
          </a:p>
          <a:p>
            <a:pPr marL="971550" lvl="1"/>
            <a:r>
              <a:rPr lang="zh-CN" altLang="zh-CN" sz="1800" dirty="0"/>
              <a:t>原问题分解为</a:t>
            </a:r>
            <a:r>
              <a:rPr lang="en-US" altLang="zh-CN" sz="1800" dirty="0"/>
              <a:t>2</a:t>
            </a:r>
            <a:r>
              <a:rPr lang="zh-CN" altLang="zh-CN" sz="1800" dirty="0"/>
              <a:t>个子问题</a:t>
            </a:r>
            <a:endParaRPr lang="en-US" altLang="zh-CN" sz="1800" dirty="0"/>
          </a:p>
          <a:p>
            <a:pPr marL="1200150" lvl="2"/>
            <a:r>
              <a:rPr lang="zh-CN" altLang="en-US" sz="1600" dirty="0">
                <a:solidFill>
                  <a:srgbClr val="0303DF"/>
                </a:solidFill>
              </a:rPr>
              <a:t>目前有</a:t>
            </a:r>
            <a:r>
              <a:rPr lang="en-US" altLang="zh-CN" sz="1600" dirty="0">
                <a:solidFill>
                  <a:srgbClr val="0303DF"/>
                </a:solidFill>
              </a:rPr>
              <a:t>n-1</a:t>
            </a:r>
            <a:r>
              <a:rPr lang="zh-CN" altLang="en-US" sz="1600" dirty="0">
                <a:solidFill>
                  <a:srgbClr val="0303DF"/>
                </a:solidFill>
              </a:rPr>
              <a:t>元钱</a:t>
            </a:r>
            <a:r>
              <a:rPr lang="zh-CN" altLang="zh-CN" sz="1600" dirty="0">
                <a:solidFill>
                  <a:srgbClr val="0303DF"/>
                </a:solidFill>
              </a:rPr>
              <a:t>，</a:t>
            </a:r>
            <a:r>
              <a:rPr lang="zh-CN" altLang="en-US" sz="1600" dirty="0">
                <a:solidFill>
                  <a:srgbClr val="0303DF"/>
                </a:solidFill>
              </a:rPr>
              <a:t>再找一个</a:t>
            </a:r>
            <a:r>
              <a:rPr lang="en-US" altLang="zh-CN" sz="1600" dirty="0">
                <a:solidFill>
                  <a:srgbClr val="0303DF"/>
                </a:solidFill>
              </a:rPr>
              <a:t>1</a:t>
            </a:r>
            <a:r>
              <a:rPr lang="zh-CN" altLang="en-US" sz="1600" dirty="0">
                <a:solidFill>
                  <a:srgbClr val="0303DF"/>
                </a:solidFill>
              </a:rPr>
              <a:t>元硬币，即可将</a:t>
            </a:r>
            <a:r>
              <a:rPr lang="en-US" altLang="zh-CN" sz="1600" dirty="0">
                <a:solidFill>
                  <a:srgbClr val="0303DF"/>
                </a:solidFill>
              </a:rPr>
              <a:t>n</a:t>
            </a:r>
            <a:r>
              <a:rPr lang="zh-CN" altLang="en-US" sz="1600" dirty="0">
                <a:solidFill>
                  <a:srgbClr val="0303DF"/>
                </a:solidFill>
              </a:rPr>
              <a:t>元现金换成零钱</a:t>
            </a:r>
            <a:r>
              <a:rPr lang="zh-CN" altLang="zh-CN" sz="1600" dirty="0">
                <a:solidFill>
                  <a:srgbClr val="0303DF"/>
                </a:solidFill>
              </a:rPr>
              <a:t>；</a:t>
            </a:r>
          </a:p>
          <a:p>
            <a:pPr marL="1200150" lvl="2"/>
            <a:r>
              <a:rPr lang="zh-CN" altLang="en-US" sz="1600" dirty="0">
                <a:solidFill>
                  <a:srgbClr val="0303DF"/>
                </a:solidFill>
              </a:rPr>
              <a:t>目前有</a:t>
            </a:r>
            <a:r>
              <a:rPr lang="en-US" altLang="zh-CN" sz="1600" dirty="0">
                <a:solidFill>
                  <a:srgbClr val="0303DF"/>
                </a:solidFill>
              </a:rPr>
              <a:t>n-2</a:t>
            </a:r>
            <a:r>
              <a:rPr lang="zh-CN" altLang="en-US" sz="1600" dirty="0">
                <a:solidFill>
                  <a:srgbClr val="0303DF"/>
                </a:solidFill>
              </a:rPr>
              <a:t>元钱</a:t>
            </a:r>
            <a:r>
              <a:rPr lang="zh-CN" altLang="zh-CN" sz="1600" dirty="0">
                <a:solidFill>
                  <a:srgbClr val="0303DF"/>
                </a:solidFill>
              </a:rPr>
              <a:t>，</a:t>
            </a:r>
            <a:r>
              <a:rPr lang="zh-CN" altLang="en-US" sz="1600" dirty="0">
                <a:solidFill>
                  <a:srgbClr val="0303DF"/>
                </a:solidFill>
              </a:rPr>
              <a:t>再找一个</a:t>
            </a:r>
            <a:r>
              <a:rPr lang="en-US" altLang="zh-CN" sz="1600" dirty="0">
                <a:solidFill>
                  <a:srgbClr val="0303DF"/>
                </a:solidFill>
              </a:rPr>
              <a:t>2</a:t>
            </a:r>
            <a:r>
              <a:rPr lang="zh-CN" altLang="en-US" sz="1600" dirty="0">
                <a:solidFill>
                  <a:srgbClr val="0303DF"/>
                </a:solidFill>
              </a:rPr>
              <a:t>元硬币，即可将</a:t>
            </a:r>
            <a:r>
              <a:rPr lang="en-US" altLang="zh-CN" sz="1600" dirty="0">
                <a:solidFill>
                  <a:srgbClr val="0303DF"/>
                </a:solidFill>
              </a:rPr>
              <a:t>n</a:t>
            </a:r>
            <a:r>
              <a:rPr lang="zh-CN" altLang="en-US" sz="1600" dirty="0">
                <a:solidFill>
                  <a:srgbClr val="0303DF"/>
                </a:solidFill>
              </a:rPr>
              <a:t>元现金换成零钱</a:t>
            </a:r>
            <a:r>
              <a:rPr lang="zh-CN" altLang="zh-CN" sz="1600" dirty="0">
                <a:solidFill>
                  <a:srgbClr val="0303DF"/>
                </a:solidFill>
              </a:rPr>
              <a:t>；</a:t>
            </a:r>
            <a:endParaRPr lang="en-US" altLang="zh-CN" sz="1600" dirty="0">
              <a:solidFill>
                <a:srgbClr val="0303DF"/>
              </a:solidFill>
            </a:endParaRPr>
          </a:p>
          <a:p>
            <a:pPr marL="1200150" lvl="2"/>
            <a:r>
              <a:rPr lang="zh-CN" altLang="en-US" sz="1600" dirty="0"/>
              <a:t>以此类推，</a:t>
            </a:r>
            <a:r>
              <a:rPr lang="en-US" altLang="zh-CN" sz="1600" b="1" dirty="0">
                <a:solidFill>
                  <a:srgbClr val="FF0000"/>
                </a:solidFill>
              </a:rPr>
              <a:t>f(n)=f(n-1)+ f(n-2) </a:t>
            </a:r>
            <a:r>
              <a:rPr lang="zh-CN" altLang="en-US" sz="1600" b="1" dirty="0">
                <a:solidFill>
                  <a:srgbClr val="FF0000"/>
                </a:solidFill>
              </a:rPr>
              <a:t>，</a:t>
            </a:r>
            <a:r>
              <a:rPr lang="en-US" altLang="zh-CN" sz="1600" b="1" dirty="0">
                <a:solidFill>
                  <a:srgbClr val="FF0000"/>
                </a:solidFill>
              </a:rPr>
              <a:t>n&gt;2;</a:t>
            </a:r>
            <a:endParaRPr lang="zh-CN" altLang="zh-CN" sz="1600" b="1" dirty="0">
              <a:solidFill>
                <a:srgbClr val="FF0000"/>
              </a:solidFill>
            </a:endParaRPr>
          </a:p>
          <a:p>
            <a:pPr marL="971550" lvl="1"/>
            <a:r>
              <a:rPr lang="zh-CN" altLang="zh-CN" sz="1800" dirty="0"/>
              <a:t>其中，</a:t>
            </a:r>
            <a:endParaRPr lang="en-US" altLang="zh-CN" sz="1800" dirty="0"/>
          </a:p>
          <a:p>
            <a:pPr marL="1200150" lvl="2"/>
            <a:r>
              <a:rPr lang="en-US" altLang="zh-CN" sz="1600" dirty="0"/>
              <a:t>f(1)=1   </a:t>
            </a:r>
            <a:r>
              <a:rPr lang="zh-CN" altLang="zh-CN" sz="1600" dirty="0"/>
              <a:t>（</a:t>
            </a:r>
            <a:r>
              <a:rPr lang="zh-CN" altLang="en-US" sz="1600" dirty="0"/>
              <a:t>只有</a:t>
            </a:r>
            <a:r>
              <a:rPr lang="en-US" altLang="zh-CN" sz="1600" dirty="0"/>
              <a:t>1</a:t>
            </a:r>
            <a:r>
              <a:rPr lang="zh-CN" altLang="zh-CN" sz="1600" dirty="0"/>
              <a:t>种</a:t>
            </a:r>
            <a:r>
              <a:rPr lang="zh-CN" altLang="en-US" sz="1600" dirty="0"/>
              <a:t>找零方法：</a:t>
            </a:r>
            <a:r>
              <a:rPr lang="en-US" altLang="zh-CN" sz="1600" dirty="0"/>
              <a:t>1</a:t>
            </a:r>
            <a:r>
              <a:rPr lang="zh-CN" altLang="en-US" sz="1600" dirty="0"/>
              <a:t>个一元硬币</a:t>
            </a:r>
            <a:r>
              <a:rPr lang="zh-CN" altLang="zh-CN" sz="1600" dirty="0"/>
              <a:t>）</a:t>
            </a:r>
          </a:p>
          <a:p>
            <a:pPr marL="1200150" lvl="2"/>
            <a:r>
              <a:rPr lang="en-US" altLang="zh-CN" sz="1600" dirty="0"/>
              <a:t>f(2)=2   </a:t>
            </a:r>
            <a:r>
              <a:rPr lang="zh-CN" altLang="zh-CN" sz="1600" dirty="0"/>
              <a:t>（</a:t>
            </a:r>
            <a:r>
              <a:rPr lang="zh-CN" altLang="en-US" sz="1600" dirty="0"/>
              <a:t>可有</a:t>
            </a:r>
            <a:r>
              <a:rPr lang="en-US" altLang="zh-CN" sz="1600" dirty="0"/>
              <a:t>2</a:t>
            </a:r>
            <a:r>
              <a:rPr lang="zh-CN" altLang="zh-CN" sz="1600" dirty="0"/>
              <a:t>种</a:t>
            </a:r>
            <a:r>
              <a:rPr lang="zh-CN" altLang="en-US" sz="1600" dirty="0"/>
              <a:t>找零方法</a:t>
            </a:r>
            <a:r>
              <a:rPr lang="zh-CN" altLang="zh-CN" sz="1600" dirty="0"/>
              <a:t>：两个</a:t>
            </a:r>
            <a:r>
              <a:rPr lang="en-US" altLang="zh-CN" sz="1600" dirty="0"/>
              <a:t>1</a:t>
            </a:r>
            <a:r>
              <a:rPr lang="zh-CN" altLang="en-US" sz="1600" dirty="0"/>
              <a:t>元</a:t>
            </a:r>
            <a:r>
              <a:rPr lang="zh-CN" altLang="zh-CN" sz="1600" dirty="0"/>
              <a:t>，或一个</a:t>
            </a:r>
            <a:r>
              <a:rPr lang="en-US" altLang="zh-CN" sz="1600" dirty="0"/>
              <a:t>2</a:t>
            </a:r>
            <a:r>
              <a:rPr lang="zh-CN" altLang="en-US" sz="1600" dirty="0"/>
              <a:t>元</a:t>
            </a:r>
            <a:r>
              <a:rPr lang="zh-CN" altLang="zh-CN" sz="1600" dirty="0"/>
              <a:t>，表示为</a:t>
            </a:r>
            <a:r>
              <a:rPr lang="en-US" altLang="zh-CN" sz="1600" dirty="0"/>
              <a:t>11</a:t>
            </a:r>
            <a:r>
              <a:rPr lang="zh-CN" altLang="zh-CN" sz="1600" dirty="0"/>
              <a:t>或</a:t>
            </a:r>
            <a:r>
              <a:rPr lang="en-US" altLang="zh-CN" sz="1600" dirty="0"/>
              <a:t>2</a:t>
            </a:r>
            <a:r>
              <a:rPr lang="zh-CN" altLang="zh-CN" sz="1600" dirty="0"/>
              <a:t>）</a:t>
            </a:r>
          </a:p>
          <a:p>
            <a:pPr marL="342900" indent="-342900">
              <a:lnSpc>
                <a:spcPct val="100000"/>
              </a:lnSpc>
              <a:buFont typeface="Wingdings" panose="05000000000000000000" pitchFamily="2" charset="2"/>
              <a:buChar char="l"/>
            </a:pPr>
            <a:r>
              <a:rPr lang="zh-CN" altLang="en-US" sz="2000" b="1" dirty="0">
                <a:solidFill>
                  <a:srgbClr val="C00000"/>
                </a:solidFill>
              </a:rPr>
              <a:t>在求解问题时，如果能够把一个问题抽象成一个已知的模型，则问题很容易解决</a:t>
            </a:r>
            <a:r>
              <a:rPr lang="zh-CN" altLang="en-US" sz="2000" b="1" dirty="0" smtClean="0">
                <a:solidFill>
                  <a:srgbClr val="C00000"/>
                </a:solidFill>
              </a:rPr>
              <a:t>。</a:t>
            </a:r>
            <a:r>
              <a:rPr lang="zh-CN" altLang="en-US" sz="2000" dirty="0" smtClean="0"/>
              <a:t>（上述问题都可抽象</a:t>
            </a:r>
            <a:r>
              <a:rPr lang="zh-CN" altLang="en-US" sz="2000" dirty="0"/>
              <a:t>为</a:t>
            </a:r>
            <a:r>
              <a:rPr lang="zh-CN" altLang="zh-CN" sz="2000" dirty="0"/>
              <a:t>斐波那契序列</a:t>
            </a:r>
            <a:r>
              <a:rPr lang="zh-CN" altLang="en-US" sz="2000" dirty="0"/>
              <a:t>）</a:t>
            </a:r>
            <a:endParaRPr lang="zh-CN" altLang="zh-CN" sz="2000"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173351385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solidFill>
                  <a:srgbClr val="006600"/>
                </a:solidFill>
              </a:rPr>
              <a:t>递推求解</a:t>
            </a:r>
            <a:r>
              <a:rPr lang="en-US" altLang="zh-CN" dirty="0" smtClean="0"/>
              <a:t>Fibonacci </a:t>
            </a:r>
            <a:r>
              <a:rPr lang="en-US" altLang="zh-CN" dirty="0"/>
              <a:t>sequence</a:t>
            </a:r>
            <a:endParaRPr lang="zh-CN" altLang="en-US" dirty="0"/>
          </a:p>
        </p:txBody>
      </p:sp>
      <p:sp>
        <p:nvSpPr>
          <p:cNvPr id="3" name="内容占位符 2"/>
          <p:cNvSpPr>
            <a:spLocks noGrp="1"/>
          </p:cNvSpPr>
          <p:nvPr>
            <p:ph idx="1"/>
          </p:nvPr>
        </p:nvSpPr>
        <p:spPr/>
        <p:txBody>
          <a:bodyPr/>
          <a:lstStyle/>
          <a:p>
            <a:pPr>
              <a:spcBef>
                <a:spcPts val="600"/>
              </a:spcBef>
              <a:buNone/>
            </a:pPr>
            <a:r>
              <a:rPr lang="en-US" altLang="zh-CN" sz="1800" dirty="0">
                <a:solidFill>
                  <a:srgbClr val="000000"/>
                </a:solidFill>
              </a:rPr>
              <a:t>int main()</a:t>
            </a:r>
          </a:p>
          <a:p>
            <a:pPr>
              <a:spcBef>
                <a:spcPts val="600"/>
              </a:spcBef>
              <a:buNone/>
            </a:pPr>
            <a:r>
              <a:rPr lang="en-US" altLang="zh-CN" sz="1800" dirty="0">
                <a:solidFill>
                  <a:srgbClr val="000000"/>
                </a:solidFill>
              </a:rPr>
              <a:t>{</a:t>
            </a:r>
          </a:p>
          <a:p>
            <a:pPr>
              <a:spcBef>
                <a:spcPts val="600"/>
              </a:spcBef>
              <a:buNone/>
            </a:pPr>
            <a:r>
              <a:rPr lang="en-US" altLang="zh-CN" sz="1800" dirty="0">
                <a:solidFill>
                  <a:srgbClr val="000000"/>
                </a:solidFill>
              </a:rPr>
              <a:t>        int n;</a:t>
            </a:r>
          </a:p>
          <a:p>
            <a:pPr>
              <a:spcBef>
                <a:spcPts val="600"/>
              </a:spcBef>
              <a:buNone/>
            </a:pPr>
            <a:r>
              <a:rPr lang="en-US" altLang="zh-CN" sz="1800" dirty="0">
                <a:solidFill>
                  <a:srgbClr val="000000"/>
                </a:solidFill>
              </a:rPr>
              <a:t>         </a:t>
            </a:r>
            <a:r>
              <a:rPr lang="en-US" altLang="zh-CN" sz="1800" dirty="0" err="1">
                <a:solidFill>
                  <a:srgbClr val="000000"/>
                </a:solidFill>
              </a:rPr>
              <a:t>scanf</a:t>
            </a:r>
            <a:r>
              <a:rPr lang="en-US" altLang="zh-CN" sz="1800" dirty="0">
                <a:solidFill>
                  <a:srgbClr val="000000"/>
                </a:solidFill>
              </a:rPr>
              <a:t>(“%</a:t>
            </a:r>
            <a:r>
              <a:rPr lang="en-US" altLang="zh-CN" sz="1800" dirty="0" err="1">
                <a:solidFill>
                  <a:srgbClr val="000000"/>
                </a:solidFill>
              </a:rPr>
              <a:t>d”,&amp;n</a:t>
            </a:r>
            <a:r>
              <a:rPr lang="en-US" altLang="zh-CN" sz="1800" dirty="0" smtClean="0">
                <a:solidFill>
                  <a:srgbClr val="000000"/>
                </a:solidFill>
              </a:rPr>
              <a:t>);   //</a:t>
            </a:r>
            <a:r>
              <a:rPr lang="zh-CN" altLang="en-US" sz="1800" dirty="0" smtClean="0">
                <a:solidFill>
                  <a:srgbClr val="000000"/>
                </a:solidFill>
              </a:rPr>
              <a:t>计算斐波那契序列的第</a:t>
            </a:r>
            <a:r>
              <a:rPr lang="en-US" altLang="zh-CN" sz="1800" dirty="0" smtClean="0">
                <a:solidFill>
                  <a:srgbClr val="000000"/>
                </a:solidFill>
              </a:rPr>
              <a:t>n</a:t>
            </a:r>
            <a:r>
              <a:rPr lang="zh-CN" altLang="en-US" sz="1800" dirty="0" smtClean="0">
                <a:solidFill>
                  <a:srgbClr val="000000"/>
                </a:solidFill>
              </a:rPr>
              <a:t>项</a:t>
            </a:r>
            <a:endParaRPr lang="en-US" altLang="zh-CN" sz="1800" dirty="0">
              <a:solidFill>
                <a:srgbClr val="000000"/>
              </a:solidFill>
            </a:endParaRPr>
          </a:p>
          <a:p>
            <a:pPr>
              <a:spcBef>
                <a:spcPts val="600"/>
              </a:spcBef>
              <a:buNone/>
            </a:pPr>
            <a:r>
              <a:rPr lang="en-US" altLang="zh-CN" sz="1800" dirty="0">
                <a:solidFill>
                  <a:srgbClr val="000000"/>
                </a:solidFill>
              </a:rPr>
              <a:t>        unsigned long </a:t>
            </a:r>
            <a:r>
              <a:rPr lang="en-US" altLang="zh-CN" sz="1800" dirty="0" err="1">
                <a:solidFill>
                  <a:srgbClr val="000000"/>
                </a:solidFill>
              </a:rPr>
              <a:t>long</a:t>
            </a:r>
            <a:r>
              <a:rPr lang="en-US" altLang="zh-CN" sz="1800" dirty="0">
                <a:solidFill>
                  <a:srgbClr val="000000"/>
                </a:solidFill>
              </a:rPr>
              <a:t> fib[n+1];</a:t>
            </a:r>
          </a:p>
          <a:p>
            <a:pPr>
              <a:spcBef>
                <a:spcPts val="600"/>
              </a:spcBef>
              <a:buNone/>
            </a:pPr>
            <a:r>
              <a:rPr lang="en-US" altLang="zh-CN" sz="1800" dirty="0">
                <a:solidFill>
                  <a:srgbClr val="000099"/>
                </a:solidFill>
              </a:rPr>
              <a:t>        fib[0]=0; </a:t>
            </a:r>
          </a:p>
          <a:p>
            <a:pPr>
              <a:spcBef>
                <a:spcPts val="600"/>
              </a:spcBef>
              <a:buNone/>
            </a:pPr>
            <a:r>
              <a:rPr lang="en-US" altLang="zh-CN" sz="1800" dirty="0">
                <a:solidFill>
                  <a:srgbClr val="000099"/>
                </a:solidFill>
              </a:rPr>
              <a:t>        fib[1]=1;</a:t>
            </a:r>
          </a:p>
          <a:p>
            <a:pPr>
              <a:spcBef>
                <a:spcPts val="600"/>
              </a:spcBef>
              <a:buNone/>
            </a:pPr>
            <a:r>
              <a:rPr lang="en-US" altLang="zh-CN" sz="1800" dirty="0">
                <a:solidFill>
                  <a:srgbClr val="C00000"/>
                </a:solidFill>
              </a:rPr>
              <a:t>        for (</a:t>
            </a:r>
            <a:r>
              <a:rPr lang="en-US" altLang="zh-CN" sz="1800" dirty="0" err="1">
                <a:solidFill>
                  <a:srgbClr val="C00000"/>
                </a:solidFill>
              </a:rPr>
              <a:t>int</a:t>
            </a:r>
            <a:r>
              <a:rPr lang="en-US" altLang="zh-CN" sz="1800" dirty="0">
                <a:solidFill>
                  <a:srgbClr val="C00000"/>
                </a:solidFill>
              </a:rPr>
              <a:t> </a:t>
            </a:r>
            <a:r>
              <a:rPr lang="en-US" altLang="zh-CN" sz="1800" dirty="0" err="1" smtClean="0">
                <a:solidFill>
                  <a:srgbClr val="C00000"/>
                </a:solidFill>
              </a:rPr>
              <a:t>i</a:t>
            </a:r>
            <a:r>
              <a:rPr lang="en-US" altLang="zh-CN" sz="1800" dirty="0" smtClean="0">
                <a:solidFill>
                  <a:srgbClr val="C00000"/>
                </a:solidFill>
              </a:rPr>
              <a:t>=2;i</a:t>
            </a:r>
            <a:r>
              <a:rPr lang="en-US" altLang="zh-CN" sz="1800" dirty="0">
                <a:solidFill>
                  <a:srgbClr val="C00000"/>
                </a:solidFill>
              </a:rPr>
              <a:t>&lt;=</a:t>
            </a:r>
            <a:r>
              <a:rPr lang="en-US" altLang="zh-CN" sz="1800" dirty="0" err="1">
                <a:solidFill>
                  <a:srgbClr val="C00000"/>
                </a:solidFill>
              </a:rPr>
              <a:t>n;i</a:t>
            </a:r>
            <a:r>
              <a:rPr lang="en-US" altLang="zh-CN" sz="1800" dirty="0">
                <a:solidFill>
                  <a:srgbClr val="C00000"/>
                </a:solidFill>
              </a:rPr>
              <a:t>++)</a:t>
            </a:r>
          </a:p>
          <a:p>
            <a:pPr>
              <a:spcBef>
                <a:spcPts val="600"/>
              </a:spcBef>
              <a:buNone/>
            </a:pPr>
            <a:r>
              <a:rPr lang="en-US" altLang="zh-CN" sz="1800" dirty="0">
                <a:solidFill>
                  <a:srgbClr val="0303DF"/>
                </a:solidFill>
              </a:rPr>
              <a:t>              </a:t>
            </a:r>
            <a:r>
              <a:rPr lang="en-US" altLang="zh-CN" sz="1800" dirty="0">
                <a:solidFill>
                  <a:srgbClr val="7030A0"/>
                </a:solidFill>
              </a:rPr>
              <a:t>fib[</a:t>
            </a:r>
            <a:r>
              <a:rPr lang="en-US" altLang="zh-CN" sz="1800" dirty="0" err="1">
                <a:solidFill>
                  <a:srgbClr val="7030A0"/>
                </a:solidFill>
              </a:rPr>
              <a:t>i</a:t>
            </a:r>
            <a:r>
              <a:rPr lang="en-US" altLang="zh-CN" sz="1800" dirty="0">
                <a:solidFill>
                  <a:srgbClr val="7030A0"/>
                </a:solidFill>
              </a:rPr>
              <a:t>]=fib[i-1]+fib[i-2];     //</a:t>
            </a:r>
            <a:r>
              <a:rPr lang="zh-CN" altLang="en-US" sz="1800" dirty="0">
                <a:solidFill>
                  <a:srgbClr val="7030A0"/>
                </a:solidFill>
              </a:rPr>
              <a:t>递推</a:t>
            </a:r>
            <a:endParaRPr lang="en-US" altLang="zh-CN" sz="1800" dirty="0">
              <a:solidFill>
                <a:srgbClr val="7030A0"/>
              </a:solidFill>
            </a:endParaRPr>
          </a:p>
          <a:p>
            <a:pPr>
              <a:spcBef>
                <a:spcPts val="600"/>
              </a:spcBef>
              <a:buNone/>
            </a:pPr>
            <a:endParaRPr lang="en-US" altLang="zh-CN" sz="1800" dirty="0">
              <a:solidFill>
                <a:srgbClr val="000000"/>
              </a:solidFill>
            </a:endParaRPr>
          </a:p>
          <a:p>
            <a:pPr>
              <a:spcBef>
                <a:spcPts val="600"/>
              </a:spcBef>
              <a:buNone/>
            </a:pPr>
            <a:r>
              <a:rPr lang="en-US" altLang="zh-CN" sz="1800" dirty="0">
                <a:solidFill>
                  <a:srgbClr val="000000"/>
                </a:solidFill>
              </a:rPr>
              <a:t>        for (int </a:t>
            </a:r>
            <a:r>
              <a:rPr lang="en-US" altLang="zh-CN" sz="1800" dirty="0" err="1">
                <a:solidFill>
                  <a:srgbClr val="000000"/>
                </a:solidFill>
              </a:rPr>
              <a:t>i</a:t>
            </a:r>
            <a:r>
              <a:rPr lang="en-US" altLang="zh-CN" sz="1800" dirty="0">
                <a:solidFill>
                  <a:srgbClr val="000000"/>
                </a:solidFill>
              </a:rPr>
              <a:t>=0;i&lt;=</a:t>
            </a:r>
            <a:r>
              <a:rPr lang="en-US" altLang="zh-CN" sz="1800" dirty="0" err="1">
                <a:solidFill>
                  <a:srgbClr val="000000"/>
                </a:solidFill>
              </a:rPr>
              <a:t>n;i</a:t>
            </a:r>
            <a:r>
              <a:rPr lang="en-US" altLang="zh-CN" sz="1800" dirty="0">
                <a:solidFill>
                  <a:srgbClr val="000000"/>
                </a:solidFill>
              </a:rPr>
              <a:t>++)   //</a:t>
            </a:r>
            <a:r>
              <a:rPr lang="zh-CN" altLang="en-US" sz="1800" dirty="0">
                <a:solidFill>
                  <a:srgbClr val="000000"/>
                </a:solidFill>
              </a:rPr>
              <a:t>输出</a:t>
            </a:r>
            <a:r>
              <a:rPr lang="en-US" altLang="zh-CN" sz="1800" dirty="0">
                <a:solidFill>
                  <a:srgbClr val="000000"/>
                </a:solidFill>
              </a:rPr>
              <a:t>Fibonacci sequence</a:t>
            </a:r>
          </a:p>
          <a:p>
            <a:pPr>
              <a:spcBef>
                <a:spcPts val="600"/>
              </a:spcBef>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 ”, fib[</a:t>
            </a:r>
            <a:r>
              <a:rPr lang="en-US" altLang="zh-CN" sz="1800" dirty="0" err="1">
                <a:solidFill>
                  <a:srgbClr val="000000"/>
                </a:solidFill>
              </a:rPr>
              <a:t>i</a:t>
            </a:r>
            <a:r>
              <a:rPr lang="en-US" altLang="zh-CN" sz="1800" dirty="0">
                <a:solidFill>
                  <a:srgbClr val="000000"/>
                </a:solidFill>
              </a:rPr>
              <a:t>]);</a:t>
            </a:r>
          </a:p>
          <a:p>
            <a:pPr>
              <a:spcBef>
                <a:spcPts val="600"/>
              </a:spcBef>
              <a:buNone/>
            </a:pPr>
            <a:r>
              <a:rPr lang="en-US" altLang="zh-CN" sz="1800" dirty="0">
                <a:solidFill>
                  <a:srgbClr val="000000"/>
                </a:solidFill>
              </a:rPr>
              <a:t>        return 0;</a:t>
            </a:r>
          </a:p>
          <a:p>
            <a:pPr>
              <a:spcBef>
                <a:spcPts val="600"/>
              </a:spcBef>
              <a:buNone/>
            </a:pPr>
            <a:r>
              <a:rPr lang="en-US" altLang="zh-CN" sz="1800" dirty="0">
                <a:solidFill>
                  <a:srgbClr val="000000"/>
                </a:solidFill>
              </a:rPr>
              <a:t>}</a:t>
            </a:r>
            <a:endParaRPr lang="zh-CN" altLang="en-US" sz="1800" dirty="0">
              <a:solidFill>
                <a:srgbClr val="000000"/>
              </a:solidFill>
            </a:endParaRPr>
          </a:p>
        </p:txBody>
      </p:sp>
    </p:spTree>
    <p:extLst>
      <p:ext uri="{BB962C8B-B14F-4D97-AF65-F5344CB8AC3E}">
        <p14:creationId xmlns:p14="http://schemas.microsoft.com/office/powerpoint/2010/main" val="179948229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课后练习：</a:t>
            </a:r>
            <a:r>
              <a:rPr lang="zh-CN" altLang="en-US" dirty="0" smtClean="0"/>
              <a:t>利用</a:t>
            </a:r>
            <a:r>
              <a:rPr lang="zh-CN" altLang="en-US" dirty="0"/>
              <a:t>线性</a:t>
            </a:r>
            <a:r>
              <a:rPr lang="zh-CN" altLang="zh-CN" dirty="0"/>
              <a:t>同余法</a:t>
            </a:r>
            <a:r>
              <a:rPr lang="zh-CN" altLang="en-US" dirty="0"/>
              <a:t>产生伪随机数</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t>函数</a:t>
            </a:r>
            <a:r>
              <a:rPr lang="en-US" altLang="zh-CN" sz="2000" dirty="0">
                <a:solidFill>
                  <a:srgbClr val="C00000"/>
                </a:solidFill>
              </a:rPr>
              <a:t>rand()</a:t>
            </a:r>
            <a:r>
              <a:rPr lang="zh-CN" altLang="en-US" sz="2000" dirty="0"/>
              <a:t>产生</a:t>
            </a:r>
            <a:r>
              <a:rPr lang="en-US" altLang="zh-CN" sz="2000" dirty="0">
                <a:solidFill>
                  <a:srgbClr val="0303DF"/>
                </a:solidFill>
              </a:rPr>
              <a:t>0~0x7FFF</a:t>
            </a:r>
            <a:r>
              <a:rPr lang="zh-CN" altLang="en-US" sz="2000" dirty="0"/>
              <a:t>之间的随机数（整数）；</a:t>
            </a:r>
            <a:endParaRPr lang="en-US" altLang="zh-CN" sz="2000" dirty="0"/>
          </a:p>
          <a:p>
            <a:pPr marL="971550" lvl="1"/>
            <a:r>
              <a:rPr lang="en-US" altLang="zh-CN" sz="1800" dirty="0"/>
              <a:t>int rand(void);   //</a:t>
            </a:r>
            <a:r>
              <a:rPr lang="en-US" altLang="zh-CN" sz="1800" dirty="0" err="1"/>
              <a:t>stdlib.h</a:t>
            </a:r>
            <a:endParaRPr lang="en-US" altLang="zh-CN" sz="1800" dirty="0"/>
          </a:p>
          <a:p>
            <a:pPr marL="971550" lvl="1"/>
            <a:r>
              <a:rPr lang="zh-CN" altLang="en-US" sz="1800" dirty="0"/>
              <a:t>思考：</a:t>
            </a:r>
            <a:endParaRPr lang="en-US" altLang="zh-CN" sz="1800" dirty="0"/>
          </a:p>
          <a:p>
            <a:pPr marL="1200150" lvl="2"/>
            <a:r>
              <a:rPr lang="zh-CN" altLang="en-US" sz="1600" dirty="0"/>
              <a:t>如何产生一个</a:t>
            </a:r>
            <a:r>
              <a:rPr lang="en-US" altLang="zh-CN" sz="1600" dirty="0"/>
              <a:t>0~99</a:t>
            </a:r>
            <a:r>
              <a:rPr lang="zh-CN" altLang="en-US" sz="1600" dirty="0"/>
              <a:t>之间的随机</a:t>
            </a:r>
            <a:r>
              <a:rPr lang="zh-CN" altLang="en-US" sz="1600" dirty="0">
                <a:solidFill>
                  <a:srgbClr val="0303DF"/>
                </a:solidFill>
              </a:rPr>
              <a:t>整数</a:t>
            </a:r>
            <a:r>
              <a:rPr lang="zh-CN" altLang="en-US" sz="1600" dirty="0"/>
              <a:t>？</a:t>
            </a:r>
            <a:endParaRPr lang="en-US" altLang="zh-CN" sz="1600" dirty="0"/>
          </a:p>
          <a:p>
            <a:pPr marL="1200150" lvl="2"/>
            <a:r>
              <a:rPr lang="zh-CN" altLang="en-US" sz="1600" dirty="0"/>
              <a:t>如何产生一个</a:t>
            </a:r>
            <a:r>
              <a:rPr lang="en-US" altLang="zh-CN" sz="1600" dirty="0"/>
              <a:t>[0,1]</a:t>
            </a:r>
            <a:r>
              <a:rPr lang="zh-CN" altLang="en-US" sz="1600" dirty="0"/>
              <a:t>之间的随机</a:t>
            </a:r>
            <a:r>
              <a:rPr lang="zh-CN" altLang="en-US" sz="1600" dirty="0">
                <a:solidFill>
                  <a:srgbClr val="0303DF"/>
                </a:solidFill>
              </a:rPr>
              <a:t>小数</a:t>
            </a:r>
            <a:r>
              <a:rPr lang="zh-CN" altLang="en-US" sz="1600" dirty="0"/>
              <a:t>？</a:t>
            </a:r>
            <a:endParaRPr lang="en-US" altLang="zh-CN" sz="1600" dirty="0"/>
          </a:p>
          <a:p>
            <a:pPr marL="342900" indent="-342900">
              <a:buFont typeface="Wingdings" panose="05000000000000000000" pitchFamily="2" charset="2"/>
              <a:buChar char="l"/>
            </a:pPr>
            <a:r>
              <a:rPr lang="zh-CN" altLang="en-US" sz="2000" dirty="0" smtClean="0">
                <a:solidFill>
                  <a:srgbClr val="C00000"/>
                </a:solidFill>
              </a:rPr>
              <a:t>每次重启</a:t>
            </a:r>
            <a:r>
              <a:rPr lang="en-US" altLang="zh-CN" sz="2000" dirty="0" smtClean="0">
                <a:solidFill>
                  <a:srgbClr val="C00000"/>
                </a:solidFill>
              </a:rPr>
              <a:t>IDE</a:t>
            </a:r>
            <a:r>
              <a:rPr lang="zh-CN" altLang="en-US" sz="2000" dirty="0"/>
              <a:t>，运行下述程序段，产生的随机数序列均相同；</a:t>
            </a:r>
            <a:endParaRPr lang="en-US" altLang="zh-CN" sz="2000" dirty="0"/>
          </a:p>
          <a:p>
            <a:pPr marL="914400" lvl="1" indent="-285750"/>
            <a:r>
              <a:rPr lang="en-US" altLang="zh-CN" sz="1800" dirty="0"/>
              <a:t>int a[10];   for (int </a:t>
            </a:r>
            <a:r>
              <a:rPr lang="en-US" altLang="zh-CN" sz="1800" dirty="0" err="1"/>
              <a:t>i</a:t>
            </a:r>
            <a:r>
              <a:rPr lang="en-US" altLang="zh-CN" sz="1800" dirty="0"/>
              <a:t>=0;i&lt;10;i++)   a[</a:t>
            </a:r>
            <a:r>
              <a:rPr lang="en-US" altLang="zh-CN" sz="1800" dirty="0" err="1"/>
              <a:t>i</a:t>
            </a:r>
            <a:r>
              <a:rPr lang="en-US" altLang="zh-CN" sz="1800" dirty="0"/>
              <a:t>]=rand();</a:t>
            </a:r>
          </a:p>
          <a:p>
            <a:pPr marL="914400" lvl="1" indent="-285750"/>
            <a:r>
              <a:rPr lang="zh-CN" altLang="en-US" sz="1800" dirty="0">
                <a:solidFill>
                  <a:srgbClr val="0303DF"/>
                </a:solidFill>
              </a:rPr>
              <a:t>因为每次</a:t>
            </a:r>
            <a:r>
              <a:rPr lang="zh-CN" altLang="en-US" sz="1800" dirty="0" smtClean="0">
                <a:solidFill>
                  <a:srgbClr val="0303DF"/>
                </a:solidFill>
              </a:rPr>
              <a:t>运行时，</a:t>
            </a:r>
            <a:r>
              <a:rPr lang="en-US" altLang="zh-CN" sz="1800" b="1" dirty="0">
                <a:solidFill>
                  <a:srgbClr val="7030A0"/>
                </a:solidFill>
              </a:rPr>
              <a:t>rand()</a:t>
            </a:r>
            <a:r>
              <a:rPr lang="zh-CN" altLang="en-US" sz="1800" b="1" dirty="0">
                <a:solidFill>
                  <a:srgbClr val="7030A0"/>
                </a:solidFill>
              </a:rPr>
              <a:t>的种子都相同；</a:t>
            </a:r>
            <a:endParaRPr lang="en-US" altLang="zh-CN" sz="2000" b="1" dirty="0">
              <a:solidFill>
                <a:srgbClr val="7030A0"/>
              </a:solidFill>
            </a:endParaRPr>
          </a:p>
          <a:p>
            <a:pPr marL="342900" indent="-342900">
              <a:buFont typeface="Wingdings" panose="05000000000000000000" pitchFamily="2" charset="2"/>
              <a:buChar char="l"/>
            </a:pPr>
            <a:r>
              <a:rPr lang="zh-CN" altLang="en-US" sz="2000" dirty="0"/>
              <a:t>函数</a:t>
            </a:r>
            <a:r>
              <a:rPr lang="en-US" altLang="zh-CN" sz="2000" dirty="0" err="1">
                <a:solidFill>
                  <a:srgbClr val="C00000"/>
                </a:solidFill>
              </a:rPr>
              <a:t>srand</a:t>
            </a:r>
            <a:r>
              <a:rPr lang="en-US" altLang="zh-CN" sz="2000" dirty="0" smtClean="0">
                <a:solidFill>
                  <a:srgbClr val="C00000"/>
                </a:solidFill>
              </a:rPr>
              <a:t>()</a:t>
            </a:r>
            <a:r>
              <a:rPr lang="zh-CN" altLang="en-US" sz="2000" dirty="0" smtClean="0"/>
              <a:t>用于设置</a:t>
            </a:r>
            <a:r>
              <a:rPr lang="zh-CN" altLang="en-US" sz="2000" dirty="0"/>
              <a:t>随机数的</a:t>
            </a:r>
            <a:r>
              <a:rPr lang="zh-CN" altLang="en-US" sz="2000" dirty="0">
                <a:solidFill>
                  <a:srgbClr val="7030A0"/>
                </a:solidFill>
              </a:rPr>
              <a:t>种子</a:t>
            </a:r>
            <a:r>
              <a:rPr lang="zh-CN" altLang="en-US" sz="2000" dirty="0"/>
              <a:t>；</a:t>
            </a:r>
            <a:endParaRPr lang="en-US" altLang="zh-CN" sz="2000" dirty="0"/>
          </a:p>
          <a:p>
            <a:pPr marL="971550" lvl="1"/>
            <a:r>
              <a:rPr lang="en-US" altLang="zh-CN" sz="1800" b="1" dirty="0"/>
              <a:t>void </a:t>
            </a:r>
            <a:r>
              <a:rPr lang="en-US" altLang="zh-CN" sz="1800" b="1" dirty="0" err="1"/>
              <a:t>srand</a:t>
            </a:r>
            <a:r>
              <a:rPr lang="en-US" altLang="zh-CN" sz="1800" b="1" dirty="0"/>
              <a:t>(unsigned seed);   </a:t>
            </a:r>
            <a:r>
              <a:rPr lang="en-US" altLang="zh-CN" sz="1800" dirty="0"/>
              <a:t>//</a:t>
            </a:r>
            <a:r>
              <a:rPr lang="en-US" altLang="zh-CN" sz="1800" smtClean="0"/>
              <a:t>stdlib.h</a:t>
            </a:r>
            <a:endParaRPr lang="en-US" altLang="zh-CN" sz="1800" dirty="0"/>
          </a:p>
          <a:p>
            <a:pPr marL="971550" lvl="1"/>
            <a:r>
              <a:rPr lang="en-US" altLang="zh-CN" sz="1800" dirty="0">
                <a:solidFill>
                  <a:srgbClr val="006600"/>
                </a:solidFill>
              </a:rPr>
              <a:t> </a:t>
            </a:r>
            <a:r>
              <a:rPr lang="zh-CN" altLang="en-US" sz="1800" dirty="0">
                <a:solidFill>
                  <a:srgbClr val="006600"/>
                </a:solidFill>
              </a:rPr>
              <a:t>常把种子设置成</a:t>
            </a:r>
            <a:r>
              <a:rPr lang="zh-CN" altLang="en-US" sz="1800" b="1" dirty="0">
                <a:solidFill>
                  <a:srgbClr val="7030A0"/>
                </a:solidFill>
              </a:rPr>
              <a:t>当前时间</a:t>
            </a:r>
            <a:r>
              <a:rPr lang="zh-CN" altLang="en-US" sz="1800" dirty="0">
                <a:solidFill>
                  <a:srgbClr val="006600"/>
                </a:solidFill>
              </a:rPr>
              <a:t>（</a:t>
            </a:r>
            <a:r>
              <a:rPr lang="zh-CN" altLang="en-US" sz="1800" dirty="0">
                <a:solidFill>
                  <a:srgbClr val="0303DF"/>
                </a:solidFill>
              </a:rPr>
              <a:t>每次运行，种子都不同</a:t>
            </a:r>
            <a:r>
              <a:rPr lang="zh-CN" altLang="en-US" sz="1800" dirty="0">
                <a:solidFill>
                  <a:srgbClr val="006600"/>
                </a:solidFill>
              </a:rPr>
              <a:t>）</a:t>
            </a:r>
            <a:endParaRPr lang="en-US" altLang="zh-CN" sz="1800" dirty="0">
              <a:solidFill>
                <a:srgbClr val="006600"/>
              </a:solidFill>
            </a:endParaRPr>
          </a:p>
          <a:p>
            <a:pPr marL="1200150" lvl="2"/>
            <a:r>
              <a:rPr lang="en-US" altLang="zh-CN" sz="1600" b="1" dirty="0" err="1">
                <a:solidFill>
                  <a:srgbClr val="080808"/>
                </a:solidFill>
              </a:rPr>
              <a:t>srand</a:t>
            </a:r>
            <a:r>
              <a:rPr lang="en-US" altLang="zh-CN" sz="1600" b="1" dirty="0">
                <a:solidFill>
                  <a:srgbClr val="080808"/>
                </a:solidFill>
              </a:rPr>
              <a:t>(time(0));    </a:t>
            </a:r>
            <a:r>
              <a:rPr lang="en-US" altLang="zh-CN" sz="1600" dirty="0">
                <a:solidFill>
                  <a:srgbClr val="080808"/>
                </a:solidFill>
              </a:rPr>
              <a:t>//</a:t>
            </a:r>
            <a:r>
              <a:rPr lang="en-US" altLang="zh-CN" sz="1600" b="1" dirty="0" err="1">
                <a:solidFill>
                  <a:srgbClr val="080808"/>
                </a:solidFill>
              </a:rPr>
              <a:t>srand</a:t>
            </a:r>
            <a:r>
              <a:rPr lang="en-US" altLang="zh-CN" sz="1600" b="1" dirty="0">
                <a:solidFill>
                  <a:srgbClr val="080808"/>
                </a:solidFill>
              </a:rPr>
              <a:t>(time(NULL));    </a:t>
            </a:r>
            <a:r>
              <a:rPr lang="en-US" altLang="zh-CN" sz="1600" dirty="0">
                <a:solidFill>
                  <a:srgbClr val="080808"/>
                </a:solidFill>
              </a:rPr>
              <a:t>//</a:t>
            </a:r>
            <a:r>
              <a:rPr lang="en-US" altLang="zh-CN" sz="1600" dirty="0" err="1">
                <a:solidFill>
                  <a:srgbClr val="080808"/>
                </a:solidFill>
              </a:rPr>
              <a:t>time.h</a:t>
            </a:r>
            <a:endParaRPr lang="en-US" altLang="zh-CN" sz="1600" dirty="0">
              <a:solidFill>
                <a:srgbClr val="080808"/>
              </a:solidFill>
            </a:endParaRPr>
          </a:p>
          <a:p>
            <a:pPr marL="1200150" lvl="2"/>
            <a:r>
              <a:rPr lang="en-US" altLang="zh-CN" sz="1600" dirty="0"/>
              <a:t>int a[10];   for (int </a:t>
            </a:r>
            <a:r>
              <a:rPr lang="en-US" altLang="zh-CN" sz="1600" dirty="0" err="1"/>
              <a:t>i</a:t>
            </a:r>
            <a:r>
              <a:rPr lang="en-US" altLang="zh-CN" sz="1600" dirty="0"/>
              <a:t>=0;i&lt;10;i++)   a[</a:t>
            </a:r>
            <a:r>
              <a:rPr lang="en-US" altLang="zh-CN" sz="1600" dirty="0" err="1"/>
              <a:t>i</a:t>
            </a:r>
            <a:r>
              <a:rPr lang="en-US" altLang="zh-CN" sz="1600" dirty="0"/>
              <a:t>]=rand();</a:t>
            </a:r>
          </a:p>
          <a:p>
            <a:pPr marL="1200150" lvl="2"/>
            <a:r>
              <a:rPr lang="zh-CN" altLang="en-US" sz="1600" dirty="0" smtClean="0">
                <a:solidFill>
                  <a:srgbClr val="080808"/>
                </a:solidFill>
              </a:rPr>
              <a:t>每次重新启动</a:t>
            </a:r>
            <a:r>
              <a:rPr lang="en-US" altLang="zh-CN" sz="1600" dirty="0" smtClean="0">
                <a:solidFill>
                  <a:srgbClr val="080808"/>
                </a:solidFill>
              </a:rPr>
              <a:t>IDE</a:t>
            </a:r>
            <a:r>
              <a:rPr lang="zh-CN" altLang="en-US" sz="1600" dirty="0" smtClean="0">
                <a:solidFill>
                  <a:srgbClr val="080808"/>
                </a:solidFill>
              </a:rPr>
              <a:t>，可产生不同</a:t>
            </a:r>
            <a:r>
              <a:rPr lang="zh-CN" altLang="en-US" sz="1600" dirty="0">
                <a:solidFill>
                  <a:srgbClr val="080808"/>
                </a:solidFill>
              </a:rPr>
              <a:t>的随机数序列；</a:t>
            </a:r>
            <a:endParaRPr lang="en-US" altLang="zh-CN" sz="1600" dirty="0">
              <a:solidFill>
                <a:srgbClr val="080808"/>
              </a:solidFill>
            </a:endParaRPr>
          </a:p>
          <a:p>
            <a:pPr marL="1028700" lvl="2" indent="0">
              <a:buNone/>
            </a:pPr>
            <a:endParaRPr lang="zh-CN" altLang="en-US" sz="1800" dirty="0"/>
          </a:p>
        </p:txBody>
      </p:sp>
    </p:spTree>
    <p:extLst>
      <p:ext uri="{BB962C8B-B14F-4D97-AF65-F5344CB8AC3E}">
        <p14:creationId xmlns:p14="http://schemas.microsoft.com/office/powerpoint/2010/main" val="336559313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自学与课后</a:t>
            </a:r>
            <a:r>
              <a:rPr lang="zh-CN" altLang="en-US" dirty="0">
                <a:solidFill>
                  <a:srgbClr val="7030A0"/>
                </a:solidFill>
              </a:rPr>
              <a:t>练习： </a:t>
            </a:r>
            <a:r>
              <a:rPr lang="zh-CN" altLang="en-US" dirty="0" smtClean="0"/>
              <a:t>利用</a:t>
            </a:r>
            <a:r>
              <a:rPr lang="zh-CN" altLang="en-US" dirty="0">
                <a:solidFill>
                  <a:srgbClr val="006600"/>
                </a:solidFill>
              </a:rPr>
              <a:t>线性</a:t>
            </a:r>
            <a:r>
              <a:rPr lang="zh-CN" altLang="zh-CN" dirty="0">
                <a:solidFill>
                  <a:srgbClr val="006600"/>
                </a:solidFill>
              </a:rPr>
              <a:t>同余法</a:t>
            </a:r>
            <a:r>
              <a:rPr lang="zh-CN" altLang="en-US" dirty="0"/>
              <a:t>产生</a:t>
            </a:r>
            <a:r>
              <a:rPr lang="zh-CN" altLang="en-US" dirty="0">
                <a:solidFill>
                  <a:srgbClr val="006600"/>
                </a:solidFill>
              </a:rPr>
              <a:t>伪随机数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342900" indent="-342900">
                  <a:spcBef>
                    <a:spcPts val="600"/>
                  </a:spcBef>
                  <a:buFont typeface="Wingdings" panose="05000000000000000000" pitchFamily="2" charset="2"/>
                  <a:buChar char="l"/>
                </a:pPr>
                <a:r>
                  <a:rPr lang="zh-CN" altLang="zh-CN" sz="1800" dirty="0" smtClean="0">
                    <a:solidFill>
                      <a:srgbClr val="7030A0"/>
                    </a:solidFill>
                  </a:rPr>
                  <a:t>线性同余法</a:t>
                </a:r>
                <a:r>
                  <a:rPr lang="zh-CN" altLang="zh-CN" sz="1800" dirty="0"/>
                  <a:t>是一个经典的</a:t>
                </a:r>
                <a:r>
                  <a:rPr lang="zh-CN" altLang="zh-CN" sz="1800" dirty="0">
                    <a:solidFill>
                      <a:srgbClr val="7030A0"/>
                    </a:solidFill>
                  </a:rPr>
                  <a:t>伪随机数发生器</a:t>
                </a:r>
                <a:r>
                  <a:rPr lang="zh-CN" altLang="zh-CN" sz="1800" dirty="0"/>
                  <a:t>，算法如下：</a:t>
                </a:r>
              </a:p>
              <a:p>
                <a:pPr marL="971550" lvl="1">
                  <a:lnSpc>
                    <a:spcPct val="90000"/>
                  </a:lnSpc>
                  <a:spcBef>
                    <a:spcPts val="600"/>
                  </a:spcBef>
                </a:pPr>
                <a:r>
                  <a:rPr lang="zh-CN" altLang="zh-CN" sz="1600" dirty="0">
                    <a:solidFill>
                      <a:srgbClr val="0000CC"/>
                    </a:solidFill>
                  </a:rPr>
                  <a:t>将</a:t>
                </a:r>
                <a:r>
                  <a:rPr lang="en-US" altLang="zh-CN" sz="1600" dirty="0">
                    <a:solidFill>
                      <a:srgbClr val="C00000"/>
                    </a:solidFill>
                  </a:rPr>
                  <a:t>X(0)</a:t>
                </a:r>
                <a:r>
                  <a:rPr lang="zh-CN" altLang="zh-CN" sz="1600" dirty="0">
                    <a:solidFill>
                      <a:srgbClr val="C00000"/>
                    </a:solidFill>
                  </a:rPr>
                  <a:t>作为随机数的种子</a:t>
                </a:r>
                <a:r>
                  <a:rPr lang="zh-CN" altLang="zh-CN" sz="1600" dirty="0">
                    <a:solidFill>
                      <a:srgbClr val="0000CC"/>
                    </a:solidFill>
                  </a:rPr>
                  <a:t>；</a:t>
                </a:r>
              </a:p>
              <a:p>
                <a:pPr marL="971550" lvl="1">
                  <a:lnSpc>
                    <a:spcPct val="90000"/>
                  </a:lnSpc>
                  <a:spcBef>
                    <a:spcPts val="600"/>
                  </a:spcBef>
                </a:pPr>
                <a:r>
                  <a:rPr lang="zh-CN" altLang="zh-CN" sz="1600" dirty="0">
                    <a:solidFill>
                      <a:srgbClr val="0000CC"/>
                    </a:solidFill>
                  </a:rPr>
                  <a:t>根据递推公式</a:t>
                </a:r>
                <a:r>
                  <a:rPr lang="en-US" altLang="zh-CN" sz="1600" b="1" dirty="0">
                    <a:solidFill>
                      <a:srgbClr val="006600"/>
                    </a:solidFill>
                  </a:rPr>
                  <a:t>X(n+1) = (a*X(n)+b) mod M</a:t>
                </a:r>
                <a:r>
                  <a:rPr lang="zh-CN" altLang="zh-CN" sz="1600" dirty="0">
                    <a:solidFill>
                      <a:srgbClr val="0000CC"/>
                    </a:solidFill>
                  </a:rPr>
                  <a:t>，依次产生一个随机数序列</a:t>
                </a:r>
                <a:r>
                  <a:rPr lang="en-US" altLang="zh-CN" sz="1600" dirty="0">
                    <a:solidFill>
                      <a:srgbClr val="0000CC"/>
                    </a:solidFill>
                  </a:rPr>
                  <a:t>X(1),X(2)</a:t>
                </a:r>
                <a:r>
                  <a:rPr lang="zh-CN" altLang="zh-CN" sz="1600" dirty="0">
                    <a:solidFill>
                      <a:srgbClr val="0000CC"/>
                    </a:solidFill>
                  </a:rPr>
                  <a:t>，</a:t>
                </a:r>
                <a:r>
                  <a:rPr lang="en-US" altLang="zh-CN" sz="1600" dirty="0">
                    <a:solidFill>
                      <a:srgbClr val="0000CC"/>
                    </a:solidFill>
                  </a:rPr>
                  <a:t>… </a:t>
                </a:r>
                <a:endParaRPr lang="zh-CN" altLang="zh-CN" sz="1600" dirty="0">
                  <a:solidFill>
                    <a:srgbClr val="0000CC"/>
                  </a:solidFill>
                </a:endParaRPr>
              </a:p>
              <a:p>
                <a:pPr marL="971550" lvl="1">
                  <a:lnSpc>
                    <a:spcPct val="100000"/>
                  </a:lnSpc>
                  <a:spcBef>
                    <a:spcPts val="600"/>
                  </a:spcBef>
                </a:pPr>
                <a:r>
                  <a:rPr lang="en-US" altLang="zh-CN" sz="1600" b="1" dirty="0" err="1">
                    <a:solidFill>
                      <a:srgbClr val="C00000"/>
                    </a:solidFill>
                  </a:rPr>
                  <a:t>a,b,M</a:t>
                </a:r>
                <a:r>
                  <a:rPr lang="zh-CN" altLang="en-US" sz="1600" b="1" dirty="0">
                    <a:solidFill>
                      <a:srgbClr val="C00000"/>
                    </a:solidFill>
                  </a:rPr>
                  <a:t>的取值相当敏感，对产生的伪随机数序列的效果影响很大；</a:t>
                </a:r>
                <a:endParaRPr lang="en-US" altLang="zh-CN" sz="1600" b="1" dirty="0">
                  <a:solidFill>
                    <a:srgbClr val="C00000"/>
                  </a:solidFill>
                </a:endParaRPr>
              </a:p>
              <a:p>
                <a:pPr marL="971550" lvl="1">
                  <a:lnSpc>
                    <a:spcPct val="100000"/>
                  </a:lnSpc>
                  <a:spcBef>
                    <a:spcPts val="600"/>
                  </a:spcBef>
                </a:pPr>
                <a:r>
                  <a:rPr lang="zh-CN" altLang="zh-CN" sz="1600" dirty="0"/>
                  <a:t>如果</a:t>
                </a:r>
                <a:r>
                  <a:rPr lang="en-US" altLang="zh-CN" sz="1600" dirty="0"/>
                  <a:t>a</a:t>
                </a:r>
                <a:r>
                  <a:rPr lang="zh-CN" altLang="zh-CN" sz="1600" dirty="0"/>
                  <a:t>和</a:t>
                </a:r>
                <a:r>
                  <a:rPr lang="en-US" altLang="zh-CN" sz="1600" dirty="0"/>
                  <a:t>M</a:t>
                </a:r>
                <a:r>
                  <a:rPr lang="zh-CN" altLang="zh-CN" sz="1600" dirty="0"/>
                  <a:t>如果互质，产生随机数效果更好。</a:t>
                </a:r>
              </a:p>
              <a:p>
                <a:pPr marL="971550" lvl="1">
                  <a:lnSpc>
                    <a:spcPct val="100000"/>
                  </a:lnSpc>
                  <a:spcBef>
                    <a:spcPts val="600"/>
                  </a:spcBef>
                </a:pPr>
                <a:r>
                  <a:rPr lang="en-US" altLang="zh-CN" sz="1600" dirty="0" smtClean="0"/>
                  <a:t>a</a:t>
                </a:r>
                <a:r>
                  <a:rPr lang="zh-CN" altLang="zh-CN" sz="1600" dirty="0"/>
                  <a:t>和</a:t>
                </a:r>
                <a:r>
                  <a:rPr lang="en-US" altLang="zh-CN" sz="1600" dirty="0"/>
                  <a:t>b</a:t>
                </a:r>
                <a:r>
                  <a:rPr lang="zh-CN" altLang="zh-CN" sz="1600" dirty="0"/>
                  <a:t>的值越大，产生的伪随机数也越均匀</a:t>
                </a:r>
                <a:r>
                  <a:rPr lang="zh-CN" altLang="en-US" sz="1600" dirty="0"/>
                  <a:t>，但可能导致运算过程中溢出；</a:t>
                </a:r>
                <a:endParaRPr lang="zh-CN" altLang="zh-CN" sz="1600" dirty="0"/>
              </a:p>
              <a:p>
                <a:pPr marL="971550" lvl="1">
                  <a:lnSpc>
                    <a:spcPct val="100000"/>
                  </a:lnSpc>
                  <a:spcBef>
                    <a:spcPts val="600"/>
                  </a:spcBef>
                </a:pPr>
                <a:r>
                  <a:rPr lang="zh-CN" altLang="zh-CN" sz="1600" dirty="0"/>
                  <a:t>虽然</a:t>
                </a:r>
                <a:r>
                  <a:rPr lang="en-US" altLang="zh-CN" sz="1600" dirty="0"/>
                  <a:t>M</a:t>
                </a:r>
                <a:r>
                  <a:rPr lang="zh-CN" altLang="zh-CN" sz="1600" dirty="0"/>
                  <a:t>的作用是限定产生的伪随机数在</a:t>
                </a:r>
                <a:r>
                  <a:rPr lang="en-US" altLang="zh-CN" sz="1600" dirty="0"/>
                  <a:t>0</a:t>
                </a:r>
                <a:r>
                  <a:rPr lang="zh-CN" altLang="zh-CN" sz="1600" dirty="0"/>
                  <a:t>到</a:t>
                </a:r>
                <a:r>
                  <a:rPr lang="en-US" altLang="zh-CN" sz="1600" dirty="0"/>
                  <a:t>M-1</a:t>
                </a:r>
                <a:r>
                  <a:rPr lang="zh-CN" altLang="zh-CN" sz="1600" dirty="0"/>
                  <a:t>范围之间，但</a:t>
                </a:r>
                <a:r>
                  <a:rPr lang="en-US" altLang="zh-CN" sz="1600" dirty="0"/>
                  <a:t>M</a:t>
                </a:r>
                <a:r>
                  <a:rPr lang="zh-CN" altLang="zh-CN" sz="1600" dirty="0"/>
                  <a:t>的大小直接影响伪随机数序列的周期长短，因此运算过程中</a:t>
                </a:r>
                <a:r>
                  <a:rPr lang="en-US" altLang="zh-CN" sz="1600" dirty="0"/>
                  <a:t>M</a:t>
                </a:r>
                <a:r>
                  <a:rPr lang="zh-CN" altLang="zh-CN" sz="1600" dirty="0"/>
                  <a:t>尽可能取比较大的值；在输出时，再将产生的随机数限定在给定的范围之内</a:t>
                </a:r>
                <a:r>
                  <a:rPr lang="zh-CN" altLang="zh-CN" sz="1600" dirty="0" smtClean="0"/>
                  <a:t>。</a:t>
                </a:r>
                <a:endParaRPr lang="zh-CN" altLang="zh-CN" sz="1600" dirty="0"/>
              </a:p>
              <a:p>
                <a:pPr marL="342900" indent="-342900">
                  <a:spcBef>
                    <a:spcPts val="600"/>
                  </a:spcBef>
                  <a:buFont typeface="Wingdings" panose="05000000000000000000" pitchFamily="2" charset="2"/>
                  <a:buChar char="l"/>
                </a:pPr>
                <a:r>
                  <a:rPr lang="zh-CN" altLang="en-US" sz="1800" dirty="0" smtClean="0"/>
                  <a:t>为防止运算过程中数值溢出，</a:t>
                </a:r>
                <a:r>
                  <a:rPr lang="en-US" altLang="zh-CN" sz="1800" dirty="0"/>
                  <a:t> X</a:t>
                </a:r>
                <a:r>
                  <a:rPr lang="zh-CN" altLang="zh-CN" sz="1800" dirty="0"/>
                  <a:t>可定义</a:t>
                </a:r>
                <a:r>
                  <a:rPr lang="zh-CN" altLang="zh-CN" sz="1800" dirty="0" smtClean="0"/>
                  <a:t>为</a:t>
                </a:r>
                <a:r>
                  <a:rPr lang="en-US" altLang="zh-CN" sz="1800" dirty="0" smtClean="0"/>
                  <a:t>long </a:t>
                </a:r>
                <a:r>
                  <a:rPr lang="en-US" altLang="zh-CN" sz="1800" dirty="0" err="1" smtClean="0"/>
                  <a:t>long</a:t>
                </a:r>
                <a:r>
                  <a:rPr lang="en-US" altLang="zh-CN" sz="1800" dirty="0" smtClean="0"/>
                  <a:t> </a:t>
                </a:r>
                <a:r>
                  <a:rPr lang="zh-CN" altLang="zh-CN" sz="1800" dirty="0" smtClean="0"/>
                  <a:t>型</a:t>
                </a:r>
                <a:r>
                  <a:rPr lang="zh-CN" altLang="en-US" sz="1800" dirty="0" smtClean="0"/>
                  <a:t>数组；</a:t>
                </a:r>
                <a:endParaRPr lang="en-US" altLang="zh-CN" sz="1800" dirty="0" smtClean="0"/>
              </a:p>
              <a:p>
                <a:pPr marL="342900" indent="-342900">
                  <a:spcBef>
                    <a:spcPts val="600"/>
                  </a:spcBef>
                  <a:buFont typeface="Wingdings" panose="05000000000000000000" pitchFamily="2" charset="2"/>
                  <a:buChar char="l"/>
                </a:pPr>
                <a:r>
                  <a:rPr lang="zh-CN" altLang="en-US" sz="1800" dirty="0" smtClean="0"/>
                  <a:t>为防止</a:t>
                </a:r>
                <a:r>
                  <a:rPr lang="zh-CN" altLang="zh-CN" sz="1800" dirty="0"/>
                  <a:t>伪随机数序列的</a:t>
                </a:r>
                <a:r>
                  <a:rPr lang="zh-CN" altLang="zh-CN" sz="1800" dirty="0" smtClean="0"/>
                  <a:t>周期</a:t>
                </a:r>
                <a:r>
                  <a:rPr lang="zh-CN" altLang="en-US" sz="1800" dirty="0" smtClean="0"/>
                  <a:t>太短</a:t>
                </a:r>
                <a:r>
                  <a:rPr lang="zh-CN" altLang="en-US" sz="1800" dirty="0"/>
                  <a:t>，</a:t>
                </a:r>
                <a:r>
                  <a:rPr lang="en-US" altLang="zh-CN" sz="1800" dirty="0"/>
                  <a:t> </a:t>
                </a:r>
                <a:r>
                  <a:rPr lang="zh-CN" altLang="en-US" sz="1800" dirty="0" smtClean="0"/>
                  <a:t>运算过程中，</a:t>
                </a:r>
                <a:r>
                  <a:rPr lang="en-US" altLang="zh-CN" sz="1800" dirty="0" smtClean="0"/>
                  <a:t>X(n+1</a:t>
                </a:r>
                <a:r>
                  <a:rPr lang="en-US" altLang="zh-CN" sz="1800" dirty="0"/>
                  <a:t>) = (a*X(n)+b) mod M</a:t>
                </a:r>
                <a:r>
                  <a:rPr lang="zh-CN" altLang="en-US" sz="1800" dirty="0"/>
                  <a:t>中</a:t>
                </a:r>
                <a:r>
                  <a:rPr lang="zh-CN" altLang="en-US" sz="1800" dirty="0" smtClean="0"/>
                  <a:t>的</a:t>
                </a:r>
                <a:r>
                  <a:rPr lang="en-US" altLang="zh-CN" sz="1800" dirty="0" smtClean="0"/>
                  <a:t>M</a:t>
                </a:r>
                <a:r>
                  <a:rPr lang="zh-CN" altLang="en-US" sz="1800" dirty="0" smtClean="0"/>
                  <a:t>可以取比较大的值，如</a:t>
                </a:r>
                <a:r>
                  <a:rPr lang="en-US" altLang="zh-CN" sz="1800" dirty="0" smtClean="0">
                    <a:solidFill>
                      <a:srgbClr val="7030A0"/>
                    </a:solidFill>
                  </a:rPr>
                  <a:t>M=</a:t>
                </a:r>
                <a14:m>
                  <m:oMath xmlns:m="http://schemas.openxmlformats.org/officeDocument/2006/math">
                    <m:sSup>
                      <m:sSupPr>
                        <m:ctrlPr>
                          <a:rPr lang="en-US" altLang="zh-CN" sz="1800" i="1" smtClean="0">
                            <a:solidFill>
                              <a:srgbClr val="7030A0"/>
                            </a:solidFill>
                            <a:latin typeface="Cambria Math" panose="02040503050406030204" pitchFamily="18" charset="0"/>
                          </a:rPr>
                        </m:ctrlPr>
                      </m:sSupPr>
                      <m:e>
                        <m:r>
                          <a:rPr lang="en-US" altLang="zh-CN" sz="1800" b="0" i="1" smtClean="0">
                            <a:solidFill>
                              <a:srgbClr val="7030A0"/>
                            </a:solidFill>
                            <a:latin typeface="Cambria Math" panose="02040503050406030204" pitchFamily="18" charset="0"/>
                          </a:rPr>
                          <m:t>2</m:t>
                        </m:r>
                      </m:e>
                      <m:sup>
                        <m:r>
                          <a:rPr lang="en-US" altLang="zh-CN" sz="1800" b="0" i="1" smtClean="0">
                            <a:solidFill>
                              <a:srgbClr val="7030A0"/>
                            </a:solidFill>
                            <a:latin typeface="Cambria Math" panose="02040503050406030204" pitchFamily="18" charset="0"/>
                          </a:rPr>
                          <m:t>31</m:t>
                        </m:r>
                      </m:sup>
                    </m:sSup>
                    <m:r>
                      <a:rPr lang="en-US" altLang="zh-CN" sz="1800" i="1" smtClean="0">
                        <a:solidFill>
                          <a:srgbClr val="7030A0"/>
                        </a:solidFill>
                        <a:latin typeface="Cambria Math" panose="02040503050406030204" pitchFamily="18" charset="0"/>
                        <a:ea typeface="Cambria Math" panose="02040503050406030204" pitchFamily="18" charset="0"/>
                      </a:rPr>
                      <m:t>−</m:t>
                    </m:r>
                    <m:r>
                      <a:rPr lang="en-US" altLang="zh-CN" sz="1800" b="0" i="1" smtClean="0">
                        <a:solidFill>
                          <a:srgbClr val="7030A0"/>
                        </a:solidFill>
                        <a:latin typeface="Cambria Math" panose="02040503050406030204" pitchFamily="18" charset="0"/>
                        <a:ea typeface="Cambria Math" panose="02040503050406030204" pitchFamily="18" charset="0"/>
                      </a:rPr>
                      <m:t>1</m:t>
                    </m:r>
                    <m:r>
                      <a:rPr lang="zh-CN" altLang="en-US" sz="1800" i="1">
                        <a:latin typeface="Cambria Math" panose="02040503050406030204" pitchFamily="18" charset="0"/>
                        <a:ea typeface="Cambria Math" panose="02040503050406030204" pitchFamily="18" charset="0"/>
                      </a:rPr>
                      <m:t>；</m:t>
                    </m:r>
                  </m:oMath>
                </a14:m>
                <a:endParaRPr lang="en-US" altLang="zh-CN" sz="1800" dirty="0"/>
              </a:p>
              <a:p>
                <a:pPr marL="342900" indent="-342900">
                  <a:spcBef>
                    <a:spcPts val="600"/>
                  </a:spcBef>
                  <a:buFont typeface="Wingdings" panose="05000000000000000000" pitchFamily="2" charset="2"/>
                  <a:buChar char="l"/>
                </a:pPr>
                <a:r>
                  <a:rPr lang="zh-CN" altLang="en-US" sz="1800" dirty="0" smtClean="0">
                    <a:solidFill>
                      <a:srgbClr val="0303DF"/>
                    </a:solidFill>
                  </a:rPr>
                  <a:t>最后，将</a:t>
                </a:r>
                <a:r>
                  <a:rPr lang="en-US" altLang="zh-CN" sz="1800" dirty="0" smtClean="0">
                    <a:solidFill>
                      <a:srgbClr val="7030A0"/>
                    </a:solidFill>
                  </a:rPr>
                  <a:t>X(</a:t>
                </a:r>
                <a:r>
                  <a:rPr lang="en-US" altLang="zh-CN" sz="1800" dirty="0" err="1" smtClean="0">
                    <a:solidFill>
                      <a:srgbClr val="7030A0"/>
                    </a:solidFill>
                  </a:rPr>
                  <a:t>i</a:t>
                </a:r>
                <a:r>
                  <a:rPr lang="en-US" altLang="zh-CN" sz="1800" dirty="0" smtClean="0">
                    <a:solidFill>
                      <a:srgbClr val="7030A0"/>
                    </a:solidFill>
                  </a:rPr>
                  <a:t>)%0x7FFF</a:t>
                </a:r>
                <a:r>
                  <a:rPr lang="zh-CN" altLang="en-US" sz="1800" dirty="0" smtClean="0">
                    <a:solidFill>
                      <a:srgbClr val="0303DF"/>
                    </a:solidFill>
                  </a:rPr>
                  <a:t>作为产生的随机数，其范围限定在</a:t>
                </a:r>
                <a:r>
                  <a:rPr lang="en-US" altLang="zh-CN" sz="1800" dirty="0" smtClean="0">
                    <a:solidFill>
                      <a:srgbClr val="0303DF"/>
                    </a:solidFill>
                  </a:rPr>
                  <a:t>0~0x7FFF</a:t>
                </a:r>
                <a:r>
                  <a:rPr lang="zh-CN" altLang="en-US" sz="1800" dirty="0" smtClean="0">
                    <a:solidFill>
                      <a:srgbClr val="0303DF"/>
                    </a:solidFill>
                  </a:rPr>
                  <a:t>之间；</a:t>
                </a:r>
                <a:endParaRPr lang="en-US" altLang="zh-CN" sz="1800" dirty="0" smtClean="0">
                  <a:solidFill>
                    <a:srgbClr val="0303DF"/>
                  </a:solidFill>
                </a:endParaRPr>
              </a:p>
              <a:p>
                <a:pPr marL="342900" indent="-342900">
                  <a:spcBef>
                    <a:spcPts val="600"/>
                  </a:spcBef>
                  <a:buFont typeface="Wingdings" panose="05000000000000000000" pitchFamily="2" charset="2"/>
                  <a:buChar char="l"/>
                </a:pPr>
                <a:r>
                  <a:rPr lang="zh-CN" altLang="zh-CN" sz="1800" dirty="0" smtClean="0"/>
                  <a:t>种子</a:t>
                </a:r>
                <a:r>
                  <a:rPr lang="en-US" altLang="zh-CN" sz="1800" dirty="0">
                    <a:solidFill>
                      <a:srgbClr val="C00000"/>
                    </a:solidFill>
                  </a:rPr>
                  <a:t>X(0)</a:t>
                </a:r>
                <a:r>
                  <a:rPr lang="zh-CN" altLang="zh-CN" sz="1800" dirty="0"/>
                  <a:t>可依次取</a:t>
                </a:r>
                <a:r>
                  <a:rPr lang="en-US" altLang="zh-CN" sz="1800" dirty="0"/>
                  <a:t>1,2,3,…,</a:t>
                </a:r>
                <a:r>
                  <a:rPr lang="zh-CN" altLang="zh-CN" sz="1800" dirty="0"/>
                  <a:t>或</a:t>
                </a:r>
                <a:r>
                  <a:rPr lang="zh-CN" altLang="zh-CN" sz="1800" dirty="0" smtClean="0"/>
                  <a:t>取</a:t>
                </a:r>
                <a:r>
                  <a:rPr lang="zh-CN" altLang="en-US" sz="1800" dirty="0" smtClean="0"/>
                  <a:t>（</a:t>
                </a:r>
                <a:r>
                  <a:rPr lang="zh-CN" altLang="zh-CN" sz="1800" dirty="0" smtClean="0"/>
                  <a:t>当前时间</a:t>
                </a:r>
                <a:r>
                  <a:rPr lang="en-US" altLang="zh-CN" sz="1800" dirty="0" smtClean="0"/>
                  <a:t>%M</a:t>
                </a:r>
                <a:r>
                  <a:rPr lang="zh-CN" altLang="en-US" sz="1800" dirty="0" smtClean="0"/>
                  <a:t>）</a:t>
                </a:r>
                <a:r>
                  <a:rPr lang="zh-CN" altLang="zh-CN" sz="1800" dirty="0" smtClean="0"/>
                  <a:t>作为</a:t>
                </a:r>
                <a:r>
                  <a:rPr lang="zh-CN" altLang="zh-CN" sz="1800" dirty="0" smtClean="0">
                    <a:solidFill>
                      <a:srgbClr val="C00000"/>
                    </a:solidFill>
                  </a:rPr>
                  <a:t>种子</a:t>
                </a:r>
                <a:r>
                  <a:rPr lang="zh-CN" altLang="zh-CN" sz="1800" dirty="0" smtClean="0"/>
                  <a:t>，</a:t>
                </a:r>
                <a:r>
                  <a:rPr lang="zh-CN" altLang="zh-CN" sz="1800" dirty="0"/>
                  <a:t>测试你生成的随机数；</a:t>
                </a:r>
              </a:p>
              <a:p>
                <a:pPr marL="342900" indent="-342900">
                  <a:buFont typeface="Wingdings" panose="05000000000000000000" pitchFamily="2" charset="2"/>
                  <a:buChar char="l"/>
                </a:pPr>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368" r="-22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605681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自学与课后练习：</a:t>
            </a:r>
            <a:r>
              <a:rPr lang="zh-CN" altLang="en-US" dirty="0" smtClean="0"/>
              <a:t>利用</a:t>
            </a:r>
            <a:r>
              <a:rPr lang="zh-CN" altLang="en-US" dirty="0"/>
              <a:t>线性</a:t>
            </a:r>
            <a:r>
              <a:rPr lang="zh-CN" altLang="zh-CN" dirty="0"/>
              <a:t>同余法</a:t>
            </a:r>
            <a:r>
              <a:rPr lang="zh-CN" altLang="en-US" dirty="0"/>
              <a:t>产生伪随机数</a:t>
            </a:r>
          </a:p>
        </p:txBody>
      </p:sp>
      <p:sp>
        <p:nvSpPr>
          <p:cNvPr id="3" name="内容占位符 2"/>
          <p:cNvSpPr>
            <a:spLocks noGrp="1"/>
          </p:cNvSpPr>
          <p:nvPr>
            <p:ph idx="1"/>
          </p:nvPr>
        </p:nvSpPr>
        <p:spPr>
          <a:xfrm>
            <a:off x="485775" y="1034395"/>
            <a:ext cx="8398452" cy="5345112"/>
          </a:xfrm>
        </p:spPr>
        <p:txBody>
          <a:bodyPr/>
          <a:lstStyle/>
          <a:p>
            <a:pPr marL="285750" lvl="1" indent="0">
              <a:lnSpc>
                <a:spcPct val="100000"/>
              </a:lnSpc>
              <a:buNone/>
            </a:pPr>
            <a:r>
              <a:rPr lang="en-US" altLang="zh-CN" sz="1600" dirty="0"/>
              <a:t>void RAND(unsigned seed, </a:t>
            </a:r>
            <a:r>
              <a:rPr lang="en-US" altLang="zh-CN" sz="1600" dirty="0" err="1"/>
              <a:t>int</a:t>
            </a:r>
            <a:r>
              <a:rPr lang="en-US" altLang="zh-CN" sz="1600" dirty="0"/>
              <a:t> n)</a:t>
            </a:r>
          </a:p>
          <a:p>
            <a:pPr marL="285750" lvl="1" indent="0">
              <a:lnSpc>
                <a:spcPct val="100000"/>
              </a:lnSpc>
              <a:buNone/>
            </a:pPr>
            <a:r>
              <a:rPr lang="en-US" altLang="zh-CN" sz="1600" dirty="0"/>
              <a:t>{</a:t>
            </a:r>
          </a:p>
          <a:p>
            <a:pPr marL="285750" lvl="1" indent="0">
              <a:lnSpc>
                <a:spcPct val="100000"/>
              </a:lnSpc>
              <a:buNone/>
            </a:pPr>
            <a:r>
              <a:rPr lang="en-US" altLang="zh-CN" sz="1600" dirty="0"/>
              <a:t> </a:t>
            </a:r>
            <a:r>
              <a:rPr lang="en-US" altLang="zh-CN" sz="1600" dirty="0" smtClean="0"/>
              <a:t>     </a:t>
            </a:r>
            <a:r>
              <a:rPr lang="en-US" altLang="zh-CN" sz="1600" dirty="0" err="1" smtClean="0"/>
              <a:t>int</a:t>
            </a:r>
            <a:r>
              <a:rPr lang="en-US" altLang="zh-CN" sz="1600" dirty="0" smtClean="0"/>
              <a:t> </a:t>
            </a:r>
            <a:r>
              <a:rPr lang="en-US" altLang="zh-CN" sz="1600" dirty="0"/>
              <a:t>a=1234567, b=7654321</a:t>
            </a:r>
            <a:r>
              <a:rPr lang="en-US" altLang="zh-CN" sz="1600" dirty="0" smtClean="0"/>
              <a:t>;</a:t>
            </a:r>
          </a:p>
          <a:p>
            <a:pPr marL="285750" lvl="1" indent="0">
              <a:lnSpc>
                <a:spcPct val="100000"/>
              </a:lnSpc>
              <a:buNone/>
            </a:pPr>
            <a:r>
              <a:rPr lang="en-US" altLang="zh-CN" sz="1600" dirty="0"/>
              <a:t> </a:t>
            </a:r>
            <a:r>
              <a:rPr lang="en-US" altLang="zh-CN" sz="1600" dirty="0" smtClean="0"/>
              <a:t>     </a:t>
            </a:r>
            <a:r>
              <a:rPr lang="en-US" altLang="zh-CN" sz="1600" dirty="0" err="1" smtClean="0"/>
              <a:t>int</a:t>
            </a:r>
            <a:r>
              <a:rPr lang="en-US" altLang="zh-CN" sz="1600" dirty="0" smtClean="0"/>
              <a:t> MOD=0x7FFF;</a:t>
            </a:r>
          </a:p>
          <a:p>
            <a:pPr marL="285750" lvl="1" indent="0">
              <a:lnSpc>
                <a:spcPct val="100000"/>
              </a:lnSpc>
              <a:buNone/>
            </a:pPr>
            <a:r>
              <a:rPr lang="en-US" altLang="zh-CN" sz="1600" dirty="0"/>
              <a:t> </a:t>
            </a:r>
            <a:r>
              <a:rPr lang="en-US" altLang="zh-CN" sz="1600" dirty="0" smtClean="0"/>
              <a:t>     </a:t>
            </a:r>
            <a:r>
              <a:rPr lang="en-US" altLang="zh-CN" sz="1600" dirty="0" err="1" smtClean="0"/>
              <a:t>int</a:t>
            </a:r>
            <a:r>
              <a:rPr lang="en-US" altLang="zh-CN" sz="1600" dirty="0" smtClean="0"/>
              <a:t> M=pow(2,31)-1;  //</a:t>
            </a:r>
            <a:r>
              <a:rPr lang="zh-CN" altLang="en-US" sz="1600" dirty="0" smtClean="0"/>
              <a:t>防止</a:t>
            </a:r>
            <a:r>
              <a:rPr lang="zh-CN" altLang="zh-CN" sz="1600" dirty="0"/>
              <a:t>伪随机数序列的</a:t>
            </a:r>
            <a:r>
              <a:rPr lang="zh-CN" altLang="zh-CN" sz="1600" dirty="0" smtClean="0"/>
              <a:t>周期</a:t>
            </a:r>
            <a:r>
              <a:rPr lang="zh-CN" altLang="en-US" sz="1600" dirty="0" smtClean="0"/>
              <a:t>太短</a:t>
            </a:r>
            <a:endParaRPr lang="en-US" altLang="zh-CN" sz="1600" dirty="0"/>
          </a:p>
          <a:p>
            <a:pPr marL="285750" lvl="1" indent="0">
              <a:lnSpc>
                <a:spcPct val="100000"/>
              </a:lnSpc>
              <a:buNone/>
            </a:pPr>
            <a:r>
              <a:rPr lang="en-US" altLang="zh-CN" sz="1600" dirty="0" smtClean="0">
                <a:solidFill>
                  <a:srgbClr val="006600"/>
                </a:solidFill>
              </a:rPr>
              <a:t>      long </a:t>
            </a:r>
            <a:r>
              <a:rPr lang="en-US" altLang="zh-CN" sz="1600" dirty="0" err="1" smtClean="0">
                <a:solidFill>
                  <a:srgbClr val="006600"/>
                </a:solidFill>
              </a:rPr>
              <a:t>long</a:t>
            </a:r>
            <a:r>
              <a:rPr lang="en-US" altLang="zh-CN" sz="1600" dirty="0" smtClean="0">
                <a:solidFill>
                  <a:srgbClr val="006600"/>
                </a:solidFill>
              </a:rPr>
              <a:t>  </a:t>
            </a:r>
            <a:r>
              <a:rPr lang="en-US" altLang="zh-CN" sz="1600" dirty="0">
                <a:solidFill>
                  <a:srgbClr val="006600"/>
                </a:solidFill>
              </a:rPr>
              <a:t>R</a:t>
            </a:r>
            <a:r>
              <a:rPr lang="en-US" altLang="zh-CN" sz="1600" dirty="0" smtClean="0">
                <a:solidFill>
                  <a:srgbClr val="006600"/>
                </a:solidFill>
              </a:rPr>
              <a:t>[n];    //</a:t>
            </a:r>
            <a:r>
              <a:rPr lang="zh-CN" altLang="en-US" sz="1600" dirty="0" smtClean="0">
                <a:solidFill>
                  <a:srgbClr val="006600"/>
                </a:solidFill>
              </a:rPr>
              <a:t>防止运算过程溢出</a:t>
            </a:r>
            <a:endParaRPr lang="en-US" altLang="zh-CN" sz="1600" dirty="0">
              <a:solidFill>
                <a:srgbClr val="006600"/>
              </a:solidFill>
            </a:endParaRPr>
          </a:p>
          <a:p>
            <a:pPr marL="285750" lvl="1" indent="0">
              <a:lnSpc>
                <a:spcPct val="100000"/>
              </a:lnSpc>
              <a:buNone/>
            </a:pPr>
            <a:r>
              <a:rPr lang="en-US" altLang="zh-CN" sz="1600" dirty="0"/>
              <a:t> </a:t>
            </a:r>
            <a:r>
              <a:rPr lang="en-US" altLang="zh-CN" sz="1600" dirty="0" smtClean="0"/>
              <a:t>     </a:t>
            </a:r>
            <a:r>
              <a:rPr lang="en-US" altLang="zh-CN" sz="1600" dirty="0">
                <a:solidFill>
                  <a:srgbClr val="0000CC"/>
                </a:solidFill>
              </a:rPr>
              <a:t>R</a:t>
            </a:r>
            <a:r>
              <a:rPr lang="en-US" altLang="zh-CN" sz="1600" dirty="0" smtClean="0">
                <a:solidFill>
                  <a:srgbClr val="0000CC"/>
                </a:solidFill>
              </a:rPr>
              <a:t>[0</a:t>
            </a:r>
            <a:r>
              <a:rPr lang="en-US" altLang="zh-CN" sz="1600" dirty="0">
                <a:solidFill>
                  <a:srgbClr val="0000CC"/>
                </a:solidFill>
              </a:rPr>
              <a:t>]=</a:t>
            </a:r>
            <a:r>
              <a:rPr lang="en-US" altLang="zh-CN" sz="1600" dirty="0" err="1">
                <a:solidFill>
                  <a:srgbClr val="0000CC"/>
                </a:solidFill>
              </a:rPr>
              <a:t>seed%M</a:t>
            </a:r>
            <a:r>
              <a:rPr lang="en-US" altLang="zh-CN" sz="1600" dirty="0">
                <a:solidFill>
                  <a:srgbClr val="0000CC"/>
                </a:solidFill>
              </a:rPr>
              <a:t>;   </a:t>
            </a:r>
            <a:r>
              <a:rPr lang="en-US" altLang="zh-CN" sz="1600" dirty="0"/>
              <a:t>//</a:t>
            </a:r>
            <a:r>
              <a:rPr lang="zh-CN" altLang="en-US" sz="1600" dirty="0"/>
              <a:t>如果利用当前时间作为种子，可能溢出，故取余；</a:t>
            </a:r>
            <a:endParaRPr lang="en-US" altLang="zh-CN" sz="1600" dirty="0"/>
          </a:p>
          <a:p>
            <a:pPr marL="285750" lvl="1" indent="0">
              <a:lnSpc>
                <a:spcPct val="100000"/>
              </a:lnSpc>
              <a:buNone/>
            </a:pPr>
            <a:r>
              <a:rPr lang="en-US" altLang="zh-CN" sz="1600" dirty="0"/>
              <a:t> </a:t>
            </a:r>
            <a:r>
              <a:rPr lang="en-US" altLang="zh-CN" sz="1600" dirty="0" smtClean="0"/>
              <a:t>     for </a:t>
            </a:r>
            <a:r>
              <a:rPr lang="en-US" altLang="zh-CN" sz="1600" dirty="0"/>
              <a:t>(</a:t>
            </a:r>
            <a:r>
              <a:rPr lang="en-US" altLang="zh-CN" sz="1600" dirty="0" err="1"/>
              <a:t>int</a:t>
            </a:r>
            <a:r>
              <a:rPr lang="en-US" altLang="zh-CN" sz="1600" dirty="0"/>
              <a:t> </a:t>
            </a:r>
            <a:r>
              <a:rPr lang="en-US" altLang="zh-CN" sz="1600" dirty="0" err="1" smtClean="0"/>
              <a:t>i</a:t>
            </a:r>
            <a:r>
              <a:rPr lang="en-US" altLang="zh-CN" sz="1600" dirty="0" smtClean="0"/>
              <a:t>=1;i&lt;</a:t>
            </a:r>
            <a:r>
              <a:rPr lang="en-US" altLang="zh-CN" sz="1600" dirty="0" err="1" smtClean="0"/>
              <a:t>n;i</a:t>
            </a:r>
            <a:r>
              <a:rPr lang="en-US" altLang="zh-CN" sz="1600" dirty="0"/>
              <a:t>++)  ////</a:t>
            </a:r>
            <a:r>
              <a:rPr lang="zh-CN" altLang="en-US" sz="1600" dirty="0"/>
              <a:t>防止</a:t>
            </a:r>
            <a:r>
              <a:rPr lang="zh-CN" altLang="zh-CN" sz="1600" dirty="0"/>
              <a:t>伪随机数序列的周期</a:t>
            </a:r>
            <a:r>
              <a:rPr lang="zh-CN" altLang="en-US" sz="1600" dirty="0"/>
              <a:t>太</a:t>
            </a:r>
            <a:r>
              <a:rPr lang="zh-CN" altLang="en-US" sz="1600" dirty="0" smtClean="0"/>
              <a:t>短</a:t>
            </a:r>
            <a:endParaRPr lang="en-US" altLang="zh-CN" sz="1600" dirty="0"/>
          </a:p>
          <a:p>
            <a:pPr marL="285750" lvl="1" indent="0">
              <a:lnSpc>
                <a:spcPct val="100000"/>
              </a:lnSpc>
              <a:buNone/>
            </a:pPr>
            <a:r>
              <a:rPr lang="en-US" altLang="zh-CN" sz="1600" dirty="0"/>
              <a:t>      </a:t>
            </a:r>
            <a:r>
              <a:rPr lang="en-US" altLang="zh-CN" sz="1600" dirty="0" smtClean="0"/>
              <a:t>    </a:t>
            </a:r>
            <a:r>
              <a:rPr lang="en-US" altLang="zh-CN" sz="1600" b="1" dirty="0">
                <a:solidFill>
                  <a:srgbClr val="FF0000"/>
                </a:solidFill>
              </a:rPr>
              <a:t>R[</a:t>
            </a:r>
            <a:r>
              <a:rPr lang="en-US" altLang="zh-CN" sz="1600" b="1" dirty="0" err="1">
                <a:solidFill>
                  <a:srgbClr val="FF0000"/>
                </a:solidFill>
              </a:rPr>
              <a:t>i</a:t>
            </a:r>
            <a:r>
              <a:rPr lang="en-US" altLang="zh-CN" sz="1600" b="1" dirty="0" smtClean="0">
                <a:solidFill>
                  <a:srgbClr val="FF0000"/>
                </a:solidFill>
              </a:rPr>
              <a:t>]=(a </a:t>
            </a:r>
            <a:r>
              <a:rPr lang="en-US" altLang="zh-CN" sz="1600" b="1" dirty="0">
                <a:solidFill>
                  <a:srgbClr val="FF0000"/>
                </a:solidFill>
              </a:rPr>
              <a:t>* R[i-1] + </a:t>
            </a:r>
            <a:r>
              <a:rPr lang="en-US" altLang="zh-CN" sz="1600" b="1" dirty="0" smtClean="0">
                <a:solidFill>
                  <a:srgbClr val="FF0000"/>
                </a:solidFill>
              </a:rPr>
              <a:t>b)%M;</a:t>
            </a:r>
            <a:endParaRPr lang="en-US" altLang="zh-CN" sz="1600" b="1" dirty="0">
              <a:solidFill>
                <a:srgbClr val="FF0000"/>
              </a:solidFill>
            </a:endParaRPr>
          </a:p>
          <a:p>
            <a:pPr marL="285750" lvl="1" indent="0">
              <a:lnSpc>
                <a:spcPct val="100000"/>
              </a:lnSpc>
              <a:buNone/>
            </a:pPr>
            <a:r>
              <a:rPr lang="en-US" altLang="zh-CN" sz="1600" dirty="0"/>
              <a:t>	</a:t>
            </a:r>
            <a:r>
              <a:rPr lang="en-US" altLang="zh-CN" sz="1600" b="1" dirty="0" smtClean="0">
                <a:solidFill>
                  <a:srgbClr val="0000CC"/>
                </a:solidFill>
              </a:rPr>
              <a:t> </a:t>
            </a:r>
            <a:r>
              <a:rPr lang="en-US" altLang="zh-CN" sz="1600" dirty="0"/>
              <a:t>	    </a:t>
            </a:r>
          </a:p>
          <a:p>
            <a:pPr marL="285750" lvl="1" indent="0">
              <a:lnSpc>
                <a:spcPct val="100000"/>
              </a:lnSpc>
              <a:buNone/>
            </a:pPr>
            <a:r>
              <a:rPr lang="en-US" altLang="zh-CN" sz="1600" dirty="0"/>
              <a:t> </a:t>
            </a:r>
            <a:r>
              <a:rPr lang="en-US" altLang="zh-CN" sz="1600" dirty="0" smtClean="0"/>
              <a:t>     for </a:t>
            </a:r>
            <a:r>
              <a:rPr lang="en-US" altLang="zh-CN" sz="1600" dirty="0"/>
              <a:t>(</a:t>
            </a:r>
            <a:r>
              <a:rPr lang="en-US" altLang="zh-CN" sz="1600" dirty="0" err="1"/>
              <a:t>int</a:t>
            </a:r>
            <a:r>
              <a:rPr lang="en-US" altLang="zh-CN" sz="1600" dirty="0"/>
              <a:t> </a:t>
            </a:r>
            <a:r>
              <a:rPr lang="en-US" altLang="zh-CN" sz="1600" dirty="0" err="1"/>
              <a:t>i</a:t>
            </a:r>
            <a:r>
              <a:rPr lang="en-US" altLang="zh-CN" sz="1600" dirty="0"/>
              <a:t>=0;i&lt;</a:t>
            </a:r>
            <a:r>
              <a:rPr lang="en-US" altLang="zh-CN" sz="1600" dirty="0" err="1"/>
              <a:t>n;i</a:t>
            </a:r>
            <a:r>
              <a:rPr lang="en-US" altLang="zh-CN" sz="1600" dirty="0"/>
              <a:t>++)</a:t>
            </a:r>
          </a:p>
          <a:p>
            <a:pPr marL="285750" lvl="1" indent="0">
              <a:lnSpc>
                <a:spcPct val="100000"/>
              </a:lnSpc>
              <a:buNone/>
            </a:pPr>
            <a:r>
              <a:rPr lang="en-US" altLang="zh-CN" sz="1600" dirty="0"/>
              <a:t>      </a:t>
            </a:r>
            <a:r>
              <a:rPr lang="en-US" altLang="zh-CN" sz="1600" dirty="0" smtClean="0"/>
              <a:t>      </a:t>
            </a:r>
            <a:r>
              <a:rPr lang="en-US" altLang="zh-CN" sz="1600" dirty="0" err="1"/>
              <a:t>printf</a:t>
            </a:r>
            <a:r>
              <a:rPr lang="en-US" altLang="zh-CN" sz="1600" dirty="0" smtClean="0"/>
              <a:t>(“%</a:t>
            </a:r>
            <a:r>
              <a:rPr lang="en-US" altLang="zh-CN" sz="1600" dirty="0"/>
              <a:t>d </a:t>
            </a:r>
            <a:r>
              <a:rPr lang="en-US" altLang="zh-CN" sz="1600" dirty="0" smtClean="0"/>
              <a:t>”,R[</a:t>
            </a:r>
            <a:r>
              <a:rPr lang="en-US" altLang="zh-CN" sz="1600" dirty="0" err="1" smtClean="0"/>
              <a:t>i</a:t>
            </a:r>
            <a:r>
              <a:rPr lang="en-US" altLang="zh-CN" sz="1600" dirty="0" smtClean="0"/>
              <a:t>]%MOD);  //</a:t>
            </a:r>
            <a:r>
              <a:rPr lang="zh-CN" altLang="en-US" sz="1600" dirty="0" smtClean="0"/>
              <a:t>限定随机数范围：</a:t>
            </a:r>
            <a:r>
              <a:rPr lang="en-US" altLang="zh-CN" sz="1600" dirty="0" smtClean="0"/>
              <a:t>0~0x7FFF</a:t>
            </a:r>
            <a:endParaRPr lang="en-US" altLang="zh-CN" sz="1600" dirty="0"/>
          </a:p>
          <a:p>
            <a:pPr marL="285750" lvl="1" indent="0">
              <a:lnSpc>
                <a:spcPct val="100000"/>
              </a:lnSpc>
              <a:buNone/>
            </a:pPr>
            <a:r>
              <a:rPr lang="en-US" altLang="zh-CN" sz="1600" dirty="0"/>
              <a:t>	</a:t>
            </a:r>
            <a:r>
              <a:rPr lang="en-US" altLang="zh-CN" sz="1600" dirty="0" smtClean="0"/>
              <a:t>   </a:t>
            </a:r>
            <a:r>
              <a:rPr lang="en-US" altLang="zh-CN" sz="1600" dirty="0"/>
              <a:t>//</a:t>
            </a:r>
            <a:r>
              <a:rPr lang="en-US" altLang="zh-CN" sz="1600" dirty="0" err="1"/>
              <a:t>printf</a:t>
            </a:r>
            <a:r>
              <a:rPr lang="en-US" altLang="zh-CN" sz="1600" dirty="0"/>
              <a:t>("%d </a:t>
            </a:r>
            <a:r>
              <a:rPr lang="en-US" altLang="zh-CN" sz="1600" dirty="0" smtClean="0"/>
              <a:t>",R[</a:t>
            </a:r>
            <a:r>
              <a:rPr lang="en-US" altLang="zh-CN" sz="1600" dirty="0" err="1" smtClean="0"/>
              <a:t>i</a:t>
            </a:r>
            <a:r>
              <a:rPr lang="en-US" altLang="zh-CN" sz="1600" dirty="0"/>
              <a:t>]%100</a:t>
            </a:r>
            <a:r>
              <a:rPr lang="en-US" altLang="zh-CN" sz="1600" dirty="0" smtClean="0"/>
              <a:t>);</a:t>
            </a:r>
            <a:endParaRPr lang="en-US" altLang="zh-CN" sz="1600" dirty="0"/>
          </a:p>
          <a:p>
            <a:pPr marL="285750" lvl="1" indent="0">
              <a:lnSpc>
                <a:spcPct val="100000"/>
              </a:lnSpc>
              <a:buNone/>
            </a:pPr>
            <a:r>
              <a:rPr lang="en-US" altLang="zh-CN" sz="1600" dirty="0"/>
              <a:t>}</a:t>
            </a:r>
          </a:p>
          <a:p>
            <a:pPr marL="285750" lvl="1" indent="0">
              <a:lnSpc>
                <a:spcPct val="100000"/>
              </a:lnSpc>
              <a:buNone/>
            </a:pPr>
            <a:r>
              <a:rPr lang="en-US" altLang="zh-CN" sz="1600" dirty="0"/>
              <a:t>//</a:t>
            </a:r>
            <a:r>
              <a:rPr lang="zh-CN" altLang="en-US" sz="1600" dirty="0"/>
              <a:t>调用例：</a:t>
            </a:r>
            <a:r>
              <a:rPr lang="en-US" altLang="zh-CN" sz="1600" dirty="0"/>
              <a:t>RAND(1)</a:t>
            </a:r>
            <a:r>
              <a:rPr lang="zh-CN" altLang="en-US" sz="1600" dirty="0"/>
              <a:t>，</a:t>
            </a:r>
            <a:r>
              <a:rPr lang="en-US" altLang="zh-CN" sz="1600" dirty="0"/>
              <a:t> RAND(8)</a:t>
            </a:r>
            <a:r>
              <a:rPr lang="zh-CN" altLang="en-US" sz="1600" dirty="0"/>
              <a:t>，</a:t>
            </a:r>
            <a:r>
              <a:rPr lang="en-US" altLang="zh-CN" sz="1600" dirty="0"/>
              <a:t> RAND((unsigned)time(NULL));</a:t>
            </a:r>
          </a:p>
          <a:p>
            <a:pPr marL="285750" lvl="1" indent="0">
              <a:lnSpc>
                <a:spcPct val="100000"/>
              </a:lnSpc>
              <a:buNone/>
            </a:pPr>
            <a:r>
              <a:rPr lang="en-US" altLang="zh-CN" sz="1600" dirty="0">
                <a:solidFill>
                  <a:srgbClr val="030DCD"/>
                </a:solidFill>
              </a:rPr>
              <a:t>//</a:t>
            </a:r>
            <a:r>
              <a:rPr lang="zh-CN" altLang="en-US" sz="1600" dirty="0">
                <a:solidFill>
                  <a:srgbClr val="030DCD"/>
                </a:solidFill>
              </a:rPr>
              <a:t>思考</a:t>
            </a:r>
            <a:r>
              <a:rPr lang="zh-CN" altLang="en-US" sz="1600" dirty="0" smtClean="0">
                <a:solidFill>
                  <a:srgbClr val="030DCD"/>
                </a:solidFill>
              </a:rPr>
              <a:t>：按照上述方法，每次</a:t>
            </a:r>
            <a:r>
              <a:rPr lang="zh-CN" altLang="en-US" sz="1600" dirty="0">
                <a:solidFill>
                  <a:srgbClr val="030DCD"/>
                </a:solidFill>
              </a:rPr>
              <a:t>调用</a:t>
            </a:r>
            <a:r>
              <a:rPr lang="en-US" altLang="zh-CN" sz="1600" dirty="0">
                <a:solidFill>
                  <a:srgbClr val="030DCD"/>
                </a:solidFill>
              </a:rPr>
              <a:t>RAND</a:t>
            </a:r>
            <a:r>
              <a:rPr lang="zh-CN" altLang="en-US" sz="1600" dirty="0">
                <a:solidFill>
                  <a:srgbClr val="030DCD"/>
                </a:solidFill>
              </a:rPr>
              <a:t>函数，会依次产生</a:t>
            </a:r>
            <a:r>
              <a:rPr lang="en-US" altLang="zh-CN" sz="1600" dirty="0">
                <a:solidFill>
                  <a:srgbClr val="030DCD"/>
                </a:solidFill>
              </a:rPr>
              <a:t>n</a:t>
            </a:r>
            <a:r>
              <a:rPr lang="zh-CN" altLang="en-US" sz="1600" dirty="0">
                <a:solidFill>
                  <a:srgbClr val="030DCD"/>
                </a:solidFill>
              </a:rPr>
              <a:t>个随机数</a:t>
            </a:r>
            <a:r>
              <a:rPr lang="zh-CN" altLang="en-US" sz="1600" dirty="0" smtClean="0">
                <a:solidFill>
                  <a:srgbClr val="030DCD"/>
                </a:solidFill>
              </a:rPr>
              <a:t>；</a:t>
            </a:r>
            <a:endParaRPr lang="en-US" altLang="zh-CN" sz="1600" dirty="0" smtClean="0">
              <a:solidFill>
                <a:srgbClr val="030DCD"/>
              </a:solidFill>
            </a:endParaRPr>
          </a:p>
          <a:p>
            <a:pPr marL="285750" lvl="1" indent="0">
              <a:lnSpc>
                <a:spcPct val="100000"/>
              </a:lnSpc>
              <a:buNone/>
            </a:pPr>
            <a:r>
              <a:rPr lang="en-US" altLang="zh-CN" sz="1600" dirty="0" smtClean="0">
                <a:solidFill>
                  <a:srgbClr val="030DCD"/>
                </a:solidFill>
              </a:rPr>
              <a:t>//            </a:t>
            </a:r>
            <a:r>
              <a:rPr lang="zh-CN" altLang="en-US" sz="1600" dirty="0" smtClean="0">
                <a:solidFill>
                  <a:srgbClr val="030DCD"/>
                </a:solidFill>
              </a:rPr>
              <a:t>而</a:t>
            </a:r>
            <a:r>
              <a:rPr lang="zh-CN" altLang="en-US" sz="1600" dirty="0">
                <a:solidFill>
                  <a:srgbClr val="030DCD"/>
                </a:solidFill>
              </a:rPr>
              <a:t>每次调用</a:t>
            </a:r>
            <a:r>
              <a:rPr lang="en-US" altLang="zh-CN" sz="1600" dirty="0">
                <a:solidFill>
                  <a:srgbClr val="030DCD"/>
                </a:solidFill>
              </a:rPr>
              <a:t>C</a:t>
            </a:r>
            <a:r>
              <a:rPr lang="zh-CN" altLang="en-US" sz="1600" dirty="0">
                <a:solidFill>
                  <a:srgbClr val="030DCD"/>
                </a:solidFill>
              </a:rPr>
              <a:t>函数</a:t>
            </a:r>
            <a:r>
              <a:rPr lang="en-US" altLang="zh-CN" sz="1600" dirty="0">
                <a:solidFill>
                  <a:srgbClr val="030DCD"/>
                </a:solidFill>
              </a:rPr>
              <a:t>rand()</a:t>
            </a:r>
            <a:r>
              <a:rPr lang="zh-CN" altLang="en-US" sz="1600" dirty="0" smtClean="0">
                <a:solidFill>
                  <a:srgbClr val="030DCD"/>
                </a:solidFill>
              </a:rPr>
              <a:t>，只产生</a:t>
            </a:r>
            <a:r>
              <a:rPr lang="zh-CN" altLang="en-US" sz="1600" dirty="0">
                <a:solidFill>
                  <a:srgbClr val="030DCD"/>
                </a:solidFill>
              </a:rPr>
              <a:t>一个随机数</a:t>
            </a:r>
            <a:r>
              <a:rPr lang="zh-CN" altLang="en-US" sz="1600" dirty="0" smtClean="0">
                <a:solidFill>
                  <a:srgbClr val="030DCD"/>
                </a:solidFill>
              </a:rPr>
              <a:t>；</a:t>
            </a:r>
            <a:endParaRPr lang="en-US" altLang="zh-CN" sz="1600" dirty="0" smtClean="0">
              <a:solidFill>
                <a:srgbClr val="030DCD"/>
              </a:solidFill>
            </a:endParaRPr>
          </a:p>
          <a:p>
            <a:pPr marL="285750" lvl="1" indent="0">
              <a:lnSpc>
                <a:spcPct val="100000"/>
              </a:lnSpc>
              <a:buNone/>
            </a:pPr>
            <a:r>
              <a:rPr lang="en-US" altLang="zh-CN" sz="1600" dirty="0" smtClean="0">
                <a:solidFill>
                  <a:srgbClr val="030DCD"/>
                </a:solidFill>
              </a:rPr>
              <a:t>//             </a:t>
            </a:r>
            <a:r>
              <a:rPr lang="zh-CN" altLang="en-US" sz="1600" dirty="0" smtClean="0">
                <a:solidFill>
                  <a:srgbClr val="C00000"/>
                </a:solidFill>
              </a:rPr>
              <a:t>但</a:t>
            </a:r>
            <a:r>
              <a:rPr lang="zh-CN" altLang="en-US" sz="1600" dirty="0">
                <a:solidFill>
                  <a:srgbClr val="C00000"/>
                </a:solidFill>
              </a:rPr>
              <a:t>连续调用，会产生不同的随机数。</a:t>
            </a:r>
            <a:r>
              <a:rPr lang="en-US" altLang="zh-CN" sz="1600" dirty="0">
                <a:solidFill>
                  <a:srgbClr val="C00000"/>
                </a:solidFill>
              </a:rPr>
              <a:t>HOW</a:t>
            </a:r>
            <a:r>
              <a:rPr lang="zh-CN" altLang="en-US" sz="1600" dirty="0">
                <a:solidFill>
                  <a:srgbClr val="C00000"/>
                </a:solidFill>
              </a:rPr>
              <a:t>？</a:t>
            </a:r>
          </a:p>
        </p:txBody>
      </p:sp>
    </p:spTree>
    <p:extLst>
      <p:ext uri="{BB962C8B-B14F-4D97-AF65-F5344CB8AC3E}">
        <p14:creationId xmlns:p14="http://schemas.microsoft.com/office/powerpoint/2010/main" val="3119722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2EA57-A7A6-448A-9C40-3CF430054DC9}"/>
              </a:ext>
            </a:extLst>
          </p:cNvPr>
          <p:cNvSpPr>
            <a:spLocks noGrp="1"/>
          </p:cNvSpPr>
          <p:nvPr>
            <p:ph type="title"/>
          </p:nvPr>
        </p:nvSpPr>
        <p:spPr/>
        <p:txBody>
          <a:bodyPr/>
          <a:lstStyle/>
          <a:p>
            <a:r>
              <a:rPr lang="zh-CN" altLang="en-US" dirty="0"/>
              <a:t>迭代</a:t>
            </a:r>
          </a:p>
        </p:txBody>
      </p:sp>
      <p:sp>
        <p:nvSpPr>
          <p:cNvPr id="3" name="内容占位符 2">
            <a:extLst>
              <a:ext uri="{FF2B5EF4-FFF2-40B4-BE49-F238E27FC236}">
                <a16:creationId xmlns:a16="http://schemas.microsoft.com/office/drawing/2014/main" id="{52C5264D-871A-43F9-8920-9BC1AAAC5C6F}"/>
              </a:ext>
            </a:extLst>
          </p:cNvPr>
          <p:cNvSpPr>
            <a:spLocks noGrp="1"/>
          </p:cNvSpPr>
          <p:nvPr>
            <p:ph idx="1"/>
          </p:nvPr>
        </p:nvSpPr>
        <p:spPr/>
        <p:txBody>
          <a:bodyPr/>
          <a:lstStyle/>
          <a:p>
            <a:pPr marL="342900" indent="-342900">
              <a:buFont typeface="Wingdings" panose="05000000000000000000" pitchFamily="2" charset="2"/>
              <a:buChar char="l"/>
            </a:pPr>
            <a:r>
              <a:rPr lang="zh-CN" altLang="en-US" sz="2000" dirty="0"/>
              <a:t>迭代是</a:t>
            </a:r>
            <a:r>
              <a:rPr lang="zh-CN" altLang="en-US" sz="2000" dirty="0">
                <a:solidFill>
                  <a:srgbClr val="C00000"/>
                </a:solidFill>
              </a:rPr>
              <a:t>重复反馈过程</a:t>
            </a:r>
            <a:r>
              <a:rPr lang="zh-CN" altLang="en-US" sz="2000" dirty="0"/>
              <a:t>的活动，通常是为了逼近所期望的目标或结果；</a:t>
            </a:r>
            <a:endParaRPr lang="en-US" altLang="zh-CN" sz="2000" dirty="0"/>
          </a:p>
          <a:p>
            <a:pPr marL="342900" indent="-342900">
              <a:buFont typeface="Wingdings" panose="05000000000000000000" pitchFamily="2" charset="2"/>
              <a:buChar char="l"/>
            </a:pPr>
            <a:r>
              <a:rPr lang="zh-CN" altLang="en-US" sz="2000" dirty="0"/>
              <a:t>每一次对过程的重复称为一次“迭代”；</a:t>
            </a:r>
            <a:endParaRPr lang="en-US" altLang="zh-CN" sz="2000" dirty="0"/>
          </a:p>
          <a:p>
            <a:pPr marL="342900" indent="-342900">
              <a:buFont typeface="Wingdings" panose="05000000000000000000" pitchFamily="2" charset="2"/>
              <a:buChar char="l"/>
            </a:pPr>
            <a:r>
              <a:rPr lang="zh-CN" altLang="en-US" sz="2000" dirty="0"/>
              <a:t>每一次迭代得到的结果作为下一次迭代的初始值；</a:t>
            </a:r>
            <a:endParaRPr lang="en-US" altLang="zh-CN" sz="2000" dirty="0"/>
          </a:p>
          <a:p>
            <a:pPr marL="342900" indent="-342900">
              <a:buFont typeface="Wingdings" panose="05000000000000000000" pitchFamily="2" charset="2"/>
              <a:buChar char="l"/>
            </a:pPr>
            <a:r>
              <a:rPr lang="zh-CN" altLang="en-US" sz="2000" dirty="0"/>
              <a:t>编程实现迭代</a:t>
            </a:r>
            <a:endParaRPr lang="en-US" altLang="zh-CN" sz="2000" dirty="0"/>
          </a:p>
          <a:p>
            <a:pPr marL="971550" lvl="1"/>
            <a:r>
              <a:rPr lang="zh-CN" altLang="en-US" sz="1800" dirty="0"/>
              <a:t>对变量赋予一个初始值；</a:t>
            </a:r>
            <a:endParaRPr lang="en-US" altLang="zh-CN" sz="1800" dirty="0"/>
          </a:p>
          <a:p>
            <a:pPr marL="971550" lvl="1"/>
            <a:r>
              <a:rPr lang="zh-CN" altLang="en-US" sz="1800" dirty="0"/>
              <a:t>利用变量的当前值推出变量的一个新值，作为下一次迭代的初始值；</a:t>
            </a:r>
            <a:endParaRPr lang="en-US" altLang="zh-CN" sz="1800" dirty="0"/>
          </a:p>
          <a:p>
            <a:pPr marL="971550" lvl="1"/>
            <a:r>
              <a:rPr lang="zh-CN" altLang="en-US" sz="1800" dirty="0"/>
              <a:t>直到满足迭代的结束条件为止。</a:t>
            </a:r>
            <a:endParaRPr lang="en-US" altLang="zh-CN" sz="18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284742333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2EA57-A7A6-448A-9C40-3CF430054DC9}"/>
              </a:ext>
            </a:extLst>
          </p:cNvPr>
          <p:cNvSpPr>
            <a:spLocks noGrp="1"/>
          </p:cNvSpPr>
          <p:nvPr>
            <p:ph type="title"/>
          </p:nvPr>
        </p:nvSpPr>
        <p:spPr/>
        <p:txBody>
          <a:bodyPr/>
          <a:lstStyle/>
          <a:p>
            <a:r>
              <a:rPr lang="zh-CN" altLang="en-US" dirty="0">
                <a:solidFill>
                  <a:srgbClr val="7030A0"/>
                </a:solidFill>
              </a:rPr>
              <a:t>课后练习：</a:t>
            </a:r>
            <a:r>
              <a:rPr lang="zh-CN" altLang="en-US" dirty="0" smtClean="0"/>
              <a:t>迭代</a:t>
            </a:r>
            <a:r>
              <a:rPr lang="en-US" altLang="zh-CN" dirty="0"/>
              <a:t>—</a:t>
            </a:r>
            <a:r>
              <a:rPr lang="zh-CN" altLang="en-US" dirty="0">
                <a:solidFill>
                  <a:srgbClr val="006600"/>
                </a:solidFill>
              </a:rPr>
              <a:t>计算</a:t>
            </a:r>
            <a:r>
              <a:rPr lang="en-US" altLang="zh-CN" dirty="0">
                <a:solidFill>
                  <a:srgbClr val="006600"/>
                </a:solidFill>
              </a:rPr>
              <a:t>Fibonacci sequence</a:t>
            </a:r>
            <a:endParaRPr lang="zh-CN" altLang="en-US" dirty="0">
              <a:solidFill>
                <a:srgbClr val="006600"/>
              </a:solidFill>
            </a:endParaRPr>
          </a:p>
        </p:txBody>
      </p:sp>
      <p:sp>
        <p:nvSpPr>
          <p:cNvPr id="3" name="内容占位符 2">
            <a:extLst>
              <a:ext uri="{FF2B5EF4-FFF2-40B4-BE49-F238E27FC236}">
                <a16:creationId xmlns:a16="http://schemas.microsoft.com/office/drawing/2014/main" id="{52C5264D-871A-43F9-8920-9BC1AAAC5C6F}"/>
              </a:ext>
            </a:extLst>
          </p:cNvPr>
          <p:cNvSpPr>
            <a:spLocks noGrp="1"/>
          </p:cNvSpPr>
          <p:nvPr>
            <p:ph idx="1"/>
          </p:nvPr>
        </p:nvSpPr>
        <p:spPr>
          <a:xfrm>
            <a:off x="4671881" y="1067951"/>
            <a:ext cx="3641609" cy="5345112"/>
          </a:xfrm>
          <a:ln>
            <a:solidFill>
              <a:srgbClr val="000000"/>
            </a:solidFill>
          </a:ln>
        </p:spPr>
        <p:txBody>
          <a:bodyPr/>
          <a:lstStyle/>
          <a:p>
            <a:pPr>
              <a:lnSpc>
                <a:spcPct val="100000"/>
              </a:lnSpc>
              <a:spcBef>
                <a:spcPts val="0"/>
              </a:spcBef>
              <a:buNone/>
            </a:pPr>
            <a:r>
              <a:rPr lang="en-US" altLang="zh-CN" sz="1800" dirty="0">
                <a:solidFill>
                  <a:srgbClr val="000000"/>
                </a:solidFill>
              </a:rPr>
              <a:t>#include &lt;</a:t>
            </a:r>
            <a:r>
              <a:rPr lang="en-US" altLang="zh-CN" sz="1800" dirty="0" err="1">
                <a:solidFill>
                  <a:srgbClr val="000000"/>
                </a:solidFill>
              </a:rPr>
              <a:t>stdio.h</a:t>
            </a:r>
            <a:r>
              <a:rPr lang="en-US" altLang="zh-CN" sz="1800" dirty="0">
                <a:solidFill>
                  <a:srgbClr val="000000"/>
                </a:solidFill>
              </a:rPr>
              <a:t>&gt;</a:t>
            </a:r>
          </a:p>
          <a:p>
            <a:pPr>
              <a:lnSpc>
                <a:spcPct val="100000"/>
              </a:lnSpc>
              <a:spcBef>
                <a:spcPts val="0"/>
              </a:spcBef>
              <a:buNone/>
            </a:pPr>
            <a:r>
              <a:rPr lang="en-US" altLang="zh-CN" sz="1800" dirty="0">
                <a:solidFill>
                  <a:srgbClr val="000000"/>
                </a:solidFill>
              </a:rPr>
              <a:t>int main()</a:t>
            </a:r>
          </a:p>
          <a:p>
            <a:pPr>
              <a:lnSpc>
                <a:spcPct val="100000"/>
              </a:lnSpc>
              <a:spcBef>
                <a:spcPts val="0"/>
              </a:spcBef>
              <a:buNone/>
            </a:pPr>
            <a:r>
              <a:rPr lang="en-US" altLang="zh-CN" sz="1800" dirty="0">
                <a:solidFill>
                  <a:srgbClr val="000000"/>
                </a:solidFill>
              </a:rPr>
              <a:t>{</a:t>
            </a:r>
          </a:p>
          <a:p>
            <a:pPr>
              <a:lnSpc>
                <a:spcPct val="100000"/>
              </a:lnSpc>
              <a:spcBef>
                <a:spcPts val="0"/>
              </a:spcBef>
              <a:buNone/>
            </a:pPr>
            <a:r>
              <a:rPr lang="en-US" altLang="zh-CN" sz="1800" dirty="0">
                <a:solidFill>
                  <a:srgbClr val="000000"/>
                </a:solidFill>
              </a:rPr>
              <a:t>        </a:t>
            </a:r>
            <a:r>
              <a:rPr lang="en-US" altLang="zh-CN" sz="1800" dirty="0" err="1">
                <a:solidFill>
                  <a:srgbClr val="000000"/>
                </a:solidFill>
              </a:rPr>
              <a:t>scanf</a:t>
            </a:r>
            <a:r>
              <a:rPr lang="en-US" altLang="zh-CN" sz="1800" dirty="0">
                <a:solidFill>
                  <a:srgbClr val="000000"/>
                </a:solidFill>
              </a:rPr>
              <a:t>("%</a:t>
            </a:r>
            <a:r>
              <a:rPr lang="en-US" altLang="zh-CN" sz="1800" dirty="0" err="1">
                <a:solidFill>
                  <a:srgbClr val="000000"/>
                </a:solidFill>
              </a:rPr>
              <a:t>d",&amp;n</a:t>
            </a:r>
            <a:r>
              <a:rPr lang="en-US" altLang="zh-CN" sz="1800" dirty="0">
                <a:solidFill>
                  <a:srgbClr val="000000"/>
                </a:solidFill>
              </a:rPr>
              <a:t>);</a:t>
            </a:r>
          </a:p>
          <a:p>
            <a:pPr>
              <a:lnSpc>
                <a:spcPct val="100000"/>
              </a:lnSpc>
              <a:spcBef>
                <a:spcPts val="0"/>
              </a:spcBef>
              <a:buNone/>
            </a:pPr>
            <a:r>
              <a:rPr lang="en-US" altLang="zh-CN" sz="1800" dirty="0">
                <a:solidFill>
                  <a:srgbClr val="000000"/>
                </a:solidFill>
              </a:rPr>
              <a:t>        unsigned long </a:t>
            </a:r>
            <a:r>
              <a:rPr lang="en-US" altLang="zh-CN" sz="1800" dirty="0" err="1">
                <a:solidFill>
                  <a:srgbClr val="000000"/>
                </a:solidFill>
              </a:rPr>
              <a:t>long</a:t>
            </a:r>
            <a:r>
              <a:rPr lang="en-US" altLang="zh-CN" sz="1800" dirty="0">
                <a:solidFill>
                  <a:srgbClr val="000000"/>
                </a:solidFill>
              </a:rPr>
              <a:t> </a:t>
            </a:r>
            <a:r>
              <a:rPr lang="en-US" altLang="zh-CN" sz="1800" dirty="0" err="1">
                <a:solidFill>
                  <a:srgbClr val="0303DF"/>
                </a:solidFill>
              </a:rPr>
              <a:t>a,b</a:t>
            </a:r>
            <a:r>
              <a:rPr lang="en-US" altLang="zh-CN" sz="1800" dirty="0">
                <a:solidFill>
                  <a:srgbClr val="000000"/>
                </a:solidFill>
              </a:rPr>
              <a:t>;</a:t>
            </a:r>
          </a:p>
          <a:p>
            <a:pPr>
              <a:lnSpc>
                <a:spcPct val="100000"/>
              </a:lnSpc>
              <a:spcBef>
                <a:spcPts val="0"/>
              </a:spcBef>
              <a:buNone/>
            </a:pPr>
            <a:r>
              <a:rPr lang="en-US" altLang="zh-CN" sz="1800" dirty="0">
                <a:solidFill>
                  <a:srgbClr val="000000"/>
                </a:solidFill>
              </a:rPr>
              <a:t>        a=0; </a:t>
            </a:r>
          </a:p>
          <a:p>
            <a:pPr>
              <a:lnSpc>
                <a:spcPct val="100000"/>
              </a:lnSpc>
              <a:spcBef>
                <a:spcPts val="0"/>
              </a:spcBef>
              <a:buNone/>
            </a:pPr>
            <a:r>
              <a:rPr lang="en-US" altLang="zh-CN" sz="1800" dirty="0">
                <a:solidFill>
                  <a:srgbClr val="000000"/>
                </a:solidFill>
              </a:rPr>
              <a:t>        b=1;</a:t>
            </a:r>
          </a:p>
          <a:p>
            <a:pPr>
              <a:lnSpc>
                <a:spcPct val="100000"/>
              </a:lnSpc>
              <a:spcBef>
                <a:spcPts val="0"/>
              </a:spcBef>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a:t>
            </a:r>
            <a:r>
              <a:rPr lang="en-US" altLang="zh-CN" sz="1800" dirty="0" err="1">
                <a:solidFill>
                  <a:srgbClr val="000000"/>
                </a:solidFill>
              </a:rPr>
              <a:t>a,b</a:t>
            </a:r>
            <a:r>
              <a:rPr lang="en-US" altLang="zh-CN" sz="1800" dirty="0">
                <a:solidFill>
                  <a:srgbClr val="000000"/>
                </a:solidFill>
              </a:rPr>
              <a:t>);   </a:t>
            </a:r>
          </a:p>
          <a:p>
            <a:pPr>
              <a:lnSpc>
                <a:spcPct val="100000"/>
              </a:lnSpc>
              <a:spcBef>
                <a:spcPts val="0"/>
              </a:spcBef>
              <a:buNone/>
            </a:pPr>
            <a:r>
              <a:rPr lang="en-US" altLang="zh-CN" sz="1800" dirty="0">
                <a:solidFill>
                  <a:srgbClr val="000000"/>
                </a:solidFill>
              </a:rPr>
              <a:t>        for (int </a:t>
            </a:r>
            <a:r>
              <a:rPr lang="en-US" altLang="zh-CN" sz="1800" dirty="0" err="1">
                <a:solidFill>
                  <a:srgbClr val="000000"/>
                </a:solidFill>
              </a:rPr>
              <a:t>i</a:t>
            </a:r>
            <a:r>
              <a:rPr lang="en-US" altLang="zh-CN" sz="1800" dirty="0">
                <a:solidFill>
                  <a:srgbClr val="000000"/>
                </a:solidFill>
              </a:rPr>
              <a:t>=3;i&lt;=</a:t>
            </a:r>
            <a:r>
              <a:rPr lang="en-US" altLang="zh-CN" sz="1800" dirty="0" err="1">
                <a:solidFill>
                  <a:srgbClr val="000000"/>
                </a:solidFill>
              </a:rPr>
              <a:t>n;i</a:t>
            </a:r>
            <a:r>
              <a:rPr lang="en-US" altLang="zh-CN" sz="1800" dirty="0">
                <a:solidFill>
                  <a:srgbClr val="000000"/>
                </a:solidFill>
              </a:rPr>
              <a:t>++)</a:t>
            </a:r>
          </a:p>
          <a:p>
            <a:pPr>
              <a:lnSpc>
                <a:spcPct val="100000"/>
              </a:lnSpc>
              <a:spcBef>
                <a:spcPts val="0"/>
              </a:spcBef>
              <a:buNone/>
            </a:pPr>
            <a:r>
              <a:rPr lang="en-US" altLang="zh-CN" sz="1800" dirty="0">
                <a:solidFill>
                  <a:srgbClr val="000000"/>
                </a:solidFill>
              </a:rPr>
              <a:t>        {</a:t>
            </a:r>
          </a:p>
          <a:p>
            <a:pPr>
              <a:lnSpc>
                <a:spcPct val="100000"/>
              </a:lnSpc>
              <a:spcBef>
                <a:spcPts val="0"/>
              </a:spcBef>
              <a:buNone/>
            </a:pPr>
            <a:r>
              <a:rPr lang="en-US" altLang="zh-CN" sz="1800" dirty="0">
                <a:solidFill>
                  <a:srgbClr val="0303DF"/>
                </a:solidFill>
              </a:rPr>
              <a:t>              b=</a:t>
            </a:r>
            <a:r>
              <a:rPr lang="en-US" altLang="zh-CN" sz="1800" dirty="0" err="1">
                <a:solidFill>
                  <a:srgbClr val="0303DF"/>
                </a:solidFill>
              </a:rPr>
              <a:t>b+a</a:t>
            </a:r>
            <a:r>
              <a:rPr lang="en-US" altLang="zh-CN" sz="1800" dirty="0">
                <a:solidFill>
                  <a:srgbClr val="0303DF"/>
                </a:solidFill>
              </a:rPr>
              <a:t>;	           	</a:t>
            </a:r>
          </a:p>
          <a:p>
            <a:pPr>
              <a:lnSpc>
                <a:spcPct val="100000"/>
              </a:lnSpc>
              <a:spcBef>
                <a:spcPts val="0"/>
              </a:spcBef>
              <a:buNone/>
            </a:pPr>
            <a:r>
              <a:rPr lang="en-US" altLang="zh-CN" sz="1800" dirty="0">
                <a:solidFill>
                  <a:srgbClr val="0303DF"/>
                </a:solidFill>
              </a:rPr>
              <a:t>              a=b-a;</a:t>
            </a:r>
          </a:p>
          <a:p>
            <a:pPr>
              <a:lnSpc>
                <a:spcPct val="100000"/>
              </a:lnSpc>
              <a:spcBef>
                <a:spcPts val="0"/>
              </a:spcBef>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,",b);    </a:t>
            </a:r>
          </a:p>
          <a:p>
            <a:pPr>
              <a:lnSpc>
                <a:spcPct val="100000"/>
              </a:lnSpc>
              <a:spcBef>
                <a:spcPts val="0"/>
              </a:spcBef>
              <a:buNone/>
            </a:pPr>
            <a:r>
              <a:rPr lang="en-US" altLang="zh-CN" sz="1800" dirty="0">
                <a:solidFill>
                  <a:srgbClr val="000000"/>
                </a:solidFill>
              </a:rPr>
              <a:t>        }</a:t>
            </a:r>
          </a:p>
          <a:p>
            <a:pPr>
              <a:lnSpc>
                <a:spcPct val="100000"/>
              </a:lnSpc>
              <a:spcBef>
                <a:spcPts val="0"/>
              </a:spcBef>
              <a:buNone/>
            </a:pPr>
            <a:r>
              <a:rPr lang="en-US" altLang="zh-CN" sz="1800" dirty="0">
                <a:solidFill>
                  <a:srgbClr val="000000"/>
                </a:solidFill>
              </a:rPr>
              <a:t>        return 0;</a:t>
            </a:r>
          </a:p>
          <a:p>
            <a:pPr>
              <a:lnSpc>
                <a:spcPct val="100000"/>
              </a:lnSpc>
              <a:spcBef>
                <a:spcPts val="0"/>
              </a:spcBef>
              <a:buNone/>
            </a:pPr>
            <a:r>
              <a:rPr lang="en-US" altLang="zh-CN" sz="1800" dirty="0">
                <a:solidFill>
                  <a:srgbClr val="000000"/>
                </a:solidFill>
              </a:rPr>
              <a:t>}</a:t>
            </a:r>
          </a:p>
          <a:p>
            <a:pPr marL="342900" indent="-342900">
              <a:buFont typeface="Wingdings" panose="05000000000000000000" pitchFamily="2" charset="2"/>
              <a:buChar char="l"/>
            </a:pPr>
            <a:endParaRPr lang="zh-CN" altLang="en-US" sz="2000" dirty="0"/>
          </a:p>
        </p:txBody>
      </p:sp>
      <p:sp>
        <p:nvSpPr>
          <p:cNvPr id="4" name="内容占位符 2">
            <a:extLst>
              <a:ext uri="{FF2B5EF4-FFF2-40B4-BE49-F238E27FC236}">
                <a16:creationId xmlns:a16="http://schemas.microsoft.com/office/drawing/2014/main" id="{05ED2B0B-E66D-4856-B359-23157F0D5B38}"/>
              </a:ext>
            </a:extLst>
          </p:cNvPr>
          <p:cNvSpPr txBox="1">
            <a:spLocks/>
          </p:cNvSpPr>
          <p:nvPr/>
        </p:nvSpPr>
        <p:spPr bwMode="auto">
          <a:xfrm>
            <a:off x="485381" y="1067951"/>
            <a:ext cx="3843338" cy="5345112"/>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Font typeface="Wingdings 2" panose="05020102010507070707" pitchFamily="18" charset="2"/>
              <a:buNone/>
            </a:pPr>
            <a:r>
              <a:rPr lang="en-US" altLang="zh-CN" sz="1800" dirty="0">
                <a:solidFill>
                  <a:srgbClr val="000000"/>
                </a:solidFill>
              </a:rPr>
              <a:t>#include &lt;</a:t>
            </a:r>
            <a:r>
              <a:rPr lang="en-US" altLang="zh-CN" sz="1800" dirty="0" err="1">
                <a:solidFill>
                  <a:srgbClr val="000000"/>
                </a:solidFill>
              </a:rPr>
              <a:t>stdio.h</a:t>
            </a:r>
            <a:r>
              <a:rPr lang="en-US" altLang="zh-CN" sz="1800" dirty="0">
                <a:solidFill>
                  <a:srgbClr val="000000"/>
                </a:solidFill>
              </a:rPr>
              <a:t>&gt;</a:t>
            </a:r>
          </a:p>
          <a:p>
            <a:pPr>
              <a:lnSpc>
                <a:spcPct val="100000"/>
              </a:lnSpc>
              <a:spcBef>
                <a:spcPts val="0"/>
              </a:spcBef>
              <a:buFont typeface="Wingdings 2" panose="05020102010507070707" pitchFamily="18" charset="2"/>
              <a:buNone/>
            </a:pPr>
            <a:r>
              <a:rPr lang="en-US" altLang="zh-CN" sz="1800" dirty="0">
                <a:solidFill>
                  <a:srgbClr val="000000"/>
                </a:solidFill>
              </a:rPr>
              <a:t>int main()</a:t>
            </a:r>
          </a:p>
          <a:p>
            <a:pPr>
              <a:lnSpc>
                <a:spcPct val="100000"/>
              </a:lnSpc>
              <a:spcBef>
                <a:spcPts val="0"/>
              </a:spcBef>
              <a:buFont typeface="Wingdings 2" panose="05020102010507070707" pitchFamily="18" charset="2"/>
              <a:buNone/>
            </a:pPr>
            <a:r>
              <a:rPr lang="en-US" altLang="zh-CN" sz="1800" dirty="0">
                <a:solidFill>
                  <a:srgbClr val="000000"/>
                </a:solidFill>
              </a:rPr>
              <a:t>{</a:t>
            </a:r>
          </a:p>
          <a:p>
            <a:pPr>
              <a:lnSpc>
                <a:spcPct val="100000"/>
              </a:lnSpc>
              <a:spcBef>
                <a:spcPts val="0"/>
              </a:spcBef>
              <a:buFont typeface="Wingdings 2" panose="05020102010507070707" pitchFamily="18" charset="2"/>
              <a:buNone/>
            </a:pPr>
            <a:r>
              <a:rPr lang="en-US" altLang="zh-CN" sz="1800" dirty="0">
                <a:solidFill>
                  <a:srgbClr val="000000"/>
                </a:solidFill>
              </a:rPr>
              <a:t>        </a:t>
            </a:r>
            <a:r>
              <a:rPr lang="en-US" altLang="zh-CN" sz="1800" dirty="0" err="1">
                <a:solidFill>
                  <a:srgbClr val="000000"/>
                </a:solidFill>
              </a:rPr>
              <a:t>scanf</a:t>
            </a:r>
            <a:r>
              <a:rPr lang="en-US" altLang="zh-CN" sz="1800" dirty="0">
                <a:solidFill>
                  <a:srgbClr val="000000"/>
                </a:solidFill>
              </a:rPr>
              <a:t>("%</a:t>
            </a:r>
            <a:r>
              <a:rPr lang="en-US" altLang="zh-CN" sz="1800" dirty="0" err="1">
                <a:solidFill>
                  <a:srgbClr val="000000"/>
                </a:solidFill>
              </a:rPr>
              <a:t>d",&amp;n</a:t>
            </a:r>
            <a:r>
              <a:rPr lang="en-US" altLang="zh-CN" sz="1800" dirty="0">
                <a:solidFill>
                  <a:srgbClr val="000000"/>
                </a:solidFill>
              </a:rPr>
              <a:t>);</a:t>
            </a:r>
          </a:p>
          <a:p>
            <a:pPr>
              <a:lnSpc>
                <a:spcPct val="100000"/>
              </a:lnSpc>
              <a:spcBef>
                <a:spcPts val="0"/>
              </a:spcBef>
              <a:buFont typeface="Wingdings 2" panose="05020102010507070707" pitchFamily="18" charset="2"/>
              <a:buNone/>
            </a:pPr>
            <a:r>
              <a:rPr lang="en-US" altLang="zh-CN" sz="1800" dirty="0">
                <a:solidFill>
                  <a:srgbClr val="000000"/>
                </a:solidFill>
              </a:rPr>
              <a:t>        unsigned long </a:t>
            </a:r>
            <a:r>
              <a:rPr lang="en-US" altLang="zh-CN" sz="1800" dirty="0" err="1">
                <a:solidFill>
                  <a:srgbClr val="000000"/>
                </a:solidFill>
              </a:rPr>
              <a:t>long</a:t>
            </a:r>
            <a:r>
              <a:rPr lang="en-US" altLang="zh-CN" sz="1800" dirty="0">
                <a:solidFill>
                  <a:srgbClr val="000000"/>
                </a:solidFill>
              </a:rPr>
              <a:t> </a:t>
            </a:r>
            <a:r>
              <a:rPr lang="en-US" altLang="zh-CN" sz="1800" b="1" dirty="0" err="1">
                <a:solidFill>
                  <a:srgbClr val="0303DF"/>
                </a:solidFill>
              </a:rPr>
              <a:t>a,b,c</a:t>
            </a:r>
            <a:r>
              <a:rPr lang="en-US" altLang="zh-CN" sz="1800" dirty="0">
                <a:solidFill>
                  <a:srgbClr val="000000"/>
                </a:solidFill>
              </a:rPr>
              <a:t>;</a:t>
            </a:r>
          </a:p>
          <a:p>
            <a:pPr>
              <a:lnSpc>
                <a:spcPct val="100000"/>
              </a:lnSpc>
              <a:spcBef>
                <a:spcPts val="0"/>
              </a:spcBef>
              <a:buFont typeface="Wingdings 2" panose="05020102010507070707" pitchFamily="18" charset="2"/>
              <a:buNone/>
            </a:pPr>
            <a:r>
              <a:rPr lang="en-US" altLang="zh-CN" sz="1800" dirty="0">
                <a:solidFill>
                  <a:srgbClr val="7030A0"/>
                </a:solidFill>
              </a:rPr>
              <a:t>        a=0; </a:t>
            </a:r>
          </a:p>
          <a:p>
            <a:pPr>
              <a:lnSpc>
                <a:spcPct val="100000"/>
              </a:lnSpc>
              <a:spcBef>
                <a:spcPts val="0"/>
              </a:spcBef>
              <a:buFont typeface="Wingdings 2" panose="05020102010507070707" pitchFamily="18" charset="2"/>
              <a:buNone/>
            </a:pPr>
            <a:r>
              <a:rPr lang="en-US" altLang="zh-CN" sz="1800" dirty="0">
                <a:solidFill>
                  <a:srgbClr val="7030A0"/>
                </a:solidFill>
              </a:rPr>
              <a:t>        b=1;</a:t>
            </a:r>
          </a:p>
          <a:p>
            <a:pPr>
              <a:lnSpc>
                <a:spcPct val="100000"/>
              </a:lnSpc>
              <a:spcBef>
                <a:spcPts val="0"/>
              </a:spcBef>
              <a:buFont typeface="Wingdings 2" panose="05020102010507070707" pitchFamily="18" charset="2"/>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a:t>
            </a:r>
            <a:r>
              <a:rPr lang="en-US" altLang="zh-CN" sz="1800" dirty="0" err="1">
                <a:solidFill>
                  <a:srgbClr val="000000"/>
                </a:solidFill>
              </a:rPr>
              <a:t>a,b</a:t>
            </a:r>
            <a:r>
              <a:rPr lang="en-US" altLang="zh-CN" sz="1800" dirty="0">
                <a:solidFill>
                  <a:srgbClr val="000000"/>
                </a:solidFill>
              </a:rPr>
              <a:t>);   </a:t>
            </a:r>
          </a:p>
          <a:p>
            <a:pPr>
              <a:lnSpc>
                <a:spcPct val="100000"/>
              </a:lnSpc>
              <a:spcBef>
                <a:spcPts val="0"/>
              </a:spcBef>
              <a:buFont typeface="Wingdings 2" panose="05020102010507070707" pitchFamily="18" charset="2"/>
              <a:buNone/>
            </a:pPr>
            <a:r>
              <a:rPr lang="en-US" altLang="zh-CN" sz="1800" dirty="0">
                <a:solidFill>
                  <a:srgbClr val="000000"/>
                </a:solidFill>
              </a:rPr>
              <a:t>        </a:t>
            </a:r>
            <a:r>
              <a:rPr lang="en-US" altLang="zh-CN" sz="1800" dirty="0">
                <a:solidFill>
                  <a:srgbClr val="7030A0"/>
                </a:solidFill>
              </a:rPr>
              <a:t>for (int </a:t>
            </a:r>
            <a:r>
              <a:rPr lang="en-US" altLang="zh-CN" sz="1800" dirty="0" err="1">
                <a:solidFill>
                  <a:srgbClr val="7030A0"/>
                </a:solidFill>
              </a:rPr>
              <a:t>i</a:t>
            </a:r>
            <a:r>
              <a:rPr lang="en-US" altLang="zh-CN" sz="1800" dirty="0">
                <a:solidFill>
                  <a:srgbClr val="7030A0"/>
                </a:solidFill>
              </a:rPr>
              <a:t>=3;i&lt;=</a:t>
            </a:r>
            <a:r>
              <a:rPr lang="en-US" altLang="zh-CN" sz="1800" dirty="0" err="1">
                <a:solidFill>
                  <a:srgbClr val="7030A0"/>
                </a:solidFill>
              </a:rPr>
              <a:t>n;i</a:t>
            </a:r>
            <a:r>
              <a:rPr lang="en-US" altLang="zh-CN" sz="1800" dirty="0">
                <a:solidFill>
                  <a:srgbClr val="7030A0"/>
                </a:solidFill>
              </a:rPr>
              <a:t>++)</a:t>
            </a:r>
          </a:p>
          <a:p>
            <a:pPr>
              <a:lnSpc>
                <a:spcPct val="100000"/>
              </a:lnSpc>
              <a:spcBef>
                <a:spcPts val="0"/>
              </a:spcBef>
              <a:buFont typeface="Wingdings 2" panose="05020102010507070707" pitchFamily="18" charset="2"/>
              <a:buNone/>
            </a:pPr>
            <a:r>
              <a:rPr lang="en-US" altLang="zh-CN" sz="1800" dirty="0">
                <a:solidFill>
                  <a:srgbClr val="000000"/>
                </a:solidFill>
              </a:rPr>
              <a:t>        {</a:t>
            </a:r>
          </a:p>
          <a:p>
            <a:pPr>
              <a:lnSpc>
                <a:spcPct val="100000"/>
              </a:lnSpc>
              <a:spcBef>
                <a:spcPts val="0"/>
              </a:spcBef>
              <a:buFont typeface="Wingdings 2" panose="05020102010507070707" pitchFamily="18" charset="2"/>
              <a:buNone/>
            </a:pPr>
            <a:r>
              <a:rPr lang="en-US" altLang="zh-CN" sz="1800" dirty="0">
                <a:solidFill>
                  <a:srgbClr val="0303DF"/>
                </a:solidFill>
              </a:rPr>
              <a:t>              c=</a:t>
            </a:r>
            <a:r>
              <a:rPr lang="en-US" altLang="zh-CN" sz="1800" dirty="0" err="1">
                <a:solidFill>
                  <a:srgbClr val="0303DF"/>
                </a:solidFill>
              </a:rPr>
              <a:t>b+a</a:t>
            </a:r>
            <a:r>
              <a:rPr lang="en-US" altLang="zh-CN" sz="1800" dirty="0">
                <a:solidFill>
                  <a:srgbClr val="0303DF"/>
                </a:solidFill>
              </a:rPr>
              <a:t>;	           	</a:t>
            </a:r>
          </a:p>
          <a:p>
            <a:pPr>
              <a:lnSpc>
                <a:spcPct val="100000"/>
              </a:lnSpc>
              <a:spcBef>
                <a:spcPts val="0"/>
              </a:spcBef>
              <a:buFont typeface="Wingdings 2" panose="05020102010507070707" pitchFamily="18" charset="2"/>
              <a:buNone/>
            </a:pPr>
            <a:r>
              <a:rPr lang="en-US" altLang="zh-CN" sz="1800" dirty="0">
                <a:solidFill>
                  <a:srgbClr val="0303DF"/>
                </a:solidFill>
              </a:rPr>
              <a:t>              a=b;</a:t>
            </a:r>
          </a:p>
          <a:p>
            <a:pPr>
              <a:lnSpc>
                <a:spcPct val="100000"/>
              </a:lnSpc>
              <a:spcBef>
                <a:spcPts val="0"/>
              </a:spcBef>
              <a:buFont typeface="Wingdings 2" panose="05020102010507070707" pitchFamily="18" charset="2"/>
              <a:buNone/>
            </a:pPr>
            <a:r>
              <a:rPr lang="en-US" altLang="zh-CN" sz="1800" dirty="0">
                <a:solidFill>
                  <a:srgbClr val="0303DF"/>
                </a:solidFill>
              </a:rPr>
              <a:t>              b=c;</a:t>
            </a:r>
          </a:p>
          <a:p>
            <a:pPr>
              <a:lnSpc>
                <a:spcPct val="100000"/>
              </a:lnSpc>
              <a:spcBef>
                <a:spcPts val="0"/>
              </a:spcBef>
              <a:buFont typeface="Wingdings 2" panose="05020102010507070707" pitchFamily="18" charset="2"/>
              <a:buNone/>
            </a:pPr>
            <a:r>
              <a:rPr lang="en-US" altLang="zh-CN" sz="1800" dirty="0">
                <a:solidFill>
                  <a:srgbClr val="000000"/>
                </a:solidFill>
              </a:rPr>
              <a:t>              </a:t>
            </a:r>
            <a:r>
              <a:rPr lang="en-US" altLang="zh-CN" sz="1800" dirty="0" err="1">
                <a:solidFill>
                  <a:srgbClr val="000000"/>
                </a:solidFill>
              </a:rPr>
              <a:t>printf</a:t>
            </a:r>
            <a:r>
              <a:rPr lang="en-US" altLang="zh-CN" sz="1800" dirty="0">
                <a:solidFill>
                  <a:srgbClr val="000000"/>
                </a:solidFill>
              </a:rPr>
              <a:t>("%</a:t>
            </a:r>
            <a:r>
              <a:rPr lang="en-US" altLang="zh-CN" sz="1800" dirty="0" err="1">
                <a:solidFill>
                  <a:srgbClr val="000000"/>
                </a:solidFill>
              </a:rPr>
              <a:t>llu</a:t>
            </a:r>
            <a:r>
              <a:rPr lang="en-US" altLang="zh-CN" sz="1800" dirty="0">
                <a:solidFill>
                  <a:srgbClr val="000000"/>
                </a:solidFill>
              </a:rPr>
              <a:t>,",c);    </a:t>
            </a:r>
          </a:p>
          <a:p>
            <a:pPr>
              <a:lnSpc>
                <a:spcPct val="100000"/>
              </a:lnSpc>
              <a:spcBef>
                <a:spcPts val="0"/>
              </a:spcBef>
              <a:buFont typeface="Wingdings 2" panose="05020102010507070707" pitchFamily="18" charset="2"/>
              <a:buNone/>
            </a:pPr>
            <a:r>
              <a:rPr lang="en-US" altLang="zh-CN" sz="1800" dirty="0">
                <a:solidFill>
                  <a:srgbClr val="000000"/>
                </a:solidFill>
              </a:rPr>
              <a:t>        }</a:t>
            </a:r>
          </a:p>
          <a:p>
            <a:pPr>
              <a:lnSpc>
                <a:spcPct val="100000"/>
              </a:lnSpc>
              <a:spcBef>
                <a:spcPts val="0"/>
              </a:spcBef>
              <a:buFont typeface="Wingdings 2" panose="05020102010507070707" pitchFamily="18" charset="2"/>
              <a:buNone/>
            </a:pPr>
            <a:r>
              <a:rPr lang="en-US" altLang="zh-CN" sz="1800" dirty="0">
                <a:solidFill>
                  <a:srgbClr val="000000"/>
                </a:solidFill>
              </a:rPr>
              <a:t>        return 0;</a:t>
            </a:r>
          </a:p>
          <a:p>
            <a:pPr>
              <a:lnSpc>
                <a:spcPct val="100000"/>
              </a:lnSpc>
              <a:spcBef>
                <a:spcPts val="0"/>
              </a:spcBef>
              <a:buFont typeface="Wingdings 2" panose="05020102010507070707" pitchFamily="18" charset="2"/>
              <a:buNone/>
            </a:pPr>
            <a:r>
              <a:rPr lang="en-US" altLang="zh-CN" sz="1800" dirty="0">
                <a:solidFill>
                  <a:srgbClr val="000000"/>
                </a:solidFill>
              </a:rPr>
              <a:t>}</a:t>
            </a:r>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266249922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2B6EC-DC4D-4535-9B71-C5E46ABE4CB1}"/>
              </a:ext>
            </a:extLst>
          </p:cNvPr>
          <p:cNvSpPr>
            <a:spLocks noGrp="1"/>
          </p:cNvSpPr>
          <p:nvPr>
            <p:ph type="title"/>
          </p:nvPr>
        </p:nvSpPr>
        <p:spPr/>
        <p:txBody>
          <a:bodyPr/>
          <a:lstStyle/>
          <a:p>
            <a:r>
              <a:rPr lang="zh-CN" altLang="en-US" dirty="0">
                <a:solidFill>
                  <a:srgbClr val="7030A0"/>
                </a:solidFill>
              </a:rPr>
              <a:t>课后练习：</a:t>
            </a:r>
            <a:r>
              <a:rPr lang="zh-CN" altLang="en-US" dirty="0" smtClean="0"/>
              <a:t>迭代</a:t>
            </a:r>
            <a:r>
              <a:rPr lang="en-US" altLang="zh-CN" dirty="0"/>
              <a:t>—</a:t>
            </a:r>
            <a:r>
              <a:rPr lang="zh-CN" altLang="en-US" dirty="0">
                <a:solidFill>
                  <a:srgbClr val="006600"/>
                </a:solidFill>
              </a:rPr>
              <a:t>求方程</a:t>
            </a:r>
            <a:r>
              <a:rPr lang="en-US" altLang="zh-CN" dirty="0">
                <a:solidFill>
                  <a:srgbClr val="006600"/>
                </a:solidFill>
              </a:rPr>
              <a:t>f(x)=0</a:t>
            </a:r>
            <a:r>
              <a:rPr lang="zh-CN" altLang="en-US" dirty="0">
                <a:solidFill>
                  <a:srgbClr val="006600"/>
                </a:solidFill>
              </a:rPr>
              <a:t>的近似根</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C1D4ADC-78C6-4FA6-9443-012F70A9DB9E}"/>
                  </a:ext>
                </a:extLst>
              </p:cNvPr>
              <p:cNvSpPr>
                <a:spLocks noGrp="1"/>
              </p:cNvSpPr>
              <p:nvPr>
                <p:ph idx="1"/>
              </p:nvPr>
            </p:nvSpPr>
            <p:spPr/>
            <p:txBody>
              <a:bodyPr/>
              <a:lstStyle/>
              <a:p>
                <a:pPr marL="342900" indent="-342900">
                  <a:buFont typeface="Wingdings" panose="05000000000000000000" pitchFamily="2" charset="2"/>
                  <a:buChar char="l"/>
                </a:pPr>
                <a:r>
                  <a:rPr lang="zh-CN" altLang="en-US" sz="2000" dirty="0"/>
                  <a:t>算法描述</a:t>
                </a:r>
                <a:endParaRPr lang="en-US" altLang="zh-CN" sz="2000" dirty="0"/>
              </a:p>
              <a:p>
                <a:pPr lvl="1" indent="0">
                  <a:buNone/>
                </a:pPr>
                <a:r>
                  <a:rPr lang="en-US" altLang="zh-CN" sz="1800" dirty="0"/>
                  <a:t>(1)</a:t>
                </a:r>
                <a:r>
                  <a:rPr lang="zh-CN" altLang="en-US" sz="1800" dirty="0"/>
                  <a:t> 给定一个方程的近似根，赋给变量</a:t>
                </a:r>
                <a:r>
                  <a:rPr lang="en-US" altLang="zh-CN" sz="1800" dirty="0"/>
                  <a:t>x0;   //float x0=…</a:t>
                </a:r>
              </a:p>
              <a:p>
                <a:pPr lvl="1" indent="0">
                  <a:buNone/>
                </a:pPr>
                <a:r>
                  <a:rPr lang="en-US" altLang="zh-CN" sz="1800" dirty="0"/>
                  <a:t>(2) x1=x0;</a:t>
                </a:r>
              </a:p>
              <a:p>
                <a:pPr lvl="1" indent="0">
                  <a:buNone/>
                </a:pPr>
                <a:r>
                  <a:rPr lang="en-US" altLang="zh-CN" sz="1800" dirty="0"/>
                  <a:t>(3) x0=f(x1);</a:t>
                </a:r>
              </a:p>
              <a:p>
                <a:pPr lvl="1" indent="0">
                  <a:buNone/>
                </a:pPr>
                <a:r>
                  <a:rPr lang="en-US" altLang="zh-CN" sz="1800" dirty="0"/>
                  <a:t>(4) </a:t>
                </a:r>
                <a:r>
                  <a:rPr lang="zh-CN" altLang="en-US" sz="1800" dirty="0"/>
                  <a:t>重复步骤</a:t>
                </a:r>
                <a:r>
                  <a:rPr lang="en-US" altLang="zh-CN" sz="1800" dirty="0"/>
                  <a:t>(2)(3)</a:t>
                </a:r>
                <a:r>
                  <a:rPr lang="zh-CN" altLang="en-US" sz="1800" dirty="0"/>
                  <a:t>，直到</a:t>
                </a:r>
                <a:r>
                  <a:rPr lang="en-US" altLang="zh-CN" sz="1800" dirty="0" err="1"/>
                  <a:t>fabsf</a:t>
                </a:r>
                <a:r>
                  <a:rPr lang="en-US" altLang="zh-CN" sz="1800" dirty="0"/>
                  <a:t>(x0-x1)</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zh-CN" altLang="en-US" sz="1800" dirty="0"/>
                  <a:t>指定的精度，循环结束；</a:t>
                </a:r>
                <a:endParaRPr lang="en-US" altLang="zh-CN" sz="1800" dirty="0"/>
              </a:p>
              <a:p>
                <a:pPr lvl="1" indent="0">
                  <a:buNone/>
                </a:pPr>
                <a:r>
                  <a:rPr lang="en-US" altLang="zh-CN" sz="1800" dirty="0"/>
                  <a:t>(5) </a:t>
                </a:r>
                <a:r>
                  <a:rPr lang="zh-CN" altLang="en-US" sz="1800" dirty="0"/>
                  <a:t>输出方程</a:t>
                </a:r>
                <a:r>
                  <a:rPr lang="en-US" altLang="zh-CN" sz="1800" dirty="0"/>
                  <a:t>f(x)=0</a:t>
                </a:r>
                <a:r>
                  <a:rPr lang="zh-CN" altLang="en-US" sz="1800" dirty="0"/>
                  <a:t>的近似根</a:t>
                </a:r>
                <a:r>
                  <a:rPr lang="en-US" altLang="zh-CN" sz="1800" dirty="0"/>
                  <a:t>x0</a:t>
                </a:r>
                <a:r>
                  <a:rPr lang="zh-CN" altLang="en-US" sz="1800" dirty="0"/>
                  <a:t>；</a:t>
                </a:r>
                <a:endParaRPr lang="en-US" altLang="zh-CN" sz="1800" dirty="0"/>
              </a:p>
              <a:p>
                <a:pPr marL="342900" indent="-342900">
                  <a:buFont typeface="Wingdings" panose="05000000000000000000" pitchFamily="2" charset="2"/>
                  <a:buChar char="l"/>
                </a:pPr>
                <a:r>
                  <a:rPr lang="zh-CN" altLang="en-US" sz="2000" dirty="0"/>
                  <a:t>伪代码</a:t>
                </a:r>
                <a:endParaRPr lang="en-US" altLang="zh-CN" sz="2000" dirty="0"/>
              </a:p>
              <a:p>
                <a:pPr marL="514350" lvl="2" indent="0">
                  <a:buNone/>
                </a:pPr>
                <a:r>
                  <a:rPr lang="en-US" altLang="zh-CN" sz="1800" dirty="0"/>
                  <a:t>x0=</a:t>
                </a:r>
                <a:r>
                  <a:rPr lang="zh-CN" altLang="en-US" sz="1800" dirty="0"/>
                  <a:t>初始近似根；  </a:t>
                </a:r>
                <a:r>
                  <a:rPr lang="en-US" altLang="zh-CN" sz="1800" dirty="0"/>
                  <a:t>//float x0,x1;</a:t>
                </a:r>
                <a:endParaRPr lang="zh-CN" altLang="en-US" sz="1800" dirty="0"/>
              </a:p>
              <a:p>
                <a:pPr marL="514350" lvl="2" indent="0">
                  <a:buNone/>
                </a:pPr>
                <a:r>
                  <a:rPr lang="zh-CN" altLang="en-US" sz="1800" dirty="0"/>
                  <a:t> </a:t>
                </a:r>
                <a:r>
                  <a:rPr lang="en-US" altLang="zh-CN" sz="1800" dirty="0"/>
                  <a:t>do {  </a:t>
                </a:r>
              </a:p>
              <a:p>
                <a:pPr marL="514350" lvl="2" indent="0">
                  <a:buNone/>
                </a:pPr>
                <a:r>
                  <a:rPr lang="en-US" altLang="zh-CN" sz="1800" dirty="0"/>
                  <a:t>     </a:t>
                </a:r>
                <a:r>
                  <a:rPr lang="en-US" altLang="zh-CN" sz="1800" dirty="0">
                    <a:solidFill>
                      <a:srgbClr val="0303DF"/>
                    </a:solidFill>
                  </a:rPr>
                  <a:t> </a:t>
                </a:r>
                <a:r>
                  <a:rPr lang="zh-CN" altLang="en-US" sz="1800" dirty="0">
                    <a:solidFill>
                      <a:srgbClr val="C00000"/>
                    </a:solidFill>
                  </a:rPr>
                  <a:t>  </a:t>
                </a:r>
                <a:r>
                  <a:rPr lang="en-US" altLang="zh-CN" sz="1800" dirty="0">
                    <a:solidFill>
                      <a:srgbClr val="C00000"/>
                    </a:solidFill>
                  </a:rPr>
                  <a:t>x1=x0</a:t>
                </a:r>
                <a:r>
                  <a:rPr lang="zh-CN" altLang="en-US" sz="1800" dirty="0">
                    <a:solidFill>
                      <a:srgbClr val="C00000"/>
                    </a:solidFill>
                  </a:rPr>
                  <a:t>；    </a:t>
                </a:r>
                <a:endParaRPr lang="en-US" altLang="zh-CN" sz="1800" dirty="0">
                  <a:solidFill>
                    <a:srgbClr val="C00000"/>
                  </a:solidFill>
                </a:endParaRPr>
              </a:p>
              <a:p>
                <a:pPr marL="514350" lvl="2" indent="0">
                  <a:buNone/>
                </a:pPr>
                <a:r>
                  <a:rPr lang="en-US" altLang="zh-CN" sz="1800" dirty="0">
                    <a:solidFill>
                      <a:srgbClr val="C00000"/>
                    </a:solidFill>
                  </a:rPr>
                  <a:t>        x0=f(x1)</a:t>
                </a:r>
                <a:r>
                  <a:rPr lang="zh-CN" altLang="en-US" sz="1800" dirty="0">
                    <a:solidFill>
                      <a:srgbClr val="C00000"/>
                    </a:solidFill>
                  </a:rPr>
                  <a:t>；</a:t>
                </a:r>
                <a:r>
                  <a:rPr lang="zh-CN" altLang="en-US" sz="1800" dirty="0"/>
                  <a:t>   </a:t>
                </a:r>
                <a:r>
                  <a:rPr lang="en-US" altLang="zh-CN" sz="1800" dirty="0"/>
                  <a:t>//  </a:t>
                </a:r>
                <a:r>
                  <a:rPr lang="zh-CN" altLang="en-US" sz="1800" dirty="0"/>
                  <a:t>计算方程新的近似根</a:t>
                </a:r>
                <a:endParaRPr lang="en-US" altLang="zh-CN" sz="1800" dirty="0"/>
              </a:p>
              <a:p>
                <a:pPr marL="514350" lvl="2" indent="0">
                  <a:buNone/>
                </a:pPr>
                <a:r>
                  <a:rPr lang="zh-CN" altLang="en-US" sz="1800" dirty="0"/>
                  <a:t>  </a:t>
                </a:r>
                <a:r>
                  <a:rPr lang="en-US" altLang="zh-CN" sz="1800" dirty="0"/>
                  <a:t>} while ( </a:t>
                </a:r>
                <a:r>
                  <a:rPr lang="en-US" altLang="zh-CN" sz="1800" dirty="0" err="1"/>
                  <a:t>fabsf</a:t>
                </a:r>
                <a:r>
                  <a:rPr lang="en-US" altLang="zh-CN" sz="1800" dirty="0"/>
                  <a:t>(x0-x1)&gt;Epsilon)</a:t>
                </a:r>
                <a:r>
                  <a:rPr lang="zh-CN" altLang="en-US" sz="1800" dirty="0"/>
                  <a:t>；</a:t>
                </a:r>
              </a:p>
              <a:p>
                <a:pPr marL="514350" lvl="2" indent="0">
                  <a:buNone/>
                </a:pPr>
                <a:r>
                  <a:rPr lang="zh-CN" altLang="en-US" sz="1800" dirty="0"/>
                  <a:t>   </a:t>
                </a:r>
                <a:r>
                  <a:rPr lang="en-US" altLang="zh-CN" sz="1800" dirty="0" err="1"/>
                  <a:t>printf</a:t>
                </a:r>
                <a:r>
                  <a:rPr lang="en-US" altLang="zh-CN" sz="1800" dirty="0"/>
                  <a:t>(“</a:t>
                </a:r>
                <a:r>
                  <a:rPr lang="zh-CN" altLang="en-US" sz="1800" dirty="0"/>
                  <a:t>方程的近似根是</a:t>
                </a:r>
                <a:r>
                  <a:rPr lang="en-US" altLang="zh-CN" sz="1800" dirty="0"/>
                  <a:t>: %</a:t>
                </a:r>
                <a:r>
                  <a:rPr lang="en-US" altLang="zh-CN" sz="1800" dirty="0" err="1"/>
                  <a:t>lf</a:t>
                </a:r>
                <a:r>
                  <a:rPr lang="en-US" altLang="zh-CN" sz="1800" dirty="0"/>
                  <a:t>\n</a:t>
                </a:r>
                <a:r>
                  <a:rPr lang="zh-CN" altLang="en-US" sz="1800" dirty="0"/>
                  <a:t>”</a:t>
                </a:r>
                <a:r>
                  <a:rPr lang="en-US" altLang="zh-CN" sz="1800" dirty="0"/>
                  <a:t>,x0)</a:t>
                </a:r>
                <a:r>
                  <a:rPr lang="zh-CN" altLang="en-US" sz="1800" dirty="0"/>
                  <a:t>；</a:t>
                </a:r>
              </a:p>
              <a:p>
                <a:pPr marL="342900" indent="-342900">
                  <a:buFont typeface="Wingdings" panose="05000000000000000000" pitchFamily="2" charset="2"/>
                  <a:buChar char="l"/>
                </a:pPr>
                <a:r>
                  <a:rPr lang="zh-CN" altLang="en-US" sz="2000" dirty="0" smtClean="0">
                    <a:solidFill>
                      <a:srgbClr val="7030A0"/>
                    </a:solidFill>
                  </a:rPr>
                  <a:t>牛顿迭代法</a:t>
                </a:r>
                <a:r>
                  <a:rPr lang="zh-CN" altLang="en-US" sz="2000" dirty="0" smtClean="0"/>
                  <a:t>得到的方程的根比较</a:t>
                </a:r>
                <a:r>
                  <a:rPr lang="zh-CN" altLang="en-US" sz="2000" dirty="0"/>
                  <a:t>理想</a:t>
                </a:r>
              </a:p>
            </p:txBody>
          </p:sp>
        </mc:Choice>
        <mc:Fallback xmlns="">
          <p:sp>
            <p:nvSpPr>
              <p:cNvPr id="3" name="内容占位符 2">
                <a:extLst>
                  <a:ext uri="{FF2B5EF4-FFF2-40B4-BE49-F238E27FC236}">
                    <a16:creationId xmlns:a16="http://schemas.microsoft.com/office/drawing/2014/main" id="{9C1D4ADC-78C6-4FA6-9443-012F70A9DB9E}"/>
                  </a:ext>
                </a:extLst>
              </p:cNvPr>
              <p:cNvSpPr>
                <a:spLocks noGrp="1" noRot="1" noChangeAspect="1" noMove="1" noResize="1" noEditPoints="1" noAdjustHandles="1" noChangeArrowheads="1" noChangeShapeType="1" noTextEdit="1"/>
              </p:cNvSpPr>
              <p:nvPr>
                <p:ph idx="1"/>
              </p:nvPr>
            </p:nvSpPr>
            <p:spPr>
              <a:blipFill>
                <a:blip r:embed="rId2"/>
                <a:stretch>
                  <a:fillRect t="-13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4945408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2B6EC-DC4D-4535-9B71-C5E46ABE4CB1}"/>
              </a:ext>
            </a:extLst>
          </p:cNvPr>
          <p:cNvSpPr>
            <a:spLocks noGrp="1"/>
          </p:cNvSpPr>
          <p:nvPr>
            <p:ph type="title"/>
          </p:nvPr>
        </p:nvSpPr>
        <p:spPr/>
        <p:txBody>
          <a:bodyPr/>
          <a:lstStyle/>
          <a:p>
            <a:r>
              <a:rPr lang="zh-CN" altLang="en-US" dirty="0">
                <a:solidFill>
                  <a:srgbClr val="7030A0"/>
                </a:solidFill>
              </a:rPr>
              <a:t>课后练习：</a:t>
            </a:r>
            <a:r>
              <a:rPr lang="zh-CN" altLang="en-US" dirty="0" smtClean="0"/>
              <a:t>迭代</a:t>
            </a:r>
            <a:r>
              <a:rPr lang="en-US" altLang="zh-CN" dirty="0"/>
              <a:t>--</a:t>
            </a:r>
            <a:r>
              <a:rPr lang="zh-CN" altLang="en-US" dirty="0">
                <a:solidFill>
                  <a:srgbClr val="006600"/>
                </a:solidFill>
              </a:rPr>
              <a:t>验证角谷猜想</a:t>
            </a:r>
          </a:p>
        </p:txBody>
      </p:sp>
      <p:sp>
        <p:nvSpPr>
          <p:cNvPr id="3" name="内容占位符 2">
            <a:extLst>
              <a:ext uri="{FF2B5EF4-FFF2-40B4-BE49-F238E27FC236}">
                <a16:creationId xmlns:a16="http://schemas.microsoft.com/office/drawing/2014/main" id="{9C1D4ADC-78C6-4FA6-9443-012F70A9DB9E}"/>
              </a:ext>
            </a:extLst>
          </p:cNvPr>
          <p:cNvSpPr>
            <a:spLocks noGrp="1"/>
          </p:cNvSpPr>
          <p:nvPr>
            <p:ph idx="1"/>
          </p:nvPr>
        </p:nvSpPr>
        <p:spPr/>
        <p:txBody>
          <a:bodyPr/>
          <a:lstStyle/>
          <a:p>
            <a:pPr marL="342900" indent="-342900">
              <a:buFont typeface="Wingdings" panose="05000000000000000000" pitchFamily="2" charset="2"/>
              <a:buChar char="l"/>
            </a:pPr>
            <a:r>
              <a:rPr lang="zh-CN" altLang="en-US" sz="2000" dirty="0"/>
              <a:t>日本数学家角谷静夫在研究自然数时发现了一个现象：</a:t>
            </a:r>
            <a:endParaRPr lang="en-US" altLang="zh-CN" sz="2000" dirty="0"/>
          </a:p>
          <a:p>
            <a:pPr marL="914400" lvl="1" indent="-285750"/>
            <a:r>
              <a:rPr lang="zh-CN" altLang="en-US" sz="1800" dirty="0"/>
              <a:t>对于任意一个自然数 </a:t>
            </a:r>
            <a:r>
              <a:rPr lang="en-US" altLang="zh-CN" sz="1800" dirty="0"/>
              <a:t>n ;</a:t>
            </a:r>
          </a:p>
          <a:p>
            <a:pPr marL="914400" lvl="1" indent="-285750"/>
            <a:r>
              <a:rPr lang="zh-CN" altLang="en-US" sz="1800" dirty="0"/>
              <a:t>若 </a:t>
            </a:r>
            <a:r>
              <a:rPr lang="en-US" altLang="zh-CN" sz="1800" dirty="0"/>
              <a:t>n </a:t>
            </a:r>
            <a:r>
              <a:rPr lang="zh-CN" altLang="en-US" sz="1800" dirty="0"/>
              <a:t>为偶数，则将其除以 </a:t>
            </a:r>
            <a:r>
              <a:rPr lang="en-US" altLang="zh-CN" sz="1800" dirty="0"/>
              <a:t>2 </a:t>
            </a:r>
            <a:r>
              <a:rPr lang="zh-CN" altLang="en-US" sz="1800" dirty="0"/>
              <a:t>；</a:t>
            </a:r>
            <a:endParaRPr lang="en-US" altLang="zh-CN" sz="1800" dirty="0"/>
          </a:p>
          <a:p>
            <a:pPr marL="914400" lvl="1" indent="-285750"/>
            <a:r>
              <a:rPr lang="zh-CN" altLang="en-US" sz="1800" dirty="0"/>
              <a:t>若 </a:t>
            </a:r>
            <a:r>
              <a:rPr lang="en-US" altLang="zh-CN" sz="1800" dirty="0"/>
              <a:t>n </a:t>
            </a:r>
            <a:r>
              <a:rPr lang="zh-CN" altLang="en-US" sz="1800" dirty="0"/>
              <a:t>为奇数，则将其乘以 </a:t>
            </a:r>
            <a:r>
              <a:rPr lang="en-US" altLang="zh-CN" sz="1800" dirty="0"/>
              <a:t>3 </a:t>
            </a:r>
            <a:r>
              <a:rPr lang="zh-CN" altLang="en-US" sz="1800" dirty="0"/>
              <a:t>，然后再加 </a:t>
            </a:r>
            <a:r>
              <a:rPr lang="en-US" altLang="zh-CN" sz="1800" dirty="0"/>
              <a:t>1;</a:t>
            </a:r>
          </a:p>
          <a:p>
            <a:pPr marL="914400" lvl="1" indent="-285750"/>
            <a:r>
              <a:rPr lang="zh-CN" altLang="en-US" sz="1800" dirty="0"/>
              <a:t>如此经过</a:t>
            </a:r>
            <a:r>
              <a:rPr lang="zh-CN" altLang="en-US" sz="1800" dirty="0">
                <a:solidFill>
                  <a:srgbClr val="0303DF"/>
                </a:solidFill>
              </a:rPr>
              <a:t>有限次上述运算</a:t>
            </a:r>
            <a:r>
              <a:rPr lang="zh-CN" altLang="en-US" sz="1800" dirty="0"/>
              <a:t>后，</a:t>
            </a:r>
            <a:r>
              <a:rPr lang="en-US" altLang="zh-CN" sz="1800" dirty="0">
                <a:solidFill>
                  <a:srgbClr val="7030A0"/>
                </a:solidFill>
              </a:rPr>
              <a:t>n</a:t>
            </a:r>
            <a:r>
              <a:rPr lang="zh-CN" altLang="en-US" sz="1800" dirty="0">
                <a:solidFill>
                  <a:srgbClr val="7030A0"/>
                </a:solidFill>
              </a:rPr>
              <a:t>总可以得到自然数</a:t>
            </a:r>
            <a:r>
              <a:rPr lang="en-US" altLang="zh-CN" sz="1800" dirty="0">
                <a:solidFill>
                  <a:srgbClr val="7030A0"/>
                </a:solidFill>
              </a:rPr>
              <a:t>1;</a:t>
            </a:r>
          </a:p>
          <a:p>
            <a:pPr marL="342900" indent="-342900">
              <a:buFont typeface="Wingdings" panose="05000000000000000000" pitchFamily="2" charset="2"/>
              <a:buChar char="l"/>
            </a:pPr>
            <a:r>
              <a:rPr lang="zh-CN" altLang="en-US" sz="2000" dirty="0"/>
              <a:t>伪代码</a:t>
            </a:r>
            <a:endParaRPr lang="en-US" altLang="zh-CN" sz="2000" dirty="0"/>
          </a:p>
          <a:p>
            <a:pPr marL="514350" lvl="2" indent="0">
              <a:lnSpc>
                <a:spcPct val="100000"/>
              </a:lnSpc>
              <a:buNone/>
            </a:pPr>
            <a:r>
              <a:rPr lang="zh-CN" altLang="en-US" sz="1800" dirty="0"/>
              <a:t>输入自然数</a:t>
            </a:r>
            <a:r>
              <a:rPr lang="en-US" altLang="zh-CN" sz="1800" dirty="0"/>
              <a:t>n</a:t>
            </a:r>
            <a:r>
              <a:rPr lang="zh-CN" altLang="en-US" sz="1800" dirty="0"/>
              <a:t>；</a:t>
            </a:r>
            <a:endParaRPr lang="en-US" altLang="zh-CN" sz="1800" dirty="0"/>
          </a:p>
          <a:p>
            <a:pPr marL="514350" lvl="2" indent="0">
              <a:lnSpc>
                <a:spcPct val="100000"/>
              </a:lnSpc>
              <a:buNone/>
            </a:pPr>
            <a:r>
              <a:rPr lang="en-US" altLang="zh-CN" sz="1800" dirty="0"/>
              <a:t>while (n!=1) </a:t>
            </a:r>
          </a:p>
          <a:p>
            <a:pPr marL="514350" lvl="2" indent="0">
              <a:lnSpc>
                <a:spcPct val="100000"/>
              </a:lnSpc>
              <a:buNone/>
            </a:pPr>
            <a:r>
              <a:rPr lang="en-US" altLang="zh-CN" sz="1800" dirty="0"/>
              <a:t>{</a:t>
            </a:r>
          </a:p>
          <a:p>
            <a:pPr marL="514350" lvl="2" indent="0">
              <a:lnSpc>
                <a:spcPct val="100000"/>
              </a:lnSpc>
              <a:buNone/>
            </a:pPr>
            <a:r>
              <a:rPr lang="en-US" altLang="zh-CN" sz="1800" dirty="0"/>
              <a:t>     if n </a:t>
            </a:r>
            <a:r>
              <a:rPr lang="zh-CN" altLang="en-US" sz="1800" dirty="0"/>
              <a:t>为偶数 </a:t>
            </a:r>
            <a:endParaRPr lang="en-US" altLang="zh-CN" sz="1800" dirty="0"/>
          </a:p>
          <a:p>
            <a:pPr marL="514350" lvl="2" indent="0">
              <a:lnSpc>
                <a:spcPct val="100000"/>
              </a:lnSpc>
              <a:buNone/>
            </a:pPr>
            <a:r>
              <a:rPr lang="en-US" altLang="zh-CN" sz="1800" dirty="0"/>
              <a:t>         </a:t>
            </a:r>
            <a:r>
              <a:rPr lang="en-US" altLang="zh-CN" sz="1800" dirty="0" smtClean="0">
                <a:solidFill>
                  <a:srgbClr val="C00000"/>
                </a:solidFill>
              </a:rPr>
              <a:t>n=n/2;</a:t>
            </a:r>
            <a:endParaRPr lang="en-US" altLang="zh-CN" sz="1800" dirty="0">
              <a:solidFill>
                <a:srgbClr val="C00000"/>
              </a:solidFill>
            </a:endParaRPr>
          </a:p>
          <a:p>
            <a:pPr marL="514350" lvl="2" indent="0">
              <a:lnSpc>
                <a:spcPct val="100000"/>
              </a:lnSpc>
              <a:buNone/>
            </a:pPr>
            <a:r>
              <a:rPr lang="en-US" altLang="zh-CN" sz="1800" dirty="0"/>
              <a:t>     else</a:t>
            </a:r>
          </a:p>
          <a:p>
            <a:pPr marL="514350" lvl="2" indent="0">
              <a:lnSpc>
                <a:spcPct val="100000"/>
              </a:lnSpc>
              <a:buNone/>
            </a:pPr>
            <a:r>
              <a:rPr lang="en-US" altLang="zh-CN" sz="1800" dirty="0">
                <a:solidFill>
                  <a:srgbClr val="C00000"/>
                </a:solidFill>
              </a:rPr>
              <a:t>        </a:t>
            </a:r>
            <a:r>
              <a:rPr lang="en-US" altLang="zh-CN" sz="1800" dirty="0" smtClean="0">
                <a:solidFill>
                  <a:srgbClr val="C00000"/>
                </a:solidFill>
              </a:rPr>
              <a:t>n=n*3+1;</a:t>
            </a:r>
            <a:endParaRPr lang="en-US" altLang="zh-CN" sz="1800" dirty="0">
              <a:solidFill>
                <a:srgbClr val="C00000"/>
              </a:solidFill>
            </a:endParaRPr>
          </a:p>
          <a:p>
            <a:pPr marL="514350" lvl="2" indent="0">
              <a:lnSpc>
                <a:spcPct val="100000"/>
              </a:lnSpc>
              <a:buNone/>
            </a:pPr>
            <a:r>
              <a:rPr lang="en-US" altLang="zh-CN" sz="1800" dirty="0"/>
              <a:t>   </a:t>
            </a:r>
            <a:r>
              <a:rPr lang="en-US" altLang="zh-CN" sz="1800" dirty="0" smtClean="0"/>
              <a:t> </a:t>
            </a:r>
            <a:r>
              <a:rPr lang="zh-CN" altLang="en-US" sz="1800" dirty="0"/>
              <a:t>输出</a:t>
            </a:r>
            <a:r>
              <a:rPr lang="en-US" altLang="zh-CN" sz="1800" dirty="0"/>
              <a:t>n</a:t>
            </a:r>
            <a:r>
              <a:rPr lang="zh-CN" altLang="en-US" sz="1800" dirty="0"/>
              <a:t>；</a:t>
            </a:r>
            <a:endParaRPr lang="en-US" altLang="zh-CN" sz="1800" dirty="0"/>
          </a:p>
          <a:p>
            <a:pPr marL="514350" lvl="2" indent="0">
              <a:lnSpc>
                <a:spcPct val="100000"/>
              </a:lnSpc>
              <a:buNone/>
            </a:pPr>
            <a:r>
              <a:rPr lang="en-US" altLang="zh-CN" sz="1800" dirty="0"/>
              <a:t>}</a:t>
            </a:r>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40844557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en-US" dirty="0"/>
              <a:t>指针与数组</a:t>
            </a:r>
          </a:p>
        </p:txBody>
      </p:sp>
      <p:sp>
        <p:nvSpPr>
          <p:cNvPr id="3" name="内容占位符 2"/>
          <p:cNvSpPr>
            <a:spLocks noGrp="1"/>
          </p:cNvSpPr>
          <p:nvPr>
            <p:ph idx="1"/>
          </p:nvPr>
        </p:nvSpPr>
        <p:spPr>
          <a:xfrm>
            <a:off x="485775" y="1135063"/>
            <a:ext cx="5639134" cy="5345112"/>
          </a:xfrm>
        </p:spPr>
        <p:txBody>
          <a:bodyPr/>
          <a:lstStyle/>
          <a:p>
            <a:pPr marL="342900" indent="-342900">
              <a:buFont typeface="Wingdings" panose="05000000000000000000" pitchFamily="2" charset="2"/>
              <a:buChar char="l"/>
            </a:pPr>
            <a:r>
              <a:rPr lang="en-US" altLang="zh-CN" sz="2000" dirty="0">
                <a:solidFill>
                  <a:srgbClr val="030DCD"/>
                </a:solidFill>
              </a:rPr>
              <a:t>int a[8]</a:t>
            </a:r>
            <a:r>
              <a:rPr lang="zh-CN" altLang="en-US" sz="2000" dirty="0">
                <a:solidFill>
                  <a:srgbClr val="030DCD"/>
                </a:solidFill>
              </a:rPr>
              <a:t>；</a:t>
            </a:r>
            <a:endParaRPr lang="en-US" altLang="zh-CN" sz="2000" dirty="0">
              <a:solidFill>
                <a:srgbClr val="030DCD"/>
              </a:solidFill>
            </a:endParaRPr>
          </a:p>
          <a:p>
            <a:pPr marL="342900" indent="-342900">
              <a:buFont typeface="Wingdings" panose="05000000000000000000" pitchFamily="2" charset="2"/>
              <a:buChar char="l"/>
            </a:pPr>
            <a:r>
              <a:rPr lang="zh-CN" altLang="en-US" sz="2000" dirty="0"/>
              <a:t>可以理解为：</a:t>
            </a:r>
            <a:endParaRPr lang="en-US" altLang="zh-CN" sz="2000" dirty="0"/>
          </a:p>
          <a:p>
            <a:pPr marL="971550" lvl="1"/>
            <a:r>
              <a:rPr lang="zh-CN" altLang="en-US" sz="1800" b="1" u="sng" dirty="0">
                <a:solidFill>
                  <a:srgbClr val="C00000"/>
                </a:solidFill>
              </a:rPr>
              <a:t>数组名</a:t>
            </a:r>
            <a:r>
              <a:rPr lang="en-US" altLang="zh-CN" sz="1800" b="1" u="sng" dirty="0">
                <a:solidFill>
                  <a:srgbClr val="C00000"/>
                </a:solidFill>
              </a:rPr>
              <a:t>a</a:t>
            </a:r>
            <a:r>
              <a:rPr lang="zh-CN" altLang="en-US" sz="1800" b="1" u="sng" dirty="0">
                <a:solidFill>
                  <a:srgbClr val="C00000"/>
                </a:solidFill>
              </a:rPr>
              <a:t>是数组的</a:t>
            </a:r>
            <a:r>
              <a:rPr lang="zh-CN" altLang="en-US" sz="1800" b="1" u="sng" dirty="0">
                <a:solidFill>
                  <a:srgbClr val="7030A0"/>
                </a:solidFill>
              </a:rPr>
              <a:t>第一个元素</a:t>
            </a:r>
            <a:r>
              <a:rPr lang="zh-CN" altLang="en-US" sz="1800" b="1" u="sng" dirty="0">
                <a:solidFill>
                  <a:srgbClr val="C00000"/>
                </a:solidFill>
              </a:rPr>
              <a:t>即</a:t>
            </a:r>
            <a:r>
              <a:rPr lang="en-US" altLang="zh-CN" sz="1800" b="1" u="sng" dirty="0">
                <a:solidFill>
                  <a:srgbClr val="C00000"/>
                </a:solidFill>
              </a:rPr>
              <a:t>a[0]</a:t>
            </a:r>
            <a:r>
              <a:rPr lang="zh-CN" altLang="en-US" sz="1800" b="1" u="sng" dirty="0">
                <a:solidFill>
                  <a:srgbClr val="C00000"/>
                </a:solidFill>
              </a:rPr>
              <a:t>的地址</a:t>
            </a:r>
            <a:r>
              <a:rPr lang="zh-CN" altLang="en-US" sz="1800" dirty="0"/>
              <a:t>；</a:t>
            </a:r>
            <a:endParaRPr lang="en-US" altLang="zh-CN" sz="1800" dirty="0"/>
          </a:p>
          <a:p>
            <a:pPr marL="971550" lvl="1"/>
            <a:r>
              <a:rPr lang="zh-CN" altLang="en-US" sz="1800" dirty="0"/>
              <a:t>也可以说</a:t>
            </a:r>
            <a:r>
              <a:rPr lang="zh-CN" altLang="en-US" sz="1800" dirty="0">
                <a:solidFill>
                  <a:srgbClr val="030DCD"/>
                </a:solidFill>
              </a:rPr>
              <a:t>数组名</a:t>
            </a:r>
            <a:r>
              <a:rPr lang="en-US" altLang="zh-CN" sz="1800" dirty="0">
                <a:solidFill>
                  <a:srgbClr val="030DCD"/>
                </a:solidFill>
              </a:rPr>
              <a:t>a</a:t>
            </a:r>
            <a:r>
              <a:rPr lang="zh-CN" altLang="en-US" sz="1800" dirty="0">
                <a:solidFill>
                  <a:srgbClr val="030DCD"/>
                </a:solidFill>
              </a:rPr>
              <a:t>是一个指向数组</a:t>
            </a:r>
            <a:r>
              <a:rPr lang="zh-CN" altLang="en-US" sz="1800" dirty="0">
                <a:solidFill>
                  <a:srgbClr val="7030A0"/>
                </a:solidFill>
              </a:rPr>
              <a:t>第一个</a:t>
            </a:r>
            <a:r>
              <a:rPr lang="zh-CN" altLang="en-US" sz="1800" dirty="0" smtClean="0">
                <a:solidFill>
                  <a:srgbClr val="7030A0"/>
                </a:solidFill>
              </a:rPr>
              <a:t>元素</a:t>
            </a:r>
            <a:r>
              <a:rPr lang="en-US" altLang="zh-CN" sz="1800" dirty="0" smtClean="0">
                <a:solidFill>
                  <a:srgbClr val="7030A0"/>
                </a:solidFill>
              </a:rPr>
              <a:t>a[0]</a:t>
            </a:r>
            <a:r>
              <a:rPr lang="zh-CN" altLang="en-US" sz="1800" dirty="0" smtClean="0">
                <a:solidFill>
                  <a:srgbClr val="030DCD"/>
                </a:solidFill>
              </a:rPr>
              <a:t>的</a:t>
            </a:r>
            <a:r>
              <a:rPr lang="zh-CN" altLang="en-US" sz="1800" dirty="0">
                <a:solidFill>
                  <a:srgbClr val="030DCD"/>
                </a:solidFill>
              </a:rPr>
              <a:t>指针</a:t>
            </a:r>
            <a:r>
              <a:rPr lang="zh-CN" altLang="en-US" sz="1800" dirty="0"/>
              <a:t>，因此，</a:t>
            </a:r>
            <a:r>
              <a:rPr lang="en-US" altLang="zh-CN" sz="1800" dirty="0" err="1">
                <a:solidFill>
                  <a:srgbClr val="006600"/>
                </a:solidFill>
              </a:rPr>
              <a:t>printf</a:t>
            </a:r>
            <a:r>
              <a:rPr lang="en-US" altLang="zh-CN" sz="1800" dirty="0">
                <a:solidFill>
                  <a:srgbClr val="006600"/>
                </a:solidFill>
              </a:rPr>
              <a:t>(“%d”,*a);   //</a:t>
            </a:r>
            <a:r>
              <a:rPr lang="zh-CN" altLang="en-US" sz="1800" dirty="0">
                <a:solidFill>
                  <a:srgbClr val="006600"/>
                </a:solidFill>
              </a:rPr>
              <a:t>输出</a:t>
            </a:r>
            <a:r>
              <a:rPr lang="en-US" altLang="zh-CN" sz="1800" dirty="0">
                <a:solidFill>
                  <a:srgbClr val="006600"/>
                </a:solidFill>
              </a:rPr>
              <a:t>a[0]</a:t>
            </a:r>
            <a:r>
              <a:rPr lang="zh-CN" altLang="en-US" sz="1800" dirty="0">
                <a:solidFill>
                  <a:srgbClr val="006600"/>
                </a:solidFill>
              </a:rPr>
              <a:t>的值；</a:t>
            </a:r>
            <a:endParaRPr lang="en-US" altLang="zh-CN" sz="1800" dirty="0">
              <a:solidFill>
                <a:srgbClr val="006600"/>
              </a:solidFill>
            </a:endParaRPr>
          </a:p>
          <a:p>
            <a:pPr marL="971550" lvl="1"/>
            <a:r>
              <a:rPr lang="zh-CN" altLang="en-US" sz="1800" dirty="0"/>
              <a:t>若</a:t>
            </a:r>
            <a:r>
              <a:rPr lang="en-US" altLang="zh-CN" sz="1800" dirty="0">
                <a:solidFill>
                  <a:srgbClr val="006600"/>
                </a:solidFill>
              </a:rPr>
              <a:t>  int b</a:t>
            </a:r>
            <a:r>
              <a:rPr lang="zh-CN" altLang="en-US" sz="1800" dirty="0">
                <a:solidFill>
                  <a:srgbClr val="006600"/>
                </a:solidFill>
              </a:rPr>
              <a:t>；</a:t>
            </a:r>
            <a:r>
              <a:rPr lang="en-US" altLang="zh-CN" sz="1800" dirty="0">
                <a:solidFill>
                  <a:srgbClr val="006600"/>
                </a:solidFill>
              </a:rPr>
              <a:t>b=*a</a:t>
            </a:r>
            <a:r>
              <a:rPr lang="zh-CN" altLang="en-US" sz="1800" dirty="0">
                <a:solidFill>
                  <a:srgbClr val="006600"/>
                </a:solidFill>
              </a:rPr>
              <a:t>，等价于 </a:t>
            </a:r>
            <a:r>
              <a:rPr lang="en-US" altLang="zh-CN" sz="1800" dirty="0">
                <a:solidFill>
                  <a:srgbClr val="006600"/>
                </a:solidFill>
              </a:rPr>
              <a:t>b=a[0];</a:t>
            </a:r>
          </a:p>
          <a:p>
            <a:pPr marL="342900" indent="-342900">
              <a:buFont typeface="Wingdings" panose="05000000000000000000" pitchFamily="2" charset="2"/>
              <a:buChar char="l"/>
            </a:pPr>
            <a:r>
              <a:rPr lang="zh-CN" altLang="en-US" sz="2000" b="1" dirty="0" smtClean="0">
                <a:solidFill>
                  <a:srgbClr val="C00000"/>
                </a:solidFill>
              </a:rPr>
              <a:t>数组名</a:t>
            </a:r>
            <a:r>
              <a:rPr lang="en-US" altLang="zh-CN" sz="2000" b="1" dirty="0" smtClean="0">
                <a:solidFill>
                  <a:srgbClr val="C00000"/>
                </a:solidFill>
              </a:rPr>
              <a:t>a</a:t>
            </a:r>
            <a:r>
              <a:rPr lang="zh-CN" altLang="en-US" sz="2000" b="1" dirty="0">
                <a:solidFill>
                  <a:srgbClr val="C00000"/>
                </a:solidFill>
              </a:rPr>
              <a:t>是一个</a:t>
            </a:r>
            <a:r>
              <a:rPr lang="zh-CN" altLang="en-US" sz="2000" b="1" dirty="0" smtClean="0">
                <a:solidFill>
                  <a:srgbClr val="C00000"/>
                </a:solidFill>
              </a:rPr>
              <a:t>常量（常量指针）</a:t>
            </a:r>
            <a:endParaRPr lang="en-US" altLang="zh-CN" sz="2000" b="1" dirty="0" smtClean="0">
              <a:solidFill>
                <a:srgbClr val="C00000"/>
              </a:solidFill>
            </a:endParaRPr>
          </a:p>
          <a:p>
            <a:pPr marL="914400" lvl="1" indent="-285750"/>
            <a:r>
              <a:rPr lang="zh-CN" altLang="en-US" sz="1800" b="1" u="sng" dirty="0">
                <a:solidFill>
                  <a:srgbClr val="0303DF"/>
                </a:solidFill>
              </a:rPr>
              <a:t>数组名</a:t>
            </a:r>
            <a:r>
              <a:rPr lang="en-US" altLang="zh-CN" sz="1800" b="1" u="sng" dirty="0">
                <a:solidFill>
                  <a:srgbClr val="0303DF"/>
                </a:solidFill>
              </a:rPr>
              <a:t>a</a:t>
            </a:r>
            <a:r>
              <a:rPr lang="zh-CN" altLang="en-US" sz="1800" b="1" u="sng" dirty="0">
                <a:solidFill>
                  <a:srgbClr val="0303DF"/>
                </a:solidFill>
              </a:rPr>
              <a:t>永远指向</a:t>
            </a:r>
            <a:r>
              <a:rPr lang="en-US" altLang="zh-CN" sz="1800" b="1" u="sng" dirty="0">
                <a:solidFill>
                  <a:srgbClr val="0303DF"/>
                </a:solidFill>
              </a:rPr>
              <a:t>a[0];</a:t>
            </a:r>
          </a:p>
          <a:p>
            <a:pPr marL="914400" lvl="1" indent="-285750"/>
            <a:r>
              <a:rPr lang="zh-CN" altLang="en-US" sz="1800" b="1" u="sng" dirty="0" smtClean="0">
                <a:solidFill>
                  <a:srgbClr val="C00000"/>
                </a:solidFill>
              </a:rPr>
              <a:t> </a:t>
            </a:r>
            <a:r>
              <a:rPr lang="en-US" altLang="zh-CN" sz="1800" b="1" u="sng" dirty="0" smtClean="0">
                <a:solidFill>
                  <a:srgbClr val="7030A0"/>
                </a:solidFill>
              </a:rPr>
              <a:t>a</a:t>
            </a:r>
            <a:r>
              <a:rPr lang="zh-CN" altLang="en-US" sz="1800" b="1" u="sng" dirty="0" smtClean="0">
                <a:solidFill>
                  <a:srgbClr val="7030A0"/>
                </a:solidFill>
              </a:rPr>
              <a:t>指向的位置（</a:t>
            </a:r>
            <a:r>
              <a:rPr lang="en-US" altLang="zh-CN" sz="1800" b="1" u="sng" dirty="0" smtClean="0">
                <a:solidFill>
                  <a:srgbClr val="7030A0"/>
                </a:solidFill>
              </a:rPr>
              <a:t>a</a:t>
            </a:r>
            <a:r>
              <a:rPr lang="zh-CN" altLang="en-US" sz="1800" b="1" u="sng" dirty="0" smtClean="0">
                <a:solidFill>
                  <a:srgbClr val="7030A0"/>
                </a:solidFill>
              </a:rPr>
              <a:t>的值）不允许更改；</a:t>
            </a:r>
            <a:endParaRPr lang="en-US" altLang="zh-CN" sz="1800" b="1" u="sng" dirty="0" smtClean="0">
              <a:solidFill>
                <a:srgbClr val="7030A0"/>
              </a:solidFill>
            </a:endParaRPr>
          </a:p>
          <a:p>
            <a:pPr marL="914400" lvl="1" indent="-285750"/>
            <a:r>
              <a:rPr lang="zh-CN" altLang="en-US" sz="1800" dirty="0" smtClean="0"/>
              <a:t>也就不能</a:t>
            </a:r>
            <a:r>
              <a:rPr lang="zh-CN" altLang="en-US" sz="1800" dirty="0"/>
              <a:t>对</a:t>
            </a:r>
            <a:r>
              <a:rPr lang="en-US" altLang="zh-CN" sz="1800" dirty="0"/>
              <a:t>a</a:t>
            </a:r>
            <a:r>
              <a:rPr lang="zh-CN" altLang="en-US" sz="1800" dirty="0"/>
              <a:t>进行赋值</a:t>
            </a:r>
            <a:r>
              <a:rPr lang="zh-CN" altLang="en-US" sz="1800" dirty="0" smtClean="0"/>
              <a:t>；</a:t>
            </a:r>
            <a:endParaRPr lang="en-US" altLang="zh-CN" sz="1800" dirty="0" smtClean="0"/>
          </a:p>
          <a:p>
            <a:pPr marL="971550" lvl="1"/>
            <a:r>
              <a:rPr lang="zh-CN" altLang="en-US" sz="1800" dirty="0" smtClean="0"/>
              <a:t>如 </a:t>
            </a:r>
            <a:r>
              <a:rPr lang="en-US" altLang="zh-CN" sz="1800" dirty="0"/>
              <a:t>int a[10], b[10]; </a:t>
            </a:r>
            <a:r>
              <a:rPr lang="en-US" altLang="zh-CN" sz="1800" dirty="0" smtClean="0"/>
              <a:t>  </a:t>
            </a:r>
            <a:r>
              <a:rPr lang="en-US" altLang="zh-CN" sz="1800" dirty="0" smtClean="0">
                <a:solidFill>
                  <a:srgbClr val="030DCD"/>
                </a:solidFill>
              </a:rPr>
              <a:t>a=b</a:t>
            </a:r>
            <a:r>
              <a:rPr lang="en-US" altLang="zh-CN" sz="1800" dirty="0">
                <a:solidFill>
                  <a:srgbClr val="030DCD"/>
                </a:solidFill>
              </a:rPr>
              <a:t>;</a:t>
            </a:r>
            <a:r>
              <a:rPr lang="zh-CN" altLang="en-US" sz="1800" dirty="0"/>
              <a:t>是</a:t>
            </a:r>
            <a:r>
              <a:rPr lang="zh-CN" altLang="en-US" sz="1800" dirty="0">
                <a:solidFill>
                  <a:srgbClr val="C00000"/>
                </a:solidFill>
              </a:rPr>
              <a:t>不允许的</a:t>
            </a:r>
            <a:r>
              <a:rPr lang="zh-CN" altLang="en-US" sz="1800" dirty="0"/>
              <a:t>；</a:t>
            </a:r>
            <a:endParaRPr lang="en-US" altLang="zh-CN" sz="1800" dirty="0"/>
          </a:p>
        </p:txBody>
      </p:sp>
      <p:graphicFrame>
        <p:nvGraphicFramePr>
          <p:cNvPr id="4" name="表格 3">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3757034882"/>
              </p:ext>
            </p:extLst>
          </p:nvPr>
        </p:nvGraphicFramePr>
        <p:xfrm>
          <a:off x="7484583" y="1312127"/>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dirty="0">
                          <a:solidFill>
                            <a:srgbClr val="000000"/>
                          </a:solidFill>
                        </a:rPr>
                        <a:t>  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1</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4</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25</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r>
                        <a:rPr lang="en-US" altLang="zh-CN" dirty="0">
                          <a:solidFill>
                            <a:srgbClr val="000000"/>
                          </a:solidFill>
                        </a:rPr>
                        <a:t>   36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dirty="0">
                          <a:solidFill>
                            <a:srgbClr val="000000"/>
                          </a:solidFill>
                        </a:rPr>
                        <a:t>  49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5" name="文本框 4">
            <a:extLst>
              <a:ext uri="{FF2B5EF4-FFF2-40B4-BE49-F238E27FC236}">
                <a16:creationId xmlns:a16="http://schemas.microsoft.com/office/drawing/2014/main" id="{E0A59B83-10E9-4630-99E6-C2ED2E41A7EC}"/>
              </a:ext>
            </a:extLst>
          </p:cNvPr>
          <p:cNvSpPr txBox="1"/>
          <p:nvPr/>
        </p:nvSpPr>
        <p:spPr>
          <a:xfrm>
            <a:off x="6743700" y="1312129"/>
            <a:ext cx="683201" cy="4247317"/>
          </a:xfrm>
          <a:prstGeom prst="rect">
            <a:avLst/>
          </a:prstGeom>
          <a:noFill/>
        </p:spPr>
        <p:txBody>
          <a:bodyPr wrap="square" rtlCol="0">
            <a:spAutoFit/>
          </a:bodyPr>
          <a:lstStyle/>
          <a:p>
            <a:r>
              <a:rPr lang="en-US" altLang="zh-CN" dirty="0">
                <a:solidFill>
                  <a:srgbClr val="000000"/>
                </a:solidFill>
                <a:latin typeface="+mn-ea"/>
              </a:rPr>
              <a:t>a[0]</a:t>
            </a:r>
          </a:p>
          <a:p>
            <a:endParaRPr lang="en-US" altLang="zh-CN" dirty="0">
              <a:solidFill>
                <a:srgbClr val="000000"/>
              </a:solidFill>
              <a:latin typeface="+mn-ea"/>
            </a:endParaRPr>
          </a:p>
          <a:p>
            <a:r>
              <a:rPr lang="en-US" altLang="zh-CN" dirty="0">
                <a:solidFill>
                  <a:srgbClr val="000000"/>
                </a:solidFill>
                <a:latin typeface="+mn-ea"/>
              </a:rPr>
              <a:t>a[1]</a:t>
            </a:r>
          </a:p>
          <a:p>
            <a:endParaRPr lang="en-US" altLang="zh-CN" dirty="0">
              <a:solidFill>
                <a:srgbClr val="000000"/>
              </a:solidFill>
              <a:latin typeface="+mn-ea"/>
            </a:endParaRPr>
          </a:p>
          <a:p>
            <a:r>
              <a:rPr lang="en-US" altLang="zh-CN" dirty="0">
                <a:solidFill>
                  <a:srgbClr val="000000"/>
                </a:solidFill>
                <a:latin typeface="+mn-ea"/>
              </a:rPr>
              <a:t>a[2]</a:t>
            </a:r>
          </a:p>
          <a:p>
            <a:endParaRPr lang="en-US" altLang="zh-CN" dirty="0">
              <a:solidFill>
                <a:srgbClr val="000000"/>
              </a:solidFill>
              <a:latin typeface="+mn-ea"/>
            </a:endParaRPr>
          </a:p>
          <a:p>
            <a:r>
              <a:rPr lang="en-US" altLang="zh-CN" dirty="0">
                <a:solidFill>
                  <a:srgbClr val="000000"/>
                </a:solidFill>
                <a:latin typeface="+mn-ea"/>
              </a:rPr>
              <a:t>a[3]</a:t>
            </a:r>
          </a:p>
          <a:p>
            <a:endParaRPr lang="en-US" altLang="zh-CN" dirty="0">
              <a:solidFill>
                <a:srgbClr val="000000"/>
              </a:solidFill>
              <a:latin typeface="+mn-ea"/>
            </a:endParaRPr>
          </a:p>
          <a:p>
            <a:r>
              <a:rPr lang="en-US" altLang="zh-CN" dirty="0">
                <a:solidFill>
                  <a:srgbClr val="000000"/>
                </a:solidFill>
                <a:latin typeface="+mn-ea"/>
              </a:rPr>
              <a:t>a[4]</a:t>
            </a:r>
          </a:p>
          <a:p>
            <a:endParaRPr lang="en-US" altLang="zh-CN" dirty="0">
              <a:solidFill>
                <a:srgbClr val="000000"/>
              </a:solidFill>
              <a:latin typeface="+mn-ea"/>
            </a:endParaRPr>
          </a:p>
          <a:p>
            <a:r>
              <a:rPr lang="en-US" altLang="zh-CN" dirty="0">
                <a:solidFill>
                  <a:srgbClr val="000000"/>
                </a:solidFill>
                <a:latin typeface="+mn-ea"/>
              </a:rPr>
              <a:t>a[5]</a:t>
            </a:r>
          </a:p>
          <a:p>
            <a:endParaRPr lang="en-US" altLang="zh-CN" dirty="0">
              <a:solidFill>
                <a:srgbClr val="000000"/>
              </a:solidFill>
              <a:latin typeface="+mn-ea"/>
            </a:endParaRPr>
          </a:p>
          <a:p>
            <a:r>
              <a:rPr lang="en-US" altLang="zh-CN" dirty="0">
                <a:solidFill>
                  <a:srgbClr val="000000"/>
                </a:solidFill>
                <a:latin typeface="+mn-ea"/>
              </a:rPr>
              <a:t>a[6]</a:t>
            </a:r>
          </a:p>
          <a:p>
            <a:endParaRPr lang="en-US" altLang="zh-CN" dirty="0">
              <a:solidFill>
                <a:srgbClr val="000000"/>
              </a:solidFill>
              <a:latin typeface="+mn-ea"/>
            </a:endParaRPr>
          </a:p>
          <a:p>
            <a:r>
              <a:rPr lang="en-US" altLang="zh-CN" dirty="0">
                <a:solidFill>
                  <a:srgbClr val="000000"/>
                </a:solidFill>
                <a:latin typeface="+mn-ea"/>
              </a:rPr>
              <a:t>a[7]</a:t>
            </a:r>
            <a:endParaRPr lang="zh-CN" altLang="en-US" dirty="0">
              <a:solidFill>
                <a:srgbClr val="000000"/>
              </a:solidFill>
              <a:latin typeface="+mn-ea"/>
            </a:endParaRPr>
          </a:p>
        </p:txBody>
      </p:sp>
      <p:cxnSp>
        <p:nvCxnSpPr>
          <p:cNvPr id="7" name="直接箭头连接符 6"/>
          <p:cNvCxnSpPr/>
          <p:nvPr/>
        </p:nvCxnSpPr>
        <p:spPr bwMode="auto">
          <a:xfrm>
            <a:off x="6182591" y="1496291"/>
            <a:ext cx="56110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8" name="文本框 7"/>
          <p:cNvSpPr txBox="1"/>
          <p:nvPr/>
        </p:nvSpPr>
        <p:spPr>
          <a:xfrm>
            <a:off x="5904369" y="1319645"/>
            <a:ext cx="399518"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Tree>
    <p:extLst>
      <p:ext uri="{BB962C8B-B14F-4D97-AF65-F5344CB8AC3E}">
        <p14:creationId xmlns:p14="http://schemas.microsoft.com/office/powerpoint/2010/main" val="195845878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指针与数组</a:t>
            </a:r>
          </a:p>
        </p:txBody>
      </p:sp>
      <p:sp>
        <p:nvSpPr>
          <p:cNvPr id="3" name="内容占位符 2"/>
          <p:cNvSpPr>
            <a:spLocks noGrp="1"/>
          </p:cNvSpPr>
          <p:nvPr>
            <p:ph idx="1"/>
          </p:nvPr>
        </p:nvSpPr>
        <p:spPr>
          <a:xfrm>
            <a:off x="485775" y="1135063"/>
            <a:ext cx="5218835" cy="5345112"/>
          </a:xfrm>
        </p:spPr>
        <p:txBody>
          <a:bodyPr/>
          <a:lstStyle/>
          <a:p>
            <a:pPr marL="342900" indent="-342900">
              <a:lnSpc>
                <a:spcPct val="100000"/>
              </a:lnSpc>
              <a:spcBef>
                <a:spcPts val="600"/>
              </a:spcBef>
              <a:buFont typeface="Wingdings" panose="05000000000000000000" pitchFamily="2" charset="2"/>
              <a:buChar char="l"/>
            </a:pPr>
            <a:r>
              <a:rPr lang="zh-CN" altLang="en-US" sz="2000" dirty="0" smtClean="0">
                <a:solidFill>
                  <a:srgbClr val="080808"/>
                </a:solidFill>
              </a:rPr>
              <a:t>可以定义一个与数组元素同类型的</a:t>
            </a:r>
            <a:r>
              <a:rPr lang="zh-CN" altLang="en-US" sz="2000" b="1" dirty="0" smtClean="0">
                <a:solidFill>
                  <a:srgbClr val="7030A0"/>
                </a:solidFill>
              </a:rPr>
              <a:t>指针变量</a:t>
            </a:r>
            <a:r>
              <a:rPr lang="zh-CN" altLang="en-US" sz="2000" dirty="0" smtClean="0">
                <a:solidFill>
                  <a:srgbClr val="080808"/>
                </a:solidFill>
              </a:rPr>
              <a:t>，通过该指针变量访问数组</a:t>
            </a:r>
            <a:endParaRPr lang="en-US" altLang="zh-CN" sz="2000" dirty="0">
              <a:solidFill>
                <a:srgbClr val="080808"/>
              </a:solidFill>
            </a:endParaRPr>
          </a:p>
          <a:p>
            <a:pPr marL="971550" lvl="1">
              <a:lnSpc>
                <a:spcPct val="100000"/>
              </a:lnSpc>
              <a:spcBef>
                <a:spcPts val="0"/>
              </a:spcBef>
            </a:pPr>
            <a:r>
              <a:rPr lang="en-US" altLang="zh-CN" sz="1800" dirty="0" err="1" smtClean="0"/>
              <a:t>int</a:t>
            </a:r>
            <a:r>
              <a:rPr lang="en-US" altLang="zh-CN" sz="1800" dirty="0" smtClean="0"/>
              <a:t> </a:t>
            </a:r>
            <a:r>
              <a:rPr lang="en-US" altLang="zh-CN" sz="1800" dirty="0"/>
              <a:t>a[8]</a:t>
            </a:r>
            <a:r>
              <a:rPr lang="zh-CN" altLang="en-US" sz="1800" dirty="0"/>
              <a:t>；</a:t>
            </a:r>
            <a:endParaRPr lang="en-US" altLang="zh-CN" sz="1800" dirty="0"/>
          </a:p>
          <a:p>
            <a:pPr marL="971550" lvl="1">
              <a:lnSpc>
                <a:spcPct val="100000"/>
              </a:lnSpc>
              <a:spcBef>
                <a:spcPts val="0"/>
              </a:spcBef>
            </a:pPr>
            <a:r>
              <a:rPr lang="en-US" altLang="zh-CN" sz="1800" i="1" dirty="0"/>
              <a:t>int  </a:t>
            </a:r>
            <a:r>
              <a:rPr lang="en-US" altLang="zh-CN" sz="1800" b="1" i="1" dirty="0">
                <a:solidFill>
                  <a:srgbClr val="006600"/>
                </a:solidFill>
              </a:rPr>
              <a:t>*p;</a:t>
            </a:r>
          </a:p>
          <a:p>
            <a:pPr marL="971550" lvl="1">
              <a:lnSpc>
                <a:spcPct val="100000"/>
              </a:lnSpc>
              <a:spcBef>
                <a:spcPts val="0"/>
              </a:spcBef>
            </a:pPr>
            <a:r>
              <a:rPr lang="en-US" altLang="zh-CN" sz="1800" b="1" dirty="0">
                <a:solidFill>
                  <a:srgbClr val="030DCD"/>
                </a:solidFill>
              </a:rPr>
              <a:t>p=a;  //</a:t>
            </a:r>
            <a:r>
              <a:rPr lang="zh-CN" altLang="en-US" sz="1800" b="1" dirty="0">
                <a:solidFill>
                  <a:srgbClr val="030DCD"/>
                </a:solidFill>
              </a:rPr>
              <a:t>等价于 </a:t>
            </a:r>
            <a:r>
              <a:rPr lang="en-US" altLang="zh-CN" sz="1800" b="1" i="1" dirty="0">
                <a:solidFill>
                  <a:srgbClr val="7030A0"/>
                </a:solidFill>
                <a:effectLst>
                  <a:outerShdw blurRad="38100" dist="38100" dir="2700000" algn="tl">
                    <a:srgbClr val="000000">
                      <a:alpha val="43137"/>
                    </a:srgbClr>
                  </a:outerShdw>
                </a:effectLst>
              </a:rPr>
              <a:t>p=&amp;a[0]; </a:t>
            </a:r>
          </a:p>
          <a:p>
            <a:pPr marL="971550" lvl="1">
              <a:lnSpc>
                <a:spcPct val="100000"/>
              </a:lnSpc>
              <a:spcBef>
                <a:spcPts val="0"/>
              </a:spcBef>
            </a:pPr>
            <a:r>
              <a:rPr lang="en-US" altLang="zh-CN" sz="1800" b="1" i="1" u="sng" dirty="0" smtClean="0">
                <a:solidFill>
                  <a:srgbClr val="C00000"/>
                </a:solidFill>
              </a:rPr>
              <a:t>p</a:t>
            </a:r>
            <a:r>
              <a:rPr lang="zh-CN" altLang="en-US" sz="1800" b="1" i="1" u="sng" dirty="0" smtClean="0">
                <a:solidFill>
                  <a:srgbClr val="C00000"/>
                </a:solidFill>
              </a:rPr>
              <a:t>与</a:t>
            </a:r>
            <a:r>
              <a:rPr lang="en-US" altLang="zh-CN" sz="1800" b="1" i="1" u="sng" dirty="0" smtClean="0">
                <a:solidFill>
                  <a:srgbClr val="C00000"/>
                </a:solidFill>
              </a:rPr>
              <a:t>a</a:t>
            </a:r>
            <a:r>
              <a:rPr lang="zh-CN" altLang="en-US" sz="1800" b="1" i="1" u="sng" dirty="0" smtClean="0">
                <a:solidFill>
                  <a:srgbClr val="C00000"/>
                </a:solidFill>
              </a:rPr>
              <a:t>等价；</a:t>
            </a:r>
            <a:endParaRPr lang="en-US" altLang="zh-CN" sz="1800" b="1" i="1" u="sng" dirty="0" smtClean="0">
              <a:solidFill>
                <a:srgbClr val="C00000"/>
              </a:solidFill>
            </a:endParaRPr>
          </a:p>
          <a:p>
            <a:pPr marL="971550" lvl="1">
              <a:lnSpc>
                <a:spcPct val="100000"/>
              </a:lnSpc>
              <a:spcBef>
                <a:spcPts val="0"/>
              </a:spcBef>
            </a:pPr>
            <a:endParaRPr lang="en-US" altLang="zh-CN" sz="1800" b="1" dirty="0">
              <a:solidFill>
                <a:srgbClr val="006600"/>
              </a:solidFill>
            </a:endParaRPr>
          </a:p>
          <a:p>
            <a:pPr marL="971550" lvl="1">
              <a:lnSpc>
                <a:spcPct val="100000"/>
              </a:lnSpc>
              <a:spcBef>
                <a:spcPts val="0"/>
              </a:spcBef>
            </a:pPr>
            <a:r>
              <a:rPr lang="en-US" altLang="zh-CN" sz="1800" b="1" dirty="0">
                <a:solidFill>
                  <a:srgbClr val="006600"/>
                </a:solidFill>
              </a:rPr>
              <a:t>*(</a:t>
            </a:r>
            <a:r>
              <a:rPr lang="en-US" altLang="zh-CN" sz="1800" b="1" dirty="0" err="1">
                <a:solidFill>
                  <a:srgbClr val="006600"/>
                </a:solidFill>
              </a:rPr>
              <a:t>a+i</a:t>
            </a:r>
            <a:r>
              <a:rPr lang="en-US" altLang="zh-CN" sz="1800" b="1" dirty="0">
                <a:solidFill>
                  <a:srgbClr val="006600"/>
                </a:solidFill>
              </a:rPr>
              <a:t>)</a:t>
            </a:r>
            <a:r>
              <a:rPr lang="zh-CN" altLang="en-US" sz="1800" b="1" dirty="0">
                <a:solidFill>
                  <a:srgbClr val="006600"/>
                </a:solidFill>
              </a:rPr>
              <a:t>等价于</a:t>
            </a:r>
            <a:r>
              <a:rPr lang="en-US" altLang="zh-CN" sz="1800" b="1" dirty="0">
                <a:solidFill>
                  <a:srgbClr val="006600"/>
                </a:solidFill>
              </a:rPr>
              <a:t>a[</a:t>
            </a:r>
            <a:r>
              <a:rPr lang="en-US" altLang="zh-CN" sz="1800" b="1" dirty="0" err="1">
                <a:solidFill>
                  <a:srgbClr val="006600"/>
                </a:solidFill>
              </a:rPr>
              <a:t>i</a:t>
            </a:r>
            <a:r>
              <a:rPr lang="en-US" altLang="zh-CN" sz="1800" b="1" dirty="0">
                <a:solidFill>
                  <a:srgbClr val="006600"/>
                </a:solidFill>
              </a:rPr>
              <a:t>];</a:t>
            </a:r>
          </a:p>
          <a:p>
            <a:pPr marL="971550" lvl="1">
              <a:lnSpc>
                <a:spcPct val="100000"/>
              </a:lnSpc>
              <a:spcBef>
                <a:spcPts val="0"/>
              </a:spcBef>
            </a:pPr>
            <a:r>
              <a:rPr lang="en-US" altLang="zh-CN" sz="1800" b="1" dirty="0">
                <a:solidFill>
                  <a:srgbClr val="006600"/>
                </a:solidFill>
              </a:rPr>
              <a:t>*(</a:t>
            </a:r>
            <a:r>
              <a:rPr lang="en-US" altLang="zh-CN" sz="1800" b="1" dirty="0" err="1" smtClean="0">
                <a:solidFill>
                  <a:srgbClr val="006600"/>
                </a:solidFill>
              </a:rPr>
              <a:t>p+i</a:t>
            </a:r>
            <a:r>
              <a:rPr lang="en-US" altLang="zh-CN" sz="1800" b="1" dirty="0" smtClean="0">
                <a:solidFill>
                  <a:srgbClr val="006600"/>
                </a:solidFill>
              </a:rPr>
              <a:t>)</a:t>
            </a:r>
            <a:r>
              <a:rPr lang="zh-CN" altLang="en-US" sz="1800" b="1" dirty="0" smtClean="0">
                <a:solidFill>
                  <a:srgbClr val="006600"/>
                </a:solidFill>
              </a:rPr>
              <a:t>等价</a:t>
            </a:r>
            <a:r>
              <a:rPr lang="zh-CN" altLang="en-US" sz="1800" b="1" dirty="0">
                <a:solidFill>
                  <a:srgbClr val="006600"/>
                </a:solidFill>
              </a:rPr>
              <a:t>于</a:t>
            </a:r>
            <a:r>
              <a:rPr lang="en-US" altLang="zh-CN" sz="1800" b="1" dirty="0">
                <a:solidFill>
                  <a:srgbClr val="006600"/>
                </a:solidFill>
              </a:rPr>
              <a:t>a[</a:t>
            </a:r>
            <a:r>
              <a:rPr lang="en-US" altLang="zh-CN" sz="1800" b="1" dirty="0" err="1">
                <a:solidFill>
                  <a:srgbClr val="006600"/>
                </a:solidFill>
              </a:rPr>
              <a:t>i</a:t>
            </a:r>
            <a:r>
              <a:rPr lang="en-US" altLang="zh-CN" sz="1800" b="1" dirty="0">
                <a:solidFill>
                  <a:srgbClr val="006600"/>
                </a:solidFill>
              </a:rPr>
              <a:t>];</a:t>
            </a:r>
          </a:p>
          <a:p>
            <a:pPr marL="971550" lvl="1">
              <a:lnSpc>
                <a:spcPct val="100000"/>
              </a:lnSpc>
              <a:spcBef>
                <a:spcPts val="0"/>
              </a:spcBef>
            </a:pPr>
            <a:r>
              <a:rPr lang="en-US" altLang="zh-CN" sz="1800" b="1" dirty="0" smtClean="0">
                <a:solidFill>
                  <a:srgbClr val="0303DF"/>
                </a:solidFill>
              </a:rPr>
              <a:t>p=a</a:t>
            </a:r>
            <a:r>
              <a:rPr lang="en-US" altLang="zh-CN" sz="1800" b="1" dirty="0">
                <a:solidFill>
                  <a:srgbClr val="0303DF"/>
                </a:solidFill>
              </a:rPr>
              <a:t>, p+=</a:t>
            </a:r>
            <a:r>
              <a:rPr lang="en-US" altLang="zh-CN" sz="1800" b="1" dirty="0" err="1">
                <a:solidFill>
                  <a:srgbClr val="0303DF"/>
                </a:solidFill>
              </a:rPr>
              <a:t>i</a:t>
            </a:r>
            <a:r>
              <a:rPr lang="en-US" altLang="zh-CN" sz="1800" b="1" dirty="0">
                <a:solidFill>
                  <a:srgbClr val="0303DF"/>
                </a:solidFill>
              </a:rPr>
              <a:t>; </a:t>
            </a:r>
            <a:r>
              <a:rPr lang="en-US" altLang="zh-CN" sz="1800" b="1" dirty="0" smtClean="0">
                <a:solidFill>
                  <a:srgbClr val="0303DF"/>
                </a:solidFill>
              </a:rPr>
              <a:t>   //</a:t>
            </a:r>
            <a:r>
              <a:rPr lang="en-US" altLang="zh-CN" sz="1800" b="1" dirty="0" smtClean="0">
                <a:solidFill>
                  <a:srgbClr val="0070C0"/>
                </a:solidFill>
              </a:rPr>
              <a:t>*</a:t>
            </a:r>
            <a:r>
              <a:rPr lang="en-US" altLang="zh-CN" sz="1800" b="1" dirty="0">
                <a:solidFill>
                  <a:srgbClr val="0070C0"/>
                </a:solidFill>
              </a:rPr>
              <a:t>p</a:t>
            </a:r>
            <a:r>
              <a:rPr lang="zh-CN" altLang="en-US" sz="1800" b="1" dirty="0">
                <a:solidFill>
                  <a:srgbClr val="0070C0"/>
                </a:solidFill>
              </a:rPr>
              <a:t>等价于</a:t>
            </a:r>
            <a:r>
              <a:rPr lang="en-US" altLang="zh-CN" sz="1800" b="1" dirty="0">
                <a:solidFill>
                  <a:srgbClr val="0070C0"/>
                </a:solidFill>
              </a:rPr>
              <a:t>a[</a:t>
            </a:r>
            <a:r>
              <a:rPr lang="en-US" altLang="zh-CN" sz="1800" b="1" dirty="0" err="1">
                <a:solidFill>
                  <a:srgbClr val="0070C0"/>
                </a:solidFill>
              </a:rPr>
              <a:t>i</a:t>
            </a:r>
            <a:r>
              <a:rPr lang="en-US" altLang="zh-CN" sz="1800" b="1" dirty="0" smtClean="0">
                <a:solidFill>
                  <a:srgbClr val="0070C0"/>
                </a:solidFill>
              </a:rPr>
              <a:t>]</a:t>
            </a:r>
          </a:p>
          <a:p>
            <a:pPr marL="971550" lvl="1">
              <a:lnSpc>
                <a:spcPct val="100000"/>
              </a:lnSpc>
              <a:spcBef>
                <a:spcPts val="0"/>
              </a:spcBef>
            </a:pPr>
            <a:r>
              <a:rPr lang="en-US" altLang="zh-CN" sz="1800" b="1" dirty="0" smtClean="0">
                <a:solidFill>
                  <a:srgbClr val="0303DF"/>
                </a:solidFill>
              </a:rPr>
              <a:t>p=a;    </a:t>
            </a:r>
            <a:r>
              <a:rPr lang="en-US" altLang="zh-CN" sz="1800" b="1" dirty="0">
                <a:solidFill>
                  <a:srgbClr val="0070C0"/>
                </a:solidFill>
              </a:rPr>
              <a:t>// p[</a:t>
            </a:r>
            <a:r>
              <a:rPr lang="en-US" altLang="zh-CN" sz="1800" b="1" dirty="0" err="1">
                <a:solidFill>
                  <a:srgbClr val="0070C0"/>
                </a:solidFill>
              </a:rPr>
              <a:t>i</a:t>
            </a:r>
            <a:r>
              <a:rPr lang="en-US" altLang="zh-CN" sz="1800" b="1" dirty="0">
                <a:solidFill>
                  <a:srgbClr val="0070C0"/>
                </a:solidFill>
              </a:rPr>
              <a:t>]</a:t>
            </a:r>
            <a:r>
              <a:rPr lang="en-US" altLang="zh-CN" sz="1800" b="1" dirty="0">
                <a:solidFill>
                  <a:srgbClr val="0070C0"/>
                </a:solidFill>
                <a:sym typeface="Wingdings" panose="05000000000000000000" pitchFamily="2" charset="2"/>
              </a:rPr>
              <a:t> </a:t>
            </a:r>
            <a:r>
              <a:rPr lang="zh-CN" altLang="en-US" sz="1800" b="1" dirty="0">
                <a:solidFill>
                  <a:srgbClr val="0070C0"/>
                </a:solidFill>
              </a:rPr>
              <a:t>等价于</a:t>
            </a:r>
            <a:r>
              <a:rPr lang="en-US" altLang="zh-CN" sz="1800" b="1" dirty="0" smtClean="0">
                <a:solidFill>
                  <a:srgbClr val="0070C0"/>
                </a:solidFill>
              </a:rPr>
              <a:t>a[</a:t>
            </a:r>
            <a:r>
              <a:rPr lang="en-US" altLang="zh-CN" sz="1800" b="1" dirty="0" err="1" smtClean="0">
                <a:solidFill>
                  <a:srgbClr val="0070C0"/>
                </a:solidFill>
              </a:rPr>
              <a:t>i</a:t>
            </a:r>
            <a:r>
              <a:rPr lang="en-US" altLang="zh-CN" sz="1800" b="1" dirty="0" smtClean="0">
                <a:solidFill>
                  <a:srgbClr val="0070C0"/>
                </a:solidFill>
              </a:rPr>
              <a:t>]</a:t>
            </a:r>
            <a:endParaRPr lang="en-US" altLang="zh-CN" sz="1800" b="1" dirty="0">
              <a:solidFill>
                <a:srgbClr val="0070C0"/>
              </a:solidFill>
            </a:endParaRPr>
          </a:p>
          <a:p>
            <a:pPr marL="342900" indent="-342900">
              <a:lnSpc>
                <a:spcPct val="100000"/>
              </a:lnSpc>
              <a:spcBef>
                <a:spcPts val="600"/>
              </a:spcBef>
              <a:buFont typeface="Wingdings" panose="05000000000000000000" pitchFamily="2" charset="2"/>
              <a:buChar char="l"/>
            </a:pPr>
            <a:endParaRPr lang="en-US" altLang="zh-CN" sz="2000" b="1" dirty="0" smtClean="0">
              <a:solidFill>
                <a:srgbClr val="C00000"/>
              </a:solidFill>
            </a:endParaRPr>
          </a:p>
          <a:p>
            <a:pPr marL="342900" indent="-342900">
              <a:lnSpc>
                <a:spcPct val="100000"/>
              </a:lnSpc>
              <a:spcBef>
                <a:spcPts val="600"/>
              </a:spcBef>
              <a:buFont typeface="Wingdings" panose="05000000000000000000" pitchFamily="2" charset="2"/>
              <a:buChar char="l"/>
            </a:pPr>
            <a:r>
              <a:rPr lang="en-US" altLang="zh-CN" sz="2000" b="1" dirty="0" smtClean="0">
                <a:solidFill>
                  <a:srgbClr val="C00000"/>
                </a:solidFill>
              </a:rPr>
              <a:t>a[</a:t>
            </a:r>
            <a:r>
              <a:rPr lang="en-US" altLang="zh-CN" sz="2000" b="1" dirty="0" err="1" smtClean="0">
                <a:solidFill>
                  <a:srgbClr val="C00000"/>
                </a:solidFill>
              </a:rPr>
              <a:t>i</a:t>
            </a:r>
            <a:r>
              <a:rPr lang="en-US" altLang="zh-CN" sz="2000" b="1" dirty="0">
                <a:solidFill>
                  <a:srgbClr val="C00000"/>
                </a:solidFill>
              </a:rPr>
              <a:t>], *(</a:t>
            </a:r>
            <a:r>
              <a:rPr lang="en-US" altLang="zh-CN" sz="2000" b="1" dirty="0" err="1">
                <a:solidFill>
                  <a:srgbClr val="C00000"/>
                </a:solidFill>
              </a:rPr>
              <a:t>a+i</a:t>
            </a:r>
            <a:r>
              <a:rPr lang="en-US" altLang="zh-CN" sz="2000" b="1" dirty="0">
                <a:solidFill>
                  <a:srgbClr val="C00000"/>
                </a:solidFill>
              </a:rPr>
              <a:t>),  *(</a:t>
            </a:r>
            <a:r>
              <a:rPr lang="en-US" altLang="zh-CN" sz="2000" b="1" dirty="0" err="1">
                <a:solidFill>
                  <a:srgbClr val="C00000"/>
                </a:solidFill>
              </a:rPr>
              <a:t>p+i</a:t>
            </a:r>
            <a:r>
              <a:rPr lang="en-US" altLang="zh-CN" sz="2000" b="1" dirty="0">
                <a:solidFill>
                  <a:srgbClr val="C00000"/>
                </a:solidFill>
              </a:rPr>
              <a:t>),  p[</a:t>
            </a:r>
            <a:r>
              <a:rPr lang="en-US" altLang="zh-CN" sz="2000" b="1" dirty="0" err="1">
                <a:solidFill>
                  <a:srgbClr val="C00000"/>
                </a:solidFill>
              </a:rPr>
              <a:t>i</a:t>
            </a:r>
            <a:r>
              <a:rPr lang="en-US" altLang="zh-CN" sz="2000" b="1" dirty="0">
                <a:solidFill>
                  <a:srgbClr val="C00000"/>
                </a:solidFill>
              </a:rPr>
              <a:t>] </a:t>
            </a:r>
            <a:r>
              <a:rPr lang="zh-CN" altLang="en-US" sz="2000" b="1" dirty="0">
                <a:solidFill>
                  <a:srgbClr val="030DCD"/>
                </a:solidFill>
              </a:rPr>
              <a:t>是等价的</a:t>
            </a:r>
            <a:r>
              <a:rPr lang="zh-CN" altLang="en-US" sz="2000" b="1" dirty="0" smtClean="0">
                <a:solidFill>
                  <a:srgbClr val="030DCD"/>
                </a:solidFill>
              </a:rPr>
              <a:t>；</a:t>
            </a:r>
            <a:endParaRPr lang="en-US" altLang="zh-CN" sz="2000" b="1" dirty="0" smtClean="0">
              <a:solidFill>
                <a:srgbClr val="030DCD"/>
              </a:solidFill>
            </a:endParaRPr>
          </a:p>
          <a:p>
            <a:pPr marL="342900" indent="-342900">
              <a:lnSpc>
                <a:spcPct val="100000"/>
              </a:lnSpc>
              <a:spcBef>
                <a:spcPts val="600"/>
              </a:spcBef>
              <a:buFont typeface="Wingdings" panose="05000000000000000000" pitchFamily="2" charset="2"/>
              <a:buChar char="l"/>
            </a:pPr>
            <a:r>
              <a:rPr lang="zh-CN" altLang="en-US" sz="2000" b="1" u="sng" dirty="0" smtClean="0">
                <a:solidFill>
                  <a:srgbClr val="7030A0"/>
                </a:solidFill>
              </a:rPr>
              <a:t>注意</a:t>
            </a:r>
            <a:r>
              <a:rPr lang="en-US" altLang="zh-CN" sz="2000" b="1" u="sng" dirty="0" smtClean="0">
                <a:solidFill>
                  <a:srgbClr val="0070C0"/>
                </a:solidFill>
              </a:rPr>
              <a:t>p</a:t>
            </a:r>
            <a:r>
              <a:rPr lang="zh-CN" altLang="en-US" sz="2000" b="1" u="sng" dirty="0" smtClean="0">
                <a:solidFill>
                  <a:srgbClr val="7030A0"/>
                </a:solidFill>
              </a:rPr>
              <a:t>与</a:t>
            </a:r>
            <a:r>
              <a:rPr lang="en-US" altLang="zh-CN" sz="2000" b="1" u="sng" dirty="0" smtClean="0">
                <a:solidFill>
                  <a:srgbClr val="0070C0"/>
                </a:solidFill>
              </a:rPr>
              <a:t>a</a:t>
            </a:r>
            <a:r>
              <a:rPr lang="zh-CN" altLang="en-US" sz="2000" b="1" u="sng" dirty="0" smtClean="0">
                <a:solidFill>
                  <a:srgbClr val="7030A0"/>
                </a:solidFill>
              </a:rPr>
              <a:t>的区别</a:t>
            </a:r>
            <a:endParaRPr lang="en-US" altLang="zh-CN" sz="2000" b="1" u="sng" dirty="0" smtClean="0">
              <a:solidFill>
                <a:srgbClr val="7030A0"/>
              </a:solidFill>
            </a:endParaRPr>
          </a:p>
          <a:p>
            <a:pPr marL="971550" lvl="1">
              <a:buFont typeface="Wingdings" panose="05000000000000000000" pitchFamily="2" charset="2"/>
              <a:buChar char="l"/>
            </a:pPr>
            <a:r>
              <a:rPr lang="en-US" altLang="zh-CN" sz="1600" dirty="0" smtClean="0">
                <a:solidFill>
                  <a:srgbClr val="080808"/>
                </a:solidFill>
              </a:rPr>
              <a:t>p++</a:t>
            </a:r>
            <a:r>
              <a:rPr lang="zh-CN" altLang="en-US" sz="1600" dirty="0" smtClean="0">
                <a:solidFill>
                  <a:srgbClr val="080808"/>
                </a:solidFill>
              </a:rPr>
              <a:t>可以。（</a:t>
            </a:r>
            <a:r>
              <a:rPr lang="en-US" altLang="zh-CN" sz="1600" dirty="0" smtClean="0">
                <a:solidFill>
                  <a:srgbClr val="080808"/>
                </a:solidFill>
              </a:rPr>
              <a:t>p=p+1</a:t>
            </a:r>
            <a:r>
              <a:rPr lang="zh-CN" altLang="en-US" sz="1600" dirty="0" smtClean="0">
                <a:solidFill>
                  <a:srgbClr val="080808"/>
                </a:solidFill>
              </a:rPr>
              <a:t>，实质上是加了</a:t>
            </a:r>
            <a:r>
              <a:rPr lang="en-US" altLang="zh-CN" sz="1600" dirty="0" smtClean="0">
                <a:solidFill>
                  <a:srgbClr val="080808"/>
                </a:solidFill>
              </a:rPr>
              <a:t>4</a:t>
            </a:r>
            <a:r>
              <a:rPr lang="zh-CN" altLang="en-US" sz="1600" dirty="0" smtClean="0">
                <a:solidFill>
                  <a:srgbClr val="080808"/>
                </a:solidFill>
              </a:rPr>
              <a:t>个字节）</a:t>
            </a:r>
            <a:endParaRPr lang="en-US" altLang="zh-CN" sz="1600" dirty="0" smtClean="0">
              <a:solidFill>
                <a:srgbClr val="080808"/>
              </a:solidFill>
            </a:endParaRPr>
          </a:p>
          <a:p>
            <a:pPr marL="971550" lvl="1">
              <a:buFont typeface="Wingdings" panose="05000000000000000000" pitchFamily="2" charset="2"/>
              <a:buChar char="l"/>
            </a:pPr>
            <a:r>
              <a:rPr lang="en-US" altLang="zh-CN" sz="1600" dirty="0" smtClean="0">
                <a:solidFill>
                  <a:srgbClr val="080808"/>
                </a:solidFill>
              </a:rPr>
              <a:t>a++</a:t>
            </a:r>
            <a:r>
              <a:rPr lang="zh-CN" altLang="en-US" sz="1600" dirty="0" smtClean="0">
                <a:solidFill>
                  <a:srgbClr val="080808"/>
                </a:solidFill>
              </a:rPr>
              <a:t>不可以（数组名是常量指针，数组名永远指向</a:t>
            </a:r>
            <a:r>
              <a:rPr lang="en-US" altLang="zh-CN" sz="1600" dirty="0" smtClean="0">
                <a:solidFill>
                  <a:srgbClr val="080808"/>
                </a:solidFill>
              </a:rPr>
              <a:t>a[0]</a:t>
            </a:r>
            <a:r>
              <a:rPr lang="zh-CN" altLang="en-US" sz="1600" dirty="0" smtClean="0">
                <a:solidFill>
                  <a:srgbClr val="080808"/>
                </a:solidFill>
              </a:rPr>
              <a:t>）</a:t>
            </a:r>
            <a:endParaRPr lang="en-US" altLang="zh-CN" sz="1600" dirty="0">
              <a:solidFill>
                <a:srgbClr val="080808"/>
              </a:solidFill>
            </a:endParaRPr>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zh-CN" altLang="en-US" dirty="0"/>
          </a:p>
        </p:txBody>
      </p:sp>
      <p:graphicFrame>
        <p:nvGraphicFramePr>
          <p:cNvPr id="4" name="表格 3">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1958786293"/>
              </p:ext>
            </p:extLst>
          </p:nvPr>
        </p:nvGraphicFramePr>
        <p:xfrm>
          <a:off x="7318328" y="1312127"/>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dirty="0">
                          <a:solidFill>
                            <a:srgbClr val="000000"/>
                          </a:solidFill>
                        </a:rPr>
                        <a:t>  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1</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4</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25</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r>
                        <a:rPr lang="en-US" altLang="zh-CN" dirty="0">
                          <a:solidFill>
                            <a:srgbClr val="000000"/>
                          </a:solidFill>
                        </a:rPr>
                        <a:t>   36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dirty="0">
                          <a:solidFill>
                            <a:srgbClr val="000000"/>
                          </a:solidFill>
                        </a:rPr>
                        <a:t> </a:t>
                      </a:r>
                      <a:r>
                        <a:rPr lang="en-US" altLang="zh-CN" baseline="0" dirty="0">
                          <a:solidFill>
                            <a:srgbClr val="000000"/>
                          </a:solidFill>
                        </a:rPr>
                        <a:t> </a:t>
                      </a:r>
                      <a:r>
                        <a:rPr lang="en-US" altLang="zh-CN" dirty="0">
                          <a:solidFill>
                            <a:srgbClr val="000000"/>
                          </a:solidFill>
                        </a:rPr>
                        <a:t>49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5" name="文本框 4">
            <a:extLst>
              <a:ext uri="{FF2B5EF4-FFF2-40B4-BE49-F238E27FC236}">
                <a16:creationId xmlns:a16="http://schemas.microsoft.com/office/drawing/2014/main" id="{E0A59B83-10E9-4630-99E6-C2ED2E41A7EC}"/>
              </a:ext>
            </a:extLst>
          </p:cNvPr>
          <p:cNvSpPr txBox="1"/>
          <p:nvPr/>
        </p:nvSpPr>
        <p:spPr>
          <a:xfrm>
            <a:off x="6577445" y="1312129"/>
            <a:ext cx="683201" cy="4247317"/>
          </a:xfrm>
          <a:prstGeom prst="rect">
            <a:avLst/>
          </a:prstGeom>
          <a:noFill/>
        </p:spPr>
        <p:txBody>
          <a:bodyPr wrap="square" rtlCol="0">
            <a:spAutoFit/>
          </a:bodyPr>
          <a:lstStyle/>
          <a:p>
            <a:r>
              <a:rPr lang="en-US" altLang="zh-CN" dirty="0">
                <a:solidFill>
                  <a:srgbClr val="000000"/>
                </a:solidFill>
                <a:latin typeface="+mn-ea"/>
              </a:rPr>
              <a:t>a[0]</a:t>
            </a:r>
          </a:p>
          <a:p>
            <a:endParaRPr lang="en-US" altLang="zh-CN" dirty="0">
              <a:solidFill>
                <a:srgbClr val="000000"/>
              </a:solidFill>
              <a:latin typeface="+mn-ea"/>
            </a:endParaRPr>
          </a:p>
          <a:p>
            <a:r>
              <a:rPr lang="en-US" altLang="zh-CN" dirty="0">
                <a:solidFill>
                  <a:srgbClr val="000000"/>
                </a:solidFill>
                <a:latin typeface="+mn-ea"/>
              </a:rPr>
              <a:t>a[1]</a:t>
            </a:r>
          </a:p>
          <a:p>
            <a:endParaRPr lang="en-US" altLang="zh-CN" dirty="0">
              <a:solidFill>
                <a:srgbClr val="000000"/>
              </a:solidFill>
              <a:latin typeface="+mn-ea"/>
            </a:endParaRPr>
          </a:p>
          <a:p>
            <a:r>
              <a:rPr lang="en-US" altLang="zh-CN" dirty="0">
                <a:solidFill>
                  <a:srgbClr val="000000"/>
                </a:solidFill>
                <a:latin typeface="+mn-ea"/>
              </a:rPr>
              <a:t>a[2]</a:t>
            </a:r>
          </a:p>
          <a:p>
            <a:endParaRPr lang="en-US" altLang="zh-CN" dirty="0">
              <a:solidFill>
                <a:srgbClr val="000000"/>
              </a:solidFill>
              <a:latin typeface="+mn-ea"/>
            </a:endParaRPr>
          </a:p>
          <a:p>
            <a:r>
              <a:rPr lang="en-US" altLang="zh-CN" dirty="0">
                <a:solidFill>
                  <a:srgbClr val="000000"/>
                </a:solidFill>
                <a:latin typeface="+mn-ea"/>
              </a:rPr>
              <a:t>a[3]</a:t>
            </a:r>
          </a:p>
          <a:p>
            <a:endParaRPr lang="en-US" altLang="zh-CN" dirty="0">
              <a:solidFill>
                <a:srgbClr val="000000"/>
              </a:solidFill>
              <a:latin typeface="+mn-ea"/>
            </a:endParaRPr>
          </a:p>
          <a:p>
            <a:r>
              <a:rPr lang="en-US" altLang="zh-CN" dirty="0">
                <a:solidFill>
                  <a:srgbClr val="000000"/>
                </a:solidFill>
                <a:latin typeface="+mn-ea"/>
              </a:rPr>
              <a:t>a[4]</a:t>
            </a:r>
          </a:p>
          <a:p>
            <a:endParaRPr lang="en-US" altLang="zh-CN" dirty="0">
              <a:solidFill>
                <a:srgbClr val="000000"/>
              </a:solidFill>
              <a:latin typeface="+mn-ea"/>
            </a:endParaRPr>
          </a:p>
          <a:p>
            <a:r>
              <a:rPr lang="en-US" altLang="zh-CN" dirty="0">
                <a:solidFill>
                  <a:srgbClr val="000000"/>
                </a:solidFill>
                <a:latin typeface="+mn-ea"/>
              </a:rPr>
              <a:t>a[5]</a:t>
            </a:r>
          </a:p>
          <a:p>
            <a:endParaRPr lang="en-US" altLang="zh-CN" dirty="0">
              <a:solidFill>
                <a:srgbClr val="000000"/>
              </a:solidFill>
              <a:latin typeface="+mn-ea"/>
            </a:endParaRPr>
          </a:p>
          <a:p>
            <a:r>
              <a:rPr lang="en-US" altLang="zh-CN" dirty="0">
                <a:solidFill>
                  <a:srgbClr val="000000"/>
                </a:solidFill>
                <a:latin typeface="+mn-ea"/>
              </a:rPr>
              <a:t>a[6]</a:t>
            </a:r>
          </a:p>
          <a:p>
            <a:endParaRPr lang="en-US" altLang="zh-CN" dirty="0">
              <a:solidFill>
                <a:srgbClr val="000000"/>
              </a:solidFill>
              <a:latin typeface="+mn-ea"/>
            </a:endParaRPr>
          </a:p>
          <a:p>
            <a:r>
              <a:rPr lang="en-US" altLang="zh-CN" dirty="0">
                <a:solidFill>
                  <a:srgbClr val="000000"/>
                </a:solidFill>
                <a:latin typeface="+mn-ea"/>
              </a:rPr>
              <a:t>a[7]</a:t>
            </a:r>
            <a:endParaRPr lang="zh-CN" altLang="en-US" dirty="0">
              <a:solidFill>
                <a:srgbClr val="000000"/>
              </a:solidFill>
              <a:latin typeface="+mn-ea"/>
            </a:endParaRPr>
          </a:p>
        </p:txBody>
      </p:sp>
      <p:cxnSp>
        <p:nvCxnSpPr>
          <p:cNvPr id="7" name="直接箭头连接符 6"/>
          <p:cNvCxnSpPr/>
          <p:nvPr/>
        </p:nvCxnSpPr>
        <p:spPr bwMode="auto">
          <a:xfrm>
            <a:off x="6016336" y="1496291"/>
            <a:ext cx="56110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8" name="文本框 7"/>
          <p:cNvSpPr txBox="1"/>
          <p:nvPr/>
        </p:nvSpPr>
        <p:spPr>
          <a:xfrm>
            <a:off x="5704610" y="1319645"/>
            <a:ext cx="399518"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9" name="文本框 8"/>
          <p:cNvSpPr txBox="1"/>
          <p:nvPr/>
        </p:nvSpPr>
        <p:spPr>
          <a:xfrm>
            <a:off x="5704610" y="1783463"/>
            <a:ext cx="399518" cy="369332"/>
          </a:xfrm>
          <a:prstGeom prst="rect">
            <a:avLst/>
          </a:prstGeom>
          <a:noFill/>
        </p:spPr>
        <p:txBody>
          <a:bodyPr wrap="square" rtlCol="0">
            <a:spAutoFit/>
          </a:bodyPr>
          <a:lstStyle/>
          <a:p>
            <a:r>
              <a:rPr lang="en-US" altLang="zh-CN" dirty="0">
                <a:solidFill>
                  <a:srgbClr val="FF0000"/>
                </a:solidFill>
              </a:rPr>
              <a:t>p</a:t>
            </a:r>
            <a:endParaRPr lang="zh-CN" altLang="en-US" dirty="0">
              <a:solidFill>
                <a:srgbClr val="FF0000"/>
              </a:solidFill>
            </a:endParaRPr>
          </a:p>
        </p:txBody>
      </p:sp>
      <p:cxnSp>
        <p:nvCxnSpPr>
          <p:cNvPr id="10" name="直接箭头连接符 9"/>
          <p:cNvCxnSpPr/>
          <p:nvPr/>
        </p:nvCxnSpPr>
        <p:spPr bwMode="auto">
          <a:xfrm flipV="1">
            <a:off x="5904369" y="1610591"/>
            <a:ext cx="673076" cy="357538"/>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6" name="圆角矩形标注 5"/>
          <p:cNvSpPr/>
          <p:nvPr/>
        </p:nvSpPr>
        <p:spPr bwMode="auto">
          <a:xfrm>
            <a:off x="3511295" y="2652530"/>
            <a:ext cx="3182113" cy="831334"/>
          </a:xfrm>
          <a:prstGeom prst="wedgeRoundRectCallout">
            <a:avLst>
              <a:gd name="adj1" fmla="val -21271"/>
              <a:gd name="adj2" fmla="val 44614"/>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关于</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p[</a:t>
            </a:r>
            <a:r>
              <a:rPr kumimoji="0" lang="en-US" altLang="zh-CN" sz="1400" b="0" i="0" u="none" strike="noStrike" cap="none" normalizeH="0" baseline="0" dirty="0" err="1" smtClean="0">
                <a:ln>
                  <a:noFill/>
                </a:ln>
                <a:solidFill>
                  <a:srgbClr val="080808"/>
                </a:solidFill>
                <a:effectLst/>
                <a:latin typeface="Arial" panose="020B0604020202020204" pitchFamily="34" charset="0"/>
                <a:ea typeface="宋体" panose="02010600030101010101" pitchFamily="2" charset="-122"/>
              </a:rPr>
              <a:t>i</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a:t>
            </a: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的理解：</a:t>
            </a:r>
            <a:endPar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数组名</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a</a:t>
            </a: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是一个指针，</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p</a:t>
            </a: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也是一个指针</a:t>
            </a:r>
            <a:endPar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可以通过</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p[</a:t>
            </a:r>
            <a:r>
              <a:rPr kumimoji="0" lang="en-US" altLang="zh-CN" sz="1400" b="0" i="0" u="none" strike="noStrike" cap="none" normalizeH="0" baseline="0" dirty="0" err="1" smtClean="0">
                <a:ln>
                  <a:noFill/>
                </a:ln>
                <a:solidFill>
                  <a:srgbClr val="080808"/>
                </a:solidFill>
                <a:effectLst/>
                <a:latin typeface="Arial" panose="020B0604020202020204" pitchFamily="34" charset="0"/>
                <a:ea typeface="宋体" panose="02010600030101010101" pitchFamily="2" charset="-122"/>
              </a:rPr>
              <a:t>i</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a:t>
            </a:r>
            <a:r>
              <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访问</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a[</a:t>
            </a:r>
            <a:r>
              <a:rPr kumimoji="0" lang="en-US" altLang="zh-CN" sz="1400" b="0" i="0" u="none" strike="noStrike" cap="none" normalizeH="0" baseline="0" dirty="0" err="1" smtClean="0">
                <a:ln>
                  <a:noFill/>
                </a:ln>
                <a:solidFill>
                  <a:srgbClr val="080808"/>
                </a:solidFill>
                <a:effectLst/>
                <a:latin typeface="Arial" panose="020B0604020202020204" pitchFamily="34" charset="0"/>
                <a:ea typeface="宋体" panose="02010600030101010101" pitchFamily="2" charset="-122"/>
              </a:rPr>
              <a:t>i</a:t>
            </a:r>
            <a:r>
              <a:rPr kumimoji="0" lang="en-US" altLang="zh-CN"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a:t>
            </a:r>
            <a:endParaRPr kumimoji="0" lang="zh-CN" altLang="en-US" sz="14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1005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通过指针访问数组元素</a:t>
            </a:r>
            <a:endParaRPr lang="zh-CN" altLang="en-US" dirty="0"/>
          </a:p>
        </p:txBody>
      </p:sp>
      <p:sp>
        <p:nvSpPr>
          <p:cNvPr id="3" name="内容占位符 2"/>
          <p:cNvSpPr>
            <a:spLocks noGrp="1"/>
          </p:cNvSpPr>
          <p:nvPr>
            <p:ph idx="1"/>
          </p:nvPr>
        </p:nvSpPr>
        <p:spPr>
          <a:xfrm>
            <a:off x="485775" y="1135063"/>
            <a:ext cx="5000625" cy="5345112"/>
          </a:xfrm>
        </p:spPr>
        <p:txBody>
          <a:bodyPr/>
          <a:lstStyle/>
          <a:p>
            <a:pPr marL="342900" indent="-342900">
              <a:buFont typeface="Wingdings" panose="05000000000000000000" pitchFamily="2" charset="2"/>
              <a:buChar char="l"/>
            </a:pPr>
            <a:r>
              <a:rPr lang="zh-CN" altLang="en-US" dirty="0">
                <a:solidFill>
                  <a:srgbClr val="C00000"/>
                </a:solidFill>
              </a:rPr>
              <a:t>利用指针访问数组元素</a:t>
            </a:r>
            <a:endParaRPr lang="en-US" altLang="zh-CN" dirty="0">
              <a:solidFill>
                <a:srgbClr val="C00000"/>
              </a:solidFill>
            </a:endParaRPr>
          </a:p>
          <a:p>
            <a:pPr lvl="1" indent="0">
              <a:lnSpc>
                <a:spcPct val="100000"/>
              </a:lnSpc>
              <a:buNone/>
            </a:pPr>
            <a:r>
              <a:rPr lang="en-US" altLang="zh-CN" sz="1600" dirty="0"/>
              <a:t>int a[8];</a:t>
            </a:r>
          </a:p>
          <a:p>
            <a:pPr lvl="1" indent="0">
              <a:lnSpc>
                <a:spcPct val="100000"/>
              </a:lnSpc>
              <a:buNone/>
            </a:pPr>
            <a:r>
              <a:rPr lang="en-US" altLang="zh-CN" sz="1600" dirty="0"/>
              <a:t>int *p;</a:t>
            </a:r>
          </a:p>
          <a:p>
            <a:pPr lvl="1" indent="0">
              <a:lnSpc>
                <a:spcPct val="100000"/>
              </a:lnSpc>
              <a:buNone/>
            </a:pPr>
            <a:r>
              <a:rPr lang="en-US" altLang="zh-CN" sz="1600" dirty="0"/>
              <a:t>a[7]= -1;  //</a:t>
            </a:r>
            <a:r>
              <a:rPr lang="zh-CN" altLang="en-US" sz="1600" b="1" dirty="0">
                <a:solidFill>
                  <a:srgbClr val="006600"/>
                </a:solidFill>
              </a:rPr>
              <a:t>一组数据的结束标记</a:t>
            </a:r>
            <a:endParaRPr lang="en-US" altLang="zh-CN" sz="1600" b="1" dirty="0">
              <a:solidFill>
                <a:srgbClr val="006600"/>
              </a:solidFill>
            </a:endParaRPr>
          </a:p>
          <a:p>
            <a:pPr lvl="1" indent="0">
              <a:lnSpc>
                <a:spcPct val="100000"/>
              </a:lnSpc>
              <a:buNone/>
            </a:pPr>
            <a:r>
              <a:rPr lang="en-US" altLang="zh-CN" sz="1600" dirty="0"/>
              <a:t>for (int </a:t>
            </a:r>
            <a:r>
              <a:rPr lang="en-US" altLang="zh-CN" sz="1600" dirty="0" err="1"/>
              <a:t>i</a:t>
            </a:r>
            <a:r>
              <a:rPr lang="en-US" altLang="zh-CN" sz="1600" dirty="0"/>
              <a:t>=0;i</a:t>
            </a:r>
            <a:r>
              <a:rPr lang="en-US" altLang="zh-CN" sz="1600" dirty="0" smtClean="0"/>
              <a:t>&lt;=6;i++)  //</a:t>
            </a:r>
            <a:r>
              <a:rPr lang="zh-CN" altLang="en-US" sz="1600" dirty="0" smtClean="0"/>
              <a:t>对数组</a:t>
            </a:r>
            <a:r>
              <a:rPr lang="en-US" altLang="zh-CN" sz="1600" dirty="0" smtClean="0"/>
              <a:t>a</a:t>
            </a:r>
            <a:r>
              <a:rPr lang="zh-CN" altLang="en-US" sz="1600" dirty="0" smtClean="0"/>
              <a:t>各元素赋值</a:t>
            </a:r>
            <a:endParaRPr lang="en-US" altLang="zh-CN" sz="1600" dirty="0"/>
          </a:p>
          <a:p>
            <a:pPr lvl="1" indent="0">
              <a:lnSpc>
                <a:spcPct val="100000"/>
              </a:lnSpc>
              <a:buNone/>
            </a:pPr>
            <a:r>
              <a:rPr lang="en-US" altLang="zh-CN" sz="1600" dirty="0"/>
              <a:t>    a[i]=</a:t>
            </a:r>
            <a:r>
              <a:rPr lang="en-US" altLang="zh-CN" sz="1600" dirty="0" err="1"/>
              <a:t>i</a:t>
            </a:r>
            <a:r>
              <a:rPr lang="en-US" altLang="zh-CN" sz="1600" dirty="0"/>
              <a:t>*</a:t>
            </a:r>
            <a:r>
              <a:rPr lang="en-US" altLang="zh-CN" sz="1600" dirty="0" err="1"/>
              <a:t>i</a:t>
            </a:r>
            <a:r>
              <a:rPr lang="en-US" altLang="zh-CN" sz="1600" dirty="0" smtClean="0"/>
              <a:t>;</a:t>
            </a:r>
          </a:p>
          <a:p>
            <a:pPr lvl="1" indent="0">
              <a:lnSpc>
                <a:spcPct val="100000"/>
              </a:lnSpc>
              <a:buNone/>
            </a:pPr>
            <a:endParaRPr lang="en-US" altLang="zh-CN" sz="1600" dirty="0"/>
          </a:p>
          <a:p>
            <a:pPr lvl="1" indent="0">
              <a:lnSpc>
                <a:spcPct val="100000"/>
              </a:lnSpc>
              <a:buNone/>
            </a:pPr>
            <a:r>
              <a:rPr lang="en-US" altLang="zh-CN" sz="1600" dirty="0" smtClean="0">
                <a:solidFill>
                  <a:srgbClr val="7030A0"/>
                </a:solidFill>
              </a:rPr>
              <a:t>//</a:t>
            </a:r>
            <a:r>
              <a:rPr lang="zh-CN" altLang="en-US" sz="1600" dirty="0" smtClean="0">
                <a:solidFill>
                  <a:srgbClr val="7030A0"/>
                </a:solidFill>
              </a:rPr>
              <a:t>利用指针访问数组</a:t>
            </a:r>
            <a:endParaRPr lang="en-US" altLang="zh-CN" sz="1600" dirty="0" smtClean="0">
              <a:solidFill>
                <a:srgbClr val="7030A0"/>
              </a:solidFill>
            </a:endParaRPr>
          </a:p>
          <a:p>
            <a:pPr lvl="1" indent="0">
              <a:lnSpc>
                <a:spcPct val="100000"/>
              </a:lnSpc>
              <a:buNone/>
            </a:pPr>
            <a:r>
              <a:rPr lang="en-US" altLang="zh-CN" sz="1600" b="1" i="1" dirty="0">
                <a:solidFill>
                  <a:srgbClr val="030DCD"/>
                </a:solidFill>
              </a:rPr>
              <a:t>p=a;    //p=&amp;a[0]; </a:t>
            </a:r>
            <a:endParaRPr lang="en-US" altLang="zh-CN" sz="1600" b="1" i="1" dirty="0">
              <a:solidFill>
                <a:srgbClr val="C00000"/>
              </a:solidFill>
            </a:endParaRPr>
          </a:p>
          <a:p>
            <a:pPr lvl="1" indent="0">
              <a:lnSpc>
                <a:spcPct val="100000"/>
              </a:lnSpc>
              <a:buNone/>
            </a:pPr>
            <a:r>
              <a:rPr lang="en-US" altLang="zh-CN" sz="1600" dirty="0" smtClean="0"/>
              <a:t>while </a:t>
            </a:r>
            <a:r>
              <a:rPr lang="en-US" altLang="zh-CN" sz="1600" dirty="0"/>
              <a:t>(</a:t>
            </a:r>
            <a:r>
              <a:rPr lang="en-US" altLang="zh-CN" sz="1600" dirty="0">
                <a:solidFill>
                  <a:srgbClr val="FF0000"/>
                </a:solidFill>
              </a:rPr>
              <a:t>*p != -1</a:t>
            </a:r>
            <a:r>
              <a:rPr lang="en-US" altLang="zh-CN" sz="1600" dirty="0"/>
              <a:t>)</a:t>
            </a:r>
          </a:p>
          <a:p>
            <a:pPr lvl="1" indent="0">
              <a:lnSpc>
                <a:spcPct val="100000"/>
              </a:lnSpc>
              <a:buNone/>
            </a:pPr>
            <a:r>
              <a:rPr lang="en-US" altLang="zh-CN" sz="1600" dirty="0"/>
              <a:t>    </a:t>
            </a:r>
            <a:r>
              <a:rPr lang="en-US" altLang="zh-CN" sz="1600" dirty="0" err="1"/>
              <a:t>printf</a:t>
            </a:r>
            <a:r>
              <a:rPr lang="en-US" altLang="zh-CN" sz="1600" dirty="0"/>
              <a:t>(“%d </a:t>
            </a:r>
            <a:r>
              <a:rPr lang="en-US" altLang="zh-CN" sz="1600" dirty="0">
                <a:solidFill>
                  <a:srgbClr val="006600"/>
                </a:solidFill>
              </a:rPr>
              <a:t>”,*p++</a:t>
            </a:r>
            <a:r>
              <a:rPr lang="en-US" altLang="zh-CN" sz="1600" dirty="0"/>
              <a:t>);  //</a:t>
            </a:r>
            <a:r>
              <a:rPr lang="zh-CN" altLang="en-US" sz="1600" b="1" i="1" dirty="0">
                <a:solidFill>
                  <a:srgbClr val="C00000"/>
                </a:solidFill>
              </a:rPr>
              <a:t>先取</a:t>
            </a:r>
            <a:r>
              <a:rPr lang="en-US" altLang="zh-CN" sz="1600" b="1" i="1" dirty="0">
                <a:solidFill>
                  <a:srgbClr val="C00000"/>
                </a:solidFill>
              </a:rPr>
              <a:t>*p</a:t>
            </a:r>
            <a:r>
              <a:rPr lang="zh-CN" altLang="en-US" sz="1600" b="1" i="1" dirty="0">
                <a:solidFill>
                  <a:srgbClr val="C00000"/>
                </a:solidFill>
              </a:rPr>
              <a:t>，然后</a:t>
            </a:r>
            <a:r>
              <a:rPr lang="en-US" altLang="zh-CN" sz="1600" b="1" i="1" dirty="0">
                <a:solidFill>
                  <a:srgbClr val="C00000"/>
                </a:solidFill>
              </a:rPr>
              <a:t>p++</a:t>
            </a:r>
          </a:p>
          <a:p>
            <a:pPr lvl="1" indent="0">
              <a:lnSpc>
                <a:spcPct val="100000"/>
              </a:lnSpc>
              <a:buNone/>
            </a:pPr>
            <a:r>
              <a:rPr lang="en-US" altLang="zh-CN" sz="1600" dirty="0" err="1" smtClean="0"/>
              <a:t>printf</a:t>
            </a:r>
            <a:r>
              <a:rPr lang="en-US" altLang="zh-CN" sz="1600" dirty="0"/>
              <a:t>(“\n”);</a:t>
            </a:r>
          </a:p>
          <a:p>
            <a:pPr lvl="1" indent="0">
              <a:lnSpc>
                <a:spcPct val="100000"/>
              </a:lnSpc>
              <a:buNone/>
            </a:pPr>
            <a:endParaRPr lang="en-US" altLang="zh-CN" sz="1600" b="1" dirty="0" smtClean="0">
              <a:solidFill>
                <a:srgbClr val="030DCD"/>
              </a:solidFill>
            </a:endParaRPr>
          </a:p>
          <a:p>
            <a:pPr lvl="1" indent="0">
              <a:lnSpc>
                <a:spcPct val="100000"/>
              </a:lnSpc>
              <a:buNone/>
            </a:pPr>
            <a:r>
              <a:rPr lang="en-US" altLang="zh-CN" sz="1600" dirty="0" smtClean="0">
                <a:solidFill>
                  <a:srgbClr val="7030A0"/>
                </a:solidFill>
              </a:rPr>
              <a:t>//</a:t>
            </a:r>
            <a:r>
              <a:rPr lang="zh-CN" altLang="en-US" sz="1600" dirty="0" smtClean="0">
                <a:solidFill>
                  <a:srgbClr val="7030A0"/>
                </a:solidFill>
              </a:rPr>
              <a:t>将指向数组的指针理解为数组名</a:t>
            </a:r>
            <a:endParaRPr lang="en-US" altLang="zh-CN" sz="1600" dirty="0">
              <a:solidFill>
                <a:srgbClr val="7030A0"/>
              </a:solidFill>
            </a:endParaRPr>
          </a:p>
          <a:p>
            <a:pPr lvl="1" indent="0">
              <a:lnSpc>
                <a:spcPct val="100000"/>
              </a:lnSpc>
              <a:buNone/>
            </a:pPr>
            <a:r>
              <a:rPr lang="en-US" altLang="zh-CN" sz="1600" b="1" dirty="0" smtClean="0">
                <a:solidFill>
                  <a:srgbClr val="030DCD"/>
                </a:solidFill>
              </a:rPr>
              <a:t>p=a</a:t>
            </a:r>
            <a:r>
              <a:rPr lang="en-US" altLang="zh-CN" sz="1600" b="1" dirty="0">
                <a:solidFill>
                  <a:srgbClr val="030DCD"/>
                </a:solidFill>
              </a:rPr>
              <a:t>;    </a:t>
            </a:r>
            <a:r>
              <a:rPr lang="en-US" altLang="zh-CN" sz="1600" b="1" dirty="0" smtClean="0">
                <a:solidFill>
                  <a:srgbClr val="030DCD"/>
                </a:solidFill>
              </a:rPr>
              <a:t>// p</a:t>
            </a:r>
            <a:r>
              <a:rPr lang="zh-CN" altLang="en-US" sz="1600" b="1" dirty="0" smtClean="0">
                <a:solidFill>
                  <a:srgbClr val="030DCD"/>
                </a:solidFill>
              </a:rPr>
              <a:t>重新指向</a:t>
            </a:r>
            <a:r>
              <a:rPr lang="en-US" altLang="zh-CN" sz="1600" b="1" dirty="0">
                <a:solidFill>
                  <a:srgbClr val="030DCD"/>
                </a:solidFill>
              </a:rPr>
              <a:t>a[0]</a:t>
            </a:r>
          </a:p>
          <a:p>
            <a:pPr lvl="1" indent="0">
              <a:lnSpc>
                <a:spcPct val="100000"/>
              </a:lnSpc>
              <a:buNone/>
            </a:pPr>
            <a:r>
              <a:rPr lang="en-US" altLang="zh-CN" sz="1600" dirty="0" smtClean="0"/>
              <a:t>for </a:t>
            </a:r>
            <a:r>
              <a:rPr lang="en-US" altLang="zh-CN" sz="1600" dirty="0"/>
              <a:t>(int </a:t>
            </a:r>
            <a:r>
              <a:rPr lang="en-US" altLang="zh-CN" sz="1600" dirty="0" err="1"/>
              <a:t>i</a:t>
            </a:r>
            <a:r>
              <a:rPr lang="en-US" altLang="zh-CN" sz="1600" dirty="0"/>
              <a:t>=0;i&lt;7;i++)</a:t>
            </a:r>
          </a:p>
          <a:p>
            <a:pPr lvl="1" indent="0">
              <a:lnSpc>
                <a:spcPct val="100000"/>
              </a:lnSpc>
              <a:buNone/>
            </a:pPr>
            <a:r>
              <a:rPr lang="en-US" altLang="zh-CN" sz="1600" dirty="0"/>
              <a:t>    </a:t>
            </a:r>
            <a:r>
              <a:rPr lang="en-US" altLang="zh-CN" sz="1600" dirty="0" err="1"/>
              <a:t>printf</a:t>
            </a:r>
            <a:r>
              <a:rPr lang="en-US" altLang="zh-CN" sz="1600" dirty="0"/>
              <a:t>(“%d </a:t>
            </a:r>
            <a:r>
              <a:rPr lang="en-US" altLang="zh-CN" sz="1600" dirty="0">
                <a:solidFill>
                  <a:srgbClr val="006600"/>
                </a:solidFill>
              </a:rPr>
              <a:t>”,p[</a:t>
            </a:r>
            <a:r>
              <a:rPr lang="en-US" altLang="zh-CN" sz="1600" dirty="0" err="1">
                <a:solidFill>
                  <a:srgbClr val="006600"/>
                </a:solidFill>
              </a:rPr>
              <a:t>i</a:t>
            </a:r>
            <a:r>
              <a:rPr lang="en-US" altLang="zh-CN" sz="1600" dirty="0">
                <a:solidFill>
                  <a:srgbClr val="006600"/>
                </a:solidFill>
              </a:rPr>
              <a:t>]</a:t>
            </a:r>
            <a:r>
              <a:rPr lang="en-US" altLang="zh-CN" sz="1600" dirty="0"/>
              <a:t>);   //</a:t>
            </a:r>
            <a:r>
              <a:rPr lang="en-US" altLang="zh-CN" sz="1600" dirty="0">
                <a:solidFill>
                  <a:srgbClr val="0303DF"/>
                </a:solidFill>
              </a:rPr>
              <a:t>a</a:t>
            </a:r>
            <a:r>
              <a:rPr lang="zh-CN" altLang="en-US" sz="1600" dirty="0">
                <a:solidFill>
                  <a:srgbClr val="0303DF"/>
                </a:solidFill>
              </a:rPr>
              <a:t>与</a:t>
            </a:r>
            <a:r>
              <a:rPr lang="en-US" altLang="zh-CN" sz="1600" dirty="0">
                <a:solidFill>
                  <a:srgbClr val="0303DF"/>
                </a:solidFill>
              </a:rPr>
              <a:t>p</a:t>
            </a:r>
            <a:r>
              <a:rPr lang="zh-CN" altLang="en-US" sz="1600" dirty="0">
                <a:solidFill>
                  <a:srgbClr val="0303DF"/>
                </a:solidFill>
              </a:rPr>
              <a:t>等价</a:t>
            </a:r>
            <a:endParaRPr lang="en-US" altLang="zh-CN" sz="1600" dirty="0">
              <a:solidFill>
                <a:srgbClr val="0303DF"/>
              </a:solidFill>
            </a:endParaRPr>
          </a:p>
          <a:p>
            <a:pPr marL="342900" indent="-342900">
              <a:buFont typeface="Wingdings" panose="05000000000000000000" pitchFamily="2" charset="2"/>
              <a:buChar char="l"/>
            </a:pPr>
            <a:endParaRPr lang="zh-CN" altLang="en-US" dirty="0"/>
          </a:p>
        </p:txBody>
      </p:sp>
      <p:graphicFrame>
        <p:nvGraphicFramePr>
          <p:cNvPr id="9" name="表格 8">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3509800672"/>
              </p:ext>
            </p:extLst>
          </p:nvPr>
        </p:nvGraphicFramePr>
        <p:xfrm>
          <a:off x="7318328" y="1312127"/>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dirty="0">
                          <a:solidFill>
                            <a:srgbClr val="000000"/>
                          </a:solidFill>
                        </a:rPr>
                        <a:t>  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1</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4</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25</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r>
                        <a:rPr lang="en-US" altLang="zh-CN" dirty="0">
                          <a:solidFill>
                            <a:srgbClr val="000000"/>
                          </a:solidFill>
                        </a:rPr>
                        <a:t>   36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b="1" dirty="0">
                          <a:solidFill>
                            <a:srgbClr val="000000"/>
                          </a:solidFill>
                        </a:rPr>
                        <a:t>  </a:t>
                      </a:r>
                      <a:r>
                        <a:rPr lang="en-US" altLang="zh-CN" b="1" dirty="0">
                          <a:solidFill>
                            <a:srgbClr val="C00000"/>
                          </a:solidFill>
                        </a:rPr>
                        <a:t>-1</a:t>
                      </a:r>
                      <a:endParaRPr lang="zh-CN" altLang="en-US"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10" name="文本框 9">
            <a:extLst>
              <a:ext uri="{FF2B5EF4-FFF2-40B4-BE49-F238E27FC236}">
                <a16:creationId xmlns:a16="http://schemas.microsoft.com/office/drawing/2014/main" id="{E0A59B83-10E9-4630-99E6-C2ED2E41A7EC}"/>
              </a:ext>
            </a:extLst>
          </p:cNvPr>
          <p:cNvSpPr txBox="1"/>
          <p:nvPr/>
        </p:nvSpPr>
        <p:spPr>
          <a:xfrm>
            <a:off x="6577445" y="1312129"/>
            <a:ext cx="683201" cy="4247317"/>
          </a:xfrm>
          <a:prstGeom prst="rect">
            <a:avLst/>
          </a:prstGeom>
          <a:noFill/>
        </p:spPr>
        <p:txBody>
          <a:bodyPr wrap="square" rtlCol="0">
            <a:spAutoFit/>
          </a:bodyPr>
          <a:lstStyle/>
          <a:p>
            <a:r>
              <a:rPr lang="en-US" altLang="zh-CN" dirty="0">
                <a:solidFill>
                  <a:srgbClr val="000000"/>
                </a:solidFill>
                <a:latin typeface="+mn-ea"/>
              </a:rPr>
              <a:t>a[0]</a:t>
            </a:r>
          </a:p>
          <a:p>
            <a:endParaRPr lang="en-US" altLang="zh-CN" dirty="0">
              <a:solidFill>
                <a:srgbClr val="000000"/>
              </a:solidFill>
              <a:latin typeface="+mn-ea"/>
            </a:endParaRPr>
          </a:p>
          <a:p>
            <a:r>
              <a:rPr lang="en-US" altLang="zh-CN" dirty="0">
                <a:solidFill>
                  <a:srgbClr val="000000"/>
                </a:solidFill>
                <a:latin typeface="+mn-ea"/>
              </a:rPr>
              <a:t>a[1]</a:t>
            </a:r>
          </a:p>
          <a:p>
            <a:endParaRPr lang="en-US" altLang="zh-CN" dirty="0">
              <a:solidFill>
                <a:srgbClr val="000000"/>
              </a:solidFill>
              <a:latin typeface="+mn-ea"/>
            </a:endParaRPr>
          </a:p>
          <a:p>
            <a:r>
              <a:rPr lang="en-US" altLang="zh-CN" dirty="0">
                <a:solidFill>
                  <a:srgbClr val="000000"/>
                </a:solidFill>
                <a:latin typeface="+mn-ea"/>
              </a:rPr>
              <a:t>a[2]</a:t>
            </a:r>
          </a:p>
          <a:p>
            <a:endParaRPr lang="en-US" altLang="zh-CN" dirty="0">
              <a:solidFill>
                <a:srgbClr val="000000"/>
              </a:solidFill>
              <a:latin typeface="+mn-ea"/>
            </a:endParaRPr>
          </a:p>
          <a:p>
            <a:r>
              <a:rPr lang="en-US" altLang="zh-CN" dirty="0">
                <a:solidFill>
                  <a:srgbClr val="000000"/>
                </a:solidFill>
                <a:latin typeface="+mn-ea"/>
              </a:rPr>
              <a:t>a[3]</a:t>
            </a:r>
          </a:p>
          <a:p>
            <a:endParaRPr lang="en-US" altLang="zh-CN" dirty="0">
              <a:solidFill>
                <a:srgbClr val="000000"/>
              </a:solidFill>
              <a:latin typeface="+mn-ea"/>
            </a:endParaRPr>
          </a:p>
          <a:p>
            <a:r>
              <a:rPr lang="en-US" altLang="zh-CN" dirty="0">
                <a:solidFill>
                  <a:srgbClr val="000000"/>
                </a:solidFill>
                <a:latin typeface="+mn-ea"/>
              </a:rPr>
              <a:t>a[4]</a:t>
            </a:r>
          </a:p>
          <a:p>
            <a:endParaRPr lang="en-US" altLang="zh-CN" dirty="0">
              <a:solidFill>
                <a:srgbClr val="000000"/>
              </a:solidFill>
              <a:latin typeface="+mn-ea"/>
            </a:endParaRPr>
          </a:p>
          <a:p>
            <a:r>
              <a:rPr lang="en-US" altLang="zh-CN" dirty="0">
                <a:solidFill>
                  <a:srgbClr val="000000"/>
                </a:solidFill>
                <a:latin typeface="+mn-ea"/>
              </a:rPr>
              <a:t>a[5]</a:t>
            </a:r>
          </a:p>
          <a:p>
            <a:endParaRPr lang="en-US" altLang="zh-CN" dirty="0">
              <a:solidFill>
                <a:srgbClr val="000000"/>
              </a:solidFill>
              <a:latin typeface="+mn-ea"/>
            </a:endParaRPr>
          </a:p>
          <a:p>
            <a:r>
              <a:rPr lang="en-US" altLang="zh-CN" dirty="0">
                <a:solidFill>
                  <a:srgbClr val="000000"/>
                </a:solidFill>
                <a:latin typeface="+mn-ea"/>
              </a:rPr>
              <a:t>a[6]</a:t>
            </a:r>
          </a:p>
          <a:p>
            <a:endParaRPr lang="en-US" altLang="zh-CN" dirty="0">
              <a:solidFill>
                <a:srgbClr val="000000"/>
              </a:solidFill>
              <a:latin typeface="+mn-ea"/>
            </a:endParaRPr>
          </a:p>
          <a:p>
            <a:r>
              <a:rPr lang="en-US" altLang="zh-CN" dirty="0">
                <a:solidFill>
                  <a:srgbClr val="000000"/>
                </a:solidFill>
                <a:latin typeface="+mn-ea"/>
              </a:rPr>
              <a:t>a[7]</a:t>
            </a:r>
            <a:endParaRPr lang="zh-CN" altLang="en-US" dirty="0">
              <a:solidFill>
                <a:srgbClr val="000000"/>
              </a:solidFill>
              <a:latin typeface="+mn-ea"/>
            </a:endParaRPr>
          </a:p>
        </p:txBody>
      </p:sp>
      <p:cxnSp>
        <p:nvCxnSpPr>
          <p:cNvPr id="11" name="直接箭头连接符 10"/>
          <p:cNvCxnSpPr/>
          <p:nvPr/>
        </p:nvCxnSpPr>
        <p:spPr bwMode="auto">
          <a:xfrm>
            <a:off x="6016336" y="1496291"/>
            <a:ext cx="56110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2" name="文本框 11"/>
          <p:cNvSpPr txBox="1"/>
          <p:nvPr/>
        </p:nvSpPr>
        <p:spPr>
          <a:xfrm>
            <a:off x="5704610" y="1319645"/>
            <a:ext cx="399518"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13" name="文本框 12"/>
          <p:cNvSpPr txBox="1"/>
          <p:nvPr/>
        </p:nvSpPr>
        <p:spPr>
          <a:xfrm>
            <a:off x="5704610" y="1783463"/>
            <a:ext cx="399518" cy="369332"/>
          </a:xfrm>
          <a:prstGeom prst="rect">
            <a:avLst/>
          </a:prstGeom>
          <a:noFill/>
        </p:spPr>
        <p:txBody>
          <a:bodyPr wrap="square" rtlCol="0">
            <a:spAutoFit/>
          </a:bodyPr>
          <a:lstStyle/>
          <a:p>
            <a:r>
              <a:rPr lang="en-US" altLang="zh-CN" dirty="0">
                <a:solidFill>
                  <a:srgbClr val="FF0000"/>
                </a:solidFill>
              </a:rPr>
              <a:t>p</a:t>
            </a:r>
            <a:endParaRPr lang="zh-CN" altLang="en-US" dirty="0">
              <a:solidFill>
                <a:srgbClr val="FF0000"/>
              </a:solidFill>
            </a:endParaRPr>
          </a:p>
        </p:txBody>
      </p:sp>
      <p:cxnSp>
        <p:nvCxnSpPr>
          <p:cNvPr id="14" name="直接箭头连接符 13"/>
          <p:cNvCxnSpPr/>
          <p:nvPr/>
        </p:nvCxnSpPr>
        <p:spPr bwMode="auto">
          <a:xfrm flipV="1">
            <a:off x="5904369" y="1610591"/>
            <a:ext cx="673076" cy="357538"/>
          </a:xfrm>
          <a:prstGeom prst="straightConnector1">
            <a:avLst/>
          </a:prstGeom>
          <a:solidFill>
            <a:schemeClr val="accent1"/>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377509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课后练习：</a:t>
            </a:r>
            <a:r>
              <a:rPr lang="zh-CN" altLang="en-US" dirty="0" smtClean="0"/>
              <a:t>利用</a:t>
            </a:r>
            <a:r>
              <a:rPr lang="zh-CN" altLang="en-US" dirty="0"/>
              <a:t>指针访问整型数组元素</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数组名是个常量指针</a:t>
            </a:r>
            <a:endParaRPr lang="en-US" altLang="zh-CN" dirty="0"/>
          </a:p>
          <a:p>
            <a:pPr lvl="1" indent="0">
              <a:lnSpc>
                <a:spcPct val="100000"/>
              </a:lnSpc>
              <a:buNone/>
            </a:pPr>
            <a:r>
              <a:rPr lang="en-US" altLang="zh-CN" sz="1800" dirty="0" err="1"/>
              <a:t>int</a:t>
            </a:r>
            <a:r>
              <a:rPr lang="en-US" altLang="zh-CN" sz="1800" dirty="0"/>
              <a:t> n=8;</a:t>
            </a:r>
          </a:p>
          <a:p>
            <a:pPr lvl="1" indent="0">
              <a:lnSpc>
                <a:spcPct val="100000"/>
              </a:lnSpc>
              <a:buNone/>
            </a:pPr>
            <a:r>
              <a:rPr lang="en-US" altLang="zh-CN" sz="1800" dirty="0" err="1">
                <a:solidFill>
                  <a:srgbClr val="006600"/>
                </a:solidFill>
              </a:rPr>
              <a:t>int</a:t>
            </a:r>
            <a:r>
              <a:rPr lang="en-US" altLang="zh-CN" sz="1800" dirty="0">
                <a:solidFill>
                  <a:srgbClr val="006600"/>
                </a:solidFill>
              </a:rPr>
              <a:t> a[n], b[n];   //</a:t>
            </a:r>
            <a:r>
              <a:rPr lang="zh-CN" altLang="en-US" sz="1800" dirty="0">
                <a:solidFill>
                  <a:srgbClr val="006600"/>
                </a:solidFill>
              </a:rPr>
              <a:t>整型数组与整型指针</a:t>
            </a:r>
            <a:endParaRPr lang="en-US" altLang="zh-CN" sz="1800" dirty="0">
              <a:solidFill>
                <a:srgbClr val="006600"/>
              </a:solidFill>
            </a:endParaRPr>
          </a:p>
          <a:p>
            <a:pPr lvl="1" indent="0">
              <a:lnSpc>
                <a:spcPct val="100000"/>
              </a:lnSpc>
              <a:buNone/>
            </a:pPr>
            <a:r>
              <a:rPr lang="en-US" altLang="zh-CN" sz="1800" dirty="0" err="1">
                <a:solidFill>
                  <a:srgbClr val="030DCD"/>
                </a:solidFill>
              </a:rPr>
              <a:t>int</a:t>
            </a:r>
            <a:r>
              <a:rPr lang="en-US" altLang="zh-CN" sz="1800" dirty="0">
                <a:solidFill>
                  <a:srgbClr val="030DCD"/>
                </a:solidFill>
              </a:rPr>
              <a:t> *</a:t>
            </a:r>
            <a:r>
              <a:rPr lang="en-US" altLang="zh-CN" sz="1800" dirty="0" err="1">
                <a:solidFill>
                  <a:srgbClr val="030DCD"/>
                </a:solidFill>
              </a:rPr>
              <a:t>ap</a:t>
            </a:r>
            <a:r>
              <a:rPr lang="en-US" altLang="zh-CN" sz="1800" dirty="0">
                <a:solidFill>
                  <a:srgbClr val="030DCD"/>
                </a:solidFill>
              </a:rPr>
              <a:t>=a,*</a:t>
            </a:r>
            <a:r>
              <a:rPr lang="en-US" altLang="zh-CN" sz="1800" dirty="0" err="1">
                <a:solidFill>
                  <a:srgbClr val="030DCD"/>
                </a:solidFill>
              </a:rPr>
              <a:t>bp</a:t>
            </a:r>
            <a:r>
              <a:rPr lang="en-US" altLang="zh-CN" sz="1800" dirty="0">
                <a:solidFill>
                  <a:srgbClr val="030DCD"/>
                </a:solidFill>
              </a:rPr>
              <a:t>=b;   </a:t>
            </a:r>
          </a:p>
          <a:p>
            <a:pPr lvl="1" indent="0">
              <a:lnSpc>
                <a:spcPct val="100000"/>
              </a:lnSpc>
              <a:buNone/>
            </a:pPr>
            <a:r>
              <a:rPr lang="en-US" altLang="zh-CN" sz="1800" dirty="0">
                <a:solidFill>
                  <a:srgbClr val="030DCD"/>
                </a:solidFill>
              </a:rPr>
              <a:t> </a:t>
            </a:r>
            <a:r>
              <a:rPr lang="en-US" altLang="zh-CN" sz="1800" dirty="0"/>
              <a:t>//</a:t>
            </a:r>
            <a:r>
              <a:rPr lang="zh-CN" altLang="en-US" sz="1800" dirty="0"/>
              <a:t>相当于</a:t>
            </a:r>
            <a:r>
              <a:rPr lang="en-US" altLang="zh-CN" sz="1800" dirty="0"/>
              <a:t> </a:t>
            </a:r>
            <a:r>
              <a:rPr lang="en-US" altLang="zh-CN" sz="1800" dirty="0" err="1">
                <a:solidFill>
                  <a:srgbClr val="7030A0"/>
                </a:solidFill>
              </a:rPr>
              <a:t>ap</a:t>
            </a:r>
            <a:r>
              <a:rPr lang="en-US" altLang="zh-CN" sz="1800" dirty="0">
                <a:solidFill>
                  <a:srgbClr val="7030A0"/>
                </a:solidFill>
              </a:rPr>
              <a:t>=&amp;a[0], </a:t>
            </a:r>
            <a:r>
              <a:rPr lang="en-US" altLang="zh-CN" sz="1800" dirty="0" err="1">
                <a:solidFill>
                  <a:srgbClr val="7030A0"/>
                </a:solidFill>
              </a:rPr>
              <a:t>bp</a:t>
            </a:r>
            <a:r>
              <a:rPr lang="en-US" altLang="zh-CN" sz="1800" dirty="0">
                <a:solidFill>
                  <a:srgbClr val="7030A0"/>
                </a:solidFill>
              </a:rPr>
              <a:t>=&amp;b[0];</a:t>
            </a:r>
          </a:p>
          <a:p>
            <a:pPr lvl="1" indent="0">
              <a:lnSpc>
                <a:spcPct val="100000"/>
              </a:lnSpc>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lnSpc>
                <a:spcPct val="100000"/>
              </a:lnSpc>
              <a:buNone/>
            </a:pPr>
            <a:r>
              <a:rPr lang="en-US" altLang="zh-CN" sz="1800" dirty="0"/>
              <a:t>    </a:t>
            </a:r>
            <a:r>
              <a:rPr lang="en-US" altLang="zh-CN" sz="1800" dirty="0">
                <a:solidFill>
                  <a:srgbClr val="7030A0"/>
                </a:solidFill>
              </a:rPr>
              <a:t>*</a:t>
            </a:r>
            <a:r>
              <a:rPr lang="en-US" altLang="zh-CN" sz="1800" dirty="0" err="1">
                <a:solidFill>
                  <a:srgbClr val="7030A0"/>
                </a:solidFill>
              </a:rPr>
              <a:t>ap</a:t>
            </a:r>
            <a:r>
              <a:rPr lang="en-US" altLang="zh-CN" sz="1800" dirty="0">
                <a:solidFill>
                  <a:srgbClr val="7030A0"/>
                </a:solidFill>
              </a:rPr>
              <a:t>++=</a:t>
            </a:r>
            <a:r>
              <a:rPr lang="en-US" altLang="zh-CN" sz="1800" dirty="0" err="1">
                <a:solidFill>
                  <a:srgbClr val="7030A0"/>
                </a:solidFill>
              </a:rPr>
              <a:t>i</a:t>
            </a:r>
            <a:r>
              <a:rPr lang="en-US" altLang="zh-CN" sz="1800" dirty="0">
                <a:solidFill>
                  <a:srgbClr val="7030A0"/>
                </a:solidFill>
              </a:rPr>
              <a:t>*</a:t>
            </a:r>
            <a:r>
              <a:rPr lang="en-US" altLang="zh-CN" sz="1800" dirty="0" err="1">
                <a:solidFill>
                  <a:srgbClr val="7030A0"/>
                </a:solidFill>
              </a:rPr>
              <a:t>i</a:t>
            </a:r>
            <a:r>
              <a:rPr lang="en-US" altLang="zh-CN" sz="1800" dirty="0">
                <a:solidFill>
                  <a:srgbClr val="7030A0"/>
                </a:solidFill>
              </a:rPr>
              <a:t>;      </a:t>
            </a:r>
            <a:r>
              <a:rPr lang="en-US" altLang="zh-CN" sz="1800" dirty="0"/>
              <a:t>//a[</a:t>
            </a:r>
            <a:r>
              <a:rPr lang="en-US" altLang="zh-CN" sz="1800" dirty="0" err="1"/>
              <a:t>i</a:t>
            </a:r>
            <a:r>
              <a:rPr lang="en-US" altLang="zh-CN" sz="1800" dirty="0"/>
              <a:t>]=</a:t>
            </a:r>
            <a:r>
              <a:rPr lang="en-US" altLang="zh-CN" sz="1800" dirty="0" err="1"/>
              <a:t>i</a:t>
            </a:r>
            <a:r>
              <a:rPr lang="en-US" altLang="zh-CN" sz="1800" dirty="0"/>
              <a:t>*</a:t>
            </a:r>
            <a:r>
              <a:rPr lang="en-US" altLang="zh-CN" sz="1800" dirty="0" err="1"/>
              <a:t>i</a:t>
            </a:r>
            <a:r>
              <a:rPr lang="en-US" altLang="zh-CN" sz="1800" dirty="0"/>
              <a:t>;</a:t>
            </a:r>
          </a:p>
          <a:p>
            <a:pPr lvl="1" indent="0">
              <a:lnSpc>
                <a:spcPct val="100000"/>
              </a:lnSpc>
              <a:buNone/>
            </a:pPr>
            <a:endParaRPr lang="en-US" altLang="zh-CN" sz="1800" dirty="0">
              <a:solidFill>
                <a:srgbClr val="FF0000"/>
              </a:solidFill>
            </a:endParaRPr>
          </a:p>
          <a:p>
            <a:pPr lvl="1" indent="0">
              <a:lnSpc>
                <a:spcPct val="100000"/>
              </a:lnSpc>
              <a:buNone/>
            </a:pPr>
            <a:r>
              <a:rPr lang="en-US" altLang="zh-CN" sz="1800" dirty="0">
                <a:solidFill>
                  <a:srgbClr val="FF0000"/>
                </a:solidFill>
              </a:rPr>
              <a:t>//</a:t>
            </a:r>
            <a:r>
              <a:rPr lang="zh-CN" altLang="en-US" sz="1800" dirty="0" smtClean="0">
                <a:solidFill>
                  <a:srgbClr val="FF0000"/>
                </a:solidFill>
              </a:rPr>
              <a:t>思考： 此时，</a:t>
            </a:r>
            <a:r>
              <a:rPr lang="en-US" altLang="zh-CN" sz="1800" dirty="0" err="1" smtClean="0">
                <a:solidFill>
                  <a:srgbClr val="030DCD"/>
                </a:solidFill>
              </a:rPr>
              <a:t>ap</a:t>
            </a:r>
            <a:r>
              <a:rPr lang="en-US" altLang="zh-CN" sz="1800" dirty="0" smtClean="0">
                <a:solidFill>
                  <a:srgbClr val="030DCD"/>
                </a:solidFill>
              </a:rPr>
              <a:t>-a </a:t>
            </a:r>
            <a:r>
              <a:rPr lang="en-US" altLang="zh-CN" sz="1800" dirty="0">
                <a:solidFill>
                  <a:srgbClr val="030DCD"/>
                </a:solidFill>
              </a:rPr>
              <a:t>=?     </a:t>
            </a:r>
          </a:p>
          <a:p>
            <a:pPr lvl="1" indent="0">
              <a:lnSpc>
                <a:spcPct val="100000"/>
              </a:lnSpc>
              <a:buNone/>
            </a:pPr>
            <a:endParaRPr lang="en-US" altLang="zh-CN" sz="1800" dirty="0">
              <a:solidFill>
                <a:srgbClr val="C00000"/>
              </a:solidFill>
            </a:endParaRPr>
          </a:p>
          <a:p>
            <a:pPr lvl="1" indent="0">
              <a:lnSpc>
                <a:spcPct val="100000"/>
              </a:lnSpc>
              <a:buNone/>
            </a:pPr>
            <a:r>
              <a:rPr lang="en-US" altLang="zh-CN" sz="1800" dirty="0">
                <a:solidFill>
                  <a:srgbClr val="C00000"/>
                </a:solidFill>
              </a:rPr>
              <a:t>ap=a;</a:t>
            </a:r>
          </a:p>
          <a:p>
            <a:pPr lvl="1" indent="0">
              <a:lnSpc>
                <a:spcPct val="100000"/>
              </a:lnSpc>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lnSpc>
                <a:spcPct val="100000"/>
              </a:lnSpc>
              <a:buNone/>
            </a:pPr>
            <a:r>
              <a:rPr lang="en-US" altLang="zh-CN" sz="1800" dirty="0">
                <a:solidFill>
                  <a:srgbClr val="030DCD"/>
                </a:solidFill>
              </a:rPr>
              <a:t>    *</a:t>
            </a:r>
            <a:r>
              <a:rPr lang="en-US" altLang="zh-CN" sz="1800" dirty="0" err="1">
                <a:solidFill>
                  <a:srgbClr val="030DCD"/>
                </a:solidFill>
              </a:rPr>
              <a:t>bp</a:t>
            </a:r>
            <a:r>
              <a:rPr lang="en-US" altLang="zh-CN" sz="1800" dirty="0">
                <a:solidFill>
                  <a:srgbClr val="030DCD"/>
                </a:solidFill>
              </a:rPr>
              <a:t>++=*</a:t>
            </a:r>
            <a:r>
              <a:rPr lang="en-US" altLang="zh-CN" sz="1800" dirty="0" err="1">
                <a:solidFill>
                  <a:srgbClr val="030DCD"/>
                </a:solidFill>
              </a:rPr>
              <a:t>ap</a:t>
            </a:r>
            <a:r>
              <a:rPr lang="en-US" altLang="zh-CN" sz="1800" dirty="0">
                <a:solidFill>
                  <a:srgbClr val="030DCD"/>
                </a:solidFill>
              </a:rPr>
              <a:t>++;      </a:t>
            </a:r>
            <a:r>
              <a:rPr lang="en-US" altLang="zh-CN" sz="1800" dirty="0"/>
              <a:t>//b[</a:t>
            </a:r>
            <a:r>
              <a:rPr lang="en-US" altLang="zh-CN" sz="1800" dirty="0" err="1"/>
              <a:t>i</a:t>
            </a:r>
            <a:r>
              <a:rPr lang="en-US" altLang="zh-CN" sz="1800" dirty="0"/>
              <a:t>] = a[</a:t>
            </a:r>
            <a:r>
              <a:rPr lang="en-US" altLang="zh-CN" sz="1800" dirty="0" err="1"/>
              <a:t>i</a:t>
            </a:r>
            <a:r>
              <a:rPr lang="en-US" altLang="zh-CN" sz="1800" dirty="0"/>
              <a:t>];</a:t>
            </a:r>
          </a:p>
          <a:p>
            <a:pPr lvl="1" indent="0">
              <a:lnSpc>
                <a:spcPct val="100000"/>
              </a:lnSpc>
              <a:buNone/>
            </a:pPr>
            <a:r>
              <a:rPr lang="en-US" altLang="zh-CN" sz="1800" dirty="0" err="1">
                <a:solidFill>
                  <a:srgbClr val="FF0000"/>
                </a:solidFill>
              </a:rPr>
              <a:t>bp</a:t>
            </a:r>
            <a:r>
              <a:rPr lang="en-US" altLang="zh-CN" sz="1800" dirty="0">
                <a:solidFill>
                  <a:srgbClr val="FF0000"/>
                </a:solidFill>
              </a:rPr>
              <a:t>=b;</a:t>
            </a:r>
          </a:p>
          <a:p>
            <a:pPr lvl="1" indent="0">
              <a:lnSpc>
                <a:spcPct val="100000"/>
              </a:lnSpc>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lnSpc>
                <a:spcPct val="100000"/>
              </a:lnSpc>
              <a:buNone/>
            </a:pPr>
            <a:r>
              <a:rPr lang="en-US" altLang="zh-CN" sz="1800" dirty="0"/>
              <a:t>    </a:t>
            </a:r>
            <a:r>
              <a:rPr lang="en-US" altLang="zh-CN" sz="1800" dirty="0" err="1"/>
              <a:t>printf</a:t>
            </a:r>
            <a:r>
              <a:rPr lang="en-US" altLang="zh-CN" sz="1800" dirty="0"/>
              <a:t>(“a[%d]=%d ”,</a:t>
            </a:r>
            <a:r>
              <a:rPr lang="en-US" altLang="zh-CN" sz="1800" dirty="0" err="1"/>
              <a:t>i</a:t>
            </a:r>
            <a:r>
              <a:rPr lang="en-US" altLang="zh-CN" sz="1800" dirty="0"/>
              <a:t>, </a:t>
            </a:r>
            <a:r>
              <a:rPr lang="en-US" altLang="zh-CN" sz="1800" dirty="0">
                <a:solidFill>
                  <a:srgbClr val="7030A0"/>
                </a:solidFill>
              </a:rPr>
              <a:t>*</a:t>
            </a:r>
            <a:r>
              <a:rPr lang="en-US" altLang="zh-CN" sz="1800" dirty="0" err="1">
                <a:solidFill>
                  <a:srgbClr val="7030A0"/>
                </a:solidFill>
              </a:rPr>
              <a:t>bp</a:t>
            </a:r>
            <a:r>
              <a:rPr lang="en-US" altLang="zh-CN" sz="1800" dirty="0">
                <a:solidFill>
                  <a:srgbClr val="7030A0"/>
                </a:solidFill>
              </a:rPr>
              <a:t>++</a:t>
            </a:r>
            <a:r>
              <a:rPr lang="en-US" altLang="zh-CN" sz="1800" dirty="0"/>
              <a:t>);  </a:t>
            </a:r>
          </a:p>
          <a:p>
            <a:pPr lvl="1" indent="0">
              <a:buNone/>
            </a:pPr>
            <a:endParaRPr lang="en-US" altLang="zh-CN" dirty="0"/>
          </a:p>
          <a:p>
            <a:pPr lvl="1" indent="0">
              <a:buNone/>
            </a:pPr>
            <a:r>
              <a:rPr lang="en-US" altLang="zh-CN" dirty="0"/>
              <a:t> </a:t>
            </a: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
        <p:nvSpPr>
          <p:cNvPr id="5" name="文本框 4">
            <a:extLst>
              <a:ext uri="{FF2B5EF4-FFF2-40B4-BE49-F238E27FC236}">
                <a16:creationId xmlns:a16="http://schemas.microsoft.com/office/drawing/2014/main" id="{E0A59B83-10E9-4630-99E6-C2ED2E41A7EC}"/>
              </a:ext>
            </a:extLst>
          </p:cNvPr>
          <p:cNvSpPr txBox="1"/>
          <p:nvPr/>
        </p:nvSpPr>
        <p:spPr>
          <a:xfrm>
            <a:off x="6577445" y="1312129"/>
            <a:ext cx="683201" cy="4247317"/>
          </a:xfrm>
          <a:prstGeom prst="rect">
            <a:avLst/>
          </a:prstGeom>
          <a:noFill/>
        </p:spPr>
        <p:txBody>
          <a:bodyPr wrap="square" rtlCol="0">
            <a:spAutoFit/>
          </a:bodyPr>
          <a:lstStyle/>
          <a:p>
            <a:r>
              <a:rPr lang="en-US" altLang="zh-CN" dirty="0">
                <a:solidFill>
                  <a:srgbClr val="000000"/>
                </a:solidFill>
                <a:latin typeface="+mn-ea"/>
              </a:rPr>
              <a:t>a[0]</a:t>
            </a:r>
          </a:p>
          <a:p>
            <a:endParaRPr lang="en-US" altLang="zh-CN" dirty="0">
              <a:solidFill>
                <a:srgbClr val="000000"/>
              </a:solidFill>
              <a:latin typeface="+mn-ea"/>
            </a:endParaRPr>
          </a:p>
          <a:p>
            <a:r>
              <a:rPr lang="en-US" altLang="zh-CN" dirty="0">
                <a:solidFill>
                  <a:srgbClr val="000000"/>
                </a:solidFill>
                <a:latin typeface="+mn-ea"/>
              </a:rPr>
              <a:t>a[1]</a:t>
            </a:r>
          </a:p>
          <a:p>
            <a:endParaRPr lang="en-US" altLang="zh-CN" dirty="0">
              <a:solidFill>
                <a:srgbClr val="000000"/>
              </a:solidFill>
              <a:latin typeface="+mn-ea"/>
            </a:endParaRPr>
          </a:p>
          <a:p>
            <a:r>
              <a:rPr lang="en-US" altLang="zh-CN" dirty="0">
                <a:solidFill>
                  <a:srgbClr val="000000"/>
                </a:solidFill>
                <a:latin typeface="+mn-ea"/>
              </a:rPr>
              <a:t>a[2]</a:t>
            </a:r>
          </a:p>
          <a:p>
            <a:endParaRPr lang="en-US" altLang="zh-CN" dirty="0">
              <a:solidFill>
                <a:srgbClr val="000000"/>
              </a:solidFill>
              <a:latin typeface="+mn-ea"/>
            </a:endParaRPr>
          </a:p>
          <a:p>
            <a:r>
              <a:rPr lang="en-US" altLang="zh-CN" dirty="0">
                <a:solidFill>
                  <a:srgbClr val="000000"/>
                </a:solidFill>
                <a:latin typeface="+mn-ea"/>
              </a:rPr>
              <a:t>a[3]</a:t>
            </a:r>
          </a:p>
          <a:p>
            <a:endParaRPr lang="en-US" altLang="zh-CN" dirty="0">
              <a:solidFill>
                <a:srgbClr val="000000"/>
              </a:solidFill>
              <a:latin typeface="+mn-ea"/>
            </a:endParaRPr>
          </a:p>
          <a:p>
            <a:r>
              <a:rPr lang="en-US" altLang="zh-CN" dirty="0">
                <a:solidFill>
                  <a:srgbClr val="000000"/>
                </a:solidFill>
                <a:latin typeface="+mn-ea"/>
              </a:rPr>
              <a:t>a[4]</a:t>
            </a:r>
          </a:p>
          <a:p>
            <a:endParaRPr lang="en-US" altLang="zh-CN" dirty="0">
              <a:solidFill>
                <a:srgbClr val="000000"/>
              </a:solidFill>
              <a:latin typeface="+mn-ea"/>
            </a:endParaRPr>
          </a:p>
          <a:p>
            <a:r>
              <a:rPr lang="en-US" altLang="zh-CN" dirty="0">
                <a:solidFill>
                  <a:srgbClr val="000000"/>
                </a:solidFill>
                <a:latin typeface="+mn-ea"/>
              </a:rPr>
              <a:t>a[5]</a:t>
            </a:r>
          </a:p>
          <a:p>
            <a:endParaRPr lang="en-US" altLang="zh-CN" dirty="0">
              <a:solidFill>
                <a:srgbClr val="000000"/>
              </a:solidFill>
              <a:latin typeface="+mn-ea"/>
            </a:endParaRPr>
          </a:p>
          <a:p>
            <a:r>
              <a:rPr lang="en-US" altLang="zh-CN" dirty="0">
                <a:solidFill>
                  <a:srgbClr val="000000"/>
                </a:solidFill>
                <a:latin typeface="+mn-ea"/>
              </a:rPr>
              <a:t>a[6]</a:t>
            </a:r>
          </a:p>
          <a:p>
            <a:endParaRPr lang="en-US" altLang="zh-CN" dirty="0">
              <a:solidFill>
                <a:srgbClr val="000000"/>
              </a:solidFill>
              <a:latin typeface="+mn-ea"/>
            </a:endParaRPr>
          </a:p>
          <a:p>
            <a:r>
              <a:rPr lang="en-US" altLang="zh-CN" dirty="0">
                <a:solidFill>
                  <a:srgbClr val="000000"/>
                </a:solidFill>
                <a:latin typeface="+mn-ea"/>
              </a:rPr>
              <a:t>a[7]</a:t>
            </a:r>
            <a:endParaRPr lang="zh-CN" altLang="en-US" dirty="0">
              <a:solidFill>
                <a:srgbClr val="000000"/>
              </a:solidFill>
              <a:latin typeface="+mn-ea"/>
            </a:endParaRPr>
          </a:p>
        </p:txBody>
      </p:sp>
      <p:cxnSp>
        <p:nvCxnSpPr>
          <p:cNvPr id="6" name="直接箭头连接符 5"/>
          <p:cNvCxnSpPr/>
          <p:nvPr/>
        </p:nvCxnSpPr>
        <p:spPr bwMode="auto">
          <a:xfrm>
            <a:off x="6016336" y="1496291"/>
            <a:ext cx="56110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 name="文本框 6"/>
          <p:cNvSpPr txBox="1"/>
          <p:nvPr/>
        </p:nvSpPr>
        <p:spPr>
          <a:xfrm>
            <a:off x="5704610" y="1319645"/>
            <a:ext cx="399518"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8" name="文本框 7"/>
          <p:cNvSpPr txBox="1"/>
          <p:nvPr/>
        </p:nvSpPr>
        <p:spPr>
          <a:xfrm>
            <a:off x="5725392" y="1669747"/>
            <a:ext cx="469391" cy="369332"/>
          </a:xfrm>
          <a:prstGeom prst="rect">
            <a:avLst/>
          </a:prstGeom>
          <a:noFill/>
        </p:spPr>
        <p:txBody>
          <a:bodyPr wrap="square" rtlCol="0">
            <a:spAutoFit/>
          </a:bodyPr>
          <a:lstStyle/>
          <a:p>
            <a:r>
              <a:rPr lang="en-US" altLang="zh-CN" dirty="0" err="1">
                <a:solidFill>
                  <a:srgbClr val="FF0000"/>
                </a:solidFill>
              </a:rPr>
              <a:t>ap</a:t>
            </a:r>
            <a:endParaRPr lang="zh-CN" altLang="en-US" dirty="0">
              <a:solidFill>
                <a:srgbClr val="FF0000"/>
              </a:solidFill>
            </a:endParaRPr>
          </a:p>
        </p:txBody>
      </p:sp>
      <p:cxnSp>
        <p:nvCxnSpPr>
          <p:cNvPr id="9" name="直接箭头连接符 8"/>
          <p:cNvCxnSpPr/>
          <p:nvPr/>
        </p:nvCxnSpPr>
        <p:spPr bwMode="auto">
          <a:xfrm flipV="1">
            <a:off x="6117382" y="1688977"/>
            <a:ext cx="480844" cy="168543"/>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10" name="表格 9">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3391318150"/>
              </p:ext>
            </p:extLst>
          </p:nvPr>
        </p:nvGraphicFramePr>
        <p:xfrm>
          <a:off x="7318328" y="1332908"/>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dirty="0">
                          <a:solidFill>
                            <a:srgbClr val="000000"/>
                          </a:solidFill>
                        </a:rPr>
                        <a:t>  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1</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4</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25</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r>
                        <a:rPr lang="en-US" altLang="zh-CN" dirty="0">
                          <a:solidFill>
                            <a:srgbClr val="000000"/>
                          </a:solidFill>
                        </a:rPr>
                        <a:t>   36</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dirty="0">
                          <a:solidFill>
                            <a:srgbClr val="000000"/>
                          </a:solidFill>
                        </a:rPr>
                        <a:t>  49</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4" name="对话气泡: 圆角矩形 3">
            <a:extLst>
              <a:ext uri="{FF2B5EF4-FFF2-40B4-BE49-F238E27FC236}">
                <a16:creationId xmlns:a16="http://schemas.microsoft.com/office/drawing/2014/main" id="{01108C92-1F8F-4066-9F4F-B3BBC6009835}"/>
              </a:ext>
            </a:extLst>
          </p:cNvPr>
          <p:cNvSpPr/>
          <p:nvPr/>
        </p:nvSpPr>
        <p:spPr bwMode="auto">
          <a:xfrm>
            <a:off x="3710331" y="3285041"/>
            <a:ext cx="2586559" cy="624484"/>
          </a:xfrm>
          <a:prstGeom prst="wedgeRoundRectCallout">
            <a:avLst>
              <a:gd name="adj1" fmla="val -21389"/>
              <a:gd name="adj2" fmla="val 50872"/>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dirty="0" smtClean="0">
                <a:solidFill>
                  <a:srgbClr val="000000"/>
                </a:solidFill>
                <a:ea typeface="宋体" panose="02010600030101010101" pitchFamily="2" charset="-122"/>
              </a:rPr>
              <a:t>此时，</a:t>
            </a:r>
            <a:r>
              <a:rPr lang="en-US" altLang="zh-CN" sz="1600" dirty="0" err="1" smtClean="0">
                <a:solidFill>
                  <a:srgbClr val="000000"/>
                </a:solidFill>
                <a:ea typeface="宋体" panose="02010600030101010101" pitchFamily="2" charset="-122"/>
              </a:rPr>
              <a:t>a</a:t>
            </a:r>
            <a:r>
              <a:rPr kumimoji="0" lang="en-US" altLang="zh-CN" sz="1600" b="0" i="0" u="none" strike="noStrike" cap="none" normalizeH="0" baseline="0" dirty="0" err="1" smtClean="0">
                <a:ln>
                  <a:noFill/>
                </a:ln>
                <a:solidFill>
                  <a:srgbClr val="000000"/>
                </a:solidFill>
                <a:effectLst/>
                <a:latin typeface="Arial" panose="020B0604020202020204" pitchFamily="34" charset="0"/>
                <a:ea typeface="宋体" panose="02010600030101010101" pitchFamily="2" charset="-122"/>
              </a:rPr>
              <a:t>p</a:t>
            </a:r>
            <a:r>
              <a:rPr lang="zh-CN" altLang="en-US" sz="1600" dirty="0">
                <a:solidFill>
                  <a:srgbClr val="000000"/>
                </a:solidFill>
                <a:ea typeface="宋体" panose="02010600030101010101" pitchFamily="2" charset="-122"/>
              </a:rPr>
              <a:t>指向</a:t>
            </a:r>
            <a:r>
              <a:rPr lang="en-US" altLang="zh-CN" sz="1600" dirty="0">
                <a:solidFill>
                  <a:srgbClr val="000000"/>
                </a:solidFill>
                <a:ea typeface="宋体" panose="02010600030101010101" pitchFamily="2" charset="-122"/>
              </a:rPr>
              <a:t>a[7]</a:t>
            </a:r>
            <a:r>
              <a:rPr lang="zh-CN" altLang="en-US" sz="1600" dirty="0">
                <a:solidFill>
                  <a:srgbClr val="000000"/>
                </a:solidFill>
                <a:ea typeface="宋体" panose="02010600030101010101" pitchFamily="2" charset="-122"/>
              </a:rPr>
              <a:t>的后一个字节的位置</a:t>
            </a:r>
            <a:r>
              <a:rPr lang="en-US" altLang="zh-CN" sz="1600" dirty="0" smtClean="0">
                <a:solidFill>
                  <a:srgbClr val="000000"/>
                </a:solidFill>
                <a:ea typeface="宋体" panose="02010600030101010101" pitchFamily="2" charset="-122"/>
              </a:rPr>
              <a:t>,</a:t>
            </a:r>
            <a:r>
              <a:rPr lang="zh-CN" altLang="en-US" sz="1600" dirty="0" smtClean="0">
                <a:solidFill>
                  <a:srgbClr val="000000"/>
                </a:solidFill>
                <a:ea typeface="宋体" panose="02010600030101010101" pitchFamily="2" charset="-122"/>
              </a:rPr>
              <a:t>故  </a:t>
            </a:r>
            <a:r>
              <a:rPr lang="en-US" altLang="zh-CN" sz="1600" dirty="0">
                <a:solidFill>
                  <a:srgbClr val="000000"/>
                </a:solidFill>
                <a:ea typeface="宋体" panose="02010600030101010101" pitchFamily="2" charset="-122"/>
              </a:rPr>
              <a:t>a</a:t>
            </a:r>
            <a:r>
              <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p-a=8</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68282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课后练习：</a:t>
            </a:r>
            <a:r>
              <a:rPr lang="zh-CN" altLang="en-US" dirty="0" smtClean="0"/>
              <a:t>利用</a:t>
            </a:r>
            <a:r>
              <a:rPr lang="zh-CN" altLang="en-US" dirty="0"/>
              <a:t>指针访问浮点数组元素</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数组名是个常量指针</a:t>
            </a:r>
            <a:endParaRPr lang="en-US" altLang="zh-CN" dirty="0"/>
          </a:p>
          <a:p>
            <a:pPr lvl="1" indent="0">
              <a:buNone/>
            </a:pPr>
            <a:r>
              <a:rPr lang="en-US" altLang="zh-CN" sz="1800" dirty="0" err="1"/>
              <a:t>int</a:t>
            </a:r>
            <a:r>
              <a:rPr lang="en-US" altLang="zh-CN" sz="1800" dirty="0"/>
              <a:t> n=10;</a:t>
            </a:r>
          </a:p>
          <a:p>
            <a:pPr lvl="1" indent="0">
              <a:buNone/>
            </a:pPr>
            <a:r>
              <a:rPr lang="en-US" altLang="zh-CN" sz="1800" b="1" dirty="0">
                <a:solidFill>
                  <a:srgbClr val="006600"/>
                </a:solidFill>
              </a:rPr>
              <a:t>float a[n], b[n];    //</a:t>
            </a:r>
            <a:r>
              <a:rPr lang="zh-CN" altLang="en-US" sz="1800" b="1" dirty="0">
                <a:solidFill>
                  <a:srgbClr val="006600"/>
                </a:solidFill>
              </a:rPr>
              <a:t>浮点型数组与浮点型型指针</a:t>
            </a:r>
            <a:endParaRPr lang="en-US" altLang="zh-CN" sz="1800" b="1" dirty="0">
              <a:solidFill>
                <a:srgbClr val="006600"/>
              </a:solidFill>
            </a:endParaRPr>
          </a:p>
          <a:p>
            <a:pPr lvl="1" indent="0">
              <a:buNone/>
            </a:pPr>
            <a:r>
              <a:rPr lang="en-US" altLang="zh-CN" sz="1800" dirty="0">
                <a:solidFill>
                  <a:srgbClr val="030DCD"/>
                </a:solidFill>
              </a:rPr>
              <a:t>float *</a:t>
            </a:r>
            <a:r>
              <a:rPr lang="en-US" altLang="zh-CN" sz="1800" dirty="0" err="1">
                <a:solidFill>
                  <a:srgbClr val="030DCD"/>
                </a:solidFill>
              </a:rPr>
              <a:t>ap</a:t>
            </a:r>
            <a:r>
              <a:rPr lang="en-US" altLang="zh-CN" sz="1800" dirty="0">
                <a:solidFill>
                  <a:srgbClr val="030DCD"/>
                </a:solidFill>
              </a:rPr>
              <a:t>=a,*</a:t>
            </a:r>
            <a:r>
              <a:rPr lang="en-US" altLang="zh-CN" sz="1800" dirty="0" err="1">
                <a:solidFill>
                  <a:srgbClr val="030DCD"/>
                </a:solidFill>
              </a:rPr>
              <a:t>bp</a:t>
            </a:r>
            <a:r>
              <a:rPr lang="en-US" altLang="zh-CN" sz="1800" dirty="0">
                <a:solidFill>
                  <a:srgbClr val="030DCD"/>
                </a:solidFill>
              </a:rPr>
              <a:t>=b;   </a:t>
            </a:r>
          </a:p>
          <a:p>
            <a:pPr lvl="1" indent="0">
              <a:buNone/>
            </a:pPr>
            <a:r>
              <a:rPr lang="en-US" altLang="zh-CN" sz="1800" dirty="0">
                <a:solidFill>
                  <a:srgbClr val="030DCD"/>
                </a:solidFill>
              </a:rPr>
              <a:t> </a:t>
            </a:r>
            <a:r>
              <a:rPr lang="en-US" altLang="zh-CN" sz="1800" dirty="0"/>
              <a:t>//</a:t>
            </a:r>
            <a:r>
              <a:rPr lang="zh-CN" altLang="en-US" sz="1800" dirty="0"/>
              <a:t>相当于</a:t>
            </a:r>
            <a:r>
              <a:rPr lang="en-US" altLang="zh-CN" sz="1800" dirty="0"/>
              <a:t> </a:t>
            </a:r>
            <a:r>
              <a:rPr lang="en-US" altLang="zh-CN" sz="1800" dirty="0" err="1"/>
              <a:t>ap</a:t>
            </a:r>
            <a:r>
              <a:rPr lang="en-US" altLang="zh-CN" sz="1800" dirty="0"/>
              <a:t>=&amp;a[0], </a:t>
            </a:r>
            <a:r>
              <a:rPr lang="en-US" altLang="zh-CN" sz="1800" dirty="0" err="1"/>
              <a:t>bp</a:t>
            </a:r>
            <a:r>
              <a:rPr lang="en-US" altLang="zh-CN" sz="1800" dirty="0"/>
              <a:t>=&amp;b[0];</a:t>
            </a:r>
          </a:p>
          <a:p>
            <a:pPr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buNone/>
            </a:pPr>
            <a:r>
              <a:rPr lang="en-US" altLang="zh-CN" sz="1800" dirty="0"/>
              <a:t>    *</a:t>
            </a:r>
            <a:r>
              <a:rPr lang="en-US" altLang="zh-CN" sz="1800" dirty="0" err="1"/>
              <a:t>ap</a:t>
            </a:r>
            <a:r>
              <a:rPr lang="en-US" altLang="zh-CN" sz="1800" dirty="0"/>
              <a:t>++=</a:t>
            </a:r>
            <a:r>
              <a:rPr lang="en-US" altLang="zh-CN" sz="1800" dirty="0" err="1"/>
              <a:t>i</a:t>
            </a:r>
            <a:r>
              <a:rPr lang="en-US" altLang="zh-CN" sz="1800" dirty="0"/>
              <a:t>*</a:t>
            </a:r>
            <a:r>
              <a:rPr lang="en-US" altLang="zh-CN" sz="1800" dirty="0" err="1"/>
              <a:t>i</a:t>
            </a:r>
            <a:r>
              <a:rPr lang="en-US" altLang="zh-CN" sz="1800" dirty="0"/>
              <a:t>;      //a[</a:t>
            </a:r>
            <a:r>
              <a:rPr lang="en-US" altLang="zh-CN" sz="1800" dirty="0" err="1"/>
              <a:t>i</a:t>
            </a:r>
            <a:r>
              <a:rPr lang="en-US" altLang="zh-CN" sz="1800" dirty="0"/>
              <a:t>]=</a:t>
            </a:r>
            <a:r>
              <a:rPr lang="en-US" altLang="zh-CN" sz="1800" dirty="0" err="1"/>
              <a:t>i</a:t>
            </a:r>
            <a:r>
              <a:rPr lang="en-US" altLang="zh-CN" sz="1800" dirty="0"/>
              <a:t>*</a:t>
            </a:r>
            <a:r>
              <a:rPr lang="en-US" altLang="zh-CN" sz="1800" dirty="0" err="1"/>
              <a:t>i</a:t>
            </a:r>
            <a:r>
              <a:rPr lang="en-US" altLang="zh-CN" sz="1800" dirty="0"/>
              <a:t>;</a:t>
            </a:r>
          </a:p>
          <a:p>
            <a:pPr lvl="1" indent="0">
              <a:buNone/>
            </a:pPr>
            <a:r>
              <a:rPr lang="en-US" altLang="zh-CN" sz="1800" dirty="0">
                <a:solidFill>
                  <a:srgbClr val="FF0000"/>
                </a:solidFill>
              </a:rPr>
              <a:t>//</a:t>
            </a:r>
            <a:r>
              <a:rPr lang="zh-CN" altLang="en-US" sz="1800" dirty="0">
                <a:solidFill>
                  <a:srgbClr val="FF0000"/>
                </a:solidFill>
              </a:rPr>
              <a:t>思考 </a:t>
            </a:r>
            <a:r>
              <a:rPr lang="en-US" altLang="zh-CN" sz="1800" dirty="0" err="1">
                <a:solidFill>
                  <a:srgbClr val="030DCD"/>
                </a:solidFill>
              </a:rPr>
              <a:t>ap</a:t>
            </a:r>
            <a:r>
              <a:rPr lang="en-US" altLang="zh-CN" sz="1800" dirty="0">
                <a:solidFill>
                  <a:srgbClr val="030DCD"/>
                </a:solidFill>
              </a:rPr>
              <a:t>-a =?</a:t>
            </a:r>
          </a:p>
          <a:p>
            <a:pPr lvl="1" indent="0">
              <a:buNone/>
            </a:pPr>
            <a:r>
              <a:rPr lang="en-US" altLang="zh-CN" sz="1800" dirty="0" err="1">
                <a:solidFill>
                  <a:srgbClr val="C00000"/>
                </a:solidFill>
              </a:rPr>
              <a:t>ap</a:t>
            </a:r>
            <a:r>
              <a:rPr lang="en-US" altLang="zh-CN" sz="1800" dirty="0">
                <a:solidFill>
                  <a:srgbClr val="C00000"/>
                </a:solidFill>
              </a:rPr>
              <a:t>=a;</a:t>
            </a:r>
          </a:p>
          <a:p>
            <a:pPr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buNone/>
            </a:pPr>
            <a:r>
              <a:rPr lang="en-US" altLang="zh-CN" sz="1800" dirty="0">
                <a:solidFill>
                  <a:srgbClr val="030DCD"/>
                </a:solidFill>
              </a:rPr>
              <a:t>    *</a:t>
            </a:r>
            <a:r>
              <a:rPr lang="en-US" altLang="zh-CN" sz="1800" dirty="0" err="1">
                <a:solidFill>
                  <a:srgbClr val="030DCD"/>
                </a:solidFill>
              </a:rPr>
              <a:t>bp</a:t>
            </a:r>
            <a:r>
              <a:rPr lang="en-US" altLang="zh-CN" sz="1800" dirty="0">
                <a:solidFill>
                  <a:srgbClr val="030DCD"/>
                </a:solidFill>
              </a:rPr>
              <a:t>++=*</a:t>
            </a:r>
            <a:r>
              <a:rPr lang="en-US" altLang="zh-CN" sz="1800" dirty="0" err="1">
                <a:solidFill>
                  <a:srgbClr val="030DCD"/>
                </a:solidFill>
              </a:rPr>
              <a:t>ap</a:t>
            </a:r>
            <a:r>
              <a:rPr lang="en-US" altLang="zh-CN" sz="1800" dirty="0">
                <a:solidFill>
                  <a:srgbClr val="030DCD"/>
                </a:solidFill>
              </a:rPr>
              <a:t>++;      </a:t>
            </a:r>
            <a:r>
              <a:rPr lang="en-US" altLang="zh-CN" sz="1800" dirty="0"/>
              <a:t>//b[</a:t>
            </a:r>
            <a:r>
              <a:rPr lang="en-US" altLang="zh-CN" sz="1800" dirty="0" err="1"/>
              <a:t>i</a:t>
            </a:r>
            <a:r>
              <a:rPr lang="en-US" altLang="zh-CN" sz="1800" dirty="0"/>
              <a:t>] = a[</a:t>
            </a:r>
            <a:r>
              <a:rPr lang="en-US" altLang="zh-CN" sz="1800" dirty="0" err="1"/>
              <a:t>i</a:t>
            </a:r>
            <a:r>
              <a:rPr lang="en-US" altLang="zh-CN" sz="1800" dirty="0"/>
              <a:t>];</a:t>
            </a:r>
          </a:p>
          <a:p>
            <a:pPr lvl="1" indent="0">
              <a:buNone/>
            </a:pPr>
            <a:r>
              <a:rPr lang="en-US" altLang="zh-CN" sz="1800" dirty="0" err="1">
                <a:solidFill>
                  <a:srgbClr val="FF0000"/>
                </a:solidFill>
              </a:rPr>
              <a:t>bp</a:t>
            </a:r>
            <a:r>
              <a:rPr lang="en-US" altLang="zh-CN" sz="1800" dirty="0">
                <a:solidFill>
                  <a:srgbClr val="FF0000"/>
                </a:solidFill>
              </a:rPr>
              <a:t>=b;</a:t>
            </a:r>
          </a:p>
          <a:p>
            <a:pPr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n;i</a:t>
            </a:r>
            <a:r>
              <a:rPr lang="en-US" altLang="zh-CN" sz="1800" dirty="0"/>
              <a:t>++)</a:t>
            </a:r>
          </a:p>
          <a:p>
            <a:pPr lvl="1" indent="0">
              <a:buNone/>
            </a:pPr>
            <a:r>
              <a:rPr lang="en-US" altLang="zh-CN" sz="1800" dirty="0"/>
              <a:t>    </a:t>
            </a:r>
            <a:r>
              <a:rPr lang="en-US" altLang="zh-CN" sz="1800" dirty="0" err="1"/>
              <a:t>printf</a:t>
            </a:r>
            <a:r>
              <a:rPr lang="en-US" altLang="zh-CN" sz="1800" dirty="0"/>
              <a:t>(“a[%d]=%f ”,</a:t>
            </a:r>
            <a:r>
              <a:rPr lang="en-US" altLang="zh-CN" sz="1800" dirty="0" err="1"/>
              <a:t>i</a:t>
            </a:r>
            <a:r>
              <a:rPr lang="en-US" altLang="zh-CN" sz="1800" dirty="0"/>
              <a:t>, *</a:t>
            </a:r>
            <a:r>
              <a:rPr lang="en-US" altLang="zh-CN" sz="1800" dirty="0" err="1"/>
              <a:t>bp</a:t>
            </a:r>
            <a:r>
              <a:rPr lang="en-US" altLang="zh-CN" sz="1800" dirty="0"/>
              <a:t>++);  </a:t>
            </a:r>
          </a:p>
          <a:p>
            <a:pPr lvl="1" indent="0">
              <a:buNone/>
            </a:pPr>
            <a:endParaRPr lang="en-US" altLang="zh-CN" dirty="0"/>
          </a:p>
          <a:p>
            <a:pPr lvl="1" indent="0">
              <a:buNone/>
            </a:pPr>
            <a:r>
              <a:rPr lang="en-US" altLang="zh-CN" dirty="0"/>
              <a:t> </a:t>
            </a: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
        <p:nvSpPr>
          <p:cNvPr id="5" name="文本框 4">
            <a:extLst>
              <a:ext uri="{FF2B5EF4-FFF2-40B4-BE49-F238E27FC236}">
                <a16:creationId xmlns:a16="http://schemas.microsoft.com/office/drawing/2014/main" id="{E0A59B83-10E9-4630-99E6-C2ED2E41A7EC}"/>
              </a:ext>
            </a:extLst>
          </p:cNvPr>
          <p:cNvSpPr txBox="1"/>
          <p:nvPr/>
        </p:nvSpPr>
        <p:spPr>
          <a:xfrm>
            <a:off x="6577445" y="1312129"/>
            <a:ext cx="683201" cy="4247317"/>
          </a:xfrm>
          <a:prstGeom prst="rect">
            <a:avLst/>
          </a:prstGeom>
          <a:noFill/>
        </p:spPr>
        <p:txBody>
          <a:bodyPr wrap="square" rtlCol="0">
            <a:spAutoFit/>
          </a:bodyPr>
          <a:lstStyle/>
          <a:p>
            <a:r>
              <a:rPr lang="en-US" altLang="zh-CN" dirty="0">
                <a:solidFill>
                  <a:srgbClr val="000000"/>
                </a:solidFill>
                <a:latin typeface="+mn-ea"/>
              </a:rPr>
              <a:t>a[0]</a:t>
            </a:r>
          </a:p>
          <a:p>
            <a:endParaRPr lang="en-US" altLang="zh-CN" dirty="0">
              <a:solidFill>
                <a:srgbClr val="000000"/>
              </a:solidFill>
              <a:latin typeface="+mn-ea"/>
            </a:endParaRPr>
          </a:p>
          <a:p>
            <a:r>
              <a:rPr lang="en-US" altLang="zh-CN" dirty="0">
                <a:solidFill>
                  <a:srgbClr val="000000"/>
                </a:solidFill>
                <a:latin typeface="+mn-ea"/>
              </a:rPr>
              <a:t>a[1]</a:t>
            </a:r>
          </a:p>
          <a:p>
            <a:endParaRPr lang="en-US" altLang="zh-CN" dirty="0">
              <a:solidFill>
                <a:srgbClr val="000000"/>
              </a:solidFill>
              <a:latin typeface="+mn-ea"/>
            </a:endParaRPr>
          </a:p>
          <a:p>
            <a:r>
              <a:rPr lang="en-US" altLang="zh-CN" dirty="0">
                <a:solidFill>
                  <a:srgbClr val="000000"/>
                </a:solidFill>
                <a:latin typeface="+mn-ea"/>
              </a:rPr>
              <a:t>a[2]</a:t>
            </a:r>
          </a:p>
          <a:p>
            <a:endParaRPr lang="en-US" altLang="zh-CN" dirty="0">
              <a:solidFill>
                <a:srgbClr val="000000"/>
              </a:solidFill>
              <a:latin typeface="+mn-ea"/>
            </a:endParaRPr>
          </a:p>
          <a:p>
            <a:r>
              <a:rPr lang="en-US" altLang="zh-CN" dirty="0">
                <a:solidFill>
                  <a:srgbClr val="000000"/>
                </a:solidFill>
                <a:latin typeface="+mn-ea"/>
              </a:rPr>
              <a:t>a[3]</a:t>
            </a:r>
          </a:p>
          <a:p>
            <a:endParaRPr lang="en-US" altLang="zh-CN" dirty="0">
              <a:solidFill>
                <a:srgbClr val="000000"/>
              </a:solidFill>
              <a:latin typeface="+mn-ea"/>
            </a:endParaRPr>
          </a:p>
          <a:p>
            <a:r>
              <a:rPr lang="en-US" altLang="zh-CN" dirty="0">
                <a:solidFill>
                  <a:srgbClr val="000000"/>
                </a:solidFill>
                <a:latin typeface="+mn-ea"/>
              </a:rPr>
              <a:t>a[4]</a:t>
            </a:r>
          </a:p>
          <a:p>
            <a:endParaRPr lang="en-US" altLang="zh-CN" dirty="0">
              <a:solidFill>
                <a:srgbClr val="000000"/>
              </a:solidFill>
              <a:latin typeface="+mn-ea"/>
            </a:endParaRPr>
          </a:p>
          <a:p>
            <a:r>
              <a:rPr lang="en-US" altLang="zh-CN" dirty="0">
                <a:solidFill>
                  <a:srgbClr val="000000"/>
                </a:solidFill>
                <a:latin typeface="+mn-ea"/>
              </a:rPr>
              <a:t>a[5]</a:t>
            </a:r>
          </a:p>
          <a:p>
            <a:endParaRPr lang="en-US" altLang="zh-CN" dirty="0">
              <a:solidFill>
                <a:srgbClr val="000000"/>
              </a:solidFill>
              <a:latin typeface="+mn-ea"/>
            </a:endParaRPr>
          </a:p>
          <a:p>
            <a:r>
              <a:rPr lang="en-US" altLang="zh-CN" dirty="0">
                <a:solidFill>
                  <a:srgbClr val="000000"/>
                </a:solidFill>
                <a:latin typeface="+mn-ea"/>
              </a:rPr>
              <a:t>a[6]</a:t>
            </a:r>
          </a:p>
          <a:p>
            <a:endParaRPr lang="en-US" altLang="zh-CN" dirty="0">
              <a:solidFill>
                <a:srgbClr val="000000"/>
              </a:solidFill>
              <a:latin typeface="+mn-ea"/>
            </a:endParaRPr>
          </a:p>
          <a:p>
            <a:r>
              <a:rPr lang="en-US" altLang="zh-CN" dirty="0">
                <a:solidFill>
                  <a:srgbClr val="000000"/>
                </a:solidFill>
                <a:latin typeface="+mn-ea"/>
              </a:rPr>
              <a:t>a[7]</a:t>
            </a:r>
            <a:endParaRPr lang="zh-CN" altLang="en-US" dirty="0">
              <a:solidFill>
                <a:srgbClr val="000000"/>
              </a:solidFill>
              <a:latin typeface="+mn-ea"/>
            </a:endParaRPr>
          </a:p>
        </p:txBody>
      </p:sp>
      <p:cxnSp>
        <p:nvCxnSpPr>
          <p:cNvPr id="6" name="直接箭头连接符 5"/>
          <p:cNvCxnSpPr/>
          <p:nvPr/>
        </p:nvCxnSpPr>
        <p:spPr bwMode="auto">
          <a:xfrm>
            <a:off x="6016336" y="1496291"/>
            <a:ext cx="56110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 name="文本框 6"/>
          <p:cNvSpPr txBox="1"/>
          <p:nvPr/>
        </p:nvSpPr>
        <p:spPr>
          <a:xfrm>
            <a:off x="5704610" y="1319645"/>
            <a:ext cx="399518"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8" name="文本框 7"/>
          <p:cNvSpPr txBox="1"/>
          <p:nvPr/>
        </p:nvSpPr>
        <p:spPr>
          <a:xfrm>
            <a:off x="5725392" y="1669747"/>
            <a:ext cx="469391" cy="369332"/>
          </a:xfrm>
          <a:prstGeom prst="rect">
            <a:avLst/>
          </a:prstGeom>
          <a:noFill/>
        </p:spPr>
        <p:txBody>
          <a:bodyPr wrap="square" rtlCol="0">
            <a:spAutoFit/>
          </a:bodyPr>
          <a:lstStyle/>
          <a:p>
            <a:r>
              <a:rPr lang="en-US" altLang="zh-CN" dirty="0" err="1">
                <a:solidFill>
                  <a:srgbClr val="FF0000"/>
                </a:solidFill>
              </a:rPr>
              <a:t>ap</a:t>
            </a:r>
            <a:endParaRPr lang="zh-CN" altLang="en-US" dirty="0">
              <a:solidFill>
                <a:srgbClr val="FF0000"/>
              </a:solidFill>
            </a:endParaRPr>
          </a:p>
        </p:txBody>
      </p:sp>
      <p:cxnSp>
        <p:nvCxnSpPr>
          <p:cNvPr id="9" name="直接箭头连接符 8"/>
          <p:cNvCxnSpPr/>
          <p:nvPr/>
        </p:nvCxnSpPr>
        <p:spPr bwMode="auto">
          <a:xfrm flipV="1">
            <a:off x="6117382" y="1688977"/>
            <a:ext cx="480844" cy="168543"/>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10" name="表格 9">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2523471528"/>
              </p:ext>
            </p:extLst>
          </p:nvPr>
        </p:nvGraphicFramePr>
        <p:xfrm>
          <a:off x="7318328" y="1312127"/>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dirty="0">
                          <a:solidFill>
                            <a:srgbClr val="000000"/>
                          </a:solidFill>
                        </a:rPr>
                        <a:t>  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1.0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4.0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9.0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16.0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25.0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r>
                        <a:rPr lang="en-US" altLang="zh-CN" dirty="0">
                          <a:solidFill>
                            <a:srgbClr val="000000"/>
                          </a:solidFill>
                        </a:rPr>
                        <a:t>   36.0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dirty="0">
                          <a:solidFill>
                            <a:srgbClr val="000000"/>
                          </a:solidFill>
                        </a:rPr>
                        <a:t>  49.0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Tree>
    <p:extLst>
      <p:ext uri="{BB962C8B-B14F-4D97-AF65-F5344CB8AC3E}">
        <p14:creationId xmlns:p14="http://schemas.microsoft.com/office/powerpoint/2010/main" val="3410915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Rot="1" noChangeArrowheads="1"/>
          </p:cNvSpPr>
          <p:nvPr>
            <p:ph type="body" idx="1"/>
          </p:nvPr>
        </p:nvSpPr>
        <p:spPr>
          <a:xfrm>
            <a:off x="385186" y="997527"/>
            <a:ext cx="8190489" cy="5404284"/>
          </a:xfrm>
        </p:spPr>
        <p:txBody>
          <a:bodyPr/>
          <a:lstStyle/>
          <a:p>
            <a:pPr marL="342900" indent="-342900" algn="just">
              <a:buFont typeface="Wingdings" panose="05000000000000000000" pitchFamily="2" charset="2"/>
              <a:buChar char="l"/>
            </a:pPr>
            <a:r>
              <a:rPr lang="zh-CN" altLang="en-US" sz="2000" dirty="0"/>
              <a:t>二维数组的定义 </a:t>
            </a:r>
          </a:p>
          <a:p>
            <a:pPr marL="971550" lvl="1" algn="just"/>
            <a:r>
              <a:rPr lang="zh-CN" altLang="en-US" dirty="0">
                <a:solidFill>
                  <a:srgbClr val="FF3300"/>
                </a:solidFill>
              </a:rPr>
              <a:t>类型说明符  数组名1[行常量表达式1][列常量表达式1], </a:t>
            </a:r>
            <a:endParaRPr lang="en-US" altLang="zh-CN" dirty="0">
              <a:solidFill>
                <a:srgbClr val="FF3300"/>
              </a:solidFill>
            </a:endParaRPr>
          </a:p>
          <a:p>
            <a:pPr lvl="1" indent="0" algn="just">
              <a:buNone/>
            </a:pPr>
            <a:r>
              <a:rPr lang="en-US" altLang="zh-CN" dirty="0">
                <a:solidFill>
                  <a:srgbClr val="FF3300"/>
                </a:solidFill>
              </a:rPr>
              <a:t>                            </a:t>
            </a:r>
            <a:r>
              <a:rPr lang="zh-CN" altLang="en-US" dirty="0">
                <a:solidFill>
                  <a:srgbClr val="FF3300"/>
                </a:solidFill>
              </a:rPr>
              <a:t>数组名2[行常量表达式2][列常量表达式2]……;</a:t>
            </a:r>
          </a:p>
          <a:p>
            <a:pPr marL="342900" indent="-342900" algn="just">
              <a:buFont typeface="Wingdings" panose="05000000000000000000" pitchFamily="2" charset="2"/>
              <a:buChar char="l"/>
            </a:pPr>
            <a:r>
              <a:rPr lang="zh-CN" altLang="en-US" sz="2000" dirty="0"/>
              <a:t>例如：</a:t>
            </a:r>
            <a:r>
              <a:rPr lang="en-US" altLang="zh-CN" sz="2000" b="1" dirty="0" err="1">
                <a:solidFill>
                  <a:srgbClr val="030DCD"/>
                </a:solidFill>
              </a:rPr>
              <a:t>int</a:t>
            </a:r>
            <a:r>
              <a:rPr lang="en-US" altLang="zh-CN" sz="2000" b="1" dirty="0">
                <a:solidFill>
                  <a:srgbClr val="030DCD"/>
                </a:solidFill>
              </a:rPr>
              <a:t> a[3][4]; </a:t>
            </a:r>
            <a:r>
              <a:rPr lang="en-US" altLang="zh-CN" sz="2000" dirty="0">
                <a:solidFill>
                  <a:srgbClr val="7030A0"/>
                </a:solidFill>
              </a:rPr>
              <a:t>a</a:t>
            </a:r>
            <a:r>
              <a:rPr lang="zh-CN" altLang="en-US" sz="2000" dirty="0">
                <a:solidFill>
                  <a:srgbClr val="7030A0"/>
                </a:solidFill>
              </a:rPr>
              <a:t>为3×4(3行4列)的整型数组</a:t>
            </a:r>
            <a:r>
              <a:rPr lang="zh-CN" altLang="en-US" sz="2000" dirty="0"/>
              <a:t>；</a:t>
            </a:r>
          </a:p>
          <a:p>
            <a:pPr>
              <a:buNone/>
            </a:pPr>
            <a:r>
              <a:rPr lang="en-US" altLang="zh-CN" sz="2000" dirty="0"/>
              <a:t>                </a:t>
            </a:r>
            <a:r>
              <a:rPr lang="en-US" altLang="zh-CN" sz="2000" b="1" dirty="0">
                <a:solidFill>
                  <a:srgbClr val="030DCD"/>
                </a:solidFill>
              </a:rPr>
              <a:t>float b[5][10];</a:t>
            </a:r>
            <a:r>
              <a:rPr lang="en-US" altLang="zh-CN" sz="2000" dirty="0">
                <a:solidFill>
                  <a:srgbClr val="7030A0"/>
                </a:solidFill>
              </a:rPr>
              <a:t>b</a:t>
            </a:r>
            <a:r>
              <a:rPr lang="zh-CN" altLang="en-US" sz="2000" dirty="0">
                <a:solidFill>
                  <a:srgbClr val="7030A0"/>
                </a:solidFill>
              </a:rPr>
              <a:t>为5×10(5行10列)的浮点型数组</a:t>
            </a:r>
            <a:r>
              <a:rPr lang="zh-CN" altLang="en-US" sz="2000" dirty="0"/>
              <a:t>；</a:t>
            </a:r>
            <a:endParaRPr lang="en-US" altLang="zh-CN" sz="2000" dirty="0"/>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r>
              <a:rPr lang="zh-CN" altLang="en-US" sz="2000" dirty="0" smtClean="0"/>
              <a:t>二</a:t>
            </a:r>
            <a:r>
              <a:rPr lang="zh-CN" altLang="en-US" sz="2000" dirty="0"/>
              <a:t>维数组定义中的第1个下标表示该数组具有的</a:t>
            </a:r>
            <a:r>
              <a:rPr lang="zh-CN" altLang="en-US" sz="2000" dirty="0">
                <a:solidFill>
                  <a:srgbClr val="9900FF"/>
                </a:solidFill>
              </a:rPr>
              <a:t>行数</a:t>
            </a:r>
            <a:r>
              <a:rPr lang="zh-CN" altLang="en-US" sz="2000" dirty="0"/>
              <a:t>，第2个下标表示该数组具有的</a:t>
            </a:r>
            <a:r>
              <a:rPr lang="zh-CN" altLang="en-US" sz="2000" dirty="0">
                <a:solidFill>
                  <a:srgbClr val="9900FF"/>
                </a:solidFill>
              </a:rPr>
              <a:t>列数</a:t>
            </a:r>
            <a:r>
              <a:rPr lang="zh-CN" altLang="en-US" sz="2000" dirty="0"/>
              <a:t>，两个</a:t>
            </a:r>
            <a:r>
              <a:rPr lang="zh-CN" altLang="en-US" sz="2000" dirty="0">
                <a:solidFill>
                  <a:srgbClr val="9900FF"/>
                </a:solidFill>
              </a:rPr>
              <a:t>下标之积</a:t>
            </a:r>
            <a:r>
              <a:rPr lang="zh-CN" altLang="en-US" sz="2000" dirty="0"/>
              <a:t>是该数组具有的数组元素的</a:t>
            </a:r>
            <a:r>
              <a:rPr lang="zh-CN" altLang="en-US" sz="2000" dirty="0">
                <a:solidFill>
                  <a:srgbClr val="9900FF"/>
                </a:solidFill>
              </a:rPr>
              <a:t>个数</a:t>
            </a:r>
            <a:r>
              <a:rPr lang="zh-CN" altLang="en-US" sz="2000" dirty="0"/>
              <a:t>；</a:t>
            </a:r>
            <a:endParaRPr lang="en-US" altLang="zh-CN" sz="2000" dirty="0"/>
          </a:p>
          <a:p>
            <a:pPr marL="342900" indent="-342900">
              <a:buFont typeface="Wingdings" panose="05000000000000000000" pitchFamily="2" charset="2"/>
              <a:buChar char="l"/>
            </a:pPr>
            <a:r>
              <a:rPr lang="zh-CN" altLang="en-US" sz="2000" dirty="0" smtClean="0">
                <a:solidFill>
                  <a:srgbClr val="030DCD"/>
                </a:solidFill>
              </a:rPr>
              <a:t>与一</a:t>
            </a:r>
            <a:r>
              <a:rPr lang="zh-CN" altLang="en-US" sz="2000" dirty="0">
                <a:solidFill>
                  <a:srgbClr val="030DCD"/>
                </a:solidFill>
              </a:rPr>
              <a:t>维数</a:t>
            </a:r>
            <a:r>
              <a:rPr lang="zh-CN" altLang="en-US" sz="2000" dirty="0" smtClean="0">
                <a:solidFill>
                  <a:srgbClr val="030DCD"/>
                </a:solidFill>
              </a:rPr>
              <a:t>组一样，</a:t>
            </a:r>
            <a:r>
              <a:rPr lang="zh-CN" altLang="en-US" sz="2000" dirty="0">
                <a:solidFill>
                  <a:srgbClr val="030DCD"/>
                </a:solidFill>
              </a:rPr>
              <a:t>二维数组中的每个数组元素的数据类型均相同。</a:t>
            </a:r>
            <a:endParaRPr lang="en-US" altLang="zh-CN" sz="2000" dirty="0">
              <a:solidFill>
                <a:srgbClr val="030DCD"/>
              </a:solidFill>
            </a:endParaRPr>
          </a:p>
          <a:p>
            <a:pPr marL="342900" indent="-342900">
              <a:buFont typeface="Wingdings" panose="05000000000000000000" pitchFamily="2" charset="2"/>
              <a:buChar char="l"/>
            </a:pPr>
            <a:r>
              <a:rPr lang="en-US" altLang="zh-CN" sz="2000" b="1" i="1" u="sng" dirty="0">
                <a:solidFill>
                  <a:srgbClr val="C00000"/>
                </a:solidFill>
                <a:effectLst>
                  <a:outerShdw blurRad="38100" dist="38100" dir="2700000" algn="tl">
                    <a:srgbClr val="000000">
                      <a:alpha val="43137"/>
                    </a:srgbClr>
                  </a:outerShdw>
                </a:effectLst>
              </a:rPr>
              <a:t>C</a:t>
            </a:r>
            <a:r>
              <a:rPr lang="zh-CN" altLang="en-US" sz="2000" b="1" i="1" u="sng" dirty="0">
                <a:solidFill>
                  <a:srgbClr val="C00000"/>
                </a:solidFill>
                <a:effectLst>
                  <a:outerShdw blurRad="38100" dist="38100" dir="2700000" algn="tl">
                    <a:srgbClr val="000000">
                      <a:alpha val="43137"/>
                    </a:srgbClr>
                  </a:outerShdw>
                </a:effectLst>
              </a:rPr>
              <a:t>语言中，二维数组的存放规律是“</a:t>
            </a:r>
            <a:r>
              <a:rPr lang="zh-CN" altLang="en-US" sz="2000" b="1" i="1" u="sng" dirty="0">
                <a:solidFill>
                  <a:srgbClr val="030DCD"/>
                </a:solidFill>
                <a:effectLst>
                  <a:outerShdw blurRad="38100" dist="38100" dir="2700000" algn="tl">
                    <a:srgbClr val="000000">
                      <a:alpha val="43137"/>
                    </a:srgbClr>
                  </a:outerShdw>
                </a:effectLst>
              </a:rPr>
              <a:t>按行排列</a:t>
            </a:r>
            <a:r>
              <a:rPr lang="zh-CN" altLang="en-US" sz="2000" b="1" i="1" u="sng" dirty="0">
                <a:solidFill>
                  <a:srgbClr val="C00000"/>
                </a:solidFill>
                <a:effectLst>
                  <a:outerShdw blurRad="38100" dist="38100" dir="2700000" algn="tl">
                    <a:srgbClr val="000000">
                      <a:alpha val="43137"/>
                    </a:srgbClr>
                  </a:outerShdw>
                </a:effectLst>
              </a:rPr>
              <a:t>”，存储在一段连续的内存空间中</a:t>
            </a:r>
            <a:r>
              <a:rPr lang="zh-CN" altLang="en-US" sz="2000" dirty="0">
                <a:solidFill>
                  <a:srgbClr val="C00000"/>
                </a:solidFill>
              </a:rPr>
              <a:t>。</a:t>
            </a:r>
          </a:p>
          <a:p>
            <a:pPr marL="342900" indent="-342900">
              <a:buFont typeface="Wingdings" panose="05000000000000000000" pitchFamily="2" charset="2"/>
              <a:buChar char="l"/>
            </a:pPr>
            <a:endParaRPr lang="zh-CN" altLang="en-US" dirty="0"/>
          </a:p>
          <a:p>
            <a:pPr marL="342900" indent="-342900">
              <a:buFont typeface="Wingdings" panose="05000000000000000000" pitchFamily="2" charset="2"/>
              <a:buChar char="l"/>
            </a:pPr>
            <a:endParaRPr lang="en-US" altLang="zh-CN" dirty="0"/>
          </a:p>
        </p:txBody>
      </p:sp>
      <p:sp>
        <p:nvSpPr>
          <p:cNvPr id="3" name="标题 1"/>
          <p:cNvSpPr>
            <a:spLocks noGrp="1"/>
          </p:cNvSpPr>
          <p:nvPr>
            <p:ph type="title"/>
          </p:nvPr>
        </p:nvSpPr>
        <p:spPr>
          <a:xfrm>
            <a:off x="485775" y="255588"/>
            <a:ext cx="8089900" cy="584200"/>
          </a:xfrm>
        </p:spPr>
        <p:txBody>
          <a:bodyPr>
            <a:normAutofit/>
          </a:bodyPr>
          <a:lstStyle/>
          <a:p>
            <a:r>
              <a:rPr lang="en-US" altLang="zh-CN" dirty="0" smtClean="0"/>
              <a:t>6.8 </a:t>
            </a:r>
            <a:r>
              <a:rPr lang="zh-CN" altLang="en-US" dirty="0" smtClean="0"/>
              <a:t>二</a:t>
            </a:r>
            <a:r>
              <a:rPr lang="zh-CN" altLang="en-US" dirty="0"/>
              <a:t>维数组的定义</a:t>
            </a:r>
          </a:p>
        </p:txBody>
      </p:sp>
    </p:spTree>
    <p:extLst>
      <p:ext uri="{BB962C8B-B14F-4D97-AF65-F5344CB8AC3E}">
        <p14:creationId xmlns:p14="http://schemas.microsoft.com/office/powerpoint/2010/main" val="28059465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Rot="1" noChangeArrowheads="1"/>
          </p:cNvSpPr>
          <p:nvPr>
            <p:ph type="body" idx="1"/>
          </p:nvPr>
        </p:nvSpPr>
        <p:spPr>
          <a:xfrm>
            <a:off x="644525" y="1181099"/>
            <a:ext cx="7772400" cy="1229591"/>
          </a:xfrm>
        </p:spPr>
        <p:txBody>
          <a:bodyPr/>
          <a:lstStyle/>
          <a:p>
            <a:pPr marL="342900" indent="-342900">
              <a:buFont typeface="Wingdings" panose="05000000000000000000" pitchFamily="2" charset="2"/>
              <a:buChar char="l"/>
            </a:pPr>
            <a:r>
              <a:rPr lang="zh-CN" altLang="en-US" sz="2000" dirty="0">
                <a:solidFill>
                  <a:srgbClr val="0000CC"/>
                </a:solidFill>
                <a:latin typeface=""/>
              </a:rPr>
              <a:t>二维数组的元素在内存中的存放顺序：</a:t>
            </a:r>
          </a:p>
          <a:p>
            <a:pPr marL="342900" indent="-342900">
              <a:buFont typeface="Wingdings" panose="05000000000000000000" pitchFamily="2" charset="2"/>
              <a:buChar char="l"/>
            </a:pPr>
            <a:r>
              <a:rPr lang="zh-CN" altLang="en-US" sz="2000" b="1" i="1" dirty="0">
                <a:solidFill>
                  <a:srgbClr val="C00000"/>
                </a:solidFill>
                <a:latin typeface=""/>
              </a:rPr>
              <a:t>按行存放</a:t>
            </a:r>
            <a:r>
              <a:rPr lang="zh-CN" altLang="en-US" sz="2000" dirty="0">
                <a:latin typeface=""/>
              </a:rPr>
              <a:t>，即：先顺序存放</a:t>
            </a:r>
            <a:r>
              <a:rPr lang="zh-CN" altLang="en-US" sz="2000" dirty="0">
                <a:solidFill>
                  <a:srgbClr val="FF3300"/>
                </a:solidFill>
                <a:latin typeface=""/>
              </a:rPr>
              <a:t>第一行</a:t>
            </a:r>
            <a:r>
              <a:rPr lang="zh-CN" altLang="en-US" sz="2000" dirty="0">
                <a:latin typeface=""/>
              </a:rPr>
              <a:t>的元素，再存放第二行的元素；</a:t>
            </a:r>
            <a:endParaRPr lang="en-US" altLang="zh-CN" sz="2000" dirty="0">
              <a:latin typeface=""/>
            </a:endParaRPr>
          </a:p>
          <a:p>
            <a:pPr marL="342900" indent="-342900">
              <a:buFont typeface="Wingdings" panose="05000000000000000000" pitchFamily="2" charset="2"/>
              <a:buChar char="l"/>
            </a:pPr>
            <a:r>
              <a:rPr lang="zh-CN" altLang="en-US" sz="2000" dirty="0">
                <a:latin typeface=""/>
              </a:rPr>
              <a:t>                         </a:t>
            </a:r>
            <a:r>
              <a:rPr lang="zh-CN" altLang="en-US" sz="2000" dirty="0">
                <a:solidFill>
                  <a:srgbClr val="FF3300"/>
                </a:solidFill>
                <a:latin typeface=""/>
              </a:rPr>
              <a:t>最右边</a:t>
            </a:r>
            <a:r>
              <a:rPr lang="zh-CN" altLang="en-US" sz="2000" dirty="0">
                <a:latin typeface=""/>
              </a:rPr>
              <a:t>的下标变化最快，</a:t>
            </a:r>
            <a:r>
              <a:rPr lang="zh-CN" altLang="en-US" sz="2000" dirty="0">
                <a:solidFill>
                  <a:srgbClr val="FF3300"/>
                </a:solidFill>
                <a:latin typeface=""/>
              </a:rPr>
              <a:t>第一维的下标变化</a:t>
            </a:r>
            <a:r>
              <a:rPr lang="zh-CN" altLang="en-US" sz="2000" dirty="0">
                <a:latin typeface=""/>
              </a:rPr>
              <a:t>最慢；</a:t>
            </a:r>
          </a:p>
          <a:p>
            <a:endParaRPr lang="zh-CN" altLang="en-US" sz="2800" b="1" dirty="0">
              <a:latin typeface=""/>
            </a:endParaRPr>
          </a:p>
          <a:p>
            <a:endParaRPr lang="zh-CN" altLang="en-US" b="1" dirty="0"/>
          </a:p>
          <a:p>
            <a:endParaRPr lang="zh-CN" altLang="en-US" b="1" dirty="0"/>
          </a:p>
          <a:p>
            <a:endParaRPr lang="zh-CN" altLang="en-US" dirty="0"/>
          </a:p>
          <a:p>
            <a:endParaRPr lang="zh-CN" altLang="en-US" dirty="0"/>
          </a:p>
        </p:txBody>
      </p:sp>
      <p:pic>
        <p:nvPicPr>
          <p:cNvPr id="38917" name="Picture 5" descr="fig6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2740916"/>
            <a:ext cx="6470073" cy="1825336"/>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a:spLocks noGrp="1"/>
          </p:cNvSpPr>
          <p:nvPr>
            <p:ph type="title"/>
          </p:nvPr>
        </p:nvSpPr>
        <p:spPr>
          <a:xfrm>
            <a:off x="485775" y="255588"/>
            <a:ext cx="8089900" cy="584200"/>
          </a:xfrm>
        </p:spPr>
        <p:txBody>
          <a:bodyPr>
            <a:normAutofit/>
          </a:bodyPr>
          <a:lstStyle/>
          <a:p>
            <a:r>
              <a:rPr lang="zh-CN" altLang="en-US" dirty="0"/>
              <a:t>二维数组的机内存储</a:t>
            </a:r>
          </a:p>
        </p:txBody>
      </p:sp>
    </p:spTree>
    <p:extLst>
      <p:ext uri="{BB962C8B-B14F-4D97-AF65-F5344CB8AC3E}">
        <p14:creationId xmlns:p14="http://schemas.microsoft.com/office/powerpoint/2010/main" val="154776436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0" name="Text Box 4"/>
          <p:cNvSpPr txBox="1">
            <a:spLocks noChangeArrowheads="1"/>
          </p:cNvSpPr>
          <p:nvPr/>
        </p:nvSpPr>
        <p:spPr bwMode="auto">
          <a:xfrm>
            <a:off x="1866901" y="1803133"/>
            <a:ext cx="4060727" cy="461665"/>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20000"/>
              </a:spcBef>
              <a:buClr>
                <a:srgbClr val="CC99FF"/>
              </a:buClr>
              <a:buFont typeface="Monotype Sorts" pitchFamily="2" charset="2"/>
              <a:buNone/>
            </a:pPr>
            <a:r>
              <a:rPr kumimoji="1" lang="zh-CN" altLang="en-US" sz="2400" b="1" dirty="0">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sym typeface="Monotype Sorts" pitchFamily="2" charset="2"/>
              </a:rPr>
              <a:t>地址</a:t>
            </a:r>
            <a:r>
              <a:rPr kumimoji="1" lang="zh-CN" altLang="en-US" sz="2400" b="1"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sym typeface="Monotype Sorts" pitchFamily="2" charset="2"/>
              </a:rPr>
              <a:t>     </a:t>
            </a:r>
            <a:r>
              <a:rPr kumimoji="1" lang="zh-CN" altLang="en-US" sz="2400" b="1" dirty="0">
                <a:solidFill>
                  <a:srgbClr val="9900FF"/>
                </a:solidFill>
                <a:effectLst>
                  <a:outerShdw blurRad="38100" dist="38100" dir="2700000" algn="tl">
                    <a:srgbClr val="C0C0C0"/>
                  </a:outerShdw>
                </a:effectLst>
                <a:latin typeface="黑体" panose="02010609060101010101" pitchFamily="49" charset="-122"/>
                <a:ea typeface="黑体" panose="02010609060101010101" pitchFamily="49" charset="-122"/>
                <a:sym typeface="Monotype Sorts" pitchFamily="2" charset="2"/>
              </a:rPr>
              <a:t>值</a:t>
            </a:r>
            <a:r>
              <a:rPr kumimoji="1" lang="zh-CN" altLang="en-US" sz="2400" b="1"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sym typeface="Monotype Sorts" pitchFamily="2" charset="2"/>
              </a:rPr>
              <a:t>      </a:t>
            </a:r>
            <a:r>
              <a:rPr kumimoji="1" lang="zh-CN" altLang="en-US" sz="2400" b="1" dirty="0">
                <a:effectLst>
                  <a:outerShdw blurRad="38100" dist="38100" dir="2700000" algn="tl">
                    <a:srgbClr val="C0C0C0"/>
                  </a:outerShdw>
                </a:effectLst>
                <a:latin typeface="黑体" panose="02010609060101010101" pitchFamily="49" charset="-122"/>
                <a:ea typeface="黑体" panose="02010609060101010101" pitchFamily="49" charset="-122"/>
                <a:sym typeface="Monotype Sorts" pitchFamily="2" charset="2"/>
              </a:rPr>
              <a:t>数组元素</a:t>
            </a:r>
          </a:p>
        </p:txBody>
      </p:sp>
      <p:sp>
        <p:nvSpPr>
          <p:cNvPr id="244743" name="Rectangle 7"/>
          <p:cNvSpPr>
            <a:spLocks noChangeArrowheads="1"/>
          </p:cNvSpPr>
          <p:nvPr/>
        </p:nvSpPr>
        <p:spPr bwMode="auto">
          <a:xfrm>
            <a:off x="485775" y="1110059"/>
            <a:ext cx="7126720" cy="461665"/>
          </a:xfrm>
          <a:prstGeom prst="rect">
            <a:avLst/>
          </a:prstGeom>
          <a:noFill/>
          <a:ln>
            <a:noFill/>
          </a:ln>
          <a:effectLst/>
          <a:extLst>
            <a:ext uri="{909E8E84-426E-40DD-AFC4-6F175D3DCCD1}">
              <a14:hiddenFill xmlns:a14="http://schemas.microsoft.com/office/drawing/2010/main">
                <a:solidFill>
                  <a:srgbClr val="F3FFF3"/>
                </a:solidFill>
              </a14:hiddenFill>
            </a:ext>
            <a:ext uri="{91240B29-F687-4F45-9708-019B960494DF}">
              <a14:hiddenLine xmlns:a14="http://schemas.microsoft.com/office/drawing/2010/main" w="38100" cmpd="dbl">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rgbClr val="CC99FF"/>
              </a:buClr>
              <a:buFont typeface="Monotype Sorts" pitchFamily="2" charset="2"/>
              <a:buNone/>
            </a:pPr>
            <a:r>
              <a:rPr kumimoji="1" lang="zh-CN" altLang="en-US" sz="2400" dirty="0">
                <a:solidFill>
                  <a:srgbClr val="CC0000"/>
                </a:solidFill>
                <a:latin typeface="+mn-lt"/>
                <a:ea typeface="+mn-ea"/>
                <a:sym typeface="Monotype Sorts" pitchFamily="2" charset="2"/>
              </a:rPr>
              <a:t>例如：</a:t>
            </a:r>
            <a:r>
              <a:rPr kumimoji="1" lang="zh-CN" altLang="en-US" sz="2400" dirty="0">
                <a:solidFill>
                  <a:srgbClr val="000000"/>
                </a:solidFill>
                <a:latin typeface="+mn-lt"/>
                <a:ea typeface="+mn-ea"/>
                <a:sym typeface="Monotype Sorts" pitchFamily="2" charset="2"/>
              </a:rPr>
              <a:t>整型数组 </a:t>
            </a:r>
            <a:r>
              <a:rPr kumimoji="1" lang="en-US" altLang="zh-CN" sz="2400" dirty="0">
                <a:solidFill>
                  <a:srgbClr val="CC0000"/>
                </a:solidFill>
                <a:latin typeface="+mn-lt"/>
                <a:ea typeface="+mn-ea"/>
                <a:sym typeface="Monotype Sorts" pitchFamily="2" charset="2"/>
              </a:rPr>
              <a:t>b[3][3]={ {1,2,3}, </a:t>
            </a:r>
            <a:r>
              <a:rPr kumimoji="1" lang="en-US" altLang="zh-CN" sz="2400" dirty="0">
                <a:solidFill>
                  <a:srgbClr val="030DCD"/>
                </a:solidFill>
                <a:latin typeface="+mn-lt"/>
                <a:ea typeface="+mn-ea"/>
                <a:sym typeface="Monotype Sorts" pitchFamily="2" charset="2"/>
              </a:rPr>
              <a:t>{4,5,6}, </a:t>
            </a:r>
            <a:r>
              <a:rPr kumimoji="1" lang="en-US" altLang="zh-CN" sz="2400" dirty="0">
                <a:solidFill>
                  <a:srgbClr val="CC0000"/>
                </a:solidFill>
                <a:latin typeface="+mn-lt"/>
                <a:ea typeface="+mn-ea"/>
                <a:sym typeface="Monotype Sorts" pitchFamily="2" charset="2"/>
              </a:rPr>
              <a:t>{7,8,9} };</a:t>
            </a:r>
          </a:p>
        </p:txBody>
      </p:sp>
      <p:grpSp>
        <p:nvGrpSpPr>
          <p:cNvPr id="3" name="组合 2"/>
          <p:cNvGrpSpPr/>
          <p:nvPr/>
        </p:nvGrpSpPr>
        <p:grpSpPr>
          <a:xfrm>
            <a:off x="1544782" y="2380180"/>
            <a:ext cx="4293242" cy="3908762"/>
            <a:chOff x="1066800" y="1787356"/>
            <a:chExt cx="4293242" cy="3908762"/>
          </a:xfrm>
        </p:grpSpPr>
        <p:sp>
          <p:nvSpPr>
            <p:cNvPr id="244741" name="Text Box 5"/>
            <p:cNvSpPr txBox="1">
              <a:spLocks noChangeArrowheads="1"/>
            </p:cNvSpPr>
            <p:nvPr/>
          </p:nvSpPr>
          <p:spPr bwMode="auto">
            <a:xfrm>
              <a:off x="3912242" y="1845020"/>
              <a:ext cx="1447800" cy="383181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b[0][0]</a:t>
              </a:r>
            </a:p>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b[0][1]</a:t>
              </a:r>
            </a:p>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b[0][2]</a:t>
              </a:r>
            </a:p>
            <a:p>
              <a:pPr algn="ctr">
                <a:lnSpc>
                  <a:spcPct val="135000"/>
                </a:lnSpc>
                <a:buClr>
                  <a:srgbClr val="CC99FF"/>
                </a:buClr>
                <a:buFont typeface="Monotype Sorts" pitchFamily="2" charset="2"/>
                <a:buNone/>
              </a:pPr>
              <a:r>
                <a:rPr kumimoji="1" lang="en-US" altLang="en-US" sz="2000" b="1" dirty="0">
                  <a:solidFill>
                    <a:srgbClr val="006600"/>
                  </a:solidFill>
                  <a:latin typeface="宋体" panose="02010600030101010101" pitchFamily="2" charset="-122"/>
                  <a:sym typeface="Monotype Sorts" pitchFamily="2" charset="2"/>
                </a:rPr>
                <a:t>b</a:t>
              </a:r>
              <a:r>
                <a:rPr kumimoji="1" lang="en-US" altLang="en-US" sz="2000" b="1" dirty="0">
                  <a:latin typeface="宋体" panose="02010600030101010101" pitchFamily="2" charset="-122"/>
                  <a:sym typeface="Monotype Sorts" pitchFamily="2" charset="2"/>
                </a:rPr>
                <a:t>[1][0]</a:t>
              </a:r>
            </a:p>
            <a:p>
              <a:pPr algn="ctr">
                <a:lnSpc>
                  <a:spcPct val="135000"/>
                </a:lnSpc>
                <a:buClr>
                  <a:srgbClr val="CC99FF"/>
                </a:buClr>
                <a:buFont typeface="Monotype Sorts" pitchFamily="2" charset="2"/>
                <a:buNone/>
              </a:pPr>
              <a:r>
                <a:rPr kumimoji="1" lang="en-US" altLang="en-US" sz="2000" b="1" dirty="0">
                  <a:solidFill>
                    <a:srgbClr val="006600"/>
                  </a:solidFill>
                  <a:latin typeface="宋体" panose="02010600030101010101" pitchFamily="2" charset="-122"/>
                  <a:sym typeface="Monotype Sorts" pitchFamily="2" charset="2"/>
                </a:rPr>
                <a:t>b</a:t>
              </a:r>
              <a:r>
                <a:rPr kumimoji="1" lang="en-US" altLang="en-US" sz="2000" b="1" dirty="0">
                  <a:latin typeface="宋体" panose="02010600030101010101" pitchFamily="2" charset="-122"/>
                  <a:sym typeface="Monotype Sorts" pitchFamily="2" charset="2"/>
                </a:rPr>
                <a:t>[1][1]</a:t>
              </a:r>
            </a:p>
            <a:p>
              <a:pPr algn="ctr">
                <a:lnSpc>
                  <a:spcPct val="135000"/>
                </a:lnSpc>
                <a:buClr>
                  <a:srgbClr val="CC99FF"/>
                </a:buClr>
                <a:buFont typeface="Monotype Sorts" pitchFamily="2" charset="2"/>
                <a:buNone/>
              </a:pPr>
              <a:r>
                <a:rPr kumimoji="1" lang="en-US" altLang="en-US" sz="2000" b="1" dirty="0">
                  <a:solidFill>
                    <a:srgbClr val="006600"/>
                  </a:solidFill>
                  <a:latin typeface="宋体" panose="02010600030101010101" pitchFamily="2" charset="-122"/>
                  <a:sym typeface="Monotype Sorts" pitchFamily="2" charset="2"/>
                </a:rPr>
                <a:t>b</a:t>
              </a:r>
              <a:r>
                <a:rPr kumimoji="1" lang="en-US" altLang="en-US" sz="2000" b="1" dirty="0">
                  <a:latin typeface="宋体" panose="02010600030101010101" pitchFamily="2" charset="-122"/>
                  <a:sym typeface="Monotype Sorts" pitchFamily="2" charset="2"/>
                </a:rPr>
                <a:t>[1][2]</a:t>
              </a:r>
            </a:p>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b[2][0]</a:t>
              </a:r>
            </a:p>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b[2][1]</a:t>
              </a:r>
            </a:p>
            <a:p>
              <a:pPr algn="ctr">
                <a:lnSpc>
                  <a:spcPct val="135000"/>
                </a:lnSpc>
                <a:buClr>
                  <a:srgbClr val="CC99FF"/>
                </a:buClr>
                <a:buFont typeface="Monotype Sorts" pitchFamily="2" charset="2"/>
                <a:buNone/>
              </a:pPr>
              <a:r>
                <a:rPr kumimoji="1" lang="en-US" altLang="en-US" sz="2000" b="1" dirty="0">
                  <a:solidFill>
                    <a:srgbClr val="C00000"/>
                  </a:solidFill>
                  <a:latin typeface="宋体" panose="02010600030101010101" pitchFamily="2" charset="-122"/>
                  <a:sym typeface="Monotype Sorts" pitchFamily="2" charset="2"/>
                </a:rPr>
                <a:t>b[2][2]</a:t>
              </a:r>
              <a:endParaRPr kumimoji="1" lang="en-US" altLang="zh-CN" sz="2000" b="1" dirty="0">
                <a:solidFill>
                  <a:srgbClr val="C00000"/>
                </a:solidFill>
                <a:latin typeface="宋体" panose="02010600030101010101" pitchFamily="2" charset="-122"/>
                <a:sym typeface="Monotype Sorts" pitchFamily="2" charset="2"/>
              </a:endParaRPr>
            </a:p>
          </p:txBody>
        </p:sp>
        <p:sp>
          <p:nvSpPr>
            <p:cNvPr id="244742" name="Text Box 6"/>
            <p:cNvSpPr txBox="1">
              <a:spLocks noChangeArrowheads="1"/>
            </p:cNvSpPr>
            <p:nvPr/>
          </p:nvSpPr>
          <p:spPr bwMode="auto">
            <a:xfrm>
              <a:off x="1066800" y="1787356"/>
              <a:ext cx="1371600" cy="39087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3000H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3002H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3004H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a:t>
              </a:r>
              <a:r>
                <a:rPr kumimoji="1" lang="en-US" altLang="en-US" sz="2000" dirty="0">
                  <a:solidFill>
                    <a:srgbClr val="000000"/>
                  </a:solidFill>
                  <a:latin typeface="+mn-lt"/>
                  <a:sym typeface="Monotype Sorts" pitchFamily="2" charset="2"/>
                </a:rPr>
                <a:t>6</a:t>
              </a:r>
              <a:r>
                <a:rPr kumimoji="1" lang="en-US" altLang="zh-CN" sz="2000" dirty="0">
                  <a:solidFill>
                    <a:srgbClr val="000000"/>
                  </a:solidFill>
                  <a:latin typeface="+mn-lt"/>
                  <a:sym typeface="Monotype Sorts" pitchFamily="2" charset="2"/>
                </a:rPr>
                <a:t>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3008H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300AH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300CH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300EH</a:t>
              </a:r>
            </a:p>
            <a:p>
              <a:pPr algn="ctr">
                <a:lnSpc>
                  <a:spcPct val="120000"/>
                </a:lnSpc>
                <a:spcBef>
                  <a:spcPct val="20000"/>
                </a:spcBef>
                <a:buClr>
                  <a:srgbClr val="CC99FF"/>
                </a:buClr>
                <a:buFont typeface="Monotype Sorts" pitchFamily="2" charset="2"/>
                <a:buNone/>
              </a:pPr>
              <a:r>
                <a:rPr kumimoji="1" lang="en-US" altLang="zh-CN" sz="2000" dirty="0">
                  <a:solidFill>
                    <a:srgbClr val="000000"/>
                  </a:solidFill>
                  <a:latin typeface="+mn-lt"/>
                  <a:sym typeface="Monotype Sorts" pitchFamily="2" charset="2"/>
                </a:rPr>
                <a:t>3010H</a:t>
              </a:r>
            </a:p>
          </p:txBody>
        </p:sp>
        <p:grpSp>
          <p:nvGrpSpPr>
            <p:cNvPr id="2" name="组合 1"/>
            <p:cNvGrpSpPr/>
            <p:nvPr/>
          </p:nvGrpSpPr>
          <p:grpSpPr>
            <a:xfrm>
              <a:off x="2324886" y="1824789"/>
              <a:ext cx="1600200" cy="3765391"/>
              <a:chOff x="3260068" y="1894660"/>
              <a:chExt cx="1600200" cy="3848996"/>
            </a:xfrm>
          </p:grpSpPr>
          <p:sp>
            <p:nvSpPr>
              <p:cNvPr id="244744" name="Text Box 8"/>
              <p:cNvSpPr txBox="1">
                <a:spLocks noChangeArrowheads="1"/>
              </p:cNvSpPr>
              <p:nvPr/>
            </p:nvSpPr>
            <p:spPr bwMode="auto">
              <a:xfrm>
                <a:off x="3765550" y="1894660"/>
                <a:ext cx="381000" cy="137799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20000"/>
                  </a:spcBef>
                  <a:buClr>
                    <a:srgbClr val="CC99FF"/>
                  </a:buClr>
                  <a:buFont typeface="Monotype Sorts" pitchFamily="2" charset="2"/>
                  <a:buNone/>
                </a:pPr>
                <a:r>
                  <a:rPr kumimoji="1" lang="en-US" altLang="zh-CN" sz="2400" b="1" dirty="0">
                    <a:solidFill>
                      <a:srgbClr val="C00000"/>
                    </a:solidFill>
                    <a:latin typeface="Times New Roman" panose="02020603050405020304" pitchFamily="18" charset="0"/>
                    <a:sym typeface="Monotype Sorts" pitchFamily="2" charset="2"/>
                  </a:rPr>
                  <a:t>1</a:t>
                </a:r>
              </a:p>
              <a:p>
                <a:pPr algn="ctr">
                  <a:spcBef>
                    <a:spcPct val="20000"/>
                  </a:spcBef>
                  <a:buClr>
                    <a:srgbClr val="CC99FF"/>
                  </a:buClr>
                  <a:buFont typeface="Monotype Sorts" pitchFamily="2" charset="2"/>
                  <a:buNone/>
                </a:pPr>
                <a:r>
                  <a:rPr kumimoji="1" lang="zh-CN" altLang="zh-CN" sz="2400" b="1" dirty="0">
                    <a:solidFill>
                      <a:srgbClr val="C00000"/>
                    </a:solidFill>
                    <a:latin typeface="Times New Roman" panose="02020603050405020304" pitchFamily="18" charset="0"/>
                    <a:sym typeface="Monotype Sorts" pitchFamily="2" charset="2"/>
                  </a:rPr>
                  <a:t>2</a:t>
                </a:r>
              </a:p>
              <a:p>
                <a:pPr algn="ctr">
                  <a:spcBef>
                    <a:spcPct val="20000"/>
                  </a:spcBef>
                  <a:buClr>
                    <a:srgbClr val="CC99FF"/>
                  </a:buClr>
                  <a:buFont typeface="Monotype Sorts" pitchFamily="2" charset="2"/>
                  <a:buNone/>
                </a:pPr>
                <a:r>
                  <a:rPr kumimoji="1" lang="zh-CN" altLang="zh-CN" sz="2400" b="1" dirty="0">
                    <a:solidFill>
                      <a:srgbClr val="C00000"/>
                    </a:solidFill>
                    <a:latin typeface="Times New Roman" panose="02020603050405020304" pitchFamily="18" charset="0"/>
                    <a:sym typeface="Monotype Sorts" pitchFamily="2" charset="2"/>
                  </a:rPr>
                  <a:t>3</a:t>
                </a:r>
              </a:p>
            </p:txBody>
          </p:sp>
          <p:sp>
            <p:nvSpPr>
              <p:cNvPr id="244745" name="Text Box 9"/>
              <p:cNvSpPr txBox="1">
                <a:spLocks noChangeArrowheads="1"/>
              </p:cNvSpPr>
              <p:nvPr/>
            </p:nvSpPr>
            <p:spPr bwMode="auto">
              <a:xfrm>
                <a:off x="3796298" y="3167496"/>
                <a:ext cx="338554"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5000"/>
                  </a:lnSpc>
                  <a:spcBef>
                    <a:spcPct val="20000"/>
                  </a:spcBef>
                  <a:buClr>
                    <a:srgbClr val="CC99FF"/>
                  </a:buClr>
                  <a:buFont typeface="Monotype Sorts" pitchFamily="2" charset="2"/>
                  <a:buNone/>
                </a:pPr>
                <a:r>
                  <a:rPr kumimoji="1" lang="zh-CN" altLang="zh-CN" sz="2400" b="1" dirty="0">
                    <a:solidFill>
                      <a:srgbClr val="006600"/>
                    </a:solidFill>
                    <a:latin typeface="Times New Roman" panose="02020603050405020304" pitchFamily="18" charset="0"/>
                    <a:sym typeface="Monotype Sorts" pitchFamily="2" charset="2"/>
                  </a:rPr>
                  <a:t>4</a:t>
                </a:r>
              </a:p>
              <a:p>
                <a:pPr algn="ctr">
                  <a:lnSpc>
                    <a:spcPct val="95000"/>
                  </a:lnSpc>
                  <a:spcBef>
                    <a:spcPct val="20000"/>
                  </a:spcBef>
                  <a:buClr>
                    <a:srgbClr val="CC99FF"/>
                  </a:buClr>
                  <a:buFont typeface="Monotype Sorts" pitchFamily="2" charset="2"/>
                  <a:buNone/>
                </a:pPr>
                <a:r>
                  <a:rPr kumimoji="1" lang="zh-CN" altLang="zh-CN" sz="2400" b="1" dirty="0">
                    <a:solidFill>
                      <a:srgbClr val="006600"/>
                    </a:solidFill>
                    <a:latin typeface="Times New Roman" panose="02020603050405020304" pitchFamily="18" charset="0"/>
                    <a:sym typeface="Monotype Sorts" pitchFamily="2" charset="2"/>
                  </a:rPr>
                  <a:t>5</a:t>
                </a:r>
              </a:p>
              <a:p>
                <a:pPr algn="ctr">
                  <a:lnSpc>
                    <a:spcPct val="95000"/>
                  </a:lnSpc>
                  <a:spcBef>
                    <a:spcPct val="20000"/>
                  </a:spcBef>
                  <a:buClr>
                    <a:srgbClr val="CC99FF"/>
                  </a:buClr>
                  <a:buFont typeface="Monotype Sorts" pitchFamily="2" charset="2"/>
                  <a:buNone/>
                </a:pPr>
                <a:r>
                  <a:rPr kumimoji="1" lang="zh-CN" altLang="zh-CN" sz="2400" b="1" dirty="0">
                    <a:solidFill>
                      <a:srgbClr val="006600"/>
                    </a:solidFill>
                    <a:latin typeface="Times New Roman" panose="02020603050405020304" pitchFamily="18" charset="0"/>
                    <a:sym typeface="Monotype Sorts" pitchFamily="2" charset="2"/>
                  </a:rPr>
                  <a:t>6</a:t>
                </a:r>
                <a:endParaRPr kumimoji="1" lang="en-US" altLang="zh-CN" sz="2400" b="1" dirty="0">
                  <a:solidFill>
                    <a:srgbClr val="006600"/>
                  </a:solidFill>
                  <a:latin typeface="Times New Roman" panose="02020603050405020304" pitchFamily="18" charset="0"/>
                  <a:sym typeface="Monotype Sorts" pitchFamily="2" charset="2"/>
                </a:endParaRPr>
              </a:p>
            </p:txBody>
          </p:sp>
          <p:sp>
            <p:nvSpPr>
              <p:cNvPr id="244746" name="Text Box 10"/>
              <p:cNvSpPr txBox="1">
                <a:spLocks noChangeArrowheads="1"/>
              </p:cNvSpPr>
              <p:nvPr/>
            </p:nvSpPr>
            <p:spPr bwMode="auto">
              <a:xfrm>
                <a:off x="3775075" y="4478122"/>
                <a:ext cx="381000" cy="125572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105000"/>
                  </a:lnSpc>
                  <a:spcBef>
                    <a:spcPct val="20000"/>
                  </a:spcBef>
                  <a:buClr>
                    <a:srgbClr val="CC99FF"/>
                  </a:buClr>
                  <a:buFont typeface="Monotype Sorts" pitchFamily="2" charset="2"/>
                  <a:buNone/>
                </a:pPr>
                <a:r>
                  <a:rPr kumimoji="1" lang="en-US" altLang="zh-CN" sz="2400" b="1" dirty="0">
                    <a:solidFill>
                      <a:srgbClr val="CC0000"/>
                    </a:solidFill>
                    <a:latin typeface="Times New Roman" panose="02020603050405020304" pitchFamily="18" charset="0"/>
                    <a:sym typeface="Monotype Sorts" pitchFamily="2" charset="2"/>
                  </a:rPr>
                  <a:t>789</a:t>
                </a:r>
                <a:endParaRPr kumimoji="1" lang="zh-CN" altLang="zh-CN" sz="2400" b="1" dirty="0">
                  <a:solidFill>
                    <a:srgbClr val="CC0000"/>
                  </a:solidFill>
                  <a:latin typeface="Times New Roman" panose="02020603050405020304" pitchFamily="18" charset="0"/>
                  <a:sym typeface="Monotype Sorts" pitchFamily="2" charset="2"/>
                </a:endParaRPr>
              </a:p>
            </p:txBody>
          </p:sp>
          <p:grpSp>
            <p:nvGrpSpPr>
              <p:cNvPr id="244747" name="Group 11"/>
              <p:cNvGrpSpPr>
                <a:grpSpLocks/>
              </p:cNvGrpSpPr>
              <p:nvPr/>
            </p:nvGrpSpPr>
            <p:grpSpPr bwMode="auto">
              <a:xfrm>
                <a:off x="3260068" y="1950589"/>
                <a:ext cx="1600200" cy="3793067"/>
                <a:chOff x="2016" y="864"/>
                <a:chExt cx="1008" cy="3024"/>
              </a:xfrm>
            </p:grpSpPr>
            <p:sp>
              <p:nvSpPr>
                <p:cNvPr id="244748" name="Rectangle 12"/>
                <p:cNvSpPr>
                  <a:spLocks noChangeArrowheads="1"/>
                </p:cNvSpPr>
                <p:nvPr/>
              </p:nvSpPr>
              <p:spPr bwMode="auto">
                <a:xfrm>
                  <a:off x="2016" y="864"/>
                  <a:ext cx="1008" cy="302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49" name="Line 13"/>
                <p:cNvSpPr>
                  <a:spLocks noChangeShapeType="1"/>
                </p:cNvSpPr>
                <p:nvPr/>
              </p:nvSpPr>
              <p:spPr bwMode="auto">
                <a:xfrm>
                  <a:off x="2016" y="2544"/>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0" name="Line 14"/>
                <p:cNvSpPr>
                  <a:spLocks noChangeShapeType="1"/>
                </p:cNvSpPr>
                <p:nvPr/>
              </p:nvSpPr>
              <p:spPr bwMode="auto">
                <a:xfrm>
                  <a:off x="2016" y="2880"/>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1" name="Line 15"/>
                <p:cNvSpPr>
                  <a:spLocks noChangeShapeType="1"/>
                </p:cNvSpPr>
                <p:nvPr/>
              </p:nvSpPr>
              <p:spPr bwMode="auto">
                <a:xfrm>
                  <a:off x="2016" y="2208"/>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2" name="Line 16"/>
                <p:cNvSpPr>
                  <a:spLocks noChangeShapeType="1"/>
                </p:cNvSpPr>
                <p:nvPr/>
              </p:nvSpPr>
              <p:spPr bwMode="auto">
                <a:xfrm>
                  <a:off x="2016" y="3216"/>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3" name="Line 17"/>
                <p:cNvSpPr>
                  <a:spLocks noChangeShapeType="1"/>
                </p:cNvSpPr>
                <p:nvPr/>
              </p:nvSpPr>
              <p:spPr bwMode="auto">
                <a:xfrm>
                  <a:off x="2016" y="3552"/>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4" name="Line 18"/>
                <p:cNvSpPr>
                  <a:spLocks noChangeShapeType="1"/>
                </p:cNvSpPr>
                <p:nvPr/>
              </p:nvSpPr>
              <p:spPr bwMode="auto">
                <a:xfrm>
                  <a:off x="2016" y="1200"/>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5" name="Line 19"/>
                <p:cNvSpPr>
                  <a:spLocks noChangeShapeType="1"/>
                </p:cNvSpPr>
                <p:nvPr/>
              </p:nvSpPr>
              <p:spPr bwMode="auto">
                <a:xfrm>
                  <a:off x="2016" y="1872"/>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56" name="Line 20"/>
                <p:cNvSpPr>
                  <a:spLocks noChangeShapeType="1"/>
                </p:cNvSpPr>
                <p:nvPr/>
              </p:nvSpPr>
              <p:spPr bwMode="auto">
                <a:xfrm>
                  <a:off x="2016" y="1536"/>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grpSp>
      <p:sp>
        <p:nvSpPr>
          <p:cNvPr id="21" name="标题 1"/>
          <p:cNvSpPr>
            <a:spLocks noGrp="1"/>
          </p:cNvSpPr>
          <p:nvPr>
            <p:ph type="title"/>
          </p:nvPr>
        </p:nvSpPr>
        <p:spPr>
          <a:xfrm>
            <a:off x="485775" y="255588"/>
            <a:ext cx="8089900" cy="584200"/>
          </a:xfrm>
        </p:spPr>
        <p:txBody>
          <a:bodyPr>
            <a:normAutofit/>
          </a:bodyPr>
          <a:lstStyle/>
          <a:p>
            <a:r>
              <a:rPr lang="zh-CN" altLang="en-US" dirty="0"/>
              <a:t>二维数组的机内存储</a:t>
            </a:r>
          </a:p>
        </p:txBody>
      </p:sp>
    </p:spTree>
    <p:extLst>
      <p:ext uri="{BB962C8B-B14F-4D97-AF65-F5344CB8AC3E}">
        <p14:creationId xmlns:p14="http://schemas.microsoft.com/office/powerpoint/2010/main" val="20649628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关于二维数组元素的存放方式</a:t>
            </a:r>
          </a:p>
        </p:txBody>
      </p:sp>
      <p:sp>
        <p:nvSpPr>
          <p:cNvPr id="3" name="内容占位符 2"/>
          <p:cNvSpPr>
            <a:spLocks noGrp="1"/>
          </p:cNvSpPr>
          <p:nvPr>
            <p:ph idx="1"/>
          </p:nvPr>
        </p:nvSpPr>
        <p:spPr>
          <a:xfrm>
            <a:off x="485775" y="1135063"/>
            <a:ext cx="8089900" cy="2158855"/>
          </a:xfrm>
        </p:spPr>
        <p:txBody>
          <a:bodyPr/>
          <a:lstStyle/>
          <a:p>
            <a:pPr marL="342900" lvl="0" indent="-342900">
              <a:buClr>
                <a:srgbClr val="47B6E7"/>
              </a:buClr>
              <a:buFont typeface="Wingdings" panose="05000000000000000000" pitchFamily="2" charset="2"/>
              <a:buChar char="l"/>
            </a:pPr>
            <a:r>
              <a:rPr lang="zh-CN" altLang="en-US" sz="2000" b="1" u="sng" dirty="0">
                <a:solidFill>
                  <a:srgbClr val="C00000"/>
                </a:solidFill>
              </a:rPr>
              <a:t>二维数组的存放规律是“</a:t>
            </a:r>
            <a:r>
              <a:rPr lang="zh-CN" altLang="en-US" sz="2000" b="1" u="sng" dirty="0">
                <a:solidFill>
                  <a:srgbClr val="030DCD"/>
                </a:solidFill>
              </a:rPr>
              <a:t>按行排列</a:t>
            </a:r>
            <a:r>
              <a:rPr lang="zh-CN" altLang="en-US" sz="2000" b="1" u="sng" dirty="0">
                <a:solidFill>
                  <a:srgbClr val="C00000"/>
                </a:solidFill>
              </a:rPr>
              <a:t>”，存储在一段连续的内存空间中</a:t>
            </a:r>
            <a:r>
              <a:rPr lang="zh-CN" altLang="en-US" sz="2000" dirty="0">
                <a:solidFill>
                  <a:srgbClr val="C00000"/>
                </a:solidFill>
              </a:rPr>
              <a:t>。</a:t>
            </a:r>
            <a:endParaRPr lang="en-US" altLang="zh-CN" sz="2000" dirty="0"/>
          </a:p>
          <a:p>
            <a:pPr marL="342900" indent="-342900">
              <a:buFont typeface="Wingdings" panose="05000000000000000000" pitchFamily="2" charset="2"/>
              <a:buChar char="l"/>
            </a:pPr>
            <a:r>
              <a:rPr lang="zh-CN" altLang="en-US" sz="2000" b="1" dirty="0">
                <a:solidFill>
                  <a:srgbClr val="030DCD"/>
                </a:solidFill>
              </a:rPr>
              <a:t>思考：为什么要关心二维数组的存放方式？</a:t>
            </a:r>
            <a:endParaRPr lang="en-US" altLang="zh-CN" sz="2000" b="1" dirty="0">
              <a:solidFill>
                <a:srgbClr val="030DCD"/>
              </a:solidFill>
            </a:endParaRPr>
          </a:p>
          <a:p>
            <a:pPr marL="342900" indent="-342900">
              <a:buFont typeface="Wingdings" panose="05000000000000000000" pitchFamily="2" charset="2"/>
              <a:buChar char="l"/>
            </a:pPr>
            <a:r>
              <a:rPr lang="zh-CN" altLang="en-US" sz="2000" dirty="0"/>
              <a:t>考察下述两段代码访问内存的位置，进而考察其执行性能</a:t>
            </a:r>
            <a:r>
              <a:rPr lang="zh-CN" altLang="en-US" sz="2000" dirty="0" smtClean="0"/>
              <a:t>（结合后续课程中的</a:t>
            </a:r>
            <a:r>
              <a:rPr lang="en-US" altLang="zh-CN" sz="2000" dirty="0" smtClean="0">
                <a:solidFill>
                  <a:srgbClr val="7030A0"/>
                </a:solidFill>
              </a:rPr>
              <a:t>cache</a:t>
            </a:r>
            <a:r>
              <a:rPr lang="en-US" altLang="zh-CN" sz="2000" dirty="0">
                <a:solidFill>
                  <a:srgbClr val="7030A0"/>
                </a:solidFill>
              </a:rPr>
              <a:t>, virtual </a:t>
            </a:r>
            <a:r>
              <a:rPr lang="en-US" altLang="zh-CN" sz="2000" dirty="0" smtClean="0">
                <a:solidFill>
                  <a:srgbClr val="7030A0"/>
                </a:solidFill>
              </a:rPr>
              <a:t>memory</a:t>
            </a:r>
            <a:r>
              <a:rPr lang="zh-CN" altLang="en-US" sz="2000" dirty="0" smtClean="0"/>
              <a:t>等相关内容理解）</a:t>
            </a:r>
            <a:endParaRPr lang="zh-CN" altLang="en-US" sz="2000" dirty="0"/>
          </a:p>
        </p:txBody>
      </p:sp>
      <p:sp>
        <p:nvSpPr>
          <p:cNvPr id="4" name="内容占位符 2"/>
          <p:cNvSpPr txBox="1">
            <a:spLocks/>
          </p:cNvSpPr>
          <p:nvPr/>
        </p:nvSpPr>
        <p:spPr bwMode="auto">
          <a:xfrm>
            <a:off x="735156" y="3454111"/>
            <a:ext cx="3629025" cy="250420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zh-CN" sz="2000" dirty="0" err="1">
                <a:solidFill>
                  <a:srgbClr val="000000"/>
                </a:solidFill>
              </a:rPr>
              <a:t>int</a:t>
            </a:r>
            <a:r>
              <a:rPr lang="en-US" altLang="zh-CN" sz="2000" dirty="0">
                <a:solidFill>
                  <a:srgbClr val="000000"/>
                </a:solidFill>
              </a:rPr>
              <a:t> n=128;</a:t>
            </a:r>
          </a:p>
          <a:p>
            <a:pPr>
              <a:buNone/>
            </a:pPr>
            <a:r>
              <a:rPr lang="en-US" altLang="zh-CN" sz="2000" dirty="0" err="1">
                <a:solidFill>
                  <a:srgbClr val="000000"/>
                </a:solidFill>
              </a:rPr>
              <a:t>int</a:t>
            </a:r>
            <a:r>
              <a:rPr lang="en-US" altLang="zh-CN" sz="2000" dirty="0">
                <a:solidFill>
                  <a:srgbClr val="000000"/>
                </a:solidFill>
              </a:rPr>
              <a:t> a[n][n]; </a:t>
            </a:r>
          </a:p>
          <a:p>
            <a:pPr>
              <a:buNone/>
            </a:pPr>
            <a:r>
              <a:rPr lang="en-US" altLang="zh-CN" sz="2000" dirty="0">
                <a:solidFill>
                  <a:srgbClr val="000000"/>
                </a:solidFill>
              </a:rPr>
              <a:t>for (</a:t>
            </a:r>
            <a:r>
              <a:rPr lang="en-US" altLang="zh-CN" sz="2000" dirty="0" err="1">
                <a:solidFill>
                  <a:srgbClr val="000000"/>
                </a:solidFill>
              </a:rPr>
              <a:t>int</a:t>
            </a:r>
            <a:r>
              <a:rPr lang="en-US" altLang="zh-CN" sz="2000" dirty="0">
                <a:solidFill>
                  <a:srgbClr val="000000"/>
                </a:solidFill>
              </a:rPr>
              <a:t> </a:t>
            </a:r>
            <a:r>
              <a:rPr lang="en-US" altLang="zh-CN" sz="2000" dirty="0" err="1">
                <a:solidFill>
                  <a:srgbClr val="000000"/>
                </a:solidFill>
              </a:rPr>
              <a:t>i</a:t>
            </a:r>
            <a:r>
              <a:rPr lang="en-US" altLang="zh-CN" sz="2000" dirty="0">
                <a:solidFill>
                  <a:srgbClr val="000000"/>
                </a:solidFill>
              </a:rPr>
              <a:t>=0; </a:t>
            </a:r>
            <a:r>
              <a:rPr lang="en-US" altLang="zh-CN" sz="2000" dirty="0" err="1">
                <a:solidFill>
                  <a:srgbClr val="000000"/>
                </a:solidFill>
              </a:rPr>
              <a:t>i</a:t>
            </a:r>
            <a:r>
              <a:rPr lang="en-US" altLang="zh-CN" sz="2000" dirty="0">
                <a:solidFill>
                  <a:srgbClr val="000000"/>
                </a:solidFill>
              </a:rPr>
              <a:t>&lt;n; </a:t>
            </a:r>
            <a:r>
              <a:rPr lang="en-US" altLang="zh-CN" sz="2000" dirty="0" err="1">
                <a:solidFill>
                  <a:srgbClr val="000000"/>
                </a:solidFill>
              </a:rPr>
              <a:t>i</a:t>
            </a:r>
            <a:r>
              <a:rPr lang="en-US" altLang="zh-CN" sz="2000" dirty="0">
                <a:solidFill>
                  <a:srgbClr val="000000"/>
                </a:solidFill>
              </a:rPr>
              <a:t>++)</a:t>
            </a:r>
          </a:p>
          <a:p>
            <a:pPr>
              <a:buNone/>
            </a:pPr>
            <a:r>
              <a:rPr lang="en-US" altLang="zh-CN" sz="2000" dirty="0">
                <a:solidFill>
                  <a:srgbClr val="000000"/>
                </a:solidFill>
              </a:rPr>
              <a:t>   for (</a:t>
            </a:r>
            <a:r>
              <a:rPr lang="en-US" altLang="zh-CN" sz="2000" dirty="0" err="1">
                <a:solidFill>
                  <a:srgbClr val="000000"/>
                </a:solidFill>
              </a:rPr>
              <a:t>int</a:t>
            </a:r>
            <a:r>
              <a:rPr lang="en-US" altLang="zh-CN" sz="2000" dirty="0">
                <a:solidFill>
                  <a:srgbClr val="000000"/>
                </a:solidFill>
              </a:rPr>
              <a:t> j=0; j&lt;n; j++)</a:t>
            </a:r>
          </a:p>
          <a:p>
            <a:pPr>
              <a:buNone/>
            </a:pPr>
            <a:r>
              <a:rPr lang="en-US" altLang="zh-CN" sz="2000" b="1" dirty="0">
                <a:solidFill>
                  <a:srgbClr val="030DCD"/>
                </a:solidFill>
              </a:rPr>
              <a:t>      a[</a:t>
            </a:r>
            <a:r>
              <a:rPr lang="en-US" altLang="zh-CN" sz="2000" b="1" dirty="0" err="1">
                <a:solidFill>
                  <a:srgbClr val="C00000"/>
                </a:solidFill>
              </a:rPr>
              <a:t>i</a:t>
            </a:r>
            <a:r>
              <a:rPr lang="en-US" altLang="zh-CN" sz="2000" b="1" dirty="0">
                <a:solidFill>
                  <a:srgbClr val="030DCD"/>
                </a:solidFill>
              </a:rPr>
              <a:t>][</a:t>
            </a:r>
            <a:r>
              <a:rPr lang="en-US" altLang="zh-CN" sz="2000" b="1" dirty="0">
                <a:solidFill>
                  <a:srgbClr val="C00000"/>
                </a:solidFill>
              </a:rPr>
              <a:t>j</a:t>
            </a:r>
            <a:r>
              <a:rPr lang="en-US" altLang="zh-CN" sz="2000" b="1" dirty="0">
                <a:solidFill>
                  <a:srgbClr val="030DCD"/>
                </a:solidFill>
              </a:rPr>
              <a:t>]=0;   </a:t>
            </a:r>
            <a:r>
              <a:rPr lang="en-US" altLang="zh-CN" sz="2000" b="1" dirty="0">
                <a:solidFill>
                  <a:srgbClr val="C00000"/>
                </a:solidFill>
              </a:rPr>
              <a:t>//</a:t>
            </a:r>
            <a:r>
              <a:rPr lang="zh-CN" altLang="en-US" sz="2000" b="1" dirty="0">
                <a:solidFill>
                  <a:srgbClr val="C00000"/>
                </a:solidFill>
              </a:rPr>
              <a:t>按行访问</a:t>
            </a:r>
            <a:endParaRPr lang="en-US" altLang="zh-CN" sz="2000" b="1" dirty="0">
              <a:solidFill>
                <a:srgbClr val="C00000"/>
              </a:solidFill>
            </a:endParaRPr>
          </a:p>
          <a:p>
            <a:pPr marL="342900" indent="-342900">
              <a:buFont typeface="Wingdings" panose="05000000000000000000" pitchFamily="2" charset="2"/>
              <a:buChar char="l"/>
            </a:pPr>
            <a:endParaRPr lang="zh-CN" altLang="en-US" sz="2000" dirty="0"/>
          </a:p>
        </p:txBody>
      </p:sp>
      <p:sp>
        <p:nvSpPr>
          <p:cNvPr id="5" name="内容占位符 2"/>
          <p:cNvSpPr txBox="1">
            <a:spLocks/>
          </p:cNvSpPr>
          <p:nvPr/>
        </p:nvSpPr>
        <p:spPr bwMode="auto">
          <a:xfrm>
            <a:off x="4613852" y="3462048"/>
            <a:ext cx="3629025" cy="24962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zh-CN" sz="2000" dirty="0" err="1">
                <a:solidFill>
                  <a:srgbClr val="000000"/>
                </a:solidFill>
              </a:rPr>
              <a:t>int</a:t>
            </a:r>
            <a:r>
              <a:rPr lang="en-US" altLang="zh-CN" sz="2000" dirty="0">
                <a:solidFill>
                  <a:srgbClr val="000000"/>
                </a:solidFill>
              </a:rPr>
              <a:t> n=128;</a:t>
            </a:r>
          </a:p>
          <a:p>
            <a:pPr>
              <a:buNone/>
            </a:pPr>
            <a:r>
              <a:rPr lang="en-US" altLang="zh-CN" sz="2000" dirty="0" err="1">
                <a:solidFill>
                  <a:srgbClr val="000000"/>
                </a:solidFill>
              </a:rPr>
              <a:t>int</a:t>
            </a:r>
            <a:r>
              <a:rPr lang="en-US" altLang="zh-CN" sz="2000" dirty="0">
                <a:solidFill>
                  <a:srgbClr val="000000"/>
                </a:solidFill>
              </a:rPr>
              <a:t> a[n][n]; </a:t>
            </a:r>
          </a:p>
          <a:p>
            <a:pPr>
              <a:buNone/>
            </a:pPr>
            <a:r>
              <a:rPr lang="en-US" altLang="zh-CN" sz="2000" dirty="0">
                <a:solidFill>
                  <a:srgbClr val="000000"/>
                </a:solidFill>
              </a:rPr>
              <a:t>for (</a:t>
            </a:r>
            <a:r>
              <a:rPr lang="en-US" altLang="zh-CN" sz="2000" dirty="0" err="1">
                <a:solidFill>
                  <a:srgbClr val="000000"/>
                </a:solidFill>
              </a:rPr>
              <a:t>int</a:t>
            </a:r>
            <a:r>
              <a:rPr lang="en-US" altLang="zh-CN" sz="2000" dirty="0">
                <a:solidFill>
                  <a:srgbClr val="000000"/>
                </a:solidFill>
              </a:rPr>
              <a:t> </a:t>
            </a:r>
            <a:r>
              <a:rPr lang="en-US" altLang="zh-CN" sz="2000" dirty="0" err="1">
                <a:solidFill>
                  <a:srgbClr val="000000"/>
                </a:solidFill>
              </a:rPr>
              <a:t>i</a:t>
            </a:r>
            <a:r>
              <a:rPr lang="en-US" altLang="zh-CN" sz="2000" dirty="0">
                <a:solidFill>
                  <a:srgbClr val="000000"/>
                </a:solidFill>
              </a:rPr>
              <a:t>=0; </a:t>
            </a:r>
            <a:r>
              <a:rPr lang="en-US" altLang="zh-CN" sz="2000" dirty="0" err="1">
                <a:solidFill>
                  <a:srgbClr val="000000"/>
                </a:solidFill>
              </a:rPr>
              <a:t>i</a:t>
            </a:r>
            <a:r>
              <a:rPr lang="en-US" altLang="zh-CN" sz="2000" dirty="0">
                <a:solidFill>
                  <a:srgbClr val="000000"/>
                </a:solidFill>
              </a:rPr>
              <a:t>&lt;n; </a:t>
            </a:r>
            <a:r>
              <a:rPr lang="en-US" altLang="zh-CN" sz="2000" dirty="0" err="1">
                <a:solidFill>
                  <a:srgbClr val="000000"/>
                </a:solidFill>
              </a:rPr>
              <a:t>i</a:t>
            </a:r>
            <a:r>
              <a:rPr lang="en-US" altLang="zh-CN" sz="2000" dirty="0">
                <a:solidFill>
                  <a:srgbClr val="000000"/>
                </a:solidFill>
              </a:rPr>
              <a:t>++)</a:t>
            </a:r>
          </a:p>
          <a:p>
            <a:pPr>
              <a:buNone/>
            </a:pPr>
            <a:r>
              <a:rPr lang="en-US" altLang="zh-CN" sz="2000" dirty="0">
                <a:solidFill>
                  <a:srgbClr val="000000"/>
                </a:solidFill>
              </a:rPr>
              <a:t>   for (</a:t>
            </a:r>
            <a:r>
              <a:rPr lang="en-US" altLang="zh-CN" sz="2000" dirty="0" err="1">
                <a:solidFill>
                  <a:srgbClr val="000000"/>
                </a:solidFill>
              </a:rPr>
              <a:t>int</a:t>
            </a:r>
            <a:r>
              <a:rPr lang="en-US" altLang="zh-CN" sz="2000" dirty="0">
                <a:solidFill>
                  <a:srgbClr val="000000"/>
                </a:solidFill>
              </a:rPr>
              <a:t> j=0; j&lt;n; j++)</a:t>
            </a:r>
          </a:p>
          <a:p>
            <a:pPr>
              <a:buNone/>
            </a:pPr>
            <a:r>
              <a:rPr lang="en-US" altLang="zh-CN" sz="2000" dirty="0">
                <a:solidFill>
                  <a:srgbClr val="000000"/>
                </a:solidFill>
              </a:rPr>
              <a:t>      </a:t>
            </a:r>
            <a:r>
              <a:rPr lang="en-US" altLang="zh-CN" sz="2000" b="1" dirty="0">
                <a:solidFill>
                  <a:srgbClr val="030DCD"/>
                </a:solidFill>
              </a:rPr>
              <a:t>a[</a:t>
            </a:r>
            <a:r>
              <a:rPr lang="en-US" altLang="zh-CN" sz="2000" b="1" dirty="0">
                <a:solidFill>
                  <a:srgbClr val="C00000"/>
                </a:solidFill>
              </a:rPr>
              <a:t>j</a:t>
            </a:r>
            <a:r>
              <a:rPr lang="en-US" altLang="zh-CN" sz="2000" b="1" dirty="0">
                <a:solidFill>
                  <a:srgbClr val="030DCD"/>
                </a:solidFill>
              </a:rPr>
              <a:t>][</a:t>
            </a:r>
            <a:r>
              <a:rPr lang="en-US" altLang="zh-CN" sz="2000" b="1" dirty="0" err="1">
                <a:solidFill>
                  <a:srgbClr val="C00000"/>
                </a:solidFill>
              </a:rPr>
              <a:t>i</a:t>
            </a:r>
            <a:r>
              <a:rPr lang="en-US" altLang="zh-CN" sz="2000" b="1" dirty="0">
                <a:solidFill>
                  <a:srgbClr val="030DCD"/>
                </a:solidFill>
              </a:rPr>
              <a:t>]=0;  </a:t>
            </a:r>
            <a:r>
              <a:rPr lang="en-US" altLang="zh-CN" sz="2000" b="1" dirty="0">
                <a:solidFill>
                  <a:srgbClr val="C00000"/>
                </a:solidFill>
              </a:rPr>
              <a:t>//</a:t>
            </a:r>
            <a:r>
              <a:rPr lang="zh-CN" altLang="en-US" sz="2000" b="1" dirty="0">
                <a:solidFill>
                  <a:srgbClr val="C00000"/>
                </a:solidFill>
              </a:rPr>
              <a:t>按列访问</a:t>
            </a:r>
            <a:endParaRPr lang="en-US" altLang="zh-CN" sz="2000" b="1" dirty="0">
              <a:solidFill>
                <a:srgbClr val="C00000"/>
              </a:solidFill>
            </a:endParaRPr>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795786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Rot="1" noChangeArrowheads="1"/>
          </p:cNvSpPr>
          <p:nvPr>
            <p:ph type="body" idx="1"/>
          </p:nvPr>
        </p:nvSpPr>
        <p:spPr>
          <a:xfrm>
            <a:off x="539750" y="1037359"/>
            <a:ext cx="7772400" cy="5343525"/>
          </a:xfrm>
        </p:spPr>
        <p:txBody>
          <a:bodyPr/>
          <a:lstStyle/>
          <a:p>
            <a:pPr marL="342900" indent="-342900" algn="just">
              <a:lnSpc>
                <a:spcPct val="90000"/>
              </a:lnSpc>
              <a:spcBef>
                <a:spcPts val="1200"/>
              </a:spcBef>
              <a:buFont typeface="Wingdings" panose="05000000000000000000" pitchFamily="2" charset="2"/>
              <a:buChar char="l"/>
            </a:pPr>
            <a:r>
              <a:rPr lang="zh-CN" altLang="en-US" dirty="0">
                <a:solidFill>
                  <a:srgbClr val="FF3300"/>
                </a:solidFill>
              </a:rPr>
              <a:t>分行赋值</a:t>
            </a:r>
            <a:r>
              <a:rPr lang="zh-CN" altLang="en-US" dirty="0"/>
              <a:t>，如：</a:t>
            </a:r>
            <a:endParaRPr lang="en-US" altLang="zh-CN" dirty="0"/>
          </a:p>
          <a:p>
            <a:pPr marL="971550" lvl="1" algn="just">
              <a:lnSpc>
                <a:spcPct val="90000"/>
              </a:lnSpc>
              <a:spcBef>
                <a:spcPts val="1200"/>
              </a:spcBef>
            </a:pPr>
            <a:r>
              <a:rPr lang="en-US" altLang="zh-CN" dirty="0"/>
              <a:t>int a[3][4] = {</a:t>
            </a:r>
            <a:r>
              <a:rPr lang="en-US" altLang="zh-CN" dirty="0">
                <a:solidFill>
                  <a:srgbClr val="C00000"/>
                </a:solidFill>
              </a:rPr>
              <a:t>{</a:t>
            </a:r>
            <a:r>
              <a:rPr lang="en-US" altLang="zh-CN" dirty="0"/>
              <a:t>1,2,3,4</a:t>
            </a:r>
            <a:r>
              <a:rPr lang="en-US" altLang="zh-CN" dirty="0">
                <a:solidFill>
                  <a:srgbClr val="C00000"/>
                </a:solidFill>
              </a:rPr>
              <a:t>}</a:t>
            </a:r>
            <a:r>
              <a:rPr lang="en-US" altLang="zh-CN" dirty="0"/>
              <a:t>,</a:t>
            </a:r>
            <a:r>
              <a:rPr lang="en-US" altLang="zh-CN" dirty="0">
                <a:solidFill>
                  <a:srgbClr val="C00000"/>
                </a:solidFill>
              </a:rPr>
              <a:t>{</a:t>
            </a:r>
            <a:r>
              <a:rPr lang="en-US" altLang="zh-CN" dirty="0"/>
              <a:t>5,6,7,8</a:t>
            </a:r>
            <a:r>
              <a:rPr lang="en-US" altLang="zh-CN" dirty="0">
                <a:solidFill>
                  <a:srgbClr val="C00000"/>
                </a:solidFill>
              </a:rPr>
              <a:t>}</a:t>
            </a:r>
            <a:r>
              <a:rPr lang="en-US" altLang="zh-CN" dirty="0"/>
              <a:t>,</a:t>
            </a:r>
            <a:r>
              <a:rPr lang="en-US" altLang="zh-CN" dirty="0">
                <a:solidFill>
                  <a:srgbClr val="C00000"/>
                </a:solidFill>
              </a:rPr>
              <a:t>{</a:t>
            </a:r>
            <a:r>
              <a:rPr lang="en-US" altLang="zh-CN" dirty="0"/>
              <a:t>9,10,11,12</a:t>
            </a:r>
            <a:r>
              <a:rPr lang="en-US" altLang="zh-CN" dirty="0">
                <a:solidFill>
                  <a:srgbClr val="C00000"/>
                </a:solidFill>
              </a:rPr>
              <a:t>}</a:t>
            </a:r>
            <a:r>
              <a:rPr lang="en-US" altLang="zh-CN" dirty="0"/>
              <a:t>}；</a:t>
            </a:r>
          </a:p>
          <a:p>
            <a:pPr marL="342900" indent="-342900" algn="just">
              <a:lnSpc>
                <a:spcPct val="90000"/>
              </a:lnSpc>
              <a:spcBef>
                <a:spcPts val="1200"/>
              </a:spcBef>
              <a:buFont typeface="Wingdings" panose="05000000000000000000" pitchFamily="2" charset="2"/>
              <a:buChar char="l"/>
            </a:pPr>
            <a:r>
              <a:rPr lang="zh-CN" altLang="en-US" dirty="0">
                <a:solidFill>
                  <a:srgbClr val="FF3300"/>
                </a:solidFill>
              </a:rPr>
              <a:t>全部数据</a:t>
            </a:r>
            <a:r>
              <a:rPr lang="zh-CN" altLang="en-US" dirty="0"/>
              <a:t>写在一个大括号内</a:t>
            </a:r>
            <a:r>
              <a:rPr lang="zh-CN" altLang="en-US" dirty="0" smtClean="0"/>
              <a:t>，如</a:t>
            </a:r>
            <a:r>
              <a:rPr lang="en-US" altLang="zh-CN" dirty="0"/>
              <a:t>:</a:t>
            </a:r>
          </a:p>
          <a:p>
            <a:pPr marL="971550" lvl="1" algn="just">
              <a:lnSpc>
                <a:spcPct val="90000"/>
              </a:lnSpc>
              <a:spcBef>
                <a:spcPts val="1200"/>
              </a:spcBef>
            </a:pPr>
            <a:r>
              <a:rPr lang="en-US" altLang="zh-CN" dirty="0"/>
              <a:t>int a[3][4]= {1,2,3,4,5,6,7,8,9,10,11,12}；</a:t>
            </a:r>
          </a:p>
          <a:p>
            <a:pPr marL="342900" indent="-342900" algn="just">
              <a:spcBef>
                <a:spcPts val="1200"/>
              </a:spcBef>
              <a:buFont typeface="Wingdings" panose="05000000000000000000" pitchFamily="2" charset="2"/>
              <a:buChar char="l"/>
            </a:pPr>
            <a:r>
              <a:rPr lang="zh-CN" altLang="en-US" dirty="0">
                <a:solidFill>
                  <a:srgbClr val="FF3300"/>
                </a:solidFill>
              </a:rPr>
              <a:t>部分元素赋值</a:t>
            </a:r>
            <a:r>
              <a:rPr lang="zh-CN" altLang="en-US" dirty="0"/>
              <a:t>，如</a:t>
            </a:r>
            <a:r>
              <a:rPr lang="en-US" altLang="zh-CN" dirty="0"/>
              <a:t>:</a:t>
            </a:r>
          </a:p>
          <a:p>
            <a:pPr marL="971550" lvl="1" algn="just">
              <a:spcBef>
                <a:spcPts val="0"/>
              </a:spcBef>
            </a:pPr>
            <a:r>
              <a:rPr lang="en-US" altLang="zh-CN" dirty="0"/>
              <a:t>int a[3][4] = {{1},{5},{9}}；</a:t>
            </a:r>
          </a:p>
          <a:p>
            <a:pPr marL="971550" lvl="1" algn="just">
              <a:spcBef>
                <a:spcPts val="0"/>
              </a:spcBef>
            </a:pPr>
            <a:r>
              <a:rPr lang="zh-CN" altLang="en-US" kern="0" dirty="0"/>
              <a:t>仅对</a:t>
            </a:r>
            <a:r>
              <a:rPr lang="en-US" altLang="zh-CN" kern="0" dirty="0"/>
              <a:t>a[0][0]、a[1][0]、a[2][0]</a:t>
            </a:r>
            <a:r>
              <a:rPr lang="zh-CN" altLang="en-US" kern="0" dirty="0"/>
              <a:t>赋值，其余元素未赋值；</a:t>
            </a:r>
            <a:endParaRPr lang="en-US" altLang="zh-CN" kern="0" dirty="0"/>
          </a:p>
          <a:p>
            <a:pPr marL="971550" lvl="1" algn="just">
              <a:spcBef>
                <a:spcPts val="0"/>
              </a:spcBef>
            </a:pPr>
            <a:r>
              <a:rPr lang="zh-CN" altLang="en-US" kern="0" dirty="0"/>
              <a:t>有的编译器为未赋值元素自动</a:t>
            </a:r>
            <a:r>
              <a:rPr lang="zh-CN" altLang="en-US" kern="0" dirty="0">
                <a:solidFill>
                  <a:srgbClr val="FF3300"/>
                </a:solidFill>
              </a:rPr>
              <a:t>赋初值0</a:t>
            </a:r>
            <a:r>
              <a:rPr lang="zh-CN" altLang="en-US" kern="0" dirty="0"/>
              <a:t>；</a:t>
            </a:r>
            <a:endParaRPr lang="en-US" altLang="zh-CN" kern="0" dirty="0"/>
          </a:p>
          <a:p>
            <a:pPr marL="971550" lvl="1" algn="just">
              <a:spcBef>
                <a:spcPts val="0"/>
              </a:spcBef>
            </a:pPr>
            <a:r>
              <a:rPr lang="zh-CN" altLang="en-US" kern="0" dirty="0"/>
              <a:t>建议：自己显式地为其余的数组元素设置初值，不要依赖于编译器的默认设定；</a:t>
            </a:r>
          </a:p>
          <a:p>
            <a:pPr marL="971550" lvl="1" algn="just">
              <a:spcBef>
                <a:spcPts val="1200"/>
              </a:spcBef>
            </a:pPr>
            <a:endParaRPr lang="en-US" altLang="zh-CN" dirty="0"/>
          </a:p>
          <a:p>
            <a:pPr>
              <a:spcBef>
                <a:spcPts val="1200"/>
              </a:spcBef>
              <a:buFont typeface="Wingdings" panose="05000000000000000000" pitchFamily="2" charset="2"/>
              <a:buNone/>
            </a:pPr>
            <a:endParaRPr lang="en-US" altLang="zh-CN" sz="2000" dirty="0">
              <a:solidFill>
                <a:srgbClr val="000000"/>
              </a:solidFill>
            </a:endParaRPr>
          </a:p>
          <a:p>
            <a:pPr lvl="2" algn="just">
              <a:spcBef>
                <a:spcPts val="1200"/>
              </a:spcBef>
              <a:buNone/>
            </a:pPr>
            <a:r>
              <a:rPr lang="zh-CN" altLang="en-US" dirty="0"/>
              <a:t>   </a:t>
            </a:r>
            <a:endParaRPr lang="en-US" altLang="zh-CN" dirty="0"/>
          </a:p>
          <a:p>
            <a:pPr marL="342900" indent="-342900">
              <a:lnSpc>
                <a:spcPct val="90000"/>
              </a:lnSpc>
              <a:buFont typeface="Wingdings" panose="05000000000000000000" pitchFamily="2" charset="2"/>
              <a:buChar char="l"/>
            </a:pPr>
            <a:endParaRPr lang="en-US" altLang="zh-CN" dirty="0"/>
          </a:p>
          <a:p>
            <a:pPr algn="just">
              <a:lnSpc>
                <a:spcPct val="90000"/>
              </a:lnSpc>
            </a:pPr>
            <a:endParaRPr lang="zh-CN" altLang="en-US" sz="2800" b="1" dirty="0">
              <a:latin typeface=""/>
            </a:endParaRPr>
          </a:p>
          <a:p>
            <a:pPr>
              <a:lnSpc>
                <a:spcPct val="90000"/>
              </a:lnSpc>
            </a:pPr>
            <a:endParaRPr lang="zh-CN" altLang="en-US" sz="2800" b="1" dirty="0">
              <a:latin typeface=""/>
            </a:endParaRPr>
          </a:p>
          <a:p>
            <a:pPr algn="just">
              <a:lnSpc>
                <a:spcPct val="90000"/>
              </a:lnSpc>
            </a:pPr>
            <a:endParaRPr lang="zh-CN" altLang="en-US" sz="2800" dirty="0"/>
          </a:p>
        </p:txBody>
      </p:sp>
      <p:sp>
        <p:nvSpPr>
          <p:cNvPr id="2" name="矩形 1"/>
          <p:cNvSpPr/>
          <p:nvPr/>
        </p:nvSpPr>
        <p:spPr>
          <a:xfrm>
            <a:off x="463110" y="354559"/>
            <a:ext cx="3147015" cy="480131"/>
          </a:xfrm>
          <a:prstGeom prst="rect">
            <a:avLst/>
          </a:prstGeom>
        </p:spPr>
        <p:txBody>
          <a:bodyPr wrap="none">
            <a:spAutoFit/>
          </a:bodyPr>
          <a:lstStyle/>
          <a:p>
            <a:pPr algn="just">
              <a:lnSpc>
                <a:spcPct val="90000"/>
              </a:lnSpc>
              <a:buFont typeface="Wingdings" panose="05000000000000000000" pitchFamily="2" charset="2"/>
              <a:buNone/>
            </a:pPr>
            <a:r>
              <a:rPr lang="zh-CN" altLang="en-US" sz="2800" dirty="0">
                <a:solidFill>
                  <a:srgbClr val="1A93C8"/>
                </a:solidFill>
                <a:latin typeface="+mj-lt"/>
                <a:ea typeface="+mj-ea"/>
                <a:cs typeface="+mj-cs"/>
              </a:rPr>
              <a:t>二维数组的初始化 </a:t>
            </a:r>
          </a:p>
        </p:txBody>
      </p:sp>
    </p:spTree>
    <p:extLst>
      <p:ext uri="{BB962C8B-B14F-4D97-AF65-F5344CB8AC3E}">
        <p14:creationId xmlns:p14="http://schemas.microsoft.com/office/powerpoint/2010/main" val="173330253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Rot="1" noChangeArrowheads="1"/>
          </p:cNvSpPr>
          <p:nvPr>
            <p:ph type="body" idx="1"/>
          </p:nvPr>
        </p:nvSpPr>
        <p:spPr>
          <a:xfrm>
            <a:off x="611188" y="1196975"/>
            <a:ext cx="7772400" cy="4752975"/>
          </a:xfrm>
        </p:spPr>
        <p:txBody>
          <a:bodyPr/>
          <a:lstStyle/>
          <a:p>
            <a:pPr marL="457200" indent="-457200" algn="just">
              <a:buFont typeface="Wingdings" panose="05000000000000000000" pitchFamily="2" charset="2"/>
              <a:buChar char="l"/>
            </a:pPr>
            <a:r>
              <a:rPr lang="zh-CN" altLang="en-US" sz="2000" dirty="0"/>
              <a:t>如果对</a:t>
            </a:r>
            <a:r>
              <a:rPr lang="zh-CN" altLang="en-US" sz="2000" b="1" i="1" u="sng" dirty="0">
                <a:solidFill>
                  <a:srgbClr val="0000CC"/>
                </a:solidFill>
              </a:rPr>
              <a:t>全部</a:t>
            </a:r>
            <a:r>
              <a:rPr lang="zh-CN" altLang="en-US" sz="2000" b="1" i="1" u="sng" dirty="0" smtClean="0">
                <a:solidFill>
                  <a:srgbClr val="0000CC"/>
                </a:solidFill>
              </a:rPr>
              <a:t>元素</a:t>
            </a:r>
            <a:r>
              <a:rPr lang="zh-CN" altLang="en-US" sz="2000" b="1" u="sng" dirty="0" smtClean="0">
                <a:solidFill>
                  <a:srgbClr val="0000CC"/>
                </a:solidFill>
              </a:rPr>
              <a:t>初始化</a:t>
            </a:r>
            <a:r>
              <a:rPr lang="zh-CN" altLang="en-US" sz="2000" dirty="0" smtClean="0"/>
              <a:t>，</a:t>
            </a:r>
            <a:r>
              <a:rPr lang="zh-CN" altLang="en-US" sz="2000" dirty="0"/>
              <a:t>则</a:t>
            </a:r>
            <a:r>
              <a:rPr lang="zh-CN" altLang="en-US" sz="2000" dirty="0">
                <a:solidFill>
                  <a:srgbClr val="9900FF"/>
                </a:solidFill>
              </a:rPr>
              <a:t>第一维的长度可以不指定</a:t>
            </a:r>
            <a:r>
              <a:rPr lang="zh-CN" altLang="en-US" sz="2000" dirty="0"/>
              <a:t>，但必须指定</a:t>
            </a:r>
            <a:r>
              <a:rPr lang="zh-CN" altLang="en-US" sz="2000" dirty="0">
                <a:solidFill>
                  <a:srgbClr val="FF3300"/>
                </a:solidFill>
              </a:rPr>
              <a:t>第二维</a:t>
            </a:r>
            <a:r>
              <a:rPr lang="zh-CN" altLang="en-US" sz="2000" dirty="0"/>
              <a:t>的长度；</a:t>
            </a:r>
            <a:endParaRPr lang="en-US" altLang="zh-CN" sz="2000" dirty="0"/>
          </a:p>
          <a:p>
            <a:pPr marL="1085850" lvl="1" indent="-457200" algn="just"/>
            <a:r>
              <a:rPr lang="zh-CN" altLang="en-US" sz="1800" dirty="0"/>
              <a:t>指定第二维长度，不指定第一维的长度，能根据全部的初始化数据确定出第一维 的长度；</a:t>
            </a:r>
            <a:endParaRPr lang="en-US" altLang="zh-CN" sz="1800" dirty="0"/>
          </a:p>
          <a:p>
            <a:pPr marL="1085850" lvl="1" indent="-457200" algn="just"/>
            <a:r>
              <a:rPr lang="zh-CN" altLang="en-US" sz="1800" dirty="0"/>
              <a:t>但指定第一维的长度，不指定第二维的长度，无法根据初始化数据推断出第一维的长度；</a:t>
            </a:r>
          </a:p>
          <a:p>
            <a:pPr marL="342900" indent="-342900" algn="just">
              <a:buFont typeface="Wingdings" panose="05000000000000000000" pitchFamily="2" charset="2"/>
              <a:buChar char="l"/>
            </a:pPr>
            <a:r>
              <a:rPr lang="zh-CN" altLang="en-US" sz="2000" dirty="0"/>
              <a:t>例如</a:t>
            </a:r>
            <a:r>
              <a:rPr lang="en-US" altLang="zh-CN" sz="2000" dirty="0"/>
              <a:t>:</a:t>
            </a:r>
          </a:p>
          <a:p>
            <a:pPr>
              <a:buNone/>
            </a:pPr>
            <a:r>
              <a:rPr lang="en-US" altLang="zh-CN" sz="2000" dirty="0">
                <a:solidFill>
                  <a:srgbClr val="000000"/>
                </a:solidFill>
              </a:rPr>
              <a:t>       </a:t>
            </a:r>
            <a:r>
              <a:rPr lang="en-US" altLang="zh-CN" sz="1800" dirty="0">
                <a:solidFill>
                  <a:srgbClr val="000000"/>
                </a:solidFill>
              </a:rPr>
              <a:t> </a:t>
            </a:r>
            <a:r>
              <a:rPr lang="en-US" altLang="zh-CN" sz="1800" dirty="0" err="1">
                <a:solidFill>
                  <a:srgbClr val="000000"/>
                </a:solidFill>
              </a:rPr>
              <a:t>int</a:t>
            </a:r>
            <a:r>
              <a:rPr lang="en-US" altLang="zh-CN" sz="1800" dirty="0">
                <a:solidFill>
                  <a:srgbClr val="000000"/>
                </a:solidFill>
              </a:rPr>
              <a:t> a[3][4]={1,2,3,4,5,6,7,8,9,10,11,12};</a:t>
            </a:r>
          </a:p>
          <a:p>
            <a:pPr marL="342900" indent="-342900">
              <a:buFont typeface="Wingdings" panose="05000000000000000000" pitchFamily="2" charset="2"/>
              <a:buChar char="l"/>
            </a:pPr>
            <a:r>
              <a:rPr lang="zh-CN" altLang="en-US" sz="2000" dirty="0"/>
              <a:t>与下面定义等价：</a:t>
            </a:r>
          </a:p>
          <a:p>
            <a:pPr>
              <a:buNone/>
            </a:pPr>
            <a:r>
              <a:rPr lang="en-US" altLang="zh-CN" sz="2000" dirty="0"/>
              <a:t>       </a:t>
            </a:r>
            <a:r>
              <a:rPr lang="en-US" altLang="zh-CN" sz="1800" b="1" dirty="0">
                <a:solidFill>
                  <a:srgbClr val="FF0000"/>
                </a:solidFill>
              </a:rPr>
              <a:t>int a[ ][4] </a:t>
            </a:r>
            <a:r>
              <a:rPr lang="en-US" altLang="zh-CN" sz="1800" dirty="0">
                <a:solidFill>
                  <a:srgbClr val="000000"/>
                </a:solidFill>
              </a:rPr>
              <a:t>={</a:t>
            </a:r>
            <a:r>
              <a:rPr lang="en-US" altLang="zh-CN" sz="1800" dirty="0">
                <a:solidFill>
                  <a:srgbClr val="030DCD"/>
                </a:solidFill>
              </a:rPr>
              <a:t>1,2,3,4</a:t>
            </a:r>
            <a:r>
              <a:rPr lang="en-US" altLang="zh-CN" sz="1800" dirty="0">
                <a:solidFill>
                  <a:srgbClr val="000000"/>
                </a:solidFill>
              </a:rPr>
              <a:t>,</a:t>
            </a:r>
            <a:r>
              <a:rPr lang="en-US" altLang="zh-CN" sz="1800" dirty="0">
                <a:solidFill>
                  <a:srgbClr val="006600"/>
                </a:solidFill>
              </a:rPr>
              <a:t>5,6,7,8,9</a:t>
            </a:r>
            <a:r>
              <a:rPr lang="en-US" altLang="zh-CN" sz="1800" dirty="0">
                <a:solidFill>
                  <a:srgbClr val="000000"/>
                </a:solidFill>
              </a:rPr>
              <a:t>,</a:t>
            </a:r>
            <a:r>
              <a:rPr lang="en-US" altLang="zh-CN" sz="1800" dirty="0">
                <a:solidFill>
                  <a:srgbClr val="030DCD"/>
                </a:solidFill>
              </a:rPr>
              <a:t>10,11,12</a:t>
            </a:r>
            <a:r>
              <a:rPr lang="en-US" altLang="zh-CN" sz="1800" dirty="0">
                <a:solidFill>
                  <a:srgbClr val="000000"/>
                </a:solidFill>
              </a:rPr>
              <a:t>};    </a:t>
            </a:r>
            <a:r>
              <a:rPr lang="en-US" altLang="zh-CN" sz="1800" b="1" dirty="0">
                <a:solidFill>
                  <a:srgbClr val="030DCD"/>
                </a:solidFill>
              </a:rPr>
              <a:t>//</a:t>
            </a:r>
            <a:r>
              <a:rPr lang="zh-CN" altLang="en-US" sz="1800" b="1" dirty="0">
                <a:solidFill>
                  <a:srgbClr val="030DCD"/>
                </a:solidFill>
              </a:rPr>
              <a:t>可推出</a:t>
            </a:r>
            <a:r>
              <a:rPr lang="en-US" altLang="zh-CN" sz="1800" b="1" dirty="0">
                <a:solidFill>
                  <a:srgbClr val="030DCD"/>
                </a:solidFill>
              </a:rPr>
              <a:t>a[3][4]</a:t>
            </a:r>
            <a:r>
              <a:rPr lang="zh-CN" altLang="en-US" sz="1800" b="1" dirty="0">
                <a:solidFill>
                  <a:srgbClr val="030DCD"/>
                </a:solidFill>
              </a:rPr>
              <a:t>； </a:t>
            </a:r>
            <a:r>
              <a:rPr lang="en-US" altLang="zh-CN" sz="1800" b="1" dirty="0">
                <a:solidFill>
                  <a:srgbClr val="C00000"/>
                </a:solidFill>
              </a:rPr>
              <a:t>why</a:t>
            </a:r>
            <a:r>
              <a:rPr lang="zh-CN" altLang="en-US" sz="1800" b="1" dirty="0" smtClean="0">
                <a:solidFill>
                  <a:srgbClr val="C00000"/>
                </a:solidFill>
              </a:rPr>
              <a:t>？不建议</a:t>
            </a:r>
            <a:endParaRPr lang="en-US" altLang="zh-CN" sz="1800" b="1" dirty="0">
              <a:solidFill>
                <a:srgbClr val="C00000"/>
              </a:solidFill>
            </a:endParaRPr>
          </a:p>
          <a:p>
            <a:pPr marL="342900" indent="-342900">
              <a:buFont typeface="Wingdings" panose="05000000000000000000" pitchFamily="2" charset="2"/>
              <a:buChar char="l"/>
            </a:pPr>
            <a:r>
              <a:rPr lang="en-US" altLang="zh-CN" sz="2000" dirty="0"/>
              <a:t>int [3][]</a:t>
            </a:r>
            <a:r>
              <a:rPr lang="en-US" altLang="zh-CN" sz="2000" dirty="0">
                <a:solidFill>
                  <a:srgbClr val="000000"/>
                </a:solidFill>
              </a:rPr>
              <a:t> ={1,2,3,4,5,6,7,8,9,10,11,12};  </a:t>
            </a:r>
            <a:r>
              <a:rPr lang="en-US" altLang="zh-CN" sz="1800" dirty="0">
                <a:solidFill>
                  <a:srgbClr val="006600"/>
                </a:solidFill>
              </a:rPr>
              <a:t>// a[3][?]</a:t>
            </a:r>
            <a:r>
              <a:rPr lang="zh-CN" altLang="en-US" sz="1800" dirty="0">
                <a:solidFill>
                  <a:srgbClr val="006600"/>
                </a:solidFill>
              </a:rPr>
              <a:t>，无法推出第二维长度</a:t>
            </a:r>
          </a:p>
        </p:txBody>
      </p:sp>
      <p:sp>
        <p:nvSpPr>
          <p:cNvPr id="3" name="矩形 2"/>
          <p:cNvSpPr/>
          <p:nvPr/>
        </p:nvSpPr>
        <p:spPr>
          <a:xfrm>
            <a:off x="463110" y="354559"/>
            <a:ext cx="7300977" cy="480131"/>
          </a:xfrm>
          <a:prstGeom prst="rect">
            <a:avLst/>
          </a:prstGeom>
        </p:spPr>
        <p:txBody>
          <a:bodyPr wrap="square">
            <a:spAutoFit/>
          </a:bodyPr>
          <a:lstStyle/>
          <a:p>
            <a:pPr algn="just">
              <a:lnSpc>
                <a:spcPct val="90000"/>
              </a:lnSpc>
              <a:buFont typeface="Wingdings" panose="05000000000000000000" pitchFamily="2" charset="2"/>
              <a:buNone/>
            </a:pPr>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二</a:t>
            </a:r>
            <a:r>
              <a:rPr lang="zh-CN" altLang="en-US" sz="2800" dirty="0">
                <a:solidFill>
                  <a:srgbClr val="1A93C8"/>
                </a:solidFill>
                <a:latin typeface="+mj-lt"/>
                <a:ea typeface="+mj-ea"/>
                <a:cs typeface="+mj-cs"/>
              </a:rPr>
              <a:t>维数组的初始化 </a:t>
            </a:r>
          </a:p>
        </p:txBody>
      </p:sp>
    </p:spTree>
    <p:extLst>
      <p:ext uri="{BB962C8B-B14F-4D97-AF65-F5344CB8AC3E}">
        <p14:creationId xmlns:p14="http://schemas.microsoft.com/office/powerpoint/2010/main" val="10018066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C244D-33ED-45F5-BA24-850B3DEF8061}"/>
              </a:ext>
            </a:extLst>
          </p:cNvPr>
          <p:cNvSpPr>
            <a:spLocks noGrp="1"/>
          </p:cNvSpPr>
          <p:nvPr>
            <p:ph type="title"/>
          </p:nvPr>
        </p:nvSpPr>
        <p:spPr/>
        <p:txBody>
          <a:bodyPr/>
          <a:lstStyle/>
          <a:p>
            <a:r>
              <a:rPr lang="zh-CN" altLang="en-US" dirty="0" smtClean="0">
                <a:solidFill>
                  <a:srgbClr val="7030A0"/>
                </a:solidFill>
              </a:rPr>
              <a:t>自学与课后</a:t>
            </a:r>
            <a:r>
              <a:rPr lang="zh-CN" altLang="en-US" dirty="0">
                <a:solidFill>
                  <a:srgbClr val="7030A0"/>
                </a:solidFill>
              </a:rPr>
              <a:t>练习： </a:t>
            </a:r>
            <a:r>
              <a:rPr lang="zh-CN" altLang="en-US" dirty="0" smtClean="0"/>
              <a:t>二</a:t>
            </a:r>
            <a:r>
              <a:rPr lang="zh-CN" altLang="en-US" dirty="0"/>
              <a:t>维数组的初始化 </a:t>
            </a:r>
          </a:p>
        </p:txBody>
      </p:sp>
      <p:sp>
        <p:nvSpPr>
          <p:cNvPr id="3" name="内容占位符 2">
            <a:extLst>
              <a:ext uri="{FF2B5EF4-FFF2-40B4-BE49-F238E27FC236}">
                <a16:creationId xmlns:a16="http://schemas.microsoft.com/office/drawing/2014/main" id="{14D15177-6773-4A21-A8BA-FCB7E026BB9D}"/>
              </a:ext>
            </a:extLst>
          </p:cNvPr>
          <p:cNvSpPr>
            <a:spLocks noGrp="1"/>
          </p:cNvSpPr>
          <p:nvPr>
            <p:ph idx="1"/>
          </p:nvPr>
        </p:nvSpPr>
        <p:spPr/>
        <p:txBody>
          <a:bodyPr/>
          <a:lstStyle/>
          <a:p>
            <a:pPr marL="342900" indent="-342900">
              <a:buFont typeface="Wingdings" panose="05000000000000000000" pitchFamily="2" charset="2"/>
              <a:buChar char="l"/>
            </a:pPr>
            <a:r>
              <a:rPr lang="en-US" altLang="zh-CN" sz="2000" b="1" dirty="0">
                <a:solidFill>
                  <a:srgbClr val="FF0000"/>
                </a:solidFill>
              </a:rPr>
              <a:t>int a[ ][4] </a:t>
            </a:r>
            <a:r>
              <a:rPr lang="en-US" altLang="zh-CN" sz="2000" dirty="0">
                <a:solidFill>
                  <a:srgbClr val="000000"/>
                </a:solidFill>
              </a:rPr>
              <a:t>={</a:t>
            </a:r>
            <a:r>
              <a:rPr lang="en-US" altLang="zh-CN" sz="2000" dirty="0">
                <a:solidFill>
                  <a:srgbClr val="030DCD"/>
                </a:solidFill>
              </a:rPr>
              <a:t>1,2,3,4</a:t>
            </a:r>
            <a:r>
              <a:rPr lang="en-US" altLang="zh-CN" sz="2000" dirty="0">
                <a:solidFill>
                  <a:srgbClr val="000000"/>
                </a:solidFill>
              </a:rPr>
              <a:t>,</a:t>
            </a:r>
            <a:r>
              <a:rPr lang="en-US" altLang="zh-CN" sz="2000" dirty="0">
                <a:solidFill>
                  <a:srgbClr val="006600"/>
                </a:solidFill>
              </a:rPr>
              <a:t>5,6,7,8,9</a:t>
            </a:r>
            <a:r>
              <a:rPr lang="en-US" altLang="zh-CN" sz="2000" dirty="0">
                <a:solidFill>
                  <a:srgbClr val="000000"/>
                </a:solidFill>
              </a:rPr>
              <a:t>,</a:t>
            </a:r>
            <a:r>
              <a:rPr lang="en-US" altLang="zh-CN" sz="2000" dirty="0">
                <a:solidFill>
                  <a:srgbClr val="030DCD"/>
                </a:solidFill>
              </a:rPr>
              <a:t>10,11,12</a:t>
            </a:r>
            <a:r>
              <a:rPr lang="en-US" altLang="zh-CN" sz="2000" dirty="0">
                <a:solidFill>
                  <a:srgbClr val="000000"/>
                </a:solidFill>
              </a:rPr>
              <a:t>}; </a:t>
            </a:r>
          </a:p>
          <a:p>
            <a:pPr marL="971550" lvl="1"/>
            <a:r>
              <a:rPr lang="zh-CN" altLang="en-US" sz="1800" dirty="0">
                <a:solidFill>
                  <a:srgbClr val="7030A0"/>
                </a:solidFill>
              </a:rPr>
              <a:t>数据按行存储；</a:t>
            </a:r>
            <a:endParaRPr lang="en-US" altLang="zh-CN" sz="1800" dirty="0">
              <a:solidFill>
                <a:srgbClr val="7030A0"/>
              </a:solidFill>
            </a:endParaRPr>
          </a:p>
          <a:p>
            <a:pPr marL="971550" lvl="1"/>
            <a:r>
              <a:rPr lang="zh-CN" altLang="en-US" sz="1800" dirty="0"/>
              <a:t>已知有</a:t>
            </a:r>
            <a:r>
              <a:rPr lang="en-US" altLang="zh-CN" sz="1800" dirty="0"/>
              <a:t>4</a:t>
            </a:r>
            <a:r>
              <a:rPr lang="zh-CN" altLang="en-US" sz="1800" dirty="0"/>
              <a:t>列；</a:t>
            </a:r>
            <a:endParaRPr lang="en-US" altLang="zh-CN" sz="1800" dirty="0"/>
          </a:p>
          <a:p>
            <a:pPr marL="971550" lvl="1"/>
            <a:r>
              <a:rPr lang="zh-CN" altLang="en-US" sz="1800" dirty="0"/>
              <a:t>会将</a:t>
            </a:r>
            <a:r>
              <a:rPr lang="en-US" altLang="zh-CN" sz="1800" dirty="0"/>
              <a:t>12</a:t>
            </a:r>
            <a:r>
              <a:rPr lang="zh-CN" altLang="en-US" sz="1800" dirty="0"/>
              <a:t>个数据每</a:t>
            </a:r>
            <a:r>
              <a:rPr lang="en-US" altLang="zh-CN" sz="1800" dirty="0"/>
              <a:t>4</a:t>
            </a:r>
            <a:r>
              <a:rPr lang="zh-CN" altLang="en-US" sz="1800" dirty="0"/>
              <a:t>个一组作为一行存储，可分成</a:t>
            </a:r>
            <a:r>
              <a:rPr lang="en-US" altLang="zh-CN" sz="1800" dirty="0"/>
              <a:t>3</a:t>
            </a:r>
            <a:r>
              <a:rPr lang="zh-CN" altLang="en-US" sz="1800" dirty="0"/>
              <a:t>行；</a:t>
            </a:r>
            <a:endParaRPr lang="en-US" altLang="zh-CN" sz="1800" dirty="0"/>
          </a:p>
          <a:p>
            <a:pPr marL="971550" lvl="1"/>
            <a:r>
              <a:rPr lang="zh-CN" altLang="en-US" sz="1800" dirty="0"/>
              <a:t>故可推出第一维大小是</a:t>
            </a:r>
            <a:r>
              <a:rPr lang="en-US" altLang="zh-CN" sz="1800" dirty="0"/>
              <a:t>3</a:t>
            </a:r>
            <a:r>
              <a:rPr lang="zh-CN" altLang="en-US" sz="1800" dirty="0"/>
              <a:t>；</a:t>
            </a:r>
            <a:endParaRPr lang="en-US" altLang="zh-CN" sz="1800" dirty="0"/>
          </a:p>
          <a:p>
            <a:pPr marL="971550" lvl="1"/>
            <a:r>
              <a:rPr lang="zh-CN" altLang="en-US" b="1" dirty="0">
                <a:solidFill>
                  <a:srgbClr val="FF0000"/>
                </a:solidFill>
              </a:rPr>
              <a:t>即使</a:t>
            </a:r>
            <a:r>
              <a:rPr lang="en-US" altLang="zh-CN" b="1" dirty="0">
                <a:solidFill>
                  <a:srgbClr val="FF0000"/>
                </a:solidFill>
              </a:rPr>
              <a:t>int a[ ][4] </a:t>
            </a:r>
            <a:r>
              <a:rPr lang="en-US" altLang="zh-CN" dirty="0"/>
              <a:t>={</a:t>
            </a:r>
            <a:r>
              <a:rPr lang="en-US" altLang="zh-CN" dirty="0">
                <a:solidFill>
                  <a:srgbClr val="030DCD"/>
                </a:solidFill>
              </a:rPr>
              <a:t>1,2,3,4</a:t>
            </a:r>
            <a:r>
              <a:rPr lang="en-US" altLang="zh-CN" dirty="0"/>
              <a:t>,</a:t>
            </a:r>
            <a:r>
              <a:rPr lang="en-US" altLang="zh-CN" dirty="0">
                <a:solidFill>
                  <a:srgbClr val="006600"/>
                </a:solidFill>
              </a:rPr>
              <a:t>5,6,7,8,9</a:t>
            </a:r>
            <a:r>
              <a:rPr lang="en-US" altLang="zh-CN" dirty="0"/>
              <a:t>,</a:t>
            </a:r>
            <a:r>
              <a:rPr lang="en-US" altLang="zh-CN" dirty="0">
                <a:solidFill>
                  <a:srgbClr val="030DCD"/>
                </a:solidFill>
              </a:rPr>
              <a:t>10</a:t>
            </a:r>
            <a:r>
              <a:rPr lang="en-US" altLang="zh-CN" dirty="0"/>
              <a:t>}; </a:t>
            </a:r>
            <a:r>
              <a:rPr lang="en-US" altLang="zh-CN" dirty="0" smtClean="0"/>
              <a:t>//</a:t>
            </a:r>
            <a:r>
              <a:rPr lang="zh-CN" altLang="en-US" dirty="0" smtClean="0"/>
              <a:t>推出数组有</a:t>
            </a:r>
            <a:r>
              <a:rPr lang="en-US" altLang="zh-CN" dirty="0" smtClean="0"/>
              <a:t>3</a:t>
            </a:r>
            <a:r>
              <a:rPr lang="zh-CN" altLang="en-US" dirty="0"/>
              <a:t>行</a:t>
            </a:r>
            <a:endParaRPr lang="en-US" altLang="zh-CN" dirty="0"/>
          </a:p>
          <a:p>
            <a:pPr marL="342900" indent="-342900">
              <a:buFont typeface="Wingdings" panose="05000000000000000000" pitchFamily="2" charset="2"/>
              <a:buChar char="l"/>
            </a:pPr>
            <a:r>
              <a:rPr lang="en-US" altLang="zh-CN" sz="2000" dirty="0"/>
              <a:t>int [3][]</a:t>
            </a:r>
            <a:r>
              <a:rPr lang="en-US" altLang="zh-CN" sz="2000" dirty="0">
                <a:solidFill>
                  <a:srgbClr val="000000"/>
                </a:solidFill>
              </a:rPr>
              <a:t> ={1,2,3,4,5,6,7,8,9,10,11,12};</a:t>
            </a:r>
          </a:p>
          <a:p>
            <a:pPr marL="971550" lvl="1"/>
            <a:r>
              <a:rPr lang="zh-CN" altLang="en-US" sz="1800" dirty="0">
                <a:solidFill>
                  <a:srgbClr val="7030A0"/>
                </a:solidFill>
              </a:rPr>
              <a:t>数据按行存储；</a:t>
            </a:r>
            <a:endParaRPr lang="en-US" altLang="zh-CN" sz="1800" dirty="0">
              <a:solidFill>
                <a:srgbClr val="7030A0"/>
              </a:solidFill>
            </a:endParaRPr>
          </a:p>
          <a:p>
            <a:pPr marL="971550" lvl="1"/>
            <a:r>
              <a:rPr lang="zh-CN" altLang="en-US" sz="1800" dirty="0"/>
              <a:t>没有指定列数；</a:t>
            </a:r>
            <a:endParaRPr lang="en-US" altLang="zh-CN" sz="1800" dirty="0"/>
          </a:p>
          <a:p>
            <a:pPr marL="971550" lvl="1"/>
            <a:r>
              <a:rPr lang="zh-CN" altLang="en-US" sz="1800" dirty="0"/>
              <a:t>无法确定将几个数据作为一行存储；</a:t>
            </a:r>
            <a:r>
              <a:rPr lang="en-US" altLang="zh-CN" sz="1800" dirty="0"/>
              <a:t>//</a:t>
            </a:r>
            <a:r>
              <a:rPr lang="zh-CN" altLang="en-US" sz="1800" dirty="0">
                <a:solidFill>
                  <a:srgbClr val="030DCD"/>
                </a:solidFill>
              </a:rPr>
              <a:t>编译器没有达到人的智能高度</a:t>
            </a:r>
            <a:endParaRPr lang="en-US" altLang="zh-CN" sz="1800" dirty="0">
              <a:solidFill>
                <a:srgbClr val="030DCD"/>
              </a:solidFill>
            </a:endParaRPr>
          </a:p>
          <a:p>
            <a:pPr marL="971550" lvl="1"/>
            <a:r>
              <a:rPr lang="zh-CN" altLang="en-US" sz="1800" dirty="0"/>
              <a:t>无法推出第二维的大小；</a:t>
            </a:r>
            <a:endParaRPr lang="en-US" altLang="zh-CN" sz="1800" dirty="0"/>
          </a:p>
          <a:p>
            <a:pPr marL="342900" indent="-342900">
              <a:buFont typeface="Wingdings" panose="05000000000000000000" pitchFamily="2" charset="2"/>
              <a:buChar char="l"/>
            </a:pPr>
            <a:endParaRPr lang="en-US" altLang="zh-CN" sz="2000" b="1" dirty="0">
              <a:solidFill>
                <a:srgbClr val="000000"/>
              </a:solidFill>
            </a:endParaRPr>
          </a:p>
          <a:p>
            <a:pPr marL="342900" indent="-342900">
              <a:buFont typeface="Wingdings" panose="05000000000000000000" pitchFamily="2" charset="2"/>
              <a:buChar char="l"/>
            </a:pPr>
            <a:endParaRPr lang="en-US" altLang="zh-CN" sz="2000" b="1" dirty="0">
              <a:solidFill>
                <a:srgbClr val="C00000"/>
              </a:solidFill>
            </a:endParaRPr>
          </a:p>
          <a:p>
            <a:endParaRPr lang="zh-CN" altLang="en-US" dirty="0"/>
          </a:p>
        </p:txBody>
      </p:sp>
    </p:spTree>
    <p:extLst>
      <p:ext uri="{BB962C8B-B14F-4D97-AF65-F5344CB8AC3E}">
        <p14:creationId xmlns:p14="http://schemas.microsoft.com/office/powerpoint/2010/main" val="363102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Rot="1" noChangeArrowheads="1"/>
          </p:cNvSpPr>
          <p:nvPr>
            <p:ph type="body" idx="1"/>
          </p:nvPr>
        </p:nvSpPr>
        <p:spPr>
          <a:xfrm>
            <a:off x="684213" y="981075"/>
            <a:ext cx="7772400" cy="4642485"/>
          </a:xfrm>
        </p:spPr>
        <p:txBody>
          <a:bodyPr/>
          <a:lstStyle/>
          <a:p>
            <a:pPr marL="342900" indent="-342900">
              <a:lnSpc>
                <a:spcPct val="100000"/>
              </a:lnSpc>
              <a:spcBef>
                <a:spcPts val="1200"/>
              </a:spcBef>
              <a:buFont typeface="Wingdings" panose="05000000000000000000" pitchFamily="2" charset="2"/>
              <a:buChar char="l"/>
            </a:pPr>
            <a:r>
              <a:rPr lang="zh-CN" altLang="en-US" dirty="0"/>
              <a:t>用</a:t>
            </a:r>
            <a:r>
              <a:rPr lang="zh-CN" altLang="en-US" dirty="0">
                <a:solidFill>
                  <a:srgbClr val="9900FF"/>
                </a:solidFill>
              </a:rPr>
              <a:t>数组名和下标</a:t>
            </a:r>
            <a:r>
              <a:rPr lang="zh-CN" altLang="en-US" dirty="0"/>
              <a:t>引用元素。例</a:t>
            </a:r>
            <a:r>
              <a:rPr lang="en-US" altLang="zh-CN" dirty="0"/>
              <a:t>:</a:t>
            </a:r>
          </a:p>
          <a:p>
            <a:pPr marL="971550" lvl="1">
              <a:lnSpc>
                <a:spcPct val="100000"/>
              </a:lnSpc>
              <a:spcBef>
                <a:spcPts val="1200"/>
              </a:spcBef>
            </a:pPr>
            <a:r>
              <a:rPr lang="en-US" altLang="zh-CN" dirty="0"/>
              <a:t>float a[2][3]; </a:t>
            </a:r>
            <a:r>
              <a:rPr lang="zh-CN" altLang="en-US" dirty="0"/>
              <a:t>有6个元素，按如下方式引用各元素：</a:t>
            </a:r>
          </a:p>
          <a:p>
            <a:pPr marL="971550" lvl="1">
              <a:lnSpc>
                <a:spcPct val="100000"/>
              </a:lnSpc>
              <a:spcBef>
                <a:spcPts val="1200"/>
              </a:spcBef>
            </a:pPr>
            <a:r>
              <a:rPr lang="en-US" altLang="zh-CN" dirty="0"/>
              <a:t>a[0][0]、a[0][1]、a[0][2]、a[1][0]、a[1][1]、a[1][2] （</a:t>
            </a:r>
            <a:r>
              <a:rPr lang="zh-CN" altLang="en-US" dirty="0"/>
              <a:t>下标从0始）</a:t>
            </a:r>
          </a:p>
          <a:p>
            <a:pPr marL="342900" indent="-342900">
              <a:lnSpc>
                <a:spcPct val="100000"/>
              </a:lnSpc>
              <a:spcBef>
                <a:spcPts val="1200"/>
              </a:spcBef>
              <a:buFont typeface="Wingdings" panose="05000000000000000000" pitchFamily="2" charset="2"/>
              <a:buChar char="l"/>
            </a:pPr>
            <a:r>
              <a:rPr lang="zh-CN" altLang="en-US" dirty="0">
                <a:solidFill>
                  <a:srgbClr val="FF3300"/>
                </a:solidFill>
              </a:rPr>
              <a:t>注意</a:t>
            </a:r>
            <a:r>
              <a:rPr lang="zh-CN" altLang="en-US" dirty="0"/>
              <a:t>：数组</a:t>
            </a:r>
            <a:r>
              <a:rPr lang="en-US" altLang="zh-CN" dirty="0"/>
              <a:t>float a[2][3]</a:t>
            </a:r>
            <a:r>
              <a:rPr lang="zh-CN" altLang="en-US" dirty="0"/>
              <a:t>中无元素</a:t>
            </a:r>
            <a:r>
              <a:rPr lang="en-US" altLang="zh-CN" dirty="0"/>
              <a:t>a[2][3</a:t>
            </a:r>
            <a:r>
              <a:rPr lang="en-US" altLang="zh-CN" dirty="0" smtClean="0"/>
              <a:t>]。</a:t>
            </a:r>
          </a:p>
          <a:p>
            <a:pPr marL="342900" indent="-342900" algn="just">
              <a:buFont typeface="Wingdings" panose="05000000000000000000" pitchFamily="2" charset="2"/>
              <a:buChar char="l"/>
            </a:pPr>
            <a:endParaRPr lang="en-US" altLang="zh-CN" dirty="0" smtClean="0">
              <a:solidFill>
                <a:srgbClr val="080808"/>
              </a:solidFill>
              <a:latin typeface="宋体" panose="02010600030101010101" pitchFamily="2" charset="-122"/>
            </a:endParaRPr>
          </a:p>
          <a:p>
            <a:pPr marL="342900" indent="-342900" algn="just">
              <a:buFont typeface="Wingdings" panose="05000000000000000000" pitchFamily="2" charset="2"/>
              <a:buChar char="l"/>
            </a:pPr>
            <a:r>
              <a:rPr lang="zh-CN" altLang="en-US" dirty="0" smtClean="0">
                <a:solidFill>
                  <a:srgbClr val="080808"/>
                </a:solidFill>
                <a:latin typeface="宋体" panose="02010600030101010101" pitchFamily="2" charset="-122"/>
              </a:rPr>
              <a:t>二维数组：</a:t>
            </a:r>
            <a:r>
              <a:rPr lang="zh-CN" altLang="en-US" dirty="0">
                <a:solidFill>
                  <a:srgbClr val="030DCD"/>
                </a:solidFill>
                <a:latin typeface="宋体" panose="02010600030101010101" pitchFamily="2" charset="-122"/>
              </a:rPr>
              <a:t>可直观地表示矩阵等结构</a:t>
            </a:r>
            <a:endParaRPr lang="en-US" altLang="zh-CN" dirty="0">
              <a:solidFill>
                <a:srgbClr val="030DCD"/>
              </a:solidFill>
              <a:latin typeface="宋体" panose="02010600030101010101" pitchFamily="2" charset="-122"/>
            </a:endParaRPr>
          </a:p>
          <a:p>
            <a:pPr marL="342900" indent="-342900" algn="just">
              <a:buFont typeface="Wingdings" panose="05000000000000000000" pitchFamily="2" charset="2"/>
              <a:buChar char="l"/>
            </a:pPr>
            <a:r>
              <a:rPr lang="zh-CN" altLang="en-US" dirty="0"/>
              <a:t>利用</a:t>
            </a:r>
            <a:r>
              <a:rPr lang="zh-CN" altLang="en-US" dirty="0">
                <a:solidFill>
                  <a:srgbClr val="7030A0"/>
                </a:solidFill>
              </a:rPr>
              <a:t>二重循环</a:t>
            </a:r>
            <a:r>
              <a:rPr lang="en-US" altLang="zh-CN" dirty="0">
                <a:solidFill>
                  <a:srgbClr val="7030A0"/>
                </a:solidFill>
              </a:rPr>
              <a:t>+</a:t>
            </a:r>
            <a:r>
              <a:rPr lang="zh-CN" altLang="en-US" dirty="0">
                <a:solidFill>
                  <a:srgbClr val="7030A0"/>
                </a:solidFill>
              </a:rPr>
              <a:t>二维数组</a:t>
            </a:r>
            <a:r>
              <a:rPr lang="zh-CN" altLang="en-US" dirty="0"/>
              <a:t>，容易完成矩阵的</a:t>
            </a:r>
            <a:r>
              <a:rPr lang="zh-CN" altLang="en-US" dirty="0">
                <a:solidFill>
                  <a:srgbClr val="006600"/>
                </a:solidFill>
              </a:rPr>
              <a:t>转置</a:t>
            </a:r>
            <a:r>
              <a:rPr lang="zh-CN" altLang="en-US" dirty="0"/>
              <a:t>、</a:t>
            </a:r>
            <a:r>
              <a:rPr lang="zh-CN" altLang="en-US" dirty="0">
                <a:solidFill>
                  <a:srgbClr val="006600"/>
                </a:solidFill>
              </a:rPr>
              <a:t>加减</a:t>
            </a:r>
            <a:r>
              <a:rPr lang="zh-CN" altLang="en-US" dirty="0"/>
              <a:t>、</a:t>
            </a:r>
            <a:r>
              <a:rPr lang="zh-CN" altLang="en-US" dirty="0">
                <a:solidFill>
                  <a:srgbClr val="006600"/>
                </a:solidFill>
              </a:rPr>
              <a:t>乘法</a:t>
            </a:r>
            <a:r>
              <a:rPr lang="zh-CN" altLang="en-US" dirty="0"/>
              <a:t>等运算；</a:t>
            </a:r>
            <a:endParaRPr lang="en-US" altLang="zh-CN" dirty="0"/>
          </a:p>
          <a:p>
            <a:pPr marL="457200" indent="-457200" algn="just">
              <a:buFont typeface="Wingdings" panose="05000000000000000000" pitchFamily="2" charset="2"/>
              <a:buChar char="l"/>
            </a:pPr>
            <a:endParaRPr lang="zh-CN" altLang="en-US" sz="3200" b="1" dirty="0">
              <a:solidFill>
                <a:srgbClr val="FF3300"/>
              </a:solidFill>
            </a:endParaRPr>
          </a:p>
          <a:p>
            <a:pPr marL="342900" indent="-342900">
              <a:lnSpc>
                <a:spcPct val="100000"/>
              </a:lnSpc>
              <a:spcBef>
                <a:spcPts val="1200"/>
              </a:spcBef>
              <a:buFont typeface="Wingdings" panose="05000000000000000000" pitchFamily="2" charset="2"/>
              <a:buChar char="l"/>
            </a:pPr>
            <a:endParaRPr lang="zh-CN" altLang="en-US" dirty="0"/>
          </a:p>
        </p:txBody>
      </p:sp>
      <p:sp>
        <p:nvSpPr>
          <p:cNvPr id="3" name="矩形 2"/>
          <p:cNvSpPr/>
          <p:nvPr/>
        </p:nvSpPr>
        <p:spPr>
          <a:xfrm>
            <a:off x="642645" y="354559"/>
            <a:ext cx="2787943" cy="480131"/>
          </a:xfrm>
          <a:prstGeom prst="rect">
            <a:avLst/>
          </a:prstGeom>
        </p:spPr>
        <p:txBody>
          <a:bodyPr wrap="none">
            <a:spAutoFit/>
          </a:bodyPr>
          <a:lstStyle/>
          <a:p>
            <a:pPr algn="just">
              <a:lnSpc>
                <a:spcPct val="90000"/>
              </a:lnSpc>
              <a:buFont typeface="Wingdings" panose="05000000000000000000" pitchFamily="2" charset="2"/>
              <a:buNone/>
            </a:pPr>
            <a:r>
              <a:rPr lang="zh-CN" altLang="en-US" sz="2800" dirty="0">
                <a:solidFill>
                  <a:srgbClr val="1A93C8"/>
                </a:solidFill>
                <a:latin typeface="+mj-lt"/>
                <a:ea typeface="+mj-ea"/>
                <a:cs typeface="+mj-cs"/>
              </a:rPr>
              <a:t>二维数组的引用 </a:t>
            </a:r>
          </a:p>
        </p:txBody>
      </p:sp>
    </p:spTree>
    <p:extLst>
      <p:ext uri="{BB962C8B-B14F-4D97-AF65-F5344CB8AC3E}">
        <p14:creationId xmlns:p14="http://schemas.microsoft.com/office/powerpoint/2010/main" val="53992030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011" name="Rectangle 3"/>
              <p:cNvSpPr>
                <a:spLocks noGrp="1" noRot="1" noChangeArrowheads="1"/>
              </p:cNvSpPr>
              <p:nvPr>
                <p:ph type="body" idx="1"/>
              </p:nvPr>
            </p:nvSpPr>
            <p:spPr>
              <a:xfrm>
                <a:off x="684213" y="1007918"/>
                <a:ext cx="7772400" cy="5434446"/>
              </a:xfrm>
            </p:spPr>
            <p:txBody>
              <a:bodyPr/>
              <a:lstStyle/>
              <a:p>
                <a:pPr marL="342900" indent="-342900">
                  <a:lnSpc>
                    <a:spcPct val="100000"/>
                  </a:lnSpc>
                  <a:buFont typeface="Wingdings" panose="05000000000000000000" pitchFamily="2" charset="2"/>
                  <a:buChar char="l"/>
                </a:pPr>
                <a:r>
                  <a:rPr lang="zh-CN" altLang="en-US" dirty="0" smtClean="0">
                    <a:latin typeface="宋体" panose="02010600030101010101" pitchFamily="2" charset="-122"/>
                  </a:rPr>
                  <a:t>遍历二维数组元素，一般都采用</a:t>
                </a:r>
                <a:r>
                  <a:rPr lang="zh-CN" altLang="en-US" dirty="0">
                    <a:solidFill>
                      <a:srgbClr val="FF3300"/>
                    </a:solidFill>
                    <a:latin typeface="宋体" panose="02010600030101010101" pitchFamily="2" charset="-122"/>
                  </a:rPr>
                  <a:t>双重循环处理</a:t>
                </a:r>
                <a:r>
                  <a:rPr lang="zh-CN" altLang="en-US" dirty="0">
                    <a:latin typeface="宋体" panose="02010600030101010101" pitchFamily="2" charset="-122"/>
                  </a:rPr>
                  <a:t>（</a:t>
                </a:r>
                <a:r>
                  <a:rPr lang="zh-CN" altLang="en-US" dirty="0">
                    <a:solidFill>
                      <a:srgbClr val="0000CC"/>
                    </a:solidFill>
                    <a:latin typeface="宋体" panose="02010600030101010101" pitchFamily="2" charset="-122"/>
                  </a:rPr>
                  <a:t>行</a:t>
                </a:r>
                <a:r>
                  <a:rPr lang="zh-CN" altLang="en-US" dirty="0" smtClean="0">
                    <a:solidFill>
                      <a:srgbClr val="0000CC"/>
                    </a:solidFill>
                    <a:latin typeface="宋体" panose="02010600030101010101" pitchFamily="2" charset="-122"/>
                  </a:rPr>
                  <a:t>循环</a:t>
                </a:r>
                <a:r>
                  <a:rPr lang="en-US" altLang="zh-CN" dirty="0" smtClean="0">
                    <a:solidFill>
                      <a:srgbClr val="0000CC"/>
                    </a:solidFill>
                    <a:latin typeface="宋体" panose="02010600030101010101" pitchFamily="2" charset="-122"/>
                  </a:rPr>
                  <a:t>+</a:t>
                </a:r>
                <a:r>
                  <a:rPr lang="zh-CN" altLang="en-US" dirty="0" smtClean="0">
                    <a:solidFill>
                      <a:srgbClr val="7030A0"/>
                    </a:solidFill>
                    <a:latin typeface="宋体" panose="02010600030101010101" pitchFamily="2" charset="-122"/>
                  </a:rPr>
                  <a:t>列</a:t>
                </a:r>
                <a:r>
                  <a:rPr lang="zh-CN" altLang="en-US" dirty="0">
                    <a:solidFill>
                      <a:srgbClr val="7030A0"/>
                    </a:solidFill>
                    <a:latin typeface="宋体" panose="02010600030101010101" pitchFamily="2" charset="-122"/>
                  </a:rPr>
                  <a:t>循环</a:t>
                </a:r>
                <a:r>
                  <a:rPr lang="zh-CN" altLang="en-US" dirty="0">
                    <a:latin typeface="宋体" panose="02010600030101010101" pitchFamily="2" charset="-122"/>
                  </a:rPr>
                  <a:t>）。</a:t>
                </a:r>
              </a:p>
              <a:p>
                <a:pPr marL="342900" indent="-342900">
                  <a:lnSpc>
                    <a:spcPct val="100000"/>
                  </a:lnSpc>
                  <a:buFont typeface="Wingdings" panose="05000000000000000000" pitchFamily="2" charset="2"/>
                  <a:buChar char="l"/>
                </a:pPr>
                <a:r>
                  <a:rPr lang="zh-CN" altLang="en-US" dirty="0">
                    <a:latin typeface=""/>
                  </a:rPr>
                  <a:t>例：将一个二维数组行和列交换，存到另一个二维数组中；（</a:t>
                </a:r>
                <a:r>
                  <a:rPr lang="zh-CN" altLang="en-US" b="1" dirty="0">
                    <a:solidFill>
                      <a:srgbClr val="030DCD"/>
                    </a:solidFill>
                    <a:latin typeface=""/>
                  </a:rPr>
                  <a:t>矩阵转置</a:t>
                </a:r>
                <a:r>
                  <a:rPr lang="zh-CN" altLang="en-US" dirty="0">
                    <a:latin typeface=""/>
                  </a:rPr>
                  <a:t>）</a:t>
                </a:r>
                <a:endParaRPr lang="en-US" altLang="zh-CN" dirty="0">
                  <a:latin typeface=""/>
                </a:endParaRPr>
              </a:p>
              <a:p>
                <a:pPr marL="342900" indent="-342900">
                  <a:lnSpc>
                    <a:spcPct val="100000"/>
                  </a:lnSpc>
                  <a:buFont typeface="Wingdings" panose="05000000000000000000" pitchFamily="2" charset="2"/>
                  <a:buChar char="l"/>
                </a:pPr>
                <a:r>
                  <a:rPr lang="zh-CN" altLang="en-US" dirty="0">
                    <a:latin typeface=""/>
                  </a:rPr>
                  <a:t>例如</a:t>
                </a:r>
                <a:r>
                  <a:rPr lang="en-US" altLang="zh-CN" dirty="0">
                    <a:latin typeface=""/>
                  </a:rPr>
                  <a:t>:   </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2</m:t>
                        </m:r>
                        <m:r>
                          <m:rPr>
                            <m:sty m:val="p"/>
                          </m:rPr>
                          <a:rPr lang="en-US" altLang="zh-CN" i="1" dirty="0">
                            <a:latin typeface="Cambria Math" panose="02040503050406030204" pitchFamily="18" charset="0"/>
                          </a:rPr>
                          <m:t>x</m:t>
                        </m:r>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𝑇</m:t>
                        </m:r>
                      </m:sup>
                    </m:sSubSup>
                    <m:r>
                      <a:rPr lang="en-US" altLang="zh-CN"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𝐵</m:t>
                        </m:r>
                      </m:e>
                      <m:sub>
                        <m:r>
                          <a:rPr lang="en-US" altLang="zh-CN" i="1" dirty="0">
                            <a:latin typeface="Cambria Math" panose="02040503050406030204" pitchFamily="18" charset="0"/>
                          </a:rPr>
                          <m:t>3</m:t>
                        </m:r>
                        <m:r>
                          <a:rPr lang="en-US" altLang="zh-CN" i="1" dirty="0">
                            <a:latin typeface="Cambria Math" panose="02040503050406030204" pitchFamily="18" charset="0"/>
                          </a:rPr>
                          <m:t>𝑋</m:t>
                        </m:r>
                        <m:r>
                          <a:rPr lang="en-US" altLang="zh-CN" i="1" dirty="0">
                            <a:latin typeface="Cambria Math" panose="02040503050406030204" pitchFamily="18" charset="0"/>
                          </a:rPr>
                          <m:t>2</m:t>
                        </m:r>
                      </m:sub>
                    </m:sSub>
                  </m:oMath>
                </a14:m>
                <a:endParaRPr lang="en-US" altLang="zh-CN" dirty="0">
                  <a:latin typeface=""/>
                </a:endParaRPr>
              </a:p>
              <a:p>
                <a:pPr>
                  <a:buFont typeface="Wingdings" panose="05000000000000000000" pitchFamily="2" charset="2"/>
                  <a:buNone/>
                </a:pPr>
                <a:r>
                  <a:rPr lang="zh-CN" altLang="en-US" b="1" dirty="0"/>
                  <a:t> </a:t>
                </a:r>
                <a:endParaRPr lang="en-US" altLang="zh-CN" b="1" dirty="0" smtClean="0"/>
              </a:p>
              <a:p>
                <a:pPr>
                  <a:buFont typeface="Wingdings" panose="05000000000000000000" pitchFamily="2" charset="2"/>
                  <a:buNone/>
                </a:pPr>
                <a:r>
                  <a:rPr lang="en-US" altLang="zh-CN" b="1" dirty="0" smtClean="0"/>
                  <a:t>	</a:t>
                </a:r>
                <a14:m>
                  <m:oMath xmlns:m="http://schemas.openxmlformats.org/officeDocument/2006/math">
                    <m:r>
                      <a:rPr lang="en-US" altLang="zh-CN" b="1" i="0" smtClean="0">
                        <a:latin typeface="Cambria Math" panose="02040503050406030204" pitchFamily="18" charset="0"/>
                      </a:rPr>
                      <m:t>𝐀</m:t>
                    </m:r>
                    <m:r>
                      <a:rPr lang="en-US" altLang="zh-CN" b="1" i="0"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m>
                          <m:mPr>
                            <m:mcs>
                              <m:mc>
                                <m:mcPr>
                                  <m:count m:val="2"/>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𝟏</m:t>
                              </m:r>
                            </m:e>
                            <m:e>
                              <m:m>
                                <m:mPr>
                                  <m:mcs>
                                    <m:mc>
                                      <m:mcPr>
                                        <m:count m:val="2"/>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𝟐</m:t>
                                    </m:r>
                                  </m:e>
                                  <m:e>
                                    <m:r>
                                      <a:rPr lang="en-US" altLang="zh-CN" b="1" i="1" smtClean="0">
                                        <a:latin typeface="Cambria Math" panose="02040503050406030204" pitchFamily="18" charset="0"/>
                                      </a:rPr>
                                      <m:t>𝟑</m:t>
                                    </m:r>
                                  </m:e>
                                </m:mr>
                              </m:m>
                            </m:e>
                          </m:mr>
                          <m:mr>
                            <m:e>
                              <m:r>
                                <a:rPr lang="en-US" altLang="zh-CN" b="1" i="1" smtClean="0">
                                  <a:latin typeface="Cambria Math" panose="02040503050406030204" pitchFamily="18" charset="0"/>
                                </a:rPr>
                                <m:t>𝟒</m:t>
                              </m:r>
                            </m:e>
                            <m:e>
                              <m:m>
                                <m:mPr>
                                  <m:mcs>
                                    <m:mc>
                                      <m:mcPr>
                                        <m:count m:val="2"/>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𝟓</m:t>
                                    </m:r>
                                  </m:e>
                                  <m:e>
                                    <m:r>
                                      <a:rPr lang="en-US" altLang="zh-CN" b="1" i="1" smtClean="0">
                                        <a:latin typeface="Cambria Math" panose="02040503050406030204" pitchFamily="18" charset="0"/>
                                      </a:rPr>
                                      <m:t>𝟔</m:t>
                                    </m:r>
                                  </m:e>
                                </m:mr>
                              </m:m>
                            </m:e>
                          </m:mr>
                        </m:m>
                      </m:e>
                    </m:d>
                    <m:r>
                      <a:rPr lang="en-US" altLang="zh-CN" b="1" i="1" smtClean="0">
                        <a:latin typeface="Cambria Math" panose="02040503050406030204" pitchFamily="18" charset="0"/>
                      </a:rPr>
                      <m:t>     </m:t>
                    </m:r>
                    <m:r>
                      <a:rPr lang="en-US" altLang="zh-CN" b="1" i="0" smtClean="0">
                        <a:latin typeface="Cambria Math" panose="02040503050406030204" pitchFamily="18" charset="0"/>
                      </a:rPr>
                      <m:t>𝐁</m:t>
                    </m:r>
                    <m:r>
                      <a:rPr lang="en-US" altLang="zh-CN" b="1">
                        <a:latin typeface="Cambria Math" panose="02040503050406030204" pitchFamily="18" charset="0"/>
                      </a:rPr>
                      <m:t>=</m:t>
                    </m:r>
                    <m:d>
                      <m:dPr>
                        <m:begChr m:val="["/>
                        <m:endChr m:val="]"/>
                        <m:ctrlPr>
                          <a:rPr lang="en-US" altLang="zh-CN" b="1" i="1">
                            <a:latin typeface="Cambria Math" panose="02040503050406030204" pitchFamily="18" charset="0"/>
                          </a:rPr>
                        </m:ctrlPr>
                      </m:dPr>
                      <m:e>
                        <m:m>
                          <m:mPr>
                            <m:mcs>
                              <m:mc>
                                <m:mcPr>
                                  <m:count m:val="2"/>
                                  <m:mcJc m:val="center"/>
                                </m:mcPr>
                              </m:mc>
                            </m:mcs>
                            <m:ctrlPr>
                              <a:rPr lang="en-US" altLang="zh-CN" b="1" i="1">
                                <a:latin typeface="Cambria Math" panose="02040503050406030204" pitchFamily="18" charset="0"/>
                              </a:rPr>
                            </m:ctrlPr>
                          </m:mPr>
                          <m:mr>
                            <m:e>
                              <m:r>
                                <m:rPr>
                                  <m:brk m:alnAt="7"/>
                                </m:rPr>
                                <a:rPr lang="en-US" altLang="zh-CN" b="1" i="1">
                                  <a:latin typeface="Cambria Math" panose="02040503050406030204" pitchFamily="18" charset="0"/>
                                </a:rPr>
                                <m:t>𝟏</m:t>
                              </m:r>
                            </m:e>
                            <m:e>
                              <m:r>
                                <a:rPr lang="en-US" altLang="zh-CN" b="1" i="1" smtClean="0">
                                  <a:latin typeface="Cambria Math" panose="02040503050406030204" pitchFamily="18" charset="0"/>
                                </a:rPr>
                                <m:t>𝟒</m:t>
                              </m:r>
                            </m:e>
                          </m:mr>
                          <m:mr>
                            <m:e>
                              <m:m>
                                <m:mPr>
                                  <m:mcs>
                                    <m:mc>
                                      <m:mcPr>
                                        <m:count m:val="1"/>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𝟐</m:t>
                                    </m:r>
                                  </m:e>
                                </m:mr>
                                <m:mr>
                                  <m:e>
                                    <m:r>
                                      <a:rPr lang="en-US" altLang="zh-CN" b="1" i="1" smtClean="0">
                                        <a:latin typeface="Cambria Math" panose="02040503050406030204" pitchFamily="18" charset="0"/>
                                      </a:rPr>
                                      <m:t>𝟑</m:t>
                                    </m:r>
                                  </m:e>
                                </m:mr>
                              </m:m>
                            </m:e>
                            <m:e>
                              <m:m>
                                <m:mPr>
                                  <m:mcs>
                                    <m:mc>
                                      <m:mcPr>
                                        <m:count m:val="1"/>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𝟓</m:t>
                                    </m:r>
                                  </m:e>
                                </m:mr>
                                <m:mr>
                                  <m:e>
                                    <m:r>
                                      <a:rPr lang="en-US" altLang="zh-CN" b="1" i="1" smtClean="0">
                                        <a:latin typeface="Cambria Math" panose="02040503050406030204" pitchFamily="18" charset="0"/>
                                      </a:rPr>
                                      <m:t>𝟔</m:t>
                                    </m:r>
                                  </m:e>
                                </m:mr>
                              </m:m>
                            </m:e>
                          </m:mr>
                        </m:m>
                      </m:e>
                    </m:d>
                  </m:oMath>
                </a14:m>
                <a:endParaRPr lang="en-US" altLang="zh-CN" b="1" dirty="0"/>
              </a:p>
              <a:p>
                <a:pPr>
                  <a:buFont typeface="Wingdings" panose="05000000000000000000" pitchFamily="2" charset="2"/>
                  <a:buNone/>
                </a:pPr>
                <a:endParaRPr lang="zh-CN" altLang="en-US" b="1" dirty="0"/>
              </a:p>
            </p:txBody>
          </p:sp>
        </mc:Choice>
        <mc:Fallback xmlns="">
          <p:sp>
            <p:nvSpPr>
              <p:cNvPr id="43011" name="Rectangle 3"/>
              <p:cNvSpPr>
                <a:spLocks noGrp="1" noRot="1" noChangeAspect="1" noMove="1" noResize="1" noEditPoints="1" noAdjustHandles="1" noChangeArrowheads="1" noChangeShapeType="1" noTextEdit="1"/>
              </p:cNvSpPr>
              <p:nvPr>
                <p:ph type="body" idx="1"/>
              </p:nvPr>
            </p:nvSpPr>
            <p:spPr>
              <a:xfrm>
                <a:off x="684213" y="1007918"/>
                <a:ext cx="7772400" cy="5434446"/>
              </a:xfrm>
              <a:blipFill>
                <a:blip r:embed="rId2"/>
                <a:stretch>
                  <a:fillRect l="-157" t="-897"/>
                </a:stretch>
              </a:blipFill>
            </p:spPr>
            <p:txBody>
              <a:bodyPr/>
              <a:lstStyle/>
              <a:p>
                <a:r>
                  <a:rPr lang="zh-CN" altLang="en-US">
                    <a:noFill/>
                  </a:rPr>
                  <a:t> </a:t>
                </a:r>
              </a:p>
            </p:txBody>
          </p:sp>
        </mc:Fallback>
      </mc:AlternateContent>
      <p:sp>
        <p:nvSpPr>
          <p:cNvPr id="2" name="矩形 1"/>
          <p:cNvSpPr/>
          <p:nvPr/>
        </p:nvSpPr>
        <p:spPr>
          <a:xfrm>
            <a:off x="323300" y="334447"/>
            <a:ext cx="3147015" cy="523220"/>
          </a:xfrm>
          <a:prstGeom prst="rect">
            <a:avLst/>
          </a:prstGeom>
        </p:spPr>
        <p:txBody>
          <a:bodyPr wrap="none">
            <a:spAutoFit/>
          </a:bodyPr>
          <a:lstStyle/>
          <a:p>
            <a:pPr>
              <a:buFont typeface="Wingdings" panose="05000000000000000000" pitchFamily="2" charset="2"/>
              <a:buNone/>
            </a:pPr>
            <a:r>
              <a:rPr lang="zh-CN" altLang="en-US" sz="2800" dirty="0">
                <a:solidFill>
                  <a:srgbClr val="1A93C8"/>
                </a:solidFill>
                <a:latin typeface="+mj-lt"/>
                <a:ea typeface="+mj-ea"/>
                <a:cs typeface="+mj-cs"/>
              </a:rPr>
              <a:t>二维数组应用举例 </a:t>
            </a:r>
          </a:p>
        </p:txBody>
      </p:sp>
    </p:spTree>
    <p:extLst>
      <p:ext uri="{BB962C8B-B14F-4D97-AF65-F5344CB8AC3E}">
        <p14:creationId xmlns:p14="http://schemas.microsoft.com/office/powerpoint/2010/main" val="387710603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Rot="1" noChangeArrowheads="1"/>
          </p:cNvSpPr>
          <p:nvPr>
            <p:ph type="body" idx="1"/>
          </p:nvPr>
        </p:nvSpPr>
        <p:spPr>
          <a:xfrm>
            <a:off x="193532" y="1028700"/>
            <a:ext cx="4305732" cy="5351318"/>
          </a:xfrm>
          <a:ln>
            <a:solidFill>
              <a:srgbClr val="000000"/>
            </a:solidFill>
          </a:ln>
        </p:spPr>
        <p:txBody>
          <a:bodyPr/>
          <a:lstStyle/>
          <a:p>
            <a:pPr marL="342900" indent="-342900">
              <a:lnSpc>
                <a:spcPct val="100000"/>
              </a:lnSpc>
              <a:spcBef>
                <a:spcPts val="0"/>
              </a:spcBef>
              <a:buFont typeface="Wingdings" panose="05000000000000000000" pitchFamily="2" charset="2"/>
              <a:buChar char="l"/>
            </a:pPr>
            <a:r>
              <a:rPr lang="zh-CN" altLang="en-US" sz="2000" dirty="0">
                <a:solidFill>
                  <a:srgbClr val="FF3300"/>
                </a:solidFill>
              </a:rPr>
              <a:t>算法</a:t>
            </a:r>
            <a:r>
              <a:rPr lang="zh-CN" altLang="en-US" sz="2000" dirty="0"/>
              <a:t>： </a:t>
            </a:r>
            <a:r>
              <a:rPr lang="en-US" altLang="zh-CN" sz="2000" dirty="0"/>
              <a:t>b[j][</a:t>
            </a:r>
            <a:r>
              <a:rPr lang="en-US" altLang="zh-CN" sz="2000" dirty="0" err="1"/>
              <a:t>i</a:t>
            </a:r>
            <a:r>
              <a:rPr lang="en-US" altLang="zh-CN" sz="2000" dirty="0"/>
              <a:t>] = a[</a:t>
            </a:r>
            <a:r>
              <a:rPr lang="en-US" altLang="zh-CN" sz="2000" dirty="0" err="1"/>
              <a:t>i</a:t>
            </a:r>
            <a:r>
              <a:rPr lang="en-US" altLang="zh-CN" sz="2000" dirty="0"/>
              <a:t>][j]</a:t>
            </a:r>
          </a:p>
          <a:p>
            <a:pPr marL="342900" indent="-342900">
              <a:lnSpc>
                <a:spcPct val="100000"/>
              </a:lnSpc>
              <a:spcBef>
                <a:spcPts val="0"/>
              </a:spcBef>
              <a:buFont typeface="Wingdings" panose="05000000000000000000" pitchFamily="2" charset="2"/>
              <a:buChar char="l"/>
            </a:pPr>
            <a:r>
              <a:rPr lang="zh-CN" altLang="en-US" sz="2000" dirty="0"/>
              <a:t>程序：</a:t>
            </a:r>
          </a:p>
          <a:p>
            <a:pPr lvl="1" indent="0">
              <a:lnSpc>
                <a:spcPct val="100000"/>
              </a:lnSpc>
              <a:spcBef>
                <a:spcPts val="0"/>
              </a:spcBef>
              <a:buNone/>
            </a:pPr>
            <a:r>
              <a:rPr lang="en-US" altLang="zh-CN" sz="1800" dirty="0" err="1"/>
              <a:t>int</a:t>
            </a:r>
            <a:r>
              <a:rPr lang="en-US" altLang="zh-CN" sz="1800" dirty="0"/>
              <a:t> main()</a:t>
            </a:r>
          </a:p>
          <a:p>
            <a:pPr lvl="1" indent="0">
              <a:lnSpc>
                <a:spcPct val="100000"/>
              </a:lnSpc>
              <a:spcBef>
                <a:spcPts val="0"/>
              </a:spcBef>
              <a:buNone/>
            </a:pPr>
            <a:r>
              <a:rPr lang="en-US" altLang="zh-CN" sz="1800" dirty="0"/>
              <a:t>{ </a:t>
            </a:r>
          </a:p>
          <a:p>
            <a:pPr lvl="1" indent="0">
              <a:lnSpc>
                <a:spcPct val="100000"/>
              </a:lnSpc>
              <a:spcBef>
                <a:spcPts val="0"/>
              </a:spcBef>
              <a:buNone/>
            </a:pPr>
            <a:r>
              <a:rPr lang="en-US" altLang="zh-CN" sz="1800" dirty="0"/>
              <a:t>     </a:t>
            </a:r>
            <a:r>
              <a:rPr lang="en-US" altLang="zh-CN" sz="1800" dirty="0" err="1"/>
              <a:t>int</a:t>
            </a:r>
            <a:r>
              <a:rPr lang="en-US" altLang="zh-CN" sz="1800" dirty="0"/>
              <a:t> a[2][3] = {{1,2,3},{4,5,6}};</a:t>
            </a:r>
          </a:p>
          <a:p>
            <a:pPr lvl="1" indent="0">
              <a:lnSpc>
                <a:spcPct val="100000"/>
              </a:lnSpc>
              <a:spcBef>
                <a:spcPts val="0"/>
              </a:spcBef>
              <a:buNone/>
            </a:pPr>
            <a:r>
              <a:rPr lang="en-US" altLang="zh-CN" sz="1800" dirty="0"/>
              <a:t>     </a:t>
            </a:r>
            <a:r>
              <a:rPr lang="en-US" altLang="zh-CN" sz="1800" dirty="0" err="1"/>
              <a:t>int</a:t>
            </a:r>
            <a:r>
              <a:rPr lang="en-US" altLang="zh-CN" sz="1800" dirty="0"/>
              <a:t> b[3][2], </a:t>
            </a:r>
            <a:r>
              <a:rPr lang="en-US" altLang="zh-CN" sz="1800" dirty="0" err="1"/>
              <a:t>i,j</a:t>
            </a:r>
            <a:r>
              <a:rPr lang="en-US" altLang="zh-CN" sz="1800" dirty="0"/>
              <a:t>;</a:t>
            </a:r>
          </a:p>
          <a:p>
            <a:pPr lvl="1" indent="0">
              <a:lnSpc>
                <a:spcPct val="100000"/>
              </a:lnSpc>
              <a:spcBef>
                <a:spcPts val="0"/>
              </a:spcBef>
              <a:buNone/>
            </a:pPr>
            <a:r>
              <a:rPr lang="en-US" altLang="zh-CN" sz="1800" dirty="0"/>
              <a:t>     </a:t>
            </a:r>
            <a:r>
              <a:rPr lang="en-US" altLang="zh-CN" sz="1800" dirty="0" err="1"/>
              <a:t>printf</a:t>
            </a:r>
            <a:r>
              <a:rPr lang="en-US" altLang="zh-CN" sz="1800" dirty="0"/>
              <a:t>("array a:\n");</a:t>
            </a:r>
          </a:p>
          <a:p>
            <a:pPr lvl="1" indent="0">
              <a:lnSpc>
                <a:spcPct val="100000"/>
              </a:lnSpc>
              <a:spcBef>
                <a:spcPts val="0"/>
              </a:spcBef>
              <a:buNone/>
            </a:pPr>
            <a:r>
              <a:rPr lang="en-US" altLang="zh-CN" sz="1800" dirty="0">
                <a:solidFill>
                  <a:srgbClr val="FF3300"/>
                </a:solidFill>
              </a:rPr>
              <a:t>     for(</a:t>
            </a:r>
            <a:r>
              <a:rPr lang="en-US" altLang="zh-CN" sz="1800" dirty="0" err="1">
                <a:solidFill>
                  <a:srgbClr val="FF3300"/>
                </a:solidFill>
              </a:rPr>
              <a:t>i</a:t>
            </a:r>
            <a:r>
              <a:rPr lang="en-US" altLang="zh-CN" sz="1800" dirty="0">
                <a:solidFill>
                  <a:srgbClr val="FF3300"/>
                </a:solidFill>
              </a:rPr>
              <a:t>=0;i&lt;=1;i++)</a:t>
            </a:r>
            <a:r>
              <a:rPr lang="en-US" altLang="zh-CN" sz="1800" dirty="0"/>
              <a:t>  </a:t>
            </a:r>
            <a:r>
              <a:rPr lang="en-US" altLang="zh-CN" sz="1800" dirty="0">
                <a:solidFill>
                  <a:srgbClr val="030DCD"/>
                </a:solidFill>
              </a:rPr>
              <a:t>/* 0～1</a:t>
            </a:r>
            <a:r>
              <a:rPr lang="zh-CN" altLang="en-US" sz="1800" dirty="0">
                <a:solidFill>
                  <a:srgbClr val="030DCD"/>
                </a:solidFill>
              </a:rPr>
              <a:t>行 */</a:t>
            </a:r>
          </a:p>
          <a:p>
            <a:pPr lvl="1" indent="0">
              <a:lnSpc>
                <a:spcPct val="100000"/>
              </a:lnSpc>
              <a:spcBef>
                <a:spcPts val="0"/>
              </a:spcBef>
              <a:buNone/>
            </a:pPr>
            <a:r>
              <a:rPr lang="zh-CN" altLang="en-US" sz="1800" dirty="0"/>
              <a:t>    {</a:t>
            </a:r>
          </a:p>
          <a:p>
            <a:pPr lvl="1" indent="0">
              <a:lnSpc>
                <a:spcPct val="100000"/>
              </a:lnSpc>
              <a:spcBef>
                <a:spcPts val="0"/>
              </a:spcBef>
              <a:buNone/>
            </a:pPr>
            <a:r>
              <a:rPr lang="zh-CN" altLang="en-US" sz="1800" dirty="0">
                <a:solidFill>
                  <a:srgbClr val="FF3300"/>
                </a:solidFill>
              </a:rPr>
              <a:t>          </a:t>
            </a:r>
            <a:r>
              <a:rPr lang="en-US" altLang="zh-CN" sz="1800" dirty="0">
                <a:solidFill>
                  <a:srgbClr val="FF3300"/>
                </a:solidFill>
              </a:rPr>
              <a:t>for(j=0;j&lt;=2;j++)</a:t>
            </a:r>
            <a:r>
              <a:rPr lang="en-US" altLang="zh-CN" sz="1800" dirty="0"/>
              <a:t>  </a:t>
            </a:r>
            <a:r>
              <a:rPr lang="en-US" altLang="zh-CN" sz="1800" dirty="0">
                <a:solidFill>
                  <a:srgbClr val="030DCD"/>
                </a:solidFill>
              </a:rPr>
              <a:t>/* 0～2</a:t>
            </a:r>
            <a:r>
              <a:rPr lang="zh-CN" altLang="en-US" sz="1800" dirty="0">
                <a:solidFill>
                  <a:srgbClr val="030DCD"/>
                </a:solidFill>
              </a:rPr>
              <a:t>列 */</a:t>
            </a:r>
          </a:p>
          <a:p>
            <a:pPr lvl="1" indent="0">
              <a:lnSpc>
                <a:spcPct val="100000"/>
              </a:lnSpc>
              <a:spcBef>
                <a:spcPts val="0"/>
              </a:spcBef>
              <a:buNone/>
            </a:pPr>
            <a:r>
              <a:rPr lang="zh-CN" altLang="en-US" sz="1800" dirty="0"/>
              <a:t>         {</a:t>
            </a:r>
          </a:p>
          <a:p>
            <a:pPr lvl="1" indent="0">
              <a:lnSpc>
                <a:spcPct val="100000"/>
              </a:lnSpc>
              <a:spcBef>
                <a:spcPts val="0"/>
              </a:spcBef>
              <a:buNone/>
            </a:pPr>
            <a:r>
              <a:rPr lang="zh-CN" altLang="en-US" sz="1800" dirty="0"/>
              <a:t>             </a:t>
            </a:r>
            <a:r>
              <a:rPr lang="en-US" altLang="zh-CN" sz="1800" dirty="0" err="1"/>
              <a:t>printf</a:t>
            </a:r>
            <a:r>
              <a:rPr lang="en-US" altLang="zh-CN" sz="1800" dirty="0"/>
              <a:t>("%5d",a[</a:t>
            </a:r>
            <a:r>
              <a:rPr lang="en-US" altLang="zh-CN" sz="1800" dirty="0" err="1"/>
              <a:t>i</a:t>
            </a:r>
            <a:r>
              <a:rPr lang="en-US" altLang="zh-CN" sz="1800" dirty="0"/>
              <a:t>][j]);</a:t>
            </a:r>
          </a:p>
          <a:p>
            <a:pPr lvl="1" indent="0">
              <a:lnSpc>
                <a:spcPct val="100000"/>
              </a:lnSpc>
              <a:spcBef>
                <a:spcPts val="0"/>
              </a:spcBef>
              <a:buNone/>
            </a:pPr>
            <a:r>
              <a:rPr lang="en-US" altLang="zh-CN" sz="1800" dirty="0"/>
              <a:t>             </a:t>
            </a:r>
            <a:r>
              <a:rPr lang="en-US" altLang="zh-CN" sz="1800" dirty="0">
                <a:solidFill>
                  <a:srgbClr val="006600"/>
                </a:solidFill>
              </a:rPr>
              <a:t>b[j][</a:t>
            </a:r>
            <a:r>
              <a:rPr lang="en-US" altLang="zh-CN" sz="1800" dirty="0" err="1">
                <a:solidFill>
                  <a:srgbClr val="006600"/>
                </a:solidFill>
              </a:rPr>
              <a:t>i</a:t>
            </a:r>
            <a:r>
              <a:rPr lang="en-US" altLang="zh-CN" sz="1800" dirty="0">
                <a:solidFill>
                  <a:srgbClr val="006600"/>
                </a:solidFill>
              </a:rPr>
              <a:t>] = a[</a:t>
            </a:r>
            <a:r>
              <a:rPr lang="en-US" altLang="zh-CN" sz="1800" dirty="0" err="1">
                <a:solidFill>
                  <a:srgbClr val="006600"/>
                </a:solidFill>
              </a:rPr>
              <a:t>i</a:t>
            </a:r>
            <a:r>
              <a:rPr lang="en-US" altLang="zh-CN" sz="1800" dirty="0">
                <a:solidFill>
                  <a:srgbClr val="006600"/>
                </a:solidFill>
              </a:rPr>
              <a:t>][j];</a:t>
            </a:r>
          </a:p>
          <a:p>
            <a:pPr lvl="1" indent="0">
              <a:lnSpc>
                <a:spcPct val="100000"/>
              </a:lnSpc>
              <a:spcBef>
                <a:spcPts val="0"/>
              </a:spcBef>
              <a:buNone/>
            </a:pPr>
            <a:r>
              <a:rPr lang="zh-CN" altLang="en-US" sz="1800" b="1" dirty="0"/>
              <a:t>             </a:t>
            </a:r>
            <a:r>
              <a:rPr lang="en-US" altLang="zh-CN" sz="1800" dirty="0" err="1">
                <a:solidFill>
                  <a:srgbClr val="000000"/>
                </a:solidFill>
                <a:sym typeface="宋体" panose="02010600030101010101" pitchFamily="2" charset="-122"/>
              </a:rPr>
              <a:t>printf</a:t>
            </a:r>
            <a:r>
              <a:rPr lang="en-US" altLang="zh-CN" sz="1800" dirty="0">
                <a:solidFill>
                  <a:srgbClr val="000000"/>
                </a:solidFill>
                <a:sym typeface="宋体" panose="02010600030101010101" pitchFamily="2" charset="-122"/>
              </a:rPr>
              <a:t>("\n");</a:t>
            </a:r>
            <a:endParaRPr lang="zh-CN" altLang="en-US" sz="1800" dirty="0">
              <a:solidFill>
                <a:srgbClr val="000000"/>
              </a:solidFill>
              <a:sym typeface="宋体" panose="02010600030101010101" pitchFamily="2" charset="-122"/>
            </a:endParaRPr>
          </a:p>
          <a:p>
            <a:pPr>
              <a:lnSpc>
                <a:spcPct val="100000"/>
              </a:lnSpc>
              <a:spcBef>
                <a:spcPts val="0"/>
              </a:spcBef>
              <a:buNone/>
            </a:pPr>
            <a:r>
              <a:rPr lang="zh-CN" altLang="en-US" sz="1800" dirty="0">
                <a:solidFill>
                  <a:srgbClr val="000000"/>
                </a:solidFill>
                <a:sym typeface="宋体" panose="02010600030101010101" pitchFamily="2" charset="-122"/>
              </a:rPr>
              <a:t>                    }</a:t>
            </a:r>
          </a:p>
          <a:p>
            <a:pPr marL="285750" lvl="1" indent="0">
              <a:lnSpc>
                <a:spcPct val="100000"/>
              </a:lnSpc>
              <a:spcBef>
                <a:spcPts val="0"/>
              </a:spcBef>
              <a:buNone/>
            </a:pPr>
            <a:r>
              <a:rPr lang="zh-CN" altLang="en-US" sz="1800" dirty="0">
                <a:solidFill>
                  <a:srgbClr val="000000"/>
                </a:solidFill>
                <a:sym typeface="宋体" panose="02010600030101010101" pitchFamily="2" charset="-122"/>
              </a:rPr>
              <a:t>           }</a:t>
            </a:r>
          </a:p>
          <a:p>
            <a:pPr marL="285750" lvl="1" indent="0">
              <a:lnSpc>
                <a:spcPct val="100000"/>
              </a:lnSpc>
              <a:spcBef>
                <a:spcPts val="0"/>
              </a:spcBef>
              <a:buNone/>
            </a:pPr>
            <a:r>
              <a:rPr lang="zh-CN" altLang="en-US" sz="1800" dirty="0">
                <a:solidFill>
                  <a:srgbClr val="000000"/>
                </a:solidFill>
                <a:sym typeface="宋体" panose="02010600030101010101" pitchFamily="2" charset="-122"/>
              </a:rPr>
              <a:t> </a:t>
            </a:r>
            <a:endParaRPr lang="zh-CN" altLang="en-US" dirty="0"/>
          </a:p>
          <a:p>
            <a:pPr marL="285750" lvl="1" indent="0">
              <a:lnSpc>
                <a:spcPct val="100000"/>
              </a:lnSpc>
              <a:spcBef>
                <a:spcPts val="0"/>
              </a:spcBef>
              <a:buNone/>
            </a:pPr>
            <a:r>
              <a:rPr lang="zh-CN" altLang="en-US" dirty="0"/>
              <a:t>    </a:t>
            </a:r>
          </a:p>
        </p:txBody>
      </p:sp>
      <p:sp>
        <p:nvSpPr>
          <p:cNvPr id="3" name="Rectangle 3"/>
          <p:cNvSpPr txBox="1">
            <a:spLocks noRot="1" noChangeArrowheads="1"/>
          </p:cNvSpPr>
          <p:nvPr/>
        </p:nvSpPr>
        <p:spPr bwMode="auto">
          <a:xfrm>
            <a:off x="4765531" y="1028700"/>
            <a:ext cx="4129087" cy="5351318"/>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0">
              <a:lnSpc>
                <a:spcPct val="100000"/>
              </a:lnSpc>
              <a:spcBef>
                <a:spcPts val="0"/>
              </a:spcBef>
              <a:buFont typeface="Wingdings" panose="05000000000000000000" pitchFamily="2" charset="2"/>
              <a:buNone/>
            </a:pPr>
            <a:r>
              <a:rPr lang="en-US" altLang="zh-CN" sz="1800" dirty="0"/>
              <a:t>//</a:t>
            </a:r>
            <a:r>
              <a:rPr lang="zh-CN" altLang="en-US" sz="1800" dirty="0"/>
              <a:t>输出转置后的矩阵</a:t>
            </a:r>
            <a:endParaRPr lang="en-US" altLang="zh-CN" sz="1800" dirty="0"/>
          </a:p>
          <a:p>
            <a:pPr marL="285750" lvl="1" indent="0">
              <a:lnSpc>
                <a:spcPct val="100000"/>
              </a:lnSpc>
              <a:spcBef>
                <a:spcPts val="0"/>
              </a:spcBef>
              <a:buFont typeface="Wingdings" panose="05000000000000000000" pitchFamily="2" charset="2"/>
              <a:buNone/>
            </a:pPr>
            <a:r>
              <a:rPr lang="en-US" altLang="zh-CN" sz="1800" dirty="0" err="1"/>
              <a:t>printf</a:t>
            </a:r>
            <a:r>
              <a:rPr lang="en-US" altLang="zh-CN" sz="1800" dirty="0"/>
              <a:t>("array b:\n");</a:t>
            </a:r>
          </a:p>
          <a:p>
            <a:pPr marL="285750" lvl="1" indent="0">
              <a:lnSpc>
                <a:spcPct val="100000"/>
              </a:lnSpc>
              <a:spcBef>
                <a:spcPts val="0"/>
              </a:spcBef>
              <a:buFont typeface="Wingdings" panose="05000000000000000000" pitchFamily="2" charset="2"/>
              <a:buNone/>
            </a:pPr>
            <a:r>
              <a:rPr lang="en-US" altLang="zh-CN" sz="1800" dirty="0"/>
              <a:t> for(</a:t>
            </a:r>
            <a:r>
              <a:rPr lang="en-US" altLang="zh-CN" sz="1800" dirty="0" err="1"/>
              <a:t>i</a:t>
            </a:r>
            <a:r>
              <a:rPr lang="en-US" altLang="zh-CN" sz="1800" dirty="0"/>
              <a:t>=0;i&lt;3;i++)</a:t>
            </a:r>
          </a:p>
          <a:p>
            <a:pPr marL="285750" lvl="1" indent="0">
              <a:lnSpc>
                <a:spcPct val="100000"/>
              </a:lnSpc>
              <a:spcBef>
                <a:spcPts val="0"/>
              </a:spcBef>
              <a:buFont typeface="Wingdings" panose="05000000000000000000" pitchFamily="2" charset="2"/>
              <a:buNone/>
            </a:pPr>
            <a:r>
              <a:rPr lang="en-US" altLang="zh-CN" sz="1800" dirty="0"/>
              <a:t> {</a:t>
            </a:r>
          </a:p>
          <a:p>
            <a:pPr marL="285750" lvl="1" indent="0">
              <a:lnSpc>
                <a:spcPct val="100000"/>
              </a:lnSpc>
              <a:spcBef>
                <a:spcPts val="0"/>
              </a:spcBef>
              <a:buFont typeface="Wingdings" panose="05000000000000000000" pitchFamily="2" charset="2"/>
              <a:buNone/>
            </a:pPr>
            <a:r>
              <a:rPr lang="en-US" altLang="zh-CN" sz="1800" dirty="0"/>
              <a:t>      for(j=0;j&lt;2;j++)</a:t>
            </a:r>
          </a:p>
          <a:p>
            <a:pPr marL="285750" lvl="1" indent="0">
              <a:lnSpc>
                <a:spcPct val="100000"/>
              </a:lnSpc>
              <a:spcBef>
                <a:spcPts val="0"/>
              </a:spcBef>
              <a:buFont typeface="Wingdings" panose="05000000000000000000" pitchFamily="2" charset="2"/>
              <a:buNone/>
            </a:pPr>
            <a:r>
              <a:rPr lang="en-US" altLang="zh-CN" sz="1800" dirty="0"/>
              <a:t>           </a:t>
            </a:r>
            <a:r>
              <a:rPr lang="en-US" altLang="zh-CN" sz="1800" dirty="0" err="1"/>
              <a:t>printf</a:t>
            </a:r>
            <a:r>
              <a:rPr lang="en-US" altLang="zh-CN" sz="1800" dirty="0"/>
              <a:t>("%5d",b[</a:t>
            </a:r>
            <a:r>
              <a:rPr lang="en-US" altLang="zh-CN" sz="1800" dirty="0" err="1"/>
              <a:t>i</a:t>
            </a:r>
            <a:r>
              <a:rPr lang="en-US" altLang="zh-CN" sz="1800" dirty="0"/>
              <a:t>][j]);</a:t>
            </a:r>
          </a:p>
          <a:p>
            <a:pPr marL="285750" lvl="1" indent="0">
              <a:lnSpc>
                <a:spcPct val="100000"/>
              </a:lnSpc>
              <a:spcBef>
                <a:spcPts val="0"/>
              </a:spcBef>
              <a:buNone/>
            </a:pPr>
            <a:r>
              <a:rPr lang="en-US" altLang="zh-CN" sz="1800" dirty="0"/>
              <a:t>      /*</a:t>
            </a:r>
            <a:r>
              <a:rPr lang="zh-CN" altLang="en-US" sz="1800" dirty="0"/>
              <a:t>输出一行后换行 */</a:t>
            </a:r>
          </a:p>
          <a:p>
            <a:pPr marL="285750" lvl="1" indent="0">
              <a:lnSpc>
                <a:spcPct val="100000"/>
              </a:lnSpc>
              <a:spcBef>
                <a:spcPts val="0"/>
              </a:spcBef>
              <a:buFont typeface="Wingdings" panose="05000000000000000000" pitchFamily="2" charset="2"/>
              <a:buNone/>
            </a:pPr>
            <a:r>
              <a:rPr lang="en-US" altLang="zh-CN" sz="1800" dirty="0"/>
              <a:t>      </a:t>
            </a:r>
            <a:r>
              <a:rPr lang="en-US" altLang="zh-CN" sz="1800" dirty="0" err="1"/>
              <a:t>printf</a:t>
            </a:r>
            <a:r>
              <a:rPr lang="en-US" altLang="zh-CN" sz="1800" dirty="0"/>
              <a:t>("\n"); </a:t>
            </a:r>
          </a:p>
          <a:p>
            <a:pPr marL="285750" lvl="1" indent="0">
              <a:lnSpc>
                <a:spcPct val="100000"/>
              </a:lnSpc>
              <a:spcBef>
                <a:spcPts val="0"/>
              </a:spcBef>
              <a:buFont typeface="Wingdings" panose="05000000000000000000" pitchFamily="2" charset="2"/>
              <a:buNone/>
            </a:pPr>
            <a:r>
              <a:rPr lang="zh-CN" altLang="en-US" sz="1800" dirty="0"/>
              <a:t>  }</a:t>
            </a:r>
          </a:p>
          <a:p>
            <a:pPr marL="285750" lvl="1" indent="0">
              <a:lnSpc>
                <a:spcPct val="100000"/>
              </a:lnSpc>
              <a:spcBef>
                <a:spcPts val="0"/>
              </a:spcBef>
              <a:buFont typeface="Wingdings" panose="05000000000000000000" pitchFamily="2" charset="2"/>
              <a:buNone/>
            </a:pPr>
            <a:r>
              <a:rPr lang="en-US" altLang="zh-CN" sz="1800" dirty="0"/>
              <a:t>   return 0;</a:t>
            </a:r>
          </a:p>
          <a:p>
            <a:pPr marL="285750" lvl="1" indent="0">
              <a:lnSpc>
                <a:spcPct val="100000"/>
              </a:lnSpc>
              <a:spcBef>
                <a:spcPts val="0"/>
              </a:spcBef>
              <a:buFont typeface="Wingdings" panose="05000000000000000000" pitchFamily="2" charset="2"/>
              <a:buNone/>
            </a:pPr>
            <a:r>
              <a:rPr lang="zh-CN" altLang="en-US" sz="1800" dirty="0"/>
              <a:t>}</a:t>
            </a:r>
          </a:p>
          <a:p>
            <a:pPr lvl="1" indent="0">
              <a:lnSpc>
                <a:spcPct val="100000"/>
              </a:lnSpc>
              <a:spcBef>
                <a:spcPts val="0"/>
              </a:spcBef>
              <a:buFont typeface="Wingdings" panose="05000000000000000000" pitchFamily="2" charset="2"/>
              <a:buNone/>
            </a:pPr>
            <a:endParaRPr lang="zh-CN" altLang="en-US" dirty="0"/>
          </a:p>
          <a:p>
            <a:pPr marL="285750" lvl="1" indent="0">
              <a:lnSpc>
                <a:spcPct val="100000"/>
              </a:lnSpc>
              <a:spcBef>
                <a:spcPts val="0"/>
              </a:spcBef>
              <a:buFont typeface="Wingdings" panose="05000000000000000000" pitchFamily="2" charset="2"/>
              <a:buNone/>
            </a:pPr>
            <a:r>
              <a:rPr lang="zh-CN" altLang="en-US" dirty="0"/>
              <a:t>    </a:t>
            </a:r>
          </a:p>
        </p:txBody>
      </p:sp>
      <p:sp>
        <p:nvSpPr>
          <p:cNvPr id="2" name="矩形 1"/>
          <p:cNvSpPr/>
          <p:nvPr/>
        </p:nvSpPr>
        <p:spPr>
          <a:xfrm>
            <a:off x="412357" y="324488"/>
            <a:ext cx="8388743" cy="523220"/>
          </a:xfrm>
          <a:prstGeom prst="rect">
            <a:avLst/>
          </a:prstGeom>
        </p:spPr>
        <p:txBody>
          <a:bodyPr wrap="square">
            <a:spAutoFit/>
          </a:bodyPr>
          <a:lstStyle/>
          <a:p>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矩阵</a:t>
            </a:r>
            <a:r>
              <a:rPr lang="zh-CN" altLang="en-US" sz="2800" dirty="0">
                <a:solidFill>
                  <a:srgbClr val="1A93C8"/>
                </a:solidFill>
                <a:latin typeface="+mj-lt"/>
                <a:ea typeface="+mj-ea"/>
                <a:cs typeface="+mj-cs"/>
              </a:rPr>
              <a:t>转置</a:t>
            </a:r>
          </a:p>
        </p:txBody>
      </p:sp>
    </p:spTree>
    <p:extLst>
      <p:ext uri="{BB962C8B-B14F-4D97-AF65-F5344CB8AC3E}">
        <p14:creationId xmlns:p14="http://schemas.microsoft.com/office/powerpoint/2010/main" val="1456239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25127-F0B5-4A8D-AFDF-2C761F3447A2}"/>
              </a:ext>
            </a:extLst>
          </p:cNvPr>
          <p:cNvSpPr>
            <a:spLocks noGrp="1"/>
          </p:cNvSpPr>
          <p:nvPr>
            <p:ph type="title"/>
          </p:nvPr>
        </p:nvSpPr>
        <p:spPr/>
        <p:txBody>
          <a:bodyPr/>
          <a:lstStyle/>
          <a:p>
            <a:r>
              <a:rPr lang="zh-CN" altLang="en-US" dirty="0"/>
              <a:t>矩阵乘法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41D68EF-410E-43D8-AB0B-3A720EE6FA76}"/>
                  </a:ext>
                </a:extLst>
              </p:cNvPr>
              <p:cNvSpPr>
                <a:spLocks noGrp="1"/>
              </p:cNvSpPr>
              <p:nvPr>
                <p:ph idx="1"/>
              </p:nvPr>
            </p:nvSpPr>
            <p:spPr>
              <a:xfrm>
                <a:off x="440029" y="1189937"/>
                <a:ext cx="8263942" cy="4437779"/>
              </a:xfrm>
            </p:spPr>
            <p:txBody>
              <a:bodyPr/>
              <a:lstStyle/>
              <a:p>
                <a:pPr marL="342900" indent="-342900">
                  <a:buFont typeface="Wingdings" panose="05000000000000000000" pitchFamily="2" charset="2"/>
                  <a:buChar char="l"/>
                </a:pPr>
                <a:r>
                  <a:rPr lang="zh-CN" altLang="en-US" sz="2000" dirty="0" smtClean="0"/>
                  <a:t>对于上页的两</a:t>
                </a:r>
                <a:r>
                  <a:rPr lang="zh-CN" altLang="en-US" sz="2000" dirty="0"/>
                  <a:t>个矩阵</a:t>
                </a:r>
                <a:r>
                  <a:rPr lang="en-US" altLang="zh-CN" sz="2000" dirty="0" smtClean="0"/>
                  <a:t>a</a:t>
                </a:r>
                <a:r>
                  <a:rPr lang="en-US" altLang="zh-CN" sz="2000" baseline="-25000" dirty="0" smtClean="0"/>
                  <a:t>2x3</a:t>
                </a:r>
                <a:r>
                  <a:rPr lang="zh-CN" altLang="en-US" sz="2000" dirty="0" smtClean="0"/>
                  <a:t>、</a:t>
                </a:r>
                <a:r>
                  <a:rPr lang="en-US" altLang="zh-CN" sz="2000" dirty="0" smtClean="0"/>
                  <a:t>b</a:t>
                </a:r>
                <a:r>
                  <a:rPr lang="en-US" altLang="zh-CN" sz="2000" baseline="-25000" dirty="0" smtClean="0"/>
                  <a:t>3x2</a:t>
                </a:r>
                <a:r>
                  <a:rPr lang="zh-CN" altLang="en-US" sz="2000" dirty="0" smtClean="0"/>
                  <a:t>，</a:t>
                </a:r>
                <a:r>
                  <a:rPr lang="zh-CN" altLang="en-US" sz="2000" dirty="0"/>
                  <a:t>假设</a:t>
                </a:r>
                <a:r>
                  <a:rPr lang="en-US" altLang="zh-CN" sz="2000" dirty="0"/>
                  <a:t>c=a*b</a:t>
                </a:r>
                <a:r>
                  <a:rPr lang="zh-CN" altLang="en-US" sz="2000" dirty="0"/>
                  <a:t>，则</a:t>
                </a:r>
                <a:r>
                  <a:rPr lang="en-US" altLang="zh-CN" sz="2000" dirty="0"/>
                  <a:t>c</a:t>
                </a:r>
                <a:r>
                  <a:rPr lang="zh-CN" altLang="en-US" sz="2000" dirty="0"/>
                  <a:t>为</a:t>
                </a:r>
                <a14:m>
                  <m:oMath xmlns:m="http://schemas.openxmlformats.org/officeDocument/2006/math">
                    <m:r>
                      <a:rPr lang="en-US" altLang="zh-CN" sz="2000" b="0" i="1" smtClean="0">
                        <a:latin typeface="Cambria Math" panose="02040503050406030204" pitchFamily="18" charset="0"/>
                      </a:rPr>
                      <m:t>2</m:t>
                    </m:r>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2</m:t>
                    </m:r>
                  </m:oMath>
                </a14:m>
                <a:r>
                  <a:rPr lang="zh-CN" altLang="en-US" sz="2000" dirty="0"/>
                  <a:t>矩阵，即</a:t>
                </a:r>
                <a:r>
                  <a:rPr lang="en-US" altLang="zh-CN" sz="2000" dirty="0"/>
                  <a:t>c</a:t>
                </a:r>
                <a:r>
                  <a:rPr lang="zh-CN" altLang="en-US" sz="2000" dirty="0"/>
                  <a:t>应为</a:t>
                </a:r>
                <a:r>
                  <a:rPr lang="en-US" altLang="zh-CN" sz="2000" dirty="0"/>
                  <a:t>c[2][2]</a:t>
                </a:r>
                <a:r>
                  <a:rPr lang="zh-CN" altLang="en-US" sz="2000" dirty="0"/>
                  <a:t>的二维数组，其中，</a:t>
                </a:r>
                <a:endParaRPr lang="en-US" altLang="zh-CN" sz="2000" dirty="0"/>
              </a:p>
              <a:p>
                <a:pPr marL="971550" lvl="1"/>
                <a:r>
                  <a:rPr lang="zh-CN" altLang="en-US" sz="1600" i="1" dirty="0"/>
                  <a:t>如：</a:t>
                </a:r>
                <a:r>
                  <a:rPr lang="en-US" altLang="zh-CN" sz="1600" i="1" dirty="0"/>
                  <a:t>c</a:t>
                </a:r>
                <a:r>
                  <a:rPr lang="en-US" altLang="zh-CN" sz="1800" i="1" dirty="0"/>
                  <a:t>[0][1]</a:t>
                </a:r>
                <a:r>
                  <a:rPr lang="en-US" altLang="zh-CN" sz="1600" i="1" dirty="0"/>
                  <a:t>=1*4+2*5+3*6 </a:t>
                </a:r>
                <a:r>
                  <a:rPr lang="zh-CN" altLang="en-US" sz="1600" i="1" dirty="0"/>
                  <a:t>；</a:t>
                </a:r>
                <a:r>
                  <a:rPr lang="en-US" altLang="zh-CN" sz="1600" i="1" dirty="0"/>
                  <a:t> </a:t>
                </a:r>
              </a:p>
              <a:p>
                <a:pPr marL="971550" lvl="1"/>
                <a:r>
                  <a:rPr lang="zh-CN" altLang="en-US" sz="1800" dirty="0"/>
                  <a:t>即</a:t>
                </a:r>
                <a:r>
                  <a:rPr lang="en-US" altLang="zh-CN" sz="1400" i="1" dirty="0"/>
                  <a:t>c</a:t>
                </a:r>
                <a:r>
                  <a:rPr lang="en-US" altLang="zh-CN" sz="1600" i="1" dirty="0"/>
                  <a:t>[</a:t>
                </a:r>
                <a:r>
                  <a:rPr lang="en-US" altLang="zh-CN" sz="1600" i="1" dirty="0">
                    <a:solidFill>
                      <a:srgbClr val="0303DF"/>
                    </a:solidFill>
                  </a:rPr>
                  <a:t>0</a:t>
                </a:r>
                <a:r>
                  <a:rPr lang="en-US" altLang="zh-CN" sz="1600" i="1" dirty="0"/>
                  <a:t>][</a:t>
                </a:r>
                <a:r>
                  <a:rPr lang="en-US" altLang="zh-CN" sz="1600" i="1" dirty="0">
                    <a:solidFill>
                      <a:srgbClr val="006600"/>
                    </a:solidFill>
                  </a:rPr>
                  <a:t>1</a:t>
                </a:r>
                <a:r>
                  <a:rPr lang="en-US" altLang="zh-CN" sz="1600" i="1" dirty="0"/>
                  <a:t>]</a:t>
                </a:r>
                <a:r>
                  <a:rPr lang="en-US" altLang="zh-CN" sz="1400" i="1" dirty="0"/>
                  <a:t>= </a:t>
                </a:r>
                <a:r>
                  <a:rPr lang="en-US" altLang="zh-CN" sz="1600" i="1" dirty="0"/>
                  <a:t>a</a:t>
                </a:r>
                <a:r>
                  <a:rPr lang="en-US" altLang="zh-CN" sz="1800" i="1" dirty="0"/>
                  <a:t>[</a:t>
                </a:r>
                <a:r>
                  <a:rPr lang="en-US" altLang="zh-CN" sz="1800" i="1" dirty="0">
                    <a:solidFill>
                      <a:srgbClr val="0303DF"/>
                    </a:solidFill>
                  </a:rPr>
                  <a:t>0</a:t>
                </a:r>
                <a:r>
                  <a:rPr lang="en-US" altLang="zh-CN" sz="1800" i="1" dirty="0"/>
                  <a:t>][</a:t>
                </a:r>
                <a:r>
                  <a:rPr lang="en-US" altLang="zh-CN" sz="1800" i="1" dirty="0">
                    <a:solidFill>
                      <a:srgbClr val="C00000"/>
                    </a:solidFill>
                  </a:rPr>
                  <a:t>0</a:t>
                </a:r>
                <a:r>
                  <a:rPr lang="en-US" altLang="zh-CN" sz="1800" i="1" dirty="0"/>
                  <a:t>]*b[</a:t>
                </a:r>
                <a:r>
                  <a:rPr lang="en-US" altLang="zh-CN" sz="1800" i="1" dirty="0">
                    <a:solidFill>
                      <a:srgbClr val="C00000"/>
                    </a:solidFill>
                  </a:rPr>
                  <a:t>0</a:t>
                </a:r>
                <a:r>
                  <a:rPr lang="en-US" altLang="zh-CN" sz="1800" i="1" dirty="0"/>
                  <a:t>][</a:t>
                </a:r>
                <a:r>
                  <a:rPr lang="en-US" altLang="zh-CN" sz="1800" i="1" dirty="0">
                    <a:solidFill>
                      <a:srgbClr val="006600"/>
                    </a:solidFill>
                  </a:rPr>
                  <a:t>1</a:t>
                </a:r>
                <a:r>
                  <a:rPr lang="en-US" altLang="zh-CN" sz="1800" i="1" dirty="0"/>
                  <a:t>]+</a:t>
                </a:r>
                <a:r>
                  <a:rPr lang="en-US" altLang="zh-CN" sz="1600" i="1" dirty="0"/>
                  <a:t>a</a:t>
                </a:r>
                <a:r>
                  <a:rPr lang="en-US" altLang="zh-CN" sz="1800" i="1" dirty="0"/>
                  <a:t>[</a:t>
                </a:r>
                <a:r>
                  <a:rPr lang="en-US" altLang="zh-CN" sz="1800" i="1" dirty="0">
                    <a:solidFill>
                      <a:srgbClr val="0303DF"/>
                    </a:solidFill>
                  </a:rPr>
                  <a:t>0</a:t>
                </a:r>
                <a:r>
                  <a:rPr lang="en-US" altLang="zh-CN" sz="1800" i="1" dirty="0"/>
                  <a:t>][</a:t>
                </a:r>
                <a:r>
                  <a:rPr lang="en-US" altLang="zh-CN" sz="1800" i="1" dirty="0">
                    <a:solidFill>
                      <a:srgbClr val="C00000"/>
                    </a:solidFill>
                  </a:rPr>
                  <a:t>1</a:t>
                </a:r>
                <a:r>
                  <a:rPr lang="en-US" altLang="zh-CN" sz="1800" i="1" dirty="0"/>
                  <a:t>]*b[</a:t>
                </a:r>
                <a:r>
                  <a:rPr lang="en-US" altLang="zh-CN" sz="1800" i="1" dirty="0">
                    <a:solidFill>
                      <a:srgbClr val="C00000"/>
                    </a:solidFill>
                  </a:rPr>
                  <a:t>1</a:t>
                </a:r>
                <a:r>
                  <a:rPr lang="en-US" altLang="zh-CN" sz="1800" i="1" dirty="0"/>
                  <a:t>][</a:t>
                </a:r>
                <a:r>
                  <a:rPr lang="en-US" altLang="zh-CN" sz="1800" i="1" dirty="0">
                    <a:solidFill>
                      <a:srgbClr val="006600"/>
                    </a:solidFill>
                  </a:rPr>
                  <a:t>1</a:t>
                </a:r>
                <a:r>
                  <a:rPr lang="en-US" altLang="zh-CN" sz="1800" i="1" dirty="0"/>
                  <a:t>]+</a:t>
                </a:r>
                <a:r>
                  <a:rPr lang="en-US" altLang="zh-CN" sz="1600" i="1" dirty="0"/>
                  <a:t>a</a:t>
                </a:r>
                <a:r>
                  <a:rPr lang="en-US" altLang="zh-CN" sz="1800" i="1" dirty="0"/>
                  <a:t>[</a:t>
                </a:r>
                <a:r>
                  <a:rPr lang="en-US" altLang="zh-CN" sz="1800" i="1" dirty="0">
                    <a:solidFill>
                      <a:srgbClr val="0303DF"/>
                    </a:solidFill>
                  </a:rPr>
                  <a:t>0</a:t>
                </a:r>
                <a:r>
                  <a:rPr lang="en-US" altLang="zh-CN" sz="1800" i="1" dirty="0"/>
                  <a:t>][</a:t>
                </a:r>
                <a:r>
                  <a:rPr lang="en-US" altLang="zh-CN" sz="1800" i="1" dirty="0">
                    <a:solidFill>
                      <a:srgbClr val="C00000"/>
                    </a:solidFill>
                  </a:rPr>
                  <a:t>2</a:t>
                </a:r>
                <a:r>
                  <a:rPr lang="en-US" altLang="zh-CN" sz="1800" i="1" dirty="0"/>
                  <a:t>]*b[</a:t>
                </a:r>
                <a:r>
                  <a:rPr lang="en-US" altLang="zh-CN" sz="1800" i="1" dirty="0">
                    <a:solidFill>
                      <a:srgbClr val="C00000"/>
                    </a:solidFill>
                  </a:rPr>
                  <a:t>2</a:t>
                </a:r>
                <a:r>
                  <a:rPr lang="en-US" altLang="zh-CN" sz="1800" i="1" dirty="0"/>
                  <a:t>][</a:t>
                </a:r>
                <a:r>
                  <a:rPr lang="en-US" altLang="zh-CN" sz="1800" i="1" dirty="0">
                    <a:solidFill>
                      <a:srgbClr val="006600"/>
                    </a:solidFill>
                  </a:rPr>
                  <a:t>1</a:t>
                </a:r>
                <a:r>
                  <a:rPr lang="en-US" altLang="zh-CN" sz="1800" i="1" dirty="0"/>
                  <a:t>]</a:t>
                </a:r>
              </a:p>
              <a:p>
                <a:pPr marL="971550" lvl="1"/>
                <a:r>
                  <a:rPr lang="zh-CN" altLang="en-US" sz="1800" dirty="0">
                    <a:sym typeface="Arial" panose="020B0604020202020204" pitchFamily="34" charset="0"/>
                  </a:rPr>
                  <a:t>观察其中的三个数组的下标的规律，可得元素</a:t>
                </a:r>
                <a:r>
                  <a:rPr lang="en-US" altLang="zh-CN" sz="1800" dirty="0">
                    <a:sym typeface="Arial" panose="020B0604020202020204" pitchFamily="34" charset="0"/>
                  </a:rPr>
                  <a:t>c[</a:t>
                </a:r>
                <a:r>
                  <a:rPr lang="en-US" altLang="zh-CN" sz="1800" dirty="0" err="1">
                    <a:sym typeface="Arial" panose="020B0604020202020204" pitchFamily="34" charset="0"/>
                  </a:rPr>
                  <a:t>i</a:t>
                </a:r>
                <a:r>
                  <a:rPr lang="en-US" altLang="zh-CN" sz="1800" dirty="0">
                    <a:sym typeface="Arial" panose="020B0604020202020204" pitchFamily="34" charset="0"/>
                  </a:rPr>
                  <a:t>][j]</a:t>
                </a:r>
                <a:r>
                  <a:rPr lang="zh-CN" altLang="en-US" sz="1800" dirty="0">
                    <a:sym typeface="Arial" panose="020B0604020202020204" pitchFamily="34" charset="0"/>
                  </a:rPr>
                  <a:t>的通项</a:t>
                </a:r>
                <a:r>
                  <a:rPr lang="zh-CN" altLang="en-US" sz="1800" dirty="0"/>
                  <a:t>： </a:t>
                </a:r>
                <a:endParaRPr lang="en-US" altLang="zh-CN" sz="1800" dirty="0"/>
              </a:p>
              <a:p>
                <a:pPr marL="971550" lvl="1"/>
                <a:r>
                  <a:rPr lang="en-US" altLang="zh-CN" sz="1800" dirty="0"/>
                  <a:t> </a:t>
                </a:r>
              </a:p>
              <a:p>
                <a:pPr lvl="1" indent="0">
                  <a:buNone/>
                </a:pPr>
                <a:r>
                  <a:rPr lang="en-US" altLang="zh-CN" sz="1800" dirty="0">
                    <a:solidFill>
                      <a:srgbClr val="0303DF"/>
                    </a:solidFill>
                  </a:rPr>
                  <a:t> </a:t>
                </a:r>
              </a:p>
              <a:p>
                <a:pPr marL="342900" indent="-342900">
                  <a:buFont typeface="Wingdings" panose="05000000000000000000" pitchFamily="2" charset="2"/>
                  <a:buChar char="l"/>
                </a:pPr>
                <a:r>
                  <a:rPr lang="zh-CN" altLang="en-US" sz="2000" dirty="0"/>
                  <a:t>对于</a:t>
                </a:r>
                <a14:m>
                  <m:oMath xmlns:m="http://schemas.openxmlformats.org/officeDocument/2006/math">
                    <m:r>
                      <a:rPr lang="en-US" altLang="zh-CN" sz="2000" i="1">
                        <a:latin typeface="Cambria Math" panose="02040503050406030204" pitchFamily="18" charset="0"/>
                      </a:rPr>
                      <m:t>𝑚</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𝑙</m:t>
                    </m:r>
                  </m:oMath>
                </a14:m>
                <a:r>
                  <a:rPr lang="zh-CN" altLang="en-US" sz="2000" dirty="0"/>
                  <a:t>与</a:t>
                </a:r>
                <a14:m>
                  <m:oMath xmlns:m="http://schemas.openxmlformats.org/officeDocument/2006/math">
                    <m:r>
                      <a:rPr lang="en-US" altLang="zh-CN" sz="2000" i="1">
                        <a:latin typeface="Cambria Math" panose="02040503050406030204" pitchFamily="18" charset="0"/>
                        <a:ea typeface="Cambria Math" panose="02040503050406030204" pitchFamily="18" charset="0"/>
                      </a:rPr>
                      <m:t>𝑙</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𝑛</m:t>
                    </m:r>
                  </m:oMath>
                </a14:m>
                <a:r>
                  <a:rPr lang="zh-CN" altLang="en-US" sz="2000" dirty="0"/>
                  <a:t>的两个矩阵相乘，得到</a:t>
                </a:r>
                <a14:m>
                  <m:oMath xmlns:m="http://schemas.openxmlformats.org/officeDocument/2006/math">
                    <m:r>
                      <a:rPr lang="en-US" altLang="zh-CN" sz="2000" i="1">
                        <a:latin typeface="Cambria Math" panose="02040503050406030204" pitchFamily="18" charset="0"/>
                      </a:rPr>
                      <m:t>𝑚</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𝑛</m:t>
                    </m:r>
                  </m:oMath>
                </a14:m>
                <a:r>
                  <a:rPr lang="zh-CN" altLang="en-US" sz="2000" dirty="0"/>
                  <a:t>的矩阵；</a:t>
                </a:r>
                <a:endParaRPr lang="en-US" altLang="zh-CN" sz="2000" dirty="0"/>
              </a:p>
              <a:p>
                <a:pPr marL="971550" lvl="1"/>
                <a:r>
                  <a:rPr lang="zh-CN" altLang="en-US" sz="1800" dirty="0"/>
                  <a:t>设</a:t>
                </a:r>
                <a:r>
                  <a:rPr lang="en-US" altLang="zh-CN" sz="1800" i="1" dirty="0"/>
                  <a:t>a[m][l]</a:t>
                </a:r>
                <a:r>
                  <a:rPr lang="zh-CN" altLang="en-US" sz="1800" i="1" dirty="0"/>
                  <a:t>，</a:t>
                </a:r>
                <a:r>
                  <a:rPr lang="en-US" altLang="zh-CN" sz="1800" i="1" dirty="0"/>
                  <a:t>b[l][n]</a:t>
                </a:r>
                <a:r>
                  <a:rPr lang="zh-CN" altLang="en-US" sz="1800" i="1" dirty="0"/>
                  <a:t>，</a:t>
                </a:r>
                <a:r>
                  <a:rPr lang="en-US" altLang="zh-CN" sz="1800" i="1" dirty="0"/>
                  <a:t>c[m][n]</a:t>
                </a:r>
                <a:r>
                  <a:rPr lang="zh-CN" altLang="en-US" sz="1800" dirty="0"/>
                  <a:t>，计算</a:t>
                </a:r>
                <a:r>
                  <a:rPr lang="en-US" altLang="zh-CN" sz="1800" i="1" dirty="0"/>
                  <a:t>c=a*b</a:t>
                </a:r>
                <a:r>
                  <a:rPr lang="zh-CN" altLang="en-US" sz="1800" i="1" dirty="0"/>
                  <a:t>；</a:t>
                </a:r>
                <a:endParaRPr lang="en-US" altLang="zh-CN" sz="1800" i="1" dirty="0"/>
              </a:p>
              <a:p>
                <a:pPr marL="971550" lvl="1"/>
                <a:endParaRPr lang="en-US" altLang="zh-CN" sz="1800" i="1" dirty="0"/>
              </a:p>
              <a:p>
                <a:pPr marL="971550" lvl="1"/>
                <a:r>
                  <a:rPr lang="zh-CN" altLang="en-US" sz="1800" dirty="0"/>
                  <a:t>通项：</a:t>
                </a:r>
                <a:endParaRPr lang="en-US" altLang="zh-CN" sz="1800" i="1" dirty="0">
                  <a:ea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841D68EF-410E-43D8-AB0B-3A720EE6FA76}"/>
                  </a:ext>
                </a:extLst>
              </p:cNvPr>
              <p:cNvSpPr>
                <a:spLocks noGrp="1" noRot="1" noChangeAspect="1" noMove="1" noResize="1" noEditPoints="1" noAdjustHandles="1" noChangeArrowheads="1" noChangeShapeType="1" noTextEdit="1"/>
              </p:cNvSpPr>
              <p:nvPr>
                <p:ph idx="1"/>
              </p:nvPr>
            </p:nvSpPr>
            <p:spPr>
              <a:xfrm>
                <a:off x="440029" y="1189937"/>
                <a:ext cx="8263942" cy="4437779"/>
              </a:xfrm>
              <a:blipFill>
                <a:blip r:embed="rId2"/>
                <a:stretch>
                  <a:fillRect t="-16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7CD0EE9-DE65-4C18-8B8D-3D998EF31A56}"/>
                  </a:ext>
                </a:extLst>
              </p:cNvPr>
              <p:cNvSpPr/>
              <p:nvPr/>
            </p:nvSpPr>
            <p:spPr>
              <a:xfrm>
                <a:off x="1136021" y="2780537"/>
                <a:ext cx="5617115" cy="7906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smtClean="0">
                          <a:solidFill>
                            <a:srgbClr val="000000"/>
                          </a:solidFill>
                          <a:latin typeface="Cambria Math" panose="02040503050406030204" pitchFamily="18" charset="0"/>
                          <a:ea typeface="+mn-ea"/>
                        </a:rPr>
                        <m:t>𝑐</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𝑖</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𝑗</m:t>
                          </m:r>
                        </m:e>
                      </m:d>
                      <m:r>
                        <a:rPr lang="zh-CN" altLang="en-US" sz="1600">
                          <a:solidFill>
                            <a:srgbClr val="000000"/>
                          </a:solidFill>
                          <a:latin typeface="Cambria Math" panose="02040503050406030204" pitchFamily="18" charset="0"/>
                          <a:ea typeface="+mn-ea"/>
                        </a:rPr>
                        <m:t>=</m:t>
                      </m:r>
                      <m:nary>
                        <m:naryPr>
                          <m:chr m:val="∑"/>
                          <m:limLoc m:val="undOvr"/>
                          <m:ctrlPr>
                            <a:rPr lang="zh-CN" altLang="en-US" sz="1600" i="1">
                              <a:solidFill>
                                <a:srgbClr val="000000"/>
                              </a:solidFill>
                              <a:latin typeface="Cambria Math" panose="02040503050406030204" pitchFamily="18" charset="0"/>
                              <a:ea typeface="+mn-ea"/>
                            </a:rPr>
                          </m:ctrlPr>
                        </m:naryPr>
                        <m:sub>
                          <m:r>
                            <a:rPr lang="zh-CN" altLang="en-US" sz="1600" i="1">
                              <a:solidFill>
                                <a:srgbClr val="000000"/>
                              </a:solidFill>
                              <a:latin typeface="Cambria Math" panose="02040503050406030204" pitchFamily="18" charset="0"/>
                              <a:ea typeface="+mn-ea"/>
                            </a:rPr>
                            <m:t>𝑘</m:t>
                          </m:r>
                          <m:r>
                            <a:rPr lang="zh-CN" altLang="en-US" sz="1600">
                              <a:solidFill>
                                <a:srgbClr val="000000"/>
                              </a:solidFill>
                              <a:latin typeface="Cambria Math" panose="02040503050406030204" pitchFamily="18" charset="0"/>
                              <a:ea typeface="+mn-ea"/>
                            </a:rPr>
                            <m:t>=0</m:t>
                          </m:r>
                        </m:sub>
                        <m:sup>
                          <m:r>
                            <a:rPr lang="zh-CN" altLang="en-US" sz="1600">
                              <a:solidFill>
                                <a:srgbClr val="000000"/>
                              </a:solidFill>
                              <a:latin typeface="Cambria Math" panose="02040503050406030204" pitchFamily="18" charset="0"/>
                              <a:ea typeface="+mn-ea"/>
                            </a:rPr>
                            <m:t>2</m:t>
                          </m:r>
                        </m:sup>
                        <m:e>
                          <m:r>
                            <a:rPr lang="zh-CN" altLang="en-US" sz="1600" i="1">
                              <a:solidFill>
                                <a:srgbClr val="000000"/>
                              </a:solidFill>
                              <a:latin typeface="Cambria Math" panose="02040503050406030204" pitchFamily="18" charset="0"/>
                              <a:ea typeface="+mn-ea"/>
                            </a:rPr>
                            <m:t>𝑎</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𝑖</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𝑘</m:t>
                              </m:r>
                            </m:e>
                          </m:d>
                          <m:r>
                            <a:rPr lang="zh-CN" altLang="en-US" sz="1600">
                              <a:solidFill>
                                <a:srgbClr val="000000"/>
                              </a:solidFill>
                              <a:latin typeface="Cambria Math" panose="02040503050406030204" pitchFamily="18" charset="0"/>
                              <a:ea typeface="+mn-ea"/>
                            </a:rPr>
                            <m:t>∗</m:t>
                          </m:r>
                          <m:r>
                            <a:rPr lang="zh-CN" altLang="en-US" sz="1600" i="1">
                              <a:solidFill>
                                <a:srgbClr val="000000"/>
                              </a:solidFill>
                              <a:latin typeface="Cambria Math" panose="02040503050406030204" pitchFamily="18" charset="0"/>
                              <a:ea typeface="+mn-ea"/>
                            </a:rPr>
                            <m:t>𝑏</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𝑘</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𝑗</m:t>
                              </m:r>
                            </m:e>
                          </m:d>
                          <m:r>
                            <a:rPr lang="zh-CN" altLang="en-US" sz="1600" i="1" smtClean="0">
                              <a:solidFill>
                                <a:srgbClr val="000000"/>
                              </a:solidFill>
                              <a:latin typeface="Cambria Math" panose="02040503050406030204" pitchFamily="18" charset="0"/>
                              <a:ea typeface="+mn-ea"/>
                            </a:rPr>
                            <m:t>，其中</m:t>
                          </m:r>
                          <m:r>
                            <a:rPr lang="zh-CN" altLang="en-US" sz="1600">
                              <a:solidFill>
                                <a:srgbClr val="000000"/>
                              </a:solidFill>
                              <a:latin typeface="Cambria Math" panose="02040503050406030204" pitchFamily="18" charset="0"/>
                              <a:ea typeface="+mn-ea"/>
                            </a:rPr>
                            <m:t>0≤</m:t>
                          </m:r>
                          <m:r>
                            <a:rPr lang="zh-CN" altLang="en-US" sz="1600" i="1">
                              <a:solidFill>
                                <a:srgbClr val="000000"/>
                              </a:solidFill>
                              <a:latin typeface="Cambria Math" panose="02040503050406030204" pitchFamily="18" charset="0"/>
                              <a:ea typeface="+mn-ea"/>
                            </a:rPr>
                            <m:t>𝑖</m:t>
                          </m:r>
                          <m:r>
                            <a:rPr lang="zh-CN" altLang="en-US" sz="1600">
                              <a:solidFill>
                                <a:srgbClr val="000000"/>
                              </a:solidFill>
                              <a:latin typeface="Cambria Math" panose="02040503050406030204" pitchFamily="18" charset="0"/>
                              <a:ea typeface="+mn-ea"/>
                            </a:rPr>
                            <m:t>≤1, </m:t>
                          </m:r>
                        </m:e>
                      </m:nary>
                      <m:r>
                        <a:rPr lang="zh-CN" altLang="en-US" sz="1600">
                          <a:solidFill>
                            <a:srgbClr val="000000"/>
                          </a:solidFill>
                          <a:latin typeface="Cambria Math" panose="02040503050406030204" pitchFamily="18" charset="0"/>
                          <a:ea typeface="+mn-ea"/>
                        </a:rPr>
                        <m:t>0≤</m:t>
                      </m:r>
                      <m:r>
                        <a:rPr lang="zh-CN" altLang="en-US" sz="1600" i="1">
                          <a:solidFill>
                            <a:srgbClr val="000000"/>
                          </a:solidFill>
                          <a:latin typeface="Cambria Math" panose="02040503050406030204" pitchFamily="18" charset="0"/>
                          <a:ea typeface="+mn-ea"/>
                        </a:rPr>
                        <m:t>𝑗</m:t>
                      </m:r>
                      <m:r>
                        <a:rPr lang="zh-CN" altLang="en-US" sz="1600">
                          <a:solidFill>
                            <a:srgbClr val="000000"/>
                          </a:solidFill>
                          <a:latin typeface="Cambria Math" panose="02040503050406030204" pitchFamily="18" charset="0"/>
                          <a:ea typeface="+mn-ea"/>
                        </a:rPr>
                        <m:t>≤1</m:t>
                      </m:r>
                    </m:oMath>
                  </m:oMathPara>
                </a14:m>
                <a:endParaRPr lang="zh-CN" altLang="en-US" sz="1600" dirty="0">
                  <a:solidFill>
                    <a:srgbClr val="000000"/>
                  </a:solidFill>
                  <a:latin typeface="Times New Roman" panose="02020603050405020304" pitchFamily="18" charset="0"/>
                  <a:ea typeface="+mn-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67CD0EE9-DE65-4C18-8B8D-3D998EF31A56}"/>
                  </a:ext>
                </a:extLst>
              </p:cNvPr>
              <p:cNvSpPr>
                <a:spLocks noRot="1" noChangeAspect="1" noMove="1" noResize="1" noEditPoints="1" noAdjustHandles="1" noChangeArrowheads="1" noChangeShapeType="1" noTextEdit="1"/>
              </p:cNvSpPr>
              <p:nvPr/>
            </p:nvSpPr>
            <p:spPr>
              <a:xfrm>
                <a:off x="1136021" y="2780537"/>
                <a:ext cx="5617115" cy="79066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F5235CC-04B5-42E9-8A36-196E3462F542}"/>
                  </a:ext>
                </a:extLst>
              </p:cNvPr>
              <p:cNvSpPr/>
              <p:nvPr/>
            </p:nvSpPr>
            <p:spPr>
              <a:xfrm>
                <a:off x="1907809" y="4497778"/>
                <a:ext cx="6145623" cy="7895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smtClean="0">
                          <a:solidFill>
                            <a:srgbClr val="000000"/>
                          </a:solidFill>
                          <a:latin typeface="Cambria Math" panose="02040503050406030204" pitchFamily="18" charset="0"/>
                          <a:ea typeface="+mn-ea"/>
                        </a:rPr>
                        <m:t>𝑐</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𝑖</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𝑗</m:t>
                          </m:r>
                        </m:e>
                      </m:d>
                      <m:r>
                        <a:rPr lang="zh-CN" altLang="en-US" sz="1600">
                          <a:solidFill>
                            <a:srgbClr val="000000"/>
                          </a:solidFill>
                          <a:latin typeface="Cambria Math" panose="02040503050406030204" pitchFamily="18" charset="0"/>
                          <a:ea typeface="+mn-ea"/>
                        </a:rPr>
                        <m:t>=</m:t>
                      </m:r>
                      <m:nary>
                        <m:naryPr>
                          <m:chr m:val="∑"/>
                          <m:limLoc m:val="undOvr"/>
                          <m:ctrlPr>
                            <a:rPr lang="zh-CN" altLang="en-US" sz="1600" i="1">
                              <a:solidFill>
                                <a:srgbClr val="000000"/>
                              </a:solidFill>
                              <a:latin typeface="Cambria Math" panose="02040503050406030204" pitchFamily="18" charset="0"/>
                              <a:ea typeface="+mn-ea"/>
                            </a:rPr>
                          </m:ctrlPr>
                        </m:naryPr>
                        <m:sub>
                          <m:r>
                            <a:rPr lang="zh-CN" altLang="en-US" sz="1600" i="1">
                              <a:solidFill>
                                <a:srgbClr val="000000"/>
                              </a:solidFill>
                              <a:latin typeface="Cambria Math" panose="02040503050406030204" pitchFamily="18" charset="0"/>
                              <a:ea typeface="+mn-ea"/>
                            </a:rPr>
                            <m:t>𝑘</m:t>
                          </m:r>
                          <m:r>
                            <a:rPr lang="zh-CN" altLang="en-US" sz="1600">
                              <a:solidFill>
                                <a:srgbClr val="000000"/>
                              </a:solidFill>
                              <a:latin typeface="Cambria Math" panose="02040503050406030204" pitchFamily="18" charset="0"/>
                              <a:ea typeface="+mn-ea"/>
                            </a:rPr>
                            <m:t>=0</m:t>
                          </m:r>
                        </m:sub>
                        <m:sup>
                          <m:r>
                            <a:rPr lang="en-US" altLang="zh-CN" sz="1600" i="1">
                              <a:solidFill>
                                <a:srgbClr val="000000"/>
                              </a:solidFill>
                              <a:latin typeface="Cambria Math" panose="02040503050406030204" pitchFamily="18" charset="0"/>
                              <a:ea typeface="+mn-ea"/>
                            </a:rPr>
                            <m:t>𝑙</m:t>
                          </m:r>
                          <m:r>
                            <a:rPr lang="en-US" altLang="zh-CN" sz="1600" i="1">
                              <a:solidFill>
                                <a:srgbClr val="000000"/>
                              </a:solidFill>
                              <a:latin typeface="Cambria Math" panose="02040503050406030204" pitchFamily="18" charset="0"/>
                              <a:ea typeface="+mn-ea"/>
                            </a:rPr>
                            <m:t>−1</m:t>
                          </m:r>
                        </m:sup>
                        <m:e>
                          <m:r>
                            <a:rPr lang="zh-CN" altLang="en-US" sz="1600" i="1">
                              <a:solidFill>
                                <a:srgbClr val="000000"/>
                              </a:solidFill>
                              <a:latin typeface="Cambria Math" panose="02040503050406030204" pitchFamily="18" charset="0"/>
                              <a:ea typeface="+mn-ea"/>
                            </a:rPr>
                            <m:t>𝑎</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𝑖</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𝑘</m:t>
                              </m:r>
                            </m:e>
                          </m:d>
                          <m:r>
                            <a:rPr lang="zh-CN" altLang="en-US" sz="1600">
                              <a:solidFill>
                                <a:srgbClr val="000000"/>
                              </a:solidFill>
                              <a:latin typeface="Cambria Math" panose="02040503050406030204" pitchFamily="18" charset="0"/>
                              <a:ea typeface="+mn-ea"/>
                            </a:rPr>
                            <m:t>∗</m:t>
                          </m:r>
                          <m:r>
                            <a:rPr lang="zh-CN" altLang="en-US" sz="1600" i="1">
                              <a:solidFill>
                                <a:srgbClr val="000000"/>
                              </a:solidFill>
                              <a:latin typeface="Cambria Math" panose="02040503050406030204" pitchFamily="18" charset="0"/>
                              <a:ea typeface="+mn-ea"/>
                            </a:rPr>
                            <m:t>𝑏</m:t>
                          </m:r>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𝑘</m:t>
                              </m:r>
                            </m:e>
                          </m:d>
                          <m:d>
                            <m:dPr>
                              <m:begChr m:val="["/>
                              <m:endChr m:val="]"/>
                              <m:ctrlPr>
                                <a:rPr lang="zh-CN" altLang="en-US" sz="1600" i="1">
                                  <a:solidFill>
                                    <a:srgbClr val="000000"/>
                                  </a:solidFill>
                                  <a:latin typeface="Cambria Math" panose="02040503050406030204" pitchFamily="18" charset="0"/>
                                  <a:ea typeface="+mn-ea"/>
                                </a:rPr>
                              </m:ctrlPr>
                            </m:dPr>
                            <m:e>
                              <m:r>
                                <a:rPr lang="zh-CN" altLang="en-US" sz="1600" i="1">
                                  <a:solidFill>
                                    <a:srgbClr val="000000"/>
                                  </a:solidFill>
                                  <a:latin typeface="Cambria Math" panose="02040503050406030204" pitchFamily="18" charset="0"/>
                                  <a:ea typeface="+mn-ea"/>
                                </a:rPr>
                                <m:t>𝑗</m:t>
                              </m:r>
                            </m:e>
                          </m:d>
                          <m:r>
                            <a:rPr lang="zh-CN" altLang="en-US" sz="1600" i="1" smtClean="0">
                              <a:solidFill>
                                <a:srgbClr val="000000"/>
                              </a:solidFill>
                              <a:latin typeface="Cambria Math" panose="02040503050406030204" pitchFamily="18" charset="0"/>
                              <a:ea typeface="+mn-ea"/>
                            </a:rPr>
                            <m:t>，其中</m:t>
                          </m:r>
                          <m:r>
                            <a:rPr lang="zh-CN" altLang="en-US" sz="1600">
                              <a:solidFill>
                                <a:srgbClr val="000000"/>
                              </a:solidFill>
                              <a:latin typeface="Cambria Math" panose="02040503050406030204" pitchFamily="18" charset="0"/>
                              <a:ea typeface="+mn-ea"/>
                            </a:rPr>
                            <m:t>0≤</m:t>
                          </m:r>
                          <m:r>
                            <a:rPr lang="zh-CN" altLang="en-US" sz="1600" i="1">
                              <a:solidFill>
                                <a:srgbClr val="000000"/>
                              </a:solidFill>
                              <a:latin typeface="Cambria Math" panose="02040503050406030204" pitchFamily="18" charset="0"/>
                              <a:ea typeface="+mn-ea"/>
                            </a:rPr>
                            <m:t>𝑖</m:t>
                          </m:r>
                          <m:r>
                            <a:rPr lang="zh-CN" altLang="en-US" sz="1600">
                              <a:solidFill>
                                <a:srgbClr val="000000"/>
                              </a:solidFill>
                              <a:latin typeface="Cambria Math" panose="02040503050406030204" pitchFamily="18" charset="0"/>
                              <a:ea typeface="+mn-ea"/>
                            </a:rPr>
                            <m:t>≤</m:t>
                          </m:r>
                          <m:r>
                            <m:rPr>
                              <m:sty m:val="p"/>
                            </m:rPr>
                            <a:rPr lang="en-US" altLang="zh-CN" sz="1600" b="0" i="0" smtClean="0">
                              <a:solidFill>
                                <a:srgbClr val="000000"/>
                              </a:solidFill>
                              <a:latin typeface="Cambria Math" panose="02040503050406030204" pitchFamily="18" charset="0"/>
                              <a:ea typeface="+mn-ea"/>
                            </a:rPr>
                            <m:t>m</m:t>
                          </m:r>
                          <m:r>
                            <a:rPr lang="en-US" altLang="zh-CN" sz="1600" b="0" i="0" smtClean="0">
                              <a:solidFill>
                                <a:srgbClr val="000000"/>
                              </a:solidFill>
                              <a:latin typeface="Cambria Math" panose="02040503050406030204" pitchFamily="18" charset="0"/>
                              <a:ea typeface="+mn-ea"/>
                            </a:rPr>
                            <m:t>−1, </m:t>
                          </m:r>
                        </m:e>
                      </m:nary>
                      <m:r>
                        <a:rPr lang="zh-CN" altLang="en-US" sz="1600">
                          <a:solidFill>
                            <a:srgbClr val="000000"/>
                          </a:solidFill>
                          <a:latin typeface="Cambria Math" panose="02040503050406030204" pitchFamily="18" charset="0"/>
                          <a:ea typeface="+mn-ea"/>
                        </a:rPr>
                        <m:t>0≤</m:t>
                      </m:r>
                      <m:r>
                        <a:rPr lang="zh-CN" altLang="en-US" sz="1600" i="1">
                          <a:solidFill>
                            <a:srgbClr val="000000"/>
                          </a:solidFill>
                          <a:latin typeface="Cambria Math" panose="02040503050406030204" pitchFamily="18" charset="0"/>
                          <a:ea typeface="+mn-ea"/>
                        </a:rPr>
                        <m:t>𝑗</m:t>
                      </m:r>
                      <m:r>
                        <a:rPr lang="zh-CN" altLang="en-US" sz="1600">
                          <a:solidFill>
                            <a:srgbClr val="000000"/>
                          </a:solidFill>
                          <a:latin typeface="Cambria Math" panose="02040503050406030204" pitchFamily="18" charset="0"/>
                          <a:ea typeface="+mn-ea"/>
                        </a:rPr>
                        <m:t>≤</m:t>
                      </m:r>
                      <m:r>
                        <m:rPr>
                          <m:sty m:val="p"/>
                        </m:rPr>
                        <a:rPr lang="en-US" altLang="zh-CN" sz="1600" b="0" i="0" smtClean="0">
                          <a:solidFill>
                            <a:srgbClr val="000000"/>
                          </a:solidFill>
                          <a:latin typeface="Cambria Math" panose="02040503050406030204" pitchFamily="18" charset="0"/>
                          <a:ea typeface="+mn-ea"/>
                        </a:rPr>
                        <m:t>n</m:t>
                      </m:r>
                      <m:r>
                        <a:rPr lang="en-US" altLang="zh-CN" sz="1600" b="0" i="0" smtClean="0">
                          <a:solidFill>
                            <a:srgbClr val="000000"/>
                          </a:solidFill>
                          <a:latin typeface="Cambria Math" panose="02040503050406030204" pitchFamily="18" charset="0"/>
                          <a:ea typeface="+mn-ea"/>
                        </a:rPr>
                        <m:t>−1</m:t>
                      </m:r>
                    </m:oMath>
                  </m:oMathPara>
                </a14:m>
                <a:endParaRPr lang="zh-CN" altLang="en-US" sz="1600" dirty="0">
                  <a:solidFill>
                    <a:srgbClr val="000000"/>
                  </a:solidFill>
                  <a:latin typeface="Times New Roman" panose="02020603050405020304" pitchFamily="18" charset="0"/>
                  <a:ea typeface="+mn-ea"/>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5F5235CC-04B5-42E9-8A36-196E3462F542}"/>
                  </a:ext>
                </a:extLst>
              </p:cNvPr>
              <p:cNvSpPr>
                <a:spLocks noRot="1" noChangeAspect="1" noMove="1" noResize="1" noEditPoints="1" noAdjustHandles="1" noChangeArrowheads="1" noChangeShapeType="1" noTextEdit="1"/>
              </p:cNvSpPr>
              <p:nvPr/>
            </p:nvSpPr>
            <p:spPr>
              <a:xfrm>
                <a:off x="1907809" y="4497778"/>
                <a:ext cx="6145623" cy="78951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6373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Rot="1" noChangeArrowheads="1"/>
          </p:cNvSpPr>
          <p:nvPr>
            <p:ph type="body" idx="1"/>
          </p:nvPr>
        </p:nvSpPr>
        <p:spPr>
          <a:xfrm>
            <a:off x="193532" y="1028700"/>
            <a:ext cx="4420032" cy="5351318"/>
          </a:xfrm>
          <a:ln>
            <a:solidFill>
              <a:srgbClr val="000000"/>
            </a:solidFill>
          </a:ln>
        </p:spPr>
        <p:txBody>
          <a:bodyPr/>
          <a:lstStyle/>
          <a:p>
            <a:pPr marL="342900" indent="-342900">
              <a:lnSpc>
                <a:spcPct val="100000"/>
              </a:lnSpc>
              <a:spcBef>
                <a:spcPts val="0"/>
              </a:spcBef>
              <a:buFont typeface="Wingdings" panose="05000000000000000000" pitchFamily="2" charset="2"/>
              <a:buChar char="l"/>
            </a:pPr>
            <a:r>
              <a:rPr lang="zh-CN" altLang="en-US" sz="2000" dirty="0">
                <a:solidFill>
                  <a:srgbClr val="FF3300"/>
                </a:solidFill>
              </a:rPr>
              <a:t>算法</a:t>
            </a:r>
            <a:r>
              <a:rPr lang="zh-CN" altLang="en-US" sz="2000" dirty="0"/>
              <a:t>： </a:t>
            </a:r>
            <a:r>
              <a:rPr lang="en-US" altLang="zh-CN" sz="2000" dirty="0">
                <a:solidFill>
                  <a:srgbClr val="0303DF"/>
                </a:solidFill>
              </a:rPr>
              <a:t>c[</a:t>
            </a:r>
            <a:r>
              <a:rPr lang="en-US" altLang="zh-CN" sz="2000" dirty="0" err="1">
                <a:solidFill>
                  <a:srgbClr val="0303DF"/>
                </a:solidFill>
              </a:rPr>
              <a:t>i</a:t>
            </a:r>
            <a:r>
              <a:rPr lang="en-US" altLang="zh-CN" sz="2000" dirty="0">
                <a:solidFill>
                  <a:srgbClr val="0303DF"/>
                </a:solidFill>
              </a:rPr>
              <a:t>][j]=c[</a:t>
            </a:r>
            <a:r>
              <a:rPr lang="en-US" altLang="zh-CN" sz="2000" dirty="0" err="1">
                <a:solidFill>
                  <a:srgbClr val="0303DF"/>
                </a:solidFill>
              </a:rPr>
              <a:t>i</a:t>
            </a:r>
            <a:r>
              <a:rPr lang="en-US" altLang="zh-CN" sz="2000" dirty="0">
                <a:solidFill>
                  <a:srgbClr val="0303DF"/>
                </a:solidFill>
              </a:rPr>
              <a:t>][j]+a[</a:t>
            </a:r>
            <a:r>
              <a:rPr lang="en-US" altLang="zh-CN" sz="2000" dirty="0" err="1">
                <a:solidFill>
                  <a:srgbClr val="0303DF"/>
                </a:solidFill>
              </a:rPr>
              <a:t>i</a:t>
            </a:r>
            <a:r>
              <a:rPr lang="en-US" altLang="zh-CN" sz="2000" dirty="0">
                <a:solidFill>
                  <a:srgbClr val="0303DF"/>
                </a:solidFill>
              </a:rPr>
              <a:t>][k]+b[k][j]</a:t>
            </a:r>
          </a:p>
          <a:p>
            <a:pPr marL="342900" indent="-342900">
              <a:lnSpc>
                <a:spcPct val="100000"/>
              </a:lnSpc>
              <a:spcBef>
                <a:spcPts val="0"/>
              </a:spcBef>
              <a:buFont typeface="Wingdings" panose="05000000000000000000" pitchFamily="2" charset="2"/>
              <a:buChar char="l"/>
            </a:pPr>
            <a:r>
              <a:rPr lang="zh-CN" altLang="en-US" sz="2000" dirty="0"/>
              <a:t>程序：</a:t>
            </a:r>
          </a:p>
          <a:p>
            <a:pPr lvl="1" indent="0">
              <a:lnSpc>
                <a:spcPct val="100000"/>
              </a:lnSpc>
              <a:spcBef>
                <a:spcPts val="0"/>
              </a:spcBef>
              <a:buNone/>
            </a:pPr>
            <a:r>
              <a:rPr lang="en-US" altLang="zh-CN" sz="1600" dirty="0" err="1"/>
              <a:t>int</a:t>
            </a:r>
            <a:r>
              <a:rPr lang="en-US" altLang="zh-CN" sz="1600" dirty="0"/>
              <a:t> main()</a:t>
            </a:r>
          </a:p>
          <a:p>
            <a:pPr lvl="1" indent="0">
              <a:lnSpc>
                <a:spcPct val="100000"/>
              </a:lnSpc>
              <a:spcBef>
                <a:spcPts val="0"/>
              </a:spcBef>
              <a:buNone/>
            </a:pPr>
            <a:r>
              <a:rPr lang="en-US" altLang="zh-CN" sz="1600" dirty="0"/>
              <a:t>{ </a:t>
            </a:r>
          </a:p>
          <a:p>
            <a:pPr lvl="1" indent="0">
              <a:lnSpc>
                <a:spcPct val="100000"/>
              </a:lnSpc>
              <a:spcBef>
                <a:spcPts val="0"/>
              </a:spcBef>
              <a:buNone/>
            </a:pPr>
            <a:r>
              <a:rPr lang="en-US" altLang="zh-CN" sz="1600" dirty="0"/>
              <a:t>     int a[2][3] = {{1,2,3},{4,5,6}};</a:t>
            </a:r>
          </a:p>
          <a:p>
            <a:pPr lvl="1" indent="0">
              <a:lnSpc>
                <a:spcPct val="100000"/>
              </a:lnSpc>
              <a:spcBef>
                <a:spcPts val="0"/>
              </a:spcBef>
              <a:buNone/>
            </a:pPr>
            <a:r>
              <a:rPr lang="en-US" altLang="zh-CN" sz="1600" dirty="0"/>
              <a:t>     int b[3][2] {{1,2},{3,4},{5,6}};</a:t>
            </a:r>
          </a:p>
          <a:p>
            <a:pPr lvl="1" indent="0">
              <a:lnSpc>
                <a:spcPct val="100000"/>
              </a:lnSpc>
              <a:spcBef>
                <a:spcPts val="0"/>
              </a:spcBef>
              <a:buNone/>
            </a:pPr>
            <a:r>
              <a:rPr lang="en-US" altLang="zh-CN" sz="1600" dirty="0"/>
              <a:t>     int c[2][2];  </a:t>
            </a:r>
            <a:r>
              <a:rPr lang="en-US" altLang="zh-CN" sz="1600" dirty="0">
                <a:solidFill>
                  <a:srgbClr val="006600"/>
                </a:solidFill>
              </a:rPr>
              <a:t>//2x2</a:t>
            </a:r>
            <a:r>
              <a:rPr lang="zh-CN" altLang="en-US" sz="1600" dirty="0">
                <a:solidFill>
                  <a:srgbClr val="006600"/>
                </a:solidFill>
              </a:rPr>
              <a:t>矩阵</a:t>
            </a:r>
            <a:endParaRPr lang="en-US" altLang="zh-CN" sz="1600" dirty="0">
              <a:solidFill>
                <a:srgbClr val="006600"/>
              </a:solidFill>
            </a:endParaRPr>
          </a:p>
          <a:p>
            <a:pPr lvl="1" indent="0">
              <a:lnSpc>
                <a:spcPct val="100000"/>
              </a:lnSpc>
              <a:spcBef>
                <a:spcPts val="0"/>
              </a:spcBef>
              <a:buNone/>
            </a:pPr>
            <a:r>
              <a:rPr lang="en-US" altLang="zh-CN" sz="1600" dirty="0"/>
              <a:t>     </a:t>
            </a:r>
            <a:r>
              <a:rPr lang="en-US" altLang="zh-CN" sz="1600" dirty="0" err="1"/>
              <a:t>printf</a:t>
            </a:r>
            <a:r>
              <a:rPr lang="en-US" altLang="zh-CN" sz="1600" dirty="0"/>
              <a:t>("array a:\n");</a:t>
            </a:r>
          </a:p>
          <a:p>
            <a:pPr lvl="1" indent="0">
              <a:lnSpc>
                <a:spcPct val="100000"/>
              </a:lnSpc>
              <a:spcBef>
                <a:spcPts val="0"/>
              </a:spcBef>
              <a:buNone/>
            </a:pPr>
            <a:r>
              <a:rPr lang="en-US" altLang="zh-CN" sz="1600" dirty="0">
                <a:solidFill>
                  <a:srgbClr val="FF3300"/>
                </a:solidFill>
              </a:rPr>
              <a:t>     </a:t>
            </a:r>
            <a:r>
              <a:rPr lang="en-US" altLang="zh-CN" sz="1600" dirty="0">
                <a:solidFill>
                  <a:srgbClr val="0303DF"/>
                </a:solidFill>
              </a:rPr>
              <a:t>for(int </a:t>
            </a:r>
            <a:r>
              <a:rPr lang="en-US" altLang="zh-CN" sz="1600" dirty="0" err="1">
                <a:solidFill>
                  <a:srgbClr val="0303DF"/>
                </a:solidFill>
              </a:rPr>
              <a:t>i</a:t>
            </a:r>
            <a:r>
              <a:rPr lang="en-US" altLang="zh-CN" sz="1600" dirty="0">
                <a:solidFill>
                  <a:srgbClr val="0303DF"/>
                </a:solidFill>
              </a:rPr>
              <a:t>=0;i&lt;2;i++)  </a:t>
            </a:r>
            <a:endParaRPr lang="zh-CN" altLang="en-US" sz="1600" dirty="0">
              <a:solidFill>
                <a:srgbClr val="030DCD"/>
              </a:solidFill>
            </a:endParaRPr>
          </a:p>
          <a:p>
            <a:pPr lvl="1" indent="0">
              <a:lnSpc>
                <a:spcPct val="100000"/>
              </a:lnSpc>
              <a:spcBef>
                <a:spcPts val="0"/>
              </a:spcBef>
              <a:buNone/>
            </a:pPr>
            <a:r>
              <a:rPr lang="zh-CN" altLang="en-US" sz="1600" dirty="0"/>
              <a:t>   </a:t>
            </a:r>
            <a:r>
              <a:rPr lang="zh-CN" altLang="en-US" sz="1600" dirty="0">
                <a:solidFill>
                  <a:srgbClr val="FF3300"/>
                </a:solidFill>
              </a:rPr>
              <a:t>      </a:t>
            </a:r>
            <a:r>
              <a:rPr lang="en-US" altLang="zh-CN" sz="1600" dirty="0">
                <a:solidFill>
                  <a:srgbClr val="0303DF"/>
                </a:solidFill>
              </a:rPr>
              <a:t>for(int j=0;j&lt;2;j++)  </a:t>
            </a:r>
            <a:endParaRPr lang="zh-CN" altLang="en-US" sz="1600" dirty="0">
              <a:solidFill>
                <a:srgbClr val="030DCD"/>
              </a:solidFill>
            </a:endParaRPr>
          </a:p>
          <a:p>
            <a:pPr lvl="1" indent="0">
              <a:lnSpc>
                <a:spcPct val="100000"/>
              </a:lnSpc>
              <a:spcBef>
                <a:spcPts val="0"/>
              </a:spcBef>
              <a:buNone/>
            </a:pPr>
            <a:r>
              <a:rPr lang="zh-CN" altLang="en-US" sz="1600" dirty="0"/>
              <a:t>         {</a:t>
            </a:r>
          </a:p>
          <a:p>
            <a:pPr lvl="1" indent="0">
              <a:lnSpc>
                <a:spcPct val="100000"/>
              </a:lnSpc>
              <a:spcBef>
                <a:spcPts val="0"/>
              </a:spcBef>
              <a:buNone/>
            </a:pPr>
            <a:r>
              <a:rPr lang="zh-CN" altLang="en-US" sz="1600" dirty="0"/>
              <a:t>             </a:t>
            </a:r>
            <a:r>
              <a:rPr lang="en-US" altLang="zh-CN" sz="1600" b="1" dirty="0">
                <a:solidFill>
                  <a:srgbClr val="006600"/>
                </a:solidFill>
              </a:rPr>
              <a:t>c[</a:t>
            </a:r>
            <a:r>
              <a:rPr lang="en-US" altLang="zh-CN" sz="1600" b="1" dirty="0" err="1">
                <a:solidFill>
                  <a:srgbClr val="006600"/>
                </a:solidFill>
              </a:rPr>
              <a:t>i</a:t>
            </a:r>
            <a:r>
              <a:rPr lang="en-US" altLang="zh-CN" sz="1600" b="1" dirty="0">
                <a:solidFill>
                  <a:srgbClr val="006600"/>
                </a:solidFill>
              </a:rPr>
              <a:t>][j]=0;  </a:t>
            </a:r>
            <a:r>
              <a:rPr lang="en-US" altLang="zh-CN" sz="1600" b="1" dirty="0">
                <a:solidFill>
                  <a:srgbClr val="0303DF"/>
                </a:solidFill>
              </a:rPr>
              <a:t>//</a:t>
            </a:r>
            <a:r>
              <a:rPr lang="zh-CN" altLang="en-US" sz="1600" b="1" dirty="0">
                <a:solidFill>
                  <a:srgbClr val="0303DF"/>
                </a:solidFill>
              </a:rPr>
              <a:t>累加，一定要初始化</a:t>
            </a:r>
            <a:endParaRPr lang="en-US" altLang="zh-CN" sz="1600" b="1" dirty="0">
              <a:solidFill>
                <a:srgbClr val="0303DF"/>
              </a:solidFill>
            </a:endParaRPr>
          </a:p>
          <a:p>
            <a:pPr lvl="1" indent="0">
              <a:lnSpc>
                <a:spcPct val="100000"/>
              </a:lnSpc>
              <a:spcBef>
                <a:spcPts val="0"/>
              </a:spcBef>
              <a:buNone/>
            </a:pPr>
            <a:r>
              <a:rPr lang="en-US" altLang="zh-CN" sz="1600" dirty="0">
                <a:solidFill>
                  <a:srgbClr val="0000CC"/>
                </a:solidFill>
              </a:rPr>
              <a:t>           </a:t>
            </a:r>
            <a:r>
              <a:rPr lang="zh-CN" altLang="en-US" sz="1600" dirty="0">
                <a:solidFill>
                  <a:srgbClr val="0000CC"/>
                </a:solidFill>
              </a:rPr>
              <a:t>  </a:t>
            </a:r>
            <a:r>
              <a:rPr lang="en-US" altLang="zh-CN" sz="1600" b="1" dirty="0">
                <a:solidFill>
                  <a:srgbClr val="C00000"/>
                </a:solidFill>
              </a:rPr>
              <a:t>for (</a:t>
            </a:r>
            <a:r>
              <a:rPr lang="en-US" altLang="zh-CN" sz="1600" b="1" dirty="0" err="1">
                <a:solidFill>
                  <a:srgbClr val="C00000"/>
                </a:solidFill>
              </a:rPr>
              <a:t>int</a:t>
            </a:r>
            <a:r>
              <a:rPr lang="en-US" altLang="zh-CN" sz="1600" b="1" dirty="0">
                <a:solidFill>
                  <a:srgbClr val="C00000"/>
                </a:solidFill>
              </a:rPr>
              <a:t> k=0;k&lt;3;k++)</a:t>
            </a:r>
          </a:p>
          <a:p>
            <a:pPr lvl="1" indent="0">
              <a:lnSpc>
                <a:spcPct val="100000"/>
              </a:lnSpc>
              <a:spcBef>
                <a:spcPts val="0"/>
              </a:spcBef>
              <a:buNone/>
            </a:pPr>
            <a:r>
              <a:rPr lang="en-US" altLang="zh-CN" sz="1600" dirty="0"/>
              <a:t>                 c[</a:t>
            </a:r>
            <a:r>
              <a:rPr lang="en-US" altLang="zh-CN" sz="1600" dirty="0" err="1"/>
              <a:t>i</a:t>
            </a:r>
            <a:r>
              <a:rPr lang="en-US" altLang="zh-CN" sz="1600" dirty="0"/>
              <a:t>][j] += a[</a:t>
            </a:r>
            <a:r>
              <a:rPr lang="en-US" altLang="zh-CN" sz="1600" dirty="0" err="1"/>
              <a:t>i</a:t>
            </a:r>
            <a:r>
              <a:rPr lang="en-US" altLang="zh-CN" sz="1600" dirty="0"/>
              <a:t>][k]*b[k][j];                               </a:t>
            </a:r>
          </a:p>
          <a:p>
            <a:pPr lvl="1" indent="0">
              <a:lnSpc>
                <a:spcPct val="100000"/>
              </a:lnSpc>
              <a:spcBef>
                <a:spcPts val="0"/>
              </a:spcBef>
              <a:buNone/>
            </a:pPr>
            <a:r>
              <a:rPr lang="zh-CN" altLang="en-US" sz="1600" b="1" dirty="0"/>
              <a:t>          </a:t>
            </a:r>
            <a:r>
              <a:rPr lang="zh-CN" altLang="en-US" sz="1600" dirty="0">
                <a:solidFill>
                  <a:srgbClr val="000000"/>
                </a:solidFill>
                <a:sym typeface="宋体" panose="02010600030101010101" pitchFamily="2" charset="-122"/>
              </a:rPr>
              <a:t>}</a:t>
            </a:r>
            <a:endParaRPr lang="en-US" altLang="zh-CN" sz="1600" dirty="0">
              <a:solidFill>
                <a:srgbClr val="000000"/>
              </a:solidFill>
              <a:sym typeface="宋体" panose="02010600030101010101" pitchFamily="2" charset="-122"/>
            </a:endParaRPr>
          </a:p>
          <a:p>
            <a:pPr lvl="1" indent="0">
              <a:lnSpc>
                <a:spcPct val="100000"/>
              </a:lnSpc>
              <a:spcBef>
                <a:spcPts val="0"/>
              </a:spcBef>
              <a:buNone/>
            </a:pPr>
            <a:r>
              <a:rPr lang="zh-CN" altLang="en-US" sz="1600" dirty="0">
                <a:solidFill>
                  <a:srgbClr val="000000"/>
                </a:solidFill>
                <a:sym typeface="宋体" panose="02010600030101010101" pitchFamily="2" charset="-122"/>
              </a:rPr>
              <a:t>}</a:t>
            </a:r>
          </a:p>
          <a:p>
            <a:pPr marL="285750" lvl="1" indent="0">
              <a:lnSpc>
                <a:spcPct val="100000"/>
              </a:lnSpc>
              <a:spcBef>
                <a:spcPts val="0"/>
              </a:spcBef>
              <a:buNone/>
            </a:pPr>
            <a:r>
              <a:rPr lang="zh-CN" altLang="en-US" sz="1800" dirty="0">
                <a:solidFill>
                  <a:srgbClr val="000000"/>
                </a:solidFill>
                <a:sym typeface="宋体" panose="02010600030101010101" pitchFamily="2" charset="-122"/>
              </a:rPr>
              <a:t> </a:t>
            </a:r>
            <a:endParaRPr lang="zh-CN" altLang="en-US" dirty="0"/>
          </a:p>
          <a:p>
            <a:pPr marL="285750" lvl="1" indent="0">
              <a:lnSpc>
                <a:spcPct val="100000"/>
              </a:lnSpc>
              <a:spcBef>
                <a:spcPts val="0"/>
              </a:spcBef>
              <a:buNone/>
            </a:pPr>
            <a:r>
              <a:rPr lang="zh-CN" altLang="en-US" dirty="0"/>
              <a:t>    </a:t>
            </a:r>
          </a:p>
        </p:txBody>
      </p:sp>
      <p:sp>
        <p:nvSpPr>
          <p:cNvPr id="3" name="Rectangle 3"/>
          <p:cNvSpPr txBox="1">
            <a:spLocks noRot="1" noChangeArrowheads="1"/>
          </p:cNvSpPr>
          <p:nvPr/>
        </p:nvSpPr>
        <p:spPr bwMode="auto">
          <a:xfrm>
            <a:off x="4765531" y="1028700"/>
            <a:ext cx="4129087" cy="5351318"/>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0">
              <a:lnSpc>
                <a:spcPct val="100000"/>
              </a:lnSpc>
              <a:spcBef>
                <a:spcPts val="0"/>
              </a:spcBef>
              <a:buFont typeface="Wingdings" panose="05000000000000000000" pitchFamily="2" charset="2"/>
              <a:buNone/>
            </a:pPr>
            <a:r>
              <a:rPr lang="en-US" altLang="zh-CN" sz="1800" dirty="0"/>
              <a:t>//</a:t>
            </a:r>
            <a:r>
              <a:rPr lang="zh-CN" altLang="en-US" sz="1800" dirty="0"/>
              <a:t>输出</a:t>
            </a:r>
            <a:endParaRPr lang="en-US" altLang="zh-CN" sz="1800" dirty="0"/>
          </a:p>
          <a:p>
            <a:pPr marL="285750" lvl="1" indent="0">
              <a:lnSpc>
                <a:spcPct val="100000"/>
              </a:lnSpc>
              <a:spcBef>
                <a:spcPts val="0"/>
              </a:spcBef>
              <a:buFont typeface="Wingdings" panose="05000000000000000000" pitchFamily="2" charset="2"/>
              <a:buNone/>
            </a:pPr>
            <a:r>
              <a:rPr lang="en-US" altLang="zh-CN" sz="1800" dirty="0" err="1"/>
              <a:t>printf</a:t>
            </a:r>
            <a:r>
              <a:rPr lang="en-US" altLang="zh-CN" sz="1800" dirty="0"/>
              <a:t>("array c:\n");</a:t>
            </a:r>
          </a:p>
          <a:p>
            <a:pPr marL="285750" lvl="1" indent="0">
              <a:lnSpc>
                <a:spcPct val="100000"/>
              </a:lnSpc>
              <a:spcBef>
                <a:spcPts val="0"/>
              </a:spcBef>
              <a:buFont typeface="Wingdings" panose="05000000000000000000" pitchFamily="2" charset="2"/>
              <a:buNone/>
            </a:pPr>
            <a:r>
              <a:rPr lang="en-US" altLang="zh-CN" sz="1800" dirty="0"/>
              <a:t> for(</a:t>
            </a:r>
            <a:r>
              <a:rPr lang="en-US" altLang="zh-CN" sz="1800" dirty="0" err="1"/>
              <a:t>i</a:t>
            </a:r>
            <a:r>
              <a:rPr lang="en-US" altLang="zh-CN" sz="1800" dirty="0"/>
              <a:t>=0;i&lt;2;i++)</a:t>
            </a:r>
          </a:p>
          <a:p>
            <a:pPr marL="285750" lvl="1" indent="0">
              <a:lnSpc>
                <a:spcPct val="100000"/>
              </a:lnSpc>
              <a:spcBef>
                <a:spcPts val="0"/>
              </a:spcBef>
              <a:buFont typeface="Wingdings" panose="05000000000000000000" pitchFamily="2" charset="2"/>
              <a:buNone/>
            </a:pPr>
            <a:r>
              <a:rPr lang="en-US" altLang="zh-CN" sz="1800" dirty="0"/>
              <a:t> {</a:t>
            </a:r>
          </a:p>
          <a:p>
            <a:pPr marL="285750" lvl="1" indent="0">
              <a:lnSpc>
                <a:spcPct val="100000"/>
              </a:lnSpc>
              <a:spcBef>
                <a:spcPts val="0"/>
              </a:spcBef>
              <a:buFont typeface="Wingdings" panose="05000000000000000000" pitchFamily="2" charset="2"/>
              <a:buNone/>
            </a:pPr>
            <a:r>
              <a:rPr lang="en-US" altLang="zh-CN" sz="1800" dirty="0"/>
              <a:t>      for(j=0;j&lt;2;j++)</a:t>
            </a:r>
          </a:p>
          <a:p>
            <a:pPr marL="285750" lvl="1" indent="0">
              <a:lnSpc>
                <a:spcPct val="100000"/>
              </a:lnSpc>
              <a:spcBef>
                <a:spcPts val="0"/>
              </a:spcBef>
              <a:buFont typeface="Wingdings" panose="05000000000000000000" pitchFamily="2" charset="2"/>
              <a:buNone/>
            </a:pPr>
            <a:r>
              <a:rPr lang="en-US" altLang="zh-CN" sz="1800" dirty="0"/>
              <a:t>           </a:t>
            </a:r>
            <a:r>
              <a:rPr lang="en-US" altLang="zh-CN" sz="1800" dirty="0" err="1"/>
              <a:t>printf</a:t>
            </a:r>
            <a:r>
              <a:rPr lang="en-US" altLang="zh-CN" sz="1800" dirty="0"/>
              <a:t>("%5d",c[</a:t>
            </a:r>
            <a:r>
              <a:rPr lang="en-US" altLang="zh-CN" sz="1800" dirty="0" err="1"/>
              <a:t>i</a:t>
            </a:r>
            <a:r>
              <a:rPr lang="en-US" altLang="zh-CN" sz="1800" dirty="0"/>
              <a:t>][j]);</a:t>
            </a:r>
          </a:p>
          <a:p>
            <a:pPr marL="285750" lvl="1" indent="0">
              <a:lnSpc>
                <a:spcPct val="100000"/>
              </a:lnSpc>
              <a:spcBef>
                <a:spcPts val="0"/>
              </a:spcBef>
              <a:buFont typeface="Wingdings" panose="05000000000000000000" pitchFamily="2" charset="2"/>
              <a:buNone/>
            </a:pPr>
            <a:r>
              <a:rPr lang="en-US" altLang="zh-CN" sz="1800" dirty="0"/>
              <a:t>      </a:t>
            </a:r>
            <a:r>
              <a:rPr lang="en-US" altLang="zh-CN" sz="1800" dirty="0" err="1"/>
              <a:t>printf</a:t>
            </a:r>
            <a:r>
              <a:rPr lang="en-US" altLang="zh-CN" sz="1800" dirty="0"/>
              <a:t>("\n"); </a:t>
            </a:r>
          </a:p>
          <a:p>
            <a:pPr marL="285750" lvl="1" indent="0">
              <a:lnSpc>
                <a:spcPct val="100000"/>
              </a:lnSpc>
              <a:spcBef>
                <a:spcPts val="0"/>
              </a:spcBef>
              <a:buFont typeface="Wingdings" panose="05000000000000000000" pitchFamily="2" charset="2"/>
              <a:buNone/>
            </a:pPr>
            <a:r>
              <a:rPr lang="zh-CN" altLang="en-US" sz="1800" dirty="0"/>
              <a:t>  }</a:t>
            </a:r>
          </a:p>
          <a:p>
            <a:pPr marL="285750" lvl="1" indent="0">
              <a:lnSpc>
                <a:spcPct val="100000"/>
              </a:lnSpc>
              <a:spcBef>
                <a:spcPts val="0"/>
              </a:spcBef>
              <a:buFont typeface="Wingdings" panose="05000000000000000000" pitchFamily="2" charset="2"/>
              <a:buNone/>
            </a:pPr>
            <a:r>
              <a:rPr lang="en-US" altLang="zh-CN" sz="1800" dirty="0"/>
              <a:t>   return 0;</a:t>
            </a:r>
          </a:p>
          <a:p>
            <a:pPr marL="285750" lvl="1" indent="0">
              <a:lnSpc>
                <a:spcPct val="100000"/>
              </a:lnSpc>
              <a:spcBef>
                <a:spcPts val="0"/>
              </a:spcBef>
              <a:buFont typeface="Wingdings" panose="05000000000000000000" pitchFamily="2" charset="2"/>
              <a:buNone/>
            </a:pPr>
            <a:r>
              <a:rPr lang="zh-CN" altLang="en-US" sz="1800" dirty="0"/>
              <a:t>}</a:t>
            </a:r>
          </a:p>
          <a:p>
            <a:pPr lvl="1" indent="0">
              <a:lnSpc>
                <a:spcPct val="100000"/>
              </a:lnSpc>
              <a:spcBef>
                <a:spcPts val="0"/>
              </a:spcBef>
              <a:buFont typeface="Wingdings" panose="05000000000000000000" pitchFamily="2" charset="2"/>
              <a:buNone/>
            </a:pPr>
            <a:endParaRPr lang="zh-CN" altLang="en-US" dirty="0"/>
          </a:p>
          <a:p>
            <a:pPr marL="285750" lvl="1" indent="0">
              <a:lnSpc>
                <a:spcPct val="100000"/>
              </a:lnSpc>
              <a:spcBef>
                <a:spcPts val="0"/>
              </a:spcBef>
              <a:buFont typeface="Wingdings" panose="05000000000000000000" pitchFamily="2" charset="2"/>
              <a:buNone/>
            </a:pPr>
            <a:r>
              <a:rPr lang="zh-CN" altLang="en-US" dirty="0"/>
              <a:t>    </a:t>
            </a:r>
          </a:p>
        </p:txBody>
      </p:sp>
      <p:sp>
        <p:nvSpPr>
          <p:cNvPr id="2" name="矩形 1"/>
          <p:cNvSpPr/>
          <p:nvPr/>
        </p:nvSpPr>
        <p:spPr>
          <a:xfrm>
            <a:off x="412357" y="324488"/>
            <a:ext cx="8388743" cy="523220"/>
          </a:xfrm>
          <a:prstGeom prst="rect">
            <a:avLst/>
          </a:prstGeom>
        </p:spPr>
        <p:txBody>
          <a:bodyPr wrap="square">
            <a:spAutoFit/>
          </a:bodyPr>
          <a:lstStyle/>
          <a:p>
            <a:r>
              <a:rPr lang="zh-CN" altLang="en-US" sz="2800" dirty="0" smtClean="0">
                <a:solidFill>
                  <a:srgbClr val="7030A0"/>
                </a:solidFill>
                <a:latin typeface="+mj-lt"/>
                <a:ea typeface="+mj-ea"/>
                <a:cs typeface="+mj-cs"/>
              </a:rPr>
              <a:t>课后练习：</a:t>
            </a:r>
            <a:r>
              <a:rPr lang="zh-CN" altLang="en-US" sz="2800" dirty="0" smtClean="0">
                <a:solidFill>
                  <a:srgbClr val="1A93C8"/>
                </a:solidFill>
                <a:latin typeface="+mj-lt"/>
                <a:ea typeface="+mj-ea"/>
                <a:cs typeface="+mj-cs"/>
              </a:rPr>
              <a:t>矩阵</a:t>
            </a:r>
            <a:r>
              <a:rPr lang="zh-CN" altLang="en-US" sz="2800" dirty="0">
                <a:solidFill>
                  <a:srgbClr val="1A93C8"/>
                </a:solidFill>
                <a:latin typeface="+mj-lt"/>
                <a:ea typeface="+mj-ea"/>
                <a:cs typeface="+mj-cs"/>
              </a:rPr>
              <a:t>乘法</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参考代码</a:t>
            </a:r>
          </a:p>
        </p:txBody>
      </p:sp>
    </p:spTree>
    <p:extLst>
      <p:ext uri="{BB962C8B-B14F-4D97-AF65-F5344CB8AC3E}">
        <p14:creationId xmlns:p14="http://schemas.microsoft.com/office/powerpoint/2010/main" val="205875676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Rot="1" noChangeArrowheads="1"/>
          </p:cNvSpPr>
          <p:nvPr>
            <p:ph type="body" idx="1"/>
          </p:nvPr>
        </p:nvSpPr>
        <p:spPr>
          <a:xfrm>
            <a:off x="517669" y="1029999"/>
            <a:ext cx="7772400" cy="5048683"/>
          </a:xfrm>
        </p:spPr>
        <p:txBody>
          <a:bodyPr/>
          <a:lstStyle/>
          <a:p>
            <a:pPr marL="342900" indent="-342900">
              <a:buFont typeface="Wingdings" panose="05000000000000000000" pitchFamily="2" charset="2"/>
              <a:buChar char="l"/>
            </a:pPr>
            <a:r>
              <a:rPr lang="zh-CN" altLang="en-US" dirty="0"/>
              <a:t>有一个3×4的矩阵，要求编程序以求出其中值最大的那个元素的值及其所在的行号和列号。</a:t>
            </a:r>
          </a:p>
          <a:p>
            <a:pPr marL="342900" indent="-342900">
              <a:buFont typeface="Wingdings" panose="05000000000000000000" pitchFamily="2" charset="2"/>
              <a:buChar char="l"/>
            </a:pPr>
            <a:r>
              <a:rPr lang="zh-CN" altLang="en-US" dirty="0">
                <a:solidFill>
                  <a:srgbClr val="FF3300"/>
                </a:solidFill>
              </a:rPr>
              <a:t>算法</a:t>
            </a:r>
            <a:r>
              <a:rPr lang="zh-CN" altLang="en-US" dirty="0"/>
              <a:t>：</a:t>
            </a:r>
            <a:endParaRPr lang="en-US" altLang="zh-CN" dirty="0"/>
          </a:p>
          <a:p>
            <a:pPr marL="971550" lvl="1"/>
            <a:r>
              <a:rPr lang="zh-CN" altLang="en-US" dirty="0"/>
              <a:t>首先把第一个元素</a:t>
            </a:r>
            <a:r>
              <a:rPr lang="en-US" altLang="zh-CN" dirty="0"/>
              <a:t>a[0][0]</a:t>
            </a:r>
            <a:r>
              <a:rPr lang="zh-CN" altLang="en-US" dirty="0"/>
              <a:t>作为</a:t>
            </a:r>
            <a:r>
              <a:rPr lang="zh-CN" altLang="en-US" dirty="0">
                <a:solidFill>
                  <a:srgbClr val="9900FF"/>
                </a:solidFill>
              </a:rPr>
              <a:t>临时最大值</a:t>
            </a:r>
            <a:r>
              <a:rPr lang="en-US" altLang="zh-CN" dirty="0">
                <a:solidFill>
                  <a:srgbClr val="9900FF"/>
                </a:solidFill>
              </a:rPr>
              <a:t>max</a:t>
            </a:r>
            <a:r>
              <a:rPr lang="zh-CN" altLang="en-US" dirty="0">
                <a:solidFill>
                  <a:srgbClr val="9900FF"/>
                </a:solidFill>
              </a:rPr>
              <a:t>；</a:t>
            </a:r>
            <a:endParaRPr lang="en-US" altLang="zh-CN" dirty="0">
              <a:solidFill>
                <a:srgbClr val="9900FF"/>
              </a:solidFill>
            </a:endParaRPr>
          </a:p>
          <a:p>
            <a:pPr marL="971550" lvl="1"/>
            <a:r>
              <a:rPr lang="zh-CN" altLang="en-US" dirty="0"/>
              <a:t>然后把临时最大值</a:t>
            </a:r>
            <a:r>
              <a:rPr lang="en-US" altLang="zh-CN" dirty="0"/>
              <a:t>max</a:t>
            </a:r>
            <a:r>
              <a:rPr lang="zh-CN" altLang="en-US" dirty="0"/>
              <a:t>与每一个元素</a:t>
            </a:r>
            <a:r>
              <a:rPr lang="en-US" altLang="zh-CN" dirty="0"/>
              <a:t>a[</a:t>
            </a:r>
            <a:r>
              <a:rPr lang="en-US" altLang="zh-CN" dirty="0" err="1"/>
              <a:t>i</a:t>
            </a:r>
            <a:r>
              <a:rPr lang="en-US" altLang="zh-CN" dirty="0"/>
              <a:t>][j]</a:t>
            </a:r>
            <a:r>
              <a:rPr lang="zh-CN" altLang="en-US" dirty="0"/>
              <a:t>进行比较，若</a:t>
            </a:r>
            <a:r>
              <a:rPr lang="en-US" altLang="zh-CN" dirty="0"/>
              <a:t>a[</a:t>
            </a:r>
            <a:r>
              <a:rPr lang="en-US" altLang="zh-CN" dirty="0" err="1"/>
              <a:t>i</a:t>
            </a:r>
            <a:r>
              <a:rPr lang="en-US" altLang="zh-CN" dirty="0"/>
              <a:t>][j]&gt;max，</a:t>
            </a:r>
            <a:r>
              <a:rPr lang="zh-CN" altLang="en-US" dirty="0"/>
              <a:t>把</a:t>
            </a:r>
            <a:r>
              <a:rPr lang="en-US" altLang="zh-CN" dirty="0"/>
              <a:t>a[</a:t>
            </a:r>
            <a:r>
              <a:rPr lang="en-US" altLang="zh-CN" dirty="0" err="1"/>
              <a:t>i</a:t>
            </a:r>
            <a:r>
              <a:rPr lang="en-US" altLang="zh-CN" dirty="0"/>
              <a:t>][j]</a:t>
            </a:r>
            <a:r>
              <a:rPr lang="zh-CN" altLang="en-US" dirty="0"/>
              <a:t>作为</a:t>
            </a:r>
            <a:r>
              <a:rPr lang="zh-CN" altLang="en-US" dirty="0">
                <a:solidFill>
                  <a:srgbClr val="9900FF"/>
                </a:solidFill>
              </a:rPr>
              <a:t>新的临时</a:t>
            </a:r>
            <a:r>
              <a:rPr lang="zh-CN" altLang="en-US" dirty="0"/>
              <a:t>最大值，并</a:t>
            </a:r>
            <a:r>
              <a:rPr lang="zh-CN" altLang="en-US" dirty="0">
                <a:solidFill>
                  <a:srgbClr val="9900FF"/>
                </a:solidFill>
              </a:rPr>
              <a:t>记录</a:t>
            </a:r>
            <a:r>
              <a:rPr lang="zh-CN" altLang="en-US" dirty="0"/>
              <a:t>下其下标</a:t>
            </a:r>
            <a:r>
              <a:rPr lang="en-US" altLang="zh-CN" dirty="0" err="1"/>
              <a:t>i</a:t>
            </a:r>
            <a:r>
              <a:rPr lang="zh-CN" altLang="en-US" dirty="0"/>
              <a:t>和</a:t>
            </a:r>
            <a:r>
              <a:rPr lang="en-US" altLang="zh-CN" dirty="0"/>
              <a:t>j</a:t>
            </a:r>
            <a:r>
              <a:rPr lang="zh-CN" altLang="en-US" dirty="0"/>
              <a:t>；</a:t>
            </a:r>
            <a:endParaRPr lang="en-US" altLang="zh-CN" dirty="0"/>
          </a:p>
          <a:p>
            <a:pPr marL="971550" lvl="1"/>
            <a:r>
              <a:rPr lang="zh-CN" altLang="en-US" dirty="0"/>
              <a:t>当全部元素比较完后，</a:t>
            </a:r>
            <a:r>
              <a:rPr lang="en-US" altLang="zh-CN" dirty="0"/>
              <a:t>max</a:t>
            </a:r>
            <a:r>
              <a:rPr lang="zh-CN" altLang="en-US" dirty="0"/>
              <a:t>是整个矩阵全部元素的最大值；</a:t>
            </a:r>
            <a:endParaRPr lang="en-US" altLang="zh-CN" dirty="0"/>
          </a:p>
          <a:p>
            <a:pPr marL="342900" indent="-342900">
              <a:buFont typeface="Wingdings" panose="05000000000000000000" pitchFamily="2" charset="2"/>
              <a:buChar char="l"/>
            </a:pPr>
            <a:endParaRPr lang="zh-CN" altLang="en-US" dirty="0"/>
          </a:p>
          <a:p>
            <a:endParaRPr lang="zh-CN" altLang="en-US" b="1" dirty="0">
              <a:latin typeface=""/>
            </a:endParaRPr>
          </a:p>
          <a:p>
            <a:endParaRPr lang="zh-CN" altLang="en-US" dirty="0"/>
          </a:p>
        </p:txBody>
      </p:sp>
      <p:sp>
        <p:nvSpPr>
          <p:cNvPr id="3" name="矩形 2"/>
          <p:cNvSpPr/>
          <p:nvPr/>
        </p:nvSpPr>
        <p:spPr>
          <a:xfrm>
            <a:off x="412357" y="324488"/>
            <a:ext cx="8388743" cy="523220"/>
          </a:xfrm>
          <a:prstGeom prst="rect">
            <a:avLst/>
          </a:prstGeom>
        </p:spPr>
        <p:txBody>
          <a:bodyPr wrap="square">
            <a:spAutoFit/>
          </a:bodyPr>
          <a:lstStyle/>
          <a:p>
            <a:r>
              <a:rPr lang="zh-CN" altLang="en-US" sz="2800" dirty="0">
                <a:solidFill>
                  <a:srgbClr val="7030A0"/>
                </a:solidFill>
                <a:latin typeface="+mj-lt"/>
                <a:ea typeface="+mj-ea"/>
                <a:cs typeface="+mj-cs"/>
              </a:rPr>
              <a:t>课后练习：</a:t>
            </a:r>
            <a:r>
              <a:rPr lang="zh-CN" altLang="en-US" sz="2800" dirty="0" smtClean="0">
                <a:solidFill>
                  <a:srgbClr val="1A93C8"/>
                </a:solidFill>
                <a:latin typeface="+mj-lt"/>
                <a:ea typeface="+mj-ea"/>
                <a:cs typeface="+mj-cs"/>
              </a:rPr>
              <a:t>求</a:t>
            </a:r>
            <a:r>
              <a:rPr lang="zh-CN" altLang="en-US" sz="2800" dirty="0">
                <a:solidFill>
                  <a:srgbClr val="1A93C8"/>
                </a:solidFill>
                <a:latin typeface="+mj-lt"/>
                <a:ea typeface="+mj-ea"/>
                <a:cs typeface="+mj-cs"/>
              </a:rPr>
              <a:t>矩阵的最大元素</a:t>
            </a:r>
          </a:p>
        </p:txBody>
      </p:sp>
    </p:spTree>
    <p:extLst>
      <p:ext uri="{BB962C8B-B14F-4D97-AF65-F5344CB8AC3E}">
        <p14:creationId xmlns:p14="http://schemas.microsoft.com/office/powerpoint/2010/main" val="41372982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083">
                                            <p:txEl>
                                              <p:pRg st="2" end="2"/>
                                            </p:txEl>
                                          </p:spTgt>
                                        </p:tgtEl>
                                        <p:attrNameLst>
                                          <p:attrName>style.visibility</p:attrName>
                                        </p:attrNameLst>
                                      </p:cBhvr>
                                      <p:to>
                                        <p:strVal val="visible"/>
                                      </p:to>
                                    </p:set>
                                    <p:animEffect transition="in" filter="blinds(horizontal)">
                                      <p:cBhvr>
                                        <p:cTn id="10" dur="500"/>
                                        <p:tgtEl>
                                          <p:spTgt spid="46083">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animEffect transition="in" filter="blinds(horizontal)">
                                      <p:cBhvr>
                                        <p:cTn id="13" dur="500"/>
                                        <p:tgtEl>
                                          <p:spTgt spid="46083">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6083">
                                            <p:txEl>
                                              <p:pRg st="4" end="4"/>
                                            </p:txEl>
                                          </p:spTgt>
                                        </p:tgtEl>
                                        <p:attrNameLst>
                                          <p:attrName>style.visibility</p:attrName>
                                        </p:attrNameLst>
                                      </p:cBhvr>
                                      <p:to>
                                        <p:strVal val="visible"/>
                                      </p:to>
                                    </p:set>
                                    <p:animEffect transition="in" filter="blinds(horizontal)">
                                      <p:cBhvr>
                                        <p:cTn id="16" dur="500"/>
                                        <p:tgtEl>
                                          <p:spTgt spid="46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7828" name="Picture 4" descr="fig6_6"/>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231990" y="1598927"/>
            <a:ext cx="6405328" cy="4636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7829" name="Rectangle 5"/>
          <p:cNvSpPr>
            <a:spLocks noChangeArrowheads="1"/>
          </p:cNvSpPr>
          <p:nvPr/>
        </p:nvSpPr>
        <p:spPr bwMode="auto">
          <a:xfrm>
            <a:off x="634711" y="992485"/>
            <a:ext cx="18101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latin typeface="Times New Roman" panose="02020603050405020304" pitchFamily="18" charset="0"/>
              </a:rPr>
              <a:t>程序</a:t>
            </a:r>
            <a:r>
              <a:rPr kumimoji="1" lang="en-US" altLang="zh-CN" sz="2400" b="1" dirty="0">
                <a:latin typeface="Times New Roman" panose="02020603050405020304" pitchFamily="18" charset="0"/>
              </a:rPr>
              <a:t>NS</a:t>
            </a:r>
            <a:r>
              <a:rPr kumimoji="1" lang="zh-CN" altLang="en-US" sz="2400" b="1" dirty="0">
                <a:latin typeface="Times New Roman" panose="02020603050405020304" pitchFamily="18" charset="0"/>
              </a:rPr>
              <a:t>图：</a:t>
            </a:r>
          </a:p>
        </p:txBody>
      </p:sp>
      <p:sp>
        <p:nvSpPr>
          <p:cNvPr id="4" name="矩形 3"/>
          <p:cNvSpPr/>
          <p:nvPr/>
        </p:nvSpPr>
        <p:spPr>
          <a:xfrm>
            <a:off x="412357" y="324488"/>
            <a:ext cx="8388743" cy="523220"/>
          </a:xfrm>
          <a:prstGeom prst="rect">
            <a:avLst/>
          </a:prstGeom>
        </p:spPr>
        <p:txBody>
          <a:bodyPr wrap="square">
            <a:spAutoFit/>
          </a:bodyPr>
          <a:lstStyle/>
          <a:p>
            <a:r>
              <a:rPr lang="zh-CN" altLang="en-US" sz="2800" dirty="0">
                <a:solidFill>
                  <a:srgbClr val="1A93C8"/>
                </a:solidFill>
                <a:latin typeface="+mj-lt"/>
                <a:ea typeface="+mj-ea"/>
                <a:cs typeface="+mj-cs"/>
              </a:rPr>
              <a:t>求矩阵的最大元素</a:t>
            </a:r>
          </a:p>
        </p:txBody>
      </p:sp>
    </p:spTree>
    <p:extLst>
      <p:ext uri="{BB962C8B-B14F-4D97-AF65-F5344CB8AC3E}">
        <p14:creationId xmlns:p14="http://schemas.microsoft.com/office/powerpoint/2010/main" val="2444293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Rot="1" noChangeArrowheads="1"/>
          </p:cNvSpPr>
          <p:nvPr>
            <p:ph type="body" idx="1"/>
          </p:nvPr>
        </p:nvSpPr>
        <p:spPr>
          <a:xfrm>
            <a:off x="561109" y="1112838"/>
            <a:ext cx="8198427" cy="5319135"/>
          </a:xfrm>
        </p:spPr>
        <p:txBody>
          <a:bodyPr/>
          <a:lstStyle/>
          <a:p>
            <a:pPr marL="342900" indent="-342900">
              <a:lnSpc>
                <a:spcPct val="100000"/>
              </a:lnSpc>
              <a:spcBef>
                <a:spcPts val="600"/>
              </a:spcBef>
              <a:buFont typeface="Wingdings" panose="05000000000000000000" pitchFamily="2" charset="2"/>
              <a:buChar char="l"/>
            </a:pPr>
            <a:r>
              <a:rPr lang="zh-CN" altLang="en-US" sz="2000" dirty="0"/>
              <a:t>当数组元素的下标在</a:t>
            </a:r>
            <a:r>
              <a:rPr lang="zh-CN" altLang="en-US" sz="2000" dirty="0">
                <a:solidFill>
                  <a:srgbClr val="9900FF"/>
                </a:solidFill>
              </a:rPr>
              <a:t>2个或2个以上</a:t>
            </a:r>
            <a:r>
              <a:rPr lang="zh-CN" altLang="en-US" sz="2000" dirty="0"/>
              <a:t>时，该数组称为多维数组。其中以2维数组最常用。</a:t>
            </a:r>
          </a:p>
          <a:p>
            <a:pPr marL="342900" indent="-342900" algn="just">
              <a:lnSpc>
                <a:spcPct val="100000"/>
              </a:lnSpc>
              <a:spcBef>
                <a:spcPts val="600"/>
              </a:spcBef>
              <a:buFont typeface="Wingdings" panose="05000000000000000000" pitchFamily="2" charset="2"/>
              <a:buChar char="l"/>
            </a:pPr>
            <a:r>
              <a:rPr lang="zh-CN" altLang="en-US" sz="2000" dirty="0"/>
              <a:t>定义多维数组：</a:t>
            </a:r>
            <a:r>
              <a:rPr lang="zh-CN" altLang="en-US" sz="2000" dirty="0">
                <a:solidFill>
                  <a:srgbClr val="FF3300"/>
                </a:solidFill>
              </a:rPr>
              <a:t>类型说明 数组名[整型常数1] [整型常数2]… [整型常数</a:t>
            </a:r>
            <a:r>
              <a:rPr lang="en-US" altLang="zh-CN" sz="2000" dirty="0">
                <a:solidFill>
                  <a:srgbClr val="FF3300"/>
                </a:solidFill>
              </a:rPr>
              <a:t>k]；</a:t>
            </a:r>
          </a:p>
          <a:p>
            <a:pPr marL="342900" indent="-342900" algn="just">
              <a:lnSpc>
                <a:spcPct val="100000"/>
              </a:lnSpc>
              <a:spcBef>
                <a:spcPts val="600"/>
              </a:spcBef>
              <a:buFont typeface="Wingdings" panose="05000000000000000000" pitchFamily="2" charset="2"/>
              <a:buChar char="l"/>
            </a:pPr>
            <a:r>
              <a:rPr lang="zh-CN" altLang="en-US" sz="2000" dirty="0"/>
              <a:t>例如：</a:t>
            </a:r>
            <a:r>
              <a:rPr lang="en-US" altLang="zh-CN" sz="2000" dirty="0" err="1"/>
              <a:t>int</a:t>
            </a:r>
            <a:r>
              <a:rPr lang="en-US" altLang="zh-CN" sz="2000" dirty="0"/>
              <a:t> a[2][3][3];</a:t>
            </a:r>
          </a:p>
          <a:p>
            <a:pPr marL="971550" lvl="1" algn="just">
              <a:lnSpc>
                <a:spcPct val="100000"/>
              </a:lnSpc>
              <a:spcBef>
                <a:spcPts val="600"/>
              </a:spcBef>
            </a:pPr>
            <a:r>
              <a:rPr lang="zh-CN" altLang="en-US" sz="1800" dirty="0"/>
              <a:t>定义了一个三维数组</a:t>
            </a:r>
            <a:r>
              <a:rPr lang="en-US" altLang="zh-CN" sz="1800" dirty="0"/>
              <a:t>a，</a:t>
            </a:r>
            <a:r>
              <a:rPr lang="zh-CN" altLang="en-US" sz="1800" dirty="0"/>
              <a:t>其中每个数组元素为整型，总共有2</a:t>
            </a:r>
            <a:r>
              <a:rPr lang="en-US" altLang="zh-CN" sz="1800" dirty="0"/>
              <a:t>x3x3=18</a:t>
            </a:r>
            <a:r>
              <a:rPr lang="zh-CN" altLang="en-US" sz="1800" dirty="0"/>
              <a:t>个元素；</a:t>
            </a:r>
            <a:endParaRPr lang="en-US" altLang="zh-CN" sz="1800" dirty="0"/>
          </a:p>
          <a:p>
            <a:pPr marL="342900" indent="-342900" algn="just">
              <a:lnSpc>
                <a:spcPct val="100000"/>
              </a:lnSpc>
              <a:spcBef>
                <a:spcPts val="600"/>
              </a:spcBef>
              <a:buFont typeface="Wingdings" panose="05000000000000000000" pitchFamily="2" charset="2"/>
              <a:buChar char="l"/>
            </a:pPr>
            <a:r>
              <a:rPr lang="zh-CN" altLang="en-US" sz="2000" dirty="0"/>
              <a:t>对于三维数组，整型常数1，整型常数2，整型常数3可以分别看作“</a:t>
            </a:r>
            <a:r>
              <a:rPr lang="zh-CN" altLang="en-US" sz="2000" dirty="0">
                <a:solidFill>
                  <a:srgbClr val="9900FF"/>
                </a:solidFill>
              </a:rPr>
              <a:t>深</a:t>
            </a:r>
            <a:r>
              <a:rPr lang="zh-CN" altLang="en-US" sz="2000" dirty="0"/>
              <a:t>”维（或：“</a:t>
            </a:r>
            <a:r>
              <a:rPr lang="zh-CN" altLang="en-US" sz="2000" dirty="0">
                <a:solidFill>
                  <a:srgbClr val="9900FF"/>
                </a:solidFill>
              </a:rPr>
              <a:t>页</a:t>
            </a:r>
            <a:r>
              <a:rPr lang="zh-CN" altLang="en-US" sz="2000" dirty="0"/>
              <a:t>”维）、“</a:t>
            </a:r>
            <a:r>
              <a:rPr lang="zh-CN" altLang="en-US" sz="2000" dirty="0">
                <a:solidFill>
                  <a:srgbClr val="9900FF"/>
                </a:solidFill>
              </a:rPr>
              <a:t>行</a:t>
            </a:r>
            <a:r>
              <a:rPr lang="zh-CN" altLang="en-US" sz="2000" dirty="0"/>
              <a:t>”维、“</a:t>
            </a:r>
            <a:r>
              <a:rPr lang="zh-CN" altLang="en-US" sz="2000" dirty="0">
                <a:solidFill>
                  <a:srgbClr val="9900FF"/>
                </a:solidFill>
              </a:rPr>
              <a:t>列</a:t>
            </a:r>
            <a:r>
              <a:rPr lang="zh-CN" altLang="en-US" sz="2000" dirty="0"/>
              <a:t>”维。可以将三维数组看作一个</a:t>
            </a:r>
            <a:r>
              <a:rPr lang="zh-CN" altLang="en-US" sz="2000" dirty="0">
                <a:solidFill>
                  <a:srgbClr val="FF3300"/>
                </a:solidFill>
              </a:rPr>
              <a:t>元素为二维数组的</a:t>
            </a:r>
            <a:r>
              <a:rPr lang="zh-CN" altLang="en-US" sz="2000" dirty="0"/>
              <a:t>一维数组。三维数组在内存中先</a:t>
            </a:r>
            <a:r>
              <a:rPr lang="zh-CN" altLang="en-US" sz="2000" dirty="0">
                <a:solidFill>
                  <a:srgbClr val="9900FF"/>
                </a:solidFill>
              </a:rPr>
              <a:t>按页、再按行、最后按列存放</a:t>
            </a:r>
            <a:r>
              <a:rPr lang="zh-CN" altLang="en-US" sz="2000" dirty="0"/>
              <a:t>；</a:t>
            </a:r>
            <a:endParaRPr lang="en-US" altLang="zh-CN" sz="2000" dirty="0"/>
          </a:p>
          <a:p>
            <a:pPr marL="342900" indent="-342900" algn="just">
              <a:lnSpc>
                <a:spcPct val="100000"/>
              </a:lnSpc>
              <a:spcBef>
                <a:spcPts val="600"/>
              </a:spcBef>
              <a:buFont typeface="Wingdings" panose="05000000000000000000" pitchFamily="2" charset="2"/>
              <a:buChar char="l"/>
            </a:pPr>
            <a:r>
              <a:rPr lang="zh-CN" altLang="en-US" sz="2000" dirty="0"/>
              <a:t>多维数组的数组元素的</a:t>
            </a:r>
            <a:r>
              <a:rPr lang="zh-CN" altLang="en-US" sz="2000" dirty="0">
                <a:solidFill>
                  <a:srgbClr val="FF3300"/>
                </a:solidFill>
              </a:rPr>
              <a:t>引用</a:t>
            </a:r>
            <a:r>
              <a:rPr lang="zh-CN" altLang="en-US" sz="2000" dirty="0"/>
              <a:t>：数组名[下标1] [下标2]… [下标</a:t>
            </a:r>
            <a:r>
              <a:rPr lang="en-US" altLang="zh-CN" sz="2000" dirty="0"/>
              <a:t>k]。</a:t>
            </a:r>
            <a:r>
              <a:rPr lang="zh-CN" altLang="en-US" sz="2000" dirty="0"/>
              <a:t>多维数组的数组元素可以在任何</a:t>
            </a:r>
            <a:r>
              <a:rPr lang="zh-CN" altLang="en-US" sz="2000" dirty="0">
                <a:solidFill>
                  <a:srgbClr val="9900FF"/>
                </a:solidFill>
              </a:rPr>
              <a:t>相同类型变量可以使用</a:t>
            </a:r>
            <a:r>
              <a:rPr lang="zh-CN" altLang="en-US" sz="2000" dirty="0"/>
              <a:t>的位置引用。只是同样要注意</a:t>
            </a:r>
            <a:r>
              <a:rPr lang="zh-CN" altLang="en-US" sz="2000" dirty="0">
                <a:solidFill>
                  <a:srgbClr val="FF3300"/>
                </a:solidFill>
              </a:rPr>
              <a:t>不要越界</a:t>
            </a:r>
            <a:r>
              <a:rPr lang="zh-CN" altLang="en-US" sz="2000" dirty="0"/>
              <a:t>。</a:t>
            </a:r>
          </a:p>
          <a:p>
            <a:pPr marL="342900" indent="-342900" algn="just">
              <a:buFont typeface="Wingdings" panose="05000000000000000000" pitchFamily="2" charset="2"/>
              <a:buChar char="l"/>
            </a:pPr>
            <a:endParaRPr lang="zh-CN" altLang="en-US" sz="2000" dirty="0"/>
          </a:p>
          <a:p>
            <a:pPr marL="342900" indent="-342900" algn="just">
              <a:buFont typeface="Wingdings" panose="05000000000000000000" pitchFamily="2" charset="2"/>
              <a:buChar char="l"/>
            </a:pPr>
            <a:endParaRPr lang="zh-CN" altLang="en-US" dirty="0"/>
          </a:p>
        </p:txBody>
      </p:sp>
      <p:sp>
        <p:nvSpPr>
          <p:cNvPr id="2" name="矩形 1"/>
          <p:cNvSpPr/>
          <p:nvPr/>
        </p:nvSpPr>
        <p:spPr>
          <a:xfrm>
            <a:off x="369927" y="282204"/>
            <a:ext cx="7963582" cy="523220"/>
          </a:xfrm>
          <a:prstGeom prst="rect">
            <a:avLst/>
          </a:prstGeom>
        </p:spPr>
        <p:txBody>
          <a:bodyPr wrap="square">
            <a:spAutoFit/>
          </a:bodyPr>
          <a:lstStyle/>
          <a:p>
            <a:pPr>
              <a:buFont typeface="Wingdings" panose="05000000000000000000" pitchFamily="2" charset="2"/>
              <a:buNone/>
            </a:pPr>
            <a:r>
              <a:rPr lang="zh-CN" altLang="en-US" sz="2800" dirty="0">
                <a:solidFill>
                  <a:srgbClr val="1A93C8"/>
                </a:solidFill>
                <a:latin typeface="+mj-lt"/>
                <a:ea typeface="+mj-ea"/>
                <a:cs typeface="+mj-cs"/>
              </a:rPr>
              <a:t>多维数组</a:t>
            </a:r>
          </a:p>
        </p:txBody>
      </p:sp>
    </p:spTree>
    <p:extLst>
      <p:ext uri="{BB962C8B-B14F-4D97-AF65-F5344CB8AC3E}">
        <p14:creationId xmlns:p14="http://schemas.microsoft.com/office/powerpoint/2010/main" val="83311002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Rectangle 4"/>
          <p:cNvSpPr>
            <a:spLocks noChangeArrowheads="1"/>
          </p:cNvSpPr>
          <p:nvPr/>
        </p:nvSpPr>
        <p:spPr bwMode="auto">
          <a:xfrm>
            <a:off x="384818" y="338859"/>
            <a:ext cx="41344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800" dirty="0">
                <a:solidFill>
                  <a:srgbClr val="1A93C8"/>
                </a:solidFill>
                <a:latin typeface="+mj-lt"/>
                <a:ea typeface="+mj-ea"/>
                <a:cs typeface="+mj-cs"/>
              </a:rPr>
              <a:t>三维数组的元素排列顺序</a:t>
            </a:r>
          </a:p>
        </p:txBody>
      </p:sp>
      <p:grpSp>
        <p:nvGrpSpPr>
          <p:cNvPr id="245765" name="Group 5"/>
          <p:cNvGrpSpPr>
            <a:grpSpLocks/>
          </p:cNvGrpSpPr>
          <p:nvPr/>
        </p:nvGrpSpPr>
        <p:grpSpPr bwMode="auto">
          <a:xfrm>
            <a:off x="675408" y="2332038"/>
            <a:ext cx="7211292" cy="3168526"/>
            <a:chOff x="111" y="1824"/>
            <a:chExt cx="5917" cy="2208"/>
          </a:xfrm>
        </p:grpSpPr>
        <p:sp>
          <p:nvSpPr>
            <p:cNvPr id="245766" name="Text Box 6"/>
            <p:cNvSpPr txBox="1">
              <a:spLocks noChangeArrowheads="1"/>
            </p:cNvSpPr>
            <p:nvPr/>
          </p:nvSpPr>
          <p:spPr bwMode="auto">
            <a:xfrm>
              <a:off x="153" y="1872"/>
              <a:ext cx="5875" cy="2098"/>
            </a:xfrm>
            <a:prstGeom prst="rect">
              <a:avLst/>
            </a:prstGeom>
            <a:solidFill>
              <a:srgbClr val="F3FF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spcBef>
                  <a:spcPct val="10000"/>
                </a:spcBef>
              </a:pPr>
              <a:r>
                <a:rPr kumimoji="1" lang="zh-CN" altLang="en-US" sz="2800" dirty="0">
                  <a:latin typeface="宋体" panose="02010600030101010101" pitchFamily="2" charset="-122"/>
                  <a:cs typeface="Courier New" panose="02070309020205020404" pitchFamily="49" charset="0"/>
                </a:rPr>
                <a:t> </a:t>
              </a:r>
              <a:r>
                <a:rPr kumimoji="1" lang="en-US" altLang="zh-CN" sz="2400" dirty="0">
                  <a:latin typeface="+mn-lt"/>
                  <a:cs typeface="Courier New" panose="02070309020205020404" pitchFamily="49" charset="0"/>
                </a:rPr>
                <a:t>a[0][0][0]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a[0][0][1]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a[0][0][2]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a[0][0][3]</a:t>
              </a:r>
              <a:r>
                <a:rPr kumimoji="1" lang="en-US" altLang="zh-CN" sz="2400" dirty="0">
                  <a:solidFill>
                    <a:srgbClr val="FF6600"/>
                  </a:solidFill>
                  <a:latin typeface="+mn-lt"/>
                  <a:cs typeface="Courier New" panose="02070309020205020404" pitchFamily="49" charset="0"/>
                </a:rPr>
                <a:t>→</a:t>
              </a:r>
            </a:p>
            <a:p>
              <a:pPr eaLnBrk="0" hangingPunct="0">
                <a:lnSpc>
                  <a:spcPct val="120000"/>
                </a:lnSpc>
                <a:spcBef>
                  <a:spcPct val="10000"/>
                </a:spcBef>
              </a:pPr>
              <a:r>
                <a:rPr kumimoji="1" lang="en-US" altLang="zh-CN" sz="2400" dirty="0">
                  <a:latin typeface="+mn-lt"/>
                  <a:cs typeface="Courier New" panose="02070309020205020404" pitchFamily="49" charset="0"/>
                </a:rPr>
                <a:t>   a[0][1][0]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a[0][1][1]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a[0][1][2]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a[0][1][3]</a:t>
              </a:r>
              <a:r>
                <a:rPr kumimoji="1" lang="en-US" altLang="zh-CN" sz="2400" dirty="0">
                  <a:solidFill>
                    <a:srgbClr val="FF6600"/>
                  </a:solidFill>
                  <a:latin typeface="+mn-lt"/>
                  <a:cs typeface="Courier New" panose="02070309020205020404" pitchFamily="49" charset="0"/>
                </a:rPr>
                <a:t>→</a:t>
              </a:r>
            </a:p>
            <a:p>
              <a:pPr eaLnBrk="0" hangingPunct="0">
                <a:lnSpc>
                  <a:spcPct val="120000"/>
                </a:lnSpc>
                <a:spcBef>
                  <a:spcPct val="10000"/>
                </a:spcBef>
              </a:pPr>
              <a:r>
                <a:rPr kumimoji="1" lang="en-US" altLang="zh-CN" sz="2400" dirty="0">
                  <a:solidFill>
                    <a:srgbClr val="FF6600"/>
                  </a:solidFill>
                  <a:latin typeface="+mn-lt"/>
                  <a:cs typeface="Courier New" panose="02070309020205020404" pitchFamily="49" charset="0"/>
                </a:rPr>
                <a:t>   </a:t>
              </a:r>
              <a:r>
                <a:rPr kumimoji="1" lang="en-US" altLang="zh-CN" sz="2400" dirty="0">
                  <a:latin typeface="+mn-lt"/>
                  <a:cs typeface="Courier New" panose="02070309020205020404" pitchFamily="49" charset="0"/>
                </a:rPr>
                <a:t>a[0][2][0]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a[0][2][1]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a[0][2][2]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a[0][2][3]</a:t>
              </a:r>
              <a:r>
                <a:rPr kumimoji="1" lang="en-US" altLang="zh-CN" sz="2400" dirty="0">
                  <a:solidFill>
                    <a:srgbClr val="FF6600"/>
                  </a:solidFill>
                  <a:latin typeface="+mn-lt"/>
                  <a:cs typeface="Courier New" panose="02070309020205020404" pitchFamily="49" charset="0"/>
                </a:rPr>
                <a:t>→</a:t>
              </a:r>
            </a:p>
            <a:p>
              <a:pPr eaLnBrk="0" hangingPunct="0">
                <a:lnSpc>
                  <a:spcPct val="120000"/>
                </a:lnSpc>
                <a:spcBef>
                  <a:spcPct val="10000"/>
                </a:spcBef>
              </a:pPr>
              <a:r>
                <a:rPr kumimoji="1" lang="en-US" altLang="zh-CN" sz="2400" dirty="0">
                  <a:latin typeface="+mn-lt"/>
                  <a:cs typeface="Courier New" panose="02070309020205020404" pitchFamily="49" charset="0"/>
                </a:rPr>
                <a:t>   a[1][0][0]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a[1][0][1]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a[1][0][2]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a[1][0][3]</a:t>
              </a:r>
              <a:r>
                <a:rPr kumimoji="1" lang="en-US" altLang="zh-CN" sz="2400" dirty="0">
                  <a:solidFill>
                    <a:srgbClr val="FF6600"/>
                  </a:solidFill>
                  <a:latin typeface="+mn-lt"/>
                  <a:cs typeface="Courier New" panose="02070309020205020404" pitchFamily="49" charset="0"/>
                </a:rPr>
                <a:t>→</a:t>
              </a:r>
            </a:p>
            <a:p>
              <a:pPr eaLnBrk="0" hangingPunct="0">
                <a:lnSpc>
                  <a:spcPct val="120000"/>
                </a:lnSpc>
                <a:spcBef>
                  <a:spcPct val="10000"/>
                </a:spcBef>
              </a:pPr>
              <a:r>
                <a:rPr kumimoji="1" lang="en-US" altLang="zh-CN" sz="2400" dirty="0">
                  <a:latin typeface="+mn-lt"/>
                  <a:cs typeface="Courier New" panose="02070309020205020404" pitchFamily="49" charset="0"/>
                </a:rPr>
                <a:t>   a[1][1][0]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a[1][1][1]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a[1][1][2]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a[1][1][3]</a:t>
              </a:r>
              <a:r>
                <a:rPr kumimoji="1" lang="en-US" altLang="zh-CN" sz="2400" dirty="0">
                  <a:solidFill>
                    <a:srgbClr val="FF6600"/>
                  </a:solidFill>
                  <a:latin typeface="+mn-lt"/>
                  <a:cs typeface="Courier New" panose="02070309020205020404" pitchFamily="49" charset="0"/>
                </a:rPr>
                <a:t>→</a:t>
              </a:r>
            </a:p>
            <a:p>
              <a:pPr eaLnBrk="0" hangingPunct="0">
                <a:lnSpc>
                  <a:spcPct val="120000"/>
                </a:lnSpc>
                <a:spcBef>
                  <a:spcPct val="10000"/>
                </a:spcBef>
              </a:pPr>
              <a:r>
                <a:rPr kumimoji="1" lang="en-US" altLang="zh-CN" sz="2400" dirty="0">
                  <a:latin typeface="+mn-lt"/>
                  <a:cs typeface="Courier New" panose="02070309020205020404" pitchFamily="49" charset="0"/>
                </a:rPr>
                <a:t>   a[1][2][0]</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a[1][2][1]</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a[1][2][2]</a:t>
              </a:r>
              <a:r>
                <a:rPr kumimoji="1" lang="en-US" altLang="zh-CN" sz="2400" dirty="0">
                  <a:solidFill>
                    <a:srgbClr val="FF6600"/>
                  </a:solidFill>
                  <a:latin typeface="+mn-lt"/>
                  <a:cs typeface="Courier New" panose="02070309020205020404" pitchFamily="49" charset="0"/>
                </a:rPr>
                <a:t>→</a:t>
              </a:r>
              <a:r>
                <a:rPr kumimoji="1" lang="en-US" altLang="zh-CN" sz="2400" dirty="0">
                  <a:latin typeface="+mn-lt"/>
                  <a:cs typeface="Courier New" panose="02070309020205020404" pitchFamily="49" charset="0"/>
                </a:rPr>
                <a:t>a[1][2][3]</a:t>
              </a:r>
              <a:r>
                <a:rPr kumimoji="1" lang="en-US" altLang="zh-CN" sz="2400" dirty="0">
                  <a:solidFill>
                    <a:srgbClr val="FF6600"/>
                  </a:solidFill>
                  <a:latin typeface="+mn-lt"/>
                  <a:cs typeface="Courier New" panose="02070309020205020404" pitchFamily="49" charset="0"/>
                </a:rPr>
                <a:t>→</a:t>
              </a:r>
              <a:endParaRPr lang="en-US" altLang="zh-CN" sz="2400" dirty="0">
                <a:latin typeface="+mn-lt"/>
              </a:endParaRPr>
            </a:p>
          </p:txBody>
        </p:sp>
        <p:sp>
          <p:nvSpPr>
            <p:cNvPr id="245767" name="Text Box 7"/>
            <p:cNvSpPr txBox="1">
              <a:spLocks noChangeArrowheads="1"/>
            </p:cNvSpPr>
            <p:nvPr/>
          </p:nvSpPr>
          <p:spPr bwMode="auto">
            <a:xfrm>
              <a:off x="111" y="1824"/>
              <a:ext cx="379" cy="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a:endParaRPr lang="zh-CN" altLang="en-US" sz="2800" b="1">
                <a:solidFill>
                  <a:srgbClr val="FF6600"/>
                </a:solidFill>
                <a:latin typeface="黑体" panose="02010609060101010101" pitchFamily="49" charset="-122"/>
                <a:ea typeface="黑体" panose="02010609060101010101" pitchFamily="49" charset="-122"/>
              </a:endParaRPr>
            </a:p>
          </p:txBody>
        </p:sp>
      </p:grpSp>
      <p:sp>
        <p:nvSpPr>
          <p:cNvPr id="2" name="矩形 1"/>
          <p:cNvSpPr/>
          <p:nvPr/>
        </p:nvSpPr>
        <p:spPr>
          <a:xfrm>
            <a:off x="601905" y="1109538"/>
            <a:ext cx="7284795" cy="1138773"/>
          </a:xfrm>
          <a:prstGeom prst="rect">
            <a:avLst/>
          </a:prstGeom>
        </p:spPr>
        <p:txBody>
          <a:bodyPr wrap="square">
            <a:spAutoFit/>
          </a:bodyPr>
          <a:lstStyle/>
          <a:p>
            <a:pPr marL="342900" indent="-342900">
              <a:buFont typeface="Arial" panose="020B0604020202020204" pitchFamily="34" charset="0"/>
              <a:buChar char="•"/>
            </a:pPr>
            <a:r>
              <a:rPr lang="zh-CN" altLang="en-US" sz="2400" dirty="0">
                <a:solidFill>
                  <a:srgbClr val="1A93C8"/>
                </a:solidFill>
                <a:latin typeface="+mn-lt"/>
                <a:ea typeface="+mn-ea"/>
                <a:sym typeface="Arial" panose="020B0604020202020204" pitchFamily="34" charset="0"/>
              </a:rPr>
              <a:t>数组</a:t>
            </a:r>
            <a:r>
              <a:rPr lang="en-US" altLang="zh-CN" sz="2400" dirty="0" err="1">
                <a:solidFill>
                  <a:srgbClr val="1A93C8"/>
                </a:solidFill>
                <a:latin typeface="+mn-lt"/>
                <a:ea typeface="+mn-ea"/>
                <a:sym typeface="Arial" panose="020B0604020202020204" pitchFamily="34" charset="0"/>
              </a:rPr>
              <a:t>int</a:t>
            </a:r>
            <a:r>
              <a:rPr lang="en-US" altLang="zh-CN" sz="2400" dirty="0">
                <a:solidFill>
                  <a:srgbClr val="1A93C8"/>
                </a:solidFill>
                <a:latin typeface="+mn-lt"/>
                <a:ea typeface="+mn-ea"/>
                <a:sym typeface="Arial" panose="020B0604020202020204" pitchFamily="34" charset="0"/>
              </a:rPr>
              <a:t> a[2][3][3]</a:t>
            </a:r>
            <a:r>
              <a:rPr lang="zh-CN" altLang="en-US" sz="2400" dirty="0">
                <a:solidFill>
                  <a:srgbClr val="1A93C8"/>
                </a:solidFill>
                <a:latin typeface="+mn-lt"/>
                <a:ea typeface="+mn-ea"/>
                <a:sym typeface="Arial" panose="020B0604020202020204" pitchFamily="34" charset="0"/>
              </a:rPr>
              <a:t>字内存中的排列规律：</a:t>
            </a:r>
            <a:endParaRPr lang="en-US" altLang="zh-CN" sz="2400" dirty="0">
              <a:solidFill>
                <a:srgbClr val="1A93C8"/>
              </a:solidFill>
              <a:latin typeface="+mn-lt"/>
              <a:ea typeface="+mn-ea"/>
              <a:sym typeface="Arial" panose="020B0604020202020204" pitchFamily="34" charset="0"/>
            </a:endParaRPr>
          </a:p>
          <a:p>
            <a:pPr marL="800100" lvl="1" indent="-342900">
              <a:buFont typeface="Wingdings" panose="05000000000000000000" pitchFamily="2" charset="2"/>
              <a:buChar char="ü"/>
            </a:pPr>
            <a:r>
              <a:rPr lang="zh-CN" altLang="en-US" sz="2000" dirty="0">
                <a:solidFill>
                  <a:srgbClr val="000000"/>
                </a:solidFill>
                <a:latin typeface="+mn-lt"/>
                <a:ea typeface="+mn-ea"/>
                <a:sym typeface="Arial" panose="020B0604020202020204" pitchFamily="34" charset="0"/>
              </a:rPr>
              <a:t>第一维的下标变化最慢，最右边的下标变化最快；</a:t>
            </a:r>
          </a:p>
          <a:p>
            <a:endParaRPr lang="zh-CN" altLang="en-US" sz="2400" dirty="0">
              <a:solidFill>
                <a:srgbClr val="1A93C8"/>
              </a:solidFill>
              <a:latin typeface="+mn-lt"/>
              <a:ea typeface="+mn-ea"/>
              <a:sym typeface="Arial" panose="020B0604020202020204" pitchFamily="34" charset="0"/>
            </a:endParaRPr>
          </a:p>
        </p:txBody>
      </p:sp>
    </p:spTree>
    <p:extLst>
      <p:ext uri="{BB962C8B-B14F-4D97-AF65-F5344CB8AC3E}">
        <p14:creationId xmlns:p14="http://schemas.microsoft.com/office/powerpoint/2010/main" val="80282279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85775" y="255588"/>
            <a:ext cx="8089900" cy="584200"/>
          </a:xfrm>
        </p:spPr>
        <p:txBody>
          <a:bodyPr>
            <a:normAutofit/>
          </a:bodyPr>
          <a:lstStyle/>
          <a:p>
            <a:r>
              <a:rPr lang="zh-CN" altLang="en-US" dirty="0">
                <a:solidFill>
                  <a:srgbClr val="7030A0"/>
                </a:solidFill>
              </a:rPr>
              <a:t>指针数组</a:t>
            </a:r>
            <a:r>
              <a:rPr lang="zh-CN" altLang="en-US" dirty="0"/>
              <a:t>的概念</a:t>
            </a:r>
          </a:p>
        </p:txBody>
      </p:sp>
      <p:sp>
        <p:nvSpPr>
          <p:cNvPr id="2" name="内容占位符 1"/>
          <p:cNvSpPr>
            <a:spLocks noGrp="1"/>
          </p:cNvSpPr>
          <p:nvPr>
            <p:ph idx="1"/>
          </p:nvPr>
        </p:nvSpPr>
        <p:spPr>
          <a:xfrm>
            <a:off x="267566" y="1062733"/>
            <a:ext cx="8089900" cy="5069619"/>
          </a:xfrm>
        </p:spPr>
        <p:txBody>
          <a:bodyPr/>
          <a:lstStyle/>
          <a:p>
            <a:pPr marL="342900" indent="-342900">
              <a:buFont typeface="Wingdings" panose="05000000000000000000" pitchFamily="2" charset="2"/>
              <a:buChar char="l"/>
            </a:pPr>
            <a:r>
              <a:rPr lang="zh-CN" altLang="en-US" sz="2000" b="1" dirty="0">
                <a:solidFill>
                  <a:srgbClr val="7030A0"/>
                </a:solidFill>
              </a:rPr>
              <a:t>指针数组：</a:t>
            </a:r>
            <a:r>
              <a:rPr lang="zh-CN" altLang="en-US" sz="2000" b="1" dirty="0">
                <a:solidFill>
                  <a:srgbClr val="030DCD"/>
                </a:solidFill>
              </a:rPr>
              <a:t>数组元素是某数据类型的指针</a:t>
            </a:r>
            <a:r>
              <a:rPr lang="zh-CN" altLang="en-US" sz="2000" b="1" dirty="0">
                <a:solidFill>
                  <a:srgbClr val="FF0000"/>
                </a:solidFill>
              </a:rPr>
              <a:t>；</a:t>
            </a:r>
            <a:endParaRPr lang="en-US" altLang="zh-CN" sz="2000" b="1" dirty="0">
              <a:solidFill>
                <a:srgbClr val="FF0000"/>
              </a:solidFill>
            </a:endParaRPr>
          </a:p>
          <a:p>
            <a:pPr marL="342900" indent="-342900">
              <a:buFont typeface="Wingdings" panose="05000000000000000000" pitchFamily="2" charset="2"/>
              <a:buChar char="l"/>
            </a:pPr>
            <a:r>
              <a:rPr lang="zh-CN" altLang="en-US" sz="2000" dirty="0" smtClean="0"/>
              <a:t>定义</a:t>
            </a:r>
            <a:r>
              <a:rPr lang="zh-CN" altLang="en-US" sz="2000" b="1" dirty="0">
                <a:solidFill>
                  <a:srgbClr val="7030A0"/>
                </a:solidFill>
              </a:rPr>
              <a:t>整型指针数组 </a:t>
            </a:r>
            <a:r>
              <a:rPr lang="en-US" altLang="zh-CN" sz="2000" b="1" dirty="0" err="1" smtClean="0">
                <a:solidFill>
                  <a:srgbClr val="996633"/>
                </a:solidFill>
              </a:rPr>
              <a:t>int</a:t>
            </a:r>
            <a:r>
              <a:rPr lang="zh-CN" altLang="en-US" sz="2000" b="1" dirty="0" smtClean="0">
                <a:solidFill>
                  <a:srgbClr val="996633"/>
                </a:solidFill>
              </a:rPr>
              <a:t>*</a:t>
            </a:r>
            <a:r>
              <a:rPr lang="en-US" altLang="zh-CN" sz="2000" b="1" dirty="0" smtClean="0">
                <a:solidFill>
                  <a:srgbClr val="996633"/>
                </a:solidFill>
              </a:rPr>
              <a:t> p[3</a:t>
            </a:r>
            <a:r>
              <a:rPr lang="en-US" altLang="zh-CN" sz="2000" b="1" dirty="0">
                <a:solidFill>
                  <a:srgbClr val="996633"/>
                </a:solidFill>
              </a:rPr>
              <a:t>];   </a:t>
            </a:r>
          </a:p>
          <a:p>
            <a:pPr marL="971550" lvl="1"/>
            <a:r>
              <a:rPr lang="en-US" altLang="zh-CN" sz="1600" dirty="0"/>
              <a:t> </a:t>
            </a:r>
            <a:r>
              <a:rPr lang="en-US" altLang="zh-CN" sz="1800" dirty="0">
                <a:solidFill>
                  <a:srgbClr val="7030A0"/>
                </a:solidFill>
              </a:rPr>
              <a:t>p</a:t>
            </a:r>
            <a:r>
              <a:rPr lang="zh-CN" altLang="en-US" sz="1800" dirty="0">
                <a:solidFill>
                  <a:srgbClr val="7030A0"/>
                </a:solidFill>
              </a:rPr>
              <a:t>是数组名，</a:t>
            </a:r>
            <a:r>
              <a:rPr lang="zh-CN" altLang="en-US" sz="1800" b="1" dirty="0">
                <a:solidFill>
                  <a:srgbClr val="030DCD"/>
                </a:solidFill>
              </a:rPr>
              <a:t>数组元素是整型指针；</a:t>
            </a:r>
            <a:endParaRPr lang="en-US" altLang="zh-CN" sz="1800" b="1" dirty="0">
              <a:solidFill>
                <a:srgbClr val="030DCD"/>
              </a:solidFill>
            </a:endParaRPr>
          </a:p>
          <a:p>
            <a:pPr marL="971550" lvl="1"/>
            <a:r>
              <a:rPr lang="zh-CN" altLang="en-US" sz="1800" dirty="0"/>
              <a:t>可以进行如下赋值运算</a:t>
            </a:r>
            <a:endParaRPr lang="en-US" altLang="zh-CN" sz="1800" dirty="0"/>
          </a:p>
          <a:p>
            <a:pPr marL="1200150" lvl="2"/>
            <a:r>
              <a:rPr lang="en-US" altLang="zh-CN" sz="1600" dirty="0" err="1"/>
              <a:t>int</a:t>
            </a:r>
            <a:r>
              <a:rPr lang="en-US" altLang="zh-CN" sz="1600" dirty="0"/>
              <a:t> </a:t>
            </a:r>
            <a:r>
              <a:rPr lang="en-US" altLang="zh-CN" sz="1600" dirty="0" smtClean="0"/>
              <a:t>a=33, b=44, c=55, *p[3]; </a:t>
            </a:r>
            <a:endParaRPr lang="en-US" altLang="zh-CN" sz="1600" dirty="0"/>
          </a:p>
          <a:p>
            <a:pPr marL="1200150" lvl="2"/>
            <a:r>
              <a:rPr lang="en-US" altLang="zh-CN" sz="1600" b="1" dirty="0">
                <a:solidFill>
                  <a:srgbClr val="006600"/>
                </a:solidFill>
              </a:rPr>
              <a:t>p[0]=&amp;a, p[1]=&amp;b, p[2]=&amp;c</a:t>
            </a:r>
            <a:r>
              <a:rPr lang="en-US" altLang="zh-CN" sz="1600" b="1" dirty="0" smtClean="0">
                <a:solidFill>
                  <a:srgbClr val="006600"/>
                </a:solidFill>
              </a:rPr>
              <a:t>;</a:t>
            </a:r>
          </a:p>
          <a:p>
            <a:pPr marL="1200150" lvl="2"/>
            <a:r>
              <a:rPr lang="zh-CN" altLang="en-US" sz="1600" b="1" i="1" u="sng" dirty="0" smtClean="0">
                <a:solidFill>
                  <a:srgbClr val="7030A0"/>
                </a:solidFill>
              </a:rPr>
              <a:t>*</a:t>
            </a:r>
            <a:r>
              <a:rPr lang="en-US" altLang="zh-CN" sz="1600" b="1" i="1" u="sng" dirty="0" smtClean="0">
                <a:solidFill>
                  <a:srgbClr val="7030A0"/>
                </a:solidFill>
              </a:rPr>
              <a:t>p[0]</a:t>
            </a:r>
            <a:r>
              <a:rPr lang="en-US" altLang="zh-CN" sz="1600" b="1" i="1" u="sng" dirty="0" smtClean="0">
                <a:solidFill>
                  <a:srgbClr val="7030A0"/>
                </a:solidFill>
                <a:sym typeface="Wingdings" panose="05000000000000000000" pitchFamily="2" charset="2"/>
              </a:rPr>
              <a:t>a</a:t>
            </a:r>
            <a:r>
              <a:rPr lang="zh-CN" altLang="en-US" sz="1600" b="1" i="1" u="sng" dirty="0">
                <a:solidFill>
                  <a:srgbClr val="7030A0"/>
                </a:solidFill>
                <a:sym typeface="Wingdings" panose="05000000000000000000" pitchFamily="2" charset="2"/>
              </a:rPr>
              <a:t>，</a:t>
            </a:r>
            <a:r>
              <a:rPr lang="zh-CN" altLang="en-US" sz="1600" b="1" i="1" u="sng" dirty="0" smtClean="0">
                <a:solidFill>
                  <a:srgbClr val="7030A0"/>
                </a:solidFill>
              </a:rPr>
              <a:t>*</a:t>
            </a:r>
            <a:r>
              <a:rPr lang="en-US" altLang="zh-CN" sz="1600" b="1" i="1" u="sng" dirty="0" smtClean="0">
                <a:solidFill>
                  <a:srgbClr val="7030A0"/>
                </a:solidFill>
              </a:rPr>
              <a:t>p[1]</a:t>
            </a:r>
            <a:r>
              <a:rPr lang="en-US" altLang="zh-CN" sz="1600" b="1" i="1" u="sng" dirty="0" smtClean="0">
                <a:solidFill>
                  <a:srgbClr val="7030A0"/>
                </a:solidFill>
                <a:sym typeface="Wingdings" panose="05000000000000000000" pitchFamily="2" charset="2"/>
              </a:rPr>
              <a:t>b</a:t>
            </a:r>
            <a:r>
              <a:rPr lang="zh-CN" altLang="en-US" sz="1600" b="1" i="1" u="sng" dirty="0" smtClean="0">
                <a:solidFill>
                  <a:srgbClr val="7030A0"/>
                </a:solidFill>
                <a:sym typeface="Wingdings" panose="05000000000000000000" pitchFamily="2" charset="2"/>
              </a:rPr>
              <a:t>，</a:t>
            </a:r>
            <a:r>
              <a:rPr lang="zh-CN" altLang="en-US" sz="1600" b="1" i="1" u="sng" dirty="0">
                <a:solidFill>
                  <a:srgbClr val="7030A0"/>
                </a:solidFill>
              </a:rPr>
              <a:t> *</a:t>
            </a:r>
            <a:r>
              <a:rPr lang="en-US" altLang="zh-CN" sz="1600" b="1" i="1" u="sng" dirty="0" smtClean="0">
                <a:solidFill>
                  <a:srgbClr val="7030A0"/>
                </a:solidFill>
              </a:rPr>
              <a:t>p[2]</a:t>
            </a:r>
            <a:r>
              <a:rPr lang="en-US" altLang="zh-CN" sz="1600" b="1" i="1" u="sng" dirty="0" smtClean="0">
                <a:solidFill>
                  <a:srgbClr val="7030A0"/>
                </a:solidFill>
                <a:sym typeface="Wingdings" panose="05000000000000000000" pitchFamily="2" charset="2"/>
              </a:rPr>
              <a:t>c</a:t>
            </a:r>
          </a:p>
          <a:p>
            <a:pPr marL="971550" lvl="1"/>
            <a:r>
              <a:rPr lang="en-US" altLang="zh-CN" sz="1600" b="1" dirty="0" smtClean="0">
                <a:solidFill>
                  <a:srgbClr val="C00000"/>
                </a:solidFill>
              </a:rPr>
              <a:t>p</a:t>
            </a:r>
            <a:r>
              <a:rPr lang="zh-CN" altLang="en-US" sz="1600" b="1" dirty="0" smtClean="0">
                <a:solidFill>
                  <a:srgbClr val="C00000"/>
                </a:solidFill>
              </a:rPr>
              <a:t>是一个二级指针，即指向指针的指针</a:t>
            </a:r>
            <a:endParaRPr lang="en-US" altLang="zh-CN" sz="1600" b="1" dirty="0">
              <a:solidFill>
                <a:srgbClr val="C00000"/>
              </a:solidFill>
            </a:endParaRPr>
          </a:p>
          <a:p>
            <a:pPr marL="342900" indent="-342900">
              <a:buFont typeface="Wingdings" panose="05000000000000000000" pitchFamily="2" charset="2"/>
              <a:buChar char="l"/>
            </a:pPr>
            <a:r>
              <a:rPr lang="zh-CN" altLang="en-US" sz="2000" dirty="0"/>
              <a:t>定义字符型</a:t>
            </a:r>
            <a:r>
              <a:rPr lang="zh-CN" altLang="en-US" sz="2000" b="1" dirty="0">
                <a:solidFill>
                  <a:srgbClr val="7030A0"/>
                </a:solidFill>
              </a:rPr>
              <a:t>指针数组 </a:t>
            </a:r>
            <a:r>
              <a:rPr lang="en-US" altLang="zh-CN" sz="2000" b="1" dirty="0">
                <a:solidFill>
                  <a:srgbClr val="7030A0"/>
                </a:solidFill>
              </a:rPr>
              <a:t>char *cp[3];   </a:t>
            </a:r>
          </a:p>
          <a:p>
            <a:pPr marL="971550" lvl="1"/>
            <a:r>
              <a:rPr lang="en-US" altLang="zh-CN" sz="1600" dirty="0"/>
              <a:t> </a:t>
            </a:r>
            <a:r>
              <a:rPr lang="en-US" altLang="zh-CN" sz="1800" dirty="0">
                <a:solidFill>
                  <a:srgbClr val="7030A0"/>
                </a:solidFill>
              </a:rPr>
              <a:t>p</a:t>
            </a:r>
            <a:r>
              <a:rPr lang="zh-CN" altLang="en-US" sz="1800" dirty="0">
                <a:solidFill>
                  <a:srgbClr val="7030A0"/>
                </a:solidFill>
              </a:rPr>
              <a:t>是数组名，</a:t>
            </a:r>
            <a:r>
              <a:rPr lang="zh-CN" altLang="en-US" sz="1800" b="1" dirty="0">
                <a:solidFill>
                  <a:srgbClr val="030DCD"/>
                </a:solidFill>
              </a:rPr>
              <a:t>数组元素是字符型指针；</a:t>
            </a:r>
            <a:endParaRPr lang="en-US" altLang="zh-CN" sz="1800" b="1" dirty="0">
              <a:solidFill>
                <a:srgbClr val="030DCD"/>
              </a:solidFill>
            </a:endParaRPr>
          </a:p>
          <a:p>
            <a:pPr marL="971550" lvl="1"/>
            <a:r>
              <a:rPr lang="zh-CN" altLang="en-US" sz="1800" dirty="0"/>
              <a:t>可以进行如下赋值运算</a:t>
            </a:r>
            <a:endParaRPr lang="en-US" altLang="zh-CN" sz="1800" dirty="0"/>
          </a:p>
          <a:p>
            <a:pPr marL="1200150" lvl="2"/>
            <a:r>
              <a:rPr lang="en-US" altLang="zh-CN" sz="1600" dirty="0"/>
              <a:t>char  </a:t>
            </a:r>
            <a:r>
              <a:rPr lang="en-US" altLang="zh-CN" sz="1600" dirty="0" err="1" smtClean="0"/>
              <a:t>a,b,c</a:t>
            </a:r>
            <a:r>
              <a:rPr lang="en-US" altLang="zh-CN" sz="1600" dirty="0" smtClean="0"/>
              <a:t>, *</a:t>
            </a:r>
            <a:r>
              <a:rPr lang="en-US" altLang="zh-CN" sz="1600" dirty="0" err="1" smtClean="0"/>
              <a:t>cp</a:t>
            </a:r>
            <a:r>
              <a:rPr lang="en-US" altLang="zh-CN" sz="1600" dirty="0" smtClean="0"/>
              <a:t>[3];</a:t>
            </a:r>
            <a:endParaRPr lang="en-US" altLang="zh-CN" sz="1600" dirty="0"/>
          </a:p>
          <a:p>
            <a:pPr marL="1200150" lvl="2"/>
            <a:r>
              <a:rPr lang="en-US" altLang="zh-CN" sz="1600" b="1" dirty="0">
                <a:solidFill>
                  <a:srgbClr val="006600"/>
                </a:solidFill>
              </a:rPr>
              <a:t>cp[0]=&amp;a, cp[1]=&amp;b, cp[2]=&amp;c; </a:t>
            </a:r>
            <a:endParaRPr lang="en-US" altLang="zh-CN" sz="1600" b="1" dirty="0" smtClean="0">
              <a:solidFill>
                <a:srgbClr val="006600"/>
              </a:solidFill>
            </a:endParaRPr>
          </a:p>
          <a:p>
            <a:pPr marL="1200150" lvl="2"/>
            <a:r>
              <a:rPr lang="zh-CN" altLang="en-US" sz="1600" b="1" i="1" u="sng" dirty="0" smtClean="0">
                <a:solidFill>
                  <a:srgbClr val="7030A0"/>
                </a:solidFill>
              </a:rPr>
              <a:t>*</a:t>
            </a:r>
            <a:r>
              <a:rPr lang="en-US" altLang="zh-CN" sz="1600" b="1" i="1" u="sng" dirty="0" err="1" smtClean="0">
                <a:solidFill>
                  <a:srgbClr val="7030A0"/>
                </a:solidFill>
              </a:rPr>
              <a:t>cp</a:t>
            </a:r>
            <a:r>
              <a:rPr lang="en-US" altLang="zh-CN" sz="1600" b="1" i="1" u="sng" dirty="0" smtClean="0">
                <a:solidFill>
                  <a:srgbClr val="7030A0"/>
                </a:solidFill>
              </a:rPr>
              <a:t>[0</a:t>
            </a:r>
            <a:r>
              <a:rPr lang="en-US" altLang="zh-CN" sz="1600" b="1" i="1" u="sng" dirty="0">
                <a:solidFill>
                  <a:srgbClr val="7030A0"/>
                </a:solidFill>
              </a:rPr>
              <a:t>]</a:t>
            </a:r>
            <a:r>
              <a:rPr lang="en-US" altLang="zh-CN" sz="1600" b="1" i="1" u="sng" dirty="0">
                <a:solidFill>
                  <a:srgbClr val="7030A0"/>
                </a:solidFill>
                <a:sym typeface="Wingdings" panose="05000000000000000000" pitchFamily="2" charset="2"/>
              </a:rPr>
              <a:t>a</a:t>
            </a:r>
            <a:r>
              <a:rPr lang="zh-CN" altLang="en-US" sz="1600" b="1" i="1" u="sng" dirty="0">
                <a:solidFill>
                  <a:srgbClr val="7030A0"/>
                </a:solidFill>
                <a:sym typeface="Wingdings" panose="05000000000000000000" pitchFamily="2" charset="2"/>
              </a:rPr>
              <a:t>，</a:t>
            </a:r>
            <a:r>
              <a:rPr lang="zh-CN" altLang="en-US" sz="1600" b="1" i="1" u="sng" dirty="0" smtClean="0">
                <a:solidFill>
                  <a:srgbClr val="7030A0"/>
                </a:solidFill>
              </a:rPr>
              <a:t>*</a:t>
            </a:r>
            <a:r>
              <a:rPr lang="en-US" altLang="zh-CN" sz="1600" b="1" i="1" u="sng" dirty="0" err="1" smtClean="0">
                <a:solidFill>
                  <a:srgbClr val="7030A0"/>
                </a:solidFill>
              </a:rPr>
              <a:t>cp</a:t>
            </a:r>
            <a:r>
              <a:rPr lang="en-US" altLang="zh-CN" sz="1600" b="1" i="1" u="sng" dirty="0" smtClean="0">
                <a:solidFill>
                  <a:srgbClr val="7030A0"/>
                </a:solidFill>
              </a:rPr>
              <a:t>[1</a:t>
            </a:r>
            <a:r>
              <a:rPr lang="en-US" altLang="zh-CN" sz="1600" b="1" i="1" u="sng" dirty="0">
                <a:solidFill>
                  <a:srgbClr val="7030A0"/>
                </a:solidFill>
              </a:rPr>
              <a:t>]</a:t>
            </a:r>
            <a:r>
              <a:rPr lang="en-US" altLang="zh-CN" sz="1600" b="1" i="1" u="sng" dirty="0">
                <a:solidFill>
                  <a:srgbClr val="7030A0"/>
                </a:solidFill>
                <a:sym typeface="Wingdings" panose="05000000000000000000" pitchFamily="2" charset="2"/>
              </a:rPr>
              <a:t>b</a:t>
            </a:r>
            <a:r>
              <a:rPr lang="zh-CN" altLang="en-US" sz="1600" b="1" i="1" u="sng" dirty="0">
                <a:solidFill>
                  <a:srgbClr val="7030A0"/>
                </a:solidFill>
                <a:sym typeface="Wingdings" panose="05000000000000000000" pitchFamily="2" charset="2"/>
              </a:rPr>
              <a:t>，</a:t>
            </a:r>
            <a:r>
              <a:rPr lang="zh-CN" altLang="en-US" sz="1600" b="1" i="1" u="sng" dirty="0">
                <a:solidFill>
                  <a:srgbClr val="7030A0"/>
                </a:solidFill>
              </a:rPr>
              <a:t> </a:t>
            </a:r>
            <a:r>
              <a:rPr lang="zh-CN" altLang="en-US" sz="1600" b="1" i="1" u="sng" dirty="0" smtClean="0">
                <a:solidFill>
                  <a:srgbClr val="7030A0"/>
                </a:solidFill>
              </a:rPr>
              <a:t>*</a:t>
            </a:r>
            <a:r>
              <a:rPr lang="en-US" altLang="zh-CN" sz="1600" b="1" i="1" u="sng" dirty="0" err="1" smtClean="0">
                <a:solidFill>
                  <a:srgbClr val="7030A0"/>
                </a:solidFill>
              </a:rPr>
              <a:t>cp</a:t>
            </a:r>
            <a:r>
              <a:rPr lang="en-US" altLang="zh-CN" sz="1600" b="1" i="1" u="sng" dirty="0" smtClean="0">
                <a:solidFill>
                  <a:srgbClr val="7030A0"/>
                </a:solidFill>
              </a:rPr>
              <a:t>[2</a:t>
            </a:r>
            <a:r>
              <a:rPr lang="en-US" altLang="zh-CN" sz="1600" b="1" i="1" u="sng" dirty="0">
                <a:solidFill>
                  <a:srgbClr val="7030A0"/>
                </a:solidFill>
              </a:rPr>
              <a:t>]</a:t>
            </a:r>
            <a:r>
              <a:rPr lang="en-US" altLang="zh-CN" sz="1600" b="1" i="1" u="sng" dirty="0">
                <a:solidFill>
                  <a:srgbClr val="7030A0"/>
                </a:solidFill>
                <a:sym typeface="Wingdings" panose="05000000000000000000" pitchFamily="2" charset="2"/>
              </a:rPr>
              <a:t>c</a:t>
            </a:r>
            <a:endParaRPr lang="en-US" altLang="zh-CN" sz="1600" b="1" i="1" u="sng" dirty="0">
              <a:solidFill>
                <a:srgbClr val="7030A0"/>
              </a:solidFill>
            </a:endParaRPr>
          </a:p>
          <a:p>
            <a:pPr marL="971550" lvl="1"/>
            <a:r>
              <a:rPr lang="en-US" altLang="zh-CN" sz="1600" b="1" dirty="0" err="1">
                <a:solidFill>
                  <a:srgbClr val="C00000"/>
                </a:solidFill>
              </a:rPr>
              <a:t>cp</a:t>
            </a:r>
            <a:r>
              <a:rPr lang="zh-CN" altLang="en-US" sz="1600" b="1" dirty="0">
                <a:solidFill>
                  <a:srgbClr val="C00000"/>
                </a:solidFill>
              </a:rPr>
              <a:t>是一个二级指针</a:t>
            </a:r>
            <a:endParaRPr lang="en-US" altLang="zh-CN" sz="1600" b="1" dirty="0">
              <a:solidFill>
                <a:srgbClr val="C00000"/>
              </a:solidFill>
            </a:endParaRPr>
          </a:p>
          <a:p>
            <a:pPr marL="342900" indent="-342900">
              <a:buFont typeface="Wingdings" panose="05000000000000000000" pitchFamily="2" charset="2"/>
              <a:buChar char="l"/>
            </a:pPr>
            <a:endParaRPr lang="en-US" altLang="zh-CN" sz="2000" dirty="0"/>
          </a:p>
          <a:p>
            <a:pPr marL="342900" indent="-342900">
              <a:buFont typeface="Wingdings" panose="05000000000000000000" pitchFamily="2" charset="2"/>
              <a:buChar char="l"/>
            </a:pPr>
            <a:endParaRPr lang="en-US" altLang="zh-CN" sz="2000" dirty="0"/>
          </a:p>
        </p:txBody>
      </p:sp>
    </p:spTree>
    <p:extLst>
      <p:ext uri="{BB962C8B-B14F-4D97-AF65-F5344CB8AC3E}">
        <p14:creationId xmlns:p14="http://schemas.microsoft.com/office/powerpoint/2010/main" val="337968004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进阶（超纲）：</a:t>
            </a:r>
            <a:r>
              <a:rPr lang="zh-CN" altLang="en-US" dirty="0" smtClean="0"/>
              <a:t>二</a:t>
            </a:r>
            <a:r>
              <a:rPr lang="zh-CN" altLang="en-US" dirty="0"/>
              <a:t>级指针的</a:t>
            </a:r>
            <a:r>
              <a:rPr lang="zh-CN" altLang="en-US" dirty="0" smtClean="0"/>
              <a:t>概念</a:t>
            </a:r>
            <a:endParaRPr lang="zh-CN" altLang="en-US" dirty="0"/>
          </a:p>
        </p:txBody>
      </p:sp>
      <p:sp>
        <p:nvSpPr>
          <p:cNvPr id="3" name="内容占位符 2"/>
          <p:cNvSpPr>
            <a:spLocks noGrp="1"/>
          </p:cNvSpPr>
          <p:nvPr>
            <p:ph idx="1"/>
          </p:nvPr>
        </p:nvSpPr>
        <p:spPr>
          <a:xfrm>
            <a:off x="485774" y="1135063"/>
            <a:ext cx="8429625" cy="5201729"/>
          </a:xfrm>
        </p:spPr>
        <p:txBody>
          <a:bodyPr/>
          <a:lstStyle/>
          <a:p>
            <a:pPr marL="342000" indent="-342900">
              <a:buFont typeface="Wingdings" panose="05000000000000000000" pitchFamily="2" charset="2"/>
              <a:buChar char="l"/>
            </a:pPr>
            <a:r>
              <a:rPr lang="en-US" altLang="zh-CN" dirty="0" err="1">
                <a:solidFill>
                  <a:srgbClr val="030DCD"/>
                </a:solidFill>
              </a:rPr>
              <a:t>int</a:t>
            </a:r>
            <a:r>
              <a:rPr lang="en-US" altLang="zh-CN" dirty="0">
                <a:solidFill>
                  <a:srgbClr val="030DCD"/>
                </a:solidFill>
              </a:rPr>
              <a:t>  </a:t>
            </a:r>
            <a:r>
              <a:rPr lang="en-US" altLang="zh-CN" dirty="0" err="1">
                <a:solidFill>
                  <a:srgbClr val="030DCD"/>
                </a:solidFill>
              </a:rPr>
              <a:t>i</a:t>
            </a:r>
            <a:r>
              <a:rPr lang="en-US" altLang="zh-CN" dirty="0">
                <a:solidFill>
                  <a:srgbClr val="030DCD"/>
                </a:solidFill>
              </a:rPr>
              <a:t>, *p,  **pp</a:t>
            </a:r>
            <a:r>
              <a:rPr lang="zh-CN" altLang="en-US" dirty="0">
                <a:solidFill>
                  <a:srgbClr val="030DCD"/>
                </a:solidFill>
              </a:rPr>
              <a:t>；</a:t>
            </a:r>
            <a:r>
              <a:rPr lang="en-US" altLang="zh-CN" dirty="0">
                <a:solidFill>
                  <a:srgbClr val="030DCD"/>
                </a:solidFill>
              </a:rPr>
              <a:t>  </a:t>
            </a:r>
          </a:p>
          <a:p>
            <a:pPr marL="970650" lvl="1"/>
            <a:r>
              <a:rPr lang="zh-CN" altLang="en-US" dirty="0">
                <a:solidFill>
                  <a:srgbClr val="030DCD"/>
                </a:solidFill>
              </a:rPr>
              <a:t>定义整型二级指针</a:t>
            </a:r>
            <a:r>
              <a:rPr lang="en-US" altLang="zh-CN" dirty="0">
                <a:solidFill>
                  <a:srgbClr val="030DCD"/>
                </a:solidFill>
              </a:rPr>
              <a:t>pp</a:t>
            </a:r>
            <a:r>
              <a:rPr lang="zh-CN" altLang="en-US" dirty="0">
                <a:solidFill>
                  <a:srgbClr val="030DCD"/>
                </a:solidFill>
              </a:rPr>
              <a:t>；</a:t>
            </a:r>
            <a:endParaRPr lang="en-US" altLang="zh-CN" dirty="0">
              <a:solidFill>
                <a:srgbClr val="030DCD"/>
              </a:solidFill>
            </a:endParaRPr>
          </a:p>
          <a:p>
            <a:pPr marL="342000" indent="-342900">
              <a:buFont typeface="Wingdings" panose="05000000000000000000" pitchFamily="2" charset="2"/>
              <a:buChar char="l"/>
            </a:pPr>
            <a:r>
              <a:rPr lang="zh-CN" altLang="en-US" dirty="0">
                <a:solidFill>
                  <a:srgbClr val="030DCD"/>
                </a:solidFill>
              </a:rPr>
              <a:t>若有如下赋值语句</a:t>
            </a:r>
            <a:endParaRPr lang="en-US" altLang="zh-CN" dirty="0">
              <a:solidFill>
                <a:srgbClr val="030DCD"/>
              </a:solidFill>
            </a:endParaRPr>
          </a:p>
          <a:p>
            <a:pPr marL="970650" lvl="1"/>
            <a:r>
              <a:rPr lang="en-US" altLang="zh-CN" dirty="0">
                <a:solidFill>
                  <a:srgbClr val="C00000"/>
                </a:solidFill>
              </a:rPr>
              <a:t>p=&amp;</a:t>
            </a:r>
            <a:r>
              <a:rPr lang="en-US" altLang="zh-CN" dirty="0" err="1">
                <a:solidFill>
                  <a:srgbClr val="C00000"/>
                </a:solidFill>
              </a:rPr>
              <a:t>i</a:t>
            </a:r>
            <a:r>
              <a:rPr lang="en-US" altLang="zh-CN" dirty="0">
                <a:solidFill>
                  <a:srgbClr val="C00000"/>
                </a:solidFill>
              </a:rPr>
              <a:t>;</a:t>
            </a:r>
          </a:p>
          <a:p>
            <a:pPr marL="970650" lvl="1"/>
            <a:r>
              <a:rPr lang="en-US" altLang="zh-CN" dirty="0">
                <a:solidFill>
                  <a:srgbClr val="C00000"/>
                </a:solidFill>
              </a:rPr>
              <a:t> pp=&amp;p;</a:t>
            </a:r>
            <a:r>
              <a:rPr lang="zh-CN" altLang="en-US" dirty="0">
                <a:solidFill>
                  <a:srgbClr val="C00000"/>
                </a:solidFill>
              </a:rPr>
              <a:t> </a:t>
            </a:r>
            <a:endParaRPr lang="en-US" altLang="zh-CN" dirty="0">
              <a:solidFill>
                <a:srgbClr val="C00000"/>
              </a:solidFill>
            </a:endParaRPr>
          </a:p>
          <a:p>
            <a:pPr marL="970650" lvl="1"/>
            <a:r>
              <a:rPr lang="zh-CN" altLang="en-US" i="1" u="sng" dirty="0">
                <a:solidFill>
                  <a:srgbClr val="C00000"/>
                </a:solidFill>
              </a:rPr>
              <a:t>则  </a:t>
            </a:r>
            <a:r>
              <a:rPr lang="en-US" altLang="zh-CN" i="1" u="sng" dirty="0" err="1">
                <a:solidFill>
                  <a:srgbClr val="C00000"/>
                </a:solidFill>
              </a:rPr>
              <a:t>i</a:t>
            </a:r>
            <a:r>
              <a:rPr lang="en-US" altLang="zh-CN" i="1" u="sng" dirty="0">
                <a:solidFill>
                  <a:srgbClr val="C00000"/>
                </a:solidFill>
              </a:rPr>
              <a:t>,*p, **pp</a:t>
            </a:r>
            <a:r>
              <a:rPr lang="zh-CN" altLang="en-US" i="1" u="sng" dirty="0">
                <a:solidFill>
                  <a:srgbClr val="C00000"/>
                </a:solidFill>
              </a:rPr>
              <a:t>是等价的</a:t>
            </a:r>
            <a:r>
              <a:rPr lang="zh-CN" altLang="en-US" i="1" u="sng" dirty="0" smtClean="0">
                <a:solidFill>
                  <a:srgbClr val="C00000"/>
                </a:solidFill>
              </a:rPr>
              <a:t>；</a:t>
            </a:r>
            <a:endParaRPr lang="en-US" altLang="zh-CN" i="1" u="sng" dirty="0" smtClean="0">
              <a:solidFill>
                <a:srgbClr val="C00000"/>
              </a:solidFill>
            </a:endParaRPr>
          </a:p>
          <a:p>
            <a:pPr marL="342000"/>
            <a:endParaRPr lang="en-US" altLang="zh-CN" dirty="0"/>
          </a:p>
        </p:txBody>
      </p:sp>
      <p:graphicFrame>
        <p:nvGraphicFramePr>
          <p:cNvPr id="5" name="表格 4">
            <a:extLst>
              <a:ext uri="{FF2B5EF4-FFF2-40B4-BE49-F238E27FC236}">
                <a16:creationId xmlns:a16="http://schemas.microsoft.com/office/drawing/2014/main" id="{A59B6715-9FAD-4DF5-86E2-20CA7B3EB603}"/>
              </a:ext>
            </a:extLst>
          </p:cNvPr>
          <p:cNvGraphicFramePr>
            <a:graphicFrameLocks noGrp="1"/>
          </p:cNvGraphicFramePr>
          <p:nvPr>
            <p:extLst/>
          </p:nvPr>
        </p:nvGraphicFramePr>
        <p:xfrm>
          <a:off x="5915555" y="1605952"/>
          <a:ext cx="925512" cy="4247318"/>
        </p:xfrm>
        <a:graphic>
          <a:graphicData uri="http://schemas.openxmlformats.org/drawingml/2006/table">
            <a:tbl>
              <a:tblPr firstRow="1" bandRow="1">
                <a:tableStyleId>{5C22544A-7EE6-4342-B048-85BDC9FD1C3A}</a:tableStyleId>
              </a:tblPr>
              <a:tblGrid>
                <a:gridCol w="925512">
                  <a:extLst>
                    <a:ext uri="{9D8B030D-6E8A-4147-A177-3AD203B41FA5}">
                      <a16:colId xmlns:a16="http://schemas.microsoft.com/office/drawing/2014/main" val="3884803815"/>
                    </a:ext>
                  </a:extLst>
                </a:gridCol>
              </a:tblGrid>
              <a:tr h="521085">
                <a:tc>
                  <a:txBody>
                    <a:bodyPr/>
                    <a:lstStyle/>
                    <a:p>
                      <a:r>
                        <a:rPr lang="en-US" altLang="zh-CN" sz="1800" kern="1200" dirty="0">
                          <a:solidFill>
                            <a:srgbClr val="000000"/>
                          </a:solidFill>
                          <a:latin typeface="+mn-lt"/>
                          <a:ea typeface="+mn-ea"/>
                          <a:cs typeface="+mn-cs"/>
                        </a:rPr>
                        <a:t>  ….</a:t>
                      </a:r>
                      <a:endParaRPr lang="zh-CN" altLang="en-US" sz="180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532319">
                <a:tc>
                  <a:txBody>
                    <a:bodyPr/>
                    <a:lstStyle/>
                    <a:p>
                      <a:r>
                        <a:rPr lang="en-US" altLang="zh-CN" dirty="0">
                          <a:solidFill>
                            <a:srgbClr val="000000"/>
                          </a:solidFill>
                        </a:rPr>
                        <a:t>  678</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532319">
                <a:tc>
                  <a:txBody>
                    <a:bodyPr/>
                    <a:lstStyle/>
                    <a:p>
                      <a:r>
                        <a:rPr lang="en-US" altLang="zh-CN" dirty="0">
                          <a:solidFill>
                            <a:srgbClr val="000000"/>
                          </a:solidFill>
                        </a:rPr>
                        <a:t>  ….</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532319">
                <a:tc>
                  <a:txBody>
                    <a:bodyPr/>
                    <a:lstStyle/>
                    <a:p>
                      <a:r>
                        <a:rPr lang="en-US" altLang="zh-CN" dirty="0">
                          <a:solidFill>
                            <a:srgbClr val="000000"/>
                          </a:solidFill>
                        </a:rPr>
                        <a:t>   …</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532319">
                <a:tc>
                  <a:txBody>
                    <a:bodyPr/>
                    <a:lstStyle/>
                    <a:p>
                      <a:r>
                        <a:rPr lang="en-US" altLang="zh-CN" dirty="0">
                          <a:solidFill>
                            <a:srgbClr val="000000"/>
                          </a:solidFill>
                        </a:rPr>
                        <a:t>   1000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532319">
                <a:tc>
                  <a:txBody>
                    <a:bodyPr/>
                    <a:lstStyle/>
                    <a:p>
                      <a:r>
                        <a:rPr lang="en-US" altLang="zh-CN" dirty="0">
                          <a:solidFill>
                            <a:srgbClr val="000000"/>
                          </a:solidFill>
                        </a:rPr>
                        <a:t>   …..</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53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rPr>
                        <a:t>  2000</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532319">
                <a:tc>
                  <a:txBody>
                    <a:bodyPr/>
                    <a:lstStyle/>
                    <a:p>
                      <a:r>
                        <a:rPr lang="en-US" altLang="zh-CN" dirty="0">
                          <a:solidFill>
                            <a:srgbClr val="000000"/>
                          </a:solidFill>
                        </a:rPr>
                        <a:t> …..</a:t>
                      </a:r>
                      <a:endParaRPr lang="zh-CN" alt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6" name="文本框 5">
            <a:extLst>
              <a:ext uri="{FF2B5EF4-FFF2-40B4-BE49-F238E27FC236}">
                <a16:creationId xmlns:a16="http://schemas.microsoft.com/office/drawing/2014/main" id="{E0A59B83-10E9-4630-99E6-C2ED2E41A7EC}"/>
              </a:ext>
            </a:extLst>
          </p:cNvPr>
          <p:cNvSpPr txBox="1"/>
          <p:nvPr/>
        </p:nvSpPr>
        <p:spPr>
          <a:xfrm>
            <a:off x="4691254" y="2079281"/>
            <a:ext cx="683201" cy="369332"/>
          </a:xfrm>
          <a:prstGeom prst="rect">
            <a:avLst/>
          </a:prstGeom>
          <a:noFill/>
        </p:spPr>
        <p:txBody>
          <a:bodyPr wrap="square" rtlCol="0">
            <a:spAutoFit/>
          </a:bodyPr>
          <a:lstStyle/>
          <a:p>
            <a:r>
              <a:rPr lang="en-US" altLang="zh-CN" dirty="0">
                <a:solidFill>
                  <a:srgbClr val="000000"/>
                </a:solidFill>
                <a:latin typeface="+mn-ea"/>
              </a:rPr>
              <a:t> </a:t>
            </a:r>
            <a:r>
              <a:rPr lang="en-US" altLang="zh-CN" dirty="0" err="1">
                <a:solidFill>
                  <a:srgbClr val="000000"/>
                </a:solidFill>
                <a:latin typeface="+mn-ea"/>
              </a:rPr>
              <a:t>i</a:t>
            </a:r>
            <a:endParaRPr lang="en-US" altLang="zh-CN" dirty="0">
              <a:solidFill>
                <a:srgbClr val="000000"/>
              </a:solidFill>
              <a:latin typeface="+mn-ea"/>
            </a:endParaRPr>
          </a:p>
        </p:txBody>
      </p:sp>
      <p:sp>
        <p:nvSpPr>
          <p:cNvPr id="7" name="文本框 6">
            <a:extLst>
              <a:ext uri="{FF2B5EF4-FFF2-40B4-BE49-F238E27FC236}">
                <a16:creationId xmlns:a16="http://schemas.microsoft.com/office/drawing/2014/main" id="{E0A59B83-10E9-4630-99E6-C2ED2E41A7EC}"/>
              </a:ext>
            </a:extLst>
          </p:cNvPr>
          <p:cNvSpPr txBox="1"/>
          <p:nvPr/>
        </p:nvSpPr>
        <p:spPr>
          <a:xfrm>
            <a:off x="4651906" y="3674134"/>
            <a:ext cx="683201" cy="369332"/>
          </a:xfrm>
          <a:prstGeom prst="rect">
            <a:avLst/>
          </a:prstGeom>
          <a:noFill/>
        </p:spPr>
        <p:txBody>
          <a:bodyPr wrap="square" rtlCol="0">
            <a:spAutoFit/>
          </a:bodyPr>
          <a:lstStyle/>
          <a:p>
            <a:r>
              <a:rPr lang="en-US" altLang="zh-CN" dirty="0">
                <a:solidFill>
                  <a:srgbClr val="000000"/>
                </a:solidFill>
                <a:latin typeface="+mn-ea"/>
              </a:rPr>
              <a:t> p</a:t>
            </a:r>
          </a:p>
        </p:txBody>
      </p:sp>
      <p:sp>
        <p:nvSpPr>
          <p:cNvPr id="8" name="文本框 7">
            <a:extLst>
              <a:ext uri="{FF2B5EF4-FFF2-40B4-BE49-F238E27FC236}">
                <a16:creationId xmlns:a16="http://schemas.microsoft.com/office/drawing/2014/main" id="{E0A59B83-10E9-4630-99E6-C2ED2E41A7EC}"/>
              </a:ext>
            </a:extLst>
          </p:cNvPr>
          <p:cNvSpPr txBox="1"/>
          <p:nvPr/>
        </p:nvSpPr>
        <p:spPr>
          <a:xfrm>
            <a:off x="4530725" y="1037023"/>
            <a:ext cx="3844637" cy="369332"/>
          </a:xfrm>
          <a:prstGeom prst="rect">
            <a:avLst/>
          </a:prstGeom>
          <a:noFill/>
        </p:spPr>
        <p:txBody>
          <a:bodyPr wrap="square" rtlCol="0">
            <a:spAutoFit/>
          </a:bodyPr>
          <a:lstStyle/>
          <a:p>
            <a:r>
              <a:rPr lang="en-US" altLang="zh-CN" dirty="0">
                <a:solidFill>
                  <a:srgbClr val="000000"/>
                </a:solidFill>
                <a:latin typeface="+mn-ea"/>
              </a:rPr>
              <a:t> </a:t>
            </a:r>
            <a:r>
              <a:rPr lang="zh-CN" altLang="en-US" b="1" dirty="0">
                <a:solidFill>
                  <a:srgbClr val="000000"/>
                </a:solidFill>
                <a:latin typeface="+mn-ea"/>
                <a:ea typeface="+mn-ea"/>
              </a:rPr>
              <a:t>变量      内存单元  单元地址   </a:t>
            </a:r>
            <a:endParaRPr lang="en-US" altLang="zh-CN" b="1" dirty="0">
              <a:solidFill>
                <a:srgbClr val="000000"/>
              </a:solidFill>
              <a:latin typeface="+mn-ea"/>
              <a:ea typeface="+mn-ea"/>
            </a:endParaRPr>
          </a:p>
        </p:txBody>
      </p:sp>
      <p:sp>
        <p:nvSpPr>
          <p:cNvPr id="11" name="文本框 10">
            <a:extLst>
              <a:ext uri="{FF2B5EF4-FFF2-40B4-BE49-F238E27FC236}">
                <a16:creationId xmlns:a16="http://schemas.microsoft.com/office/drawing/2014/main" id="{E0A59B83-10E9-4630-99E6-C2ED2E41A7EC}"/>
              </a:ext>
            </a:extLst>
          </p:cNvPr>
          <p:cNvSpPr txBox="1"/>
          <p:nvPr/>
        </p:nvSpPr>
        <p:spPr>
          <a:xfrm>
            <a:off x="7082993" y="2129342"/>
            <a:ext cx="972224" cy="369332"/>
          </a:xfrm>
          <a:prstGeom prst="rect">
            <a:avLst/>
          </a:prstGeom>
          <a:noFill/>
        </p:spPr>
        <p:txBody>
          <a:bodyPr wrap="square" rtlCol="0">
            <a:spAutoFit/>
          </a:bodyPr>
          <a:lstStyle/>
          <a:p>
            <a:r>
              <a:rPr lang="en-US" altLang="zh-CN" dirty="0">
                <a:solidFill>
                  <a:srgbClr val="000000"/>
                </a:solidFill>
                <a:latin typeface="+mn-ea"/>
              </a:rPr>
              <a:t> 1000</a:t>
            </a:r>
          </a:p>
        </p:txBody>
      </p:sp>
      <p:sp>
        <p:nvSpPr>
          <p:cNvPr id="12" name="文本框 11">
            <a:extLst>
              <a:ext uri="{FF2B5EF4-FFF2-40B4-BE49-F238E27FC236}">
                <a16:creationId xmlns:a16="http://schemas.microsoft.com/office/drawing/2014/main" id="{E0A59B83-10E9-4630-99E6-C2ED2E41A7EC}"/>
              </a:ext>
            </a:extLst>
          </p:cNvPr>
          <p:cNvSpPr txBox="1"/>
          <p:nvPr/>
        </p:nvSpPr>
        <p:spPr>
          <a:xfrm>
            <a:off x="7100168" y="3788560"/>
            <a:ext cx="972224" cy="369332"/>
          </a:xfrm>
          <a:prstGeom prst="rect">
            <a:avLst/>
          </a:prstGeom>
          <a:noFill/>
        </p:spPr>
        <p:txBody>
          <a:bodyPr wrap="square" rtlCol="0">
            <a:spAutoFit/>
          </a:bodyPr>
          <a:lstStyle/>
          <a:p>
            <a:r>
              <a:rPr lang="en-US" altLang="zh-CN" dirty="0">
                <a:solidFill>
                  <a:srgbClr val="000000"/>
                </a:solidFill>
                <a:latin typeface="+mn-ea"/>
              </a:rPr>
              <a:t> 2000</a:t>
            </a:r>
          </a:p>
        </p:txBody>
      </p:sp>
      <p:sp>
        <p:nvSpPr>
          <p:cNvPr id="13" name="文本框 12">
            <a:extLst>
              <a:ext uri="{FF2B5EF4-FFF2-40B4-BE49-F238E27FC236}">
                <a16:creationId xmlns:a16="http://schemas.microsoft.com/office/drawing/2014/main" id="{E0A59B83-10E9-4630-99E6-C2ED2E41A7EC}"/>
              </a:ext>
            </a:extLst>
          </p:cNvPr>
          <p:cNvSpPr txBox="1"/>
          <p:nvPr/>
        </p:nvSpPr>
        <p:spPr>
          <a:xfrm>
            <a:off x="4682116" y="4803018"/>
            <a:ext cx="683201" cy="369332"/>
          </a:xfrm>
          <a:prstGeom prst="rect">
            <a:avLst/>
          </a:prstGeom>
          <a:noFill/>
        </p:spPr>
        <p:txBody>
          <a:bodyPr wrap="square" rtlCol="0">
            <a:spAutoFit/>
          </a:bodyPr>
          <a:lstStyle/>
          <a:p>
            <a:r>
              <a:rPr lang="en-US" altLang="zh-CN" dirty="0">
                <a:solidFill>
                  <a:srgbClr val="000000"/>
                </a:solidFill>
                <a:latin typeface="+mn-ea"/>
              </a:rPr>
              <a:t> pp</a:t>
            </a:r>
          </a:p>
        </p:txBody>
      </p:sp>
      <p:sp>
        <p:nvSpPr>
          <p:cNvPr id="14" name="文本框 13">
            <a:extLst>
              <a:ext uri="{FF2B5EF4-FFF2-40B4-BE49-F238E27FC236}">
                <a16:creationId xmlns:a16="http://schemas.microsoft.com/office/drawing/2014/main" id="{E0A59B83-10E9-4630-99E6-C2ED2E41A7EC}"/>
              </a:ext>
            </a:extLst>
          </p:cNvPr>
          <p:cNvSpPr txBox="1"/>
          <p:nvPr/>
        </p:nvSpPr>
        <p:spPr>
          <a:xfrm>
            <a:off x="7039168" y="4867393"/>
            <a:ext cx="972224" cy="369332"/>
          </a:xfrm>
          <a:prstGeom prst="rect">
            <a:avLst/>
          </a:prstGeom>
          <a:noFill/>
        </p:spPr>
        <p:txBody>
          <a:bodyPr wrap="square" rtlCol="0">
            <a:spAutoFit/>
          </a:bodyPr>
          <a:lstStyle/>
          <a:p>
            <a:r>
              <a:rPr lang="en-US" altLang="zh-CN" dirty="0">
                <a:solidFill>
                  <a:srgbClr val="000000"/>
                </a:solidFill>
                <a:latin typeface="+mn-ea"/>
              </a:rPr>
              <a:t> 2500</a:t>
            </a:r>
          </a:p>
        </p:txBody>
      </p:sp>
      <p:sp>
        <p:nvSpPr>
          <p:cNvPr id="23" name="左弧形箭头 22"/>
          <p:cNvSpPr/>
          <p:nvPr/>
        </p:nvSpPr>
        <p:spPr bwMode="auto">
          <a:xfrm flipV="1">
            <a:off x="5395527" y="3969325"/>
            <a:ext cx="477886" cy="1133498"/>
          </a:xfrm>
          <a:prstGeom prst="curved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左弧形箭头 23"/>
          <p:cNvSpPr/>
          <p:nvPr/>
        </p:nvSpPr>
        <p:spPr bwMode="auto">
          <a:xfrm flipV="1">
            <a:off x="5385474" y="2263947"/>
            <a:ext cx="496163" cy="1629395"/>
          </a:xfrm>
          <a:prstGeom prst="curved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6" name="直接箭头连接符 25"/>
          <p:cNvCxnSpPr/>
          <p:nvPr/>
        </p:nvCxnSpPr>
        <p:spPr bwMode="auto">
          <a:xfrm flipV="1">
            <a:off x="4935682" y="2546653"/>
            <a:ext cx="0" cy="1127481"/>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3" name="直接箭头连接符 32"/>
          <p:cNvCxnSpPr/>
          <p:nvPr/>
        </p:nvCxnSpPr>
        <p:spPr bwMode="auto">
          <a:xfrm flipV="1">
            <a:off x="4925291" y="4043467"/>
            <a:ext cx="0" cy="823926"/>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4" name="矩形 3"/>
          <p:cNvSpPr/>
          <p:nvPr/>
        </p:nvSpPr>
        <p:spPr>
          <a:xfrm>
            <a:off x="500851" y="4043466"/>
            <a:ext cx="3775393" cy="400110"/>
          </a:xfrm>
          <a:prstGeom prst="rect">
            <a:avLst/>
          </a:prstGeom>
        </p:spPr>
        <p:txBody>
          <a:bodyPr wrap="none">
            <a:spAutoFit/>
          </a:bodyPr>
          <a:lstStyle/>
          <a:p>
            <a:r>
              <a:rPr lang="zh-CN" altLang="en-US" sz="2000" b="1" dirty="0">
                <a:latin typeface="+mn-ea"/>
                <a:ea typeface="+mn-ea"/>
              </a:rPr>
              <a:t>二维数组名相当于一个</a:t>
            </a:r>
            <a:r>
              <a:rPr lang="zh-CN" altLang="en-US" sz="2000" b="1" dirty="0">
                <a:solidFill>
                  <a:srgbClr val="7030A0"/>
                </a:solidFill>
                <a:latin typeface="+mn-ea"/>
                <a:ea typeface="+mn-ea"/>
              </a:rPr>
              <a:t>二级指针</a:t>
            </a:r>
            <a:endParaRPr lang="zh-CN" altLang="en-US" sz="2000" b="1" dirty="0">
              <a:latin typeface="+mn-ea"/>
              <a:ea typeface="+mn-ea"/>
            </a:endParaRPr>
          </a:p>
        </p:txBody>
      </p:sp>
    </p:spTree>
    <p:extLst>
      <p:ext uri="{BB962C8B-B14F-4D97-AF65-F5344CB8AC3E}">
        <p14:creationId xmlns:p14="http://schemas.microsoft.com/office/powerpoint/2010/main" val="4119155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830" y="4224529"/>
            <a:ext cx="5715000" cy="1510145"/>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a:spLocks noGrp="1"/>
          </p:cNvSpPr>
          <p:nvPr>
            <p:ph type="title"/>
          </p:nvPr>
        </p:nvSpPr>
        <p:spPr>
          <a:xfrm>
            <a:off x="485775" y="255588"/>
            <a:ext cx="8089900" cy="584200"/>
          </a:xfrm>
        </p:spPr>
        <p:txBody>
          <a:bodyPr>
            <a:normAutofit/>
          </a:bodyPr>
          <a:lstStyle/>
          <a:p>
            <a:r>
              <a:rPr lang="zh-CN" altLang="en-US" dirty="0"/>
              <a:t>二维数组与指针数组</a:t>
            </a:r>
          </a:p>
        </p:txBody>
      </p:sp>
      <p:sp>
        <p:nvSpPr>
          <p:cNvPr id="2" name="内容占位符 1"/>
          <p:cNvSpPr>
            <a:spLocks noGrp="1"/>
          </p:cNvSpPr>
          <p:nvPr>
            <p:ph idx="1"/>
          </p:nvPr>
        </p:nvSpPr>
        <p:spPr>
          <a:xfrm>
            <a:off x="267566" y="1026097"/>
            <a:ext cx="8089900" cy="3125280"/>
          </a:xfrm>
        </p:spPr>
        <p:txBody>
          <a:bodyPr/>
          <a:lstStyle/>
          <a:p>
            <a:pPr marL="342900" indent="-342900">
              <a:buFont typeface="Wingdings" panose="05000000000000000000" pitchFamily="2" charset="2"/>
              <a:buChar char="l"/>
            </a:pPr>
            <a:r>
              <a:rPr lang="zh-CN" altLang="en-US" dirty="0">
                <a:solidFill>
                  <a:srgbClr val="9900FF"/>
                </a:solidFill>
              </a:rPr>
              <a:t>二维数组的理解：</a:t>
            </a:r>
          </a:p>
          <a:p>
            <a:pPr marL="971550" lvl="1"/>
            <a:r>
              <a:rPr lang="zh-CN" altLang="en-US" b="1" dirty="0" smtClean="0"/>
              <a:t>把</a:t>
            </a:r>
            <a:r>
              <a:rPr lang="zh-CN" altLang="en-US" b="1" dirty="0"/>
              <a:t>二维数组的</a:t>
            </a:r>
            <a:r>
              <a:rPr lang="zh-CN" altLang="en-US" b="1" dirty="0">
                <a:solidFill>
                  <a:srgbClr val="006600"/>
                </a:solidFill>
              </a:rPr>
              <a:t>每一行</a:t>
            </a:r>
            <a:r>
              <a:rPr lang="zh-CN" altLang="en-US" b="1" dirty="0"/>
              <a:t>理解为一个一维数组；</a:t>
            </a:r>
            <a:endParaRPr lang="en-US" altLang="zh-CN" b="1" dirty="0"/>
          </a:p>
          <a:p>
            <a:pPr marL="971550" lvl="1"/>
            <a:r>
              <a:rPr lang="zh-CN" altLang="en-US" dirty="0"/>
              <a:t>二维数组可以看作</a:t>
            </a:r>
            <a:r>
              <a:rPr lang="zh-CN" altLang="en-US" dirty="0">
                <a:solidFill>
                  <a:srgbClr val="FF3300"/>
                </a:solidFill>
              </a:rPr>
              <a:t>是数组元素为一维数组</a:t>
            </a:r>
            <a:r>
              <a:rPr lang="zh-CN" altLang="en-US" dirty="0"/>
              <a:t>的数组；</a:t>
            </a:r>
            <a:endParaRPr lang="en-US" altLang="zh-CN" dirty="0"/>
          </a:p>
          <a:p>
            <a:pPr marL="971550" lvl="1"/>
            <a:r>
              <a:rPr lang="zh-CN" altLang="en-US" dirty="0" smtClean="0">
                <a:solidFill>
                  <a:srgbClr val="030DCD"/>
                </a:solidFill>
              </a:rPr>
              <a:t>二</a:t>
            </a:r>
            <a:r>
              <a:rPr lang="zh-CN" altLang="en-US" dirty="0">
                <a:solidFill>
                  <a:srgbClr val="030DCD"/>
                </a:solidFill>
              </a:rPr>
              <a:t>维数组</a:t>
            </a:r>
            <a:r>
              <a:rPr lang="en-US" altLang="zh-CN" dirty="0">
                <a:solidFill>
                  <a:srgbClr val="030DCD"/>
                </a:solidFill>
              </a:rPr>
              <a:t>a[3][4]</a:t>
            </a:r>
            <a:r>
              <a:rPr lang="zh-CN" altLang="en-US" dirty="0">
                <a:solidFill>
                  <a:srgbClr val="030DCD"/>
                </a:solidFill>
              </a:rPr>
              <a:t>理解为：</a:t>
            </a:r>
            <a:endParaRPr lang="en-US" altLang="zh-CN" dirty="0">
              <a:solidFill>
                <a:srgbClr val="030DCD"/>
              </a:solidFill>
            </a:endParaRPr>
          </a:p>
          <a:p>
            <a:pPr marL="1200150" lvl="2"/>
            <a:r>
              <a:rPr lang="zh-CN" altLang="en-US" sz="1800" b="1" dirty="0">
                <a:solidFill>
                  <a:srgbClr val="FF0000"/>
                </a:solidFill>
              </a:rPr>
              <a:t>有三个元素</a:t>
            </a:r>
            <a:r>
              <a:rPr lang="en-US" altLang="zh-CN" sz="1800" b="1" dirty="0">
                <a:solidFill>
                  <a:srgbClr val="FF0000"/>
                </a:solidFill>
              </a:rPr>
              <a:t>a[0]、a[1]、a[2]，</a:t>
            </a:r>
            <a:r>
              <a:rPr lang="zh-CN" altLang="en-US" sz="1800" b="1" dirty="0">
                <a:solidFill>
                  <a:srgbClr val="FF0000"/>
                </a:solidFill>
              </a:rPr>
              <a:t>每一个元素是一个包含4个元素的一维数组；</a:t>
            </a:r>
            <a:endParaRPr lang="en-US" altLang="zh-CN" sz="1800" b="1" dirty="0">
              <a:solidFill>
                <a:srgbClr val="FF0000"/>
              </a:solidFill>
            </a:endParaRPr>
          </a:p>
          <a:p>
            <a:pPr marL="1200150" lvl="2"/>
            <a:r>
              <a:rPr lang="zh-CN" altLang="en-US" sz="1800" dirty="0"/>
              <a:t>第</a:t>
            </a:r>
            <a:r>
              <a:rPr lang="en-US" altLang="zh-CN" sz="1800" dirty="0"/>
              <a:t>0</a:t>
            </a:r>
            <a:r>
              <a:rPr lang="zh-CN" altLang="en-US" sz="1800" dirty="0"/>
              <a:t>行是一个包含</a:t>
            </a:r>
            <a:r>
              <a:rPr lang="en-US" altLang="zh-CN" sz="1800" dirty="0"/>
              <a:t>4</a:t>
            </a:r>
            <a:r>
              <a:rPr lang="zh-CN" altLang="en-US" sz="1800" dirty="0"/>
              <a:t>个整型数据的一维数组，数组名是</a:t>
            </a:r>
            <a:r>
              <a:rPr lang="en-US" altLang="zh-CN" sz="1800" dirty="0"/>
              <a:t>a[0]</a:t>
            </a:r>
            <a:r>
              <a:rPr lang="zh-CN" altLang="en-US" sz="1800" dirty="0"/>
              <a:t>；</a:t>
            </a:r>
            <a:endParaRPr lang="en-US" altLang="zh-CN" sz="1800" dirty="0"/>
          </a:p>
          <a:p>
            <a:pPr marL="1200150" lvl="2"/>
            <a:r>
              <a:rPr lang="zh-CN" altLang="en-US" sz="1800" dirty="0"/>
              <a:t>按照一维数组的访问方法，</a:t>
            </a:r>
            <a:r>
              <a:rPr lang="en-US" altLang="zh-CN" sz="1800" dirty="0"/>
              <a:t>a[0][</a:t>
            </a:r>
            <a:r>
              <a:rPr lang="en-US" altLang="zh-CN" sz="1800" dirty="0" err="1"/>
              <a:t>i</a:t>
            </a:r>
            <a:r>
              <a:rPr lang="en-US" altLang="zh-CN" sz="1800" dirty="0"/>
              <a:t>] (</a:t>
            </a:r>
            <a:r>
              <a:rPr lang="en-US" altLang="zh-CN" sz="1800" dirty="0" err="1"/>
              <a:t>i</a:t>
            </a:r>
            <a:r>
              <a:rPr lang="en-US" altLang="zh-CN" sz="1800" dirty="0"/>
              <a:t>=0,1,2,3,4)</a:t>
            </a:r>
            <a:r>
              <a:rPr lang="zh-CN" altLang="en-US" sz="1800" dirty="0"/>
              <a:t>是第</a:t>
            </a:r>
            <a:r>
              <a:rPr lang="en-US" altLang="zh-CN" sz="1800" dirty="0"/>
              <a:t>0</a:t>
            </a:r>
            <a:r>
              <a:rPr lang="zh-CN" altLang="en-US" sz="1800" dirty="0"/>
              <a:t>行一维数组中的第</a:t>
            </a:r>
            <a:r>
              <a:rPr lang="en-US" altLang="zh-CN" sz="1800" dirty="0" err="1"/>
              <a:t>i</a:t>
            </a:r>
            <a:r>
              <a:rPr lang="zh-CN" altLang="en-US" sz="1800" dirty="0"/>
              <a:t>个元素；</a:t>
            </a:r>
            <a:endParaRPr lang="en-US" altLang="zh-CN" sz="1800" dirty="0"/>
          </a:p>
          <a:p>
            <a:pPr marL="1200150" lvl="2"/>
            <a:endParaRPr lang="en-US" altLang="zh-CN" dirty="0">
              <a:solidFill>
                <a:srgbClr val="006600"/>
              </a:solidFill>
            </a:endParaRPr>
          </a:p>
        </p:txBody>
      </p:sp>
    </p:spTree>
    <p:extLst>
      <p:ext uri="{BB962C8B-B14F-4D97-AF65-F5344CB8AC3E}">
        <p14:creationId xmlns:p14="http://schemas.microsoft.com/office/powerpoint/2010/main" val="3578182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830" y="1018309"/>
            <a:ext cx="5715000" cy="1121387"/>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a:spLocks noGrp="1"/>
          </p:cNvSpPr>
          <p:nvPr>
            <p:ph type="title"/>
          </p:nvPr>
        </p:nvSpPr>
        <p:spPr>
          <a:xfrm>
            <a:off x="485775" y="255588"/>
            <a:ext cx="8089900" cy="584200"/>
          </a:xfrm>
        </p:spPr>
        <p:txBody>
          <a:bodyPr>
            <a:normAutofit/>
          </a:bodyPr>
          <a:lstStyle/>
          <a:p>
            <a:r>
              <a:rPr lang="zh-CN" altLang="en-US" dirty="0"/>
              <a:t>二维数组与指针数组</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267566" y="2318217"/>
                <a:ext cx="8089900" cy="3462777"/>
              </a:xfrm>
            </p:spPr>
            <p:txBody>
              <a:bodyPr/>
              <a:lstStyle/>
              <a:p>
                <a:pPr marL="342900" indent="-342900">
                  <a:buFont typeface="Wingdings" panose="05000000000000000000" pitchFamily="2" charset="2"/>
                  <a:buChar char="l"/>
                </a:pPr>
                <a:r>
                  <a:rPr lang="zh-CN" altLang="en-US" sz="2000" dirty="0" smtClean="0"/>
                  <a:t>一维数组的数组名是一个常量指针；</a:t>
                </a:r>
                <a:endParaRPr lang="en-US" altLang="zh-CN" sz="2000" dirty="0"/>
              </a:p>
              <a:p>
                <a:pPr marL="971550" lvl="1"/>
                <a:r>
                  <a:rPr lang="en-US" altLang="zh-CN" sz="1800" dirty="0" err="1"/>
                  <a:t>int</a:t>
                </a:r>
                <a:r>
                  <a:rPr lang="en-US" altLang="zh-CN" sz="1800" dirty="0"/>
                  <a:t> a[4],  *p;                 // p</a:t>
                </a:r>
                <a:r>
                  <a:rPr lang="zh-CN" altLang="en-US" sz="1800" dirty="0"/>
                  <a:t>是一个整型指针，</a:t>
                </a:r>
                <a:endParaRPr lang="en-US" altLang="zh-CN" sz="1800" dirty="0"/>
              </a:p>
              <a:p>
                <a:pPr marL="971550" lvl="1"/>
                <a:r>
                  <a:rPr lang="en-US" altLang="zh-CN" sz="1800" dirty="0"/>
                  <a:t>p=a; </a:t>
                </a:r>
                <a:r>
                  <a:rPr lang="zh-CN" altLang="en-US" sz="1800" dirty="0"/>
                  <a:t>等价于</a:t>
                </a:r>
                <a:r>
                  <a:rPr lang="en-US" altLang="zh-CN" sz="1800" dirty="0"/>
                  <a:t>p=&amp;a[0];    // p</a:t>
                </a:r>
                <a:r>
                  <a:rPr lang="zh-CN" altLang="en-US" sz="1800" dirty="0"/>
                  <a:t>指向数组</a:t>
                </a:r>
                <a:r>
                  <a:rPr lang="en-US" altLang="zh-CN" sz="1800" dirty="0"/>
                  <a:t>a</a:t>
                </a:r>
                <a:r>
                  <a:rPr lang="zh-CN" altLang="en-US" sz="1800" dirty="0"/>
                  <a:t>的第一个元素</a:t>
                </a:r>
                <a:r>
                  <a:rPr lang="en-US" altLang="zh-CN" sz="1800" dirty="0"/>
                  <a:t>a[0]</a:t>
                </a:r>
                <a:r>
                  <a:rPr lang="zh-CN" altLang="en-US" sz="1800" dirty="0"/>
                  <a:t>；</a:t>
                </a:r>
                <a:endParaRPr lang="en-US" altLang="zh-CN" sz="1800" dirty="0"/>
              </a:p>
              <a:p>
                <a:pPr marL="971550" lvl="1"/>
                <a:r>
                  <a:rPr lang="en-US" altLang="zh-CN" sz="1800" dirty="0">
                    <a:solidFill>
                      <a:srgbClr val="030DCD"/>
                    </a:solidFill>
                  </a:rPr>
                  <a:t>a[</a:t>
                </a:r>
                <a:r>
                  <a:rPr lang="en-US" altLang="zh-CN" sz="1800" dirty="0" err="1">
                    <a:solidFill>
                      <a:srgbClr val="030DCD"/>
                    </a:solidFill>
                  </a:rPr>
                  <a:t>i</a:t>
                </a:r>
                <a:r>
                  <a:rPr lang="en-US" altLang="zh-CN" sz="1800" dirty="0">
                    <a:solidFill>
                      <a:srgbClr val="030DCD"/>
                    </a:solidFill>
                  </a:rPr>
                  <a:t>], *(</a:t>
                </a:r>
                <a:r>
                  <a:rPr lang="en-US" altLang="zh-CN" sz="1800" dirty="0" err="1">
                    <a:solidFill>
                      <a:srgbClr val="030DCD"/>
                    </a:solidFill>
                  </a:rPr>
                  <a:t>a+i</a:t>
                </a:r>
                <a:r>
                  <a:rPr lang="en-US" altLang="zh-CN" sz="1800" dirty="0">
                    <a:solidFill>
                      <a:srgbClr val="030DCD"/>
                    </a:solidFill>
                  </a:rPr>
                  <a:t>),  *(</a:t>
                </a:r>
                <a:r>
                  <a:rPr lang="en-US" altLang="zh-CN" sz="1800" dirty="0" err="1">
                    <a:solidFill>
                      <a:srgbClr val="030DCD"/>
                    </a:solidFill>
                  </a:rPr>
                  <a:t>p+i</a:t>
                </a:r>
                <a:r>
                  <a:rPr lang="en-US" altLang="zh-CN" sz="1800" dirty="0">
                    <a:solidFill>
                      <a:srgbClr val="030DCD"/>
                    </a:solidFill>
                  </a:rPr>
                  <a:t>),  p[</a:t>
                </a:r>
                <a:r>
                  <a:rPr lang="en-US" altLang="zh-CN" sz="1800" dirty="0" err="1">
                    <a:solidFill>
                      <a:srgbClr val="030DCD"/>
                    </a:solidFill>
                  </a:rPr>
                  <a:t>i</a:t>
                </a:r>
                <a:r>
                  <a:rPr lang="en-US" altLang="zh-CN" sz="1800" dirty="0">
                    <a:solidFill>
                      <a:srgbClr val="030DCD"/>
                    </a:solidFill>
                  </a:rPr>
                  <a:t>] </a:t>
                </a:r>
                <a:r>
                  <a:rPr lang="zh-CN" altLang="en-US" sz="1800" dirty="0"/>
                  <a:t>是等价的，其中</a:t>
                </a:r>
                <a14:m>
                  <m:oMath xmlns:m="http://schemas.openxmlformats.org/officeDocument/2006/math">
                    <m:r>
                      <a:rPr lang="en-US" altLang="zh-CN" sz="1800" b="0" i="0" smtClean="0">
                        <a:latin typeface="Cambria Math" panose="02040503050406030204" pitchFamily="18" charset="0"/>
                      </a:rPr>
                      <m:t>0</m:t>
                    </m:r>
                    <m:r>
                      <a:rPr lang="zh-CN" altLang="en-US" sz="1800" b="0" i="1" smtClean="0">
                        <a:latin typeface="Cambria Math" panose="02040503050406030204" pitchFamily="18" charset="0"/>
                      </a:rPr>
                      <m:t>≤</m:t>
                    </m:r>
                    <m:r>
                      <a:rPr lang="en-US" altLang="zh-CN" sz="1800" b="0" i="1" smtClean="0">
                        <a:latin typeface="Cambria Math" panose="02040503050406030204" pitchFamily="18" charset="0"/>
                      </a:rPr>
                      <m:t>𝑖</m:t>
                    </m:r>
                    <m:r>
                      <a:rPr lang="en-US" altLang="zh-CN" sz="1800" b="0" i="1" smtClean="0">
                        <a:latin typeface="Cambria Math" panose="02040503050406030204" pitchFamily="18" charset="0"/>
                        <a:ea typeface="Cambria Math" panose="02040503050406030204" pitchFamily="18" charset="0"/>
                      </a:rPr>
                      <m:t>≤3</m:t>
                    </m:r>
                  </m:oMath>
                </a14:m>
                <a:r>
                  <a:rPr lang="en-US" altLang="zh-CN" sz="1800" dirty="0"/>
                  <a:t>;</a:t>
                </a:r>
              </a:p>
              <a:p>
                <a:pPr marL="342900" indent="-342900">
                  <a:buFont typeface="Wingdings" panose="05000000000000000000" pitchFamily="2" charset="2"/>
                  <a:buChar char="l"/>
                </a:pPr>
                <a:r>
                  <a:rPr lang="zh-CN" altLang="en-US" sz="2000" dirty="0"/>
                  <a:t>二维数组</a:t>
                </a:r>
                <a:r>
                  <a:rPr lang="en-US" altLang="zh-CN" sz="2000" dirty="0" err="1">
                    <a:solidFill>
                      <a:srgbClr val="030DCD"/>
                    </a:solidFill>
                  </a:rPr>
                  <a:t>int</a:t>
                </a:r>
                <a:r>
                  <a:rPr lang="en-US" altLang="zh-CN" sz="2000" dirty="0">
                    <a:solidFill>
                      <a:srgbClr val="030DCD"/>
                    </a:solidFill>
                  </a:rPr>
                  <a:t> a[3][4]</a:t>
                </a:r>
                <a:r>
                  <a:rPr lang="zh-CN" altLang="en-US" sz="2000" dirty="0"/>
                  <a:t>可以视为</a:t>
                </a:r>
                <a:r>
                  <a:rPr lang="en-US" altLang="zh-CN" sz="2000" dirty="0">
                    <a:solidFill>
                      <a:srgbClr val="C00000"/>
                    </a:solidFill>
                  </a:rPr>
                  <a:t>3</a:t>
                </a:r>
                <a:r>
                  <a:rPr lang="zh-CN" altLang="en-US" sz="2000" dirty="0">
                    <a:solidFill>
                      <a:srgbClr val="C00000"/>
                    </a:solidFill>
                  </a:rPr>
                  <a:t>个一</a:t>
                </a:r>
                <a:r>
                  <a:rPr lang="zh-CN" altLang="en-US" sz="2000" dirty="0" smtClean="0">
                    <a:solidFill>
                      <a:srgbClr val="C00000"/>
                    </a:solidFill>
                  </a:rPr>
                  <a:t>维整型指针数组</a:t>
                </a:r>
                <a:endParaRPr lang="en-US" altLang="zh-CN" sz="2000" dirty="0" smtClean="0">
                  <a:solidFill>
                    <a:srgbClr val="C00000"/>
                  </a:solidFill>
                </a:endParaRPr>
              </a:p>
              <a:p>
                <a:pPr marL="971550" lvl="1">
                  <a:buFont typeface="Arial" panose="020B0604020202020204" pitchFamily="34" charset="0"/>
                  <a:buChar char="•"/>
                </a:pPr>
                <a:r>
                  <a:rPr lang="zh-CN" altLang="en-US" sz="1800" dirty="0" smtClean="0"/>
                  <a:t>二维数组名</a:t>
                </a:r>
                <a:r>
                  <a:rPr lang="en-US" altLang="zh-CN" sz="1800" dirty="0" smtClean="0"/>
                  <a:t>a</a:t>
                </a:r>
                <a:r>
                  <a:rPr lang="zh-CN" altLang="en-US" sz="1800" dirty="0"/>
                  <a:t>是一个二</a:t>
                </a:r>
                <a:r>
                  <a:rPr lang="zh-CN" altLang="en-US" sz="1800" dirty="0" smtClean="0"/>
                  <a:t>级指针</a:t>
                </a:r>
                <a:endParaRPr lang="en-US" altLang="zh-CN" sz="1800" dirty="0"/>
              </a:p>
              <a:p>
                <a:pPr marL="971550" lvl="1">
                  <a:buFont typeface="Arial" panose="020B0604020202020204" pitchFamily="34" charset="0"/>
                  <a:buChar char="•"/>
                </a:pPr>
                <a:r>
                  <a:rPr lang="en-US" altLang="zh-CN" sz="1800" dirty="0" smtClean="0"/>
                  <a:t>a</a:t>
                </a:r>
                <a:r>
                  <a:rPr lang="zh-CN" altLang="en-US" sz="1800" dirty="0" smtClean="0"/>
                  <a:t>指向</a:t>
                </a:r>
                <a:r>
                  <a:rPr lang="en-US" altLang="zh-CN" sz="1800" dirty="0" smtClean="0"/>
                  <a:t>a[0]</a:t>
                </a:r>
                <a:r>
                  <a:rPr lang="zh-CN" altLang="en-US" sz="1800" dirty="0" smtClean="0"/>
                  <a:t>，</a:t>
                </a:r>
                <a:r>
                  <a:rPr lang="en-US" altLang="zh-CN" sz="1800" dirty="0" smtClean="0"/>
                  <a:t>a[0]</a:t>
                </a:r>
                <a:r>
                  <a:rPr lang="zh-CN" altLang="en-US" sz="1800" dirty="0" smtClean="0"/>
                  <a:t>指向数组元素</a:t>
                </a:r>
                <a:r>
                  <a:rPr lang="en-US" altLang="zh-CN" sz="1800" dirty="0" smtClean="0"/>
                  <a:t>a[0][0]; </a:t>
                </a:r>
                <a:r>
                  <a:rPr lang="zh-CN" altLang="en-US" sz="1800" dirty="0" smtClean="0"/>
                  <a:t>即</a:t>
                </a:r>
                <a:r>
                  <a:rPr lang="en-US" altLang="zh-CN" sz="1800" dirty="0" smtClean="0"/>
                  <a:t>a[0]=&amp;a[0][0], a=&amp;a[0];</a:t>
                </a:r>
              </a:p>
              <a:p>
                <a:pPr marL="971550" lvl="1">
                  <a:buFont typeface="Arial" panose="020B0604020202020204" pitchFamily="34" charset="0"/>
                  <a:buChar char="•"/>
                </a:pPr>
                <a:r>
                  <a:rPr lang="en-US" altLang="zh-CN" sz="1800" dirty="0" smtClean="0">
                    <a:solidFill>
                      <a:srgbClr val="C00000"/>
                    </a:solidFill>
                  </a:rPr>
                  <a:t> a[0][0]</a:t>
                </a:r>
                <a:r>
                  <a:rPr lang="zh-CN" altLang="en-US" sz="1800" dirty="0" smtClean="0">
                    <a:solidFill>
                      <a:srgbClr val="C00000"/>
                    </a:solidFill>
                  </a:rPr>
                  <a:t>，</a:t>
                </a:r>
                <a:r>
                  <a:rPr lang="en-US" altLang="zh-CN" sz="1800" dirty="0" smtClean="0">
                    <a:solidFill>
                      <a:srgbClr val="C00000"/>
                    </a:solidFill>
                  </a:rPr>
                  <a:t>*a[0]</a:t>
                </a:r>
                <a:r>
                  <a:rPr lang="zh-CN" altLang="en-US" sz="1800" dirty="0" smtClean="0">
                    <a:solidFill>
                      <a:srgbClr val="C00000"/>
                    </a:solidFill>
                  </a:rPr>
                  <a:t>，**</a:t>
                </a:r>
                <a:r>
                  <a:rPr lang="en-US" altLang="zh-CN" sz="1800" dirty="0" smtClean="0">
                    <a:solidFill>
                      <a:srgbClr val="C00000"/>
                    </a:solidFill>
                  </a:rPr>
                  <a:t>a</a:t>
                </a:r>
                <a:r>
                  <a:rPr lang="zh-CN" altLang="en-US" sz="1800" dirty="0" smtClean="0">
                    <a:solidFill>
                      <a:srgbClr val="C00000"/>
                    </a:solidFill>
                  </a:rPr>
                  <a:t>是等价的，其值是</a:t>
                </a:r>
                <a:r>
                  <a:rPr lang="en-US" altLang="zh-CN" sz="1800" dirty="0" smtClean="0">
                    <a:solidFill>
                      <a:srgbClr val="C00000"/>
                    </a:solidFill>
                  </a:rPr>
                  <a:t>a[0][0]</a:t>
                </a:r>
              </a:p>
              <a:p>
                <a:pPr marL="971550" lvl="1">
                  <a:buFont typeface="Arial" panose="020B0604020202020204" pitchFamily="34" charset="0"/>
                  <a:buChar char="•"/>
                </a:pPr>
                <a:r>
                  <a:rPr lang="en-US" altLang="zh-CN" sz="1800" i="1" u="sng" dirty="0" smtClean="0">
                    <a:solidFill>
                      <a:srgbClr val="0303DF"/>
                    </a:solidFill>
                  </a:rPr>
                  <a:t>a[</a:t>
                </a:r>
                <a:r>
                  <a:rPr lang="en-US" altLang="zh-CN" sz="1800" i="1" u="sng" dirty="0" err="1" smtClean="0">
                    <a:solidFill>
                      <a:srgbClr val="0303DF"/>
                    </a:solidFill>
                  </a:rPr>
                  <a:t>i</a:t>
                </a:r>
                <a:r>
                  <a:rPr lang="en-US" altLang="zh-CN" sz="1800" i="1" u="sng" dirty="0" smtClean="0">
                    <a:solidFill>
                      <a:srgbClr val="0303DF"/>
                    </a:solidFill>
                  </a:rPr>
                  <a:t>][</a:t>
                </a:r>
                <a:r>
                  <a:rPr lang="en-US" altLang="zh-CN" sz="1800" i="1" u="sng" dirty="0">
                    <a:solidFill>
                      <a:srgbClr val="0303DF"/>
                    </a:solidFill>
                  </a:rPr>
                  <a:t>0]</a:t>
                </a:r>
                <a:r>
                  <a:rPr lang="zh-CN" altLang="en-US" sz="1800" i="1" u="sng" dirty="0">
                    <a:solidFill>
                      <a:srgbClr val="0303DF"/>
                    </a:solidFill>
                  </a:rPr>
                  <a:t>，</a:t>
                </a:r>
                <a:r>
                  <a:rPr lang="en-US" altLang="zh-CN" sz="1800" i="1" u="sng" dirty="0">
                    <a:solidFill>
                      <a:srgbClr val="0303DF"/>
                    </a:solidFill>
                  </a:rPr>
                  <a:t>*</a:t>
                </a:r>
                <a:r>
                  <a:rPr lang="en-US" altLang="zh-CN" sz="1800" i="1" u="sng" dirty="0" smtClean="0">
                    <a:solidFill>
                      <a:srgbClr val="0303DF"/>
                    </a:solidFill>
                  </a:rPr>
                  <a:t>a[</a:t>
                </a:r>
                <a:r>
                  <a:rPr lang="en-US" altLang="zh-CN" sz="1800" i="1" u="sng" dirty="0" err="1" smtClean="0">
                    <a:solidFill>
                      <a:srgbClr val="0303DF"/>
                    </a:solidFill>
                  </a:rPr>
                  <a:t>i</a:t>
                </a:r>
                <a:r>
                  <a:rPr lang="en-US" altLang="zh-CN" sz="1800" i="1" u="sng" dirty="0" smtClean="0">
                    <a:solidFill>
                      <a:srgbClr val="0303DF"/>
                    </a:solidFill>
                  </a:rPr>
                  <a:t>]</a:t>
                </a:r>
                <a:r>
                  <a:rPr lang="zh-CN" altLang="en-US" sz="1800" i="1" u="sng" dirty="0">
                    <a:solidFill>
                      <a:srgbClr val="0303DF"/>
                    </a:solidFill>
                  </a:rPr>
                  <a:t>，</a:t>
                </a:r>
                <a:r>
                  <a:rPr lang="zh-CN" altLang="en-US" sz="1800" i="1" u="sng" dirty="0" smtClean="0">
                    <a:solidFill>
                      <a:srgbClr val="0303DF"/>
                    </a:solidFill>
                  </a:rPr>
                  <a:t>**</a:t>
                </a:r>
                <a:r>
                  <a:rPr lang="en-US" altLang="zh-CN" sz="1800" i="1" u="sng" dirty="0" smtClean="0">
                    <a:solidFill>
                      <a:srgbClr val="0303DF"/>
                    </a:solidFill>
                  </a:rPr>
                  <a:t>(</a:t>
                </a:r>
                <a:r>
                  <a:rPr lang="en-US" altLang="zh-CN" sz="1800" i="1" u="sng" dirty="0" err="1" smtClean="0">
                    <a:solidFill>
                      <a:srgbClr val="0303DF"/>
                    </a:solidFill>
                  </a:rPr>
                  <a:t>a+i</a:t>
                </a:r>
                <a:r>
                  <a:rPr lang="en-US" altLang="zh-CN" sz="1800" i="1" u="sng" dirty="0" smtClean="0">
                    <a:solidFill>
                      <a:srgbClr val="0303DF"/>
                    </a:solidFill>
                  </a:rPr>
                  <a:t>)</a:t>
                </a:r>
                <a:r>
                  <a:rPr lang="zh-CN" altLang="en-US" sz="1800" i="1" u="sng" dirty="0" smtClean="0">
                    <a:solidFill>
                      <a:srgbClr val="0303DF"/>
                    </a:solidFill>
                  </a:rPr>
                  <a:t>是</a:t>
                </a:r>
                <a:r>
                  <a:rPr lang="zh-CN" altLang="en-US" sz="1800" i="1" u="sng" dirty="0">
                    <a:solidFill>
                      <a:srgbClr val="0303DF"/>
                    </a:solidFill>
                  </a:rPr>
                  <a:t>等价的，其值是</a:t>
                </a:r>
                <a:r>
                  <a:rPr lang="en-US" altLang="zh-CN" sz="1800" i="1" u="sng" dirty="0" smtClean="0">
                    <a:solidFill>
                      <a:srgbClr val="0303DF"/>
                    </a:solidFill>
                  </a:rPr>
                  <a:t>a[</a:t>
                </a:r>
                <a:r>
                  <a:rPr lang="en-US" altLang="zh-CN" sz="1800" i="1" u="sng" dirty="0" err="1" smtClean="0">
                    <a:solidFill>
                      <a:srgbClr val="0303DF"/>
                    </a:solidFill>
                  </a:rPr>
                  <a:t>i</a:t>
                </a:r>
                <a:r>
                  <a:rPr lang="en-US" altLang="zh-CN" sz="1800" i="1" u="sng" dirty="0" smtClean="0">
                    <a:solidFill>
                      <a:srgbClr val="0303DF"/>
                    </a:solidFill>
                  </a:rPr>
                  <a:t>][</a:t>
                </a:r>
                <a:r>
                  <a:rPr lang="en-US" altLang="zh-CN" sz="1800" i="1" u="sng" dirty="0">
                    <a:solidFill>
                      <a:srgbClr val="0303DF"/>
                    </a:solidFill>
                  </a:rPr>
                  <a:t>0]</a:t>
                </a:r>
              </a:p>
              <a:p>
                <a:pPr marL="971550" lvl="1">
                  <a:buFont typeface="Arial" panose="020B0604020202020204" pitchFamily="34" charset="0"/>
                  <a:buChar char="•"/>
                </a:pPr>
                <a:endParaRPr lang="en-US" altLang="zh-CN" sz="18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267566" y="2318217"/>
                <a:ext cx="8089900" cy="3462777"/>
              </a:xfrm>
              <a:blipFill>
                <a:blip r:embed="rId3"/>
                <a:stretch>
                  <a:fillRect t="-21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26944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8916"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830" y="1018309"/>
            <a:ext cx="5715000" cy="1095717"/>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a:spLocks noGrp="1"/>
          </p:cNvSpPr>
          <p:nvPr>
            <p:ph type="title"/>
          </p:nvPr>
        </p:nvSpPr>
        <p:spPr>
          <a:xfrm>
            <a:off x="485775" y="255588"/>
            <a:ext cx="8089900" cy="584200"/>
          </a:xfrm>
        </p:spPr>
        <p:txBody>
          <a:bodyPr>
            <a:normAutofit/>
          </a:bodyPr>
          <a:lstStyle/>
          <a:p>
            <a:r>
              <a:rPr lang="zh-CN" altLang="en-US" dirty="0"/>
              <a:t>二维数组与指针数组</a:t>
            </a:r>
          </a:p>
        </p:txBody>
      </p:sp>
      <p:sp>
        <p:nvSpPr>
          <p:cNvPr id="2" name="内容占位符 1"/>
          <p:cNvSpPr>
            <a:spLocks noGrp="1"/>
          </p:cNvSpPr>
          <p:nvPr>
            <p:ph idx="1"/>
          </p:nvPr>
        </p:nvSpPr>
        <p:spPr>
          <a:xfrm>
            <a:off x="267566" y="2212025"/>
            <a:ext cx="8089900" cy="3462777"/>
          </a:xfrm>
        </p:spPr>
        <p:txBody>
          <a:bodyPr/>
          <a:lstStyle/>
          <a:p>
            <a:pPr marL="342900" indent="-342900">
              <a:buFont typeface="Wingdings" panose="05000000000000000000" pitchFamily="2" charset="2"/>
              <a:buChar char="l"/>
            </a:pPr>
            <a:r>
              <a:rPr lang="zh-CN" altLang="en-US" sz="2000" dirty="0"/>
              <a:t>定义</a:t>
            </a:r>
            <a:r>
              <a:rPr lang="zh-CN" altLang="en-US" sz="2000" b="1" dirty="0">
                <a:solidFill>
                  <a:srgbClr val="C00000"/>
                </a:solidFill>
              </a:rPr>
              <a:t>整型指针数组 </a:t>
            </a:r>
            <a:r>
              <a:rPr lang="en-US" altLang="zh-CN" sz="2000" b="1" dirty="0" err="1">
                <a:solidFill>
                  <a:srgbClr val="C00000"/>
                </a:solidFill>
              </a:rPr>
              <a:t>int</a:t>
            </a:r>
            <a:r>
              <a:rPr lang="en-US" altLang="zh-CN" sz="2000" b="1" dirty="0">
                <a:solidFill>
                  <a:srgbClr val="C00000"/>
                </a:solidFill>
              </a:rPr>
              <a:t> *p[3];   </a:t>
            </a:r>
          </a:p>
          <a:p>
            <a:pPr marL="342900" indent="-342900">
              <a:buFont typeface="Wingdings" panose="05000000000000000000" pitchFamily="2" charset="2"/>
              <a:buChar char="l"/>
            </a:pPr>
            <a:r>
              <a:rPr lang="en-US" altLang="zh-CN" sz="2000" dirty="0"/>
              <a:t> </a:t>
            </a:r>
            <a:r>
              <a:rPr lang="en-US" altLang="zh-CN" sz="2000" dirty="0">
                <a:solidFill>
                  <a:srgbClr val="7030A0"/>
                </a:solidFill>
              </a:rPr>
              <a:t>p</a:t>
            </a:r>
            <a:r>
              <a:rPr lang="zh-CN" altLang="en-US" sz="2000" dirty="0">
                <a:solidFill>
                  <a:srgbClr val="7030A0"/>
                </a:solidFill>
              </a:rPr>
              <a:t>是数组名，</a:t>
            </a:r>
            <a:r>
              <a:rPr lang="zh-CN" altLang="en-US" sz="2000" b="1" dirty="0">
                <a:solidFill>
                  <a:srgbClr val="030DCD"/>
                </a:solidFill>
              </a:rPr>
              <a:t>数组元素是整型指针；</a:t>
            </a:r>
            <a:endParaRPr lang="en-US" altLang="zh-CN" sz="2000" b="1" dirty="0">
              <a:solidFill>
                <a:srgbClr val="030DCD"/>
              </a:solidFill>
            </a:endParaRPr>
          </a:p>
          <a:p>
            <a:pPr marL="342900" indent="-342900">
              <a:buFont typeface="Wingdings" panose="05000000000000000000" pitchFamily="2" charset="2"/>
              <a:buChar char="l"/>
            </a:pPr>
            <a:r>
              <a:rPr lang="zh-CN" altLang="en-US" sz="2000" dirty="0"/>
              <a:t>因此可以进行如下赋值运算</a:t>
            </a:r>
            <a:endParaRPr lang="en-US" altLang="zh-CN" sz="2000" dirty="0"/>
          </a:p>
          <a:p>
            <a:pPr marL="971550" lvl="1">
              <a:spcBef>
                <a:spcPts val="600"/>
              </a:spcBef>
            </a:pPr>
            <a:r>
              <a:rPr lang="en-US" altLang="zh-CN" sz="1800" dirty="0"/>
              <a:t>p[0]=a[0], p[1]=a[1],p[2]=a[2];  </a:t>
            </a:r>
            <a:r>
              <a:rPr lang="zh-CN" altLang="en-US" sz="1800" dirty="0">
                <a:solidFill>
                  <a:srgbClr val="C00000"/>
                </a:solidFill>
              </a:rPr>
              <a:t>等价于</a:t>
            </a:r>
            <a:endParaRPr lang="en-US" altLang="zh-CN" sz="1800" dirty="0">
              <a:solidFill>
                <a:srgbClr val="C00000"/>
              </a:solidFill>
            </a:endParaRPr>
          </a:p>
          <a:p>
            <a:pPr marL="971550" lvl="1">
              <a:spcBef>
                <a:spcPts val="600"/>
              </a:spcBef>
            </a:pPr>
            <a:r>
              <a:rPr lang="en-US" altLang="zh-CN" sz="1800" dirty="0"/>
              <a:t>p[0]=&amp;a[0][0], p[1]=&amp;a[1][0],p[2]=&amp;a[2][0];</a:t>
            </a:r>
          </a:p>
          <a:p>
            <a:pPr marL="342900" indent="-342900">
              <a:buFont typeface="Wingdings" panose="05000000000000000000" pitchFamily="2" charset="2"/>
              <a:buChar char="l"/>
            </a:pPr>
            <a:r>
              <a:rPr lang="zh-CN" altLang="en-US" sz="2000" dirty="0"/>
              <a:t>类似于利用指针访问一维数组元素</a:t>
            </a:r>
            <a:endParaRPr lang="en-US" altLang="zh-CN" sz="2000" dirty="0"/>
          </a:p>
          <a:p>
            <a:pPr marL="971550" lvl="1"/>
            <a:r>
              <a:rPr lang="en-US" altLang="zh-CN" sz="1600" dirty="0"/>
              <a:t>*p[</a:t>
            </a:r>
            <a:r>
              <a:rPr lang="en-US" altLang="zh-CN" sz="1600" dirty="0" err="1"/>
              <a:t>i</a:t>
            </a:r>
            <a:r>
              <a:rPr lang="en-US" altLang="zh-CN" sz="1600" dirty="0"/>
              <a:t>]</a:t>
            </a:r>
            <a:r>
              <a:rPr lang="zh-CN" altLang="en-US" sz="1600" dirty="0"/>
              <a:t>即为</a:t>
            </a:r>
            <a:r>
              <a:rPr lang="en-US" altLang="zh-CN" sz="1600" dirty="0"/>
              <a:t>a[</a:t>
            </a:r>
            <a:r>
              <a:rPr lang="en-US" altLang="zh-CN" sz="1600" dirty="0" err="1"/>
              <a:t>i</a:t>
            </a:r>
            <a:r>
              <a:rPr lang="en-US" altLang="zh-CN" sz="1600" dirty="0"/>
              <a:t>][0]</a:t>
            </a:r>
            <a:r>
              <a:rPr lang="zh-CN" altLang="en-US" sz="1600" dirty="0"/>
              <a:t>，</a:t>
            </a:r>
            <a:r>
              <a:rPr lang="en-US" altLang="zh-CN" sz="1600" dirty="0"/>
              <a:t>*(p[</a:t>
            </a:r>
            <a:r>
              <a:rPr lang="en-US" altLang="zh-CN" sz="1600" dirty="0" err="1"/>
              <a:t>i</a:t>
            </a:r>
            <a:r>
              <a:rPr lang="en-US" altLang="zh-CN" sz="1600" dirty="0"/>
              <a:t>]+1)</a:t>
            </a:r>
            <a:r>
              <a:rPr lang="zh-CN" altLang="en-US" sz="1600" dirty="0"/>
              <a:t>即为</a:t>
            </a:r>
            <a:r>
              <a:rPr lang="en-US" altLang="zh-CN" sz="1600" dirty="0"/>
              <a:t>a[</a:t>
            </a:r>
            <a:r>
              <a:rPr lang="en-US" altLang="zh-CN" sz="1600" dirty="0" err="1"/>
              <a:t>i</a:t>
            </a:r>
            <a:r>
              <a:rPr lang="en-US" altLang="zh-CN" sz="1600" dirty="0"/>
              <a:t>][1]</a:t>
            </a:r>
            <a:r>
              <a:rPr lang="zh-CN" altLang="en-US" sz="1600" dirty="0"/>
              <a:t>，以此类推</a:t>
            </a:r>
            <a:r>
              <a:rPr lang="en-US" altLang="zh-CN" sz="1600" dirty="0"/>
              <a:t>, *(p[</a:t>
            </a:r>
            <a:r>
              <a:rPr lang="en-US" altLang="zh-CN" sz="1600" dirty="0" err="1"/>
              <a:t>i</a:t>
            </a:r>
            <a:r>
              <a:rPr lang="en-US" altLang="zh-CN" sz="1600" dirty="0"/>
              <a:t>]+j)</a:t>
            </a:r>
            <a:r>
              <a:rPr lang="zh-CN" altLang="en-US" sz="1600" dirty="0"/>
              <a:t>即为</a:t>
            </a:r>
            <a:r>
              <a:rPr lang="en-US" altLang="zh-CN" sz="1600" dirty="0"/>
              <a:t>a[</a:t>
            </a:r>
            <a:r>
              <a:rPr lang="en-US" altLang="zh-CN" sz="1600" dirty="0" err="1"/>
              <a:t>i</a:t>
            </a:r>
            <a:r>
              <a:rPr lang="en-US" altLang="zh-CN" sz="1600" dirty="0"/>
              <a:t>][j] </a:t>
            </a:r>
            <a:r>
              <a:rPr lang="zh-CN" altLang="en-US" sz="1600" dirty="0"/>
              <a:t>；</a:t>
            </a:r>
            <a:endParaRPr lang="en-US" altLang="zh-CN" sz="1600" dirty="0"/>
          </a:p>
          <a:p>
            <a:pPr marL="971550" lvl="1"/>
            <a:r>
              <a:rPr lang="en-US" altLang="zh-CN" sz="1600" dirty="0"/>
              <a:t>*p[</a:t>
            </a:r>
            <a:r>
              <a:rPr lang="en-US" altLang="zh-CN" sz="1600" dirty="0" err="1"/>
              <a:t>i</a:t>
            </a:r>
            <a:r>
              <a:rPr lang="en-US" altLang="zh-CN" sz="1600" dirty="0"/>
              <a:t>][j]</a:t>
            </a:r>
            <a:r>
              <a:rPr lang="zh-CN" altLang="en-US" sz="1600" dirty="0"/>
              <a:t>即为</a:t>
            </a:r>
            <a:r>
              <a:rPr lang="en-US" altLang="zh-CN" sz="1600" dirty="0"/>
              <a:t>a[</a:t>
            </a:r>
            <a:r>
              <a:rPr lang="en-US" altLang="zh-CN" sz="1600" dirty="0" err="1"/>
              <a:t>i</a:t>
            </a:r>
            <a:r>
              <a:rPr lang="en-US" altLang="zh-CN" sz="1600" dirty="0"/>
              <a:t>][j];</a:t>
            </a:r>
          </a:p>
          <a:p>
            <a:pPr marL="342900" indent="-342900">
              <a:buFont typeface="Wingdings" panose="05000000000000000000" pitchFamily="2" charset="2"/>
              <a:buChar char="l"/>
            </a:pPr>
            <a:endParaRPr lang="en-US" altLang="zh-CN" sz="2000" dirty="0"/>
          </a:p>
        </p:txBody>
      </p:sp>
    </p:spTree>
    <p:extLst>
      <p:ext uri="{BB962C8B-B14F-4D97-AF65-F5344CB8AC3E}">
        <p14:creationId xmlns:p14="http://schemas.microsoft.com/office/powerpoint/2010/main" val="3135291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利用指针数组访问二维数组</a:t>
            </a:r>
          </a:p>
        </p:txBody>
      </p:sp>
      <p:sp>
        <p:nvSpPr>
          <p:cNvPr id="3" name="内容占位符 2"/>
          <p:cNvSpPr>
            <a:spLocks noGrp="1"/>
          </p:cNvSpPr>
          <p:nvPr>
            <p:ph idx="1"/>
          </p:nvPr>
        </p:nvSpPr>
        <p:spPr/>
        <p:txBody>
          <a:bodyPr/>
          <a:lstStyle/>
          <a:p>
            <a:pPr marL="285750" lvl="1" indent="0">
              <a:buNone/>
            </a:pPr>
            <a:r>
              <a:rPr lang="en-US" altLang="zh-CN" sz="1800" dirty="0" err="1"/>
              <a:t>int</a:t>
            </a:r>
            <a:r>
              <a:rPr lang="en-US" altLang="zh-CN" sz="1800" dirty="0"/>
              <a:t> row=3,col=4;</a:t>
            </a:r>
          </a:p>
          <a:p>
            <a:pPr marL="285750" lvl="1" indent="0">
              <a:buNone/>
            </a:pPr>
            <a:r>
              <a:rPr lang="en-US" altLang="zh-CN" sz="1800" b="1" dirty="0" err="1">
                <a:solidFill>
                  <a:srgbClr val="006600"/>
                </a:solidFill>
              </a:rPr>
              <a:t>int</a:t>
            </a:r>
            <a:r>
              <a:rPr lang="en-US" altLang="zh-CN" sz="1800" b="1" dirty="0">
                <a:solidFill>
                  <a:srgbClr val="006600"/>
                </a:solidFill>
              </a:rPr>
              <a:t> a[row][col];</a:t>
            </a:r>
          </a:p>
          <a:p>
            <a:pPr marL="285750" lvl="1" indent="0">
              <a:buNone/>
            </a:pPr>
            <a:r>
              <a:rPr lang="en-US" altLang="zh-CN" sz="1800" b="1" dirty="0" err="1">
                <a:solidFill>
                  <a:srgbClr val="030DCD"/>
                </a:solidFill>
              </a:rPr>
              <a:t>int</a:t>
            </a:r>
            <a:r>
              <a:rPr lang="en-US" altLang="zh-CN" sz="1800" b="1" dirty="0">
                <a:solidFill>
                  <a:srgbClr val="030DCD"/>
                </a:solidFill>
              </a:rPr>
              <a:t>  *p[row];   //</a:t>
            </a:r>
            <a:r>
              <a:rPr lang="zh-CN" altLang="en-US" sz="1800" b="1" dirty="0">
                <a:solidFill>
                  <a:srgbClr val="030DCD"/>
                </a:solidFill>
              </a:rPr>
              <a:t>整型指针数组，每个元素是一个指向整型数据的指针；</a:t>
            </a:r>
            <a:endParaRPr lang="en-US" altLang="zh-CN" sz="1800" b="1" dirty="0">
              <a:solidFill>
                <a:srgbClr val="030DCD"/>
              </a:solidFill>
            </a:endParaRPr>
          </a:p>
          <a:p>
            <a:pPr marL="285750"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row;i</a:t>
            </a:r>
            <a:r>
              <a:rPr lang="en-US" altLang="zh-CN" sz="1800" dirty="0"/>
              <a:t>++)</a:t>
            </a:r>
          </a:p>
          <a:p>
            <a:pPr marL="285750" lvl="1" indent="0">
              <a:buNone/>
            </a:pPr>
            <a:r>
              <a:rPr lang="en-US" altLang="zh-CN" sz="1800" dirty="0"/>
              <a:t>    for (</a:t>
            </a:r>
            <a:r>
              <a:rPr lang="en-US" altLang="zh-CN" sz="1800" dirty="0" err="1"/>
              <a:t>int</a:t>
            </a:r>
            <a:r>
              <a:rPr lang="en-US" altLang="zh-CN" sz="1800" dirty="0"/>
              <a:t> j=0;j&lt;</a:t>
            </a:r>
            <a:r>
              <a:rPr lang="en-US" altLang="zh-CN" sz="1800" dirty="0" err="1"/>
              <a:t>col;j</a:t>
            </a:r>
            <a:r>
              <a:rPr lang="en-US" altLang="zh-CN" sz="1800" dirty="0"/>
              <a:t>++)</a:t>
            </a:r>
          </a:p>
          <a:p>
            <a:pPr marL="285750" lvl="1" indent="0">
              <a:buNone/>
            </a:pPr>
            <a:r>
              <a:rPr lang="en-US" altLang="zh-CN" sz="1800" dirty="0"/>
              <a:t>   	   a[</a:t>
            </a:r>
            <a:r>
              <a:rPr lang="en-US" altLang="zh-CN" sz="1800" dirty="0" err="1"/>
              <a:t>i</a:t>
            </a:r>
            <a:r>
              <a:rPr lang="en-US" altLang="zh-CN" sz="1800" dirty="0"/>
              <a:t>][j] = </a:t>
            </a:r>
            <a:r>
              <a:rPr lang="en-US" altLang="zh-CN" sz="1800" dirty="0" err="1"/>
              <a:t>i</a:t>
            </a:r>
            <a:r>
              <a:rPr lang="en-US" altLang="zh-CN" sz="1800" dirty="0"/>
              <a:t>*</a:t>
            </a:r>
            <a:r>
              <a:rPr lang="en-US" altLang="zh-CN" sz="1800" dirty="0" err="1"/>
              <a:t>i</a:t>
            </a:r>
            <a:r>
              <a:rPr lang="en-US" altLang="zh-CN" sz="1800" dirty="0"/>
              <a:t>;</a:t>
            </a:r>
          </a:p>
          <a:p>
            <a:pPr marL="285750"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row;i</a:t>
            </a:r>
            <a:r>
              <a:rPr lang="en-US" altLang="zh-CN" sz="1800" dirty="0"/>
              <a:t>++)</a:t>
            </a:r>
          </a:p>
          <a:p>
            <a:pPr marL="285750" lvl="1" indent="0">
              <a:buNone/>
            </a:pPr>
            <a:r>
              <a:rPr lang="en-US" altLang="zh-CN" sz="1800" b="1" dirty="0"/>
              <a:t>     </a:t>
            </a:r>
            <a:r>
              <a:rPr lang="en-US" altLang="zh-CN" sz="1800" b="1" dirty="0">
                <a:solidFill>
                  <a:srgbClr val="030DCD"/>
                </a:solidFill>
              </a:rPr>
              <a:t>p[</a:t>
            </a:r>
            <a:r>
              <a:rPr lang="en-US" altLang="zh-CN" sz="1800" b="1" dirty="0" err="1">
                <a:solidFill>
                  <a:srgbClr val="030DCD"/>
                </a:solidFill>
              </a:rPr>
              <a:t>i</a:t>
            </a:r>
            <a:r>
              <a:rPr lang="en-US" altLang="zh-CN" sz="1800" b="1" dirty="0">
                <a:solidFill>
                  <a:srgbClr val="030DCD"/>
                </a:solidFill>
              </a:rPr>
              <a:t>]=a[</a:t>
            </a:r>
            <a:r>
              <a:rPr lang="en-US" altLang="zh-CN" sz="1800" b="1" dirty="0" err="1">
                <a:solidFill>
                  <a:srgbClr val="030DCD"/>
                </a:solidFill>
              </a:rPr>
              <a:t>i</a:t>
            </a:r>
            <a:r>
              <a:rPr lang="en-US" altLang="zh-CN" sz="1800" b="1" dirty="0">
                <a:solidFill>
                  <a:srgbClr val="030DCD"/>
                </a:solidFill>
              </a:rPr>
              <a:t>];   //</a:t>
            </a:r>
            <a:r>
              <a:rPr lang="zh-CN" altLang="en-US" sz="1800" b="1" dirty="0">
                <a:solidFill>
                  <a:srgbClr val="030DCD"/>
                </a:solidFill>
              </a:rPr>
              <a:t>或</a:t>
            </a:r>
            <a:r>
              <a:rPr lang="en-US" altLang="zh-CN" sz="1800" b="1" dirty="0">
                <a:solidFill>
                  <a:srgbClr val="FF0000"/>
                </a:solidFill>
              </a:rPr>
              <a:t>p[</a:t>
            </a:r>
            <a:r>
              <a:rPr lang="en-US" altLang="zh-CN" sz="1800" b="1" dirty="0" err="1">
                <a:solidFill>
                  <a:srgbClr val="FF0000"/>
                </a:solidFill>
              </a:rPr>
              <a:t>i</a:t>
            </a:r>
            <a:r>
              <a:rPr lang="en-US" altLang="zh-CN" sz="1800" b="1" dirty="0">
                <a:solidFill>
                  <a:srgbClr val="FF0000"/>
                </a:solidFill>
              </a:rPr>
              <a:t>]=&amp;&amp;a[</a:t>
            </a:r>
            <a:r>
              <a:rPr lang="en-US" altLang="zh-CN" sz="1800" b="1" dirty="0" err="1">
                <a:solidFill>
                  <a:srgbClr val="FF0000"/>
                </a:solidFill>
              </a:rPr>
              <a:t>i</a:t>
            </a:r>
            <a:r>
              <a:rPr lang="en-US" altLang="zh-CN" sz="1800" b="1" dirty="0">
                <a:solidFill>
                  <a:srgbClr val="FF0000"/>
                </a:solidFill>
              </a:rPr>
              <a:t>][0]; </a:t>
            </a:r>
          </a:p>
          <a:p>
            <a:pPr marL="285750" lvl="1" indent="0">
              <a:buNone/>
            </a:pPr>
            <a:r>
              <a:rPr lang="en-US" altLang="zh-CN" sz="1800" dirty="0">
                <a:solidFill>
                  <a:srgbClr val="006600"/>
                </a:solidFill>
              </a:rPr>
              <a:t>     // </a:t>
            </a:r>
            <a:r>
              <a:rPr lang="zh-CN" altLang="en-US" sz="1800" dirty="0">
                <a:solidFill>
                  <a:srgbClr val="006600"/>
                </a:solidFill>
              </a:rPr>
              <a:t>在二维数组中，</a:t>
            </a:r>
            <a:r>
              <a:rPr lang="en-US" altLang="zh-CN" sz="1800" dirty="0">
                <a:solidFill>
                  <a:srgbClr val="006600"/>
                </a:solidFill>
              </a:rPr>
              <a:t>a[</a:t>
            </a:r>
            <a:r>
              <a:rPr lang="en-US" altLang="zh-CN" sz="1800" dirty="0" err="1">
                <a:solidFill>
                  <a:srgbClr val="006600"/>
                </a:solidFill>
              </a:rPr>
              <a:t>i</a:t>
            </a:r>
            <a:r>
              <a:rPr lang="en-US" altLang="zh-CN" sz="1800" dirty="0">
                <a:solidFill>
                  <a:srgbClr val="006600"/>
                </a:solidFill>
              </a:rPr>
              <a:t>]</a:t>
            </a:r>
            <a:r>
              <a:rPr lang="zh-CN" altLang="en-US" sz="1800" dirty="0">
                <a:solidFill>
                  <a:srgbClr val="006600"/>
                </a:solidFill>
              </a:rPr>
              <a:t>是指向第</a:t>
            </a:r>
            <a:r>
              <a:rPr lang="en-US" altLang="zh-CN" sz="1800" dirty="0" err="1">
                <a:solidFill>
                  <a:srgbClr val="006600"/>
                </a:solidFill>
              </a:rPr>
              <a:t>i</a:t>
            </a:r>
            <a:r>
              <a:rPr lang="zh-CN" altLang="en-US" sz="1800" dirty="0">
                <a:solidFill>
                  <a:srgbClr val="006600"/>
                </a:solidFill>
              </a:rPr>
              <a:t>行数组的第</a:t>
            </a:r>
            <a:r>
              <a:rPr lang="en-US" altLang="zh-CN" sz="1800" dirty="0">
                <a:solidFill>
                  <a:srgbClr val="006600"/>
                </a:solidFill>
              </a:rPr>
              <a:t>0</a:t>
            </a:r>
            <a:r>
              <a:rPr lang="zh-CN" altLang="en-US" sz="1800" dirty="0">
                <a:solidFill>
                  <a:srgbClr val="006600"/>
                </a:solidFill>
              </a:rPr>
              <a:t>个元素的指针</a:t>
            </a:r>
            <a:endParaRPr lang="en-US" altLang="zh-CN" sz="1800" dirty="0">
              <a:solidFill>
                <a:srgbClr val="006600"/>
              </a:solidFill>
            </a:endParaRPr>
          </a:p>
          <a:p>
            <a:pPr marL="285750"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row;i</a:t>
            </a:r>
            <a:r>
              <a:rPr lang="en-US" altLang="zh-CN" sz="1800" dirty="0"/>
              <a:t>++)</a:t>
            </a:r>
          </a:p>
          <a:p>
            <a:pPr marL="285750" lvl="1" indent="0">
              <a:buNone/>
            </a:pPr>
            <a:r>
              <a:rPr lang="en-US" altLang="zh-CN" sz="1800" dirty="0"/>
              <a:t>{</a:t>
            </a:r>
          </a:p>
          <a:p>
            <a:pPr marL="285750" lvl="1" indent="0">
              <a:buNone/>
            </a:pPr>
            <a:r>
              <a:rPr lang="en-US" altLang="zh-CN" sz="1800" dirty="0"/>
              <a:t>	for (</a:t>
            </a:r>
            <a:r>
              <a:rPr lang="en-US" altLang="zh-CN" sz="1800" dirty="0" err="1"/>
              <a:t>int</a:t>
            </a:r>
            <a:r>
              <a:rPr lang="en-US" altLang="zh-CN" sz="1800" dirty="0"/>
              <a:t> j=0;j&lt;</a:t>
            </a:r>
            <a:r>
              <a:rPr lang="en-US" altLang="zh-CN" sz="1800" dirty="0" err="1"/>
              <a:t>col;j</a:t>
            </a:r>
            <a:r>
              <a:rPr lang="en-US" altLang="zh-CN" sz="1800" dirty="0"/>
              <a:t>++)</a:t>
            </a:r>
          </a:p>
          <a:p>
            <a:pPr marL="285750" lvl="1" indent="0">
              <a:buNone/>
            </a:pPr>
            <a:r>
              <a:rPr lang="en-US" altLang="zh-CN" sz="1800" dirty="0"/>
              <a:t>	       </a:t>
            </a:r>
            <a:r>
              <a:rPr lang="en-US" altLang="zh-CN" sz="1800" b="1" dirty="0" err="1">
                <a:solidFill>
                  <a:srgbClr val="030DCD"/>
                </a:solidFill>
              </a:rPr>
              <a:t>printf</a:t>
            </a:r>
            <a:r>
              <a:rPr lang="en-US" altLang="zh-CN" sz="1800" b="1" dirty="0">
                <a:solidFill>
                  <a:srgbClr val="030DCD"/>
                </a:solidFill>
              </a:rPr>
              <a:t>(“%d ”, </a:t>
            </a:r>
            <a:r>
              <a:rPr lang="en-US" altLang="zh-CN" sz="1800" b="1" dirty="0">
                <a:solidFill>
                  <a:srgbClr val="FF0000"/>
                </a:solidFill>
              </a:rPr>
              <a:t>*p[</a:t>
            </a:r>
            <a:r>
              <a:rPr lang="en-US" altLang="zh-CN" sz="1800" b="1" dirty="0" err="1">
                <a:solidFill>
                  <a:srgbClr val="006600"/>
                </a:solidFill>
              </a:rPr>
              <a:t>i</a:t>
            </a:r>
            <a:r>
              <a:rPr lang="en-US" altLang="zh-CN" sz="1800" b="1" dirty="0">
                <a:solidFill>
                  <a:srgbClr val="FF0000"/>
                </a:solidFill>
              </a:rPr>
              <a:t>]++</a:t>
            </a:r>
            <a:r>
              <a:rPr lang="en-US" altLang="zh-CN" sz="1800" b="1" dirty="0">
                <a:solidFill>
                  <a:srgbClr val="030DCD"/>
                </a:solidFill>
              </a:rPr>
              <a:t>);  //</a:t>
            </a:r>
            <a:r>
              <a:rPr lang="zh-CN" altLang="en-US" sz="1800" b="1" dirty="0">
                <a:solidFill>
                  <a:srgbClr val="030DCD"/>
                </a:solidFill>
              </a:rPr>
              <a:t>或 </a:t>
            </a:r>
            <a:r>
              <a:rPr lang="en-US" altLang="zh-CN" sz="1800" b="1" dirty="0" err="1">
                <a:solidFill>
                  <a:srgbClr val="030DCD"/>
                </a:solidFill>
              </a:rPr>
              <a:t>printf</a:t>
            </a:r>
            <a:r>
              <a:rPr lang="en-US" altLang="zh-CN" sz="1800" b="1" dirty="0">
                <a:solidFill>
                  <a:srgbClr val="030DCD"/>
                </a:solidFill>
              </a:rPr>
              <a:t>("%d ", </a:t>
            </a:r>
            <a:r>
              <a:rPr lang="en-US" altLang="zh-CN" sz="1800" b="1" dirty="0">
                <a:solidFill>
                  <a:srgbClr val="FF0000"/>
                </a:solidFill>
              </a:rPr>
              <a:t>*p[</a:t>
            </a:r>
            <a:r>
              <a:rPr lang="en-US" altLang="zh-CN" sz="1800" b="1" dirty="0" err="1">
                <a:solidFill>
                  <a:srgbClr val="FF0000"/>
                </a:solidFill>
              </a:rPr>
              <a:t>i</a:t>
            </a:r>
            <a:r>
              <a:rPr lang="en-US" altLang="zh-CN" sz="1800" b="1" dirty="0">
                <a:solidFill>
                  <a:srgbClr val="FF0000"/>
                </a:solidFill>
              </a:rPr>
              <a:t>][j]</a:t>
            </a:r>
            <a:r>
              <a:rPr lang="en-US" altLang="zh-CN" sz="1800" b="1" dirty="0">
                <a:solidFill>
                  <a:srgbClr val="030DCD"/>
                </a:solidFill>
              </a:rPr>
              <a:t>);</a:t>
            </a:r>
            <a:endParaRPr lang="en-US" altLang="zh-CN" sz="1800" b="1" dirty="0"/>
          </a:p>
          <a:p>
            <a:pPr marL="285750" lvl="1" indent="0">
              <a:buNone/>
            </a:pPr>
            <a:r>
              <a:rPr lang="en-US" altLang="zh-CN" sz="1800" dirty="0"/>
              <a:t>    </a:t>
            </a:r>
            <a:r>
              <a:rPr lang="en-US" altLang="zh-CN" sz="1800" dirty="0" err="1"/>
              <a:t>printf</a:t>
            </a:r>
            <a:r>
              <a:rPr lang="en-US" altLang="zh-CN" sz="1800" dirty="0"/>
              <a:t>("\n");</a:t>
            </a:r>
          </a:p>
          <a:p>
            <a:pPr marL="285750" lvl="1" indent="0">
              <a:buNone/>
            </a:pPr>
            <a:r>
              <a:rPr lang="en-US" altLang="zh-CN" sz="1800" dirty="0"/>
              <a:t>}</a:t>
            </a:r>
          </a:p>
          <a:p>
            <a:pPr marL="285750" lvl="1" indent="0">
              <a:buNone/>
            </a:pPr>
            <a:endParaRPr lang="en-US" altLang="zh-CN" dirty="0"/>
          </a:p>
        </p:txBody>
      </p:sp>
      <p:pic>
        <p:nvPicPr>
          <p:cNvPr id="4"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009" y="2375045"/>
            <a:ext cx="4361584" cy="1510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9824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考察二维数组在内存中的存储（按行连续存储）</a:t>
            </a:r>
          </a:p>
        </p:txBody>
      </p:sp>
      <p:sp>
        <p:nvSpPr>
          <p:cNvPr id="3" name="内容占位符 2"/>
          <p:cNvSpPr>
            <a:spLocks noGrp="1"/>
          </p:cNvSpPr>
          <p:nvPr>
            <p:ph idx="1"/>
          </p:nvPr>
        </p:nvSpPr>
        <p:spPr>
          <a:xfrm>
            <a:off x="485774" y="1135063"/>
            <a:ext cx="8429625" cy="5345112"/>
          </a:xfrm>
        </p:spPr>
        <p:txBody>
          <a:bodyPr/>
          <a:lstStyle/>
          <a:p>
            <a:pPr marL="285750" lvl="1" indent="0">
              <a:buNone/>
            </a:pPr>
            <a:r>
              <a:rPr lang="en-US" altLang="zh-CN" sz="1800" dirty="0" err="1"/>
              <a:t>int</a:t>
            </a:r>
            <a:r>
              <a:rPr lang="en-US" altLang="zh-CN" sz="1800" dirty="0"/>
              <a:t> row=3,col=4;</a:t>
            </a:r>
          </a:p>
          <a:p>
            <a:pPr marL="285750" lvl="1" indent="0">
              <a:buNone/>
            </a:pPr>
            <a:r>
              <a:rPr lang="en-US" altLang="zh-CN" sz="1800" dirty="0" err="1">
                <a:solidFill>
                  <a:srgbClr val="006600"/>
                </a:solidFill>
              </a:rPr>
              <a:t>int</a:t>
            </a:r>
            <a:r>
              <a:rPr lang="en-US" altLang="zh-CN" sz="1800" dirty="0">
                <a:solidFill>
                  <a:srgbClr val="006600"/>
                </a:solidFill>
              </a:rPr>
              <a:t> a[row][col];</a:t>
            </a:r>
          </a:p>
          <a:p>
            <a:pPr marL="285750" lvl="1" indent="0">
              <a:buNone/>
            </a:pPr>
            <a:r>
              <a:rPr lang="en-US" altLang="zh-CN" sz="1800" b="1" dirty="0" err="1">
                <a:solidFill>
                  <a:srgbClr val="030DCD"/>
                </a:solidFill>
              </a:rPr>
              <a:t>int</a:t>
            </a:r>
            <a:r>
              <a:rPr lang="en-US" altLang="zh-CN" sz="1800" b="1" dirty="0">
                <a:solidFill>
                  <a:srgbClr val="030DCD"/>
                </a:solidFill>
              </a:rPr>
              <a:t>  *p;   //</a:t>
            </a:r>
            <a:r>
              <a:rPr lang="zh-CN" altLang="en-US" sz="1800" b="1" dirty="0">
                <a:solidFill>
                  <a:srgbClr val="030DCD"/>
                </a:solidFill>
              </a:rPr>
              <a:t>定义一个整型指针；</a:t>
            </a:r>
            <a:endParaRPr lang="en-US" altLang="zh-CN" sz="1800" b="1" dirty="0">
              <a:solidFill>
                <a:srgbClr val="030DCD"/>
              </a:solidFill>
            </a:endParaRPr>
          </a:p>
          <a:p>
            <a:pPr marL="285750"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dirty="0" err="1"/>
              <a:t>row;i</a:t>
            </a:r>
            <a:r>
              <a:rPr lang="en-US" altLang="zh-CN" sz="1800" dirty="0"/>
              <a:t>++)</a:t>
            </a:r>
          </a:p>
          <a:p>
            <a:pPr marL="285750" lvl="1" indent="0">
              <a:buNone/>
            </a:pPr>
            <a:r>
              <a:rPr lang="en-US" altLang="zh-CN" sz="1800" dirty="0"/>
              <a:t>    for (</a:t>
            </a:r>
            <a:r>
              <a:rPr lang="en-US" altLang="zh-CN" sz="1800" dirty="0" err="1"/>
              <a:t>int</a:t>
            </a:r>
            <a:r>
              <a:rPr lang="en-US" altLang="zh-CN" sz="1800" dirty="0"/>
              <a:t> j=0;j&lt;</a:t>
            </a:r>
            <a:r>
              <a:rPr lang="en-US" altLang="zh-CN" sz="1800" dirty="0" err="1"/>
              <a:t>col;j</a:t>
            </a:r>
            <a:r>
              <a:rPr lang="en-US" altLang="zh-CN" sz="1800" dirty="0"/>
              <a:t>++)</a:t>
            </a:r>
          </a:p>
          <a:p>
            <a:pPr marL="285750" lvl="1" indent="0">
              <a:buNone/>
            </a:pPr>
            <a:r>
              <a:rPr lang="en-US" altLang="zh-CN" sz="1800" dirty="0"/>
              <a:t>   	   a[</a:t>
            </a:r>
            <a:r>
              <a:rPr lang="en-US" altLang="zh-CN" sz="1800" dirty="0" err="1"/>
              <a:t>i</a:t>
            </a:r>
            <a:r>
              <a:rPr lang="en-US" altLang="zh-CN" sz="1800" dirty="0"/>
              <a:t>][j] = </a:t>
            </a:r>
            <a:r>
              <a:rPr lang="en-US" altLang="zh-CN" sz="1800" dirty="0" err="1"/>
              <a:t>i</a:t>
            </a:r>
            <a:r>
              <a:rPr lang="en-US" altLang="zh-CN" sz="1800" dirty="0"/>
              <a:t>*</a:t>
            </a:r>
            <a:r>
              <a:rPr lang="en-US" altLang="zh-CN" sz="1800" dirty="0" err="1"/>
              <a:t>i</a:t>
            </a:r>
            <a:r>
              <a:rPr lang="en-US" altLang="zh-CN" sz="1800" dirty="0"/>
              <a:t>;</a:t>
            </a:r>
          </a:p>
          <a:p>
            <a:pPr marL="285750" lvl="1" indent="0">
              <a:buNone/>
            </a:pPr>
            <a:r>
              <a:rPr lang="en-US" altLang="zh-CN" sz="1800" b="1" dirty="0">
                <a:solidFill>
                  <a:srgbClr val="030DCD"/>
                </a:solidFill>
              </a:rPr>
              <a:t>p=*a; //</a:t>
            </a:r>
            <a:r>
              <a:rPr lang="zh-CN" altLang="en-US" sz="1800" b="1" dirty="0">
                <a:solidFill>
                  <a:srgbClr val="030DCD"/>
                </a:solidFill>
              </a:rPr>
              <a:t>或</a:t>
            </a:r>
            <a:r>
              <a:rPr lang="en-US" altLang="zh-CN" sz="1800" b="1" dirty="0">
                <a:solidFill>
                  <a:srgbClr val="006600"/>
                </a:solidFill>
              </a:rPr>
              <a:t>p=&amp;a[0][0];  p=a[0]; </a:t>
            </a:r>
          </a:p>
          <a:p>
            <a:pPr marL="285750" lvl="1" indent="0">
              <a:buNone/>
            </a:pPr>
            <a:r>
              <a:rPr lang="en-US" altLang="zh-CN" sz="1800" b="1" dirty="0">
                <a:solidFill>
                  <a:srgbClr val="030DCD"/>
                </a:solidFill>
              </a:rPr>
              <a:t> //</a:t>
            </a:r>
            <a:r>
              <a:rPr lang="zh-CN" altLang="en-US" sz="1800" b="1" dirty="0">
                <a:solidFill>
                  <a:srgbClr val="030DCD"/>
                </a:solidFill>
              </a:rPr>
              <a:t>理解成：整型指针</a:t>
            </a:r>
            <a:r>
              <a:rPr lang="en-US" altLang="zh-CN" sz="1800" b="1" dirty="0">
                <a:solidFill>
                  <a:srgbClr val="C00000"/>
                </a:solidFill>
              </a:rPr>
              <a:t>p</a:t>
            </a:r>
            <a:r>
              <a:rPr lang="zh-CN" altLang="en-US" sz="1800" b="1" dirty="0">
                <a:solidFill>
                  <a:srgbClr val="C00000"/>
                </a:solidFill>
              </a:rPr>
              <a:t>指向一维数组</a:t>
            </a:r>
            <a:r>
              <a:rPr lang="en-US" altLang="zh-CN" sz="1800" b="1" dirty="0">
                <a:solidFill>
                  <a:srgbClr val="C00000"/>
                </a:solidFill>
              </a:rPr>
              <a:t>a[0]</a:t>
            </a:r>
            <a:r>
              <a:rPr lang="zh-CN" altLang="en-US" sz="1800" b="1" dirty="0">
                <a:solidFill>
                  <a:srgbClr val="C00000"/>
                </a:solidFill>
              </a:rPr>
              <a:t>的第一个元素</a:t>
            </a:r>
            <a:r>
              <a:rPr lang="en-US" altLang="zh-CN" sz="1800" b="1" dirty="0">
                <a:solidFill>
                  <a:srgbClr val="C00000"/>
                </a:solidFill>
              </a:rPr>
              <a:t>a[0][0];</a:t>
            </a:r>
          </a:p>
          <a:p>
            <a:pPr marL="285750" lvl="1" indent="0">
              <a:buNone/>
            </a:pPr>
            <a:r>
              <a:rPr lang="en-US" altLang="zh-CN" sz="1800" dirty="0"/>
              <a:t>for (</a:t>
            </a:r>
            <a:r>
              <a:rPr lang="en-US" altLang="zh-CN" sz="1800" dirty="0" err="1"/>
              <a:t>int</a:t>
            </a:r>
            <a:r>
              <a:rPr lang="en-US" altLang="zh-CN" sz="1800" dirty="0"/>
              <a:t> </a:t>
            </a:r>
            <a:r>
              <a:rPr lang="en-US" altLang="zh-CN" sz="1800" dirty="0" err="1"/>
              <a:t>i</a:t>
            </a:r>
            <a:r>
              <a:rPr lang="en-US" altLang="zh-CN" sz="1800" dirty="0"/>
              <a:t>=0;i&lt;</a:t>
            </a:r>
            <a:r>
              <a:rPr lang="en-US" altLang="zh-CN" sz="1800" b="1" dirty="0">
                <a:solidFill>
                  <a:srgbClr val="FF0000"/>
                </a:solidFill>
              </a:rPr>
              <a:t>row*</a:t>
            </a:r>
            <a:r>
              <a:rPr lang="en-US" altLang="zh-CN" sz="1800" b="1" dirty="0" err="1">
                <a:solidFill>
                  <a:srgbClr val="FF0000"/>
                </a:solidFill>
              </a:rPr>
              <a:t>col</a:t>
            </a:r>
            <a:r>
              <a:rPr lang="en-US" altLang="zh-CN" sz="1800" dirty="0" err="1"/>
              <a:t>;i</a:t>
            </a:r>
            <a:r>
              <a:rPr lang="en-US" altLang="zh-CN" sz="1800" dirty="0"/>
              <a:t>++)</a:t>
            </a:r>
          </a:p>
          <a:p>
            <a:pPr marL="285750" lvl="1" indent="0">
              <a:buNone/>
            </a:pPr>
            <a:r>
              <a:rPr lang="en-US" altLang="zh-CN" sz="1800" dirty="0"/>
              <a:t>       </a:t>
            </a:r>
            <a:r>
              <a:rPr lang="en-US" altLang="zh-CN" sz="1800" b="1" dirty="0" err="1">
                <a:solidFill>
                  <a:srgbClr val="030DCD"/>
                </a:solidFill>
              </a:rPr>
              <a:t>printf</a:t>
            </a:r>
            <a:r>
              <a:rPr lang="en-US" altLang="zh-CN" sz="1800" b="1" dirty="0">
                <a:solidFill>
                  <a:srgbClr val="030DCD"/>
                </a:solidFill>
              </a:rPr>
              <a:t>(“%d ”, </a:t>
            </a:r>
            <a:r>
              <a:rPr lang="en-US" altLang="zh-CN" sz="1800" b="1" dirty="0">
                <a:solidFill>
                  <a:srgbClr val="FF0000"/>
                </a:solidFill>
              </a:rPr>
              <a:t>*p++</a:t>
            </a:r>
            <a:r>
              <a:rPr lang="en-US" altLang="zh-CN" sz="1800" b="1" dirty="0">
                <a:solidFill>
                  <a:srgbClr val="030DCD"/>
                </a:solidFill>
              </a:rPr>
              <a:t>);   //</a:t>
            </a:r>
            <a:r>
              <a:rPr lang="zh-CN" altLang="en-US" sz="1800" b="1" dirty="0">
                <a:solidFill>
                  <a:srgbClr val="030DCD"/>
                </a:solidFill>
              </a:rPr>
              <a:t>遍历二维数组</a:t>
            </a:r>
            <a:r>
              <a:rPr lang="en-US" altLang="zh-CN" sz="1800" b="1" dirty="0">
                <a:solidFill>
                  <a:srgbClr val="030DCD"/>
                </a:solidFill>
              </a:rPr>
              <a:t>a</a:t>
            </a:r>
          </a:p>
          <a:p>
            <a:pPr marL="342000" indent="-342900">
              <a:buFont typeface="Wingdings" panose="05000000000000000000" pitchFamily="2" charset="2"/>
              <a:buChar char="l"/>
            </a:pPr>
            <a:r>
              <a:rPr lang="zh-CN" altLang="en-US" sz="2000" dirty="0">
                <a:solidFill>
                  <a:srgbClr val="7030A0"/>
                </a:solidFill>
              </a:rPr>
              <a:t>注：从语句 </a:t>
            </a:r>
            <a:r>
              <a:rPr lang="en-US" altLang="zh-CN" sz="2000" dirty="0">
                <a:solidFill>
                  <a:srgbClr val="030DCD"/>
                </a:solidFill>
              </a:rPr>
              <a:t>int *p; p=*a</a:t>
            </a:r>
            <a:r>
              <a:rPr lang="zh-CN" altLang="en-US" sz="2000" dirty="0">
                <a:solidFill>
                  <a:srgbClr val="7030A0"/>
                </a:solidFill>
              </a:rPr>
              <a:t>中可以看出，</a:t>
            </a:r>
            <a:r>
              <a:rPr lang="en-US" altLang="zh-CN" sz="2000" dirty="0">
                <a:solidFill>
                  <a:srgbClr val="7030A0"/>
                </a:solidFill>
              </a:rPr>
              <a:t> </a:t>
            </a:r>
            <a:r>
              <a:rPr lang="zh-CN" altLang="en-US" sz="2000" dirty="0">
                <a:solidFill>
                  <a:srgbClr val="7030A0"/>
                </a:solidFill>
              </a:rPr>
              <a:t>二维数组名</a:t>
            </a:r>
            <a:r>
              <a:rPr lang="en-US" altLang="zh-CN" sz="2000" dirty="0">
                <a:solidFill>
                  <a:srgbClr val="7030A0"/>
                </a:solidFill>
              </a:rPr>
              <a:t>a</a:t>
            </a:r>
            <a:r>
              <a:rPr lang="zh-CN" altLang="en-US" sz="2000" dirty="0">
                <a:solidFill>
                  <a:srgbClr val="7030A0"/>
                </a:solidFill>
              </a:rPr>
              <a:t>是一个指向指针的指针，即一个二级指针；</a:t>
            </a:r>
            <a:endParaRPr lang="en-US" altLang="zh-CN" sz="2000" dirty="0">
              <a:solidFill>
                <a:srgbClr val="7030A0"/>
              </a:solidFill>
            </a:endParaRPr>
          </a:p>
        </p:txBody>
      </p:sp>
      <p:pic>
        <p:nvPicPr>
          <p:cNvPr id="4"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0345" y="1473127"/>
            <a:ext cx="4361584" cy="1510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112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7030A0"/>
                </a:solidFill>
              </a:rPr>
              <a:t>进阶（超纲）：</a:t>
            </a:r>
            <a:r>
              <a:rPr lang="zh-CN" altLang="en-US" dirty="0" smtClean="0"/>
              <a:t>指向</a:t>
            </a:r>
            <a:r>
              <a:rPr lang="zh-CN" altLang="en-US" dirty="0" smtClean="0">
                <a:solidFill>
                  <a:srgbClr val="0000CC"/>
                </a:solidFill>
              </a:rPr>
              <a:t>指针数组名</a:t>
            </a:r>
            <a:r>
              <a:rPr lang="zh-CN" altLang="en-US" dirty="0" smtClean="0"/>
              <a:t>的指针</a:t>
            </a:r>
            <a:endParaRPr lang="zh-CN" altLang="en-US" dirty="0"/>
          </a:p>
        </p:txBody>
      </p:sp>
      <p:sp>
        <p:nvSpPr>
          <p:cNvPr id="3" name="内容占位符 2"/>
          <p:cNvSpPr>
            <a:spLocks noGrp="1"/>
          </p:cNvSpPr>
          <p:nvPr>
            <p:ph idx="1"/>
          </p:nvPr>
        </p:nvSpPr>
        <p:spPr>
          <a:xfrm>
            <a:off x="485774" y="1135063"/>
            <a:ext cx="8429625" cy="5345112"/>
          </a:xfrm>
        </p:spPr>
        <p:txBody>
          <a:bodyPr/>
          <a:lstStyle/>
          <a:p>
            <a:pPr marL="342000" indent="-342900">
              <a:buFont typeface="Wingdings" panose="05000000000000000000" pitchFamily="2" charset="2"/>
              <a:buChar char="l"/>
            </a:pPr>
            <a:r>
              <a:rPr lang="zh-CN" altLang="en-US" dirty="0" smtClean="0">
                <a:solidFill>
                  <a:srgbClr val="030DCD"/>
                </a:solidFill>
              </a:rPr>
              <a:t>理解下述程序片段</a:t>
            </a:r>
            <a:endParaRPr lang="en-US" altLang="zh-CN" dirty="0" smtClean="0">
              <a:solidFill>
                <a:srgbClr val="030DCD"/>
              </a:solidFill>
            </a:endParaRPr>
          </a:p>
          <a:p>
            <a:pPr marL="627750" lvl="1" indent="0">
              <a:buNone/>
            </a:pPr>
            <a:r>
              <a:rPr lang="en-US" altLang="zh-CN" sz="1600" dirty="0" err="1" smtClean="0"/>
              <a:t>int</a:t>
            </a:r>
            <a:r>
              <a:rPr lang="en-US" altLang="zh-CN" sz="1600" dirty="0" smtClean="0"/>
              <a:t> a=44,b=55,c=66;</a:t>
            </a:r>
          </a:p>
          <a:p>
            <a:pPr marL="627750" lvl="1" indent="0">
              <a:buNone/>
            </a:pPr>
            <a:r>
              <a:rPr lang="en-US" altLang="zh-CN" sz="1600" dirty="0"/>
              <a:t>	</a:t>
            </a:r>
            <a:r>
              <a:rPr lang="en-US" altLang="zh-CN" sz="1600" dirty="0" err="1"/>
              <a:t>int</a:t>
            </a:r>
            <a:r>
              <a:rPr lang="en-US" altLang="zh-CN" sz="1600" dirty="0"/>
              <a:t> *</a:t>
            </a:r>
            <a:r>
              <a:rPr lang="en-US" altLang="zh-CN" sz="1600" dirty="0" smtClean="0"/>
              <a:t>p[3];</a:t>
            </a:r>
            <a:endParaRPr lang="en-US" altLang="zh-CN" sz="1600" dirty="0"/>
          </a:p>
          <a:p>
            <a:pPr marL="627750" lvl="1" indent="0">
              <a:buNone/>
            </a:pPr>
            <a:r>
              <a:rPr lang="en-US" altLang="zh-CN" sz="1600" dirty="0"/>
              <a:t>	p[0]=&amp;</a:t>
            </a:r>
            <a:r>
              <a:rPr lang="en-US" altLang="zh-CN" sz="1600" dirty="0" err="1" smtClean="0"/>
              <a:t>a,p</a:t>
            </a:r>
            <a:r>
              <a:rPr lang="en-US" altLang="zh-CN" sz="1600" dirty="0" smtClean="0"/>
              <a:t>[1</a:t>
            </a:r>
            <a:r>
              <a:rPr lang="en-US" altLang="zh-CN" sz="1600" dirty="0"/>
              <a:t>]=&amp;</a:t>
            </a:r>
            <a:r>
              <a:rPr lang="en-US" altLang="zh-CN" sz="1600" dirty="0" err="1" smtClean="0"/>
              <a:t>b,p</a:t>
            </a:r>
            <a:r>
              <a:rPr lang="en-US" altLang="zh-CN" sz="1600" dirty="0" smtClean="0"/>
              <a:t>[2</a:t>
            </a:r>
            <a:r>
              <a:rPr lang="en-US" altLang="zh-CN" sz="1600" dirty="0"/>
              <a:t>]=&amp;c</a:t>
            </a:r>
            <a:r>
              <a:rPr lang="en-US" altLang="zh-CN" sz="1600" dirty="0" smtClean="0"/>
              <a:t>;</a:t>
            </a:r>
          </a:p>
          <a:p>
            <a:pPr marL="627750" lvl="1" indent="0">
              <a:buNone/>
            </a:pPr>
            <a:r>
              <a:rPr lang="en-US" altLang="zh-CN" sz="1600" dirty="0"/>
              <a:t>f</a:t>
            </a:r>
            <a:r>
              <a:rPr lang="en-US" altLang="zh-CN" sz="1600" dirty="0" smtClean="0"/>
              <a:t>or (</a:t>
            </a:r>
            <a:r>
              <a:rPr lang="en-US" altLang="zh-CN" sz="1600" dirty="0" err="1" smtClean="0"/>
              <a:t>int</a:t>
            </a:r>
            <a:r>
              <a:rPr lang="en-US" altLang="zh-CN" sz="1600" dirty="0" smtClean="0"/>
              <a:t> </a:t>
            </a:r>
            <a:r>
              <a:rPr lang="en-US" altLang="zh-CN" sz="1600" dirty="0" err="1" smtClean="0"/>
              <a:t>i</a:t>
            </a:r>
            <a:r>
              <a:rPr lang="en-US" altLang="zh-CN" sz="1600" dirty="0" smtClean="0"/>
              <a:t>=0;i&lt;=2;i++)  </a:t>
            </a:r>
            <a:endParaRPr lang="en-US" altLang="zh-CN" sz="1600" dirty="0"/>
          </a:p>
          <a:p>
            <a:pPr marL="627750" lvl="1" indent="0">
              <a:buNone/>
            </a:pPr>
            <a:r>
              <a:rPr lang="en-US" altLang="zh-CN" sz="1600" dirty="0" smtClean="0"/>
              <a:t>      </a:t>
            </a:r>
            <a:r>
              <a:rPr lang="en-US" altLang="zh-CN" sz="1600" dirty="0" err="1" smtClean="0"/>
              <a:t>printf</a:t>
            </a:r>
            <a:r>
              <a:rPr lang="en-US" altLang="zh-CN" sz="1600" dirty="0"/>
              <a:t>("*p[%d]=%d\n",</a:t>
            </a:r>
            <a:r>
              <a:rPr lang="en-US" altLang="zh-CN" sz="1600" dirty="0" err="1"/>
              <a:t>i</a:t>
            </a:r>
            <a:r>
              <a:rPr lang="en-US" altLang="zh-CN" sz="1600" dirty="0">
                <a:solidFill>
                  <a:srgbClr val="000099"/>
                </a:solidFill>
              </a:rPr>
              <a:t>,</a:t>
            </a:r>
            <a:r>
              <a:rPr lang="en-US" altLang="zh-CN" sz="1600" b="1" dirty="0">
                <a:solidFill>
                  <a:srgbClr val="0000CC"/>
                </a:solidFill>
              </a:rPr>
              <a:t>*p[</a:t>
            </a:r>
            <a:r>
              <a:rPr lang="en-US" altLang="zh-CN" sz="1600" b="1" dirty="0" err="1">
                <a:solidFill>
                  <a:srgbClr val="0000CC"/>
                </a:solidFill>
              </a:rPr>
              <a:t>i</a:t>
            </a:r>
            <a:r>
              <a:rPr lang="en-US" altLang="zh-CN" sz="1600" b="1" dirty="0" smtClean="0">
                <a:solidFill>
                  <a:srgbClr val="0000CC"/>
                </a:solidFill>
              </a:rPr>
              <a:t>]</a:t>
            </a:r>
            <a:r>
              <a:rPr lang="en-US" altLang="zh-CN" sz="1600" dirty="0" smtClean="0"/>
              <a:t>);</a:t>
            </a:r>
          </a:p>
          <a:p>
            <a:pPr marL="627750" lvl="1" indent="0">
              <a:buNone/>
            </a:pPr>
            <a:endParaRPr lang="en-US" altLang="zh-CN" sz="1600" dirty="0" smtClean="0"/>
          </a:p>
          <a:p>
            <a:pPr marL="627750" lvl="1" indent="0">
              <a:buNone/>
            </a:pPr>
            <a:r>
              <a:rPr lang="en-US" altLang="zh-CN" sz="1600" dirty="0"/>
              <a:t>	</a:t>
            </a:r>
            <a:r>
              <a:rPr lang="en-US" altLang="zh-CN" sz="1600" dirty="0" err="1"/>
              <a:t>int</a:t>
            </a:r>
            <a:r>
              <a:rPr lang="en-US" altLang="zh-CN" sz="1600" dirty="0"/>
              <a:t> </a:t>
            </a:r>
            <a:r>
              <a:rPr lang="en-US" altLang="zh-CN" sz="1600" b="1" dirty="0">
                <a:solidFill>
                  <a:srgbClr val="0000CC"/>
                </a:solidFill>
              </a:rPr>
              <a:t>**pp=p</a:t>
            </a:r>
            <a:r>
              <a:rPr lang="en-US" altLang="zh-CN" sz="1600" b="1" dirty="0" smtClean="0">
                <a:solidFill>
                  <a:srgbClr val="0000CC"/>
                </a:solidFill>
              </a:rPr>
              <a:t>;    </a:t>
            </a:r>
            <a:r>
              <a:rPr lang="en-US" altLang="zh-CN" sz="1600" dirty="0" smtClean="0">
                <a:solidFill>
                  <a:srgbClr val="C00000"/>
                </a:solidFill>
              </a:rPr>
              <a:t>//pp</a:t>
            </a:r>
            <a:r>
              <a:rPr lang="zh-CN" altLang="en-US" sz="1600" dirty="0" smtClean="0">
                <a:solidFill>
                  <a:srgbClr val="C00000"/>
                </a:solidFill>
              </a:rPr>
              <a:t>指向</a:t>
            </a:r>
            <a:r>
              <a:rPr lang="en-US" altLang="zh-CN" sz="1600" dirty="0" smtClean="0">
                <a:solidFill>
                  <a:srgbClr val="C00000"/>
                </a:solidFill>
                <a:sym typeface="Wingdings" panose="05000000000000000000" pitchFamily="2" charset="2"/>
              </a:rPr>
              <a:t>p[0]</a:t>
            </a:r>
            <a:r>
              <a:rPr lang="zh-CN" altLang="en-US" sz="1600" dirty="0" smtClean="0">
                <a:solidFill>
                  <a:srgbClr val="C00000"/>
                </a:solidFill>
                <a:sym typeface="Wingdings" panose="05000000000000000000" pitchFamily="2" charset="2"/>
              </a:rPr>
              <a:t>，</a:t>
            </a:r>
            <a:r>
              <a:rPr lang="en-US" altLang="zh-CN" sz="1600" dirty="0" smtClean="0">
                <a:solidFill>
                  <a:srgbClr val="C00000"/>
                </a:solidFill>
                <a:sym typeface="Wingdings" panose="05000000000000000000" pitchFamily="2" charset="2"/>
              </a:rPr>
              <a:t>pp++</a:t>
            </a:r>
            <a:r>
              <a:rPr lang="zh-CN" altLang="en-US" sz="1600" dirty="0" smtClean="0">
                <a:solidFill>
                  <a:srgbClr val="C00000"/>
                </a:solidFill>
                <a:sym typeface="Wingdings" panose="05000000000000000000" pitchFamily="2" charset="2"/>
              </a:rPr>
              <a:t>指向</a:t>
            </a:r>
            <a:r>
              <a:rPr lang="en-US" altLang="zh-CN" sz="1600" dirty="0" smtClean="0">
                <a:solidFill>
                  <a:srgbClr val="C00000"/>
                </a:solidFill>
                <a:sym typeface="Wingdings" panose="05000000000000000000" pitchFamily="2" charset="2"/>
              </a:rPr>
              <a:t>p[1]</a:t>
            </a:r>
            <a:endParaRPr lang="en-US" altLang="zh-CN" sz="1600" dirty="0">
              <a:solidFill>
                <a:srgbClr val="C00000"/>
              </a:solidFill>
            </a:endParaRPr>
          </a:p>
          <a:p>
            <a:pPr marL="627750" lvl="1" indent="0">
              <a:buNone/>
            </a:pPr>
            <a:r>
              <a:rPr lang="en-US" altLang="zh-CN" sz="1600" dirty="0"/>
              <a:t>	</a:t>
            </a:r>
            <a:r>
              <a:rPr lang="en-US" altLang="zh-CN" sz="1600" dirty="0" err="1"/>
              <a:t>printf</a:t>
            </a:r>
            <a:r>
              <a:rPr lang="en-US" altLang="zh-CN" sz="1600" dirty="0"/>
              <a:t>("*pp=%d\n",*(*pp</a:t>
            </a:r>
            <a:r>
              <a:rPr lang="en-US" altLang="zh-CN" sz="1600" dirty="0" smtClean="0"/>
              <a:t>));   </a:t>
            </a:r>
            <a:r>
              <a:rPr lang="en-US" altLang="zh-CN" sz="1600" b="1" dirty="0" smtClean="0">
                <a:solidFill>
                  <a:srgbClr val="7030A0"/>
                </a:solidFill>
              </a:rPr>
              <a:t>//</a:t>
            </a:r>
            <a:r>
              <a:rPr lang="en-US" altLang="zh-CN" sz="1600" b="1" dirty="0">
                <a:solidFill>
                  <a:srgbClr val="7030A0"/>
                </a:solidFill>
              </a:rPr>
              <a:t>**</a:t>
            </a:r>
            <a:r>
              <a:rPr lang="en-US" altLang="zh-CN" sz="1600" b="1" dirty="0" smtClean="0">
                <a:solidFill>
                  <a:srgbClr val="7030A0"/>
                </a:solidFill>
              </a:rPr>
              <a:t>pp</a:t>
            </a:r>
            <a:r>
              <a:rPr lang="en-US" altLang="zh-CN" sz="1600" b="1" dirty="0" smtClean="0">
                <a:solidFill>
                  <a:srgbClr val="7030A0"/>
                </a:solidFill>
                <a:sym typeface="Wingdings" panose="05000000000000000000" pitchFamily="2" charset="2"/>
              </a:rPr>
              <a:t></a:t>
            </a:r>
            <a:r>
              <a:rPr lang="en-US" altLang="zh-CN" sz="1600" b="1" dirty="0" smtClean="0">
                <a:solidFill>
                  <a:srgbClr val="7030A0"/>
                </a:solidFill>
              </a:rPr>
              <a:t>*(*</a:t>
            </a:r>
            <a:r>
              <a:rPr lang="en-US" altLang="zh-CN" sz="1600" b="1" dirty="0">
                <a:solidFill>
                  <a:srgbClr val="7030A0"/>
                </a:solidFill>
              </a:rPr>
              <a:t>pp</a:t>
            </a:r>
            <a:r>
              <a:rPr lang="en-US" altLang="zh-CN" sz="1600" b="1" dirty="0" smtClean="0">
                <a:solidFill>
                  <a:srgbClr val="7030A0"/>
                </a:solidFill>
              </a:rPr>
              <a:t>)</a:t>
            </a:r>
            <a:r>
              <a:rPr lang="en-US" altLang="zh-CN" sz="1600" b="1" dirty="0" smtClean="0">
                <a:solidFill>
                  <a:srgbClr val="7030A0"/>
                </a:solidFill>
                <a:sym typeface="Wingdings" panose="05000000000000000000" pitchFamily="2" charset="2"/>
              </a:rPr>
              <a:t></a:t>
            </a:r>
            <a:r>
              <a:rPr lang="en-US" altLang="zh-CN" sz="1600" b="1" smtClean="0">
                <a:solidFill>
                  <a:srgbClr val="7030A0"/>
                </a:solidFill>
              </a:rPr>
              <a:t>*(p[0])</a:t>
            </a:r>
            <a:r>
              <a:rPr lang="en-US" altLang="zh-CN" sz="1600" b="1" smtClean="0">
                <a:solidFill>
                  <a:srgbClr val="7030A0"/>
                </a:solidFill>
                <a:sym typeface="Wingdings" panose="05000000000000000000" pitchFamily="2" charset="2"/>
              </a:rPr>
              <a:t></a:t>
            </a:r>
            <a:r>
              <a:rPr lang="en-US" altLang="zh-CN" sz="1600" b="1" dirty="0" smtClean="0">
                <a:solidFill>
                  <a:srgbClr val="7030A0"/>
                </a:solidFill>
              </a:rPr>
              <a:t>a</a:t>
            </a:r>
          </a:p>
          <a:p>
            <a:pPr marL="627750" lvl="1" indent="0">
              <a:buNone/>
            </a:pPr>
            <a:r>
              <a:rPr lang="en-US" altLang="zh-CN" sz="1600" dirty="0" smtClean="0"/>
              <a:t> </a:t>
            </a:r>
            <a:r>
              <a:rPr lang="en-US" altLang="zh-CN" sz="1600" dirty="0" err="1" smtClean="0"/>
              <a:t>printf</a:t>
            </a:r>
            <a:r>
              <a:rPr lang="en-US" altLang="zh-CN" sz="1600" dirty="0"/>
              <a:t>("*pp=%d\n</a:t>
            </a:r>
            <a:r>
              <a:rPr lang="en-US" altLang="zh-CN" sz="1600" dirty="0" smtClean="0"/>
              <a:t>",**pp++);</a:t>
            </a:r>
            <a:endParaRPr lang="en-US" altLang="zh-CN" sz="1600" dirty="0"/>
          </a:p>
          <a:p>
            <a:pPr marL="627750" lvl="1" indent="0">
              <a:buNone/>
            </a:pPr>
            <a:r>
              <a:rPr lang="en-US" altLang="zh-CN" sz="1600" dirty="0"/>
              <a:t>	</a:t>
            </a:r>
            <a:r>
              <a:rPr lang="en-US" altLang="zh-CN" sz="1600" dirty="0" err="1"/>
              <a:t>printf</a:t>
            </a:r>
            <a:r>
              <a:rPr lang="en-US" altLang="zh-CN" sz="1600" dirty="0"/>
              <a:t>("*pp=%d\n</a:t>
            </a:r>
            <a:r>
              <a:rPr lang="en-US" altLang="zh-CN" sz="1600" dirty="0" smtClean="0"/>
              <a:t>",**--pp);</a:t>
            </a:r>
          </a:p>
          <a:p>
            <a:pPr marL="627750" lvl="1" indent="0">
              <a:buNone/>
            </a:pPr>
            <a:r>
              <a:rPr lang="en-US" altLang="zh-CN" sz="1600" dirty="0" smtClean="0">
                <a:solidFill>
                  <a:srgbClr val="0000CC"/>
                </a:solidFill>
              </a:rPr>
              <a:t>/</a:t>
            </a:r>
            <a:r>
              <a:rPr lang="zh-CN" altLang="en-US" sz="1600" dirty="0" smtClean="0">
                <a:solidFill>
                  <a:srgbClr val="0000CC"/>
                </a:solidFill>
              </a:rPr>
              <a:t>思考：</a:t>
            </a:r>
            <a:r>
              <a:rPr lang="en-US" altLang="zh-CN" sz="1600" dirty="0" smtClean="0">
                <a:solidFill>
                  <a:srgbClr val="0000CC"/>
                </a:solidFill>
              </a:rPr>
              <a:t>(*pp)++</a:t>
            </a:r>
            <a:r>
              <a:rPr lang="zh-CN" altLang="en-US" sz="1600" dirty="0" smtClean="0">
                <a:solidFill>
                  <a:srgbClr val="0000CC"/>
                </a:solidFill>
              </a:rPr>
              <a:t>的语义是什么？</a:t>
            </a:r>
            <a:endParaRPr lang="en-US" altLang="zh-CN" sz="1600" dirty="0">
              <a:solidFill>
                <a:srgbClr val="0000CC"/>
              </a:solidFill>
            </a:endParaRPr>
          </a:p>
        </p:txBody>
      </p:sp>
    </p:spTree>
    <p:extLst>
      <p:ext uri="{BB962C8B-B14F-4D97-AF65-F5344CB8AC3E}">
        <p14:creationId xmlns:p14="http://schemas.microsoft.com/office/powerpoint/2010/main" val="10569650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利用二级指针访问一维数组</a:t>
            </a:r>
          </a:p>
        </p:txBody>
      </p:sp>
      <p:sp>
        <p:nvSpPr>
          <p:cNvPr id="3" name="内容占位符 2"/>
          <p:cNvSpPr>
            <a:spLocks noGrp="1"/>
          </p:cNvSpPr>
          <p:nvPr>
            <p:ph idx="1"/>
          </p:nvPr>
        </p:nvSpPr>
        <p:spPr>
          <a:xfrm>
            <a:off x="485775" y="1135063"/>
            <a:ext cx="5067133" cy="5345112"/>
          </a:xfrm>
        </p:spPr>
        <p:txBody>
          <a:bodyPr/>
          <a:lstStyle/>
          <a:p>
            <a:pPr indent="-900">
              <a:lnSpc>
                <a:spcPct val="100000"/>
              </a:lnSpc>
              <a:spcBef>
                <a:spcPts val="600"/>
              </a:spcBef>
              <a:buNone/>
            </a:pPr>
            <a:r>
              <a:rPr lang="en-US" altLang="zh-CN" sz="2000" dirty="0" err="1">
                <a:solidFill>
                  <a:srgbClr val="030DCD"/>
                </a:solidFill>
              </a:rPr>
              <a:t>int</a:t>
            </a:r>
            <a:r>
              <a:rPr lang="en-US" altLang="zh-CN" sz="2000" dirty="0">
                <a:solidFill>
                  <a:srgbClr val="030DCD"/>
                </a:solidFill>
              </a:rPr>
              <a:t> a[8] ={……};</a:t>
            </a:r>
          </a:p>
          <a:p>
            <a:pPr indent="-900">
              <a:lnSpc>
                <a:spcPct val="100000"/>
              </a:lnSpc>
              <a:spcBef>
                <a:spcPts val="600"/>
              </a:spcBef>
              <a:buNone/>
            </a:pPr>
            <a:r>
              <a:rPr lang="en-US" altLang="zh-CN" sz="2000" dirty="0">
                <a:solidFill>
                  <a:srgbClr val="030DCD"/>
                </a:solidFill>
              </a:rPr>
              <a:t>int *p=a;</a:t>
            </a:r>
            <a:r>
              <a:rPr lang="en-US" altLang="zh-CN" sz="2000" dirty="0">
                <a:solidFill>
                  <a:srgbClr val="000000"/>
                </a:solidFill>
              </a:rPr>
              <a:t>   //</a:t>
            </a:r>
            <a:r>
              <a:rPr lang="zh-CN" altLang="en-US" sz="2000" dirty="0">
                <a:solidFill>
                  <a:srgbClr val="000000"/>
                </a:solidFill>
              </a:rPr>
              <a:t>等价于</a:t>
            </a:r>
            <a:r>
              <a:rPr lang="en-US" altLang="zh-CN" sz="2000" dirty="0">
                <a:solidFill>
                  <a:srgbClr val="000000"/>
                </a:solidFill>
              </a:rPr>
              <a:t>p=a; p=&amp;a[0];  </a:t>
            </a:r>
            <a:r>
              <a:rPr lang="zh-CN" altLang="en-US" sz="2000" dirty="0">
                <a:solidFill>
                  <a:srgbClr val="000000"/>
                </a:solidFill>
              </a:rPr>
              <a:t>指针</a:t>
            </a:r>
            <a:r>
              <a:rPr lang="en-US" altLang="zh-CN" sz="2000" dirty="0">
                <a:solidFill>
                  <a:srgbClr val="000000"/>
                </a:solidFill>
              </a:rPr>
              <a:t>p</a:t>
            </a:r>
            <a:r>
              <a:rPr lang="zh-CN" altLang="en-US" sz="2000" dirty="0">
                <a:solidFill>
                  <a:srgbClr val="000000"/>
                </a:solidFill>
              </a:rPr>
              <a:t>指向一个整型数据；</a:t>
            </a:r>
            <a:endParaRPr lang="en-US" altLang="zh-CN" sz="2000" dirty="0">
              <a:solidFill>
                <a:srgbClr val="000000"/>
              </a:solidFill>
            </a:endParaRPr>
          </a:p>
          <a:p>
            <a:pPr indent="-900">
              <a:lnSpc>
                <a:spcPct val="100000"/>
              </a:lnSpc>
              <a:spcBef>
                <a:spcPts val="600"/>
              </a:spcBef>
              <a:buNone/>
            </a:pPr>
            <a:r>
              <a:rPr lang="en-US" altLang="zh-CN" sz="2000" dirty="0" err="1">
                <a:solidFill>
                  <a:srgbClr val="030DCD"/>
                </a:solidFill>
              </a:rPr>
              <a:t>int</a:t>
            </a:r>
            <a:r>
              <a:rPr lang="en-US" altLang="zh-CN" sz="2000" dirty="0">
                <a:solidFill>
                  <a:srgbClr val="030DCD"/>
                </a:solidFill>
              </a:rPr>
              <a:t>  **pp=&amp;p</a:t>
            </a:r>
            <a:r>
              <a:rPr lang="en-US" altLang="zh-CN" sz="2000" dirty="0">
                <a:solidFill>
                  <a:srgbClr val="000000"/>
                </a:solidFill>
              </a:rPr>
              <a:t>;</a:t>
            </a:r>
          </a:p>
          <a:p>
            <a:pPr indent="-900">
              <a:lnSpc>
                <a:spcPct val="100000"/>
              </a:lnSpc>
              <a:spcBef>
                <a:spcPts val="600"/>
              </a:spcBef>
              <a:buNone/>
            </a:pPr>
            <a:r>
              <a:rPr lang="en-US" altLang="zh-CN" sz="2000" dirty="0">
                <a:solidFill>
                  <a:srgbClr val="000000"/>
                </a:solidFill>
              </a:rPr>
              <a:t>for (</a:t>
            </a:r>
            <a:r>
              <a:rPr lang="en-US" altLang="zh-CN" sz="2000" dirty="0" err="1">
                <a:solidFill>
                  <a:srgbClr val="000000"/>
                </a:solidFill>
              </a:rPr>
              <a:t>int</a:t>
            </a:r>
            <a:r>
              <a:rPr lang="en-US" altLang="zh-CN" sz="2000" dirty="0">
                <a:solidFill>
                  <a:srgbClr val="000000"/>
                </a:solidFill>
              </a:rPr>
              <a:t> </a:t>
            </a:r>
            <a:r>
              <a:rPr lang="en-US" altLang="zh-CN" sz="2000" dirty="0" err="1">
                <a:solidFill>
                  <a:srgbClr val="000000"/>
                </a:solidFill>
              </a:rPr>
              <a:t>i</a:t>
            </a:r>
            <a:r>
              <a:rPr lang="en-US" altLang="zh-CN" sz="2000" dirty="0">
                <a:solidFill>
                  <a:srgbClr val="000000"/>
                </a:solidFill>
              </a:rPr>
              <a:t>=0;i&lt;8;i++)</a:t>
            </a:r>
          </a:p>
          <a:p>
            <a:pPr indent="-900">
              <a:lnSpc>
                <a:spcPct val="100000"/>
              </a:lnSpc>
              <a:spcBef>
                <a:spcPts val="600"/>
              </a:spcBef>
              <a:buNone/>
            </a:pPr>
            <a:r>
              <a:rPr lang="en-US" altLang="zh-CN" sz="2000" dirty="0">
                <a:solidFill>
                  <a:srgbClr val="000000"/>
                </a:solidFill>
              </a:rPr>
              <a:t>{</a:t>
            </a:r>
          </a:p>
          <a:p>
            <a:pPr indent="-900">
              <a:lnSpc>
                <a:spcPct val="100000"/>
              </a:lnSpc>
              <a:spcBef>
                <a:spcPts val="600"/>
              </a:spcBef>
              <a:buNone/>
            </a:pPr>
            <a:r>
              <a:rPr lang="en-US" altLang="zh-CN" sz="2000" dirty="0">
                <a:solidFill>
                  <a:srgbClr val="000000"/>
                </a:solidFill>
              </a:rPr>
              <a:t>     </a:t>
            </a:r>
            <a:r>
              <a:rPr lang="en-US" altLang="zh-CN" sz="2000" dirty="0" err="1">
                <a:solidFill>
                  <a:srgbClr val="000000"/>
                </a:solidFill>
              </a:rPr>
              <a:t>printf</a:t>
            </a:r>
            <a:r>
              <a:rPr lang="en-US" altLang="zh-CN" sz="2000" dirty="0">
                <a:solidFill>
                  <a:srgbClr val="000000"/>
                </a:solidFill>
              </a:rPr>
              <a:t>(“%d ”,</a:t>
            </a:r>
            <a:r>
              <a:rPr lang="en-US" altLang="zh-CN" sz="2000" dirty="0">
                <a:solidFill>
                  <a:srgbClr val="006600"/>
                </a:solidFill>
              </a:rPr>
              <a:t>**pp</a:t>
            </a:r>
            <a:r>
              <a:rPr lang="en-US" altLang="zh-CN" sz="2000" dirty="0">
                <a:solidFill>
                  <a:srgbClr val="000000"/>
                </a:solidFill>
              </a:rPr>
              <a:t>);   </a:t>
            </a:r>
          </a:p>
          <a:p>
            <a:pPr indent="-900">
              <a:lnSpc>
                <a:spcPct val="100000"/>
              </a:lnSpc>
              <a:spcBef>
                <a:spcPts val="600"/>
              </a:spcBef>
              <a:buNone/>
            </a:pPr>
            <a:r>
              <a:rPr lang="en-US" altLang="zh-CN" sz="2000" dirty="0">
                <a:solidFill>
                  <a:srgbClr val="000000"/>
                </a:solidFill>
              </a:rPr>
              <a:t>    // </a:t>
            </a:r>
            <a:r>
              <a:rPr lang="zh-CN" altLang="en-US" sz="2000" dirty="0">
                <a:solidFill>
                  <a:srgbClr val="000000"/>
                </a:solidFill>
              </a:rPr>
              <a:t>相当于</a:t>
            </a:r>
            <a:r>
              <a:rPr lang="en-US" altLang="zh-CN" sz="2000" dirty="0" err="1">
                <a:solidFill>
                  <a:srgbClr val="000000"/>
                </a:solidFill>
              </a:rPr>
              <a:t>printf</a:t>
            </a:r>
            <a:r>
              <a:rPr lang="en-US" altLang="zh-CN" sz="2000" dirty="0">
                <a:solidFill>
                  <a:srgbClr val="000000"/>
                </a:solidFill>
              </a:rPr>
              <a:t>("%d ",</a:t>
            </a:r>
            <a:r>
              <a:rPr lang="en-US" altLang="zh-CN" sz="2000" dirty="0">
                <a:solidFill>
                  <a:srgbClr val="006600"/>
                </a:solidFill>
              </a:rPr>
              <a:t>*p</a:t>
            </a:r>
            <a:r>
              <a:rPr lang="en-US" altLang="zh-CN" sz="2000" dirty="0">
                <a:solidFill>
                  <a:srgbClr val="000000"/>
                </a:solidFill>
              </a:rPr>
              <a:t>); </a:t>
            </a:r>
          </a:p>
          <a:p>
            <a:pPr indent="-900">
              <a:lnSpc>
                <a:spcPct val="100000"/>
              </a:lnSpc>
              <a:spcBef>
                <a:spcPts val="600"/>
              </a:spcBef>
              <a:buNone/>
            </a:pPr>
            <a:r>
              <a:rPr lang="en-US" altLang="zh-CN" sz="2000" dirty="0">
                <a:solidFill>
                  <a:srgbClr val="000000"/>
                </a:solidFill>
              </a:rPr>
              <a:t>     </a:t>
            </a:r>
            <a:r>
              <a:rPr lang="en-US" altLang="zh-CN" sz="2000" b="1" dirty="0">
                <a:solidFill>
                  <a:srgbClr val="006600"/>
                </a:solidFill>
              </a:rPr>
              <a:t>(*pp)++</a:t>
            </a:r>
            <a:r>
              <a:rPr lang="en-US" altLang="zh-CN" sz="2000" dirty="0">
                <a:solidFill>
                  <a:srgbClr val="000000"/>
                </a:solidFill>
              </a:rPr>
              <a:t>;    //</a:t>
            </a:r>
            <a:r>
              <a:rPr lang="zh-CN" altLang="en-US" sz="2000" dirty="0">
                <a:solidFill>
                  <a:srgbClr val="000000"/>
                </a:solidFill>
              </a:rPr>
              <a:t>相当于 </a:t>
            </a:r>
            <a:r>
              <a:rPr lang="en-US" altLang="zh-CN" sz="2000" dirty="0">
                <a:solidFill>
                  <a:srgbClr val="006600"/>
                </a:solidFill>
              </a:rPr>
              <a:t>p++</a:t>
            </a:r>
            <a:r>
              <a:rPr lang="en-US" altLang="zh-CN" sz="2000" dirty="0">
                <a:solidFill>
                  <a:srgbClr val="000000"/>
                </a:solidFill>
              </a:rPr>
              <a:t>;</a:t>
            </a:r>
          </a:p>
          <a:p>
            <a:pPr indent="-900">
              <a:lnSpc>
                <a:spcPct val="100000"/>
              </a:lnSpc>
              <a:spcBef>
                <a:spcPts val="600"/>
              </a:spcBef>
              <a:buNone/>
            </a:pPr>
            <a:r>
              <a:rPr lang="en-US" altLang="zh-CN" sz="2000" dirty="0">
                <a:solidFill>
                  <a:srgbClr val="000000"/>
                </a:solidFill>
              </a:rPr>
              <a:t>}</a:t>
            </a:r>
          </a:p>
        </p:txBody>
      </p:sp>
      <p:graphicFrame>
        <p:nvGraphicFramePr>
          <p:cNvPr id="4" name="表格 3">
            <a:extLst>
              <a:ext uri="{FF2B5EF4-FFF2-40B4-BE49-F238E27FC236}">
                <a16:creationId xmlns:a16="http://schemas.microsoft.com/office/drawing/2014/main" id="{A59B6715-9FAD-4DF5-86E2-20CA7B3EB603}"/>
              </a:ext>
            </a:extLst>
          </p:cNvPr>
          <p:cNvGraphicFramePr>
            <a:graphicFrameLocks noGrp="1"/>
          </p:cNvGraphicFramePr>
          <p:nvPr>
            <p:extLst>
              <p:ext uri="{D42A27DB-BD31-4B8C-83A1-F6EECF244321}">
                <p14:modId xmlns:p14="http://schemas.microsoft.com/office/powerpoint/2010/main" val="2001792297"/>
              </p:ext>
            </p:extLst>
          </p:nvPr>
        </p:nvGraphicFramePr>
        <p:xfrm>
          <a:off x="7183244" y="1687331"/>
          <a:ext cx="682673" cy="4358640"/>
        </p:xfrm>
        <a:graphic>
          <a:graphicData uri="http://schemas.openxmlformats.org/drawingml/2006/table">
            <a:tbl>
              <a:tblPr firstRow="1" bandRow="1">
                <a:tableStyleId>{5C22544A-7EE6-4342-B048-85BDC9FD1C3A}</a:tableStyleId>
              </a:tblPr>
              <a:tblGrid>
                <a:gridCol w="682673">
                  <a:extLst>
                    <a:ext uri="{9D8B030D-6E8A-4147-A177-3AD203B41FA5}">
                      <a16:colId xmlns:a16="http://schemas.microsoft.com/office/drawing/2014/main" val="3884803815"/>
                    </a:ext>
                  </a:extLst>
                </a:gridCol>
              </a:tblGrid>
              <a:tr h="250056">
                <a:tc>
                  <a:txBody>
                    <a:bodyPr/>
                    <a:lstStyle/>
                    <a:p>
                      <a:r>
                        <a:rPr lang="en-US" altLang="zh-CN" sz="1600" dirty="0">
                          <a:solidFill>
                            <a:srgbClr val="000000"/>
                          </a:solidFill>
                        </a:rPr>
                        <a:t>…</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250056">
                <a:tc>
                  <a:txBody>
                    <a:bodyPr/>
                    <a:lstStyle/>
                    <a:p>
                      <a:r>
                        <a:rPr lang="en-US" altLang="zh-CN" sz="1600" dirty="0">
                          <a:solidFill>
                            <a:srgbClr val="000000"/>
                          </a:solidFill>
                        </a:rPr>
                        <a:t>2000</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1"/>
                  </a:ext>
                </a:extLst>
              </a:tr>
              <a:tr h="250056">
                <a:tc>
                  <a:txBody>
                    <a:bodyPr/>
                    <a:lstStyle/>
                    <a:p>
                      <a:r>
                        <a:rPr lang="en-US" altLang="zh-CN" sz="1600" dirty="0">
                          <a:solidFill>
                            <a:srgbClr val="000000"/>
                          </a:solidFill>
                        </a:rPr>
                        <a:t>…</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2"/>
                  </a:ext>
                </a:extLst>
              </a:tr>
              <a:tr h="250056">
                <a:tc>
                  <a:txBody>
                    <a:bodyPr/>
                    <a:lstStyle/>
                    <a:p>
                      <a:r>
                        <a:rPr lang="en-US" altLang="zh-CN" sz="1600" dirty="0">
                          <a:solidFill>
                            <a:srgbClr val="000000"/>
                          </a:solidFill>
                        </a:rPr>
                        <a:t>1000</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3"/>
                  </a:ext>
                </a:extLst>
              </a:tr>
              <a:tr h="250056">
                <a:tc>
                  <a:txBody>
                    <a:bodyPr/>
                    <a:lstStyle/>
                    <a:p>
                      <a:r>
                        <a:rPr lang="en-US" altLang="zh-CN" sz="1600" dirty="0">
                          <a:solidFill>
                            <a:srgbClr val="000000"/>
                          </a:solidFill>
                        </a:rPr>
                        <a:t>…</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4"/>
                  </a:ext>
                </a:extLst>
              </a:tr>
              <a:tr h="250056">
                <a:tc>
                  <a:txBody>
                    <a:bodyPr/>
                    <a:lstStyle/>
                    <a:p>
                      <a:r>
                        <a:rPr lang="en-US" altLang="zh-CN" sz="1600" dirty="0">
                          <a:solidFill>
                            <a:srgbClr val="000000"/>
                          </a:solidFill>
                        </a:rPr>
                        <a:t>  0</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6343982"/>
                  </a:ext>
                </a:extLst>
              </a:tr>
              <a:tr h="250056">
                <a:tc>
                  <a:txBody>
                    <a:bodyPr/>
                    <a:lstStyle/>
                    <a:p>
                      <a:r>
                        <a:rPr lang="en-US" altLang="zh-CN" sz="1600" dirty="0">
                          <a:solidFill>
                            <a:srgbClr val="000000"/>
                          </a:solidFill>
                        </a:rPr>
                        <a:t>  1</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31041487"/>
                  </a:ext>
                </a:extLst>
              </a:tr>
              <a:tr h="250056">
                <a:tc>
                  <a:txBody>
                    <a:bodyPr/>
                    <a:lstStyle/>
                    <a:p>
                      <a:r>
                        <a:rPr lang="en-US" altLang="zh-CN" sz="1600" dirty="0">
                          <a:solidFill>
                            <a:srgbClr val="000000"/>
                          </a:solidFill>
                        </a:rPr>
                        <a:t>  4</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379927102"/>
                  </a:ext>
                </a:extLst>
              </a:tr>
              <a:tr h="250056">
                <a:tc>
                  <a:txBody>
                    <a:bodyPr/>
                    <a:lstStyle/>
                    <a:p>
                      <a:r>
                        <a:rPr lang="en-US" altLang="zh-CN" sz="1600" dirty="0">
                          <a:solidFill>
                            <a:srgbClr val="000000"/>
                          </a:solidFill>
                        </a:rPr>
                        <a:t>   9</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59062494"/>
                  </a:ext>
                </a:extLst>
              </a:tr>
              <a:tr h="250056">
                <a:tc>
                  <a:txBody>
                    <a:bodyPr/>
                    <a:lstStyle/>
                    <a:p>
                      <a:r>
                        <a:rPr lang="en-US" altLang="zh-CN" sz="1600" dirty="0">
                          <a:solidFill>
                            <a:srgbClr val="000000"/>
                          </a:solidFill>
                        </a:rPr>
                        <a:t>  16</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586139"/>
                  </a:ext>
                </a:extLst>
              </a:tr>
              <a:tr h="250056">
                <a:tc>
                  <a:txBody>
                    <a:bodyPr/>
                    <a:lstStyle/>
                    <a:p>
                      <a:r>
                        <a:rPr lang="en-US" altLang="zh-CN" sz="1600" dirty="0">
                          <a:solidFill>
                            <a:srgbClr val="000000"/>
                          </a:solidFill>
                        </a:rPr>
                        <a:t>  25</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4008350"/>
                  </a:ext>
                </a:extLst>
              </a:tr>
              <a:tr h="250056">
                <a:tc>
                  <a:txBody>
                    <a:bodyPr/>
                    <a:lstStyle/>
                    <a:p>
                      <a:r>
                        <a:rPr lang="en-US" altLang="zh-CN" sz="1600" dirty="0">
                          <a:solidFill>
                            <a:srgbClr val="000000"/>
                          </a:solidFill>
                        </a:rPr>
                        <a:t>  36</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63048"/>
                  </a:ext>
                </a:extLst>
              </a:tr>
              <a:tr h="250056">
                <a:tc>
                  <a:txBody>
                    <a:bodyPr/>
                    <a:lstStyle/>
                    <a:p>
                      <a:r>
                        <a:rPr lang="en-US" altLang="zh-CN" sz="1600" dirty="0">
                          <a:solidFill>
                            <a:srgbClr val="000000"/>
                          </a:solidFill>
                        </a:rPr>
                        <a:t>  -1</a:t>
                      </a:r>
                      <a:endParaRPr lang="zh-CN" altLang="en-US" sz="16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51507743"/>
                  </a:ext>
                </a:extLst>
              </a:tr>
            </a:tbl>
          </a:graphicData>
        </a:graphic>
      </p:graphicFrame>
      <p:sp>
        <p:nvSpPr>
          <p:cNvPr id="5" name="文本框 4">
            <a:extLst>
              <a:ext uri="{FF2B5EF4-FFF2-40B4-BE49-F238E27FC236}">
                <a16:creationId xmlns:a16="http://schemas.microsoft.com/office/drawing/2014/main" id="{E0A59B83-10E9-4630-99E6-C2ED2E41A7EC}"/>
              </a:ext>
            </a:extLst>
          </p:cNvPr>
          <p:cNvSpPr txBox="1"/>
          <p:nvPr/>
        </p:nvSpPr>
        <p:spPr>
          <a:xfrm>
            <a:off x="6500043" y="3344414"/>
            <a:ext cx="683201" cy="2846933"/>
          </a:xfrm>
          <a:prstGeom prst="rect">
            <a:avLst/>
          </a:prstGeom>
          <a:noFill/>
        </p:spPr>
        <p:txBody>
          <a:bodyPr wrap="square" rtlCol="0">
            <a:spAutoFit/>
          </a:bodyPr>
          <a:lstStyle/>
          <a:p>
            <a:pPr>
              <a:spcBef>
                <a:spcPts val="500"/>
              </a:spcBef>
            </a:pPr>
            <a:r>
              <a:rPr lang="en-US" altLang="zh-CN" dirty="0">
                <a:solidFill>
                  <a:srgbClr val="000000"/>
                </a:solidFill>
                <a:latin typeface="+mn-ea"/>
              </a:rPr>
              <a:t>a[0]</a:t>
            </a:r>
          </a:p>
          <a:p>
            <a:pPr>
              <a:spcBef>
                <a:spcPts val="500"/>
              </a:spcBef>
            </a:pPr>
            <a:r>
              <a:rPr lang="en-US" altLang="zh-CN" dirty="0">
                <a:solidFill>
                  <a:srgbClr val="000000"/>
                </a:solidFill>
                <a:latin typeface="+mn-ea"/>
              </a:rPr>
              <a:t>a[1]</a:t>
            </a:r>
          </a:p>
          <a:p>
            <a:pPr>
              <a:spcBef>
                <a:spcPts val="500"/>
              </a:spcBef>
            </a:pPr>
            <a:r>
              <a:rPr lang="en-US" altLang="zh-CN" dirty="0">
                <a:solidFill>
                  <a:srgbClr val="000000"/>
                </a:solidFill>
                <a:latin typeface="+mn-ea"/>
              </a:rPr>
              <a:t>a[2]</a:t>
            </a:r>
          </a:p>
          <a:p>
            <a:pPr>
              <a:spcBef>
                <a:spcPts val="500"/>
              </a:spcBef>
            </a:pPr>
            <a:r>
              <a:rPr lang="en-US" altLang="zh-CN" dirty="0">
                <a:solidFill>
                  <a:srgbClr val="000000"/>
                </a:solidFill>
                <a:latin typeface="+mn-ea"/>
              </a:rPr>
              <a:t>a[3]</a:t>
            </a:r>
          </a:p>
          <a:p>
            <a:pPr>
              <a:spcBef>
                <a:spcPts val="500"/>
              </a:spcBef>
            </a:pPr>
            <a:r>
              <a:rPr lang="en-US" altLang="zh-CN" dirty="0">
                <a:solidFill>
                  <a:srgbClr val="000000"/>
                </a:solidFill>
                <a:latin typeface="+mn-ea"/>
              </a:rPr>
              <a:t>a[4]</a:t>
            </a:r>
          </a:p>
          <a:p>
            <a:pPr>
              <a:spcBef>
                <a:spcPts val="500"/>
              </a:spcBef>
            </a:pPr>
            <a:r>
              <a:rPr lang="en-US" altLang="zh-CN" dirty="0">
                <a:solidFill>
                  <a:srgbClr val="000000"/>
                </a:solidFill>
                <a:latin typeface="+mn-ea"/>
              </a:rPr>
              <a:t>a[5]</a:t>
            </a:r>
          </a:p>
          <a:p>
            <a:pPr>
              <a:spcBef>
                <a:spcPts val="500"/>
              </a:spcBef>
            </a:pPr>
            <a:r>
              <a:rPr lang="en-US" altLang="zh-CN" dirty="0">
                <a:solidFill>
                  <a:srgbClr val="000000"/>
                </a:solidFill>
                <a:latin typeface="+mn-ea"/>
              </a:rPr>
              <a:t>a[6]</a:t>
            </a:r>
          </a:p>
          <a:p>
            <a:pPr>
              <a:spcBef>
                <a:spcPts val="500"/>
              </a:spcBef>
            </a:pPr>
            <a:r>
              <a:rPr lang="en-US" altLang="zh-CN" dirty="0">
                <a:solidFill>
                  <a:srgbClr val="000000"/>
                </a:solidFill>
                <a:latin typeface="+mn-ea"/>
              </a:rPr>
              <a:t>a[7]</a:t>
            </a:r>
            <a:endParaRPr lang="zh-CN" altLang="en-US" dirty="0">
              <a:solidFill>
                <a:srgbClr val="000000"/>
              </a:solidFill>
              <a:latin typeface="+mn-ea"/>
            </a:endParaRPr>
          </a:p>
        </p:txBody>
      </p:sp>
      <p:sp>
        <p:nvSpPr>
          <p:cNvPr id="10" name="文本框 9">
            <a:extLst>
              <a:ext uri="{FF2B5EF4-FFF2-40B4-BE49-F238E27FC236}">
                <a16:creationId xmlns:a16="http://schemas.microsoft.com/office/drawing/2014/main" id="{E0A59B83-10E9-4630-99E6-C2ED2E41A7EC}"/>
              </a:ext>
            </a:extLst>
          </p:cNvPr>
          <p:cNvSpPr txBox="1"/>
          <p:nvPr/>
        </p:nvSpPr>
        <p:spPr>
          <a:xfrm>
            <a:off x="6161809" y="1135063"/>
            <a:ext cx="2774373" cy="369332"/>
          </a:xfrm>
          <a:prstGeom prst="rect">
            <a:avLst/>
          </a:prstGeom>
          <a:noFill/>
        </p:spPr>
        <p:txBody>
          <a:bodyPr wrap="square" rtlCol="0">
            <a:spAutoFit/>
          </a:bodyPr>
          <a:lstStyle/>
          <a:p>
            <a:r>
              <a:rPr lang="en-US" altLang="zh-CN" dirty="0">
                <a:solidFill>
                  <a:srgbClr val="000000"/>
                </a:solidFill>
                <a:latin typeface="+mn-ea"/>
              </a:rPr>
              <a:t> </a:t>
            </a:r>
            <a:r>
              <a:rPr lang="zh-CN" altLang="en-US" b="1" dirty="0">
                <a:solidFill>
                  <a:srgbClr val="000000"/>
                </a:solidFill>
                <a:latin typeface="+mn-ea"/>
                <a:ea typeface="+mn-ea"/>
              </a:rPr>
              <a:t>变量 内存单元 地址   </a:t>
            </a:r>
            <a:endParaRPr lang="en-US" altLang="zh-CN" b="1" dirty="0">
              <a:solidFill>
                <a:srgbClr val="000000"/>
              </a:solidFill>
              <a:latin typeface="+mn-ea"/>
              <a:ea typeface="+mn-ea"/>
            </a:endParaRPr>
          </a:p>
        </p:txBody>
      </p:sp>
      <p:sp>
        <p:nvSpPr>
          <p:cNvPr id="11" name="文本框 10">
            <a:extLst>
              <a:ext uri="{FF2B5EF4-FFF2-40B4-BE49-F238E27FC236}">
                <a16:creationId xmlns:a16="http://schemas.microsoft.com/office/drawing/2014/main" id="{E0A59B83-10E9-4630-99E6-C2ED2E41A7EC}"/>
              </a:ext>
            </a:extLst>
          </p:cNvPr>
          <p:cNvSpPr txBox="1"/>
          <p:nvPr/>
        </p:nvSpPr>
        <p:spPr>
          <a:xfrm>
            <a:off x="6317674" y="1957040"/>
            <a:ext cx="568000" cy="369332"/>
          </a:xfrm>
          <a:prstGeom prst="rect">
            <a:avLst/>
          </a:prstGeom>
          <a:noFill/>
        </p:spPr>
        <p:txBody>
          <a:bodyPr wrap="square" rtlCol="0">
            <a:spAutoFit/>
          </a:bodyPr>
          <a:lstStyle/>
          <a:p>
            <a:r>
              <a:rPr lang="en-US" altLang="zh-CN" dirty="0">
                <a:solidFill>
                  <a:srgbClr val="000000"/>
                </a:solidFill>
                <a:latin typeface="+mn-ea"/>
              </a:rPr>
              <a:t> pp</a:t>
            </a:r>
          </a:p>
        </p:txBody>
      </p:sp>
      <p:sp>
        <p:nvSpPr>
          <p:cNvPr id="12" name="文本框 11">
            <a:extLst>
              <a:ext uri="{FF2B5EF4-FFF2-40B4-BE49-F238E27FC236}">
                <a16:creationId xmlns:a16="http://schemas.microsoft.com/office/drawing/2014/main" id="{E0A59B83-10E9-4630-99E6-C2ED2E41A7EC}"/>
              </a:ext>
            </a:extLst>
          </p:cNvPr>
          <p:cNvSpPr txBox="1"/>
          <p:nvPr/>
        </p:nvSpPr>
        <p:spPr>
          <a:xfrm>
            <a:off x="6351072" y="2650727"/>
            <a:ext cx="534602" cy="369332"/>
          </a:xfrm>
          <a:prstGeom prst="rect">
            <a:avLst/>
          </a:prstGeom>
          <a:noFill/>
        </p:spPr>
        <p:txBody>
          <a:bodyPr wrap="square" rtlCol="0">
            <a:spAutoFit/>
          </a:bodyPr>
          <a:lstStyle/>
          <a:p>
            <a:r>
              <a:rPr lang="en-US" altLang="zh-CN" dirty="0">
                <a:solidFill>
                  <a:srgbClr val="000000"/>
                </a:solidFill>
                <a:latin typeface="+mn-ea"/>
              </a:rPr>
              <a:t> p</a:t>
            </a:r>
          </a:p>
        </p:txBody>
      </p:sp>
      <p:sp>
        <p:nvSpPr>
          <p:cNvPr id="13" name="文本框 12">
            <a:extLst>
              <a:ext uri="{FF2B5EF4-FFF2-40B4-BE49-F238E27FC236}">
                <a16:creationId xmlns:a16="http://schemas.microsoft.com/office/drawing/2014/main" id="{E0A59B83-10E9-4630-99E6-C2ED2E41A7EC}"/>
              </a:ext>
            </a:extLst>
          </p:cNvPr>
          <p:cNvSpPr txBox="1"/>
          <p:nvPr/>
        </p:nvSpPr>
        <p:spPr>
          <a:xfrm>
            <a:off x="5881281" y="3355850"/>
            <a:ext cx="534602" cy="369332"/>
          </a:xfrm>
          <a:prstGeom prst="rect">
            <a:avLst/>
          </a:prstGeom>
          <a:noFill/>
        </p:spPr>
        <p:txBody>
          <a:bodyPr wrap="square" rtlCol="0">
            <a:spAutoFit/>
          </a:bodyPr>
          <a:lstStyle/>
          <a:p>
            <a:r>
              <a:rPr lang="en-US" altLang="zh-CN" dirty="0">
                <a:solidFill>
                  <a:srgbClr val="000000"/>
                </a:solidFill>
                <a:latin typeface="+mn-ea"/>
              </a:rPr>
              <a:t> a</a:t>
            </a:r>
          </a:p>
        </p:txBody>
      </p:sp>
      <p:cxnSp>
        <p:nvCxnSpPr>
          <p:cNvPr id="15" name="直接箭头连接符 14"/>
          <p:cNvCxnSpPr/>
          <p:nvPr/>
        </p:nvCxnSpPr>
        <p:spPr bwMode="auto">
          <a:xfrm>
            <a:off x="6317674" y="3574473"/>
            <a:ext cx="25666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21" name="文本框 20">
            <a:extLst>
              <a:ext uri="{FF2B5EF4-FFF2-40B4-BE49-F238E27FC236}">
                <a16:creationId xmlns:a16="http://schemas.microsoft.com/office/drawing/2014/main" id="{E0A59B83-10E9-4630-99E6-C2ED2E41A7EC}"/>
              </a:ext>
            </a:extLst>
          </p:cNvPr>
          <p:cNvSpPr txBox="1"/>
          <p:nvPr/>
        </p:nvSpPr>
        <p:spPr>
          <a:xfrm>
            <a:off x="7970324" y="2654276"/>
            <a:ext cx="755265" cy="369332"/>
          </a:xfrm>
          <a:prstGeom prst="rect">
            <a:avLst/>
          </a:prstGeom>
          <a:noFill/>
        </p:spPr>
        <p:txBody>
          <a:bodyPr wrap="square" rtlCol="0">
            <a:spAutoFit/>
          </a:bodyPr>
          <a:lstStyle/>
          <a:p>
            <a:r>
              <a:rPr lang="en-US" altLang="zh-CN" dirty="0">
                <a:solidFill>
                  <a:srgbClr val="000000"/>
                </a:solidFill>
                <a:latin typeface="+mn-ea"/>
              </a:rPr>
              <a:t>2000</a:t>
            </a:r>
          </a:p>
        </p:txBody>
      </p:sp>
      <p:sp>
        <p:nvSpPr>
          <p:cNvPr id="22" name="文本框 21">
            <a:extLst>
              <a:ext uri="{FF2B5EF4-FFF2-40B4-BE49-F238E27FC236}">
                <a16:creationId xmlns:a16="http://schemas.microsoft.com/office/drawing/2014/main" id="{E0A59B83-10E9-4630-99E6-C2ED2E41A7EC}"/>
              </a:ext>
            </a:extLst>
          </p:cNvPr>
          <p:cNvSpPr txBox="1"/>
          <p:nvPr/>
        </p:nvSpPr>
        <p:spPr>
          <a:xfrm>
            <a:off x="7970324" y="3355850"/>
            <a:ext cx="647010" cy="369332"/>
          </a:xfrm>
          <a:prstGeom prst="rect">
            <a:avLst/>
          </a:prstGeom>
          <a:noFill/>
        </p:spPr>
        <p:txBody>
          <a:bodyPr wrap="square" rtlCol="0">
            <a:spAutoFit/>
          </a:bodyPr>
          <a:lstStyle/>
          <a:p>
            <a:r>
              <a:rPr lang="en-US" altLang="zh-CN" dirty="0">
                <a:solidFill>
                  <a:srgbClr val="000000"/>
                </a:solidFill>
                <a:latin typeface="+mn-ea"/>
              </a:rPr>
              <a:t>1000</a:t>
            </a:r>
          </a:p>
        </p:txBody>
      </p:sp>
      <p:sp>
        <p:nvSpPr>
          <p:cNvPr id="23" name="文本框 22">
            <a:extLst>
              <a:ext uri="{FF2B5EF4-FFF2-40B4-BE49-F238E27FC236}">
                <a16:creationId xmlns:a16="http://schemas.microsoft.com/office/drawing/2014/main" id="{E0A59B83-10E9-4630-99E6-C2ED2E41A7EC}"/>
              </a:ext>
            </a:extLst>
          </p:cNvPr>
          <p:cNvSpPr txBox="1"/>
          <p:nvPr/>
        </p:nvSpPr>
        <p:spPr>
          <a:xfrm>
            <a:off x="7970324" y="3681985"/>
            <a:ext cx="647010" cy="369332"/>
          </a:xfrm>
          <a:prstGeom prst="rect">
            <a:avLst/>
          </a:prstGeom>
          <a:noFill/>
        </p:spPr>
        <p:txBody>
          <a:bodyPr wrap="square" rtlCol="0">
            <a:spAutoFit/>
          </a:bodyPr>
          <a:lstStyle/>
          <a:p>
            <a:r>
              <a:rPr lang="en-US" altLang="zh-CN" dirty="0">
                <a:solidFill>
                  <a:srgbClr val="000000"/>
                </a:solidFill>
                <a:latin typeface="+mn-ea"/>
              </a:rPr>
              <a:t>1004</a:t>
            </a:r>
          </a:p>
        </p:txBody>
      </p:sp>
      <p:sp>
        <p:nvSpPr>
          <p:cNvPr id="24" name="文本框 23">
            <a:extLst>
              <a:ext uri="{FF2B5EF4-FFF2-40B4-BE49-F238E27FC236}">
                <a16:creationId xmlns:a16="http://schemas.microsoft.com/office/drawing/2014/main" id="{E0A59B83-10E9-4630-99E6-C2ED2E41A7EC}"/>
              </a:ext>
            </a:extLst>
          </p:cNvPr>
          <p:cNvSpPr txBox="1"/>
          <p:nvPr/>
        </p:nvSpPr>
        <p:spPr>
          <a:xfrm>
            <a:off x="7970324" y="4001332"/>
            <a:ext cx="647010" cy="369332"/>
          </a:xfrm>
          <a:prstGeom prst="rect">
            <a:avLst/>
          </a:prstGeom>
          <a:noFill/>
        </p:spPr>
        <p:txBody>
          <a:bodyPr wrap="square" rtlCol="0">
            <a:spAutoFit/>
          </a:bodyPr>
          <a:lstStyle/>
          <a:p>
            <a:r>
              <a:rPr lang="en-US" altLang="zh-CN" dirty="0">
                <a:solidFill>
                  <a:srgbClr val="000000"/>
                </a:solidFill>
                <a:latin typeface="+mn-ea"/>
              </a:rPr>
              <a:t>1008</a:t>
            </a:r>
          </a:p>
        </p:txBody>
      </p:sp>
      <p:sp>
        <p:nvSpPr>
          <p:cNvPr id="26" name="文本框 25">
            <a:extLst>
              <a:ext uri="{FF2B5EF4-FFF2-40B4-BE49-F238E27FC236}">
                <a16:creationId xmlns:a16="http://schemas.microsoft.com/office/drawing/2014/main" id="{E0A59B83-10E9-4630-99E6-C2ED2E41A7EC}"/>
              </a:ext>
            </a:extLst>
          </p:cNvPr>
          <p:cNvSpPr txBox="1"/>
          <p:nvPr/>
        </p:nvSpPr>
        <p:spPr>
          <a:xfrm>
            <a:off x="7970324" y="5635166"/>
            <a:ext cx="647010" cy="369332"/>
          </a:xfrm>
          <a:prstGeom prst="rect">
            <a:avLst/>
          </a:prstGeom>
          <a:noFill/>
        </p:spPr>
        <p:txBody>
          <a:bodyPr wrap="square" rtlCol="0">
            <a:spAutoFit/>
          </a:bodyPr>
          <a:lstStyle/>
          <a:p>
            <a:r>
              <a:rPr lang="en-US" altLang="zh-CN" dirty="0">
                <a:solidFill>
                  <a:srgbClr val="000000"/>
                </a:solidFill>
                <a:latin typeface="+mn-ea"/>
              </a:rPr>
              <a:t>1028</a:t>
            </a:r>
          </a:p>
        </p:txBody>
      </p:sp>
      <p:sp>
        <p:nvSpPr>
          <p:cNvPr id="27" name="文本框 26">
            <a:extLst>
              <a:ext uri="{FF2B5EF4-FFF2-40B4-BE49-F238E27FC236}">
                <a16:creationId xmlns:a16="http://schemas.microsoft.com/office/drawing/2014/main" id="{E0A59B83-10E9-4630-99E6-C2ED2E41A7EC}"/>
              </a:ext>
            </a:extLst>
          </p:cNvPr>
          <p:cNvSpPr txBox="1"/>
          <p:nvPr/>
        </p:nvSpPr>
        <p:spPr>
          <a:xfrm>
            <a:off x="7970324" y="5285462"/>
            <a:ext cx="647010" cy="369332"/>
          </a:xfrm>
          <a:prstGeom prst="rect">
            <a:avLst/>
          </a:prstGeom>
          <a:noFill/>
        </p:spPr>
        <p:txBody>
          <a:bodyPr wrap="square" rtlCol="0">
            <a:spAutoFit/>
          </a:bodyPr>
          <a:lstStyle/>
          <a:p>
            <a:r>
              <a:rPr lang="en-US" altLang="zh-CN" dirty="0">
                <a:solidFill>
                  <a:srgbClr val="000000"/>
                </a:solidFill>
                <a:latin typeface="+mn-ea"/>
              </a:rPr>
              <a:t>1024</a:t>
            </a:r>
          </a:p>
        </p:txBody>
      </p:sp>
      <p:sp>
        <p:nvSpPr>
          <p:cNvPr id="28" name="文本框 27">
            <a:extLst>
              <a:ext uri="{FF2B5EF4-FFF2-40B4-BE49-F238E27FC236}">
                <a16:creationId xmlns:a16="http://schemas.microsoft.com/office/drawing/2014/main" id="{E0A59B83-10E9-4630-99E6-C2ED2E41A7EC}"/>
              </a:ext>
            </a:extLst>
          </p:cNvPr>
          <p:cNvSpPr txBox="1"/>
          <p:nvPr/>
        </p:nvSpPr>
        <p:spPr>
          <a:xfrm>
            <a:off x="7970324" y="4320679"/>
            <a:ext cx="647010" cy="369332"/>
          </a:xfrm>
          <a:prstGeom prst="rect">
            <a:avLst/>
          </a:prstGeom>
          <a:noFill/>
        </p:spPr>
        <p:txBody>
          <a:bodyPr wrap="square" rtlCol="0">
            <a:spAutoFit/>
          </a:bodyPr>
          <a:lstStyle/>
          <a:p>
            <a:r>
              <a:rPr lang="en-US" altLang="zh-CN" dirty="0">
                <a:solidFill>
                  <a:srgbClr val="000000"/>
                </a:solidFill>
                <a:latin typeface="+mn-ea"/>
              </a:rPr>
              <a:t>1012</a:t>
            </a:r>
          </a:p>
        </p:txBody>
      </p:sp>
      <p:sp>
        <p:nvSpPr>
          <p:cNvPr id="29" name="文本框 28">
            <a:extLst>
              <a:ext uri="{FF2B5EF4-FFF2-40B4-BE49-F238E27FC236}">
                <a16:creationId xmlns:a16="http://schemas.microsoft.com/office/drawing/2014/main" id="{E0A59B83-10E9-4630-99E6-C2ED2E41A7EC}"/>
              </a:ext>
            </a:extLst>
          </p:cNvPr>
          <p:cNvSpPr txBox="1"/>
          <p:nvPr/>
        </p:nvSpPr>
        <p:spPr>
          <a:xfrm>
            <a:off x="7970324" y="4653263"/>
            <a:ext cx="647010" cy="369332"/>
          </a:xfrm>
          <a:prstGeom prst="rect">
            <a:avLst/>
          </a:prstGeom>
          <a:noFill/>
        </p:spPr>
        <p:txBody>
          <a:bodyPr wrap="square" rtlCol="0">
            <a:spAutoFit/>
          </a:bodyPr>
          <a:lstStyle/>
          <a:p>
            <a:r>
              <a:rPr lang="en-US" altLang="zh-CN" dirty="0">
                <a:solidFill>
                  <a:srgbClr val="000000"/>
                </a:solidFill>
                <a:latin typeface="+mn-ea"/>
              </a:rPr>
              <a:t>1016</a:t>
            </a:r>
          </a:p>
        </p:txBody>
      </p:sp>
      <p:sp>
        <p:nvSpPr>
          <p:cNvPr id="30" name="文本框 29">
            <a:extLst>
              <a:ext uri="{FF2B5EF4-FFF2-40B4-BE49-F238E27FC236}">
                <a16:creationId xmlns:a16="http://schemas.microsoft.com/office/drawing/2014/main" id="{E0A59B83-10E9-4630-99E6-C2ED2E41A7EC}"/>
              </a:ext>
            </a:extLst>
          </p:cNvPr>
          <p:cNvSpPr txBox="1"/>
          <p:nvPr/>
        </p:nvSpPr>
        <p:spPr>
          <a:xfrm>
            <a:off x="7970324" y="4974880"/>
            <a:ext cx="647010" cy="369332"/>
          </a:xfrm>
          <a:prstGeom prst="rect">
            <a:avLst/>
          </a:prstGeom>
          <a:noFill/>
        </p:spPr>
        <p:txBody>
          <a:bodyPr wrap="square" rtlCol="0">
            <a:spAutoFit/>
          </a:bodyPr>
          <a:lstStyle/>
          <a:p>
            <a:r>
              <a:rPr lang="en-US" altLang="zh-CN" dirty="0">
                <a:solidFill>
                  <a:srgbClr val="000000"/>
                </a:solidFill>
                <a:latin typeface="+mn-ea"/>
              </a:rPr>
              <a:t>1020</a:t>
            </a:r>
          </a:p>
        </p:txBody>
      </p:sp>
    </p:spTree>
    <p:extLst>
      <p:ext uri="{BB962C8B-B14F-4D97-AF65-F5344CB8AC3E}">
        <p14:creationId xmlns:p14="http://schemas.microsoft.com/office/powerpoint/2010/main" val="6115253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编译器对一维数组名的解读</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en-US" altLang="zh-CN" sz="2000" dirty="0" err="1"/>
              <a:t>int</a:t>
            </a:r>
            <a:r>
              <a:rPr lang="en-US" altLang="zh-CN" sz="2000" dirty="0"/>
              <a:t>  a[8]</a:t>
            </a:r>
            <a:r>
              <a:rPr lang="zh-CN" altLang="en-US" sz="2000" dirty="0"/>
              <a:t>，</a:t>
            </a:r>
            <a:r>
              <a:rPr lang="en-US" altLang="zh-CN" sz="2000" dirty="0"/>
              <a:t>a</a:t>
            </a:r>
            <a:r>
              <a:rPr lang="zh-CN" altLang="en-US" sz="2000" dirty="0"/>
              <a:t>相当于一个整型指针；</a:t>
            </a:r>
            <a:endParaRPr lang="en-US" altLang="zh-CN" sz="2000" dirty="0"/>
          </a:p>
          <a:p>
            <a:pPr marL="342900" indent="-342900">
              <a:buFont typeface="Wingdings" panose="05000000000000000000" pitchFamily="2" charset="2"/>
              <a:buChar char="l"/>
            </a:pPr>
            <a:r>
              <a:rPr lang="en-US" altLang="zh-CN" sz="2000" dirty="0" err="1" smtClean="0"/>
              <a:t>int</a:t>
            </a:r>
            <a:r>
              <a:rPr lang="en-US" altLang="zh-CN" sz="2000" dirty="0" smtClean="0"/>
              <a:t>  </a:t>
            </a:r>
            <a:r>
              <a:rPr lang="en-US" altLang="zh-CN" sz="2000" dirty="0"/>
              <a:t>**pp</a:t>
            </a:r>
            <a:r>
              <a:rPr lang="zh-CN" altLang="en-US" sz="2000" dirty="0"/>
              <a:t>是个整型数据的二级指针；</a:t>
            </a:r>
            <a:endParaRPr lang="en-US" altLang="zh-CN" sz="2000" dirty="0"/>
          </a:p>
          <a:p>
            <a:pPr marL="342900" indent="-342900">
              <a:buFont typeface="Wingdings" panose="05000000000000000000" pitchFamily="2" charset="2"/>
              <a:buChar char="l"/>
            </a:pPr>
            <a:r>
              <a:rPr lang="zh-CN" altLang="en-US" sz="2000" dirty="0" smtClean="0"/>
              <a:t>若</a:t>
            </a:r>
            <a:r>
              <a:rPr lang="en-US" altLang="zh-CN" sz="2000" dirty="0">
                <a:solidFill>
                  <a:srgbClr val="030DCD"/>
                </a:solidFill>
              </a:rPr>
              <a:t>pp=&amp;a</a:t>
            </a:r>
            <a:r>
              <a:rPr lang="en-US" altLang="zh-CN" sz="2000" dirty="0"/>
              <a:t>; </a:t>
            </a:r>
            <a:r>
              <a:rPr lang="zh-CN" altLang="en-US" sz="2000" dirty="0"/>
              <a:t>编译器会提示如下错误信息：</a:t>
            </a:r>
            <a:endParaRPr lang="en-US" altLang="zh-CN" sz="2000" dirty="0"/>
          </a:p>
          <a:p>
            <a:pPr marL="971550" lvl="1"/>
            <a:r>
              <a:rPr lang="en-US" altLang="zh-CN" sz="1800" b="1" dirty="0">
                <a:solidFill>
                  <a:srgbClr val="006600"/>
                </a:solidFill>
              </a:rPr>
              <a:t>[Error] cannot convert '</a:t>
            </a:r>
            <a:r>
              <a:rPr lang="en-US" altLang="zh-CN" sz="1800" b="1" dirty="0" err="1">
                <a:solidFill>
                  <a:srgbClr val="FF0000"/>
                </a:solidFill>
              </a:rPr>
              <a:t>int</a:t>
            </a:r>
            <a:r>
              <a:rPr lang="en-US" altLang="zh-CN" sz="1800" b="1" dirty="0">
                <a:solidFill>
                  <a:srgbClr val="FF0000"/>
                </a:solidFill>
              </a:rPr>
              <a:t> (*)[8]</a:t>
            </a:r>
            <a:r>
              <a:rPr lang="en-US" altLang="zh-CN" sz="1800" b="1" dirty="0">
                <a:solidFill>
                  <a:srgbClr val="006600"/>
                </a:solidFill>
              </a:rPr>
              <a:t>' to '</a:t>
            </a:r>
            <a:r>
              <a:rPr lang="en-US" altLang="zh-CN" sz="1800" b="1" dirty="0" err="1">
                <a:solidFill>
                  <a:srgbClr val="FF0000"/>
                </a:solidFill>
              </a:rPr>
              <a:t>int</a:t>
            </a:r>
            <a:r>
              <a:rPr lang="en-US" altLang="zh-CN" sz="1800" b="1" dirty="0">
                <a:solidFill>
                  <a:srgbClr val="FF0000"/>
                </a:solidFill>
              </a:rPr>
              <a:t>**</a:t>
            </a:r>
            <a:r>
              <a:rPr lang="en-US" altLang="zh-CN" sz="1800" b="1" dirty="0">
                <a:solidFill>
                  <a:srgbClr val="006600"/>
                </a:solidFill>
              </a:rPr>
              <a:t>' in assignment;</a:t>
            </a:r>
          </a:p>
          <a:p>
            <a:pPr marL="342900" indent="-342900">
              <a:buFont typeface="Wingdings" panose="05000000000000000000" pitchFamily="2" charset="2"/>
              <a:buChar char="l"/>
            </a:pPr>
            <a:r>
              <a:rPr lang="zh-CN" altLang="en-US" sz="2000" dirty="0"/>
              <a:t>编译器将</a:t>
            </a:r>
            <a:r>
              <a:rPr lang="en-US" altLang="zh-CN" sz="2000" dirty="0">
                <a:solidFill>
                  <a:srgbClr val="FF0000"/>
                </a:solidFill>
              </a:rPr>
              <a:t>&amp;a</a:t>
            </a:r>
            <a:r>
              <a:rPr lang="zh-CN" altLang="en-US" sz="2000" dirty="0"/>
              <a:t>解释为一个</a:t>
            </a:r>
            <a:r>
              <a:rPr lang="zh-CN" altLang="en-US" sz="2000" dirty="0">
                <a:solidFill>
                  <a:srgbClr val="030DCD"/>
                </a:solidFill>
              </a:rPr>
              <a:t>数组指针</a:t>
            </a:r>
            <a:r>
              <a:rPr lang="zh-CN" altLang="en-US" sz="2000" dirty="0"/>
              <a:t>，不是一个</a:t>
            </a:r>
            <a:r>
              <a:rPr lang="zh-CN" altLang="en-US" sz="2000" dirty="0">
                <a:solidFill>
                  <a:srgbClr val="030DCD"/>
                </a:solidFill>
              </a:rPr>
              <a:t>简单的整型数据的二级指针</a:t>
            </a:r>
            <a:r>
              <a:rPr lang="zh-CN" altLang="en-US" sz="2000" dirty="0"/>
              <a:t>；</a:t>
            </a:r>
            <a:r>
              <a:rPr lang="zh-CN" altLang="en-US" sz="1800" b="1" i="1" u="sng" dirty="0">
                <a:solidFill>
                  <a:srgbClr val="C00000"/>
                </a:solidFill>
              </a:rPr>
              <a:t>数组指针：指向数组的指针；</a:t>
            </a:r>
            <a:endParaRPr lang="en-US" altLang="zh-CN" sz="1800" b="1" i="1" u="sng" dirty="0">
              <a:solidFill>
                <a:srgbClr val="C00000"/>
              </a:solidFill>
            </a:endParaRPr>
          </a:p>
          <a:p>
            <a:pPr marL="971550" lvl="1"/>
            <a:r>
              <a:rPr lang="zh-CN" altLang="en-US" sz="1600" dirty="0"/>
              <a:t>数组指针</a:t>
            </a:r>
            <a:r>
              <a:rPr lang="en-US" altLang="zh-CN" sz="1600" b="1" dirty="0" err="1">
                <a:solidFill>
                  <a:srgbClr val="FF0000"/>
                </a:solidFill>
              </a:rPr>
              <a:t>int</a:t>
            </a:r>
            <a:r>
              <a:rPr lang="en-US" altLang="zh-CN" sz="1600" b="1" dirty="0">
                <a:solidFill>
                  <a:srgbClr val="FF0000"/>
                </a:solidFill>
              </a:rPr>
              <a:t> (*p)[8]</a:t>
            </a:r>
            <a:r>
              <a:rPr lang="zh-CN" altLang="en-US" sz="1600" b="1" dirty="0">
                <a:solidFill>
                  <a:srgbClr val="FF0000"/>
                </a:solidFill>
              </a:rPr>
              <a:t>，</a:t>
            </a:r>
            <a:r>
              <a:rPr lang="en-US" altLang="zh-CN" sz="1600" b="1" dirty="0">
                <a:solidFill>
                  <a:srgbClr val="030DCD"/>
                </a:solidFill>
              </a:rPr>
              <a:t>p</a:t>
            </a:r>
            <a:r>
              <a:rPr lang="zh-CN" altLang="en-US" sz="1600" b="1" dirty="0">
                <a:solidFill>
                  <a:srgbClr val="030DCD"/>
                </a:solidFill>
              </a:rPr>
              <a:t>指向一个有</a:t>
            </a:r>
            <a:r>
              <a:rPr lang="en-US" altLang="zh-CN" sz="1600" b="1" dirty="0">
                <a:solidFill>
                  <a:srgbClr val="030DCD"/>
                </a:solidFill>
              </a:rPr>
              <a:t>8</a:t>
            </a:r>
            <a:r>
              <a:rPr lang="zh-CN" altLang="en-US" sz="1600" b="1" dirty="0">
                <a:solidFill>
                  <a:srgbClr val="030DCD"/>
                </a:solidFill>
              </a:rPr>
              <a:t>个整型元素的数组；</a:t>
            </a:r>
            <a:endParaRPr lang="en-US" altLang="zh-CN" sz="1600" b="1" dirty="0">
              <a:solidFill>
                <a:srgbClr val="030DCD"/>
              </a:solidFill>
            </a:endParaRPr>
          </a:p>
          <a:p>
            <a:pPr marL="971550" lvl="1"/>
            <a:r>
              <a:rPr lang="en-US" altLang="zh-CN" sz="1600" b="1" dirty="0" err="1" smtClean="0">
                <a:solidFill>
                  <a:srgbClr val="006600"/>
                </a:solidFill>
              </a:rPr>
              <a:t>int</a:t>
            </a:r>
            <a:r>
              <a:rPr lang="en-US" altLang="zh-CN" sz="1600" b="1" dirty="0" smtClean="0">
                <a:solidFill>
                  <a:srgbClr val="006600"/>
                </a:solidFill>
              </a:rPr>
              <a:t> </a:t>
            </a:r>
            <a:r>
              <a:rPr lang="en-US" altLang="zh-CN" sz="1600" b="1" dirty="0">
                <a:solidFill>
                  <a:srgbClr val="006600"/>
                </a:solidFill>
              </a:rPr>
              <a:t>(*p)[8]</a:t>
            </a:r>
            <a:r>
              <a:rPr lang="zh-CN" altLang="en-US" sz="1600" b="1" dirty="0">
                <a:solidFill>
                  <a:srgbClr val="006600"/>
                </a:solidFill>
              </a:rPr>
              <a:t>是个一维数组，有</a:t>
            </a:r>
            <a:r>
              <a:rPr lang="en-US" altLang="zh-CN" sz="1600" b="1" dirty="0">
                <a:solidFill>
                  <a:srgbClr val="006600"/>
                </a:solidFill>
              </a:rPr>
              <a:t>8</a:t>
            </a:r>
            <a:r>
              <a:rPr lang="zh-CN" altLang="en-US" sz="1600" b="1" dirty="0">
                <a:solidFill>
                  <a:srgbClr val="006600"/>
                </a:solidFill>
              </a:rPr>
              <a:t>个元素，元素的类型</a:t>
            </a:r>
            <a:r>
              <a:rPr lang="en-US" altLang="zh-CN" sz="1600" b="1" dirty="0" err="1">
                <a:solidFill>
                  <a:srgbClr val="006600"/>
                </a:solidFill>
              </a:rPr>
              <a:t>int</a:t>
            </a:r>
            <a:r>
              <a:rPr lang="zh-CN" altLang="en-US" sz="1600" b="1" dirty="0">
                <a:solidFill>
                  <a:srgbClr val="006600"/>
                </a:solidFill>
              </a:rPr>
              <a:t>，数组名是</a:t>
            </a:r>
            <a:r>
              <a:rPr lang="en-US" altLang="zh-CN" sz="1600" b="1" dirty="0">
                <a:solidFill>
                  <a:srgbClr val="006600"/>
                </a:solidFill>
              </a:rPr>
              <a:t>(*p)</a:t>
            </a:r>
            <a:r>
              <a:rPr lang="zh-CN" altLang="en-US" sz="1600" b="1" dirty="0">
                <a:solidFill>
                  <a:srgbClr val="006600"/>
                </a:solidFill>
              </a:rPr>
              <a:t>；</a:t>
            </a:r>
            <a:endParaRPr lang="en-US" altLang="zh-CN" sz="1600" b="1" dirty="0">
              <a:solidFill>
                <a:srgbClr val="006600"/>
              </a:solidFill>
            </a:endParaRPr>
          </a:p>
          <a:p>
            <a:pPr marL="971550" lvl="1"/>
            <a:r>
              <a:rPr lang="zh-CN" altLang="en-US" sz="1600" b="1" dirty="0">
                <a:solidFill>
                  <a:srgbClr val="006600"/>
                </a:solidFill>
              </a:rPr>
              <a:t>因此，若让</a:t>
            </a:r>
            <a:r>
              <a:rPr lang="en-US" altLang="zh-CN" sz="1600" b="1" dirty="0">
                <a:solidFill>
                  <a:srgbClr val="006600"/>
                </a:solidFill>
              </a:rPr>
              <a:t>p</a:t>
            </a:r>
            <a:r>
              <a:rPr lang="zh-CN" altLang="en-US" sz="1600" b="1" dirty="0">
                <a:solidFill>
                  <a:srgbClr val="006600"/>
                </a:solidFill>
              </a:rPr>
              <a:t>指向数组</a:t>
            </a:r>
            <a:r>
              <a:rPr lang="en-US" altLang="zh-CN" sz="1600" b="1" dirty="0">
                <a:solidFill>
                  <a:srgbClr val="006600"/>
                </a:solidFill>
              </a:rPr>
              <a:t>a</a:t>
            </a:r>
            <a:r>
              <a:rPr lang="zh-CN" altLang="en-US" sz="1600" b="1" dirty="0">
                <a:solidFill>
                  <a:srgbClr val="006600"/>
                </a:solidFill>
              </a:rPr>
              <a:t>，</a:t>
            </a:r>
            <a:r>
              <a:rPr lang="en-US" altLang="zh-CN" sz="1600" b="1" dirty="0">
                <a:solidFill>
                  <a:srgbClr val="006600"/>
                </a:solidFill>
              </a:rPr>
              <a:t>(*p)</a:t>
            </a:r>
            <a:r>
              <a:rPr lang="zh-CN" altLang="en-US" sz="1600" b="1" dirty="0">
                <a:solidFill>
                  <a:srgbClr val="006600"/>
                </a:solidFill>
              </a:rPr>
              <a:t>与</a:t>
            </a:r>
            <a:r>
              <a:rPr lang="en-US" altLang="zh-CN" sz="1600" b="1" dirty="0">
                <a:solidFill>
                  <a:srgbClr val="006600"/>
                </a:solidFill>
              </a:rPr>
              <a:t>a</a:t>
            </a:r>
            <a:r>
              <a:rPr lang="zh-CN" altLang="en-US" sz="1600" b="1" dirty="0">
                <a:solidFill>
                  <a:srgbClr val="006600"/>
                </a:solidFill>
              </a:rPr>
              <a:t>等价，即</a:t>
            </a:r>
            <a:r>
              <a:rPr lang="en-US" altLang="zh-CN" sz="1600" b="1" dirty="0">
                <a:solidFill>
                  <a:srgbClr val="006600"/>
                </a:solidFill>
              </a:rPr>
              <a:t>p=&amp;a</a:t>
            </a:r>
            <a:r>
              <a:rPr lang="zh-CN" altLang="en-US" sz="1600" b="1" dirty="0">
                <a:solidFill>
                  <a:srgbClr val="006600"/>
                </a:solidFill>
              </a:rPr>
              <a:t>；（</a:t>
            </a:r>
            <a:r>
              <a:rPr lang="en-US" altLang="zh-CN" sz="1600" b="1" dirty="0">
                <a:solidFill>
                  <a:srgbClr val="006600"/>
                </a:solidFill>
              </a:rPr>
              <a:t>*p=a</a:t>
            </a:r>
            <a:r>
              <a:rPr lang="zh-CN" altLang="en-US" sz="1600" b="1" dirty="0">
                <a:solidFill>
                  <a:srgbClr val="006600"/>
                </a:solidFill>
              </a:rPr>
              <a:t>不允许）</a:t>
            </a:r>
            <a:endParaRPr lang="en-US" altLang="zh-CN" sz="1600" b="1" dirty="0">
              <a:solidFill>
                <a:srgbClr val="006600"/>
              </a:solidFill>
            </a:endParaRPr>
          </a:p>
          <a:p>
            <a:pPr marL="971550" lvl="1"/>
            <a:r>
              <a:rPr lang="zh-CN" altLang="en-US" sz="1600" b="1" dirty="0">
                <a:solidFill>
                  <a:srgbClr val="006600"/>
                </a:solidFill>
              </a:rPr>
              <a:t>可以认为</a:t>
            </a:r>
            <a:r>
              <a:rPr lang="en-US" altLang="zh-CN" sz="1600" b="1" dirty="0">
                <a:solidFill>
                  <a:srgbClr val="006600"/>
                </a:solidFill>
              </a:rPr>
              <a:t>p</a:t>
            </a:r>
            <a:r>
              <a:rPr lang="zh-CN" altLang="en-US" sz="1600" b="1" dirty="0">
                <a:solidFill>
                  <a:srgbClr val="006600"/>
                </a:solidFill>
              </a:rPr>
              <a:t>是一个指针，</a:t>
            </a:r>
            <a:r>
              <a:rPr lang="en-US" altLang="zh-CN" sz="1600" b="1" dirty="0">
                <a:solidFill>
                  <a:srgbClr val="006600"/>
                </a:solidFill>
              </a:rPr>
              <a:t>p</a:t>
            </a:r>
            <a:r>
              <a:rPr lang="zh-CN" altLang="en-US" sz="1600" b="1" dirty="0">
                <a:solidFill>
                  <a:srgbClr val="006600"/>
                </a:solidFill>
              </a:rPr>
              <a:t>的基类型是有</a:t>
            </a:r>
            <a:r>
              <a:rPr lang="en-US" altLang="zh-CN" sz="1600" b="1" dirty="0">
                <a:solidFill>
                  <a:srgbClr val="006600"/>
                </a:solidFill>
              </a:rPr>
              <a:t>8</a:t>
            </a:r>
            <a:r>
              <a:rPr lang="zh-CN" altLang="en-US" sz="1600" b="1" dirty="0">
                <a:solidFill>
                  <a:srgbClr val="006600"/>
                </a:solidFill>
              </a:rPr>
              <a:t>个元素的一维整型数组 </a:t>
            </a:r>
            <a:r>
              <a:rPr lang="en-US" altLang="zh-CN" sz="1600" b="1" dirty="0">
                <a:solidFill>
                  <a:srgbClr val="006600"/>
                </a:solidFill>
              </a:rPr>
              <a:t>a</a:t>
            </a:r>
            <a:r>
              <a:rPr lang="zh-CN" altLang="en-US" sz="1600" b="1" dirty="0">
                <a:solidFill>
                  <a:srgbClr val="006600"/>
                </a:solidFill>
              </a:rPr>
              <a:t>；</a:t>
            </a:r>
            <a:endParaRPr lang="en-US" altLang="zh-CN" sz="1600" b="1" dirty="0">
              <a:solidFill>
                <a:srgbClr val="006600"/>
              </a:solidFill>
            </a:endParaRPr>
          </a:p>
          <a:p>
            <a:pPr marL="971550" lvl="1"/>
            <a:r>
              <a:rPr lang="zh-CN" altLang="en-US" sz="1600" b="1" dirty="0">
                <a:solidFill>
                  <a:srgbClr val="006600"/>
                </a:solidFill>
              </a:rPr>
              <a:t>使用</a:t>
            </a:r>
            <a:r>
              <a:rPr lang="en-US" altLang="zh-CN" sz="1600" b="1" dirty="0">
                <a:solidFill>
                  <a:srgbClr val="006600"/>
                </a:solidFill>
                <a:sym typeface="Wingdings" panose="05000000000000000000" pitchFamily="2" charset="2"/>
              </a:rPr>
              <a:t>: (*p)[</a:t>
            </a:r>
            <a:r>
              <a:rPr lang="en-US" altLang="zh-CN" sz="1600" b="1" dirty="0" err="1">
                <a:solidFill>
                  <a:srgbClr val="006600"/>
                </a:solidFill>
                <a:sym typeface="Wingdings" panose="05000000000000000000" pitchFamily="2" charset="2"/>
              </a:rPr>
              <a:t>i</a:t>
            </a:r>
            <a:r>
              <a:rPr lang="en-US" altLang="zh-CN" sz="1600" b="1" dirty="0">
                <a:solidFill>
                  <a:srgbClr val="006600"/>
                </a:solidFill>
                <a:sym typeface="Wingdings" panose="05000000000000000000" pitchFamily="2" charset="2"/>
              </a:rPr>
              <a:t>];  *(*</a:t>
            </a:r>
            <a:r>
              <a:rPr lang="en-US" altLang="zh-CN" sz="1600" b="1" dirty="0" err="1" smtClean="0">
                <a:solidFill>
                  <a:srgbClr val="006600"/>
                </a:solidFill>
                <a:sym typeface="Wingdings" panose="05000000000000000000" pitchFamily="2" charset="2"/>
              </a:rPr>
              <a:t>p+i</a:t>
            </a:r>
            <a:r>
              <a:rPr lang="en-US" altLang="zh-CN" sz="1600" b="1" dirty="0" smtClean="0">
                <a:solidFill>
                  <a:srgbClr val="006600"/>
                </a:solidFill>
                <a:sym typeface="Wingdings" panose="05000000000000000000" pitchFamily="2" charset="2"/>
              </a:rPr>
              <a:t>)</a:t>
            </a:r>
            <a:r>
              <a:rPr lang="zh-CN" altLang="en-US" sz="1600" b="1" dirty="0" smtClean="0">
                <a:solidFill>
                  <a:srgbClr val="006600"/>
                </a:solidFill>
                <a:sym typeface="Wingdings" panose="05000000000000000000" pitchFamily="2" charset="2"/>
              </a:rPr>
              <a:t>访问数组元素</a:t>
            </a:r>
            <a:endParaRPr lang="en-US" altLang="zh-CN" sz="1600" b="1" dirty="0">
              <a:solidFill>
                <a:srgbClr val="006600"/>
              </a:solidFill>
              <a:sym typeface="Wingdings" panose="05000000000000000000" pitchFamily="2" charset="2"/>
            </a:endParaRPr>
          </a:p>
          <a:p>
            <a:pPr marL="971550" lvl="1"/>
            <a:r>
              <a:rPr lang="zh-CN" altLang="en-US" sz="1600" b="1" dirty="0">
                <a:solidFill>
                  <a:srgbClr val="006600"/>
                </a:solidFill>
                <a:sym typeface="Wingdings" panose="05000000000000000000" pitchFamily="2" charset="2"/>
              </a:rPr>
              <a:t>思考：</a:t>
            </a:r>
            <a:r>
              <a:rPr lang="en-US" altLang="zh-CN" sz="1600" b="1" dirty="0">
                <a:solidFill>
                  <a:srgbClr val="006600"/>
                </a:solidFill>
                <a:sym typeface="Wingdings" panose="05000000000000000000" pitchFamily="2" charset="2"/>
              </a:rPr>
              <a:t>p+1</a:t>
            </a:r>
            <a:r>
              <a:rPr lang="zh-CN" altLang="en-US" sz="1600" b="1" dirty="0">
                <a:solidFill>
                  <a:srgbClr val="006600"/>
                </a:solidFill>
                <a:sym typeface="Wingdings" panose="05000000000000000000" pitchFamily="2" charset="2"/>
              </a:rPr>
              <a:t>的含义，加了几个字节？</a:t>
            </a:r>
            <a:endParaRPr lang="en-US" altLang="zh-CN" sz="1600" b="1" dirty="0">
              <a:solidFill>
                <a:srgbClr val="006600"/>
              </a:solidFill>
            </a:endParaRPr>
          </a:p>
          <a:p>
            <a:pPr marL="971550" lvl="1"/>
            <a:endParaRPr lang="en-US" altLang="zh-CN" sz="1800" dirty="0">
              <a:solidFill>
                <a:srgbClr val="006600"/>
              </a:solidFill>
            </a:endParaRPr>
          </a:p>
          <a:p>
            <a:endParaRPr lang="zh-CN" altLang="en-US" dirty="0"/>
          </a:p>
        </p:txBody>
      </p:sp>
    </p:spTree>
    <p:extLst>
      <p:ext uri="{BB962C8B-B14F-4D97-AF65-F5344CB8AC3E}">
        <p14:creationId xmlns:p14="http://schemas.microsoft.com/office/powerpoint/2010/main" val="3376477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编译器对一维数组名的解读</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en-US" altLang="zh-CN" sz="2000" dirty="0" err="1"/>
              <a:t>int</a:t>
            </a:r>
            <a:r>
              <a:rPr lang="en-US" altLang="zh-CN" sz="2000" dirty="0"/>
              <a:t> a[8];</a:t>
            </a:r>
          </a:p>
          <a:p>
            <a:pPr marL="342900" indent="-342900">
              <a:buFont typeface="Wingdings" panose="05000000000000000000" pitchFamily="2" charset="2"/>
              <a:buChar char="l"/>
            </a:pPr>
            <a:r>
              <a:rPr lang="zh-CN" altLang="en-US" sz="2000" dirty="0"/>
              <a:t>实质上，</a:t>
            </a:r>
            <a:r>
              <a:rPr lang="en-US" altLang="zh-CN" sz="2000" dirty="0">
                <a:solidFill>
                  <a:srgbClr val="C00000"/>
                </a:solidFill>
              </a:rPr>
              <a:t>a, &amp;a[0], &amp;a</a:t>
            </a:r>
            <a:r>
              <a:rPr lang="zh-CN" altLang="en-US" sz="2000" dirty="0"/>
              <a:t>三者的值是相同的，只是编译器对其解释或解读不同；</a:t>
            </a:r>
            <a:endParaRPr lang="en-US" altLang="zh-CN" sz="2000" dirty="0"/>
          </a:p>
          <a:p>
            <a:pPr marL="971550" lvl="1"/>
            <a:r>
              <a:rPr lang="en-US" altLang="zh-CN" sz="1800" dirty="0">
                <a:solidFill>
                  <a:srgbClr val="030DCD"/>
                </a:solidFill>
              </a:rPr>
              <a:t>a</a:t>
            </a:r>
            <a:r>
              <a:rPr lang="zh-CN" altLang="en-US" sz="1800" dirty="0">
                <a:solidFill>
                  <a:srgbClr val="030DCD"/>
                </a:solidFill>
              </a:rPr>
              <a:t>是一维数组的名字，</a:t>
            </a:r>
            <a:r>
              <a:rPr lang="zh-CN" altLang="en-US" sz="1800" dirty="0">
                <a:solidFill>
                  <a:srgbClr val="C00000"/>
                </a:solidFill>
              </a:rPr>
              <a:t>可以理解为</a:t>
            </a:r>
            <a:r>
              <a:rPr lang="zh-CN" altLang="en-US" sz="1800" dirty="0">
                <a:solidFill>
                  <a:srgbClr val="030DCD"/>
                </a:solidFill>
              </a:rPr>
              <a:t>整型指针，指向数组的首元素</a:t>
            </a:r>
            <a:r>
              <a:rPr lang="en-US" altLang="zh-CN" sz="1800" dirty="0">
                <a:solidFill>
                  <a:srgbClr val="030DCD"/>
                </a:solidFill>
              </a:rPr>
              <a:t>a[0];</a:t>
            </a:r>
          </a:p>
          <a:p>
            <a:pPr marL="971550" lvl="1"/>
            <a:r>
              <a:rPr lang="en-US" altLang="zh-CN" sz="1800" dirty="0" err="1">
                <a:solidFill>
                  <a:srgbClr val="030DCD"/>
                </a:solidFill>
              </a:rPr>
              <a:t>int</a:t>
            </a:r>
            <a:r>
              <a:rPr lang="en-US" altLang="zh-CN" sz="1800" dirty="0">
                <a:solidFill>
                  <a:srgbClr val="030DCD"/>
                </a:solidFill>
              </a:rPr>
              <a:t> b=*a;  </a:t>
            </a:r>
            <a:r>
              <a:rPr lang="zh-CN" altLang="en-US" sz="1800" dirty="0">
                <a:solidFill>
                  <a:srgbClr val="030DCD"/>
                </a:solidFill>
              </a:rPr>
              <a:t>相当于</a:t>
            </a:r>
            <a:r>
              <a:rPr lang="en-US" altLang="zh-CN" sz="1800" dirty="0">
                <a:solidFill>
                  <a:srgbClr val="030DCD"/>
                </a:solidFill>
              </a:rPr>
              <a:t>b=a[0];   </a:t>
            </a:r>
            <a:r>
              <a:rPr lang="en-US" altLang="zh-CN" sz="1800" dirty="0" err="1">
                <a:solidFill>
                  <a:srgbClr val="030DCD"/>
                </a:solidFill>
              </a:rPr>
              <a:t>int</a:t>
            </a:r>
            <a:r>
              <a:rPr lang="en-US" altLang="zh-CN" sz="1800" dirty="0">
                <a:solidFill>
                  <a:srgbClr val="030DCD"/>
                </a:solidFill>
              </a:rPr>
              <a:t> b</a:t>
            </a:r>
            <a:r>
              <a:rPr lang="en-US" altLang="zh-CN" sz="1800" dirty="0" smtClean="0">
                <a:solidFill>
                  <a:srgbClr val="030DCD"/>
                </a:solidFill>
              </a:rPr>
              <a:t>=**(&amp;a);  </a:t>
            </a:r>
            <a:r>
              <a:rPr lang="zh-CN" altLang="en-US" sz="1800" dirty="0">
                <a:solidFill>
                  <a:srgbClr val="030DCD"/>
                </a:solidFill>
              </a:rPr>
              <a:t>相当于</a:t>
            </a:r>
            <a:r>
              <a:rPr lang="en-US" altLang="zh-CN" sz="1800" dirty="0">
                <a:solidFill>
                  <a:srgbClr val="030DCD"/>
                </a:solidFill>
              </a:rPr>
              <a:t>b=a[0]; </a:t>
            </a:r>
          </a:p>
          <a:p>
            <a:pPr marL="971550" lvl="1"/>
            <a:r>
              <a:rPr lang="zh-CN" altLang="en-US" sz="1800" dirty="0">
                <a:solidFill>
                  <a:srgbClr val="030DCD"/>
                </a:solidFill>
              </a:rPr>
              <a:t>只不过</a:t>
            </a:r>
            <a:r>
              <a:rPr lang="en-US" altLang="zh-CN" sz="1800" dirty="0">
                <a:solidFill>
                  <a:srgbClr val="030DCD"/>
                </a:solidFill>
              </a:rPr>
              <a:t>a</a:t>
            </a:r>
            <a:r>
              <a:rPr lang="zh-CN" altLang="en-US" sz="1800" dirty="0">
                <a:solidFill>
                  <a:srgbClr val="030DCD"/>
                </a:solidFill>
              </a:rPr>
              <a:t>是一个常量指针，不允许修改；</a:t>
            </a:r>
            <a:endParaRPr lang="en-US" altLang="zh-CN" sz="1800" dirty="0">
              <a:solidFill>
                <a:srgbClr val="030DCD"/>
              </a:solidFill>
            </a:endParaRPr>
          </a:p>
          <a:p>
            <a:pPr marL="971550" lvl="1"/>
            <a:r>
              <a:rPr lang="zh-CN" altLang="en-US" sz="1800" dirty="0">
                <a:solidFill>
                  <a:srgbClr val="030DCD"/>
                </a:solidFill>
              </a:rPr>
              <a:t>由于</a:t>
            </a:r>
            <a:r>
              <a:rPr lang="en-US" altLang="zh-CN" sz="1800" dirty="0">
                <a:solidFill>
                  <a:srgbClr val="030DCD"/>
                </a:solidFill>
              </a:rPr>
              <a:t>a</a:t>
            </a:r>
            <a:r>
              <a:rPr lang="zh-CN" altLang="en-US" sz="1800" dirty="0">
                <a:solidFill>
                  <a:srgbClr val="030DCD"/>
                </a:solidFill>
              </a:rPr>
              <a:t>指向的</a:t>
            </a:r>
            <a:r>
              <a:rPr lang="en-US" altLang="zh-CN" sz="1800" dirty="0">
                <a:solidFill>
                  <a:srgbClr val="030DCD"/>
                </a:solidFill>
              </a:rPr>
              <a:t>a[0]</a:t>
            </a:r>
            <a:r>
              <a:rPr lang="zh-CN" altLang="en-US" sz="1800" dirty="0">
                <a:solidFill>
                  <a:srgbClr val="030DCD"/>
                </a:solidFill>
              </a:rPr>
              <a:t>是一个整型数据，因此</a:t>
            </a:r>
            <a:r>
              <a:rPr lang="en-US" altLang="zh-CN" sz="1800" dirty="0">
                <a:solidFill>
                  <a:srgbClr val="030DCD"/>
                </a:solidFill>
              </a:rPr>
              <a:t>a+1</a:t>
            </a:r>
            <a:r>
              <a:rPr lang="zh-CN" altLang="en-US" sz="1800" dirty="0">
                <a:solidFill>
                  <a:srgbClr val="030DCD"/>
                </a:solidFill>
              </a:rPr>
              <a:t>实质上加了</a:t>
            </a:r>
            <a:r>
              <a:rPr lang="en-US" altLang="zh-CN" sz="1800" dirty="0">
                <a:solidFill>
                  <a:srgbClr val="030DCD"/>
                </a:solidFill>
              </a:rPr>
              <a:t>4</a:t>
            </a:r>
            <a:r>
              <a:rPr lang="zh-CN" altLang="en-US" sz="1800" dirty="0">
                <a:solidFill>
                  <a:srgbClr val="030DCD"/>
                </a:solidFill>
              </a:rPr>
              <a:t>个字节；</a:t>
            </a:r>
            <a:endParaRPr lang="en-US" altLang="zh-CN" sz="1800" dirty="0">
              <a:solidFill>
                <a:srgbClr val="030DCD"/>
              </a:solidFill>
            </a:endParaRPr>
          </a:p>
          <a:p>
            <a:pPr marL="971550" lvl="1"/>
            <a:r>
              <a:rPr lang="en-US" altLang="zh-CN" sz="1800" dirty="0">
                <a:solidFill>
                  <a:srgbClr val="006600"/>
                </a:solidFill>
              </a:rPr>
              <a:t>a[0]</a:t>
            </a:r>
            <a:r>
              <a:rPr lang="zh-CN" altLang="en-US" sz="1800" dirty="0">
                <a:solidFill>
                  <a:srgbClr val="006600"/>
                </a:solidFill>
              </a:rPr>
              <a:t>是数组</a:t>
            </a:r>
            <a:r>
              <a:rPr lang="en-US" altLang="zh-CN" sz="1800" dirty="0">
                <a:solidFill>
                  <a:srgbClr val="006600"/>
                </a:solidFill>
              </a:rPr>
              <a:t>a</a:t>
            </a:r>
            <a:r>
              <a:rPr lang="zh-CN" altLang="en-US" sz="1800" dirty="0">
                <a:solidFill>
                  <a:srgbClr val="006600"/>
                </a:solidFill>
              </a:rPr>
              <a:t>的首元素，是一个整型数据，</a:t>
            </a:r>
            <a:r>
              <a:rPr lang="en-US" altLang="zh-CN" sz="1800" dirty="0">
                <a:solidFill>
                  <a:srgbClr val="006600"/>
                </a:solidFill>
              </a:rPr>
              <a:t>&amp;a[0]</a:t>
            </a:r>
            <a:r>
              <a:rPr lang="zh-CN" altLang="en-US" sz="1800" dirty="0">
                <a:solidFill>
                  <a:srgbClr val="006600"/>
                </a:solidFill>
              </a:rPr>
              <a:t>仅仅是一个整型数据的地址；</a:t>
            </a:r>
            <a:endParaRPr lang="en-US" altLang="zh-CN" sz="1800" dirty="0">
              <a:solidFill>
                <a:srgbClr val="006600"/>
              </a:solidFill>
            </a:endParaRPr>
          </a:p>
          <a:p>
            <a:pPr marL="971550" lvl="1"/>
            <a:r>
              <a:rPr lang="zh-CN" altLang="en-US" sz="1800" dirty="0">
                <a:solidFill>
                  <a:srgbClr val="006600"/>
                </a:solidFill>
              </a:rPr>
              <a:t>只是由于</a:t>
            </a:r>
            <a:r>
              <a:rPr lang="en-US" altLang="zh-CN" sz="1800" dirty="0">
                <a:solidFill>
                  <a:srgbClr val="006600"/>
                </a:solidFill>
              </a:rPr>
              <a:t>a[0]</a:t>
            </a:r>
            <a:r>
              <a:rPr lang="zh-CN" altLang="en-US" sz="1800" dirty="0">
                <a:solidFill>
                  <a:srgbClr val="006600"/>
                </a:solidFill>
              </a:rPr>
              <a:t>的位置特殊，其地址就是</a:t>
            </a:r>
            <a:r>
              <a:rPr lang="en-US" altLang="zh-CN" sz="1800" dirty="0">
                <a:solidFill>
                  <a:srgbClr val="006600"/>
                </a:solidFill>
              </a:rPr>
              <a:t>a</a:t>
            </a:r>
            <a:r>
              <a:rPr lang="zh-CN" altLang="en-US" sz="1800" dirty="0">
                <a:solidFill>
                  <a:srgbClr val="006600"/>
                </a:solidFill>
              </a:rPr>
              <a:t>；</a:t>
            </a:r>
            <a:r>
              <a:rPr lang="en-US" altLang="zh-CN" sz="1800" dirty="0">
                <a:solidFill>
                  <a:srgbClr val="006600"/>
                </a:solidFill>
              </a:rPr>
              <a:t>&amp;a[0]+1</a:t>
            </a:r>
            <a:r>
              <a:rPr lang="zh-CN" altLang="en-US" sz="1800" dirty="0">
                <a:solidFill>
                  <a:srgbClr val="006600"/>
                </a:solidFill>
              </a:rPr>
              <a:t>也是</a:t>
            </a:r>
            <a:r>
              <a:rPr lang="en-US" altLang="zh-CN" sz="1800" dirty="0">
                <a:solidFill>
                  <a:srgbClr val="006600"/>
                </a:solidFill>
              </a:rPr>
              <a:t>+4</a:t>
            </a:r>
            <a:r>
              <a:rPr lang="zh-CN" altLang="en-US" sz="1800" dirty="0">
                <a:solidFill>
                  <a:srgbClr val="006600"/>
                </a:solidFill>
              </a:rPr>
              <a:t>；</a:t>
            </a:r>
            <a:endParaRPr lang="en-US" altLang="zh-CN" sz="1800" dirty="0">
              <a:solidFill>
                <a:srgbClr val="006600"/>
              </a:solidFill>
            </a:endParaRPr>
          </a:p>
          <a:p>
            <a:pPr marL="971550" lvl="1"/>
            <a:r>
              <a:rPr lang="en-US" altLang="zh-CN" sz="1800" b="1" u="sng" dirty="0"/>
              <a:t>&amp;a</a:t>
            </a:r>
            <a:r>
              <a:rPr lang="zh-CN" altLang="en-US" sz="1800" dirty="0"/>
              <a:t>被解读成一个</a:t>
            </a:r>
            <a:r>
              <a:rPr lang="zh-CN" altLang="en-US" sz="1800" b="1" u="sng" dirty="0">
                <a:solidFill>
                  <a:srgbClr val="FF0000"/>
                </a:solidFill>
              </a:rPr>
              <a:t>数组指针</a:t>
            </a:r>
            <a:r>
              <a:rPr lang="zh-CN" altLang="en-US" sz="1800" dirty="0"/>
              <a:t>，即一个</a:t>
            </a:r>
            <a:r>
              <a:rPr lang="zh-CN" altLang="en-US" sz="1800" b="1" u="sng" dirty="0">
                <a:solidFill>
                  <a:srgbClr val="030DCD"/>
                </a:solidFill>
              </a:rPr>
              <a:t>指向整个一维数组的指针</a:t>
            </a:r>
            <a:r>
              <a:rPr lang="zh-CN" altLang="en-US" sz="1800" dirty="0"/>
              <a:t>；</a:t>
            </a:r>
            <a:endParaRPr lang="en-US" altLang="zh-CN" sz="1800" dirty="0"/>
          </a:p>
          <a:p>
            <a:pPr marL="971550" lvl="1"/>
            <a:r>
              <a:rPr lang="en-US" altLang="zh-CN" sz="1800" b="1" dirty="0"/>
              <a:t>&amp;a+1</a:t>
            </a:r>
            <a:r>
              <a:rPr lang="zh-CN" altLang="en-US" sz="1800" b="1" dirty="0"/>
              <a:t>实质上</a:t>
            </a:r>
            <a:r>
              <a:rPr lang="en-US" altLang="zh-CN" sz="1800" b="1" dirty="0"/>
              <a:t>+4*8</a:t>
            </a:r>
            <a:r>
              <a:rPr lang="zh-CN" altLang="en-US" sz="1800" b="1" dirty="0"/>
              <a:t>个字节，即加了整个数组大小；</a:t>
            </a:r>
            <a:endParaRPr lang="en-US" altLang="zh-CN" sz="1800" b="1" dirty="0"/>
          </a:p>
          <a:p>
            <a:pPr marL="971550" lvl="1"/>
            <a:r>
              <a:rPr lang="en-US" altLang="zh-CN" sz="1800" b="1" dirty="0" err="1">
                <a:solidFill>
                  <a:srgbClr val="FF0000"/>
                </a:solidFill>
              </a:rPr>
              <a:t>int</a:t>
            </a:r>
            <a:r>
              <a:rPr lang="en-US" altLang="zh-CN" sz="1800" b="1" dirty="0">
                <a:solidFill>
                  <a:srgbClr val="FF0000"/>
                </a:solidFill>
              </a:rPr>
              <a:t> (*p)[8], p=&amp;a;  </a:t>
            </a:r>
            <a:r>
              <a:rPr lang="zh-CN" altLang="en-US" sz="1800" b="1" dirty="0">
                <a:solidFill>
                  <a:srgbClr val="FF0000"/>
                </a:solidFill>
              </a:rPr>
              <a:t>使用：</a:t>
            </a:r>
            <a:r>
              <a:rPr lang="en-US" altLang="zh-CN" sz="1800" b="1" dirty="0">
                <a:solidFill>
                  <a:srgbClr val="FF0000"/>
                </a:solidFill>
              </a:rPr>
              <a:t>(*p)[</a:t>
            </a:r>
            <a:r>
              <a:rPr lang="en-US" altLang="zh-CN" sz="1800" b="1" dirty="0" err="1">
                <a:solidFill>
                  <a:srgbClr val="FF0000"/>
                </a:solidFill>
              </a:rPr>
              <a:t>i</a:t>
            </a:r>
            <a:r>
              <a:rPr lang="en-US" altLang="zh-CN" sz="1800" b="1" dirty="0" smtClean="0">
                <a:solidFill>
                  <a:srgbClr val="FF0000"/>
                </a:solidFill>
              </a:rPr>
              <a:t>]</a:t>
            </a:r>
            <a:r>
              <a:rPr lang="zh-CN" altLang="en-US" sz="1800" b="1" dirty="0" smtClean="0">
                <a:solidFill>
                  <a:srgbClr val="FF0000"/>
                </a:solidFill>
              </a:rPr>
              <a:t>是数组</a:t>
            </a:r>
            <a:r>
              <a:rPr lang="en-US" altLang="zh-CN" sz="1800" b="1" dirty="0" smtClean="0">
                <a:solidFill>
                  <a:srgbClr val="FF0000"/>
                </a:solidFill>
              </a:rPr>
              <a:t>p</a:t>
            </a:r>
            <a:r>
              <a:rPr lang="zh-CN" altLang="en-US" sz="1800" b="1" dirty="0" smtClean="0">
                <a:solidFill>
                  <a:srgbClr val="FF0000"/>
                </a:solidFill>
              </a:rPr>
              <a:t>所指向数组的第</a:t>
            </a:r>
            <a:r>
              <a:rPr lang="en-US" altLang="zh-CN" sz="1800" b="1" dirty="0" err="1" smtClean="0">
                <a:solidFill>
                  <a:srgbClr val="FF0000"/>
                </a:solidFill>
              </a:rPr>
              <a:t>i</a:t>
            </a:r>
            <a:r>
              <a:rPr lang="zh-CN" altLang="en-US" sz="1800" b="1" dirty="0" smtClean="0">
                <a:solidFill>
                  <a:srgbClr val="FF0000"/>
                </a:solidFill>
              </a:rPr>
              <a:t>个元素</a:t>
            </a:r>
            <a:endParaRPr lang="en-US" altLang="zh-CN" sz="1800"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a:p>
            <a:endParaRPr lang="zh-CN" altLang="en-US" dirty="0"/>
          </a:p>
        </p:txBody>
      </p:sp>
    </p:spTree>
    <p:extLst>
      <p:ext uri="{BB962C8B-B14F-4D97-AF65-F5344CB8AC3E}">
        <p14:creationId xmlns:p14="http://schemas.microsoft.com/office/powerpoint/2010/main" val="7958114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编译器对二维数组名的解读</a:t>
            </a:r>
          </a:p>
        </p:txBody>
      </p:sp>
      <p:sp>
        <p:nvSpPr>
          <p:cNvPr id="3" name="内容占位符 2"/>
          <p:cNvSpPr>
            <a:spLocks noGrp="1"/>
          </p:cNvSpPr>
          <p:nvPr>
            <p:ph idx="1"/>
          </p:nvPr>
        </p:nvSpPr>
        <p:spPr>
          <a:xfrm>
            <a:off x="485774" y="1135063"/>
            <a:ext cx="8429625" cy="5345112"/>
          </a:xfrm>
        </p:spPr>
        <p:txBody>
          <a:bodyPr/>
          <a:lstStyle/>
          <a:p>
            <a:pPr marL="342000" indent="-342900">
              <a:buFont typeface="Wingdings" panose="05000000000000000000" pitchFamily="2" charset="2"/>
              <a:buChar char="l"/>
            </a:pPr>
            <a:r>
              <a:rPr lang="en-US" altLang="zh-CN" sz="2000" dirty="0" err="1">
                <a:solidFill>
                  <a:srgbClr val="006600"/>
                </a:solidFill>
              </a:rPr>
              <a:t>int</a:t>
            </a:r>
            <a:r>
              <a:rPr lang="en-US" altLang="zh-CN" sz="2000" dirty="0">
                <a:solidFill>
                  <a:srgbClr val="006600"/>
                </a:solidFill>
              </a:rPr>
              <a:t> a[3][4];</a:t>
            </a:r>
          </a:p>
          <a:p>
            <a:pPr marL="342000" indent="-342900">
              <a:buFont typeface="Wingdings" panose="05000000000000000000" pitchFamily="2" charset="2"/>
              <a:buChar char="l"/>
            </a:pPr>
            <a:endParaRPr lang="en-US" altLang="zh-CN" sz="2000" dirty="0">
              <a:solidFill>
                <a:srgbClr val="006600"/>
              </a:solidFill>
            </a:endParaRPr>
          </a:p>
          <a:p>
            <a:pPr marL="342000" indent="-342900">
              <a:buFont typeface="Wingdings" panose="05000000000000000000" pitchFamily="2" charset="2"/>
              <a:buChar char="l"/>
            </a:pPr>
            <a:r>
              <a:rPr lang="en-US" altLang="zh-CN" sz="2000" dirty="0">
                <a:solidFill>
                  <a:srgbClr val="C00000"/>
                </a:solidFill>
              </a:rPr>
              <a:t>a[0],&amp;a[0],&amp;a[0][0] ,a, &amp;a</a:t>
            </a:r>
            <a:r>
              <a:rPr lang="zh-CN" altLang="en-US" sz="2000" dirty="0">
                <a:solidFill>
                  <a:srgbClr val="006600"/>
                </a:solidFill>
              </a:rPr>
              <a:t>的</a:t>
            </a:r>
            <a:r>
              <a:rPr lang="zh-CN" altLang="en-US" sz="2000" dirty="0">
                <a:solidFill>
                  <a:srgbClr val="030DCD"/>
                </a:solidFill>
              </a:rPr>
              <a:t>值都是相同</a:t>
            </a:r>
            <a:r>
              <a:rPr lang="zh-CN" altLang="en-US" sz="2000" dirty="0">
                <a:solidFill>
                  <a:srgbClr val="006600"/>
                </a:solidFill>
              </a:rPr>
              <a:t>的；</a:t>
            </a:r>
            <a:endParaRPr lang="en-US" altLang="zh-CN" sz="2000" dirty="0">
              <a:solidFill>
                <a:srgbClr val="006600"/>
              </a:solidFill>
            </a:endParaRPr>
          </a:p>
          <a:p>
            <a:pPr marL="342000" indent="-342900">
              <a:buFont typeface="Wingdings" panose="05000000000000000000" pitchFamily="2" charset="2"/>
              <a:buChar char="l"/>
            </a:pPr>
            <a:r>
              <a:rPr lang="zh-CN" altLang="en-US" sz="2000" dirty="0"/>
              <a:t>只是编译器对它们的解读不同</a:t>
            </a:r>
            <a:endParaRPr lang="en-US" altLang="zh-CN" sz="2000" dirty="0"/>
          </a:p>
          <a:p>
            <a:pPr marL="971550" lvl="1"/>
            <a:r>
              <a:rPr lang="en-US" altLang="zh-CN" sz="1800" dirty="0">
                <a:solidFill>
                  <a:srgbClr val="006600"/>
                </a:solidFill>
              </a:rPr>
              <a:t>a[0]</a:t>
            </a:r>
            <a:r>
              <a:rPr lang="zh-CN" altLang="en-US" sz="1800" dirty="0">
                <a:solidFill>
                  <a:srgbClr val="006600"/>
                </a:solidFill>
              </a:rPr>
              <a:t>是数组</a:t>
            </a:r>
            <a:r>
              <a:rPr lang="en-US" altLang="zh-CN" sz="1800" dirty="0">
                <a:solidFill>
                  <a:srgbClr val="006600"/>
                </a:solidFill>
              </a:rPr>
              <a:t>a</a:t>
            </a:r>
            <a:r>
              <a:rPr lang="zh-CN" altLang="en-US" sz="1800" dirty="0">
                <a:solidFill>
                  <a:srgbClr val="006600"/>
                </a:solidFill>
              </a:rPr>
              <a:t>的首行元素组成的一维数组，</a:t>
            </a:r>
            <a:r>
              <a:rPr lang="en-US" altLang="zh-CN" sz="1800" dirty="0">
                <a:solidFill>
                  <a:srgbClr val="006600"/>
                </a:solidFill>
              </a:rPr>
              <a:t>a[0]</a:t>
            </a:r>
            <a:r>
              <a:rPr lang="zh-CN" altLang="en-US" sz="1800" dirty="0">
                <a:solidFill>
                  <a:srgbClr val="006600"/>
                </a:solidFill>
              </a:rPr>
              <a:t>是其数组名；</a:t>
            </a:r>
            <a:endParaRPr lang="en-US" altLang="zh-CN" sz="1800" dirty="0">
              <a:solidFill>
                <a:srgbClr val="006600"/>
              </a:solidFill>
            </a:endParaRPr>
          </a:p>
          <a:p>
            <a:pPr marL="971550" lvl="1"/>
            <a:r>
              <a:rPr lang="zh-CN" altLang="en-US" sz="1800" dirty="0">
                <a:solidFill>
                  <a:srgbClr val="006600"/>
                </a:solidFill>
              </a:rPr>
              <a:t>根据编译器对一维数组名的理解，</a:t>
            </a:r>
            <a:r>
              <a:rPr lang="en-US" altLang="zh-CN" sz="1800" dirty="0">
                <a:solidFill>
                  <a:srgbClr val="006600"/>
                </a:solidFill>
              </a:rPr>
              <a:t>a[0]</a:t>
            </a:r>
            <a:r>
              <a:rPr lang="zh-CN" altLang="en-US" sz="1800" dirty="0">
                <a:solidFill>
                  <a:srgbClr val="006600"/>
                </a:solidFill>
              </a:rPr>
              <a:t>是个一级指针，指向数组</a:t>
            </a:r>
            <a:r>
              <a:rPr lang="en-US" altLang="zh-CN" sz="1800" dirty="0">
                <a:solidFill>
                  <a:srgbClr val="006600"/>
                </a:solidFill>
              </a:rPr>
              <a:t>a[0]</a:t>
            </a:r>
            <a:r>
              <a:rPr lang="zh-CN" altLang="en-US" sz="1800" dirty="0">
                <a:solidFill>
                  <a:srgbClr val="006600"/>
                </a:solidFill>
              </a:rPr>
              <a:t>的首元素</a:t>
            </a:r>
            <a:r>
              <a:rPr lang="en-US" altLang="zh-CN" sz="1800" dirty="0">
                <a:solidFill>
                  <a:srgbClr val="006600"/>
                </a:solidFill>
              </a:rPr>
              <a:t>a[0][0]</a:t>
            </a:r>
            <a:r>
              <a:rPr lang="zh-CN" altLang="en-US" sz="1800" dirty="0">
                <a:solidFill>
                  <a:srgbClr val="006600"/>
                </a:solidFill>
              </a:rPr>
              <a:t>；</a:t>
            </a:r>
            <a:endParaRPr lang="en-US" altLang="zh-CN" sz="1800" dirty="0">
              <a:solidFill>
                <a:srgbClr val="006600"/>
              </a:solidFill>
            </a:endParaRPr>
          </a:p>
          <a:p>
            <a:pPr marL="971550" lvl="1"/>
            <a:r>
              <a:rPr lang="en-US" altLang="zh-CN" sz="1800" dirty="0">
                <a:solidFill>
                  <a:srgbClr val="006600"/>
                </a:solidFill>
              </a:rPr>
              <a:t>a[0]+1</a:t>
            </a:r>
            <a:r>
              <a:rPr lang="zh-CN" altLang="en-US" sz="1800" dirty="0">
                <a:solidFill>
                  <a:srgbClr val="006600"/>
                </a:solidFill>
              </a:rPr>
              <a:t>中地址</a:t>
            </a:r>
            <a:r>
              <a:rPr lang="en-US" altLang="zh-CN" sz="1800" dirty="0">
                <a:solidFill>
                  <a:srgbClr val="006600"/>
                </a:solidFill>
              </a:rPr>
              <a:t>+1</a:t>
            </a:r>
            <a:r>
              <a:rPr lang="zh-CN" altLang="en-US" sz="1800" dirty="0">
                <a:solidFill>
                  <a:srgbClr val="006600"/>
                </a:solidFill>
              </a:rPr>
              <a:t>的含义：相当于</a:t>
            </a:r>
            <a:r>
              <a:rPr lang="en-US" altLang="zh-CN" sz="1800" dirty="0">
                <a:solidFill>
                  <a:srgbClr val="006600"/>
                </a:solidFill>
              </a:rPr>
              <a:t>&amp;a[0][0]+1;</a:t>
            </a:r>
            <a:r>
              <a:rPr lang="zh-CN" altLang="en-US" sz="1800" dirty="0">
                <a:solidFill>
                  <a:srgbClr val="006600"/>
                </a:solidFill>
              </a:rPr>
              <a:t>（即加上数组元素类型所占用的字节数，这里是整型数据，因此</a:t>
            </a:r>
            <a:r>
              <a:rPr lang="en-US" altLang="zh-CN" sz="1800" dirty="0">
                <a:solidFill>
                  <a:srgbClr val="006600"/>
                </a:solidFill>
              </a:rPr>
              <a:t>+4</a:t>
            </a:r>
            <a:r>
              <a:rPr lang="zh-CN" altLang="en-US" sz="1800" dirty="0">
                <a:solidFill>
                  <a:srgbClr val="006600"/>
                </a:solidFill>
              </a:rPr>
              <a:t>）</a:t>
            </a:r>
            <a:endParaRPr lang="en-US" altLang="zh-CN" sz="1800" dirty="0">
              <a:solidFill>
                <a:srgbClr val="006600"/>
              </a:solidFill>
            </a:endParaRPr>
          </a:p>
          <a:p>
            <a:pPr marL="971550" lvl="1"/>
            <a:r>
              <a:rPr lang="zh-CN" altLang="en-US" sz="1800" dirty="0">
                <a:solidFill>
                  <a:srgbClr val="006600"/>
                </a:solidFill>
              </a:rPr>
              <a:t>只是由于</a:t>
            </a:r>
            <a:r>
              <a:rPr lang="en-US" altLang="zh-CN" sz="1800" dirty="0">
                <a:solidFill>
                  <a:srgbClr val="006600"/>
                </a:solidFill>
              </a:rPr>
              <a:t>a[0]</a:t>
            </a:r>
            <a:r>
              <a:rPr lang="zh-CN" altLang="en-US" sz="1800" dirty="0">
                <a:solidFill>
                  <a:srgbClr val="006600"/>
                </a:solidFill>
              </a:rPr>
              <a:t>的位置特殊，其地址就是</a:t>
            </a:r>
            <a:r>
              <a:rPr lang="en-US" altLang="zh-CN" sz="1800" dirty="0">
                <a:solidFill>
                  <a:srgbClr val="006600"/>
                </a:solidFill>
              </a:rPr>
              <a:t>a</a:t>
            </a:r>
            <a:r>
              <a:rPr lang="zh-CN" altLang="en-US" sz="1800" dirty="0">
                <a:solidFill>
                  <a:srgbClr val="006600"/>
                </a:solidFill>
              </a:rPr>
              <a:t>；</a:t>
            </a:r>
            <a:endParaRPr lang="en-US" altLang="zh-CN" sz="1800" dirty="0">
              <a:solidFill>
                <a:srgbClr val="006600"/>
              </a:solidFill>
            </a:endParaRPr>
          </a:p>
          <a:p>
            <a:pPr marL="971550" lvl="1"/>
            <a:endParaRPr lang="en-US" altLang="zh-CN" sz="1800" dirty="0">
              <a:solidFill>
                <a:srgbClr val="006600"/>
              </a:solidFill>
            </a:endParaRPr>
          </a:p>
          <a:p>
            <a:pPr marL="971550" lvl="1"/>
            <a:r>
              <a:rPr lang="en-US" altLang="zh-CN" sz="1800" dirty="0">
                <a:solidFill>
                  <a:srgbClr val="006600"/>
                </a:solidFill>
              </a:rPr>
              <a:t>&amp;a[0]</a:t>
            </a:r>
            <a:r>
              <a:rPr lang="zh-CN" altLang="en-US" sz="1800" dirty="0">
                <a:solidFill>
                  <a:srgbClr val="006600"/>
                </a:solidFill>
              </a:rPr>
              <a:t>被解释为一个数组指针，指向一个数组；</a:t>
            </a:r>
            <a:endParaRPr lang="en-US" altLang="zh-CN" sz="1800" dirty="0">
              <a:solidFill>
                <a:srgbClr val="006600"/>
              </a:solidFill>
            </a:endParaRPr>
          </a:p>
          <a:p>
            <a:pPr marL="971550" lvl="1"/>
            <a:r>
              <a:rPr lang="en-US" altLang="zh-CN" sz="1800" dirty="0">
                <a:solidFill>
                  <a:srgbClr val="006600"/>
                </a:solidFill>
              </a:rPr>
              <a:t>&amp;a[0]+1</a:t>
            </a:r>
            <a:r>
              <a:rPr lang="zh-CN" altLang="en-US" sz="1800" dirty="0">
                <a:solidFill>
                  <a:srgbClr val="006600"/>
                </a:solidFill>
              </a:rPr>
              <a:t>中地址</a:t>
            </a:r>
            <a:r>
              <a:rPr lang="en-US" altLang="zh-CN" sz="1800" dirty="0">
                <a:solidFill>
                  <a:srgbClr val="006600"/>
                </a:solidFill>
              </a:rPr>
              <a:t>+1</a:t>
            </a:r>
            <a:r>
              <a:rPr lang="zh-CN" altLang="en-US" sz="1800" dirty="0">
                <a:solidFill>
                  <a:srgbClr val="006600"/>
                </a:solidFill>
              </a:rPr>
              <a:t>含义：加上数组</a:t>
            </a:r>
            <a:r>
              <a:rPr lang="en-US" altLang="zh-CN" sz="1800" dirty="0">
                <a:solidFill>
                  <a:srgbClr val="006600"/>
                </a:solidFill>
              </a:rPr>
              <a:t>a[0]</a:t>
            </a:r>
            <a:r>
              <a:rPr lang="zh-CN" altLang="en-US" sz="1800" dirty="0">
                <a:solidFill>
                  <a:srgbClr val="006600"/>
                </a:solidFill>
              </a:rPr>
              <a:t>的元素数</a:t>
            </a:r>
            <a:r>
              <a:rPr lang="en-US" altLang="zh-CN" sz="1800" dirty="0">
                <a:solidFill>
                  <a:srgbClr val="006600"/>
                </a:solidFill>
              </a:rPr>
              <a:t>*</a:t>
            </a:r>
            <a:r>
              <a:rPr lang="zh-CN" altLang="en-US" sz="1800" dirty="0">
                <a:solidFill>
                  <a:srgbClr val="006600"/>
                </a:solidFill>
              </a:rPr>
              <a:t>每个元素所占用的字节数；</a:t>
            </a:r>
            <a:endParaRPr lang="en-US" altLang="zh-CN" sz="1800" dirty="0">
              <a:solidFill>
                <a:srgbClr val="006600"/>
              </a:solidFill>
            </a:endParaRPr>
          </a:p>
          <a:p>
            <a:pPr marL="971550" lvl="1"/>
            <a:endParaRPr lang="en-US" altLang="zh-CN" sz="1800" dirty="0">
              <a:solidFill>
                <a:srgbClr val="006600"/>
              </a:solidFill>
            </a:endParaRPr>
          </a:p>
          <a:p>
            <a:pPr marL="342000" indent="-342900">
              <a:buFont typeface="Wingdings" panose="05000000000000000000" pitchFamily="2" charset="2"/>
              <a:buChar char="l"/>
            </a:pPr>
            <a:endParaRPr lang="en-US" altLang="zh-CN" sz="2000" dirty="0"/>
          </a:p>
        </p:txBody>
      </p:sp>
      <p:pic>
        <p:nvPicPr>
          <p:cNvPr id="4"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6779" y="935181"/>
            <a:ext cx="4361584" cy="1029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402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编译器对二维数组名的解读</a:t>
            </a:r>
          </a:p>
        </p:txBody>
      </p:sp>
      <p:sp>
        <p:nvSpPr>
          <p:cNvPr id="3" name="内容占位符 2"/>
          <p:cNvSpPr>
            <a:spLocks noGrp="1"/>
          </p:cNvSpPr>
          <p:nvPr>
            <p:ph idx="1"/>
          </p:nvPr>
        </p:nvSpPr>
        <p:spPr>
          <a:xfrm>
            <a:off x="485774" y="1135063"/>
            <a:ext cx="8089901" cy="5345112"/>
          </a:xfrm>
        </p:spPr>
        <p:txBody>
          <a:bodyPr/>
          <a:lstStyle/>
          <a:p>
            <a:pPr marL="342000" indent="-342900">
              <a:buFont typeface="Wingdings" panose="05000000000000000000" pitchFamily="2" charset="2"/>
              <a:buChar char="l"/>
            </a:pPr>
            <a:r>
              <a:rPr lang="en-US" altLang="zh-CN" sz="2000" dirty="0" err="1">
                <a:solidFill>
                  <a:srgbClr val="006600"/>
                </a:solidFill>
              </a:rPr>
              <a:t>int</a:t>
            </a:r>
            <a:r>
              <a:rPr lang="en-US" altLang="zh-CN" sz="2000" dirty="0">
                <a:solidFill>
                  <a:srgbClr val="006600"/>
                </a:solidFill>
              </a:rPr>
              <a:t> a[3][4];</a:t>
            </a:r>
          </a:p>
          <a:p>
            <a:pPr marL="342000" indent="-342900">
              <a:buFont typeface="Wingdings" panose="05000000000000000000" pitchFamily="2" charset="2"/>
              <a:buChar char="l"/>
            </a:pPr>
            <a:endParaRPr lang="en-US" altLang="zh-CN" sz="2000" dirty="0">
              <a:solidFill>
                <a:srgbClr val="006600"/>
              </a:solidFill>
            </a:endParaRPr>
          </a:p>
          <a:p>
            <a:pPr marL="342000" indent="-342900">
              <a:buFont typeface="Wingdings" panose="05000000000000000000" pitchFamily="2" charset="2"/>
              <a:buChar char="l"/>
            </a:pPr>
            <a:r>
              <a:rPr lang="en-US" altLang="zh-CN" sz="2000" dirty="0">
                <a:solidFill>
                  <a:srgbClr val="030DCD"/>
                </a:solidFill>
              </a:rPr>
              <a:t>a[0],&amp;a[0],&amp;a[0][0] ,a, &amp;a</a:t>
            </a:r>
            <a:r>
              <a:rPr lang="zh-CN" altLang="en-US" sz="2000" dirty="0">
                <a:solidFill>
                  <a:srgbClr val="006600"/>
                </a:solidFill>
              </a:rPr>
              <a:t>的值都是相同的；</a:t>
            </a:r>
            <a:endParaRPr lang="en-US" altLang="zh-CN" sz="2000" dirty="0">
              <a:solidFill>
                <a:srgbClr val="006600"/>
              </a:solidFill>
            </a:endParaRPr>
          </a:p>
          <a:p>
            <a:pPr marL="342000" indent="-342900">
              <a:buFont typeface="Wingdings" panose="05000000000000000000" pitchFamily="2" charset="2"/>
              <a:buChar char="l"/>
            </a:pPr>
            <a:r>
              <a:rPr lang="zh-CN" altLang="en-US" sz="2000" dirty="0"/>
              <a:t>只是编译器对它们的解读不同</a:t>
            </a:r>
            <a:endParaRPr lang="en-US" altLang="zh-CN" sz="2000" dirty="0"/>
          </a:p>
          <a:p>
            <a:pPr marL="971550" lvl="1"/>
            <a:r>
              <a:rPr lang="en-US" altLang="zh-CN" sz="1600" dirty="0">
                <a:solidFill>
                  <a:srgbClr val="006600"/>
                </a:solidFill>
              </a:rPr>
              <a:t>a[0][0]</a:t>
            </a:r>
            <a:r>
              <a:rPr lang="zh-CN" altLang="en-US" sz="1600" dirty="0">
                <a:solidFill>
                  <a:srgbClr val="006600"/>
                </a:solidFill>
              </a:rPr>
              <a:t>是二维数组</a:t>
            </a:r>
            <a:r>
              <a:rPr lang="en-US" altLang="zh-CN" sz="1600" dirty="0">
                <a:solidFill>
                  <a:srgbClr val="006600"/>
                </a:solidFill>
              </a:rPr>
              <a:t>a</a:t>
            </a:r>
            <a:r>
              <a:rPr lang="zh-CN" altLang="en-US" sz="1600" dirty="0">
                <a:solidFill>
                  <a:srgbClr val="006600"/>
                </a:solidFill>
              </a:rPr>
              <a:t>的首元素，也可以理解为一维数组</a:t>
            </a:r>
            <a:r>
              <a:rPr lang="en-US" altLang="zh-CN" sz="1600" dirty="0">
                <a:solidFill>
                  <a:srgbClr val="006600"/>
                </a:solidFill>
              </a:rPr>
              <a:t>a[0]</a:t>
            </a:r>
            <a:r>
              <a:rPr lang="zh-CN" altLang="en-US" sz="1600" dirty="0">
                <a:solidFill>
                  <a:srgbClr val="006600"/>
                </a:solidFill>
              </a:rPr>
              <a:t>的首元素；</a:t>
            </a:r>
            <a:endParaRPr lang="en-US" altLang="zh-CN" sz="1600" dirty="0">
              <a:solidFill>
                <a:srgbClr val="006600"/>
              </a:solidFill>
            </a:endParaRPr>
          </a:p>
          <a:p>
            <a:pPr marL="971550" lvl="1"/>
            <a:r>
              <a:rPr lang="zh-CN" altLang="en-US" sz="1600" dirty="0">
                <a:solidFill>
                  <a:srgbClr val="006600"/>
                </a:solidFill>
              </a:rPr>
              <a:t>是一个普通的整型数据；</a:t>
            </a:r>
            <a:r>
              <a:rPr lang="en-US" altLang="zh-CN" sz="1600" dirty="0">
                <a:solidFill>
                  <a:srgbClr val="006600"/>
                </a:solidFill>
              </a:rPr>
              <a:t>&amp;a[0][0]</a:t>
            </a:r>
            <a:r>
              <a:rPr lang="zh-CN" altLang="en-US" sz="1600" dirty="0">
                <a:solidFill>
                  <a:srgbClr val="006600"/>
                </a:solidFill>
              </a:rPr>
              <a:t>是二维数组</a:t>
            </a:r>
            <a:r>
              <a:rPr lang="en-US" altLang="zh-CN" sz="1600" dirty="0">
                <a:solidFill>
                  <a:srgbClr val="006600"/>
                </a:solidFill>
              </a:rPr>
              <a:t>a</a:t>
            </a:r>
            <a:r>
              <a:rPr lang="zh-CN" altLang="en-US" sz="1600" dirty="0">
                <a:solidFill>
                  <a:srgbClr val="006600"/>
                </a:solidFill>
              </a:rPr>
              <a:t>的起始地址；</a:t>
            </a:r>
            <a:endParaRPr lang="en-US" altLang="zh-CN" sz="1600" dirty="0">
              <a:solidFill>
                <a:srgbClr val="006600"/>
              </a:solidFill>
            </a:endParaRPr>
          </a:p>
          <a:p>
            <a:pPr marL="971550" lvl="1"/>
            <a:r>
              <a:rPr lang="en-US" altLang="zh-CN" sz="1600" dirty="0">
                <a:solidFill>
                  <a:srgbClr val="030DCD"/>
                </a:solidFill>
              </a:rPr>
              <a:t>a</a:t>
            </a:r>
            <a:r>
              <a:rPr lang="zh-CN" altLang="en-US" sz="1600" dirty="0">
                <a:solidFill>
                  <a:srgbClr val="030DCD"/>
                </a:solidFill>
              </a:rPr>
              <a:t>是二维数组的名字</a:t>
            </a:r>
            <a:r>
              <a:rPr lang="en-US" altLang="zh-CN" sz="1600" dirty="0">
                <a:solidFill>
                  <a:srgbClr val="030DCD"/>
                </a:solidFill>
              </a:rPr>
              <a:t>,</a:t>
            </a:r>
            <a:r>
              <a:rPr lang="zh-CN" altLang="en-US" sz="1600" dirty="0">
                <a:solidFill>
                  <a:srgbClr val="030DCD"/>
                </a:solidFill>
              </a:rPr>
              <a:t>可以理解为：</a:t>
            </a:r>
            <a:r>
              <a:rPr lang="en-US" altLang="zh-CN" sz="1600" dirty="0">
                <a:solidFill>
                  <a:srgbClr val="030DCD"/>
                </a:solidFill>
              </a:rPr>
              <a:t>a</a:t>
            </a:r>
            <a:r>
              <a:rPr lang="zh-CN" altLang="en-US" sz="1600" dirty="0">
                <a:solidFill>
                  <a:srgbClr val="030DCD"/>
                </a:solidFill>
              </a:rPr>
              <a:t>指向</a:t>
            </a:r>
            <a:r>
              <a:rPr lang="en-US" altLang="zh-CN" sz="1600" dirty="0">
                <a:solidFill>
                  <a:srgbClr val="030DCD"/>
                </a:solidFill>
              </a:rPr>
              <a:t>a[0]</a:t>
            </a:r>
            <a:r>
              <a:rPr lang="zh-CN" altLang="en-US" sz="1600" dirty="0">
                <a:solidFill>
                  <a:srgbClr val="030DCD"/>
                </a:solidFill>
              </a:rPr>
              <a:t>，</a:t>
            </a:r>
            <a:r>
              <a:rPr lang="en-US" altLang="zh-CN" sz="1600" dirty="0">
                <a:solidFill>
                  <a:srgbClr val="030DCD"/>
                </a:solidFill>
              </a:rPr>
              <a:t>a[0]</a:t>
            </a:r>
            <a:r>
              <a:rPr lang="zh-CN" altLang="en-US" sz="1600" dirty="0">
                <a:solidFill>
                  <a:srgbClr val="030DCD"/>
                </a:solidFill>
              </a:rPr>
              <a:t>指向</a:t>
            </a:r>
            <a:r>
              <a:rPr lang="en-US" altLang="zh-CN" sz="1600" dirty="0">
                <a:solidFill>
                  <a:srgbClr val="030DCD"/>
                </a:solidFill>
              </a:rPr>
              <a:t>a[0][0]</a:t>
            </a:r>
            <a:r>
              <a:rPr lang="zh-CN" altLang="en-US" sz="1600" dirty="0">
                <a:solidFill>
                  <a:srgbClr val="030DCD"/>
                </a:solidFill>
              </a:rPr>
              <a:t>，因此</a:t>
            </a:r>
            <a:r>
              <a:rPr lang="en-US" altLang="zh-CN" sz="1600" dirty="0">
                <a:solidFill>
                  <a:srgbClr val="030DCD"/>
                </a:solidFill>
              </a:rPr>
              <a:t>a</a:t>
            </a:r>
            <a:r>
              <a:rPr lang="zh-CN" altLang="en-US" sz="1600" dirty="0">
                <a:solidFill>
                  <a:srgbClr val="C00000"/>
                </a:solidFill>
              </a:rPr>
              <a:t>类似于</a:t>
            </a:r>
            <a:r>
              <a:rPr lang="zh-CN" altLang="en-US" sz="1600" dirty="0">
                <a:solidFill>
                  <a:srgbClr val="030DCD"/>
                </a:solidFill>
              </a:rPr>
              <a:t>一个二级整型指针，指向其首元素</a:t>
            </a:r>
            <a:r>
              <a:rPr lang="en-US" altLang="zh-CN" sz="1600" dirty="0">
                <a:solidFill>
                  <a:srgbClr val="030DCD"/>
                </a:solidFill>
              </a:rPr>
              <a:t>a[0][0]</a:t>
            </a:r>
            <a:r>
              <a:rPr lang="zh-CN" altLang="en-US" sz="1600" dirty="0">
                <a:solidFill>
                  <a:srgbClr val="030DCD"/>
                </a:solidFill>
              </a:rPr>
              <a:t>；</a:t>
            </a:r>
            <a:endParaRPr lang="en-US" altLang="zh-CN" sz="1600" dirty="0">
              <a:solidFill>
                <a:srgbClr val="030DCD"/>
              </a:solidFill>
            </a:endParaRPr>
          </a:p>
          <a:p>
            <a:pPr marL="971550" lvl="1"/>
            <a:r>
              <a:rPr lang="en-US" altLang="zh-CN" sz="1600" dirty="0" err="1">
                <a:solidFill>
                  <a:srgbClr val="030DCD"/>
                </a:solidFill>
              </a:rPr>
              <a:t>int</a:t>
            </a:r>
            <a:r>
              <a:rPr lang="en-US" altLang="zh-CN" sz="1600" dirty="0">
                <a:solidFill>
                  <a:srgbClr val="030DCD"/>
                </a:solidFill>
              </a:rPr>
              <a:t> b</a:t>
            </a:r>
            <a:r>
              <a:rPr lang="zh-CN" altLang="en-US" sz="1600" dirty="0">
                <a:solidFill>
                  <a:srgbClr val="030DCD"/>
                </a:solidFill>
              </a:rPr>
              <a:t>；</a:t>
            </a:r>
            <a:r>
              <a:rPr lang="en-US" altLang="zh-CN" sz="1600" dirty="0">
                <a:solidFill>
                  <a:srgbClr val="030DCD"/>
                </a:solidFill>
              </a:rPr>
              <a:t>b=**a;  </a:t>
            </a:r>
            <a:r>
              <a:rPr lang="zh-CN" altLang="en-US" sz="1600" dirty="0">
                <a:solidFill>
                  <a:srgbClr val="030DCD"/>
                </a:solidFill>
              </a:rPr>
              <a:t>相当于</a:t>
            </a:r>
            <a:r>
              <a:rPr lang="en-US" altLang="zh-CN" sz="1600" dirty="0">
                <a:solidFill>
                  <a:srgbClr val="030DCD"/>
                </a:solidFill>
              </a:rPr>
              <a:t>b=a[0][0]; </a:t>
            </a:r>
          </a:p>
          <a:p>
            <a:pPr marL="971550" lvl="1"/>
            <a:r>
              <a:rPr lang="en-US" altLang="zh-CN" sz="1600" dirty="0" err="1">
                <a:solidFill>
                  <a:srgbClr val="030DCD"/>
                </a:solidFill>
              </a:rPr>
              <a:t>int</a:t>
            </a:r>
            <a:r>
              <a:rPr lang="en-US" altLang="zh-CN" sz="1600" dirty="0">
                <a:solidFill>
                  <a:srgbClr val="030DCD"/>
                </a:solidFill>
              </a:rPr>
              <a:t> *</a:t>
            </a:r>
            <a:r>
              <a:rPr lang="en-US" altLang="zh-CN" sz="1600" dirty="0" err="1">
                <a:solidFill>
                  <a:srgbClr val="030DCD"/>
                </a:solidFill>
              </a:rPr>
              <a:t>bp</a:t>
            </a:r>
            <a:r>
              <a:rPr lang="en-US" altLang="zh-CN" sz="1600" dirty="0">
                <a:solidFill>
                  <a:srgbClr val="030DCD"/>
                </a:solidFill>
              </a:rPr>
              <a:t>; </a:t>
            </a:r>
            <a:r>
              <a:rPr lang="en-US" altLang="zh-CN" sz="1600" dirty="0" err="1">
                <a:solidFill>
                  <a:srgbClr val="030DCD"/>
                </a:solidFill>
              </a:rPr>
              <a:t>bp</a:t>
            </a:r>
            <a:r>
              <a:rPr lang="en-US" altLang="zh-CN" sz="1600" dirty="0">
                <a:solidFill>
                  <a:srgbClr val="030DCD"/>
                </a:solidFill>
              </a:rPr>
              <a:t>=*a; </a:t>
            </a:r>
            <a:r>
              <a:rPr lang="zh-CN" altLang="en-US" sz="1600" dirty="0">
                <a:solidFill>
                  <a:srgbClr val="030DCD"/>
                </a:solidFill>
              </a:rPr>
              <a:t>相当于</a:t>
            </a:r>
            <a:r>
              <a:rPr lang="en-US" altLang="zh-CN" sz="1600" dirty="0" err="1">
                <a:solidFill>
                  <a:srgbClr val="030DCD"/>
                </a:solidFill>
              </a:rPr>
              <a:t>bp</a:t>
            </a:r>
            <a:r>
              <a:rPr lang="en-US" altLang="zh-CN" sz="1600" dirty="0">
                <a:solidFill>
                  <a:srgbClr val="030DCD"/>
                </a:solidFill>
              </a:rPr>
              <a:t>=&amp;a[0][0], </a:t>
            </a:r>
            <a:r>
              <a:rPr lang="zh-CN" altLang="en-US" sz="1600" dirty="0">
                <a:solidFill>
                  <a:srgbClr val="030DCD"/>
                </a:solidFill>
              </a:rPr>
              <a:t>即</a:t>
            </a:r>
            <a:r>
              <a:rPr lang="en-US" altLang="zh-CN" sz="1600" dirty="0" err="1">
                <a:solidFill>
                  <a:srgbClr val="030DCD"/>
                </a:solidFill>
              </a:rPr>
              <a:t>bp</a:t>
            </a:r>
            <a:r>
              <a:rPr lang="zh-CN" altLang="en-US" sz="1600" dirty="0">
                <a:solidFill>
                  <a:srgbClr val="030DCD"/>
                </a:solidFill>
              </a:rPr>
              <a:t>指向</a:t>
            </a:r>
            <a:r>
              <a:rPr lang="en-US" altLang="zh-CN" sz="1600" dirty="0">
                <a:solidFill>
                  <a:srgbClr val="030DCD"/>
                </a:solidFill>
              </a:rPr>
              <a:t>a</a:t>
            </a:r>
            <a:r>
              <a:rPr lang="zh-CN" altLang="en-US" sz="1600" dirty="0">
                <a:solidFill>
                  <a:srgbClr val="030DCD"/>
                </a:solidFill>
              </a:rPr>
              <a:t>的首元素， </a:t>
            </a:r>
            <a:r>
              <a:rPr lang="en-US" altLang="zh-CN" sz="1600" dirty="0">
                <a:solidFill>
                  <a:srgbClr val="030DCD"/>
                </a:solidFill>
              </a:rPr>
              <a:t>*</a:t>
            </a:r>
            <a:r>
              <a:rPr lang="en-US" altLang="zh-CN" sz="1600" dirty="0" err="1">
                <a:solidFill>
                  <a:srgbClr val="030DCD"/>
                </a:solidFill>
              </a:rPr>
              <a:t>bp</a:t>
            </a:r>
            <a:r>
              <a:rPr lang="en-US" altLang="zh-CN" sz="1600" dirty="0">
                <a:solidFill>
                  <a:srgbClr val="030DCD"/>
                </a:solidFill>
              </a:rPr>
              <a:t>=a[0][0]; </a:t>
            </a:r>
          </a:p>
          <a:p>
            <a:pPr marL="971550" lvl="1"/>
            <a:r>
              <a:rPr lang="zh-CN" altLang="en-US" sz="1600" dirty="0">
                <a:solidFill>
                  <a:srgbClr val="030DCD"/>
                </a:solidFill>
              </a:rPr>
              <a:t>只不过</a:t>
            </a:r>
            <a:r>
              <a:rPr lang="en-US" altLang="zh-CN" sz="1600" dirty="0">
                <a:solidFill>
                  <a:srgbClr val="030DCD"/>
                </a:solidFill>
              </a:rPr>
              <a:t>a</a:t>
            </a:r>
            <a:r>
              <a:rPr lang="zh-CN" altLang="en-US" sz="1600" dirty="0">
                <a:solidFill>
                  <a:srgbClr val="030DCD"/>
                </a:solidFill>
              </a:rPr>
              <a:t>是一个二级常量指针，不允许修改；</a:t>
            </a:r>
            <a:endParaRPr lang="en-US" altLang="zh-CN" sz="1600" dirty="0">
              <a:solidFill>
                <a:srgbClr val="030DCD"/>
              </a:solidFill>
            </a:endParaRPr>
          </a:p>
          <a:p>
            <a:pPr marL="970650" lvl="1"/>
            <a:r>
              <a:rPr lang="zh-CN" altLang="en-US" sz="1600" dirty="0"/>
              <a:t>若</a:t>
            </a:r>
            <a:r>
              <a:rPr lang="en-US" altLang="zh-CN" sz="1600" dirty="0" err="1"/>
              <a:t>int</a:t>
            </a:r>
            <a:r>
              <a:rPr lang="en-US" altLang="zh-CN" sz="1600" dirty="0"/>
              <a:t> **p; p=a</a:t>
            </a:r>
            <a:r>
              <a:rPr lang="zh-CN" altLang="en-US" sz="1600" dirty="0"/>
              <a:t>，则编译时出现如下错误信息：</a:t>
            </a:r>
            <a:endParaRPr lang="en-US" altLang="zh-CN" sz="1600" dirty="0"/>
          </a:p>
          <a:p>
            <a:pPr marL="1199250" lvl="2"/>
            <a:r>
              <a:rPr lang="en-US" altLang="zh-CN" sz="1400" dirty="0">
                <a:solidFill>
                  <a:srgbClr val="006600"/>
                </a:solidFill>
              </a:rPr>
              <a:t>[Error] cannot convert '</a:t>
            </a:r>
            <a:r>
              <a:rPr lang="en-US" altLang="zh-CN" sz="1400" dirty="0" err="1">
                <a:solidFill>
                  <a:srgbClr val="006600"/>
                </a:solidFill>
              </a:rPr>
              <a:t>int</a:t>
            </a:r>
            <a:r>
              <a:rPr lang="en-US" altLang="zh-CN" sz="1400" dirty="0">
                <a:solidFill>
                  <a:srgbClr val="006600"/>
                </a:solidFill>
              </a:rPr>
              <a:t> [3][4]' to '</a:t>
            </a:r>
            <a:r>
              <a:rPr lang="en-US" altLang="zh-CN" sz="1400" dirty="0" err="1">
                <a:solidFill>
                  <a:srgbClr val="006600"/>
                </a:solidFill>
              </a:rPr>
              <a:t>int</a:t>
            </a:r>
            <a:r>
              <a:rPr lang="en-US" altLang="zh-CN" sz="1400" dirty="0">
                <a:solidFill>
                  <a:srgbClr val="006600"/>
                </a:solidFill>
              </a:rPr>
              <a:t>**' in assignment</a:t>
            </a:r>
          </a:p>
          <a:p>
            <a:pPr marL="1199250" lvl="2"/>
            <a:r>
              <a:rPr lang="zh-CN" altLang="en-US" sz="1400" dirty="0">
                <a:solidFill>
                  <a:srgbClr val="006600"/>
                </a:solidFill>
              </a:rPr>
              <a:t>说明</a:t>
            </a:r>
            <a:r>
              <a:rPr lang="en-US" altLang="zh-CN" sz="1400" dirty="0">
                <a:solidFill>
                  <a:srgbClr val="006600"/>
                </a:solidFill>
              </a:rPr>
              <a:t>p</a:t>
            </a:r>
            <a:r>
              <a:rPr lang="zh-CN" altLang="en-US" sz="1400" dirty="0">
                <a:solidFill>
                  <a:srgbClr val="006600"/>
                </a:solidFill>
              </a:rPr>
              <a:t>的基类型与</a:t>
            </a:r>
            <a:r>
              <a:rPr lang="en-US" altLang="zh-CN" sz="1400" dirty="0">
                <a:solidFill>
                  <a:srgbClr val="006600"/>
                </a:solidFill>
              </a:rPr>
              <a:t>a</a:t>
            </a:r>
            <a:r>
              <a:rPr lang="zh-CN" altLang="en-US" sz="1400" dirty="0">
                <a:solidFill>
                  <a:srgbClr val="006600"/>
                </a:solidFill>
              </a:rPr>
              <a:t>的基类型还是不同，尽管</a:t>
            </a:r>
            <a:r>
              <a:rPr lang="en-US" altLang="zh-CN" sz="1400" dirty="0">
                <a:solidFill>
                  <a:srgbClr val="006600"/>
                </a:solidFill>
              </a:rPr>
              <a:t>a</a:t>
            </a:r>
            <a:r>
              <a:rPr lang="zh-CN" altLang="en-US" sz="1400" dirty="0">
                <a:solidFill>
                  <a:srgbClr val="006600"/>
                </a:solidFill>
              </a:rPr>
              <a:t>可以理解为二级指针；</a:t>
            </a:r>
            <a:endParaRPr lang="en-US" altLang="zh-CN" sz="1400" dirty="0">
              <a:solidFill>
                <a:srgbClr val="006600"/>
              </a:solidFill>
            </a:endParaRPr>
          </a:p>
          <a:p>
            <a:pPr marL="971550" lvl="1"/>
            <a:endParaRPr lang="en-US" altLang="zh-CN" sz="1800" dirty="0">
              <a:solidFill>
                <a:srgbClr val="030DCD"/>
              </a:solidFill>
            </a:endParaRPr>
          </a:p>
          <a:p>
            <a:pPr marL="971550" lvl="1"/>
            <a:endParaRPr lang="en-US" altLang="zh-CN" sz="1800" dirty="0">
              <a:solidFill>
                <a:srgbClr val="006600"/>
              </a:solidFill>
            </a:endParaRPr>
          </a:p>
          <a:p>
            <a:pPr marL="971550" lvl="1"/>
            <a:endParaRPr lang="en-US" altLang="zh-CN" sz="1800" dirty="0">
              <a:solidFill>
                <a:srgbClr val="006600"/>
              </a:solidFill>
            </a:endParaRPr>
          </a:p>
          <a:p>
            <a:pPr marL="342000" indent="-342900">
              <a:buFont typeface="Wingdings" panose="05000000000000000000" pitchFamily="2" charset="2"/>
              <a:buChar char="l"/>
            </a:pPr>
            <a:endParaRPr lang="en-US" altLang="zh-CN" sz="2000" dirty="0"/>
          </a:p>
        </p:txBody>
      </p:sp>
      <p:pic>
        <p:nvPicPr>
          <p:cNvPr id="4"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4091" y="935181"/>
            <a:ext cx="4361584" cy="1029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465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编译器对二维数组名的解读</a:t>
            </a:r>
          </a:p>
        </p:txBody>
      </p:sp>
      <p:sp>
        <p:nvSpPr>
          <p:cNvPr id="3" name="内容占位符 2"/>
          <p:cNvSpPr>
            <a:spLocks noGrp="1"/>
          </p:cNvSpPr>
          <p:nvPr>
            <p:ph idx="1"/>
          </p:nvPr>
        </p:nvSpPr>
        <p:spPr>
          <a:xfrm>
            <a:off x="485774" y="1135063"/>
            <a:ext cx="8429625" cy="5345112"/>
          </a:xfrm>
        </p:spPr>
        <p:txBody>
          <a:bodyPr/>
          <a:lstStyle/>
          <a:p>
            <a:pPr marL="342000" indent="-342900">
              <a:buFont typeface="Wingdings" panose="05000000000000000000" pitchFamily="2" charset="2"/>
              <a:buChar char="l"/>
            </a:pPr>
            <a:r>
              <a:rPr lang="en-US" altLang="zh-CN" sz="2000" dirty="0" err="1">
                <a:solidFill>
                  <a:srgbClr val="006600"/>
                </a:solidFill>
              </a:rPr>
              <a:t>int</a:t>
            </a:r>
            <a:r>
              <a:rPr lang="en-US" altLang="zh-CN" sz="2000" dirty="0">
                <a:solidFill>
                  <a:srgbClr val="006600"/>
                </a:solidFill>
              </a:rPr>
              <a:t> a[3][4];</a:t>
            </a:r>
          </a:p>
          <a:p>
            <a:pPr marL="342000" indent="-342900">
              <a:buFont typeface="Wingdings" panose="05000000000000000000" pitchFamily="2" charset="2"/>
              <a:buChar char="l"/>
            </a:pPr>
            <a:endParaRPr lang="en-US" altLang="zh-CN" sz="2000" dirty="0">
              <a:solidFill>
                <a:srgbClr val="006600"/>
              </a:solidFill>
            </a:endParaRPr>
          </a:p>
          <a:p>
            <a:pPr marL="342000" indent="-342900">
              <a:buFont typeface="Wingdings" panose="05000000000000000000" pitchFamily="2" charset="2"/>
              <a:buChar char="l"/>
            </a:pPr>
            <a:r>
              <a:rPr lang="en-US" altLang="zh-CN" sz="2000" dirty="0" err="1">
                <a:solidFill>
                  <a:srgbClr val="030DCD"/>
                </a:solidFill>
              </a:rPr>
              <a:t>a,a</a:t>
            </a:r>
            <a:r>
              <a:rPr lang="en-US" altLang="zh-CN" sz="2000" dirty="0">
                <a:solidFill>
                  <a:srgbClr val="030DCD"/>
                </a:solidFill>
              </a:rPr>
              <a:t>[0],&amp;a[0],&amp;a[0][0] ,&amp;a</a:t>
            </a:r>
            <a:r>
              <a:rPr lang="zh-CN" altLang="en-US" sz="2000" dirty="0">
                <a:solidFill>
                  <a:srgbClr val="006600"/>
                </a:solidFill>
              </a:rPr>
              <a:t>的值都是相同的；</a:t>
            </a:r>
            <a:endParaRPr lang="en-US" altLang="zh-CN" sz="2000" dirty="0">
              <a:solidFill>
                <a:srgbClr val="006600"/>
              </a:solidFill>
            </a:endParaRPr>
          </a:p>
          <a:p>
            <a:pPr marL="342000" indent="-342900">
              <a:buFont typeface="Wingdings" panose="05000000000000000000" pitchFamily="2" charset="2"/>
              <a:buChar char="l"/>
            </a:pPr>
            <a:r>
              <a:rPr lang="zh-CN" altLang="en-US" sz="2000" dirty="0"/>
              <a:t>只是编译器对它们的解读不同</a:t>
            </a:r>
            <a:endParaRPr lang="en-US" altLang="zh-CN" sz="2000" dirty="0"/>
          </a:p>
          <a:p>
            <a:pPr marL="971550" lvl="1"/>
            <a:r>
              <a:rPr lang="en-US" altLang="zh-CN" sz="1800" dirty="0"/>
              <a:t>&amp;a</a:t>
            </a:r>
            <a:r>
              <a:rPr lang="zh-CN" altLang="en-US" sz="1800" dirty="0"/>
              <a:t>被解读成一个</a:t>
            </a:r>
            <a:r>
              <a:rPr lang="zh-CN" altLang="en-US" sz="1800" dirty="0">
                <a:solidFill>
                  <a:srgbClr val="FF0000"/>
                </a:solidFill>
              </a:rPr>
              <a:t>数组指针</a:t>
            </a:r>
            <a:r>
              <a:rPr lang="zh-CN" altLang="en-US" sz="1800" dirty="0"/>
              <a:t>，即一个</a:t>
            </a:r>
            <a:r>
              <a:rPr lang="zh-CN" altLang="en-US" sz="1800" dirty="0">
                <a:solidFill>
                  <a:srgbClr val="030DCD"/>
                </a:solidFill>
              </a:rPr>
              <a:t>指向整个二维数组的指针</a:t>
            </a:r>
            <a:r>
              <a:rPr lang="zh-CN" altLang="en-US" sz="1800" dirty="0"/>
              <a:t>；</a:t>
            </a:r>
            <a:endParaRPr lang="en-US" altLang="zh-CN" sz="1800" dirty="0"/>
          </a:p>
          <a:p>
            <a:pPr marL="971550" lvl="1"/>
            <a:r>
              <a:rPr lang="en-US" altLang="zh-CN" sz="1800" dirty="0"/>
              <a:t>&amp;a+1</a:t>
            </a:r>
            <a:r>
              <a:rPr lang="zh-CN" altLang="en-US" sz="1800" dirty="0"/>
              <a:t>中地址</a:t>
            </a:r>
            <a:r>
              <a:rPr lang="en-US" altLang="zh-CN" sz="1800" dirty="0"/>
              <a:t>+1</a:t>
            </a:r>
            <a:r>
              <a:rPr lang="zh-CN" altLang="en-US" sz="1800" dirty="0"/>
              <a:t>的含义：实质上</a:t>
            </a:r>
            <a:r>
              <a:rPr lang="en-US" altLang="zh-CN" sz="1800" dirty="0"/>
              <a:t>+3*8*4</a:t>
            </a:r>
            <a:r>
              <a:rPr lang="zh-CN" altLang="en-US" sz="1800" dirty="0"/>
              <a:t>个字节，即加了整个数组大小；</a:t>
            </a:r>
            <a:endParaRPr lang="en-US" altLang="zh-CN" sz="1800" dirty="0">
              <a:solidFill>
                <a:srgbClr val="030DCD"/>
              </a:solidFill>
            </a:endParaRPr>
          </a:p>
          <a:p>
            <a:pPr marL="971550" lvl="1"/>
            <a:r>
              <a:rPr lang="en-US" altLang="zh-CN" sz="1800" dirty="0" err="1">
                <a:solidFill>
                  <a:srgbClr val="030DCD"/>
                </a:solidFill>
              </a:rPr>
              <a:t>int</a:t>
            </a:r>
            <a:r>
              <a:rPr lang="en-US" altLang="zh-CN" sz="1800" dirty="0">
                <a:solidFill>
                  <a:srgbClr val="030DCD"/>
                </a:solidFill>
              </a:rPr>
              <a:t> (*p)[3][4]</a:t>
            </a:r>
            <a:r>
              <a:rPr lang="zh-CN" altLang="en-US" sz="1800" dirty="0">
                <a:solidFill>
                  <a:srgbClr val="030DCD"/>
                </a:solidFill>
              </a:rPr>
              <a:t>；定义数组指针</a:t>
            </a:r>
            <a:r>
              <a:rPr lang="en-US" altLang="zh-CN" sz="1800" dirty="0">
                <a:solidFill>
                  <a:srgbClr val="030DCD"/>
                </a:solidFill>
              </a:rPr>
              <a:t>p;</a:t>
            </a:r>
          </a:p>
          <a:p>
            <a:pPr marL="1200150" lvl="2"/>
            <a:r>
              <a:rPr lang="zh-CN" altLang="en-US" sz="1800" dirty="0">
                <a:solidFill>
                  <a:srgbClr val="030DCD"/>
                </a:solidFill>
              </a:rPr>
              <a:t>定义一个指针，指向一个</a:t>
            </a:r>
            <a:r>
              <a:rPr lang="en-US" altLang="zh-CN" sz="1800" dirty="0">
                <a:solidFill>
                  <a:srgbClr val="030DCD"/>
                </a:solidFill>
              </a:rPr>
              <a:t>3x4</a:t>
            </a:r>
            <a:r>
              <a:rPr lang="zh-CN" altLang="en-US" sz="1800" dirty="0">
                <a:solidFill>
                  <a:srgbClr val="030DCD"/>
                </a:solidFill>
              </a:rPr>
              <a:t>的二维数组，数组元素的类型时</a:t>
            </a:r>
            <a:r>
              <a:rPr lang="en-US" altLang="zh-CN" sz="1800" dirty="0" err="1">
                <a:solidFill>
                  <a:srgbClr val="030DCD"/>
                </a:solidFill>
              </a:rPr>
              <a:t>int</a:t>
            </a:r>
            <a:r>
              <a:rPr lang="en-US" altLang="zh-CN" sz="1800" dirty="0">
                <a:solidFill>
                  <a:srgbClr val="030DCD"/>
                </a:solidFill>
              </a:rPr>
              <a:t>;</a:t>
            </a:r>
          </a:p>
          <a:p>
            <a:pPr marL="1200150" lvl="2"/>
            <a:r>
              <a:rPr lang="zh-CN" altLang="en-US" sz="1800" dirty="0">
                <a:solidFill>
                  <a:srgbClr val="030DCD"/>
                </a:solidFill>
              </a:rPr>
              <a:t>相当于定义了一个</a:t>
            </a:r>
            <a:r>
              <a:rPr lang="en-US" altLang="zh-CN" sz="1800" dirty="0">
                <a:solidFill>
                  <a:srgbClr val="030DCD"/>
                </a:solidFill>
              </a:rPr>
              <a:t>3x4</a:t>
            </a:r>
            <a:r>
              <a:rPr lang="zh-CN" altLang="en-US" sz="1800" dirty="0">
                <a:solidFill>
                  <a:srgbClr val="030DCD"/>
                </a:solidFill>
              </a:rPr>
              <a:t>的二维数组，数组元素是</a:t>
            </a:r>
            <a:r>
              <a:rPr lang="en-US" altLang="zh-CN" sz="1800" dirty="0" err="1">
                <a:solidFill>
                  <a:srgbClr val="030DCD"/>
                </a:solidFill>
              </a:rPr>
              <a:t>int</a:t>
            </a:r>
            <a:r>
              <a:rPr lang="zh-CN" altLang="en-US" sz="1800" dirty="0">
                <a:solidFill>
                  <a:srgbClr val="030DCD"/>
                </a:solidFill>
              </a:rPr>
              <a:t>型，数组名是</a:t>
            </a:r>
            <a:r>
              <a:rPr lang="en-US" altLang="zh-CN" sz="1800" dirty="0">
                <a:solidFill>
                  <a:srgbClr val="030DCD"/>
                </a:solidFill>
              </a:rPr>
              <a:t>(*p)</a:t>
            </a:r>
            <a:r>
              <a:rPr lang="zh-CN" altLang="en-US" sz="1800" dirty="0">
                <a:solidFill>
                  <a:srgbClr val="030DCD"/>
                </a:solidFill>
              </a:rPr>
              <a:t>，因此，可以</a:t>
            </a:r>
            <a:r>
              <a:rPr lang="en-US" altLang="zh-CN" sz="1800" dirty="0">
                <a:solidFill>
                  <a:srgbClr val="030DCD"/>
                </a:solidFill>
              </a:rPr>
              <a:t>p=&amp;a;  </a:t>
            </a:r>
          </a:p>
          <a:p>
            <a:pPr marL="1200150" lvl="2"/>
            <a:r>
              <a:rPr lang="zh-CN" altLang="en-US" sz="1800" dirty="0">
                <a:solidFill>
                  <a:srgbClr val="030DCD"/>
                </a:solidFill>
              </a:rPr>
              <a:t>使用：</a:t>
            </a:r>
            <a:r>
              <a:rPr lang="en-US" altLang="zh-CN" sz="1800" dirty="0">
                <a:solidFill>
                  <a:srgbClr val="030DCD"/>
                </a:solidFill>
              </a:rPr>
              <a:t>(*p)[</a:t>
            </a:r>
            <a:r>
              <a:rPr lang="en-US" altLang="zh-CN" sz="1800" dirty="0" err="1">
                <a:solidFill>
                  <a:srgbClr val="030DCD"/>
                </a:solidFill>
              </a:rPr>
              <a:t>i</a:t>
            </a:r>
            <a:r>
              <a:rPr lang="en-US" altLang="zh-CN" sz="1800" dirty="0">
                <a:solidFill>
                  <a:srgbClr val="030DCD"/>
                </a:solidFill>
              </a:rPr>
              <a:t>][j];</a:t>
            </a:r>
          </a:p>
          <a:p>
            <a:pPr marL="342000" indent="-342900">
              <a:buFont typeface="Wingdings" panose="05000000000000000000" pitchFamily="2" charset="2"/>
              <a:buChar char="l"/>
            </a:pPr>
            <a:endParaRPr lang="en-US" altLang="zh-CN" sz="2000" dirty="0"/>
          </a:p>
          <a:p>
            <a:pPr marL="342000" indent="-342900">
              <a:buFont typeface="Wingdings" panose="05000000000000000000" pitchFamily="2" charset="2"/>
              <a:buChar char="l"/>
            </a:pPr>
            <a:endParaRPr lang="en-US" altLang="zh-CN" sz="2000" dirty="0"/>
          </a:p>
        </p:txBody>
      </p:sp>
      <p:pic>
        <p:nvPicPr>
          <p:cNvPr id="4" name="Picture 4" descr="fig6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6779" y="935181"/>
            <a:ext cx="4361584" cy="1029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802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利用二级指针访问二维数组</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endParaRPr lang="en-US" altLang="zh-CN" dirty="0"/>
          </a:p>
          <a:p>
            <a:pPr marL="627750" lvl="1" indent="0">
              <a:buNone/>
            </a:pPr>
            <a:r>
              <a:rPr lang="en-US" altLang="zh-CN" dirty="0" err="1"/>
              <a:t>int</a:t>
            </a:r>
            <a:r>
              <a:rPr lang="en-US" altLang="zh-CN" dirty="0"/>
              <a:t> a[3][4] ={……};</a:t>
            </a:r>
          </a:p>
          <a:p>
            <a:pPr marL="627750" lvl="1" indent="0">
              <a:buNone/>
            </a:pPr>
            <a:r>
              <a:rPr lang="en-US" altLang="zh-CN" dirty="0" err="1"/>
              <a:t>int</a:t>
            </a:r>
            <a:r>
              <a:rPr lang="en-US" altLang="zh-CN" dirty="0"/>
              <a:t> *p;</a:t>
            </a:r>
          </a:p>
          <a:p>
            <a:pPr marL="627750" lvl="1" indent="0">
              <a:buNone/>
            </a:pPr>
            <a:r>
              <a:rPr lang="en-US" altLang="zh-CN" dirty="0">
                <a:solidFill>
                  <a:srgbClr val="C00000"/>
                </a:solidFill>
              </a:rPr>
              <a:t>p=*a</a:t>
            </a:r>
            <a:r>
              <a:rPr lang="en-US" altLang="zh-CN" dirty="0"/>
              <a:t>;   //p=a[0];  p=&amp;a[0][0];  </a:t>
            </a:r>
            <a:r>
              <a:rPr lang="zh-CN" altLang="en-US" dirty="0">
                <a:solidFill>
                  <a:srgbClr val="006600"/>
                </a:solidFill>
              </a:rPr>
              <a:t>指针</a:t>
            </a:r>
            <a:r>
              <a:rPr lang="en-US" altLang="zh-CN" dirty="0">
                <a:solidFill>
                  <a:srgbClr val="006600"/>
                </a:solidFill>
              </a:rPr>
              <a:t>p</a:t>
            </a:r>
            <a:r>
              <a:rPr lang="zh-CN" altLang="en-US" dirty="0">
                <a:solidFill>
                  <a:srgbClr val="006600"/>
                </a:solidFill>
              </a:rPr>
              <a:t>指向一个整型数据</a:t>
            </a:r>
            <a:r>
              <a:rPr lang="zh-CN" altLang="en-US" dirty="0"/>
              <a:t>；</a:t>
            </a:r>
            <a:endParaRPr lang="en-US" altLang="zh-CN" dirty="0"/>
          </a:p>
          <a:p>
            <a:pPr marL="627750" lvl="1" indent="0">
              <a:buNone/>
            </a:pPr>
            <a:r>
              <a:rPr lang="en-US" altLang="zh-CN" dirty="0" err="1">
                <a:solidFill>
                  <a:srgbClr val="030DCD"/>
                </a:solidFill>
              </a:rPr>
              <a:t>int</a:t>
            </a:r>
            <a:r>
              <a:rPr lang="en-US" altLang="zh-CN" dirty="0">
                <a:solidFill>
                  <a:srgbClr val="030DCD"/>
                </a:solidFill>
              </a:rPr>
              <a:t>  **pp;</a:t>
            </a:r>
          </a:p>
          <a:p>
            <a:pPr marL="627750" lvl="1" indent="0">
              <a:buNone/>
            </a:pPr>
            <a:r>
              <a:rPr lang="en-US" altLang="zh-CN" dirty="0">
                <a:solidFill>
                  <a:srgbClr val="030DCD"/>
                </a:solidFill>
              </a:rPr>
              <a:t>pp=&amp;p;   //pp</a:t>
            </a:r>
            <a:r>
              <a:rPr lang="zh-CN" altLang="en-US" dirty="0">
                <a:solidFill>
                  <a:srgbClr val="030DCD"/>
                </a:solidFill>
              </a:rPr>
              <a:t>指向整型指针，是一个指针的指针；</a:t>
            </a:r>
            <a:endParaRPr lang="en-US" altLang="zh-CN" dirty="0">
              <a:solidFill>
                <a:srgbClr val="030DCD"/>
              </a:solidFill>
            </a:endParaRPr>
          </a:p>
          <a:p>
            <a:pPr marL="627750" lvl="1" indent="0">
              <a:buNone/>
            </a:pPr>
            <a:r>
              <a:rPr lang="en-US" altLang="zh-CN" dirty="0">
                <a:solidFill>
                  <a:srgbClr val="030DCD"/>
                </a:solidFill>
              </a:rPr>
              <a:t>                //pp</a:t>
            </a:r>
            <a:r>
              <a:rPr lang="zh-CN" altLang="en-US" dirty="0">
                <a:solidFill>
                  <a:srgbClr val="030DCD"/>
                </a:solidFill>
              </a:rPr>
              <a:t>的值是指针</a:t>
            </a:r>
            <a:r>
              <a:rPr lang="en-US" altLang="zh-CN" dirty="0">
                <a:solidFill>
                  <a:srgbClr val="030DCD"/>
                </a:solidFill>
              </a:rPr>
              <a:t>p</a:t>
            </a:r>
            <a:r>
              <a:rPr lang="zh-CN" altLang="en-US" dirty="0">
                <a:solidFill>
                  <a:srgbClr val="030DCD"/>
                </a:solidFill>
              </a:rPr>
              <a:t>的地址；</a:t>
            </a:r>
            <a:endParaRPr lang="en-US" altLang="zh-CN" dirty="0">
              <a:solidFill>
                <a:srgbClr val="030DCD"/>
              </a:solidFill>
            </a:endParaRPr>
          </a:p>
          <a:p>
            <a:pPr marL="627750" lvl="1" indent="0">
              <a:buNone/>
            </a:pPr>
            <a:r>
              <a:rPr lang="en-US" altLang="zh-CN" dirty="0"/>
              <a:t>for (</a:t>
            </a:r>
            <a:r>
              <a:rPr lang="en-US" altLang="zh-CN" dirty="0" err="1"/>
              <a:t>int</a:t>
            </a:r>
            <a:r>
              <a:rPr lang="en-US" altLang="zh-CN" dirty="0"/>
              <a:t> </a:t>
            </a:r>
            <a:r>
              <a:rPr lang="en-US" altLang="zh-CN" dirty="0" err="1"/>
              <a:t>i</a:t>
            </a:r>
            <a:r>
              <a:rPr lang="en-US" altLang="zh-CN" dirty="0"/>
              <a:t>=0;i&lt;3*4;i++)</a:t>
            </a:r>
          </a:p>
          <a:p>
            <a:pPr marL="627750" lvl="1" indent="0">
              <a:buNone/>
            </a:pPr>
            <a:r>
              <a:rPr lang="en-US" altLang="zh-CN" dirty="0"/>
              <a:t>	{</a:t>
            </a:r>
          </a:p>
          <a:p>
            <a:pPr marL="627750" lvl="1" indent="0">
              <a:buNone/>
            </a:pPr>
            <a:r>
              <a:rPr lang="en-US" altLang="zh-CN" dirty="0"/>
              <a:t>		</a:t>
            </a:r>
            <a:r>
              <a:rPr lang="en-US" altLang="zh-CN" dirty="0" err="1"/>
              <a:t>printf</a:t>
            </a:r>
            <a:r>
              <a:rPr lang="en-US" altLang="zh-CN" dirty="0"/>
              <a:t>("%d ",</a:t>
            </a:r>
            <a:r>
              <a:rPr lang="en-US" altLang="zh-CN" dirty="0">
                <a:solidFill>
                  <a:srgbClr val="FF0000"/>
                </a:solidFill>
              </a:rPr>
              <a:t>**pp</a:t>
            </a:r>
            <a:r>
              <a:rPr lang="en-US" altLang="zh-CN" dirty="0"/>
              <a:t>);    // </a:t>
            </a:r>
            <a:r>
              <a:rPr lang="en-US" altLang="zh-CN" dirty="0" err="1"/>
              <a:t>printf</a:t>
            </a:r>
            <a:r>
              <a:rPr lang="en-US" altLang="zh-CN" dirty="0"/>
              <a:t>("%d ",</a:t>
            </a:r>
            <a:r>
              <a:rPr lang="en-US" altLang="zh-CN" dirty="0">
                <a:solidFill>
                  <a:srgbClr val="006600"/>
                </a:solidFill>
              </a:rPr>
              <a:t>*p</a:t>
            </a:r>
            <a:r>
              <a:rPr lang="en-US" altLang="zh-CN" dirty="0"/>
              <a:t>); </a:t>
            </a:r>
          </a:p>
          <a:p>
            <a:pPr marL="627750" lvl="1" indent="0">
              <a:buNone/>
            </a:pPr>
            <a:r>
              <a:rPr lang="en-US" altLang="zh-CN" dirty="0"/>
              <a:t>		</a:t>
            </a:r>
            <a:r>
              <a:rPr lang="en-US" altLang="zh-CN" dirty="0">
                <a:solidFill>
                  <a:srgbClr val="FF0000"/>
                </a:solidFill>
              </a:rPr>
              <a:t>(*pp)++;    </a:t>
            </a:r>
            <a:r>
              <a:rPr lang="en-US" altLang="zh-CN" dirty="0"/>
              <a:t>//</a:t>
            </a:r>
            <a:r>
              <a:rPr lang="zh-CN" altLang="en-US" dirty="0"/>
              <a:t>相当于 </a:t>
            </a:r>
            <a:r>
              <a:rPr lang="en-US" altLang="zh-CN" dirty="0">
                <a:solidFill>
                  <a:srgbClr val="006600"/>
                </a:solidFill>
              </a:rPr>
              <a:t>p++;</a:t>
            </a:r>
          </a:p>
          <a:p>
            <a:pPr marL="627750" lvl="1" indent="0">
              <a:buNone/>
            </a:pPr>
            <a:r>
              <a:rPr lang="en-US" altLang="zh-CN" dirty="0"/>
              <a:t>	}</a:t>
            </a:r>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4261568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数组指针的概念</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en-US" altLang="zh-CN" sz="2000" dirty="0" err="1">
                <a:solidFill>
                  <a:srgbClr val="030DCD"/>
                </a:solidFill>
              </a:rPr>
              <a:t>int</a:t>
            </a:r>
            <a:r>
              <a:rPr lang="en-US" altLang="zh-CN" sz="2000" dirty="0">
                <a:solidFill>
                  <a:srgbClr val="030DCD"/>
                </a:solidFill>
              </a:rPr>
              <a:t> a[8]</a:t>
            </a:r>
            <a:r>
              <a:rPr lang="en-US" altLang="zh-CN" sz="2000" dirty="0"/>
              <a:t>;     //a</a:t>
            </a:r>
            <a:r>
              <a:rPr lang="zh-CN" altLang="en-US" sz="2000" dirty="0"/>
              <a:t>是一个</a:t>
            </a:r>
            <a:r>
              <a:rPr lang="zh-CN" altLang="en-US" sz="2000" dirty="0">
                <a:solidFill>
                  <a:srgbClr val="030DCD"/>
                </a:solidFill>
              </a:rPr>
              <a:t>整型数组</a:t>
            </a:r>
            <a:r>
              <a:rPr lang="zh-CN" altLang="en-US" sz="2000" dirty="0"/>
              <a:t>；每个数组元素是一个整型数据；</a:t>
            </a:r>
            <a:endParaRPr lang="en-US" altLang="zh-CN" sz="2000" dirty="0"/>
          </a:p>
          <a:p>
            <a:pPr marL="342900" indent="-342900">
              <a:buFont typeface="Wingdings" panose="05000000000000000000" pitchFamily="2" charset="2"/>
              <a:buChar char="l"/>
            </a:pPr>
            <a:r>
              <a:rPr lang="en-US" altLang="zh-CN" sz="2000" dirty="0" err="1">
                <a:solidFill>
                  <a:srgbClr val="C00000"/>
                </a:solidFill>
              </a:rPr>
              <a:t>int</a:t>
            </a:r>
            <a:r>
              <a:rPr lang="en-US" altLang="zh-CN" sz="2000" dirty="0">
                <a:solidFill>
                  <a:srgbClr val="C00000"/>
                </a:solidFill>
              </a:rPr>
              <a:t> *p[8]</a:t>
            </a:r>
            <a:r>
              <a:rPr lang="en-US" altLang="zh-CN" sz="2000" dirty="0"/>
              <a:t>;   //p</a:t>
            </a:r>
            <a:r>
              <a:rPr lang="zh-CN" altLang="en-US" sz="2000" dirty="0"/>
              <a:t>是一个</a:t>
            </a:r>
            <a:r>
              <a:rPr lang="zh-CN" altLang="en-US" sz="2000" dirty="0">
                <a:solidFill>
                  <a:srgbClr val="030DCD"/>
                </a:solidFill>
              </a:rPr>
              <a:t>指针数组</a:t>
            </a:r>
            <a:r>
              <a:rPr lang="zh-CN" altLang="en-US" sz="2000" dirty="0"/>
              <a:t>；每个数组元素是一个指针，指向一个整型数据；</a:t>
            </a:r>
            <a:endParaRPr lang="en-US" altLang="zh-CN" sz="2000" dirty="0"/>
          </a:p>
          <a:p>
            <a:pPr marL="971550" lvl="1"/>
            <a:r>
              <a:rPr lang="zh-CN" altLang="en-US" sz="1800" dirty="0">
                <a:solidFill>
                  <a:srgbClr val="030DCD"/>
                </a:solidFill>
              </a:rPr>
              <a:t>理解</a:t>
            </a:r>
            <a:r>
              <a:rPr lang="zh-CN" altLang="en-US" sz="1800" dirty="0"/>
              <a:t>：</a:t>
            </a:r>
            <a:r>
              <a:rPr lang="en-US" altLang="zh-CN" sz="1800" b="1" dirty="0">
                <a:solidFill>
                  <a:srgbClr val="C00000"/>
                </a:solidFill>
              </a:rPr>
              <a:t>[]</a:t>
            </a:r>
            <a:r>
              <a:rPr lang="zh-CN" altLang="en-US" sz="1800" b="1" dirty="0">
                <a:solidFill>
                  <a:srgbClr val="C00000"/>
                </a:solidFill>
              </a:rPr>
              <a:t>的优先级高于</a:t>
            </a:r>
            <a:r>
              <a:rPr lang="en-US" altLang="zh-CN" sz="1800" b="1" dirty="0">
                <a:solidFill>
                  <a:srgbClr val="C00000"/>
                </a:solidFill>
              </a:rPr>
              <a:t>*</a:t>
            </a:r>
            <a:r>
              <a:rPr lang="zh-CN" altLang="en-US" sz="1800" b="1" dirty="0">
                <a:solidFill>
                  <a:srgbClr val="C00000"/>
                </a:solidFill>
              </a:rPr>
              <a:t>，因此变量</a:t>
            </a:r>
            <a:r>
              <a:rPr lang="en-US" altLang="zh-CN" sz="1800" b="1" dirty="0">
                <a:solidFill>
                  <a:srgbClr val="C00000"/>
                </a:solidFill>
              </a:rPr>
              <a:t>p</a:t>
            </a:r>
            <a:r>
              <a:rPr lang="zh-CN" altLang="en-US" sz="1800" b="1" dirty="0">
                <a:solidFill>
                  <a:srgbClr val="C00000"/>
                </a:solidFill>
              </a:rPr>
              <a:t>首先是一个具有</a:t>
            </a:r>
            <a:r>
              <a:rPr lang="en-US" altLang="zh-CN" sz="1800" b="1" dirty="0">
                <a:solidFill>
                  <a:srgbClr val="C00000"/>
                </a:solidFill>
              </a:rPr>
              <a:t>8</a:t>
            </a:r>
            <a:r>
              <a:rPr lang="zh-CN" altLang="en-US" sz="1800" b="1" dirty="0">
                <a:solidFill>
                  <a:srgbClr val="C00000"/>
                </a:solidFill>
              </a:rPr>
              <a:t>个元素的数组，数组元素的类型是整型指针</a:t>
            </a:r>
            <a:r>
              <a:rPr lang="zh-CN" altLang="en-US" sz="1800" dirty="0"/>
              <a:t>；</a:t>
            </a:r>
            <a:endParaRPr lang="en-US" altLang="zh-CN" sz="1800" dirty="0"/>
          </a:p>
          <a:p>
            <a:pPr marL="971550" lvl="1"/>
            <a:r>
              <a:rPr lang="en-US" altLang="zh-CN" sz="1800" dirty="0" err="1"/>
              <a:t>int</a:t>
            </a:r>
            <a:r>
              <a:rPr lang="en-US" altLang="zh-CN" sz="1800" dirty="0"/>
              <a:t> k;  p[0]=&amp;a[0], p[1]=&amp;a[1], p[2]=&amp;k;</a:t>
            </a:r>
          </a:p>
          <a:p>
            <a:pPr marL="342900" indent="-342900">
              <a:buFont typeface="Wingdings" panose="05000000000000000000" pitchFamily="2" charset="2"/>
              <a:buChar char="l"/>
            </a:pPr>
            <a:r>
              <a:rPr lang="en-US" altLang="zh-CN" sz="2000" dirty="0" err="1"/>
              <a:t>int</a:t>
            </a:r>
            <a:r>
              <a:rPr lang="en-US" altLang="zh-CN" sz="2000" dirty="0"/>
              <a:t> (*p)[8]</a:t>
            </a:r>
            <a:r>
              <a:rPr lang="zh-CN" altLang="en-US" sz="2000" dirty="0"/>
              <a:t>；</a:t>
            </a:r>
            <a:r>
              <a:rPr lang="en-US" altLang="zh-CN" sz="2000" dirty="0"/>
              <a:t>//p</a:t>
            </a:r>
            <a:r>
              <a:rPr lang="zh-CN" altLang="en-US" sz="2000" dirty="0"/>
              <a:t>是一个</a:t>
            </a:r>
            <a:r>
              <a:rPr lang="zh-CN" altLang="en-US" sz="2000" b="1" dirty="0">
                <a:solidFill>
                  <a:srgbClr val="C00000"/>
                </a:solidFill>
              </a:rPr>
              <a:t>数组指针</a:t>
            </a:r>
            <a:r>
              <a:rPr lang="zh-CN" altLang="en-US" sz="2000" dirty="0"/>
              <a:t>；理解：</a:t>
            </a:r>
            <a:r>
              <a:rPr lang="zh-CN" altLang="en-US" sz="2000" dirty="0">
                <a:solidFill>
                  <a:srgbClr val="030DCD"/>
                </a:solidFill>
              </a:rPr>
              <a:t>首先解析</a:t>
            </a:r>
            <a:r>
              <a:rPr lang="en-US" altLang="zh-CN" sz="2000" dirty="0">
                <a:solidFill>
                  <a:srgbClr val="030DCD"/>
                </a:solidFill>
              </a:rPr>
              <a:t>(*p)</a:t>
            </a:r>
            <a:r>
              <a:rPr lang="zh-CN" altLang="en-US" sz="2000" dirty="0"/>
              <a:t>，</a:t>
            </a:r>
            <a:r>
              <a:rPr lang="en-US" altLang="zh-CN" sz="2000" dirty="0"/>
              <a:t>p</a:t>
            </a:r>
            <a:r>
              <a:rPr lang="zh-CN" altLang="en-US" sz="2000" dirty="0"/>
              <a:t>是一个整型指针，是指向一个具有</a:t>
            </a:r>
            <a:r>
              <a:rPr lang="en-US" altLang="zh-CN" sz="2000" dirty="0"/>
              <a:t>8</a:t>
            </a:r>
            <a:r>
              <a:rPr lang="zh-CN" altLang="en-US" sz="2000" dirty="0"/>
              <a:t>个元素的整型数组的指针；</a:t>
            </a:r>
            <a:endParaRPr lang="en-US" altLang="zh-CN" sz="2000" dirty="0">
              <a:solidFill>
                <a:srgbClr val="FF0000"/>
              </a:solidFill>
            </a:endParaRPr>
          </a:p>
          <a:p>
            <a:pPr marL="971550" lvl="1"/>
            <a:r>
              <a:rPr lang="zh-CN" altLang="en-US" sz="1800" dirty="0">
                <a:solidFill>
                  <a:srgbClr val="030DCD"/>
                </a:solidFill>
              </a:rPr>
              <a:t>理解</a:t>
            </a:r>
            <a:r>
              <a:rPr lang="zh-CN" altLang="en-US" sz="1800" dirty="0">
                <a:sym typeface="Wingdings" panose="05000000000000000000" pitchFamily="2" charset="2"/>
              </a:rPr>
              <a:t>：</a:t>
            </a:r>
            <a:r>
              <a:rPr lang="en-US" altLang="zh-CN" sz="1800" dirty="0">
                <a:sym typeface="Wingdings" panose="05000000000000000000" pitchFamily="2" charset="2"/>
              </a:rPr>
              <a:t> ()</a:t>
            </a:r>
            <a:r>
              <a:rPr lang="zh-CN" altLang="en-US" sz="1800" dirty="0">
                <a:sym typeface="Wingdings" panose="05000000000000000000" pitchFamily="2" charset="2"/>
              </a:rPr>
              <a:t>的优先级与</a:t>
            </a:r>
            <a:r>
              <a:rPr lang="en-US" altLang="zh-CN" sz="1800" dirty="0">
                <a:sym typeface="Wingdings" panose="05000000000000000000" pitchFamily="2" charset="2"/>
              </a:rPr>
              <a:t>[]</a:t>
            </a:r>
            <a:r>
              <a:rPr lang="zh-CN" altLang="en-US" sz="1800" dirty="0">
                <a:sym typeface="Wingdings" panose="05000000000000000000" pitchFamily="2" charset="2"/>
              </a:rPr>
              <a:t>相当，自左往右结合，</a:t>
            </a:r>
            <a:r>
              <a:rPr lang="en-US" altLang="zh-CN" sz="1800" dirty="0">
                <a:sym typeface="Wingdings" panose="05000000000000000000" pitchFamily="2" charset="2"/>
              </a:rPr>
              <a:t>p</a:t>
            </a:r>
            <a:r>
              <a:rPr lang="zh-CN" altLang="en-US" sz="1800" dirty="0">
                <a:sym typeface="Wingdings" panose="05000000000000000000" pitchFamily="2" charset="2"/>
              </a:rPr>
              <a:t>首先是一个指针，指向具有</a:t>
            </a:r>
            <a:r>
              <a:rPr lang="en-US" altLang="zh-CN" sz="1800" dirty="0">
                <a:sym typeface="Wingdings" panose="05000000000000000000" pitchFamily="2" charset="2"/>
              </a:rPr>
              <a:t>8</a:t>
            </a:r>
            <a:r>
              <a:rPr lang="zh-CN" altLang="en-US" sz="1800" dirty="0">
                <a:sym typeface="Wingdings" panose="05000000000000000000" pitchFamily="2" charset="2"/>
              </a:rPr>
              <a:t>个整型元素的一维数组；</a:t>
            </a:r>
            <a:endParaRPr lang="en-US" altLang="zh-CN" sz="1800" dirty="0">
              <a:sym typeface="Wingdings" panose="05000000000000000000" pitchFamily="2" charset="2"/>
            </a:endParaRPr>
          </a:p>
          <a:p>
            <a:pPr marL="971550" lvl="1"/>
            <a:r>
              <a:rPr lang="en-US" altLang="zh-CN" sz="1800" b="1" dirty="0">
                <a:solidFill>
                  <a:srgbClr val="006600"/>
                </a:solidFill>
              </a:rPr>
              <a:t>(*p)</a:t>
            </a:r>
            <a:r>
              <a:rPr lang="zh-CN" altLang="en-US" sz="1800" b="1" dirty="0">
                <a:solidFill>
                  <a:srgbClr val="006600"/>
                </a:solidFill>
              </a:rPr>
              <a:t>理解为数组</a:t>
            </a:r>
            <a:r>
              <a:rPr lang="en-US" altLang="zh-CN" sz="1800" b="1" dirty="0" err="1">
                <a:solidFill>
                  <a:srgbClr val="006600"/>
                </a:solidFill>
              </a:rPr>
              <a:t>int</a:t>
            </a:r>
            <a:r>
              <a:rPr lang="en-US" altLang="zh-CN" sz="1800" b="1" dirty="0">
                <a:solidFill>
                  <a:srgbClr val="006600"/>
                </a:solidFill>
              </a:rPr>
              <a:t> [8]</a:t>
            </a:r>
            <a:r>
              <a:rPr lang="zh-CN" altLang="en-US" sz="1800" b="1" dirty="0">
                <a:solidFill>
                  <a:srgbClr val="006600"/>
                </a:solidFill>
              </a:rPr>
              <a:t>，数组名是</a:t>
            </a:r>
            <a:r>
              <a:rPr lang="en-US" altLang="zh-CN" sz="1800" b="1" dirty="0">
                <a:solidFill>
                  <a:srgbClr val="006600"/>
                </a:solidFill>
              </a:rPr>
              <a:t>(*p)</a:t>
            </a:r>
            <a:r>
              <a:rPr lang="zh-CN" altLang="en-US" sz="1800" b="1" dirty="0">
                <a:solidFill>
                  <a:srgbClr val="006600"/>
                </a:solidFill>
              </a:rPr>
              <a:t>；</a:t>
            </a:r>
            <a:endParaRPr lang="en-US" altLang="zh-CN" sz="1800" b="1" dirty="0">
              <a:solidFill>
                <a:srgbClr val="006600"/>
              </a:solidFill>
            </a:endParaRPr>
          </a:p>
          <a:p>
            <a:pPr marL="971550" lvl="1"/>
            <a:r>
              <a:rPr lang="en-US" altLang="zh-CN" sz="1800" dirty="0"/>
              <a:t>int (*p)[8]</a:t>
            </a:r>
            <a:r>
              <a:rPr lang="zh-CN" altLang="en-US" sz="1800" dirty="0"/>
              <a:t>的数组名是</a:t>
            </a:r>
            <a:r>
              <a:rPr lang="en-US" altLang="zh-CN" sz="1800" dirty="0"/>
              <a:t>(*p)</a:t>
            </a:r>
            <a:r>
              <a:rPr lang="zh-CN" altLang="en-US" sz="1800" dirty="0"/>
              <a:t>，数组</a:t>
            </a:r>
            <a:r>
              <a:rPr lang="en-US" altLang="zh-CN" sz="1800" dirty="0"/>
              <a:t>a[8]</a:t>
            </a:r>
            <a:r>
              <a:rPr lang="zh-CN" altLang="en-US" sz="1800" dirty="0"/>
              <a:t>的数组名是</a:t>
            </a:r>
            <a:r>
              <a:rPr lang="en-US" altLang="zh-CN" sz="1800" dirty="0"/>
              <a:t>a</a:t>
            </a:r>
            <a:r>
              <a:rPr lang="zh-CN" altLang="en-US" sz="1800" dirty="0"/>
              <a:t>，因此可有如下赋值：</a:t>
            </a:r>
            <a:r>
              <a:rPr lang="en-US" altLang="zh-CN" sz="1800" dirty="0">
                <a:solidFill>
                  <a:srgbClr val="C00000"/>
                </a:solidFill>
              </a:rPr>
              <a:t>p=&amp;a;   </a:t>
            </a:r>
            <a:r>
              <a:rPr lang="en-US" altLang="zh-CN" sz="1800" dirty="0">
                <a:solidFill>
                  <a:srgbClr val="030DCD"/>
                </a:solidFill>
              </a:rPr>
              <a:t>(*p)</a:t>
            </a:r>
            <a:r>
              <a:rPr lang="zh-CN" altLang="en-US" sz="1800" dirty="0">
                <a:solidFill>
                  <a:srgbClr val="030DCD"/>
                </a:solidFill>
              </a:rPr>
              <a:t>对应</a:t>
            </a:r>
            <a:r>
              <a:rPr lang="en-US" altLang="zh-CN" sz="1800" dirty="0">
                <a:solidFill>
                  <a:srgbClr val="030DCD"/>
                </a:solidFill>
              </a:rPr>
              <a:t>a</a:t>
            </a:r>
            <a:r>
              <a:rPr lang="zh-CN" altLang="en-US" sz="1800" dirty="0">
                <a:solidFill>
                  <a:srgbClr val="030DCD"/>
                </a:solidFill>
              </a:rPr>
              <a:t>，</a:t>
            </a:r>
            <a:r>
              <a:rPr lang="en-US" altLang="zh-CN" sz="1800" dirty="0">
                <a:solidFill>
                  <a:srgbClr val="030DCD"/>
                </a:solidFill>
              </a:rPr>
              <a:t>p</a:t>
            </a:r>
            <a:r>
              <a:rPr lang="zh-CN" altLang="en-US" sz="1800" dirty="0">
                <a:solidFill>
                  <a:srgbClr val="030DCD"/>
                </a:solidFill>
              </a:rPr>
              <a:t>就对应</a:t>
            </a:r>
            <a:r>
              <a:rPr lang="en-US" altLang="zh-CN" sz="1800" dirty="0">
                <a:solidFill>
                  <a:srgbClr val="030DCD"/>
                </a:solidFill>
              </a:rPr>
              <a:t>&amp;a</a:t>
            </a:r>
            <a:r>
              <a:rPr lang="zh-CN" altLang="en-US" sz="1800" dirty="0">
                <a:solidFill>
                  <a:srgbClr val="C00000"/>
                </a:solidFill>
              </a:rPr>
              <a:t>；</a:t>
            </a:r>
            <a:endParaRPr lang="en-US" altLang="zh-CN" sz="1800" dirty="0">
              <a:solidFill>
                <a:srgbClr val="C00000"/>
              </a:solidFill>
            </a:endParaRPr>
          </a:p>
          <a:p>
            <a:pPr marL="971550" lvl="1"/>
            <a:r>
              <a:rPr lang="en-US" altLang="zh-CN" sz="1800" dirty="0">
                <a:solidFill>
                  <a:srgbClr val="006600"/>
                </a:solidFill>
              </a:rPr>
              <a:t>(*p)=a; </a:t>
            </a:r>
            <a:r>
              <a:rPr lang="zh-CN" altLang="en-US" sz="1800" dirty="0">
                <a:solidFill>
                  <a:srgbClr val="006600"/>
                </a:solidFill>
              </a:rPr>
              <a:t>是不允许的，因为数组名（常量指针）之间不能直接赋值；</a:t>
            </a:r>
            <a:endParaRPr lang="en-US" altLang="zh-CN" sz="1800" dirty="0">
              <a:solidFill>
                <a:srgbClr val="006600"/>
              </a:solidFill>
            </a:endParaRPr>
          </a:p>
          <a:p>
            <a:pPr marL="971550" lvl="1"/>
            <a:endParaRPr lang="en-US" altLang="zh-CN" sz="1800"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716570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一维数组指针的使用</a:t>
            </a:r>
          </a:p>
        </p:txBody>
      </p:sp>
      <p:sp>
        <p:nvSpPr>
          <p:cNvPr id="3" name="内容占位符 2"/>
          <p:cNvSpPr>
            <a:spLocks noGrp="1"/>
          </p:cNvSpPr>
          <p:nvPr>
            <p:ph idx="1"/>
          </p:nvPr>
        </p:nvSpPr>
        <p:spPr/>
        <p:txBody>
          <a:bodyPr/>
          <a:lstStyle/>
          <a:p>
            <a:pPr lvl="1">
              <a:buNone/>
            </a:pPr>
            <a:r>
              <a:rPr lang="en-US" altLang="zh-CN" dirty="0" err="1"/>
              <a:t>int</a:t>
            </a:r>
            <a:r>
              <a:rPr lang="en-US" altLang="zh-CN" dirty="0"/>
              <a:t> a[8]={……};</a:t>
            </a:r>
          </a:p>
          <a:p>
            <a:pPr lvl="1">
              <a:buNone/>
            </a:pPr>
            <a:r>
              <a:rPr lang="en-US" altLang="zh-CN" dirty="0" err="1">
                <a:solidFill>
                  <a:srgbClr val="030DCD"/>
                </a:solidFill>
              </a:rPr>
              <a:t>int</a:t>
            </a:r>
            <a:r>
              <a:rPr lang="en-US" altLang="zh-CN" dirty="0">
                <a:solidFill>
                  <a:srgbClr val="030DCD"/>
                </a:solidFill>
              </a:rPr>
              <a:t> (*p)[8];    //(*p)</a:t>
            </a:r>
            <a:r>
              <a:rPr lang="zh-CN" altLang="en-US" dirty="0">
                <a:solidFill>
                  <a:srgbClr val="030DCD"/>
                </a:solidFill>
              </a:rPr>
              <a:t>是数组名，该数组有</a:t>
            </a:r>
            <a:r>
              <a:rPr lang="en-US" altLang="zh-CN" dirty="0">
                <a:solidFill>
                  <a:srgbClr val="030DCD"/>
                </a:solidFill>
              </a:rPr>
              <a:t>8</a:t>
            </a:r>
            <a:r>
              <a:rPr lang="zh-CN" altLang="en-US" dirty="0">
                <a:solidFill>
                  <a:srgbClr val="030DCD"/>
                </a:solidFill>
              </a:rPr>
              <a:t>个</a:t>
            </a:r>
            <a:r>
              <a:rPr lang="en-US" altLang="zh-CN" dirty="0" err="1">
                <a:solidFill>
                  <a:srgbClr val="030DCD"/>
                </a:solidFill>
              </a:rPr>
              <a:t>int</a:t>
            </a:r>
            <a:r>
              <a:rPr lang="zh-CN" altLang="en-US" dirty="0">
                <a:solidFill>
                  <a:srgbClr val="030DCD"/>
                </a:solidFill>
              </a:rPr>
              <a:t>型元素；</a:t>
            </a:r>
            <a:endParaRPr lang="en-US" altLang="zh-CN" dirty="0">
              <a:solidFill>
                <a:srgbClr val="030DCD"/>
              </a:solidFill>
            </a:endParaRPr>
          </a:p>
          <a:p>
            <a:pPr lvl="1">
              <a:buNone/>
            </a:pPr>
            <a:r>
              <a:rPr lang="en-US" altLang="zh-CN" dirty="0">
                <a:solidFill>
                  <a:srgbClr val="C00000"/>
                </a:solidFill>
              </a:rPr>
              <a:t>p=&amp;a;</a:t>
            </a:r>
          </a:p>
          <a:p>
            <a:pPr lvl="1">
              <a:buNone/>
            </a:pPr>
            <a:r>
              <a:rPr lang="en-US" altLang="zh-CN" dirty="0"/>
              <a:t>for (</a:t>
            </a:r>
            <a:r>
              <a:rPr lang="en-US" altLang="zh-CN" dirty="0" err="1"/>
              <a:t>int</a:t>
            </a:r>
            <a:r>
              <a:rPr lang="en-US" altLang="zh-CN" dirty="0"/>
              <a:t> </a:t>
            </a:r>
            <a:r>
              <a:rPr lang="en-US" altLang="zh-CN" dirty="0" err="1"/>
              <a:t>i</a:t>
            </a:r>
            <a:r>
              <a:rPr lang="en-US" altLang="zh-CN" dirty="0"/>
              <a:t>=1;i&lt;8;i++)</a:t>
            </a:r>
          </a:p>
          <a:p>
            <a:pPr lvl="1">
              <a:buNone/>
            </a:pPr>
            <a:r>
              <a:rPr lang="en-US" altLang="zh-CN" dirty="0"/>
              <a:t>		</a:t>
            </a:r>
            <a:r>
              <a:rPr lang="en-US" altLang="zh-CN" dirty="0" err="1"/>
              <a:t>printf</a:t>
            </a:r>
            <a:r>
              <a:rPr lang="en-US" altLang="zh-CN" dirty="0"/>
              <a:t>(“%d ”,</a:t>
            </a:r>
            <a:r>
              <a:rPr lang="en-US" altLang="zh-CN" dirty="0">
                <a:solidFill>
                  <a:srgbClr val="C00000"/>
                </a:solidFill>
              </a:rPr>
              <a:t>(*p)[</a:t>
            </a:r>
            <a:r>
              <a:rPr lang="en-US" altLang="zh-CN" dirty="0" err="1">
                <a:solidFill>
                  <a:srgbClr val="C00000"/>
                </a:solidFill>
              </a:rPr>
              <a:t>i</a:t>
            </a:r>
            <a:r>
              <a:rPr lang="en-US" altLang="zh-CN" dirty="0">
                <a:solidFill>
                  <a:srgbClr val="C00000"/>
                </a:solidFill>
              </a:rPr>
              <a:t>]</a:t>
            </a:r>
            <a:r>
              <a:rPr lang="en-US" altLang="zh-CN" dirty="0"/>
              <a:t>);    //p</a:t>
            </a:r>
            <a:r>
              <a:rPr lang="zh-CN" altLang="en-US" dirty="0"/>
              <a:t>是一个数组指针，按数组方法使用；</a:t>
            </a:r>
            <a:endParaRPr lang="en-US" altLang="zh-CN" dirty="0"/>
          </a:p>
          <a:p>
            <a:pPr lvl="1">
              <a:buNone/>
            </a:pPr>
            <a:r>
              <a:rPr lang="en-US" altLang="zh-CN" dirty="0" err="1"/>
              <a:t>printf</a:t>
            </a:r>
            <a:r>
              <a:rPr lang="en-US" altLang="zh-CN" dirty="0"/>
              <a:t>("\n");</a:t>
            </a: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13656050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一维数组指针的使用</a:t>
            </a:r>
          </a:p>
        </p:txBody>
      </p:sp>
      <p:sp>
        <p:nvSpPr>
          <p:cNvPr id="3" name="内容占位符 2"/>
          <p:cNvSpPr>
            <a:spLocks noGrp="1"/>
          </p:cNvSpPr>
          <p:nvPr>
            <p:ph idx="1"/>
          </p:nvPr>
        </p:nvSpPr>
        <p:spPr/>
        <p:txBody>
          <a:bodyPr/>
          <a:lstStyle/>
          <a:p>
            <a:pPr lvl="1">
              <a:buNone/>
            </a:pPr>
            <a:r>
              <a:rPr lang="en-US" altLang="zh-CN" dirty="0" err="1"/>
              <a:t>int</a:t>
            </a:r>
            <a:r>
              <a:rPr lang="en-US" altLang="zh-CN" dirty="0"/>
              <a:t> a[3][4]={……};</a:t>
            </a:r>
          </a:p>
          <a:p>
            <a:pPr lvl="1">
              <a:buNone/>
            </a:pPr>
            <a:r>
              <a:rPr lang="en-US" altLang="zh-CN" dirty="0" err="1">
                <a:solidFill>
                  <a:srgbClr val="030DCD"/>
                </a:solidFill>
              </a:rPr>
              <a:t>int</a:t>
            </a:r>
            <a:r>
              <a:rPr lang="en-US" altLang="zh-CN" dirty="0">
                <a:solidFill>
                  <a:srgbClr val="030DCD"/>
                </a:solidFill>
              </a:rPr>
              <a:t> (*p)[4];    //p</a:t>
            </a:r>
            <a:r>
              <a:rPr lang="zh-CN" altLang="en-US" dirty="0">
                <a:solidFill>
                  <a:srgbClr val="030DCD"/>
                </a:solidFill>
              </a:rPr>
              <a:t>指向有</a:t>
            </a:r>
            <a:r>
              <a:rPr lang="en-US" altLang="zh-CN" dirty="0">
                <a:solidFill>
                  <a:srgbClr val="030DCD"/>
                </a:solidFill>
              </a:rPr>
              <a:t>4</a:t>
            </a:r>
            <a:r>
              <a:rPr lang="zh-CN" altLang="en-US" dirty="0">
                <a:solidFill>
                  <a:srgbClr val="030DCD"/>
                </a:solidFill>
              </a:rPr>
              <a:t>个元素的数组的指针；</a:t>
            </a:r>
            <a:endParaRPr lang="en-US" altLang="zh-CN" dirty="0">
              <a:solidFill>
                <a:srgbClr val="030DCD"/>
              </a:solidFill>
            </a:endParaRPr>
          </a:p>
          <a:p>
            <a:pPr lvl="1">
              <a:buNone/>
            </a:pPr>
            <a:r>
              <a:rPr lang="en-US" altLang="zh-CN" dirty="0">
                <a:solidFill>
                  <a:srgbClr val="C00000"/>
                </a:solidFill>
              </a:rPr>
              <a:t>p=a;   //</a:t>
            </a:r>
            <a:r>
              <a:rPr lang="zh-CN" altLang="en-US" dirty="0">
                <a:solidFill>
                  <a:srgbClr val="C00000"/>
                </a:solidFill>
              </a:rPr>
              <a:t>相当于 </a:t>
            </a:r>
            <a:r>
              <a:rPr lang="en-US" altLang="zh-CN" dirty="0">
                <a:solidFill>
                  <a:srgbClr val="C00000"/>
                </a:solidFill>
              </a:rPr>
              <a:t>p=&amp;a[0];  //</a:t>
            </a:r>
            <a:r>
              <a:rPr lang="zh-CN" altLang="en-US" dirty="0">
                <a:solidFill>
                  <a:srgbClr val="C00000"/>
                </a:solidFill>
              </a:rPr>
              <a:t>指向二维数组第</a:t>
            </a:r>
            <a:r>
              <a:rPr lang="en-US" altLang="zh-CN" dirty="0">
                <a:solidFill>
                  <a:srgbClr val="C00000"/>
                </a:solidFill>
              </a:rPr>
              <a:t>0</a:t>
            </a:r>
            <a:r>
              <a:rPr lang="zh-CN" altLang="en-US" dirty="0">
                <a:solidFill>
                  <a:srgbClr val="C00000"/>
                </a:solidFill>
              </a:rPr>
              <a:t>行数组的指针；</a:t>
            </a:r>
            <a:endParaRPr lang="en-US" altLang="zh-CN" dirty="0">
              <a:solidFill>
                <a:srgbClr val="C00000"/>
              </a:solidFill>
            </a:endParaRPr>
          </a:p>
          <a:p>
            <a:pPr lvl="1">
              <a:buNone/>
            </a:pPr>
            <a:r>
              <a:rPr lang="en-US" altLang="zh-CN" dirty="0"/>
              <a:t>for (</a:t>
            </a:r>
            <a:r>
              <a:rPr lang="en-US" altLang="zh-CN" dirty="0" err="1"/>
              <a:t>int</a:t>
            </a:r>
            <a:r>
              <a:rPr lang="en-US" altLang="zh-CN" dirty="0"/>
              <a:t> </a:t>
            </a:r>
            <a:r>
              <a:rPr lang="en-US" altLang="zh-CN" dirty="0" err="1"/>
              <a:t>i</a:t>
            </a:r>
            <a:r>
              <a:rPr lang="en-US" altLang="zh-CN" dirty="0"/>
              <a:t>=0;i&lt;3;i++)</a:t>
            </a:r>
          </a:p>
          <a:p>
            <a:pPr lvl="1">
              <a:buNone/>
            </a:pPr>
            <a:r>
              <a:rPr lang="en-US" altLang="zh-CN" dirty="0"/>
              <a:t>   {</a:t>
            </a:r>
          </a:p>
          <a:p>
            <a:pPr lvl="1">
              <a:buNone/>
            </a:pPr>
            <a:r>
              <a:rPr lang="en-US" altLang="zh-CN" dirty="0"/>
              <a:t>   	   for(</a:t>
            </a:r>
            <a:r>
              <a:rPr lang="en-US" altLang="zh-CN" dirty="0" err="1"/>
              <a:t>int</a:t>
            </a:r>
            <a:r>
              <a:rPr lang="en-US" altLang="zh-CN" dirty="0"/>
              <a:t> j=0;j&lt;4;j++)</a:t>
            </a:r>
          </a:p>
          <a:p>
            <a:pPr lvl="1">
              <a:buNone/>
            </a:pPr>
            <a:r>
              <a:rPr lang="en-US" altLang="zh-CN" dirty="0"/>
              <a:t>   	   	 </a:t>
            </a:r>
            <a:r>
              <a:rPr lang="en-US" altLang="zh-CN" dirty="0" err="1"/>
              <a:t>printf</a:t>
            </a:r>
            <a:r>
              <a:rPr lang="en-US" altLang="zh-CN" dirty="0"/>
              <a:t>(“%d ”,</a:t>
            </a:r>
            <a:r>
              <a:rPr lang="en-US" altLang="zh-CN" b="1" dirty="0">
                <a:solidFill>
                  <a:srgbClr val="FF0000"/>
                </a:solidFill>
              </a:rPr>
              <a:t>(*p)[j]</a:t>
            </a:r>
            <a:r>
              <a:rPr lang="en-US" altLang="zh-CN" dirty="0"/>
              <a:t>);   // </a:t>
            </a:r>
            <a:r>
              <a:rPr lang="zh-CN" altLang="en-US" dirty="0"/>
              <a:t>依次输出第</a:t>
            </a:r>
            <a:r>
              <a:rPr lang="en-US" altLang="zh-CN" dirty="0" err="1"/>
              <a:t>i</a:t>
            </a:r>
            <a:r>
              <a:rPr lang="zh-CN" altLang="en-US" dirty="0"/>
              <a:t>行中的</a:t>
            </a:r>
            <a:r>
              <a:rPr lang="en-US" altLang="zh-CN" dirty="0"/>
              <a:t>20</a:t>
            </a:r>
            <a:r>
              <a:rPr lang="zh-CN" altLang="en-US" dirty="0"/>
              <a:t>个元素；</a:t>
            </a:r>
            <a:endParaRPr lang="en-US" altLang="zh-CN" dirty="0"/>
          </a:p>
          <a:p>
            <a:pPr lvl="1">
              <a:buNone/>
            </a:pPr>
            <a:r>
              <a:rPr lang="en-US" altLang="zh-CN" dirty="0"/>
              <a:t>   	</a:t>
            </a:r>
            <a:r>
              <a:rPr lang="en-US" altLang="zh-CN" dirty="0">
                <a:solidFill>
                  <a:srgbClr val="FF0000"/>
                </a:solidFill>
              </a:rPr>
              <a:t>   </a:t>
            </a:r>
            <a:r>
              <a:rPr lang="en-US" altLang="zh-CN" b="1" dirty="0">
                <a:solidFill>
                  <a:srgbClr val="FF0000"/>
                </a:solidFill>
              </a:rPr>
              <a:t>p++</a:t>
            </a:r>
            <a:r>
              <a:rPr lang="en-US" altLang="zh-CN" dirty="0">
                <a:solidFill>
                  <a:srgbClr val="FF0000"/>
                </a:solidFill>
              </a:rPr>
              <a:t>;  </a:t>
            </a:r>
            <a:r>
              <a:rPr lang="en-US" altLang="zh-CN" dirty="0"/>
              <a:t>//</a:t>
            </a:r>
            <a:r>
              <a:rPr lang="zh-CN" altLang="en-US" dirty="0"/>
              <a:t>指向二维数组的下一行</a:t>
            </a:r>
            <a:endParaRPr lang="en-US" altLang="zh-CN" dirty="0"/>
          </a:p>
          <a:p>
            <a:pPr lvl="1">
              <a:buNone/>
            </a:pPr>
            <a:r>
              <a:rPr lang="en-US" altLang="zh-CN" dirty="0"/>
              <a:t>	   </a:t>
            </a:r>
            <a:r>
              <a:rPr lang="en-US" altLang="zh-CN" dirty="0" err="1"/>
              <a:t>printf</a:t>
            </a:r>
            <a:r>
              <a:rPr lang="en-US" altLang="zh-CN" dirty="0"/>
              <a:t>("\n");</a:t>
            </a:r>
          </a:p>
          <a:p>
            <a:pPr lvl="1">
              <a:buNone/>
            </a:pPr>
            <a:r>
              <a:rPr lang="en-US" altLang="zh-CN" dirty="0"/>
              <a:t>   }</a:t>
            </a: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1661089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二维数组指针的使用</a:t>
            </a:r>
          </a:p>
        </p:txBody>
      </p:sp>
      <p:sp>
        <p:nvSpPr>
          <p:cNvPr id="3" name="内容占位符 2"/>
          <p:cNvSpPr>
            <a:spLocks noGrp="1"/>
          </p:cNvSpPr>
          <p:nvPr>
            <p:ph idx="1"/>
          </p:nvPr>
        </p:nvSpPr>
        <p:spPr/>
        <p:txBody>
          <a:bodyPr/>
          <a:lstStyle/>
          <a:p>
            <a:pPr lvl="1">
              <a:buNone/>
            </a:pPr>
            <a:r>
              <a:rPr lang="en-US" altLang="zh-CN" dirty="0" err="1"/>
              <a:t>int</a:t>
            </a:r>
            <a:r>
              <a:rPr lang="en-US" altLang="zh-CN" dirty="0"/>
              <a:t> a[3][4]={……};</a:t>
            </a:r>
          </a:p>
          <a:p>
            <a:pPr lvl="1">
              <a:buNone/>
            </a:pPr>
            <a:r>
              <a:rPr lang="en-US" altLang="zh-CN" dirty="0" err="1">
                <a:solidFill>
                  <a:srgbClr val="030DCD"/>
                </a:solidFill>
              </a:rPr>
              <a:t>int</a:t>
            </a:r>
            <a:r>
              <a:rPr lang="en-US" altLang="zh-CN" dirty="0">
                <a:solidFill>
                  <a:srgbClr val="030DCD"/>
                </a:solidFill>
              </a:rPr>
              <a:t> (*p)[3][4];   //</a:t>
            </a:r>
            <a:r>
              <a:rPr lang="zh-CN" altLang="en-US" dirty="0">
                <a:solidFill>
                  <a:srgbClr val="030DCD"/>
                </a:solidFill>
              </a:rPr>
              <a:t>定义一个</a:t>
            </a:r>
            <a:r>
              <a:rPr lang="en-US" altLang="zh-CN" dirty="0">
                <a:solidFill>
                  <a:srgbClr val="030DCD"/>
                </a:solidFill>
              </a:rPr>
              <a:t>3x4</a:t>
            </a:r>
            <a:r>
              <a:rPr lang="zh-CN" altLang="en-US" dirty="0">
                <a:solidFill>
                  <a:srgbClr val="030DCD"/>
                </a:solidFill>
              </a:rPr>
              <a:t>的整型数组，数组名是</a:t>
            </a:r>
            <a:r>
              <a:rPr lang="en-US" altLang="zh-CN" dirty="0">
                <a:solidFill>
                  <a:srgbClr val="030DCD"/>
                </a:solidFill>
              </a:rPr>
              <a:t>(*p)</a:t>
            </a:r>
          </a:p>
          <a:p>
            <a:pPr lvl="1">
              <a:buNone/>
            </a:pPr>
            <a:r>
              <a:rPr lang="en-US" altLang="zh-CN" dirty="0">
                <a:solidFill>
                  <a:srgbClr val="C00000"/>
                </a:solidFill>
              </a:rPr>
              <a:t>p=&amp;a;   //&amp;a</a:t>
            </a:r>
            <a:r>
              <a:rPr lang="zh-CN" altLang="en-US" dirty="0">
                <a:solidFill>
                  <a:srgbClr val="C00000"/>
                </a:solidFill>
              </a:rPr>
              <a:t>被解读为数组指针； </a:t>
            </a:r>
            <a:r>
              <a:rPr lang="en-US" altLang="zh-CN" dirty="0">
                <a:solidFill>
                  <a:srgbClr val="C00000"/>
                </a:solidFill>
              </a:rPr>
              <a:t>(*p)</a:t>
            </a:r>
            <a:r>
              <a:rPr lang="zh-CN" altLang="en-US" dirty="0">
                <a:solidFill>
                  <a:srgbClr val="C00000"/>
                </a:solidFill>
              </a:rPr>
              <a:t>与</a:t>
            </a:r>
            <a:r>
              <a:rPr lang="en-US" altLang="zh-CN" dirty="0">
                <a:solidFill>
                  <a:srgbClr val="C00000"/>
                </a:solidFill>
              </a:rPr>
              <a:t>a</a:t>
            </a:r>
            <a:r>
              <a:rPr lang="zh-CN" altLang="en-US" dirty="0">
                <a:solidFill>
                  <a:srgbClr val="C00000"/>
                </a:solidFill>
              </a:rPr>
              <a:t>等价</a:t>
            </a:r>
            <a:r>
              <a:rPr lang="en-US" altLang="zh-CN" dirty="0">
                <a:solidFill>
                  <a:srgbClr val="C00000"/>
                </a:solidFill>
              </a:rPr>
              <a:t>,</a:t>
            </a:r>
            <a:r>
              <a:rPr lang="zh-CN" altLang="en-US" dirty="0">
                <a:solidFill>
                  <a:srgbClr val="C00000"/>
                </a:solidFill>
              </a:rPr>
              <a:t>因此</a:t>
            </a:r>
            <a:r>
              <a:rPr lang="en-US" altLang="zh-CN" dirty="0">
                <a:solidFill>
                  <a:srgbClr val="C00000"/>
                </a:solidFill>
              </a:rPr>
              <a:t>p=&amp;a;</a:t>
            </a:r>
          </a:p>
          <a:p>
            <a:pPr lvl="1">
              <a:buNone/>
            </a:pPr>
            <a:r>
              <a:rPr lang="en-US" altLang="zh-CN" dirty="0"/>
              <a:t>for (</a:t>
            </a:r>
            <a:r>
              <a:rPr lang="en-US" altLang="zh-CN" dirty="0" err="1"/>
              <a:t>int</a:t>
            </a:r>
            <a:r>
              <a:rPr lang="en-US" altLang="zh-CN" dirty="0"/>
              <a:t> </a:t>
            </a:r>
            <a:r>
              <a:rPr lang="en-US" altLang="zh-CN" dirty="0" err="1"/>
              <a:t>i</a:t>
            </a:r>
            <a:r>
              <a:rPr lang="en-US" altLang="zh-CN" dirty="0"/>
              <a:t>=0;i&lt;3;i++)</a:t>
            </a:r>
          </a:p>
          <a:p>
            <a:pPr lvl="1">
              <a:buNone/>
            </a:pPr>
            <a:r>
              <a:rPr lang="en-US" altLang="zh-CN" dirty="0"/>
              <a:t>   {</a:t>
            </a:r>
          </a:p>
          <a:p>
            <a:pPr lvl="1">
              <a:buNone/>
            </a:pPr>
            <a:r>
              <a:rPr lang="en-US" altLang="zh-CN" dirty="0"/>
              <a:t>   	   for(</a:t>
            </a:r>
            <a:r>
              <a:rPr lang="en-US" altLang="zh-CN" dirty="0" err="1"/>
              <a:t>int</a:t>
            </a:r>
            <a:r>
              <a:rPr lang="en-US" altLang="zh-CN" dirty="0"/>
              <a:t> j=0;j&lt;4;j++)</a:t>
            </a:r>
          </a:p>
          <a:p>
            <a:pPr lvl="1">
              <a:buNone/>
            </a:pPr>
            <a:r>
              <a:rPr lang="en-US" altLang="zh-CN" dirty="0"/>
              <a:t>   	   	 </a:t>
            </a:r>
            <a:r>
              <a:rPr lang="en-US" altLang="zh-CN" dirty="0" err="1"/>
              <a:t>printf</a:t>
            </a:r>
            <a:r>
              <a:rPr lang="en-US" altLang="zh-CN" dirty="0"/>
              <a:t>(“%d ”,(</a:t>
            </a:r>
            <a:r>
              <a:rPr lang="en-US" altLang="zh-CN" b="1" dirty="0">
                <a:solidFill>
                  <a:srgbClr val="FF0000"/>
                </a:solidFill>
              </a:rPr>
              <a:t>*p)[</a:t>
            </a:r>
            <a:r>
              <a:rPr lang="en-US" altLang="zh-CN" b="1" dirty="0" err="1">
                <a:solidFill>
                  <a:srgbClr val="FF0000"/>
                </a:solidFill>
              </a:rPr>
              <a:t>i</a:t>
            </a:r>
            <a:r>
              <a:rPr lang="en-US" altLang="zh-CN" b="1" dirty="0">
                <a:solidFill>
                  <a:srgbClr val="FF0000"/>
                </a:solidFill>
              </a:rPr>
              <a:t>][j]</a:t>
            </a:r>
            <a:r>
              <a:rPr lang="en-US" altLang="zh-CN" dirty="0"/>
              <a:t>);  </a:t>
            </a:r>
          </a:p>
          <a:p>
            <a:pPr lvl="1">
              <a:buNone/>
            </a:pPr>
            <a:r>
              <a:rPr lang="en-US" altLang="zh-CN" dirty="0"/>
              <a:t>   		   </a:t>
            </a:r>
            <a:r>
              <a:rPr lang="en-US" altLang="zh-CN" dirty="0" err="1"/>
              <a:t>printf</a:t>
            </a:r>
            <a:r>
              <a:rPr lang="en-US" altLang="zh-CN" dirty="0"/>
              <a:t>("\n");</a:t>
            </a:r>
          </a:p>
          <a:p>
            <a:pPr lvl="1">
              <a:buNone/>
            </a:pPr>
            <a:r>
              <a:rPr lang="en-US" altLang="zh-CN" dirty="0"/>
              <a:t>   }</a:t>
            </a:r>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1900685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a:t>
            </a:r>
            <a:r>
              <a:rPr lang="en-US" altLang="zh-CN" dirty="0" err="1"/>
              <a:t>typedef</a:t>
            </a:r>
            <a:r>
              <a:rPr lang="zh-CN" altLang="en-US" dirty="0"/>
              <a:t>定义类型数组类型</a:t>
            </a:r>
            <a:r>
              <a:rPr lang="en-US" altLang="zh-CN"/>
              <a:t>--</a:t>
            </a:r>
            <a:r>
              <a:rPr lang="en-US" altLang="zh-CN">
                <a:solidFill>
                  <a:srgbClr val="030DCD"/>
                </a:solidFill>
              </a:rPr>
              <a:t> iArray100</a:t>
            </a:r>
            <a:endParaRPr lang="zh-CN" altLang="en-US"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t>先按定义数组变量形式书写：</a:t>
            </a:r>
            <a:r>
              <a:rPr lang="en-US" altLang="zh-CN" dirty="0">
                <a:solidFill>
                  <a:srgbClr val="006600"/>
                </a:solidFill>
              </a:rPr>
              <a:t>int a[100]</a:t>
            </a:r>
            <a:r>
              <a:rPr lang="zh-CN" altLang="en-US" dirty="0"/>
              <a:t>；</a:t>
            </a:r>
          </a:p>
          <a:p>
            <a:pPr marL="342900" indent="-342900">
              <a:buFont typeface="Wingdings" panose="05000000000000000000" pitchFamily="2" charset="2"/>
              <a:buChar char="l"/>
            </a:pPr>
            <a:r>
              <a:rPr lang="zh-CN" altLang="en-US" dirty="0"/>
              <a:t>将</a:t>
            </a:r>
            <a:r>
              <a:rPr lang="zh-CN" altLang="en-US" b="1" dirty="0">
                <a:solidFill>
                  <a:srgbClr val="7030A0"/>
                </a:solidFill>
              </a:rPr>
              <a:t>变量名</a:t>
            </a:r>
            <a:r>
              <a:rPr lang="en-US" altLang="zh-CN" dirty="0">
                <a:solidFill>
                  <a:srgbClr val="030DCD"/>
                </a:solidFill>
              </a:rPr>
              <a:t>a</a:t>
            </a:r>
            <a:r>
              <a:rPr lang="zh-CN" altLang="en-US" dirty="0"/>
              <a:t>换成</a:t>
            </a:r>
            <a:r>
              <a:rPr lang="zh-CN" altLang="en-US" dirty="0">
                <a:solidFill>
                  <a:srgbClr val="7030A0"/>
                </a:solidFill>
              </a:rPr>
              <a:t>自己指定的类型名</a:t>
            </a:r>
            <a:r>
              <a:rPr lang="zh-CN" altLang="en-US" dirty="0"/>
              <a:t>，如</a:t>
            </a:r>
            <a:r>
              <a:rPr lang="en-US" altLang="zh-CN" dirty="0">
                <a:solidFill>
                  <a:srgbClr val="030DCD"/>
                </a:solidFill>
              </a:rPr>
              <a:t>iArray100</a:t>
            </a:r>
            <a:r>
              <a:rPr lang="zh-CN" altLang="en-US" dirty="0"/>
              <a:t>：</a:t>
            </a:r>
          </a:p>
          <a:p>
            <a:pPr marL="971550" lvl="1"/>
            <a:r>
              <a:rPr lang="zh-CN" altLang="en-US" dirty="0"/>
              <a:t>   </a:t>
            </a:r>
            <a:r>
              <a:rPr lang="en-US" altLang="zh-CN" dirty="0" err="1"/>
              <a:t>int</a:t>
            </a:r>
            <a:r>
              <a:rPr lang="zh-CN" altLang="en-US" dirty="0"/>
              <a:t>　</a:t>
            </a:r>
            <a:r>
              <a:rPr lang="en-US" altLang="zh-CN" dirty="0">
                <a:solidFill>
                  <a:srgbClr val="030DCD"/>
                </a:solidFill>
              </a:rPr>
              <a:t> iArray100</a:t>
            </a:r>
            <a:r>
              <a:rPr lang="en-US" altLang="zh-CN" dirty="0"/>
              <a:t>[100]</a:t>
            </a:r>
            <a:r>
              <a:rPr lang="zh-CN" altLang="en-US" dirty="0"/>
              <a:t>；</a:t>
            </a:r>
          </a:p>
          <a:p>
            <a:pPr marL="342900" indent="-342900">
              <a:buFont typeface="Wingdings" panose="05000000000000000000" pitchFamily="2" charset="2"/>
              <a:buChar char="l"/>
            </a:pPr>
            <a:r>
              <a:rPr lang="zh-CN" altLang="en-US" dirty="0"/>
              <a:t>在前面加上</a:t>
            </a:r>
            <a:r>
              <a:rPr lang="en-US" altLang="zh-CN" dirty="0" err="1">
                <a:solidFill>
                  <a:srgbClr val="C00000"/>
                </a:solidFill>
              </a:rPr>
              <a:t>typedef</a:t>
            </a:r>
            <a:r>
              <a:rPr lang="zh-CN" altLang="en-US" dirty="0"/>
              <a:t>，得到</a:t>
            </a:r>
          </a:p>
          <a:p>
            <a:pPr marL="971550" lvl="1"/>
            <a:r>
              <a:rPr lang="zh-CN" altLang="en-US" dirty="0"/>
              <a:t>  </a:t>
            </a:r>
            <a:r>
              <a:rPr lang="en-US" altLang="zh-CN" dirty="0">
                <a:solidFill>
                  <a:srgbClr val="C00000"/>
                </a:solidFill>
              </a:rPr>
              <a:t>typedef </a:t>
            </a:r>
            <a:r>
              <a:rPr lang="en-US" altLang="zh-CN" dirty="0"/>
              <a:t>int </a:t>
            </a:r>
            <a:r>
              <a:rPr lang="en-US" altLang="zh-CN" dirty="0">
                <a:solidFill>
                  <a:srgbClr val="030DCD"/>
                </a:solidFill>
              </a:rPr>
              <a:t>iArray100 </a:t>
            </a:r>
            <a:r>
              <a:rPr lang="en-US" altLang="zh-CN" dirty="0"/>
              <a:t>[1</a:t>
            </a:r>
            <a:r>
              <a:rPr lang="en-US" altLang="zh-CN" dirty="0" smtClean="0"/>
              <a:t>00</a:t>
            </a:r>
            <a:r>
              <a:rPr lang="en-US" altLang="zh-CN" dirty="0"/>
              <a:t>]</a:t>
            </a:r>
            <a:r>
              <a:rPr lang="zh-CN" altLang="en-US" dirty="0" smtClean="0"/>
              <a:t>；</a:t>
            </a:r>
            <a:endParaRPr lang="zh-CN" altLang="en-US" dirty="0"/>
          </a:p>
          <a:p>
            <a:pPr marL="342900" indent="-342900">
              <a:buFont typeface="Wingdings" panose="05000000000000000000" pitchFamily="2" charset="2"/>
              <a:buChar char="l"/>
            </a:pPr>
            <a:r>
              <a:rPr lang="zh-CN" altLang="en-US" dirty="0"/>
              <a:t> </a:t>
            </a:r>
            <a:r>
              <a:rPr lang="zh-CN" altLang="en-US" dirty="0" smtClean="0"/>
              <a:t>利用</a:t>
            </a:r>
            <a:r>
              <a:rPr lang="en-US" altLang="zh-CN" dirty="0">
                <a:solidFill>
                  <a:srgbClr val="030DCD"/>
                </a:solidFill>
              </a:rPr>
              <a:t>iArray100</a:t>
            </a:r>
            <a:r>
              <a:rPr lang="zh-CN" altLang="en-US" dirty="0" smtClean="0"/>
              <a:t>作为</a:t>
            </a:r>
            <a:r>
              <a:rPr lang="zh-CN" altLang="en-US" dirty="0"/>
              <a:t>数据类型定义变量</a:t>
            </a:r>
            <a:endParaRPr lang="en-US" altLang="zh-CN" dirty="0"/>
          </a:p>
          <a:p>
            <a:pPr marL="971550" lvl="1"/>
            <a:r>
              <a:rPr lang="en-US" altLang="zh-CN" dirty="0">
                <a:solidFill>
                  <a:srgbClr val="030DCD"/>
                </a:solidFill>
              </a:rPr>
              <a:t>iArray100</a:t>
            </a:r>
            <a:r>
              <a:rPr lang="zh-CN" altLang="en-US" dirty="0"/>
              <a:t>  </a:t>
            </a:r>
            <a:r>
              <a:rPr lang="en-US" altLang="zh-CN" dirty="0"/>
              <a:t>a</a:t>
            </a:r>
            <a:r>
              <a:rPr lang="zh-CN" altLang="en-US" dirty="0"/>
              <a:t>； </a:t>
            </a:r>
            <a:r>
              <a:rPr lang="en-US" altLang="zh-CN" dirty="0"/>
              <a:t>// </a:t>
            </a:r>
            <a:r>
              <a:rPr lang="zh-CN" altLang="en-US" dirty="0"/>
              <a:t>与 </a:t>
            </a:r>
            <a:r>
              <a:rPr lang="en-US" altLang="zh-CN" dirty="0" err="1">
                <a:solidFill>
                  <a:srgbClr val="006600"/>
                </a:solidFill>
              </a:rPr>
              <a:t>int</a:t>
            </a:r>
            <a:r>
              <a:rPr lang="en-US" altLang="zh-CN" dirty="0">
                <a:solidFill>
                  <a:srgbClr val="006600"/>
                </a:solidFill>
              </a:rPr>
              <a:t> a[100]</a:t>
            </a:r>
            <a:r>
              <a:rPr lang="zh-CN" altLang="en-US" dirty="0"/>
              <a:t>等价；</a:t>
            </a:r>
            <a:endParaRPr lang="en-US" altLang="zh-CN" dirty="0"/>
          </a:p>
          <a:p>
            <a:pPr marL="342900" indent="-342900">
              <a:buFont typeface="Wingdings" panose="05000000000000000000" pitchFamily="2" charset="2"/>
              <a:buChar char="l"/>
            </a:pPr>
            <a:endParaRPr lang="zh-CN" altLang="en-US" dirty="0"/>
          </a:p>
          <a:p>
            <a:endParaRPr lang="zh-CN" altLang="en-US" dirty="0"/>
          </a:p>
        </p:txBody>
      </p:sp>
    </p:spTree>
    <p:extLst>
      <p:ext uri="{BB962C8B-B14F-4D97-AF65-F5344CB8AC3E}">
        <p14:creationId xmlns:p14="http://schemas.microsoft.com/office/powerpoint/2010/main" val="1080102808"/>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Rot="1" noChangeArrowheads="1"/>
          </p:cNvSpPr>
          <p:nvPr>
            <p:ph type="body" idx="1"/>
          </p:nvPr>
        </p:nvSpPr>
        <p:spPr>
          <a:xfrm>
            <a:off x="684213" y="908050"/>
            <a:ext cx="8188325" cy="5430405"/>
          </a:xfrm>
        </p:spPr>
        <p:txBody>
          <a:bodyPr/>
          <a:lstStyle/>
          <a:p>
            <a:pPr marL="324000" indent="-324000">
              <a:lnSpc>
                <a:spcPct val="90000"/>
              </a:lnSpc>
              <a:buFont typeface="Wingdings" panose="05000000000000000000" pitchFamily="2" charset="2"/>
              <a:buChar char="l"/>
            </a:pPr>
            <a:r>
              <a:rPr lang="zh-CN" altLang="en-US" sz="2000" dirty="0"/>
              <a:t>数组是程序设计的</a:t>
            </a:r>
            <a:r>
              <a:rPr lang="zh-CN" altLang="en-US" sz="2000" dirty="0">
                <a:solidFill>
                  <a:srgbClr val="FF3300"/>
                </a:solidFill>
              </a:rPr>
              <a:t>常用数据结构</a:t>
            </a:r>
            <a:r>
              <a:rPr lang="zh-CN" altLang="en-US" sz="2000" dirty="0"/>
              <a:t>，字符串（字符数组）在现代程序中也用得相当普遍，应掌握它们的意义和用法。</a:t>
            </a:r>
          </a:p>
          <a:p>
            <a:pPr marL="342900" indent="-342900">
              <a:lnSpc>
                <a:spcPct val="90000"/>
              </a:lnSpc>
              <a:buFont typeface="Wingdings" panose="05000000000000000000" pitchFamily="2" charset="2"/>
              <a:buChar char="l"/>
            </a:pPr>
            <a:r>
              <a:rPr lang="zh-CN" altLang="en-US" sz="2000" dirty="0"/>
              <a:t>数组（一维和二维，多维）名、数组元素的</a:t>
            </a:r>
            <a:r>
              <a:rPr lang="zh-CN" altLang="en-US" sz="2000" dirty="0">
                <a:solidFill>
                  <a:srgbClr val="FF3300"/>
                </a:solidFill>
              </a:rPr>
              <a:t>概念；</a:t>
            </a:r>
            <a:endParaRPr lang="en-US" altLang="zh-CN" sz="2000" dirty="0">
              <a:solidFill>
                <a:srgbClr val="FF3300"/>
              </a:solidFill>
            </a:endParaRPr>
          </a:p>
          <a:p>
            <a:pPr marL="342900" indent="-342900">
              <a:lnSpc>
                <a:spcPct val="90000"/>
              </a:lnSpc>
              <a:buFont typeface="Wingdings" panose="05000000000000000000" pitchFamily="2" charset="2"/>
              <a:buChar char="l"/>
            </a:pPr>
            <a:r>
              <a:rPr lang="zh-CN" altLang="en-US" sz="2000" dirty="0">
                <a:solidFill>
                  <a:srgbClr val="030DCD"/>
                </a:solidFill>
              </a:rPr>
              <a:t>一维数组</a:t>
            </a:r>
            <a:r>
              <a:rPr lang="zh-CN" altLang="en-US" sz="2000" dirty="0"/>
              <a:t>常与</a:t>
            </a:r>
            <a:r>
              <a:rPr lang="zh-CN" altLang="en-US" sz="2000" dirty="0">
                <a:solidFill>
                  <a:srgbClr val="030DCD"/>
                </a:solidFill>
              </a:rPr>
              <a:t>一重循环</a:t>
            </a:r>
            <a:r>
              <a:rPr lang="zh-CN" altLang="en-US" sz="2000" dirty="0"/>
              <a:t>配合、</a:t>
            </a:r>
            <a:r>
              <a:rPr lang="zh-CN" altLang="en-US" sz="2000" dirty="0">
                <a:solidFill>
                  <a:srgbClr val="030DCD"/>
                </a:solidFill>
              </a:rPr>
              <a:t>二维数组</a:t>
            </a:r>
            <a:r>
              <a:rPr lang="zh-CN" altLang="en-US" sz="2000" dirty="0"/>
              <a:t>常与</a:t>
            </a:r>
            <a:r>
              <a:rPr lang="zh-CN" altLang="en-US" sz="2000" dirty="0">
                <a:solidFill>
                  <a:srgbClr val="030DCD"/>
                </a:solidFill>
              </a:rPr>
              <a:t>二重循环</a:t>
            </a:r>
            <a:r>
              <a:rPr lang="zh-CN" altLang="en-US" sz="2000" dirty="0"/>
              <a:t>配合，</a:t>
            </a:r>
            <a:r>
              <a:rPr lang="zh-CN" altLang="en-US" sz="2000" dirty="0">
                <a:solidFill>
                  <a:srgbClr val="030DCD"/>
                </a:solidFill>
              </a:rPr>
              <a:t>三维数组</a:t>
            </a:r>
            <a:r>
              <a:rPr lang="zh-CN" altLang="en-US" sz="2000" dirty="0"/>
              <a:t>与</a:t>
            </a:r>
            <a:r>
              <a:rPr lang="zh-CN" altLang="en-US" sz="2000" dirty="0">
                <a:solidFill>
                  <a:srgbClr val="030DCD"/>
                </a:solidFill>
              </a:rPr>
              <a:t>三重循环</a:t>
            </a:r>
            <a:r>
              <a:rPr lang="zh-CN" altLang="en-US" sz="2000" dirty="0"/>
              <a:t>配合，对数组元素依次进行处理。</a:t>
            </a:r>
          </a:p>
          <a:p>
            <a:pPr marL="342900" indent="-342900">
              <a:lnSpc>
                <a:spcPct val="90000"/>
              </a:lnSpc>
              <a:buFont typeface="Wingdings" panose="05000000000000000000" pitchFamily="2" charset="2"/>
              <a:buChar char="l"/>
            </a:pPr>
            <a:r>
              <a:rPr lang="zh-CN" altLang="en-US" sz="2000" dirty="0"/>
              <a:t>数组必须先</a:t>
            </a:r>
            <a:r>
              <a:rPr lang="zh-CN" altLang="en-US" sz="2000" dirty="0">
                <a:solidFill>
                  <a:srgbClr val="FF3300"/>
                </a:solidFill>
              </a:rPr>
              <a:t>定义后使用</a:t>
            </a:r>
            <a:r>
              <a:rPr lang="zh-CN" altLang="en-US" sz="2000" dirty="0"/>
              <a:t>，数组的初始化方法。</a:t>
            </a:r>
          </a:p>
          <a:p>
            <a:pPr marL="342900" indent="-342900">
              <a:buFont typeface="Wingdings" panose="05000000000000000000" pitchFamily="2" charset="2"/>
              <a:buChar char="l"/>
            </a:pPr>
            <a:r>
              <a:rPr lang="zh-CN" altLang="en-US" sz="2000" dirty="0">
                <a:latin typeface=""/>
              </a:rPr>
              <a:t>数组元素在内存中的</a:t>
            </a:r>
            <a:r>
              <a:rPr lang="zh-CN" altLang="en-US" sz="2000" dirty="0">
                <a:solidFill>
                  <a:srgbClr val="FF3300"/>
                </a:solidFill>
                <a:latin typeface=""/>
              </a:rPr>
              <a:t>存储顺序</a:t>
            </a:r>
            <a:r>
              <a:rPr lang="zh-CN" altLang="en-US" sz="2000" dirty="0">
                <a:latin typeface=""/>
              </a:rPr>
              <a:t>：</a:t>
            </a:r>
            <a:r>
              <a:rPr lang="zh-CN" altLang="en-US" sz="2000" dirty="0">
                <a:solidFill>
                  <a:srgbClr val="006600"/>
                </a:solidFill>
                <a:latin typeface=""/>
              </a:rPr>
              <a:t>按行存储在内存的连续空间中</a:t>
            </a:r>
            <a:r>
              <a:rPr lang="zh-CN" altLang="en-US" sz="2000" dirty="0">
                <a:latin typeface=""/>
              </a:rPr>
              <a:t>；</a:t>
            </a:r>
            <a:endParaRPr lang="en-US" altLang="zh-CN" sz="2000" dirty="0">
              <a:latin typeface=""/>
            </a:endParaRPr>
          </a:p>
          <a:p>
            <a:pPr marL="342900" indent="-342900">
              <a:buFont typeface="Wingdings" panose="05000000000000000000" pitchFamily="2" charset="2"/>
              <a:buChar char="l"/>
            </a:pPr>
            <a:r>
              <a:rPr lang="zh-CN" altLang="en-US" sz="2000" dirty="0">
                <a:latin typeface=""/>
              </a:rPr>
              <a:t>数组的使用：顺序查找，折半查找</a:t>
            </a:r>
            <a:r>
              <a:rPr lang="en-US" altLang="zh-CN" sz="2000" dirty="0">
                <a:latin typeface=""/>
              </a:rPr>
              <a:t>()</a:t>
            </a:r>
            <a:r>
              <a:rPr lang="zh-CN" altLang="en-US" sz="2000" dirty="0">
                <a:latin typeface=""/>
              </a:rPr>
              <a:t>，冒泡排序</a:t>
            </a:r>
            <a:endParaRPr lang="en-US" altLang="zh-CN" sz="2000" dirty="0">
              <a:latin typeface=""/>
            </a:endParaRPr>
          </a:p>
          <a:p>
            <a:pPr marL="342900" indent="-342900">
              <a:buFont typeface="Wingdings" panose="05000000000000000000" pitchFamily="2" charset="2"/>
              <a:buChar char="l"/>
            </a:pPr>
            <a:r>
              <a:rPr lang="zh-CN" altLang="en-US" sz="2000" dirty="0">
                <a:latin typeface=""/>
              </a:rPr>
              <a:t>算法的时间复杂度</a:t>
            </a:r>
            <a:endParaRPr lang="en-US" altLang="zh-CN" sz="2000" dirty="0">
              <a:latin typeface=""/>
            </a:endParaRPr>
          </a:p>
          <a:p>
            <a:pPr marL="971550" lvl="1"/>
            <a:r>
              <a:rPr lang="zh-CN" altLang="en-US" sz="1600" dirty="0">
                <a:latin typeface=""/>
              </a:rPr>
              <a:t>顺序查找：</a:t>
            </a:r>
            <a:r>
              <a:rPr lang="en-US" altLang="zh-CN" sz="1600" dirty="0">
                <a:latin typeface=""/>
              </a:rPr>
              <a:t>O(n)</a:t>
            </a:r>
          </a:p>
          <a:p>
            <a:pPr marL="971550" lvl="1"/>
            <a:r>
              <a:rPr lang="zh-CN" altLang="en-US" sz="1600" dirty="0">
                <a:latin typeface=""/>
              </a:rPr>
              <a:t>折半查找：</a:t>
            </a:r>
            <a:r>
              <a:rPr lang="en-US" altLang="zh-CN" sz="1600" dirty="0">
                <a:latin typeface=""/>
              </a:rPr>
              <a:t>O(</a:t>
            </a:r>
            <a:r>
              <a:rPr lang="en-US" altLang="zh-CN" sz="1600" dirty="0" err="1">
                <a:latin typeface=""/>
              </a:rPr>
              <a:t>logn</a:t>
            </a:r>
            <a:r>
              <a:rPr lang="en-US" altLang="zh-CN" sz="1600" dirty="0">
                <a:latin typeface=""/>
              </a:rPr>
              <a:t>)  </a:t>
            </a:r>
          </a:p>
          <a:p>
            <a:pPr marL="971550" lvl="1"/>
            <a:r>
              <a:rPr lang="zh-CN" altLang="en-US" sz="1600" dirty="0">
                <a:latin typeface=""/>
              </a:rPr>
              <a:t>冒泡排序：</a:t>
            </a:r>
            <a:r>
              <a:rPr lang="en-US" altLang="zh-CN" sz="1600" dirty="0">
                <a:latin typeface=""/>
              </a:rPr>
              <a:t>O(n</a:t>
            </a:r>
            <a:r>
              <a:rPr lang="en-US" altLang="zh-CN" sz="1600" baseline="30000" dirty="0">
                <a:latin typeface=""/>
              </a:rPr>
              <a:t>2</a:t>
            </a:r>
            <a:r>
              <a:rPr lang="en-US" altLang="zh-CN" sz="1600" dirty="0">
                <a:latin typeface=""/>
              </a:rPr>
              <a:t>)</a:t>
            </a:r>
          </a:p>
          <a:p>
            <a:pPr marL="342900" indent="-342900">
              <a:buFont typeface="Wingdings" panose="05000000000000000000" pitchFamily="2" charset="2"/>
              <a:buChar char="l"/>
            </a:pPr>
            <a:endParaRPr lang="zh-CN" altLang="en-US" sz="2000" dirty="0">
              <a:latin typeface=""/>
            </a:endParaRPr>
          </a:p>
          <a:p>
            <a:pPr marL="342900" indent="-342900">
              <a:lnSpc>
                <a:spcPct val="90000"/>
              </a:lnSpc>
              <a:buFont typeface="Wingdings" panose="05000000000000000000" pitchFamily="2" charset="2"/>
              <a:buChar char="l"/>
            </a:pPr>
            <a:endParaRPr lang="zh-CN" altLang="en-US" dirty="0"/>
          </a:p>
        </p:txBody>
      </p:sp>
      <p:sp>
        <p:nvSpPr>
          <p:cNvPr id="2" name="矩形 1"/>
          <p:cNvSpPr/>
          <p:nvPr/>
        </p:nvSpPr>
        <p:spPr>
          <a:xfrm>
            <a:off x="495301" y="337761"/>
            <a:ext cx="7453743" cy="480131"/>
          </a:xfrm>
          <a:prstGeom prst="rect">
            <a:avLst/>
          </a:prstGeom>
        </p:spPr>
        <p:txBody>
          <a:bodyPr wrap="square">
            <a:spAutoFit/>
          </a:bodyPr>
          <a:lstStyle/>
          <a:p>
            <a:pPr>
              <a:lnSpc>
                <a:spcPct val="90000"/>
              </a:lnSpc>
            </a:pPr>
            <a:r>
              <a:rPr lang="zh-CN" altLang="en-US" sz="2800" b="1" dirty="0">
                <a:solidFill>
                  <a:srgbClr val="1A93C8"/>
                </a:solidFill>
                <a:latin typeface="+mn-lt"/>
                <a:ea typeface="+mj-ea"/>
                <a:cs typeface="+mj-cs"/>
              </a:rPr>
              <a:t>主要内容</a:t>
            </a:r>
          </a:p>
        </p:txBody>
      </p:sp>
    </p:spTree>
    <p:extLst>
      <p:ext uri="{BB962C8B-B14F-4D97-AF65-F5344CB8AC3E}">
        <p14:creationId xmlns:p14="http://schemas.microsoft.com/office/powerpoint/2010/main" val="272370219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ChangeArrowheads="1"/>
          </p:cNvSpPr>
          <p:nvPr/>
        </p:nvSpPr>
        <p:spPr bwMode="auto">
          <a:xfrm>
            <a:off x="6511925" y="5676900"/>
            <a:ext cx="2133600" cy="476250"/>
          </a:xfrm>
          <a:prstGeom prst="rect">
            <a:avLst/>
          </a:prstGeom>
          <a:noFill/>
          <a:ln w="9525">
            <a:noFill/>
            <a:miter lim="800000"/>
            <a:headEnd/>
            <a:tailEnd/>
          </a:ln>
        </p:spPr>
        <p:txBody>
          <a:bodyPr/>
          <a:lstStyle/>
          <a:p>
            <a:pPr algn="r"/>
            <a:fld id="{C0107C6E-6428-484D-8BFF-2A38D99BDED2}" type="slidenum">
              <a:rPr lang="en-US" altLang="zh-CN" sz="1400"/>
              <a:pPr algn="r"/>
              <a:t>132</a:t>
            </a:fld>
            <a:endParaRPr lang="en-US" altLang="zh-CN" sz="1400"/>
          </a:p>
        </p:txBody>
      </p:sp>
      <p:pic>
        <p:nvPicPr>
          <p:cNvPr id="19459" name="Picture 3" descr="sdu01_01"/>
          <p:cNvPicPr>
            <a:picLocks noChangeAspect="1" noChangeArrowheads="1"/>
          </p:cNvPicPr>
          <p:nvPr/>
        </p:nvPicPr>
        <p:blipFill>
          <a:blip r:embed="rId3" cstate="print"/>
          <a:srcRect/>
          <a:stretch>
            <a:fillRect/>
          </a:stretch>
        </p:blipFill>
        <p:spPr bwMode="auto">
          <a:xfrm>
            <a:off x="8112125" y="3317875"/>
            <a:ext cx="990600" cy="963613"/>
          </a:xfrm>
          <a:prstGeom prst="rect">
            <a:avLst/>
          </a:prstGeom>
          <a:noFill/>
          <a:ln w="9525">
            <a:noFill/>
            <a:miter lim="800000"/>
            <a:headEnd/>
            <a:tailEnd/>
          </a:ln>
        </p:spPr>
      </p:pic>
      <p:pic>
        <p:nvPicPr>
          <p:cNvPr id="19460" name="Picture 4" descr="sdu03_01s"/>
          <p:cNvPicPr>
            <a:picLocks noChangeAspect="1" noChangeArrowheads="1"/>
          </p:cNvPicPr>
          <p:nvPr/>
        </p:nvPicPr>
        <p:blipFill>
          <a:blip r:embed="rId4" cstate="print"/>
          <a:srcRect/>
          <a:stretch>
            <a:fillRect/>
          </a:stretch>
        </p:blipFill>
        <p:spPr bwMode="auto">
          <a:xfrm>
            <a:off x="7045325" y="4384675"/>
            <a:ext cx="990600" cy="914400"/>
          </a:xfrm>
          <a:prstGeom prst="rect">
            <a:avLst/>
          </a:prstGeom>
          <a:noFill/>
          <a:ln w="9525">
            <a:noFill/>
            <a:miter lim="800000"/>
            <a:headEnd/>
            <a:tailEnd/>
          </a:ln>
        </p:spPr>
      </p:pic>
      <p:pic>
        <p:nvPicPr>
          <p:cNvPr id="19461" name="Picture 5" descr="sdu04_05s"/>
          <p:cNvPicPr>
            <a:picLocks noChangeAspect="1" noChangeArrowheads="1"/>
          </p:cNvPicPr>
          <p:nvPr/>
        </p:nvPicPr>
        <p:blipFill>
          <a:blip r:embed="rId5" cstate="print"/>
          <a:srcRect/>
          <a:stretch>
            <a:fillRect/>
          </a:stretch>
        </p:blipFill>
        <p:spPr bwMode="auto">
          <a:xfrm>
            <a:off x="8112125" y="4384675"/>
            <a:ext cx="990600" cy="911225"/>
          </a:xfrm>
          <a:prstGeom prst="rect">
            <a:avLst/>
          </a:prstGeom>
          <a:noFill/>
          <a:ln w="9525">
            <a:noFill/>
            <a:miter lim="800000"/>
            <a:headEnd/>
            <a:tailEnd/>
          </a:ln>
        </p:spPr>
      </p:pic>
      <p:pic>
        <p:nvPicPr>
          <p:cNvPr id="19462" name="Picture 6" descr="sdu06_03s"/>
          <p:cNvPicPr>
            <a:picLocks noChangeAspect="1" noChangeArrowheads="1"/>
          </p:cNvPicPr>
          <p:nvPr/>
        </p:nvPicPr>
        <p:blipFill>
          <a:blip r:embed="rId6" cstate="print"/>
          <a:srcRect/>
          <a:stretch>
            <a:fillRect/>
          </a:stretch>
        </p:blipFill>
        <p:spPr bwMode="auto">
          <a:xfrm>
            <a:off x="7045325" y="5375275"/>
            <a:ext cx="990600" cy="914400"/>
          </a:xfrm>
          <a:prstGeom prst="rect">
            <a:avLst/>
          </a:prstGeom>
          <a:noFill/>
          <a:ln w="9525">
            <a:noFill/>
            <a:miter lim="800000"/>
            <a:headEnd/>
            <a:tailEnd/>
          </a:ln>
        </p:spPr>
      </p:pic>
      <p:pic>
        <p:nvPicPr>
          <p:cNvPr id="19463" name="Picture 7" descr="sdu01_16s"/>
          <p:cNvPicPr>
            <a:picLocks noChangeAspect="1" noChangeArrowheads="1"/>
          </p:cNvPicPr>
          <p:nvPr/>
        </p:nvPicPr>
        <p:blipFill>
          <a:blip r:embed="rId7" cstate="print"/>
          <a:srcRect/>
          <a:stretch>
            <a:fillRect/>
          </a:stretch>
        </p:blipFill>
        <p:spPr bwMode="auto">
          <a:xfrm>
            <a:off x="8112125" y="5370513"/>
            <a:ext cx="990600" cy="919162"/>
          </a:xfrm>
          <a:prstGeom prst="rect">
            <a:avLst/>
          </a:prstGeom>
          <a:noFill/>
          <a:ln w="9525">
            <a:noFill/>
            <a:miter lim="800000"/>
            <a:headEnd/>
            <a:tailEnd/>
          </a:ln>
        </p:spPr>
      </p:pic>
      <p:pic>
        <p:nvPicPr>
          <p:cNvPr id="19464" name="Picture 8" descr="sdu05_04s"/>
          <p:cNvPicPr>
            <a:picLocks noChangeAspect="1" noChangeArrowheads="1"/>
          </p:cNvPicPr>
          <p:nvPr/>
        </p:nvPicPr>
        <p:blipFill>
          <a:blip r:embed="rId8" cstate="print"/>
          <a:srcRect/>
          <a:stretch>
            <a:fillRect/>
          </a:stretch>
        </p:blipFill>
        <p:spPr bwMode="auto">
          <a:xfrm>
            <a:off x="5940425" y="5375275"/>
            <a:ext cx="1028700" cy="914400"/>
          </a:xfrm>
          <a:prstGeom prst="rect">
            <a:avLst/>
          </a:prstGeom>
          <a:noFill/>
          <a:ln w="9525">
            <a:noFill/>
            <a:miter lim="800000"/>
            <a:headEnd/>
            <a:tailEnd/>
          </a:ln>
        </p:spPr>
      </p:pic>
      <p:sp>
        <p:nvSpPr>
          <p:cNvPr id="19465" name="Rectangle 10"/>
          <p:cNvSpPr>
            <a:spLocks noGrp="1" noChangeArrowheads="1"/>
          </p:cNvSpPr>
          <p:nvPr>
            <p:ph type="title"/>
          </p:nvPr>
        </p:nvSpPr>
        <p:spPr>
          <a:xfrm>
            <a:off x="1052802" y="1579419"/>
            <a:ext cx="7327900" cy="830695"/>
          </a:xfrm>
        </p:spPr>
        <p:txBody>
          <a:bodyPr/>
          <a:lstStyle/>
          <a:p>
            <a:pPr eaLnBrk="1" hangingPunct="1"/>
            <a:r>
              <a:rPr lang="en-US" altLang="zh-CN" sz="4800" dirty="0"/>
              <a:t>Any  Question ?</a:t>
            </a:r>
            <a:endParaRPr lang="zh-CN" altLang="en-US" sz="4800" dirty="0"/>
          </a:p>
        </p:txBody>
      </p:sp>
      <p:pic>
        <p:nvPicPr>
          <p:cNvPr id="409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623" y="3169163"/>
            <a:ext cx="5204012" cy="329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986860"/>
      </p:ext>
    </p:extLst>
  </p:cSld>
  <p:clrMapOvr>
    <a:masterClrMapping/>
  </p:clrMapOvr>
  <p:transition spd="slow"/>
</p:sld>
</file>

<file path=ppt/theme/theme1.xml><?xml version="1.0" encoding="utf-8"?>
<a:theme xmlns:a="http://schemas.openxmlformats.org/drawingml/2006/main" name="53cd865050490">
  <a:themeElements>
    <a:clrScheme name="53cd865050490 1">
      <a:dk1>
        <a:srgbClr val="3D3F41"/>
      </a:dk1>
      <a:lt1>
        <a:srgbClr val="FFFFFF"/>
      </a:lt1>
      <a:dk2>
        <a:srgbClr val="3D3F41"/>
      </a:dk2>
      <a:lt2>
        <a:srgbClr val="EAF5FC"/>
      </a:lt2>
      <a:accent1>
        <a:srgbClr val="47B6E7"/>
      </a:accent1>
      <a:accent2>
        <a:srgbClr val="628EE3"/>
      </a:accent2>
      <a:accent3>
        <a:srgbClr val="FFFFFF"/>
      </a:accent3>
      <a:accent4>
        <a:srgbClr val="333436"/>
      </a:accent4>
      <a:accent5>
        <a:srgbClr val="B1D7F1"/>
      </a:accent5>
      <a:accent6>
        <a:srgbClr val="5880CE"/>
      </a:accent6>
      <a:hlink>
        <a:srgbClr val="00B0F0"/>
      </a:hlink>
      <a:folHlink>
        <a:srgbClr val="AFB2B4"/>
      </a:folHlink>
    </a:clrScheme>
    <a:fontScheme name="53cd865050490">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3cd865050490 1">
        <a:dk1>
          <a:srgbClr val="3D3F41"/>
        </a:dk1>
        <a:lt1>
          <a:srgbClr val="FFFFFF"/>
        </a:lt1>
        <a:dk2>
          <a:srgbClr val="3D3F41"/>
        </a:dk2>
        <a:lt2>
          <a:srgbClr val="EAF5FC"/>
        </a:lt2>
        <a:accent1>
          <a:srgbClr val="47B6E7"/>
        </a:accent1>
        <a:accent2>
          <a:srgbClr val="628EE3"/>
        </a:accent2>
        <a:accent3>
          <a:srgbClr val="FFFFFF"/>
        </a:accent3>
        <a:accent4>
          <a:srgbClr val="333436"/>
        </a:accent4>
        <a:accent5>
          <a:srgbClr val="B1D7F1"/>
        </a:accent5>
        <a:accent6>
          <a:srgbClr val="5880CE"/>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000120150601A08PWBG">
  <a:themeElements>
    <a:clrScheme name="A000120150601A08PWBG 1">
      <a:dk1>
        <a:srgbClr val="4D4D4D"/>
      </a:dk1>
      <a:lt1>
        <a:srgbClr val="FFFFFF"/>
      </a:lt1>
      <a:dk2>
        <a:srgbClr val="4D4D4D"/>
      </a:dk2>
      <a:lt2>
        <a:srgbClr val="FFFFFF"/>
      </a:lt2>
      <a:accent1>
        <a:srgbClr val="B8650A"/>
      </a:accent1>
      <a:accent2>
        <a:srgbClr val="D37051"/>
      </a:accent2>
      <a:accent3>
        <a:srgbClr val="FFFFFF"/>
      </a:accent3>
      <a:accent4>
        <a:srgbClr val="404040"/>
      </a:accent4>
      <a:accent5>
        <a:srgbClr val="D8B8AA"/>
      </a:accent5>
      <a:accent6>
        <a:srgbClr val="BF6549"/>
      </a:accent6>
      <a:hlink>
        <a:srgbClr val="92D050"/>
      </a:hlink>
      <a:folHlink>
        <a:srgbClr val="AFB2B4"/>
      </a:folHlink>
    </a:clrScheme>
    <a:fontScheme name="A000120150601A08PWBG">
      <a:majorFont>
        <a:latin typeface="华文中宋"/>
        <a:ea typeface="华文中宋"/>
        <a:cs typeface=""/>
      </a:majorFont>
      <a:minorFont>
        <a:latin typeface="幼圆"/>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601A08PWBG 1">
        <a:dk1>
          <a:srgbClr val="4D4D4D"/>
        </a:dk1>
        <a:lt1>
          <a:srgbClr val="FFFFFF"/>
        </a:lt1>
        <a:dk2>
          <a:srgbClr val="4D4D4D"/>
        </a:dk2>
        <a:lt2>
          <a:srgbClr val="FFFFFF"/>
        </a:lt2>
        <a:accent1>
          <a:srgbClr val="B8650A"/>
        </a:accent1>
        <a:accent2>
          <a:srgbClr val="D37051"/>
        </a:accent2>
        <a:accent3>
          <a:srgbClr val="FFFFFF"/>
        </a:accent3>
        <a:accent4>
          <a:srgbClr val="404040"/>
        </a:accent4>
        <a:accent5>
          <a:srgbClr val="D8B8AA"/>
        </a:accent5>
        <a:accent6>
          <a:srgbClr val="BF6549"/>
        </a:accent6>
        <a:hlink>
          <a:srgbClr val="92D05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000120150204A05PWBG">
  <a:themeElements>
    <a:clrScheme name="A000120150204A05PWBG 1">
      <a:dk1>
        <a:srgbClr val="5F5F5F"/>
      </a:dk1>
      <a:lt1>
        <a:srgbClr val="FFFFFF"/>
      </a:lt1>
      <a:dk2>
        <a:srgbClr val="5F5F5F"/>
      </a:dk2>
      <a:lt2>
        <a:srgbClr val="FFFFFF"/>
      </a:lt2>
      <a:accent1>
        <a:srgbClr val="FFB549"/>
      </a:accent1>
      <a:accent2>
        <a:srgbClr val="ED8E2F"/>
      </a:accent2>
      <a:accent3>
        <a:srgbClr val="B6B6B6"/>
      </a:accent3>
      <a:accent4>
        <a:srgbClr val="DADADA"/>
      </a:accent4>
      <a:accent5>
        <a:srgbClr val="FFD7B1"/>
      </a:accent5>
      <a:accent6>
        <a:srgbClr val="D7802A"/>
      </a:accent6>
      <a:hlink>
        <a:srgbClr val="00B0F0"/>
      </a:hlink>
      <a:folHlink>
        <a:srgbClr val="AFB2B4"/>
      </a:folHlink>
    </a:clrScheme>
    <a:fontScheme name="A000120150204A05PWBG">
      <a:majorFont>
        <a:latin typeface="Arial"/>
        <a:ea typeface="华文中宋"/>
        <a:cs typeface=""/>
      </a:majorFont>
      <a:minorFont>
        <a:latin typeface="Arial"/>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204A05PWBG 1">
        <a:dk1>
          <a:srgbClr val="5F5F5F"/>
        </a:dk1>
        <a:lt1>
          <a:srgbClr val="FFFFFF"/>
        </a:lt1>
        <a:dk2>
          <a:srgbClr val="5F5F5F"/>
        </a:dk2>
        <a:lt2>
          <a:srgbClr val="FFFFFF"/>
        </a:lt2>
        <a:accent1>
          <a:srgbClr val="FFB549"/>
        </a:accent1>
        <a:accent2>
          <a:srgbClr val="ED8E2F"/>
        </a:accent2>
        <a:accent3>
          <a:srgbClr val="B6B6B6"/>
        </a:accent3>
        <a:accent4>
          <a:srgbClr val="DADADA"/>
        </a:accent4>
        <a:accent5>
          <a:srgbClr val="FFD7B1"/>
        </a:accent5>
        <a:accent6>
          <a:srgbClr val="D7802A"/>
        </a:accent6>
        <a:hlink>
          <a:srgbClr val="00B0F0"/>
        </a:hlink>
        <a:folHlink>
          <a:srgbClr val="AFB2B4"/>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000120150306A04PWBG">
  <a:themeElements>
    <a:clrScheme name="A000120150306A04PWBG 1">
      <a:dk1>
        <a:srgbClr val="5F5F5F"/>
      </a:dk1>
      <a:lt1>
        <a:srgbClr val="FFFFFF"/>
      </a:lt1>
      <a:dk2>
        <a:srgbClr val="5F5F5F"/>
      </a:dk2>
      <a:lt2>
        <a:srgbClr val="FFFFFF"/>
      </a:lt2>
      <a:accent1>
        <a:srgbClr val="47B6E7"/>
      </a:accent1>
      <a:accent2>
        <a:srgbClr val="628EE3"/>
      </a:accent2>
      <a:accent3>
        <a:srgbClr val="FFFFFF"/>
      </a:accent3>
      <a:accent4>
        <a:srgbClr val="505050"/>
      </a:accent4>
      <a:accent5>
        <a:srgbClr val="B1D7F1"/>
      </a:accent5>
      <a:accent6>
        <a:srgbClr val="5880CE"/>
      </a:accent6>
      <a:hlink>
        <a:srgbClr val="00B0F0"/>
      </a:hlink>
      <a:folHlink>
        <a:srgbClr val="AFB2B4"/>
      </a:folHlink>
    </a:clrScheme>
    <a:fontScheme name="A000120150306A04PWBG">
      <a:majorFont>
        <a:latin typeface="Times New Roman"/>
        <a:ea typeface="华文中宋"/>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306A04PWBG 1">
        <a:dk1>
          <a:srgbClr val="5F5F5F"/>
        </a:dk1>
        <a:lt1>
          <a:srgbClr val="FFFFFF"/>
        </a:lt1>
        <a:dk2>
          <a:srgbClr val="5F5F5F"/>
        </a:dk2>
        <a:lt2>
          <a:srgbClr val="FFFFFF"/>
        </a:lt2>
        <a:accent1>
          <a:srgbClr val="47B6E7"/>
        </a:accent1>
        <a:accent2>
          <a:srgbClr val="628EE3"/>
        </a:accent2>
        <a:accent3>
          <a:srgbClr val="FFFFFF"/>
        </a:accent3>
        <a:accent4>
          <a:srgbClr val="505050"/>
        </a:accent4>
        <a:accent5>
          <a:srgbClr val="B1D7F1"/>
        </a:accent5>
        <a:accent6>
          <a:srgbClr val="5880CE"/>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默认设计模板">
  <a:themeElements>
    <a:clrScheme name="1_默认设计模板 9">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336699"/>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3500000" scaled="1"/>
          <a:tileRect/>
        </a:gradFill>
      </a:spPr>
      <a:bodyPr wrap="square" rtlCol="0">
        <a:spAutoFit/>
      </a:bodyPr>
      <a:lstStyle>
        <a:defPPr>
          <a:defRPr dirty="0"/>
        </a:defPPr>
      </a:lstStyle>
    </a:tx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9">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33669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15976</TotalTime>
  <Words>17566</Words>
  <Application>Microsoft Office PowerPoint</Application>
  <PresentationFormat>全屏显示(4:3)</PresentationFormat>
  <Paragraphs>1913</Paragraphs>
  <Slides>132</Slides>
  <Notes>1</Notes>
  <HiddenSlides>41</HiddenSlides>
  <MMClips>0</MMClips>
  <ScaleCrop>false</ScaleCrop>
  <HeadingPairs>
    <vt:vector size="6" baseType="variant">
      <vt:variant>
        <vt:lpstr>已用的字体</vt:lpstr>
      </vt:variant>
      <vt:variant>
        <vt:i4>15</vt:i4>
      </vt:variant>
      <vt:variant>
        <vt:lpstr>主题</vt:lpstr>
      </vt:variant>
      <vt:variant>
        <vt:i4>5</vt:i4>
      </vt:variant>
      <vt:variant>
        <vt:lpstr>幻灯片标题</vt:lpstr>
      </vt:variant>
      <vt:variant>
        <vt:i4>132</vt:i4>
      </vt:variant>
    </vt:vector>
  </HeadingPairs>
  <TitlesOfParts>
    <vt:vector size="152" baseType="lpstr">
      <vt:lpstr>Monotype Sorts</vt:lpstr>
      <vt:lpstr>黑体</vt:lpstr>
      <vt:lpstr>华文中宋</vt:lpstr>
      <vt:lpstr>楷体_GB2312</vt:lpstr>
      <vt:lpstr>宋体</vt:lpstr>
      <vt:lpstr>微软雅黑</vt:lpstr>
      <vt:lpstr>幼圆</vt:lpstr>
      <vt:lpstr>Arial</vt:lpstr>
      <vt:lpstr>Arial Black</vt:lpstr>
      <vt:lpstr>Calibri</vt:lpstr>
      <vt:lpstr>Cambria Math</vt:lpstr>
      <vt:lpstr>Courier New</vt:lpstr>
      <vt:lpstr>Times New Roman</vt:lpstr>
      <vt:lpstr>Wingdings</vt:lpstr>
      <vt:lpstr>Wingdings 2</vt:lpstr>
      <vt:lpstr>53cd865050490</vt:lpstr>
      <vt:lpstr>A000120150601A08PWBG</vt:lpstr>
      <vt:lpstr>A000120150204A05PWBG</vt:lpstr>
      <vt:lpstr>A000120150306A04PWBG</vt:lpstr>
      <vt:lpstr>1_默认设计模板</vt:lpstr>
      <vt:lpstr>计算导论与程序设计</vt:lpstr>
      <vt:lpstr>6 数据的组织与处理（1）--数组</vt:lpstr>
      <vt:lpstr>6.1 数组</vt:lpstr>
      <vt:lpstr>数组</vt:lpstr>
      <vt:lpstr>数组</vt:lpstr>
      <vt:lpstr>一维数组</vt:lpstr>
      <vt:lpstr>一维数组</vt:lpstr>
      <vt:lpstr>一维整型数组</vt:lpstr>
      <vt:lpstr>一维整型数组</vt:lpstr>
      <vt:lpstr>每个数组元素a[i]就是一个数组基类型的变量</vt:lpstr>
      <vt:lpstr>关于数组下标与地址越界</vt:lpstr>
      <vt:lpstr>数组之间不能利用数组名直接进行赋值</vt:lpstr>
      <vt:lpstr>关于常量指针： int* const p</vt:lpstr>
      <vt:lpstr>关于常量指针： int* const p</vt:lpstr>
      <vt:lpstr>关于常量指针  int* const p</vt:lpstr>
      <vt:lpstr>关于指针常量 const int *p </vt:lpstr>
      <vt:lpstr>关于指针常量 const int *p </vt:lpstr>
      <vt:lpstr>关于指针常量 const int *p </vt:lpstr>
      <vt:lpstr>指针常量 const int *p </vt:lpstr>
      <vt:lpstr>指针常量 const int *p </vt:lpstr>
      <vt:lpstr>复习与思考：关于常量指针与指针常量</vt:lpstr>
      <vt:lpstr>数组之间的复制</vt:lpstr>
      <vt:lpstr>函数memcpy</vt:lpstr>
      <vt:lpstr>函数memcpy例</vt:lpstr>
      <vt:lpstr>函数memcpy例</vt:lpstr>
      <vt:lpstr>数组的动态定义</vt:lpstr>
      <vt:lpstr>一维浮点型数组</vt:lpstr>
      <vt:lpstr>一维数组元素的赋值 </vt:lpstr>
      <vt:lpstr>一维数组的初始化 </vt:lpstr>
      <vt:lpstr>一维数组的初始化 </vt:lpstr>
      <vt:lpstr>自学与练习：一维数组的初始化： memset 函数 </vt:lpstr>
      <vt:lpstr>PowerPoint 演示文稿</vt:lpstr>
      <vt:lpstr>PowerPoint 演示文稿</vt:lpstr>
      <vt:lpstr>PowerPoint 演示文稿</vt:lpstr>
      <vt:lpstr>PowerPoint 演示文稿</vt:lpstr>
      <vt:lpstr>PowerPoint 演示文稿</vt:lpstr>
      <vt:lpstr>6.2 筛法</vt:lpstr>
      <vt:lpstr>课后练习：利用筛法求素数</vt:lpstr>
      <vt:lpstr>课后练习：利用筛法求素数</vt:lpstr>
      <vt:lpstr>6.3 线性查找和折半查找</vt:lpstr>
      <vt:lpstr>课后练习：顺序查找</vt:lpstr>
      <vt:lpstr>顺序查找--时间复杂度分析</vt:lpstr>
      <vt:lpstr>顺序查找--时间复杂度分析</vt:lpstr>
      <vt:lpstr>自学与课后练习：线性查找算法的改进</vt:lpstr>
      <vt:lpstr>在有序数据中查找--二分查找，对半查找，折半查找</vt:lpstr>
      <vt:lpstr>二分查找，对半查找，折半查找</vt:lpstr>
      <vt:lpstr>二分查找，对半查找，折半查找</vt:lpstr>
      <vt:lpstr>二分查找，对半查找，折半查找</vt:lpstr>
      <vt:lpstr>有序二叉树的构造</vt:lpstr>
      <vt:lpstr>基于有序二叉树的查找过程</vt:lpstr>
      <vt:lpstr>课后练习：二分查找，对半查找，折半查找</vt:lpstr>
      <vt:lpstr>二分查找，对半查找，折半查找</vt:lpstr>
      <vt:lpstr>课后练习：折半查找例—确定鸡蛋硬度</vt:lpstr>
      <vt:lpstr>课后练习：折半查找例—确定鸡蛋硬度</vt:lpstr>
      <vt:lpstr>课后练习：折半查找应用例：小明识别假硬币</vt:lpstr>
      <vt:lpstr>PowerPoint 演示文稿</vt:lpstr>
      <vt:lpstr>PowerPoint 演示文稿</vt:lpstr>
      <vt:lpstr>PowerPoint 演示文稿</vt:lpstr>
      <vt:lpstr>PowerPoint 演示文稿</vt:lpstr>
      <vt:lpstr>PowerPoint 演示文稿</vt:lpstr>
      <vt:lpstr>PowerPoint 演示文稿</vt:lpstr>
      <vt:lpstr>冒泡排序（Bubble Sort）--时间复杂度分析</vt:lpstr>
      <vt:lpstr>冒泡排序（Bubble Sort）--时间复杂度分析</vt:lpstr>
      <vt:lpstr>课后练习：归并排序</vt:lpstr>
      <vt:lpstr>课后练习：归并排序</vt:lpstr>
      <vt:lpstr>6.5 递推</vt:lpstr>
      <vt:lpstr>自学：递推例---5人捕鱼</vt:lpstr>
      <vt:lpstr>自学：递推例---5人捕鱼</vt:lpstr>
      <vt:lpstr>自学：递推例---5人捕鱼</vt:lpstr>
      <vt:lpstr>自学：递推例---5人捕鱼</vt:lpstr>
      <vt:lpstr>自学：递推例---5人捕鱼—参考程序</vt:lpstr>
      <vt:lpstr>自学：递推例---5人捕鱼—参考程序</vt:lpstr>
      <vt:lpstr>6.5.1 递推序列</vt:lpstr>
      <vt:lpstr>6.5.2 递推算法的程序实现</vt:lpstr>
      <vt:lpstr>自学：王小二切大饼</vt:lpstr>
      <vt:lpstr>自学：王小二切大饼参考程序</vt:lpstr>
      <vt:lpstr>课后练习：利用递推算法求阶乘</vt:lpstr>
      <vt:lpstr>利用递推计算Fibonacci sequence</vt:lpstr>
      <vt:lpstr>自学与课后练习：斐波那契序列--例</vt:lpstr>
      <vt:lpstr>自学与课后练习：斐波那契序列例</vt:lpstr>
      <vt:lpstr>自学与课后练习：斐波那契序列例</vt:lpstr>
      <vt:lpstr>课后练习：递推求解Fibonacci sequence</vt:lpstr>
      <vt:lpstr>课后练习：利用线性同余法产生伪随机数</vt:lpstr>
      <vt:lpstr>自学与课后练习： 利用线性同余法产生伪随机数</vt:lpstr>
      <vt:lpstr>自学与课后练习：利用线性同余法产生伪随机数</vt:lpstr>
      <vt:lpstr>迭代</vt:lpstr>
      <vt:lpstr>课后练习：迭代—计算Fibonacci sequence</vt:lpstr>
      <vt:lpstr>课后练习：迭代—求方程f(x)=0的近似根</vt:lpstr>
      <vt:lpstr>课后练习：迭代--验证角谷猜想</vt:lpstr>
      <vt:lpstr>6.6 指针与数组</vt:lpstr>
      <vt:lpstr>指针与数组</vt:lpstr>
      <vt:lpstr>通过指针访问数组元素</vt:lpstr>
      <vt:lpstr>课后练习：利用指针访问整型数组元素</vt:lpstr>
      <vt:lpstr>课后练习：利用指针访问浮点数组元素</vt:lpstr>
      <vt:lpstr>6.8 二维数组的定义</vt:lpstr>
      <vt:lpstr>二维数组的机内存储</vt:lpstr>
      <vt:lpstr>二维数组的机内存储</vt:lpstr>
      <vt:lpstr>关于二维数组元素的存放方式</vt:lpstr>
      <vt:lpstr>PowerPoint 演示文稿</vt:lpstr>
      <vt:lpstr>PowerPoint 演示文稿</vt:lpstr>
      <vt:lpstr>自学与课后练习： 二维数组的初始化 </vt:lpstr>
      <vt:lpstr>PowerPoint 演示文稿</vt:lpstr>
      <vt:lpstr>PowerPoint 演示文稿</vt:lpstr>
      <vt:lpstr>PowerPoint 演示文稿</vt:lpstr>
      <vt:lpstr>矩阵乘法</vt:lpstr>
      <vt:lpstr>PowerPoint 演示文稿</vt:lpstr>
      <vt:lpstr>PowerPoint 演示文稿</vt:lpstr>
      <vt:lpstr>PowerPoint 演示文稿</vt:lpstr>
      <vt:lpstr>PowerPoint 演示文稿</vt:lpstr>
      <vt:lpstr>PowerPoint 演示文稿</vt:lpstr>
      <vt:lpstr>指针数组的概念</vt:lpstr>
      <vt:lpstr>进阶（超纲）：二级指针的概念</vt:lpstr>
      <vt:lpstr>二维数组与指针数组</vt:lpstr>
      <vt:lpstr>二维数组与指针数组</vt:lpstr>
      <vt:lpstr>二维数组与指针数组</vt:lpstr>
      <vt:lpstr>利用指针数组访问二维数组</vt:lpstr>
      <vt:lpstr>考察二维数组在内存中的存储（按行连续存储）</vt:lpstr>
      <vt:lpstr>进阶（超纲）：指向指针数组名的指针</vt:lpstr>
      <vt:lpstr>利用二级指针访问一维数组</vt:lpstr>
      <vt:lpstr>编译器对一维数组名的解读</vt:lpstr>
      <vt:lpstr>编译器对一维数组名的解读</vt:lpstr>
      <vt:lpstr>编译器对二维数组名的解读</vt:lpstr>
      <vt:lpstr>编译器对二维数组名的解读</vt:lpstr>
      <vt:lpstr>编译器对二维数组名的解读</vt:lpstr>
      <vt:lpstr>利用二级指针访问二维数组</vt:lpstr>
      <vt:lpstr>数组指针的概念</vt:lpstr>
      <vt:lpstr>一维数组指针的使用</vt:lpstr>
      <vt:lpstr>一维数组指针的使用</vt:lpstr>
      <vt:lpstr>二维数组指针的使用</vt:lpstr>
      <vt:lpstr>用typedef定义类型数组类型-- iArray100</vt:lpstr>
      <vt:lpstr>PowerPoint 演示文稿</vt:lpstr>
      <vt:lpstr>Any  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han</cp:lastModifiedBy>
  <cp:revision>2907</cp:revision>
  <dcterms:created xsi:type="dcterms:W3CDTF">2013-01-25T01:44:00Z</dcterms:created>
  <dcterms:modified xsi:type="dcterms:W3CDTF">2022-12-10T08:30:11Z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2052-10.1.0.6065</vt:lpwstr>
  </property>
</Properties>
</file>